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39"/>
  </p:notesMasterIdLst>
  <p:sldIdLst>
    <p:sldId id="256" r:id="rId2"/>
    <p:sldId id="282" r:id="rId3"/>
    <p:sldId id="283" r:id="rId4"/>
    <p:sldId id="284" r:id="rId5"/>
    <p:sldId id="286" r:id="rId6"/>
    <p:sldId id="307" r:id="rId7"/>
    <p:sldId id="308" r:id="rId8"/>
    <p:sldId id="335" r:id="rId9"/>
    <p:sldId id="309" r:id="rId10"/>
    <p:sldId id="345" r:id="rId11"/>
    <p:sldId id="314" r:id="rId12"/>
    <p:sldId id="322" r:id="rId13"/>
    <p:sldId id="323" r:id="rId14"/>
    <p:sldId id="325" r:id="rId15"/>
    <p:sldId id="324" r:id="rId16"/>
    <p:sldId id="316" r:id="rId17"/>
    <p:sldId id="295" r:id="rId18"/>
    <p:sldId id="296" r:id="rId19"/>
    <p:sldId id="298" r:id="rId20"/>
    <p:sldId id="337" r:id="rId21"/>
    <p:sldId id="336" r:id="rId22"/>
    <p:sldId id="326" r:id="rId23"/>
    <p:sldId id="327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338" r:id="rId32"/>
    <p:sldId id="339" r:id="rId33"/>
    <p:sldId id="340" r:id="rId34"/>
    <p:sldId id="344" r:id="rId35"/>
    <p:sldId id="343" r:id="rId36"/>
    <p:sldId id="303" r:id="rId37"/>
    <p:sldId id="280" r:id="rId38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09090"/>
    <a:srgbClr val="EF6D37"/>
    <a:srgbClr val="3A80C1"/>
    <a:srgbClr val="0066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50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47AF7F-6B49-4BE4-919B-75354646899B}" type="datetimeFigureOut">
              <a:rPr lang="ko-KR" altLang="en-US" smtClean="0"/>
              <a:t>2018-04-26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2840A-11FC-41F4-BF1E-6B34304C704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9974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둘 중에 하나가 </a:t>
            </a:r>
            <a:r>
              <a:rPr lang="en-US" altLang="ko-KR" dirty="0"/>
              <a:t>String</a:t>
            </a:r>
            <a:r>
              <a:rPr lang="ko-KR" altLang="en-US" dirty="0"/>
              <a:t>객체이면 문자열을 합친 </a:t>
            </a:r>
            <a:r>
              <a:rPr lang="en-US" altLang="ko-KR" dirty="0"/>
              <a:t>String </a:t>
            </a:r>
            <a:r>
              <a:rPr lang="ko-KR" altLang="en-US" dirty="0"/>
              <a:t>객체를 반환한다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63F77-4079-44FD-AC16-D5293C2E4BC4}" type="slidenum">
              <a:rPr lang="ko-KR" altLang="en-US" smtClean="0"/>
              <a:pPr/>
              <a:t>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159135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둘 중에 하나가 </a:t>
            </a:r>
            <a:r>
              <a:rPr lang="en-US" altLang="ko-KR" dirty="0"/>
              <a:t>String</a:t>
            </a:r>
            <a:r>
              <a:rPr lang="ko-KR" altLang="en-US" dirty="0"/>
              <a:t>객체이면 문자열을 합친 </a:t>
            </a:r>
            <a:r>
              <a:rPr lang="en-US" altLang="ko-KR" dirty="0"/>
              <a:t>String </a:t>
            </a:r>
            <a:r>
              <a:rPr lang="ko-KR" altLang="en-US" dirty="0"/>
              <a:t>객체를 반환한다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63F77-4079-44FD-AC16-D5293C2E4BC4}" type="slidenum">
              <a:rPr lang="ko-KR" altLang="en-US" smtClean="0"/>
              <a:pPr/>
              <a:t>12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68214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둘 중에 하나가 </a:t>
            </a:r>
            <a:r>
              <a:rPr lang="en-US" altLang="ko-KR" dirty="0"/>
              <a:t>String</a:t>
            </a:r>
            <a:r>
              <a:rPr lang="ko-KR" altLang="en-US" dirty="0"/>
              <a:t>객체이면 문자열을 합친 </a:t>
            </a:r>
            <a:r>
              <a:rPr lang="en-US" altLang="ko-KR" dirty="0"/>
              <a:t>String </a:t>
            </a:r>
            <a:r>
              <a:rPr lang="ko-KR" altLang="en-US" dirty="0"/>
              <a:t>객체를 반환한다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4563F77-4079-44FD-AC16-D5293C2E4BC4}" type="slidenum">
              <a:rPr lang="ko-KR" altLang="en-US" smtClean="0"/>
              <a:pPr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83895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7" Type="http://schemas.openxmlformats.org/officeDocument/2006/relationships/image" Target="../media/image4.gif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4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0741" y="2682140"/>
            <a:ext cx="2088296" cy="2844240"/>
          </a:xfrm>
          <a:prstGeom prst="rect">
            <a:avLst/>
          </a:prstGeom>
        </p:spPr>
      </p:pic>
      <p:sp>
        <p:nvSpPr>
          <p:cNvPr id="10" name="L 도형 5"/>
          <p:cNvSpPr/>
          <p:nvPr/>
        </p:nvSpPr>
        <p:spPr bwMode="auto">
          <a:xfrm flipH="1">
            <a:off x="817" y="5976589"/>
            <a:ext cx="9146638" cy="836787"/>
          </a:xfrm>
          <a:custGeom>
            <a:avLst/>
            <a:gdLst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18778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22969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75356"/>
              <a:gd name="connsiteY0" fmla="*/ 0 h 786010"/>
              <a:gd name="connsiteX1" fmla="*/ 1758749 w 9375356"/>
              <a:gd name="connsiteY1" fmla="*/ 2181 h 786010"/>
              <a:gd name="connsiteX2" fmla="*/ 2425499 w 9375356"/>
              <a:gd name="connsiteY2" fmla="*/ 308368 h 786010"/>
              <a:gd name="connsiteX3" fmla="*/ 9375356 w 9375356"/>
              <a:gd name="connsiteY3" fmla="*/ 308368 h 786010"/>
              <a:gd name="connsiteX4" fmla="*/ 9375356 w 9375356"/>
              <a:gd name="connsiteY4" fmla="*/ 786010 h 786010"/>
              <a:gd name="connsiteX5" fmla="*/ 14288 w 9375356"/>
              <a:gd name="connsiteY5" fmla="*/ 786010 h 786010"/>
              <a:gd name="connsiteX6" fmla="*/ 0 w 9375356"/>
              <a:gd name="connsiteY6" fmla="*/ 0 h 786010"/>
              <a:gd name="connsiteX0" fmla="*/ 0 w 9375356"/>
              <a:gd name="connsiteY0" fmla="*/ 0 h 786010"/>
              <a:gd name="connsiteX1" fmla="*/ 1758749 w 9375356"/>
              <a:gd name="connsiteY1" fmla="*/ 2181 h 786010"/>
              <a:gd name="connsiteX2" fmla="*/ 2425499 w 9375356"/>
              <a:gd name="connsiteY2" fmla="*/ 308368 h 786010"/>
              <a:gd name="connsiteX3" fmla="*/ 9375356 w 9375356"/>
              <a:gd name="connsiteY3" fmla="*/ 308368 h 786010"/>
              <a:gd name="connsiteX4" fmla="*/ 9375356 w 9375356"/>
              <a:gd name="connsiteY4" fmla="*/ 786010 h 786010"/>
              <a:gd name="connsiteX5" fmla="*/ 2381 w 9375356"/>
              <a:gd name="connsiteY5" fmla="*/ 786010 h 786010"/>
              <a:gd name="connsiteX6" fmla="*/ 0 w 9375356"/>
              <a:gd name="connsiteY6" fmla="*/ 0 h 786010"/>
              <a:gd name="connsiteX0" fmla="*/ 2488 w 9373081"/>
              <a:gd name="connsiteY0" fmla="*/ 17447 h 783829"/>
              <a:gd name="connsiteX1" fmla="*/ 1756474 w 9373081"/>
              <a:gd name="connsiteY1" fmla="*/ 0 h 783829"/>
              <a:gd name="connsiteX2" fmla="*/ 2423224 w 9373081"/>
              <a:gd name="connsiteY2" fmla="*/ 306187 h 783829"/>
              <a:gd name="connsiteX3" fmla="*/ 9373081 w 9373081"/>
              <a:gd name="connsiteY3" fmla="*/ 306187 h 783829"/>
              <a:gd name="connsiteX4" fmla="*/ 9373081 w 9373081"/>
              <a:gd name="connsiteY4" fmla="*/ 783829 h 783829"/>
              <a:gd name="connsiteX5" fmla="*/ 106 w 9373081"/>
              <a:gd name="connsiteY5" fmla="*/ 783829 h 783829"/>
              <a:gd name="connsiteX6" fmla="*/ 2488 w 9373081"/>
              <a:gd name="connsiteY6" fmla="*/ 17447 h 783829"/>
              <a:gd name="connsiteX0" fmla="*/ 2488 w 9373081"/>
              <a:gd name="connsiteY0" fmla="*/ 0 h 766382"/>
              <a:gd name="connsiteX1" fmla="*/ 1756474 w 9373081"/>
              <a:gd name="connsiteY1" fmla="*/ 0 h 766382"/>
              <a:gd name="connsiteX2" fmla="*/ 2423224 w 9373081"/>
              <a:gd name="connsiteY2" fmla="*/ 288740 h 766382"/>
              <a:gd name="connsiteX3" fmla="*/ 9373081 w 9373081"/>
              <a:gd name="connsiteY3" fmla="*/ 288740 h 766382"/>
              <a:gd name="connsiteX4" fmla="*/ 9373081 w 9373081"/>
              <a:gd name="connsiteY4" fmla="*/ 766382 h 766382"/>
              <a:gd name="connsiteX5" fmla="*/ 106 w 9373081"/>
              <a:gd name="connsiteY5" fmla="*/ 766382 h 766382"/>
              <a:gd name="connsiteX6" fmla="*/ 2488 w 9373081"/>
              <a:gd name="connsiteY6" fmla="*/ 0 h 766382"/>
              <a:gd name="connsiteX0" fmla="*/ 2488 w 9373081"/>
              <a:gd name="connsiteY0" fmla="*/ 0 h 766382"/>
              <a:gd name="connsiteX1" fmla="*/ 1756474 w 9373081"/>
              <a:gd name="connsiteY1" fmla="*/ 0 h 766382"/>
              <a:gd name="connsiteX2" fmla="*/ 2423224 w 9373081"/>
              <a:gd name="connsiteY2" fmla="*/ 288740 h 766382"/>
              <a:gd name="connsiteX3" fmla="*/ 9373081 w 9373081"/>
              <a:gd name="connsiteY3" fmla="*/ 288740 h 766382"/>
              <a:gd name="connsiteX4" fmla="*/ 9373081 w 9373081"/>
              <a:gd name="connsiteY4" fmla="*/ 766382 h 766382"/>
              <a:gd name="connsiteX5" fmla="*/ 106 w 9373081"/>
              <a:gd name="connsiteY5" fmla="*/ 766382 h 766382"/>
              <a:gd name="connsiteX6" fmla="*/ 2488 w 9373081"/>
              <a:gd name="connsiteY6" fmla="*/ 0 h 766382"/>
              <a:gd name="connsiteX0" fmla="*/ 2488 w 9373081"/>
              <a:gd name="connsiteY0" fmla="*/ 418 h 766800"/>
              <a:gd name="connsiteX1" fmla="*/ 1756474 w 9373081"/>
              <a:gd name="connsiteY1" fmla="*/ 418 h 766800"/>
              <a:gd name="connsiteX2" fmla="*/ 2423224 w 9373081"/>
              <a:gd name="connsiteY2" fmla="*/ 289158 h 766800"/>
              <a:gd name="connsiteX3" fmla="*/ 9373081 w 9373081"/>
              <a:gd name="connsiteY3" fmla="*/ 289158 h 766800"/>
              <a:gd name="connsiteX4" fmla="*/ 9373081 w 9373081"/>
              <a:gd name="connsiteY4" fmla="*/ 766800 h 766800"/>
              <a:gd name="connsiteX5" fmla="*/ 106 w 9373081"/>
              <a:gd name="connsiteY5" fmla="*/ 766800 h 766800"/>
              <a:gd name="connsiteX6" fmla="*/ 2488 w 9373081"/>
              <a:gd name="connsiteY6" fmla="*/ 418 h 766800"/>
              <a:gd name="connsiteX0" fmla="*/ 2488 w 9373081"/>
              <a:gd name="connsiteY0" fmla="*/ 0 h 766382"/>
              <a:gd name="connsiteX1" fmla="*/ 1756474 w 9373081"/>
              <a:gd name="connsiteY1" fmla="*/ 0 h 766382"/>
              <a:gd name="connsiteX2" fmla="*/ 2423224 w 9373081"/>
              <a:gd name="connsiteY2" fmla="*/ 288740 h 766382"/>
              <a:gd name="connsiteX3" fmla="*/ 9373081 w 9373081"/>
              <a:gd name="connsiteY3" fmla="*/ 288740 h 766382"/>
              <a:gd name="connsiteX4" fmla="*/ 9373081 w 9373081"/>
              <a:gd name="connsiteY4" fmla="*/ 766382 h 766382"/>
              <a:gd name="connsiteX5" fmla="*/ 106 w 9373081"/>
              <a:gd name="connsiteY5" fmla="*/ 766382 h 766382"/>
              <a:gd name="connsiteX6" fmla="*/ 2488 w 9373081"/>
              <a:gd name="connsiteY6" fmla="*/ 0 h 766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73081" h="766382">
                <a:moveTo>
                  <a:pt x="2488" y="0"/>
                </a:moveTo>
                <a:lnTo>
                  <a:pt x="1756474" y="0"/>
                </a:lnTo>
                <a:cubicBezTo>
                  <a:pt x="2043018" y="462"/>
                  <a:pt x="2107312" y="264481"/>
                  <a:pt x="2423224" y="288740"/>
                </a:cubicBezTo>
                <a:lnTo>
                  <a:pt x="9373081" y="288740"/>
                </a:lnTo>
                <a:lnTo>
                  <a:pt x="9373081" y="766382"/>
                </a:lnTo>
                <a:lnTo>
                  <a:pt x="106" y="766382"/>
                </a:lnTo>
                <a:cubicBezTo>
                  <a:pt x="-688" y="504379"/>
                  <a:pt x="3282" y="262003"/>
                  <a:pt x="2488" y="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miter lim="800000"/>
            <a:headEnd/>
            <a:tailEnd/>
          </a:ln>
          <a:effectLst>
            <a:outerShdw blurRad="50800" dist="38100" dir="16200000" rotWithShape="0">
              <a:prstClr val="black">
                <a:alpha val="13000"/>
              </a:prstClr>
            </a:outerShdw>
          </a:effectLst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sp>
        <p:nvSpPr>
          <p:cNvPr id="9" name="L 도형 5"/>
          <p:cNvSpPr/>
          <p:nvPr/>
        </p:nvSpPr>
        <p:spPr bwMode="auto">
          <a:xfrm flipH="1">
            <a:off x="818" y="6029547"/>
            <a:ext cx="9143182" cy="783829"/>
          </a:xfrm>
          <a:custGeom>
            <a:avLst/>
            <a:gdLst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18778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22969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87781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  <a:gd name="connsiteX0" fmla="*/ 0 w 9361068"/>
              <a:gd name="connsiteY0" fmla="*/ 0 h 783829"/>
              <a:gd name="connsiteX1" fmla="*/ 1744461 w 9361068"/>
              <a:gd name="connsiteY1" fmla="*/ 0 h 783829"/>
              <a:gd name="connsiteX2" fmla="*/ 2411211 w 9361068"/>
              <a:gd name="connsiteY2" fmla="*/ 306187 h 783829"/>
              <a:gd name="connsiteX3" fmla="*/ 9361068 w 9361068"/>
              <a:gd name="connsiteY3" fmla="*/ 306187 h 783829"/>
              <a:gd name="connsiteX4" fmla="*/ 9361068 w 9361068"/>
              <a:gd name="connsiteY4" fmla="*/ 783829 h 783829"/>
              <a:gd name="connsiteX5" fmla="*/ 0 w 9361068"/>
              <a:gd name="connsiteY5" fmla="*/ 783829 h 783829"/>
              <a:gd name="connsiteX6" fmla="*/ 0 w 9361068"/>
              <a:gd name="connsiteY6" fmla="*/ 0 h 7838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61068" h="783829">
                <a:moveTo>
                  <a:pt x="0" y="0"/>
                </a:moveTo>
                <a:lnTo>
                  <a:pt x="1744461" y="0"/>
                </a:lnTo>
                <a:cubicBezTo>
                  <a:pt x="2023861" y="462"/>
                  <a:pt x="2100061" y="299375"/>
                  <a:pt x="2411211" y="306187"/>
                </a:cubicBezTo>
                <a:lnTo>
                  <a:pt x="9361068" y="306187"/>
                </a:lnTo>
                <a:lnTo>
                  <a:pt x="9361068" y="783829"/>
                </a:lnTo>
                <a:lnTo>
                  <a:pt x="0" y="783829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100000">
                <a:srgbClr val="BEBEBE"/>
              </a:gs>
              <a:gs pos="0">
                <a:srgbClr val="ECECEC"/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sz="1000" b="1" dirty="0">
              <a:solidFill>
                <a:schemeClr val="bg1"/>
              </a:solidFill>
              <a:latin typeface="나눔고딕 ExtraBold" pitchFamily="50" charset="-127"/>
              <a:ea typeface="나눔고딕 ExtraBold" pitchFamily="50" charset="-127"/>
            </a:endParaRPr>
          </a:p>
        </p:txBody>
      </p:sp>
      <p:pic>
        <p:nvPicPr>
          <p:cNvPr id="13" name="Picture 8" descr="C:\Users\Donggeon Lee\Desktop\IoT\pnu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053" y="6223627"/>
            <a:ext cx="1645499" cy="415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제목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685800" y="1277281"/>
            <a:ext cx="7772400" cy="1259824"/>
          </a:xfrm>
        </p:spPr>
        <p:txBody>
          <a:bodyPr>
            <a:normAutofit/>
          </a:bodyPr>
          <a:lstStyle>
            <a:lvl1pPr algn="ctr">
              <a:defRPr sz="3200" baseline="0">
                <a:solidFill>
                  <a:schemeClr val="tx1"/>
                </a:solidFill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23" name="부제목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650024" y="3023001"/>
            <a:ext cx="5843952" cy="1081259"/>
          </a:xfrm>
        </p:spPr>
        <p:txBody>
          <a:bodyPr anchor="ctr"/>
          <a:lstStyle>
            <a:lvl1pPr marL="0" indent="0" algn="ctr">
              <a:buNone/>
              <a:defRPr baseline="0">
                <a:solidFill>
                  <a:srgbClr val="004EA2"/>
                </a:solidFill>
                <a:effectLst>
                  <a:glow rad="38100">
                    <a:schemeClr val="bg1"/>
                  </a:glow>
                </a:effectLst>
                <a:latin typeface="Candara" panose="020E0502030303020204" pitchFamily="34" charset="0"/>
                <a:ea typeface="+mj-ea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클릭하여 마스터 부제목 스타일 편집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610D680-078B-4021-91D2-BFE36AAF6766}"/>
              </a:ext>
            </a:extLst>
          </p:cNvPr>
          <p:cNvSpPr txBox="1"/>
          <p:nvPr/>
        </p:nvSpPr>
        <p:spPr>
          <a:xfrm>
            <a:off x="3320925" y="5041117"/>
            <a:ext cx="272382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b="0" dirty="0"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부산대학교 공과대학 전기컴퓨터공학부</a:t>
            </a:r>
            <a:endParaRPr lang="en-US" altLang="ko-KR" sz="1200" b="0" dirty="0">
              <a:effectLst>
                <a:glow rad="127000"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algn="ctr"/>
            <a:r>
              <a:rPr lang="ko-KR" altLang="en-US" sz="2000" dirty="0">
                <a:solidFill>
                  <a:schemeClr val="tx2"/>
                </a:solidFill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정보</a:t>
            </a:r>
            <a:r>
              <a:rPr lang="ko-KR" altLang="en-US" sz="2000" b="0" dirty="0">
                <a:solidFill>
                  <a:schemeClr val="tx2"/>
                </a:solidFill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컴퓨터공학전공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="" xmlns:a16="http://schemas.microsoft.com/office/drawing/2014/main" id="{5FA9853B-F490-4B3B-9B23-5B632CC61D03}"/>
              </a:ext>
            </a:extLst>
          </p:cNvPr>
          <p:cNvSpPr/>
          <p:nvPr/>
        </p:nvSpPr>
        <p:spPr>
          <a:xfrm>
            <a:off x="817" y="0"/>
            <a:ext cx="9144000" cy="711200"/>
          </a:xfrm>
          <a:prstGeom prst="rect">
            <a:avLst/>
          </a:prstGeom>
          <a:solidFill>
            <a:srgbClr val="004EA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="" xmlns:a16="http://schemas.microsoft.com/office/drawing/2014/main" id="{CA3CDD27-CD1C-4CA0-A452-7B574BE3AB50}"/>
              </a:ext>
            </a:extLst>
          </p:cNvPr>
          <p:cNvSpPr/>
          <p:nvPr/>
        </p:nvSpPr>
        <p:spPr>
          <a:xfrm>
            <a:off x="0" y="612559"/>
            <a:ext cx="9144000" cy="383340"/>
          </a:xfrm>
          <a:prstGeom prst="rect">
            <a:avLst/>
          </a:prstGeom>
          <a:solidFill>
            <a:srgbClr val="20A15E"/>
          </a:solidFill>
          <a:ln>
            <a:solidFill>
              <a:srgbClr val="20A15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Picture 2" descr="기본형">
            <a:extLst>
              <a:ext uri="{FF2B5EF4-FFF2-40B4-BE49-F238E27FC236}">
                <a16:creationId xmlns="" xmlns:a16="http://schemas.microsoft.com/office/drawing/2014/main" id="{D26D7978-E8B6-4D84-BAC1-928F19A6FE6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813" t="26557" r="28362" b="25734"/>
          <a:stretch/>
        </p:blipFill>
        <p:spPr bwMode="auto">
          <a:xfrm>
            <a:off x="108529" y="133822"/>
            <a:ext cx="1080653" cy="7639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정장형 심볼01">
            <a:extLst>
              <a:ext uri="{FF2B5EF4-FFF2-40B4-BE49-F238E27FC236}">
                <a16:creationId xmlns="" xmlns:a16="http://schemas.microsoft.com/office/drawing/2014/main" id="{690CD754-3353-485D-95B4-94148F98E6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7064" y="5041117"/>
            <a:ext cx="613861" cy="6138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8262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9512" y="180108"/>
            <a:ext cx="8786688" cy="614218"/>
          </a:xfrm>
        </p:spPr>
        <p:txBody>
          <a:bodyPr/>
          <a:lstStyle>
            <a:lvl1pPr>
              <a:defRPr baseline="0"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820472" y="6597352"/>
            <a:ext cx="323528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00D90EE-624F-4CF6-B1CA-C1033E61431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EB05DB11-9E8D-4861-8DF2-ADEACCA464F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78690" y="914400"/>
            <a:ext cx="8587509" cy="5532438"/>
          </a:xfrm>
        </p:spPr>
        <p:txBody>
          <a:bodyPr/>
          <a:lstStyle>
            <a:lvl1pPr>
              <a:defRPr baseline="0">
                <a:latin typeface="Candara" panose="020E0502030303020204" pitchFamily="34" charset="0"/>
                <a:ea typeface="+mj-ea"/>
              </a:defRPr>
            </a:lvl1pPr>
            <a:lvl2pPr>
              <a:lnSpc>
                <a:spcPct val="150000"/>
              </a:lnSpc>
              <a:defRPr baseline="0">
                <a:latin typeface="Candara" panose="020E0502030303020204" pitchFamily="34" charset="0"/>
                <a:ea typeface="+mn-ea"/>
              </a:defRPr>
            </a:lvl2pPr>
            <a:lvl3pPr>
              <a:defRPr baseline="0">
                <a:latin typeface="Candara" panose="020E0502030303020204" pitchFamily="34" charset="0"/>
                <a:ea typeface="+mn-ea"/>
              </a:defRPr>
            </a:lvl3pPr>
            <a:lvl4pPr>
              <a:defRPr baseline="0">
                <a:latin typeface="Candara" panose="020E0502030303020204" pitchFamily="34" charset="0"/>
                <a:ea typeface="+mn-ea"/>
              </a:defRPr>
            </a:lvl4pPr>
            <a:lvl5pPr>
              <a:defRPr baseline="0">
                <a:latin typeface="Candara" panose="020E0502030303020204" pitchFamily="34" charset="0"/>
                <a:ea typeface="+mn-ea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32544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722313" y="3929066"/>
            <a:ext cx="7772400" cy="714380"/>
          </a:xfrm>
        </p:spPr>
        <p:txBody>
          <a:bodyPr anchor="t"/>
          <a:lstStyle>
            <a:lvl1pPr algn="l">
              <a:defRPr sz="4000" b="1" cap="all">
                <a:latin typeface="+mj-ea"/>
                <a:ea typeface="+mj-ea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722313" y="4643445"/>
            <a:ext cx="7772400" cy="1500187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+mn-ea"/>
                <a:ea typeface="+mn-ea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78701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  <p:custDataLst>
              <p:tags r:id="rId1"/>
            </p:custDataLst>
          </p:nvPr>
        </p:nvSpPr>
        <p:spPr>
          <a:xfrm>
            <a:off x="457200" y="908720"/>
            <a:ext cx="4038600" cy="5832648"/>
          </a:xfrm>
        </p:spPr>
        <p:txBody>
          <a:bodyPr>
            <a:normAutofit/>
          </a:bodyPr>
          <a:lstStyle>
            <a:lvl1pPr>
              <a:defRPr sz="2000"/>
            </a:lvl1pPr>
            <a:lvl2pPr marL="442913" indent="-174625">
              <a:defRPr sz="1600"/>
            </a:lvl2pPr>
            <a:lvl3pPr marL="803275" indent="-174625">
              <a:defRPr sz="1400"/>
            </a:lvl3pPr>
            <a:lvl4pPr marL="1081088" indent="-277813">
              <a:defRPr sz="1200"/>
            </a:lvl4pPr>
            <a:lvl5pPr marL="1163638" indent="-268288"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820472" y="6597352"/>
            <a:ext cx="323528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00D90EE-624F-4CF6-B1CA-C1033E61431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제목 2">
            <a:extLst>
              <a:ext uri="{FF2B5EF4-FFF2-40B4-BE49-F238E27FC236}">
                <a16:creationId xmlns="" xmlns:a16="http://schemas.microsoft.com/office/drawing/2014/main" id="{5565FF20-9F99-4F3D-8508-0C7C5A8F1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512" y="180108"/>
            <a:ext cx="8786688" cy="614218"/>
          </a:xfrm>
        </p:spPr>
        <p:txBody>
          <a:bodyPr/>
          <a:lstStyle>
            <a:lvl1pPr>
              <a:defRPr baseline="0"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="" xmlns:a16="http://schemas.microsoft.com/office/drawing/2014/main" id="{256323F4-0B9B-4F2F-9D74-97D8AAC62AB9}"/>
              </a:ext>
            </a:extLst>
          </p:cNvPr>
          <p:cNvSpPr>
            <a:spLocks noGrp="1"/>
          </p:cNvSpPr>
          <p:nvPr>
            <p:ph sz="half" idx="11"/>
            <p:custDataLst>
              <p:tags r:id="rId3"/>
            </p:custDataLst>
          </p:nvPr>
        </p:nvSpPr>
        <p:spPr>
          <a:xfrm>
            <a:off x="4927600" y="908720"/>
            <a:ext cx="4038600" cy="5832648"/>
          </a:xfrm>
        </p:spPr>
        <p:txBody>
          <a:bodyPr>
            <a:normAutofit/>
          </a:bodyPr>
          <a:lstStyle>
            <a:lvl1pPr>
              <a:defRPr sz="2000"/>
            </a:lvl1pPr>
            <a:lvl2pPr marL="442913" indent="-174625">
              <a:defRPr sz="1600"/>
            </a:lvl2pPr>
            <a:lvl3pPr marL="803275" indent="-174625">
              <a:defRPr sz="1400"/>
            </a:lvl3pPr>
            <a:lvl4pPr marL="1081088" indent="-277813">
              <a:defRPr sz="1200"/>
            </a:lvl4pPr>
            <a:lvl5pPr marL="1163638" indent="-268288"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3086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179512" y="180108"/>
            <a:ext cx="8786688" cy="614218"/>
          </a:xfrm>
        </p:spPr>
        <p:txBody>
          <a:bodyPr/>
          <a:lstStyle>
            <a:lvl1pPr>
              <a:defRPr baseline="0">
                <a:effectLst>
                  <a:glow rad="127000"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11" name="슬라이드 번호 개체 틀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820472" y="6597352"/>
            <a:ext cx="323528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00D90EE-624F-4CF6-B1CA-C1033E614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712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슬라이드 번호 개체 틀 5"/>
          <p:cNvSpPr>
            <a:spLocks noGrp="1"/>
          </p:cNvSpPr>
          <p:nvPr>
            <p:ph type="sldNum" sz="quarter" idx="4"/>
            <p:custDataLst>
              <p:tags r:id="rId1"/>
            </p:custDataLst>
          </p:nvPr>
        </p:nvSpPr>
        <p:spPr>
          <a:xfrm>
            <a:off x="8820472" y="6597352"/>
            <a:ext cx="323528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00D90EE-624F-4CF6-B1CA-C1033E61431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1630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59032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ags" Target="../tags/tag3.xml"/><Relationship Id="rId5" Type="http://schemas.openxmlformats.org/officeDocument/2006/relationships/slideLayout" Target="../slideLayouts/slideLayout5.xml"/><Relationship Id="rId10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슬라이드 번호 개체 틀 5"/>
          <p:cNvSpPr>
            <a:spLocks noGrp="1"/>
          </p:cNvSpPr>
          <p:nvPr>
            <p:ph type="sldNum" sz="quarter" idx="4"/>
            <p:custDataLst>
              <p:tags r:id="rId9"/>
            </p:custDataLst>
          </p:nvPr>
        </p:nvSpPr>
        <p:spPr>
          <a:xfrm>
            <a:off x="8820472" y="6597352"/>
            <a:ext cx="323528" cy="194616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none"/>
        </p:style>
        <p:txBody>
          <a:bodyPr lIns="0" tIns="0" rIns="0" bIns="0" anchor="ctr" anchorCtr="1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100" b="0" baseline="0" smtClean="0">
                <a:solidFill>
                  <a:schemeClr val="bg1"/>
                </a:solidFill>
                <a:latin typeface="Candara" panose="020E0502030303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fld id="{B00D90EE-624F-4CF6-B1CA-C1033E61431F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26" name="제목 개체 틀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 bwMode="auto">
          <a:xfrm>
            <a:off x="181794" y="129648"/>
            <a:ext cx="8784976" cy="582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  <p:custDataLst>
              <p:tags r:id="rId11"/>
            </p:custDataLst>
          </p:nvPr>
        </p:nvSpPr>
        <p:spPr bwMode="auto">
          <a:xfrm>
            <a:off x="179512" y="796190"/>
            <a:ext cx="8784976" cy="598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0" y="6791968"/>
            <a:ext cx="9144000" cy="66032"/>
          </a:xfrm>
          <a:prstGeom prst="rect">
            <a:avLst/>
          </a:prstGeom>
          <a:solidFill>
            <a:srgbClr val="20A1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Picture 8" descr="C:\Users\Donggeon Lee\Desktop\IoT\pnu.png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6430120"/>
            <a:ext cx="1325123" cy="334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/>
          <p:cNvSpPr/>
          <p:nvPr/>
        </p:nvSpPr>
        <p:spPr>
          <a:xfrm>
            <a:off x="0" y="0"/>
            <a:ext cx="9144000" cy="45719"/>
          </a:xfrm>
          <a:prstGeom prst="rect">
            <a:avLst/>
          </a:prstGeom>
          <a:solidFill>
            <a:srgbClr val="004E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6637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</p:sldLayoutIdLst>
  <p:hf hdr="0" ftr="0" dt="0"/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2800" b="1" kern="1200" baseline="0">
          <a:solidFill>
            <a:srgbClr val="20A15E"/>
          </a:solidFill>
          <a:effectLst>
            <a:glow rad="127000">
              <a:schemeClr val="bg1"/>
            </a:glow>
          </a:effectLst>
          <a:latin typeface="Candara" panose="020E0502030303020204" pitchFamily="34" charset="0"/>
          <a:ea typeface="+mj-ea"/>
          <a:cs typeface="+mj-cs"/>
        </a:defRPr>
      </a:lvl1pPr>
      <a:lvl2pPr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2pPr>
      <a:lvl3pPr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3pPr>
      <a:lvl4pPr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4pPr>
      <a:lvl5pPr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5pPr>
      <a:lvl6pPr marL="457200"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6pPr>
      <a:lvl7pPr marL="914400"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7pPr>
      <a:lvl8pPr marL="1371600"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8pPr>
      <a:lvl9pPr marL="1828800" algn="ctr" rtl="0" eaLnBrk="1" fontAlgn="base" latinLnBrk="1" hangingPunct="1">
        <a:spcBef>
          <a:spcPct val="0"/>
        </a:spcBef>
        <a:spcAft>
          <a:spcPct val="0"/>
        </a:spcAft>
        <a:defRPr sz="2800">
          <a:solidFill>
            <a:srgbClr val="0E2AA7"/>
          </a:solidFill>
          <a:latin typeface="Times New Roman" pitchFamily="18" charset="0"/>
          <a:ea typeface="나눔고딕 Bold" pitchFamily="50" charset="-127"/>
        </a:defRPr>
      </a:lvl9pPr>
    </p:titleStyle>
    <p:bodyStyle>
      <a:lvl1pPr marL="342900" indent="-342900" algn="l" rtl="0" eaLnBrk="1" fontAlgn="base" latinLnBrk="1" hangingPunct="1">
        <a:lnSpc>
          <a:spcPct val="100000"/>
        </a:lnSpc>
        <a:spcBef>
          <a:spcPts val="600"/>
        </a:spcBef>
        <a:spcAft>
          <a:spcPts val="600"/>
        </a:spcAft>
        <a:buFont typeface="Wingdings" pitchFamily="2" charset="2"/>
        <a:buChar char="v"/>
        <a:defRPr sz="2000" b="1" kern="1200" baseline="0">
          <a:solidFill>
            <a:srgbClr val="023368"/>
          </a:solidFill>
          <a:effectLst>
            <a:glow rad="38100">
              <a:schemeClr val="bg1"/>
            </a:glow>
          </a:effectLst>
          <a:latin typeface="Candara" panose="020E0502030303020204" pitchFamily="34" charset="0"/>
          <a:ea typeface="+mj-ea"/>
          <a:cs typeface="+mn-cs"/>
        </a:defRPr>
      </a:lvl1pPr>
      <a:lvl2pPr marL="742950" indent="-285750" algn="l" rtl="0" eaLnBrk="1" fontAlgn="base" latinLnBrk="1" hangingPunct="1">
        <a:lnSpc>
          <a:spcPct val="100000"/>
        </a:lnSpc>
        <a:spcBef>
          <a:spcPts val="600"/>
        </a:spcBef>
        <a:spcAft>
          <a:spcPts val="600"/>
        </a:spcAft>
        <a:buFont typeface="Wingdings" pitchFamily="2" charset="2"/>
        <a:buChar char="§"/>
        <a:defRPr sz="1600" kern="1200" baseline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2pPr>
      <a:lvl3pPr marL="1143000" indent="-228600" algn="l" rtl="0" eaLnBrk="1" fontAlgn="base" latinLnBrk="1" hangingPunct="1">
        <a:lnSpc>
          <a:spcPct val="100000"/>
        </a:lnSpc>
        <a:spcBef>
          <a:spcPts val="300"/>
        </a:spcBef>
        <a:spcAft>
          <a:spcPts val="300"/>
        </a:spcAft>
        <a:buFont typeface="Arial" charset="0"/>
        <a:buChar char="•"/>
        <a:defRPr sz="1400" kern="1200" baseline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3pPr>
      <a:lvl4pPr marL="1600200" indent="-228600" algn="l" rtl="0" eaLnBrk="1" fontAlgn="base" latinLnBrk="1" hangingPunct="1">
        <a:lnSpc>
          <a:spcPct val="100000"/>
        </a:lnSpc>
        <a:spcBef>
          <a:spcPts val="300"/>
        </a:spcBef>
        <a:spcAft>
          <a:spcPts val="300"/>
        </a:spcAft>
        <a:buFont typeface="Arial" charset="0"/>
        <a:buChar char="–"/>
        <a:defRPr sz="1200" kern="1200" baseline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4pPr>
      <a:lvl5pPr marL="2057400" indent="-228600" algn="l" rtl="0" eaLnBrk="1" fontAlgn="base" latinLnBrk="1" hangingPunct="1">
        <a:lnSpc>
          <a:spcPct val="100000"/>
        </a:lnSpc>
        <a:spcBef>
          <a:spcPts val="300"/>
        </a:spcBef>
        <a:spcAft>
          <a:spcPts val="300"/>
        </a:spcAft>
        <a:buFont typeface="Arial" charset="0"/>
        <a:buChar char="»"/>
        <a:defRPr sz="1200" kern="1200" baseline="0">
          <a:solidFill>
            <a:schemeClr val="tx1"/>
          </a:solidFill>
          <a:latin typeface="Candara" panose="020E0502030303020204" pitchFamily="34" charset="0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0.png"/><Relationship Id="rId5" Type="http://schemas.microsoft.com/office/2007/relationships/hdphoto" Target="../media/hdphoto1.wdp"/><Relationship Id="rId4" Type="http://schemas.openxmlformats.org/officeDocument/2006/relationships/image" Target="../media/image29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Serial </a:t>
            </a:r>
            <a:r>
              <a:rPr lang="ko-KR" altLang="en-US" dirty="0" smtClean="0"/>
              <a:t>통신 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UART, SPI ,I2C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50054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199" y="908720"/>
            <a:ext cx="8509001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Universal Asynchronous Receiver/Transmitter</a:t>
            </a:r>
          </a:p>
          <a:p>
            <a:pPr lvl="1"/>
            <a:r>
              <a:rPr lang="en-US" altLang="ko-KR" dirty="0" smtClean="0"/>
              <a:t>Universal : </a:t>
            </a:r>
            <a:r>
              <a:rPr lang="ko-KR" altLang="en-US" dirty="0" smtClean="0"/>
              <a:t>여러 통신 규약과 함께 사용됨</a:t>
            </a:r>
            <a:endParaRPr lang="en-US" altLang="ko-KR" dirty="0" smtClean="0"/>
          </a:p>
          <a:p>
            <a:pPr marL="268288" lvl="1" indent="0">
              <a:buNone/>
            </a:pPr>
            <a:r>
              <a:rPr lang="en-US" altLang="ko-KR" dirty="0"/>
              <a:t> </a:t>
            </a:r>
            <a:r>
              <a:rPr lang="en-US" altLang="ko-KR" dirty="0" smtClean="0"/>
              <a:t>   -  RS-232C, RS-422, RS-485 </a:t>
            </a:r>
            <a:r>
              <a:rPr lang="ko-KR" altLang="en-US" dirty="0" smtClean="0"/>
              <a:t>등</a:t>
            </a:r>
            <a:endParaRPr lang="en-US" altLang="ko-KR" dirty="0"/>
          </a:p>
          <a:p>
            <a:pPr lvl="1"/>
            <a:r>
              <a:rPr lang="en-US" altLang="ko-KR" dirty="0" smtClean="0"/>
              <a:t>Asynchronous : </a:t>
            </a:r>
            <a:r>
              <a:rPr lang="ko-KR" altLang="en-US" dirty="0" smtClean="0"/>
              <a:t>동기화를 위한 별도의 </a:t>
            </a:r>
            <a:r>
              <a:rPr lang="ko-KR" altLang="en-US" dirty="0" err="1" smtClean="0"/>
              <a:t>클록을</a:t>
            </a:r>
            <a:r>
              <a:rPr lang="ko-KR" altLang="en-US" dirty="0" smtClean="0"/>
              <a:t> 사용하지 않음</a:t>
            </a:r>
            <a:endParaRPr lang="en-US" altLang="ko-KR" dirty="0" smtClean="0"/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ko-KR" altLang="en-US" spc="-100" dirty="0" err="1" smtClean="0">
                <a:latin typeface="+mn-ea"/>
              </a:rPr>
              <a:t>저수준의</a:t>
            </a:r>
            <a:r>
              <a:rPr lang="ko-KR" altLang="en-US" spc="-100" dirty="0" smtClean="0">
                <a:latin typeface="+mn-ea"/>
              </a:rPr>
              <a:t> 통신 방법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 </a:t>
            </a:r>
            <a:r>
              <a:rPr lang="ko-KR" altLang="en-US" dirty="0" smtClean="0"/>
              <a:t>하드웨어 수준에서 지원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smtClean="0"/>
              <a:t>통신을 위한 전용의 하드웨어 핀 제공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마이크로컨트롤러의</a:t>
            </a:r>
            <a:r>
              <a:rPr lang="ko-KR" altLang="en-US" dirty="0" smtClean="0"/>
              <a:t> 동작 전압을 </a:t>
            </a:r>
            <a:r>
              <a:rPr lang="ko-KR" altLang="en-US" dirty="0" err="1" smtClean="0"/>
              <a:t>기준으로하는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TTL(Transistor-</a:t>
            </a:r>
            <a:r>
              <a:rPr lang="en-US" altLang="ko-KR" dirty="0" err="1" smtClean="0"/>
              <a:t>Transitor</a:t>
            </a:r>
            <a:r>
              <a:rPr lang="en-US" altLang="ko-KR" dirty="0" smtClean="0"/>
              <a:t> Logic)</a:t>
            </a:r>
            <a:r>
              <a:rPr lang="ko-KR" altLang="en-US" dirty="0" smtClean="0"/>
              <a:t>레벨 사용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메가 </a:t>
            </a:r>
            <a:r>
              <a:rPr lang="en-US" altLang="ko-KR" dirty="0" smtClean="0"/>
              <a:t>2560</a:t>
            </a:r>
            <a:r>
              <a:rPr lang="ko-KR" altLang="en-US" dirty="0" smtClean="0"/>
              <a:t>에서는 </a:t>
            </a:r>
            <a:r>
              <a:rPr lang="en-US" altLang="ko-KR" dirty="0" smtClean="0"/>
              <a:t>5V </a:t>
            </a:r>
            <a:r>
              <a:rPr lang="ko-KR" altLang="en-US" dirty="0" smtClean="0"/>
              <a:t>기준</a:t>
            </a:r>
            <a:endParaRPr lang="en-US" altLang="ko-KR" dirty="0" smtClean="0"/>
          </a:p>
          <a:p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UART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54672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B12E4C0D-198D-46F0-92A2-DD0B0F904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08720"/>
            <a:ext cx="8363272" cy="5832648"/>
          </a:xfrm>
        </p:spPr>
        <p:txBody>
          <a:bodyPr/>
          <a:lstStyle/>
          <a:p>
            <a:r>
              <a:rPr lang="en-US" altLang="ko-KR" dirty="0" smtClean="0"/>
              <a:t>4</a:t>
            </a:r>
            <a:r>
              <a:rPr lang="ko-KR" altLang="en-US" dirty="0" smtClean="0"/>
              <a:t>개의 통신 채널 제공</a:t>
            </a:r>
            <a:endParaRPr lang="en-US" altLang="ko-KR" dirty="0"/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en-US" altLang="ko-KR" spc="-50" dirty="0">
                <a:latin typeface="+mn-ea"/>
              </a:rPr>
              <a:t>Serial_ </a:t>
            </a:r>
            <a:r>
              <a:rPr lang="ko-KR" altLang="en-US" spc="-50" dirty="0">
                <a:latin typeface="+mn-ea"/>
              </a:rPr>
              <a:t>클래스의 객체 </a:t>
            </a:r>
            <a:r>
              <a:rPr lang="en-US" altLang="ko-KR" spc="-50" dirty="0">
                <a:latin typeface="+mn-ea"/>
              </a:rPr>
              <a:t>Serial, Serial1, Serial2, Serial3</a:t>
            </a:r>
            <a:r>
              <a:rPr lang="ko-KR" altLang="en-US" spc="-50" dirty="0">
                <a:latin typeface="+mn-ea"/>
              </a:rPr>
              <a:t>이 미리 정의되어 있음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ko-KR" altLang="en-US" spc="-50" dirty="0">
                <a:latin typeface="+mn-ea"/>
              </a:rPr>
              <a:t>객체를 생성하여 사용하는 경우는 없음</a:t>
            </a:r>
            <a:endParaRPr lang="en-US" altLang="ko-KR" spc="-50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</a:t>
            </a:r>
            <a:r>
              <a:rPr lang="ko-KR" altLang="en-US" dirty="0"/>
              <a:t> 메가</a:t>
            </a:r>
            <a:r>
              <a:rPr lang="en-US" altLang="ko-KR" dirty="0"/>
              <a:t>2560</a:t>
            </a:r>
            <a:r>
              <a:rPr lang="ko-KR" altLang="en-US" dirty="0"/>
              <a:t>의 </a:t>
            </a:r>
            <a:r>
              <a:rPr lang="en-US" altLang="ko-KR" dirty="0"/>
              <a:t>UART </a:t>
            </a:r>
            <a:r>
              <a:rPr lang="ko-KR" altLang="en-US" dirty="0"/>
              <a:t>통신</a:t>
            </a:r>
          </a:p>
        </p:txBody>
      </p:sp>
      <p:graphicFrame>
        <p:nvGraphicFramePr>
          <p:cNvPr id="7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30783698"/>
              </p:ext>
            </p:extLst>
          </p:nvPr>
        </p:nvGraphicFramePr>
        <p:xfrm>
          <a:off x="457200" y="3155534"/>
          <a:ext cx="7775576" cy="2681275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372561"/>
                <a:gridCol w="2515227"/>
                <a:gridCol w="1943894"/>
                <a:gridCol w="1943894"/>
              </a:tblGrid>
              <a:tr h="456771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ko-KR" altLang="en-US" sz="2000" b="1" kern="1200" spc="-5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채널</a:t>
                      </a:r>
                      <a:endParaRPr kumimoji="1" lang="ko-KR" altLang="en-US" sz="2000" b="1" kern="1200" spc="-5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ko-KR" altLang="en-US" sz="2000" b="1" kern="1200" spc="-5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연결 핀</a:t>
                      </a:r>
                      <a:endParaRPr kumimoji="1" lang="ko-KR" altLang="en-US" sz="2000" b="1" kern="1200" spc="-5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ko-KR" altLang="en-US" sz="2000" b="1" kern="1200" spc="-5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해당 객체</a:t>
                      </a:r>
                      <a:endParaRPr kumimoji="1" lang="ko-KR" altLang="en-US" sz="2000" b="1" kern="1200" spc="-5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ko-KR" altLang="en-US" sz="2000" b="1" kern="1200" spc="-50" dirty="0" smtClean="0">
                          <a:solidFill>
                            <a:schemeClr val="bg1"/>
                          </a:solidFill>
                          <a:latin typeface="+mn-ea"/>
                          <a:ea typeface="+mn-ea"/>
                          <a:cs typeface="+mn-cs"/>
                        </a:rPr>
                        <a:t>설명</a:t>
                      </a:r>
                      <a:endParaRPr kumimoji="1" lang="ko-KR" altLang="en-US" sz="2000" b="1" kern="1200" spc="-50" dirty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5561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</a:t>
                      </a:r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0(RX), 1(TX)</a:t>
                      </a:r>
                      <a:endParaRPr kumimoji="1" lang="ko-KR" altLang="en-US" sz="200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Serial</a:t>
                      </a:r>
                      <a:endParaRPr kumimoji="1" lang="ko-KR" altLang="en-US" sz="200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ko-KR" altLang="en-US" sz="2000" kern="1200" spc="-5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우노와</a:t>
                      </a:r>
                      <a:r>
                        <a:rPr kumimoji="1" lang="ko-KR" altLang="en-US" sz="20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동일</a:t>
                      </a:r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1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19(RX), 18(TX)</a:t>
                      </a:r>
                      <a:endParaRPr kumimoji="1" lang="ko-KR" altLang="en-US" sz="2000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Serial1</a:t>
                      </a:r>
                      <a:endParaRPr kumimoji="1" lang="ko-KR" altLang="en-US" sz="200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2000" kern="1200" spc="-5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1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17(RX), 16(TX)</a:t>
                      </a:r>
                      <a:endParaRPr kumimoji="1" lang="ko-KR" altLang="en-US" sz="2000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Serial2</a:t>
                      </a:r>
                      <a:endParaRPr kumimoji="1" lang="ko-KR" altLang="en-US" sz="200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6126"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-5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15(RX), 14(TX)</a:t>
                      </a:r>
                      <a:endParaRPr kumimoji="1" lang="ko-KR" altLang="en-US" sz="2000" kern="1200" spc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r>
                        <a:rPr kumimoji="1" lang="en-US" altLang="ko-KR" sz="2000" kern="1200" spc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Serial3</a:t>
                      </a:r>
                      <a:endParaRPr kumimoji="1" lang="ko-KR" altLang="en-US" sz="2000" kern="1200" spc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1" hangingPunct="1"/>
                      <a:endParaRPr kumimoji="1" lang="ko-KR" altLang="en-US" sz="2000" kern="1200" spc="-5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91425" marR="91425" marT="45725" marB="45725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16664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="" xmlns:a16="http://schemas.microsoft.com/office/drawing/2014/main" id="{C1B05F9D-2614-46B9-A3AC-A5022DE4D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908720"/>
            <a:ext cx="6755451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90000"/>
              <a:buBlip>
                <a:blip r:embed="rId2"/>
              </a:buBlip>
            </a:pPr>
            <a:r>
              <a:rPr lang="en-US" altLang="ko-KR" spc="-100" dirty="0">
                <a:latin typeface="+mn-ea"/>
              </a:rPr>
              <a:t>UART </a:t>
            </a:r>
            <a:r>
              <a:rPr lang="ko-KR" altLang="en-US" spc="-100" dirty="0">
                <a:latin typeface="+mn-ea"/>
              </a:rPr>
              <a:t>통신</a:t>
            </a:r>
            <a:endParaRPr lang="en-US" altLang="ko-KR" spc="-10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ko-KR" altLang="en-US" spc="-50" dirty="0">
                <a:latin typeface="+mn-ea"/>
              </a:rPr>
              <a:t>하드웨어로 지원되는 기능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ko-KR" altLang="en-US" spc="-50" dirty="0">
                <a:latin typeface="+mn-ea"/>
              </a:rPr>
              <a:t>메가</a:t>
            </a:r>
            <a:r>
              <a:rPr lang="en-US" altLang="ko-KR" spc="-50" dirty="0">
                <a:latin typeface="+mn-ea"/>
              </a:rPr>
              <a:t>2560</a:t>
            </a:r>
            <a:r>
              <a:rPr lang="ko-KR" altLang="en-US" spc="-50" dirty="0">
                <a:latin typeface="+mn-ea"/>
              </a:rPr>
              <a:t>은 </a:t>
            </a:r>
            <a:r>
              <a:rPr lang="en-US" altLang="ko-KR" spc="-50" dirty="0">
                <a:latin typeface="+mn-ea"/>
              </a:rPr>
              <a:t>4</a:t>
            </a:r>
            <a:r>
              <a:rPr lang="ko-KR" altLang="en-US" spc="-50" dirty="0">
                <a:latin typeface="+mn-ea"/>
              </a:rPr>
              <a:t>개</a:t>
            </a:r>
            <a:r>
              <a:rPr lang="en-US" altLang="ko-KR" spc="-50" dirty="0">
                <a:latin typeface="+mn-ea"/>
              </a:rPr>
              <a:t>, </a:t>
            </a:r>
            <a:r>
              <a:rPr lang="ko-KR" altLang="en-US" spc="-50" dirty="0" err="1">
                <a:latin typeface="+mn-ea"/>
              </a:rPr>
              <a:t>우노는</a:t>
            </a:r>
            <a:r>
              <a:rPr lang="ko-KR" altLang="en-US" spc="-50" dirty="0">
                <a:latin typeface="+mn-ea"/>
              </a:rPr>
              <a:t> </a:t>
            </a:r>
            <a:r>
              <a:rPr lang="en-US" altLang="ko-KR" spc="-50" dirty="0">
                <a:latin typeface="+mn-ea"/>
              </a:rPr>
              <a:t>1</a:t>
            </a:r>
            <a:r>
              <a:rPr lang="ko-KR" altLang="en-US" spc="-50" dirty="0">
                <a:latin typeface="+mn-ea"/>
              </a:rPr>
              <a:t>개의 채널 제공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ko-KR" altLang="en-US" spc="-50" dirty="0">
                <a:latin typeface="+mn-ea"/>
              </a:rPr>
              <a:t>하나의 </a:t>
            </a:r>
            <a:r>
              <a:rPr lang="ko-KR" altLang="en-US" spc="-50" dirty="0" smtClean="0">
                <a:latin typeface="+mn-ea"/>
              </a:rPr>
              <a:t>채널에는 하나의 장치만 연결 가능 </a:t>
            </a:r>
            <a:r>
              <a:rPr lang="en-US" altLang="ko-KR" spc="-50" dirty="0" smtClean="0">
                <a:latin typeface="+mn-ea"/>
              </a:rPr>
              <a:t>(1:1 </a:t>
            </a:r>
            <a:r>
              <a:rPr lang="ko-KR" altLang="en-US" spc="-50" dirty="0" smtClean="0">
                <a:latin typeface="+mn-ea"/>
              </a:rPr>
              <a:t>통신만 지원</a:t>
            </a:r>
            <a:r>
              <a:rPr lang="en-US" altLang="ko-KR" spc="-50" dirty="0" smtClean="0">
                <a:latin typeface="+mn-ea"/>
              </a:rPr>
              <a:t>)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endParaRPr lang="en-US" altLang="ko-KR" spc="-50" dirty="0">
              <a:latin typeface="+mn-ea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9A1B1E23-1989-40CF-9A3B-207655704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A35D9EB2-58E5-4BC8-8945-2C038A3D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SoftwareSerial</a:t>
            </a:r>
            <a:r>
              <a:rPr lang="en-US" altLang="ko-KR" dirty="0"/>
              <a:t> </a:t>
            </a:r>
            <a:r>
              <a:rPr lang="ko-KR" altLang="en-US" dirty="0"/>
              <a:t>클래스</a:t>
            </a:r>
          </a:p>
        </p:txBody>
      </p:sp>
      <p:sp>
        <p:nvSpPr>
          <p:cNvPr id="9" name="내용 개체 틀 1">
            <a:extLst>
              <a:ext uri="{FF2B5EF4-FFF2-40B4-BE49-F238E27FC236}">
                <a16:creationId xmlns="" xmlns:a16="http://schemas.microsoft.com/office/drawing/2014/main" id="{C1B05F9D-2614-46B9-A3AC-A5022DE4DC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8" y="2650638"/>
            <a:ext cx="8225329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90000"/>
              <a:buBlip>
                <a:blip r:embed="rId2"/>
              </a:buBlip>
            </a:pPr>
            <a:r>
              <a:rPr lang="en-US" altLang="ko-KR" spc="-100" dirty="0" err="1">
                <a:latin typeface="+mn-ea"/>
              </a:rPr>
              <a:t>SoftwareSerial</a:t>
            </a:r>
            <a:r>
              <a:rPr lang="en-US" altLang="ko-KR" spc="-100" dirty="0">
                <a:latin typeface="+mn-ea"/>
              </a:rPr>
              <a:t> </a:t>
            </a:r>
            <a:r>
              <a:rPr lang="ko-KR" altLang="en-US" spc="-100" dirty="0">
                <a:latin typeface="+mn-ea"/>
              </a:rPr>
              <a:t>클래스</a:t>
            </a:r>
            <a:endParaRPr lang="en-US" altLang="ko-KR" spc="-100" dirty="0">
              <a:latin typeface="+mn-ea"/>
            </a:endParaRPr>
          </a:p>
          <a:p>
            <a:pPr marL="252000" lvl="1" indent="-252000">
              <a:lnSpc>
                <a:spcPct val="110000"/>
              </a:lnSpc>
              <a:buFontTx/>
              <a:buChar char="‒"/>
            </a:pPr>
            <a:r>
              <a:rPr lang="ko-KR" altLang="en-US" spc="-50" dirty="0">
                <a:latin typeface="+mn-ea"/>
              </a:rPr>
              <a:t>하드웨어로 지원되는 </a:t>
            </a:r>
            <a:r>
              <a:rPr lang="en-US" altLang="ko-KR" spc="-50" dirty="0">
                <a:latin typeface="+mn-ea"/>
              </a:rPr>
              <a:t>UART </a:t>
            </a:r>
            <a:r>
              <a:rPr lang="ko-KR" altLang="en-US" spc="-50" dirty="0">
                <a:latin typeface="+mn-ea"/>
              </a:rPr>
              <a:t>통신을 소프트웨어로 에뮬레이션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10000"/>
              </a:lnSpc>
              <a:buFontTx/>
              <a:buChar char="‒"/>
            </a:pPr>
            <a:r>
              <a:rPr lang="ko-KR" altLang="en-US" spc="-50" dirty="0" err="1">
                <a:latin typeface="+mn-ea"/>
              </a:rPr>
              <a:t>우노의</a:t>
            </a:r>
            <a:r>
              <a:rPr lang="ko-KR" altLang="en-US" spc="-50" dirty="0">
                <a:latin typeface="+mn-ea"/>
              </a:rPr>
              <a:t> 경우 하나의 </a:t>
            </a:r>
            <a:r>
              <a:rPr lang="en-US" altLang="ko-KR" spc="-50" dirty="0">
                <a:latin typeface="+mn-ea"/>
              </a:rPr>
              <a:t>UART </a:t>
            </a:r>
            <a:r>
              <a:rPr lang="ko-KR" altLang="en-US" spc="-50" dirty="0">
                <a:latin typeface="+mn-ea"/>
              </a:rPr>
              <a:t>채널만 존재하며</a:t>
            </a:r>
            <a:r>
              <a:rPr lang="en-US" altLang="ko-KR" spc="-50" dirty="0">
                <a:latin typeface="+mn-ea"/>
              </a:rPr>
              <a:t>, </a:t>
            </a:r>
            <a:r>
              <a:rPr lang="ko-KR" altLang="en-US" spc="-50" dirty="0">
                <a:latin typeface="+mn-ea"/>
              </a:rPr>
              <a:t>프로그램 업로드에 사용되므로 </a:t>
            </a:r>
            <a:r>
              <a:rPr lang="en-US" altLang="ko-KR" spc="-50" dirty="0">
                <a:latin typeface="+mn-ea"/>
              </a:rPr>
              <a:t>UART </a:t>
            </a:r>
            <a:r>
              <a:rPr lang="ko-KR" altLang="en-US" spc="-50" dirty="0">
                <a:latin typeface="+mn-ea"/>
              </a:rPr>
              <a:t>통신을 위해 흔히 </a:t>
            </a:r>
            <a:r>
              <a:rPr lang="ko-KR" altLang="en-US" spc="-50" dirty="0" smtClean="0">
                <a:latin typeface="+mn-ea"/>
              </a:rPr>
              <a:t>사용됨</a:t>
            </a:r>
            <a:endParaRPr lang="en-US" altLang="ko-KR" spc="-50" dirty="0" smtClean="0">
              <a:latin typeface="+mn-ea"/>
            </a:endParaRPr>
          </a:p>
          <a:p>
            <a:pPr marL="252000" lvl="1" indent="-252000">
              <a:lnSpc>
                <a:spcPct val="110000"/>
              </a:lnSpc>
              <a:buFontTx/>
              <a:buChar char="‒"/>
            </a:pPr>
            <a:r>
              <a:rPr lang="ko-KR" altLang="en-US" spc="-50" dirty="0" smtClean="0">
                <a:latin typeface="+mn-ea"/>
              </a:rPr>
              <a:t>메가</a:t>
            </a:r>
            <a:r>
              <a:rPr lang="en-US" altLang="ko-KR" spc="-50" dirty="0">
                <a:latin typeface="+mn-ea"/>
              </a:rPr>
              <a:t>2560</a:t>
            </a:r>
            <a:r>
              <a:rPr lang="ko-KR" altLang="en-US" spc="-50" dirty="0">
                <a:latin typeface="+mn-ea"/>
              </a:rPr>
              <a:t>의 경우 </a:t>
            </a:r>
            <a:r>
              <a:rPr lang="en-US" altLang="ko-KR" spc="-50" dirty="0">
                <a:latin typeface="+mn-ea"/>
              </a:rPr>
              <a:t>4</a:t>
            </a:r>
            <a:r>
              <a:rPr lang="ko-KR" altLang="en-US" spc="-50" dirty="0">
                <a:latin typeface="+mn-ea"/>
              </a:rPr>
              <a:t>개의 채널이 존재하므로 흔히 사용되지는 </a:t>
            </a:r>
            <a:r>
              <a:rPr lang="ko-KR" altLang="en-US" spc="-50" dirty="0" smtClean="0">
                <a:latin typeface="+mn-ea"/>
              </a:rPr>
              <a:t>않음</a:t>
            </a:r>
            <a:endParaRPr lang="en-US" altLang="ko-KR" spc="-50" dirty="0">
              <a:latin typeface="+mn-ea"/>
            </a:endParaRPr>
          </a:p>
          <a:p>
            <a:pPr marL="252000" lvl="1" indent="-252000">
              <a:lnSpc>
                <a:spcPct val="110000"/>
              </a:lnSpc>
              <a:spcBef>
                <a:spcPts val="0"/>
              </a:spcBef>
              <a:buFontTx/>
              <a:buChar char="‒"/>
            </a:pPr>
            <a:r>
              <a:rPr lang="ko-KR" altLang="en-US" spc="-50" dirty="0">
                <a:latin typeface="+mn-ea"/>
              </a:rPr>
              <a:t>채널 생성 과정에서 데이터 핀을 지정해야 하는 차이 이외에 사용 방법에 차이는 없음</a:t>
            </a: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endParaRPr lang="en-US" altLang="ko-KR" spc="-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977228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	</a:t>
            </a:r>
            <a:r>
              <a:rPr lang="en-US" altLang="ko-KR" dirty="0" smtClean="0"/>
              <a:t>UART </a:t>
            </a:r>
            <a:r>
              <a:rPr lang="ko-KR" altLang="en-US" dirty="0" smtClean="0"/>
              <a:t>시리얼 통신을 </a:t>
            </a:r>
            <a:r>
              <a:rPr lang="en-US" altLang="ko-KR" dirty="0" smtClean="0"/>
              <a:t>LED </a:t>
            </a:r>
            <a:r>
              <a:rPr lang="ko-KR" altLang="en-US" dirty="0" smtClean="0"/>
              <a:t>원격 제어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>
          <a:xfrm>
            <a:off x="378690" y="914400"/>
            <a:ext cx="8833676" cy="5532438"/>
          </a:xfrm>
        </p:spPr>
        <p:txBody>
          <a:bodyPr/>
          <a:lstStyle/>
          <a:p>
            <a:r>
              <a:rPr lang="ko-KR" altLang="en-US" dirty="0"/>
              <a:t>실험 </a:t>
            </a:r>
            <a:r>
              <a:rPr lang="ko-KR" altLang="en-US" dirty="0" smtClean="0"/>
              <a:t>순서</a:t>
            </a:r>
            <a:endParaRPr lang="en-US" altLang="ko-KR" dirty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메가</a:t>
            </a:r>
            <a:r>
              <a:rPr lang="en-US" altLang="ko-KR" dirty="0" smtClean="0"/>
              <a:t>2560(1</a:t>
            </a:r>
            <a:r>
              <a:rPr lang="ko-KR" altLang="en-US" dirty="0" smtClean="0"/>
              <a:t>번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원격버튼제어 회로</a:t>
            </a:r>
            <a:r>
              <a:rPr lang="en-US" altLang="ko-KR" dirty="0" smtClean="0"/>
              <a:t>, </a:t>
            </a:r>
            <a:r>
              <a:rPr lang="ko-KR" altLang="en-US" dirty="0" smtClean="0"/>
              <a:t>메가</a:t>
            </a:r>
            <a:r>
              <a:rPr lang="en-US" altLang="ko-KR" dirty="0" smtClean="0"/>
              <a:t>2560(2</a:t>
            </a:r>
            <a:r>
              <a:rPr lang="ko-KR" altLang="en-US" dirty="0" smtClean="0"/>
              <a:t>번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출력 회로 구성</a:t>
            </a:r>
            <a:endParaRPr lang="en-US" altLang="ko-KR" dirty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/>
              <a:t>메가</a:t>
            </a:r>
            <a:r>
              <a:rPr lang="en-US" altLang="ko-KR" dirty="0"/>
              <a:t>2560(1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 </a:t>
            </a:r>
            <a:r>
              <a:rPr lang="ko-KR" altLang="en-US" dirty="0" smtClean="0"/>
              <a:t>원격버튼제어코드 작성 </a:t>
            </a:r>
            <a:r>
              <a:rPr lang="en-US" altLang="ko-KR" dirty="0" smtClean="0"/>
              <a:t>(Sketch 18-3, </a:t>
            </a:r>
            <a:r>
              <a:rPr lang="en-US" altLang="ko-KR" dirty="0"/>
              <a:t>Textbook pp. </a:t>
            </a:r>
            <a:r>
              <a:rPr lang="en-US" altLang="ko-KR" dirty="0" smtClean="0"/>
              <a:t>313)</a:t>
            </a:r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메가</a:t>
            </a:r>
            <a:r>
              <a:rPr lang="en-US" altLang="ko-KR" dirty="0" smtClean="0"/>
              <a:t>2560(2</a:t>
            </a:r>
            <a:r>
              <a:rPr lang="ko-KR" altLang="en-US" dirty="0" smtClean="0"/>
              <a:t>번</a:t>
            </a:r>
            <a:r>
              <a:rPr lang="en-US" altLang="ko-KR" dirty="0" smtClean="0"/>
              <a:t>)</a:t>
            </a:r>
            <a:r>
              <a:rPr lang="ko-KR" altLang="en-US" dirty="0" smtClean="0"/>
              <a:t>에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출력코드 작성</a:t>
            </a:r>
            <a:r>
              <a:rPr lang="en-US" altLang="ko-KR" dirty="0" smtClean="0"/>
              <a:t> (Sketch 18-5, Textbook pp.316)</a:t>
            </a:r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실행 </a:t>
            </a:r>
            <a:r>
              <a:rPr lang="ko-KR" altLang="en-US" dirty="0"/>
              <a:t>결과 확인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="" xmlns:a16="http://schemas.microsoft.com/office/drawing/2014/main" id="{AC7C824B-D81B-4F77-8D09-BE3BDA1B1A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22049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①</a:t>
            </a:r>
            <a:r>
              <a:rPr lang="ko-KR" altLang="en-US" dirty="0"/>
              <a:t> </a:t>
            </a:r>
            <a:r>
              <a:rPr lang="ko-KR" altLang="en-US" dirty="0" smtClean="0"/>
              <a:t>원격버튼제어 </a:t>
            </a:r>
            <a:r>
              <a:rPr lang="ko-KR" altLang="en-US" dirty="0"/>
              <a:t>회로</a:t>
            </a:r>
            <a:r>
              <a:rPr lang="en-US" altLang="ko-KR" dirty="0"/>
              <a:t>, </a:t>
            </a:r>
            <a:r>
              <a:rPr lang="en-US" altLang="ko-KR" dirty="0" smtClean="0"/>
              <a:t>LED</a:t>
            </a:r>
            <a:r>
              <a:rPr lang="ko-KR" altLang="en-US" dirty="0" smtClean="0"/>
              <a:t>연결출력 회로 구성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0521D6C-F039-41DE-8435-C6287B177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8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50" name="그룹 49"/>
          <p:cNvGrpSpPr/>
          <p:nvPr/>
        </p:nvGrpSpPr>
        <p:grpSpPr>
          <a:xfrm>
            <a:off x="853145" y="1767621"/>
            <a:ext cx="7304763" cy="3180250"/>
            <a:chOff x="282835" y="1383204"/>
            <a:chExt cx="8537637" cy="3717002"/>
          </a:xfrm>
        </p:grpSpPr>
        <p:pic>
          <p:nvPicPr>
            <p:cNvPr id="12" name="내용 개체 틀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2835" y="2291472"/>
              <a:ext cx="4076377" cy="2808734"/>
            </a:xfrm>
            <a:prstGeom prst="rect">
              <a:avLst/>
            </a:prstGeom>
          </p:spPr>
        </p:pic>
        <p:pic>
          <p:nvPicPr>
            <p:cNvPr id="11" name="그림 1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750405" y="1401865"/>
              <a:ext cx="4070067" cy="3684282"/>
            </a:xfrm>
            <a:prstGeom prst="rect">
              <a:avLst/>
            </a:prstGeom>
          </p:spPr>
        </p:pic>
        <p:pic>
          <p:nvPicPr>
            <p:cNvPr id="9" name="그림 8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82835" y="1383204"/>
              <a:ext cx="1827944" cy="3702943"/>
            </a:xfrm>
            <a:prstGeom prst="rect">
              <a:avLst/>
            </a:prstGeom>
          </p:spPr>
        </p:pic>
        <p:cxnSp>
          <p:nvCxnSpPr>
            <p:cNvPr id="15" name="직선 연결선 14"/>
            <p:cNvCxnSpPr/>
            <p:nvPr/>
          </p:nvCxnSpPr>
          <p:spPr>
            <a:xfrm flipV="1">
              <a:off x="1991170" y="4853114"/>
              <a:ext cx="657994" cy="10341"/>
            </a:xfrm>
            <a:prstGeom prst="line">
              <a:avLst/>
            </a:prstGeom>
            <a:ln w="57150"/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 flipV="1">
              <a:off x="2350060" y="2532588"/>
              <a:ext cx="0" cy="1138883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 flipH="1" flipV="1">
              <a:off x="1983806" y="2542577"/>
              <a:ext cx="406153" cy="1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4" name="직사각형 23"/>
            <p:cNvSpPr/>
            <p:nvPr/>
          </p:nvSpPr>
          <p:spPr>
            <a:xfrm>
              <a:off x="2106488" y="3504828"/>
              <a:ext cx="217934" cy="3332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2106488" y="4255806"/>
              <a:ext cx="217934" cy="5509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연결선 25"/>
            <p:cNvCxnSpPr/>
            <p:nvPr/>
          </p:nvCxnSpPr>
          <p:spPr>
            <a:xfrm flipV="1">
              <a:off x="2250311" y="3636624"/>
              <a:ext cx="0" cy="605975"/>
            </a:xfrm>
            <a:prstGeom prst="line">
              <a:avLst/>
            </a:prstGeom>
            <a:ln w="57150">
              <a:solidFill>
                <a:srgbClr val="3A80C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9" name="직선 연결선 28"/>
            <p:cNvCxnSpPr/>
            <p:nvPr/>
          </p:nvCxnSpPr>
          <p:spPr>
            <a:xfrm flipH="1" flipV="1">
              <a:off x="1983031" y="3621997"/>
              <a:ext cx="305150" cy="1"/>
            </a:xfrm>
            <a:prstGeom prst="line">
              <a:avLst/>
            </a:prstGeom>
            <a:ln w="57150">
              <a:solidFill>
                <a:srgbClr val="3A80C1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0" name="직선 연결선 29"/>
            <p:cNvCxnSpPr/>
            <p:nvPr/>
          </p:nvCxnSpPr>
          <p:spPr>
            <a:xfrm flipH="1">
              <a:off x="1973696" y="3427778"/>
              <a:ext cx="4069623" cy="14669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3" name="직선 연결선 32"/>
            <p:cNvCxnSpPr/>
            <p:nvPr/>
          </p:nvCxnSpPr>
          <p:spPr>
            <a:xfrm flipH="1">
              <a:off x="1993673" y="3354134"/>
              <a:ext cx="3445781" cy="961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6" name="직선 연결선 35"/>
            <p:cNvCxnSpPr/>
            <p:nvPr/>
          </p:nvCxnSpPr>
          <p:spPr>
            <a:xfrm>
              <a:off x="5408064" y="3318527"/>
              <a:ext cx="613" cy="1055278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39" name="직선 연결선 38"/>
            <p:cNvCxnSpPr/>
            <p:nvPr/>
          </p:nvCxnSpPr>
          <p:spPr>
            <a:xfrm flipH="1">
              <a:off x="5382426" y="4373805"/>
              <a:ext cx="1120112" cy="3289"/>
            </a:xfrm>
            <a:prstGeom prst="line">
              <a:avLst/>
            </a:prstGeom>
            <a:ln w="57150">
              <a:solidFill>
                <a:schemeClr val="accent6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2" name="직선 연결선 41"/>
            <p:cNvCxnSpPr/>
            <p:nvPr/>
          </p:nvCxnSpPr>
          <p:spPr>
            <a:xfrm flipV="1">
              <a:off x="6010135" y="3403044"/>
              <a:ext cx="0" cy="920229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47" name="직선 연결선 46"/>
            <p:cNvCxnSpPr/>
            <p:nvPr/>
          </p:nvCxnSpPr>
          <p:spPr>
            <a:xfrm flipH="1">
              <a:off x="5985213" y="4293888"/>
              <a:ext cx="517325" cy="1865"/>
            </a:xfrm>
            <a:prstGeom prst="line">
              <a:avLst/>
            </a:prstGeom>
            <a:ln w="57150">
              <a:solidFill>
                <a:schemeClr val="accent3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6490552" y="4219916"/>
              <a:ext cx="167497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600" b="1" dirty="0" smtClean="0"/>
                <a:t>TX1 18</a:t>
              </a:r>
            </a:p>
            <a:p>
              <a:r>
                <a:rPr lang="en-US" altLang="ko-KR" sz="600" b="1" dirty="0" smtClean="0"/>
                <a:t>RX1 19</a:t>
              </a:r>
              <a:endParaRPr lang="ko-KR" altLang="en-US" sz="6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319812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/>
              <a:t> ② 메가</a:t>
            </a:r>
            <a:r>
              <a:rPr lang="en-US" altLang="ko-KR" dirty="0"/>
              <a:t>2560(1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 </a:t>
            </a:r>
            <a:r>
              <a:rPr lang="ko-KR" altLang="en-US" dirty="0" smtClean="0"/>
              <a:t>원격버튼제어코드 작성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0521D6C-F039-41DE-8435-C6287B177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853145" y="966127"/>
            <a:ext cx="7736276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300" dirty="0">
                <a:latin typeface="Consolas" panose="020B0609020204030204" pitchFamily="49" charset="0"/>
              </a:rPr>
              <a:t>#include &lt;</a:t>
            </a:r>
            <a:r>
              <a:rPr lang="en-US" altLang="ko-KR" sz="1300" dirty="0" err="1">
                <a:latin typeface="Consolas" panose="020B0609020204030204" pitchFamily="49" charset="0"/>
              </a:rPr>
              <a:t>SoftwareSerial.h</a:t>
            </a:r>
            <a:r>
              <a:rPr lang="en-US" altLang="ko-KR" sz="1300" dirty="0">
                <a:latin typeface="Consolas" panose="020B0609020204030204" pitchFamily="49" charset="0"/>
              </a:rPr>
              <a:t>&gt;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//</a:t>
            </a:r>
            <a:r>
              <a:rPr lang="en-US" altLang="ko-KR" sz="1300" dirty="0" err="1">
                <a:latin typeface="Consolas" panose="020B0609020204030204" pitchFamily="49" charset="0"/>
              </a:rPr>
              <a:t>SoftwareSerial</a:t>
            </a:r>
            <a:r>
              <a:rPr lang="en-US" altLang="ko-KR" sz="1300" dirty="0">
                <a:latin typeface="Consolas" panose="020B0609020204030204" pitchFamily="49" charset="0"/>
              </a:rPr>
              <a:t>(RX,TX) </a:t>
            </a:r>
            <a:r>
              <a:rPr lang="ko-KR" altLang="en-US" sz="1300" dirty="0">
                <a:latin typeface="Consolas" panose="020B0609020204030204" pitchFamily="49" charset="0"/>
              </a:rPr>
              <a:t>형식으로 메가</a:t>
            </a:r>
            <a:r>
              <a:rPr lang="en-US" altLang="ko-KR" sz="1300" dirty="0">
                <a:latin typeface="Consolas" panose="020B0609020204030204" pitchFamily="49" charset="0"/>
              </a:rPr>
              <a:t>2560(2</a:t>
            </a:r>
            <a:r>
              <a:rPr lang="ko-KR" altLang="en-US" sz="1300" dirty="0">
                <a:latin typeface="Consolas" panose="020B0609020204030204" pitchFamily="49" charset="0"/>
              </a:rPr>
              <a:t>번</a:t>
            </a:r>
            <a:r>
              <a:rPr lang="en-US" altLang="ko-KR" sz="1300" dirty="0">
                <a:latin typeface="Consolas" panose="020B0609020204030204" pitchFamily="49" charset="0"/>
              </a:rPr>
              <a:t>)</a:t>
            </a:r>
            <a:r>
              <a:rPr lang="ko-KR" altLang="en-US" sz="1300" dirty="0">
                <a:latin typeface="Consolas" panose="020B0609020204030204" pitchFamily="49" charset="0"/>
              </a:rPr>
              <a:t>의 핀과 교차하여 연결한다</a:t>
            </a:r>
            <a:r>
              <a:rPr lang="en-US" altLang="ko-KR" sz="13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300" dirty="0" err="1">
                <a:latin typeface="Consolas" panose="020B0609020204030204" pitchFamily="49" charset="0"/>
              </a:rPr>
              <a:t>SoftwareSerial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mySerial</a:t>
            </a:r>
            <a:r>
              <a:rPr lang="en-US" altLang="ko-KR" sz="1300" dirty="0">
                <a:latin typeface="Consolas" panose="020B0609020204030204" pitchFamily="49" charset="0"/>
              </a:rPr>
              <a:t>(4,5);</a:t>
            </a:r>
          </a:p>
          <a:p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button_pin</a:t>
            </a:r>
            <a:r>
              <a:rPr lang="en-US" altLang="ko-KR" sz="1300" dirty="0">
                <a:latin typeface="Consolas" panose="020B0609020204030204" pitchFamily="49" charset="0"/>
              </a:rPr>
              <a:t> = 2;</a:t>
            </a:r>
          </a:p>
          <a:p>
            <a:r>
              <a:rPr lang="en-US" altLang="ko-KR" sz="1300" dirty="0" err="1">
                <a:latin typeface="Consolas" panose="020B0609020204030204" pitchFamily="49" charset="0"/>
              </a:rPr>
              <a:t>boolean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previous_state</a:t>
            </a:r>
            <a:r>
              <a:rPr lang="en-US" altLang="ko-KR" sz="1300" dirty="0">
                <a:latin typeface="Consolas" panose="020B0609020204030204" pitchFamily="49" charset="0"/>
              </a:rPr>
              <a:t>= false;</a:t>
            </a:r>
          </a:p>
          <a:p>
            <a:endParaRPr lang="en-US" altLang="ko-KR" sz="1300" dirty="0">
              <a:latin typeface="Consolas" panose="020B0609020204030204" pitchFamily="49" charset="0"/>
            </a:endParaRPr>
          </a:p>
          <a:p>
            <a:r>
              <a:rPr lang="en-US" altLang="ko-KR" sz="1300" dirty="0">
                <a:latin typeface="Consolas" panose="020B0609020204030204" pitchFamily="49" charset="0"/>
              </a:rPr>
              <a:t>void setup() 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mySerial.begin</a:t>
            </a:r>
            <a:r>
              <a:rPr lang="en-US" altLang="ko-KR" sz="1300" dirty="0">
                <a:latin typeface="Consolas" panose="020B0609020204030204" pitchFamily="49" charset="0"/>
              </a:rPr>
              <a:t>(9600);     // </a:t>
            </a:r>
            <a:r>
              <a:rPr lang="ko-KR" altLang="en-US" sz="1300" dirty="0">
                <a:latin typeface="Consolas" panose="020B0609020204030204" pitchFamily="49" charset="0"/>
              </a:rPr>
              <a:t>메가</a:t>
            </a:r>
            <a:r>
              <a:rPr lang="en-US" altLang="ko-KR" sz="1300" dirty="0">
                <a:latin typeface="Consolas" panose="020B0609020204030204" pitchFamily="49" charset="0"/>
              </a:rPr>
              <a:t>2560(2</a:t>
            </a:r>
            <a:r>
              <a:rPr lang="ko-KR" altLang="en-US" sz="1300" dirty="0">
                <a:latin typeface="Consolas" panose="020B0609020204030204" pitchFamily="49" charset="0"/>
              </a:rPr>
              <a:t>번</a:t>
            </a:r>
            <a:r>
              <a:rPr lang="en-US" altLang="ko-KR" sz="1300" dirty="0">
                <a:latin typeface="Consolas" panose="020B0609020204030204" pitchFamily="49" charset="0"/>
              </a:rPr>
              <a:t>)</a:t>
            </a:r>
            <a:r>
              <a:rPr lang="ko-KR" altLang="en-US" sz="1300" dirty="0">
                <a:latin typeface="Consolas" panose="020B0609020204030204" pitchFamily="49" charset="0"/>
              </a:rPr>
              <a:t>과의 시리얼 연결</a:t>
            </a:r>
          </a:p>
          <a:p>
            <a:r>
              <a:rPr lang="ko-KR" altLang="en-US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300" dirty="0">
                <a:latin typeface="Consolas" panose="020B0609020204030204" pitchFamily="49" charset="0"/>
              </a:rPr>
              <a:t>(9600);   // </a:t>
            </a:r>
            <a:r>
              <a:rPr lang="ko-KR" altLang="en-US" sz="1300" dirty="0">
                <a:latin typeface="Consolas" panose="020B0609020204030204" pitchFamily="49" charset="0"/>
              </a:rPr>
              <a:t>컴퓨터와의 시리얼 연결</a:t>
            </a:r>
          </a:p>
          <a:p>
            <a:r>
              <a:rPr lang="ko-KR" altLang="en-US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pinMode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button_pin</a:t>
            </a:r>
            <a:r>
              <a:rPr lang="en-US" altLang="ko-KR" sz="1300" dirty="0">
                <a:latin typeface="Consolas" panose="020B0609020204030204" pitchFamily="49" charset="0"/>
              </a:rPr>
              <a:t>, INPUT);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1300" dirty="0">
              <a:latin typeface="Consolas" panose="020B0609020204030204" pitchFamily="49" charset="0"/>
            </a:endParaRPr>
          </a:p>
          <a:p>
            <a:r>
              <a:rPr lang="en-US" altLang="ko-KR" sz="1300" dirty="0">
                <a:latin typeface="Consolas" panose="020B0609020204030204" pitchFamily="49" charset="0"/>
              </a:rPr>
              <a:t>void loop() 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boolean</a:t>
            </a:r>
            <a:r>
              <a:rPr lang="en-US" altLang="ko-KR" sz="1300" dirty="0">
                <a:latin typeface="Consolas" panose="020B0609020204030204" pitchFamily="49" charset="0"/>
              </a:rPr>
              <a:t> state = </a:t>
            </a:r>
            <a:r>
              <a:rPr lang="en-US" altLang="ko-KR" sz="1300" dirty="0" err="1">
                <a:latin typeface="Consolas" panose="020B0609020204030204" pitchFamily="49" charset="0"/>
              </a:rPr>
              <a:t>digitalRead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button_pin</a:t>
            </a:r>
            <a:r>
              <a:rPr lang="en-US" altLang="ko-KR" sz="13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if(state){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// </a:t>
            </a:r>
            <a:r>
              <a:rPr lang="ko-KR" altLang="en-US" sz="1300" dirty="0">
                <a:latin typeface="Consolas" panose="020B0609020204030204" pitchFamily="49" charset="0"/>
              </a:rPr>
              <a:t>눌러지지 않은 상태에서 눌러진 경우로 상태가 바뀐 경우</a:t>
            </a:r>
          </a:p>
          <a:p>
            <a:r>
              <a:rPr lang="ko-KR" altLang="en-US" sz="1300" dirty="0">
                <a:latin typeface="Consolas" panose="020B0609020204030204" pitchFamily="49" charset="0"/>
              </a:rPr>
              <a:t>       </a:t>
            </a:r>
            <a:r>
              <a:rPr lang="en-US" altLang="ko-KR" sz="1300" dirty="0">
                <a:latin typeface="Consolas" panose="020B0609020204030204" pitchFamily="49" charset="0"/>
              </a:rPr>
              <a:t>if(</a:t>
            </a:r>
            <a:r>
              <a:rPr lang="en-US" altLang="ko-KR" sz="1300" dirty="0" err="1">
                <a:latin typeface="Consolas" panose="020B0609020204030204" pitchFamily="49" charset="0"/>
              </a:rPr>
              <a:t>previous_state</a:t>
            </a:r>
            <a:r>
              <a:rPr lang="en-US" altLang="ko-KR" sz="1300" dirty="0">
                <a:latin typeface="Consolas" panose="020B0609020204030204" pitchFamily="49" charset="0"/>
              </a:rPr>
              <a:t>==false){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mySerial.write</a:t>
            </a:r>
            <a:r>
              <a:rPr lang="en-US" altLang="ko-KR" sz="1300" dirty="0">
                <a:latin typeface="Consolas" panose="020B0609020204030204" pitchFamily="49" charset="0"/>
              </a:rPr>
              <a:t>('1');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300" dirty="0">
                <a:latin typeface="Consolas" panose="020B0609020204030204" pitchFamily="49" charset="0"/>
              </a:rPr>
              <a:t>("Button is pressed..");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</a:t>
            </a:r>
            <a:r>
              <a:rPr lang="en-US" altLang="ko-KR" sz="1300" dirty="0" err="1">
                <a:latin typeface="Consolas" panose="020B0609020204030204" pitchFamily="49" charset="0"/>
              </a:rPr>
              <a:t>previous_state</a:t>
            </a:r>
            <a:r>
              <a:rPr lang="en-US" altLang="ko-KR" sz="1300" dirty="0">
                <a:latin typeface="Consolas" panose="020B0609020204030204" pitchFamily="49" charset="0"/>
              </a:rPr>
              <a:t> = true;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delay(20);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else{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</a:t>
            </a:r>
            <a:r>
              <a:rPr lang="en-US" altLang="ko-KR" sz="1300" dirty="0" err="1">
                <a:latin typeface="Consolas" panose="020B0609020204030204" pitchFamily="49" charset="0"/>
              </a:rPr>
              <a:t>previous_state</a:t>
            </a:r>
            <a:r>
              <a:rPr lang="en-US" altLang="ko-KR" sz="1300" dirty="0">
                <a:latin typeface="Consolas" panose="020B0609020204030204" pitchFamily="49" charset="0"/>
              </a:rPr>
              <a:t> = false;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} 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0" name="한쪽 모서리가 잘린 사각형 9"/>
          <p:cNvSpPr/>
          <p:nvPr/>
        </p:nvSpPr>
        <p:spPr>
          <a:xfrm>
            <a:off x="5510444" y="5259395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10-3, </a:t>
            </a:r>
          </a:p>
          <a:p>
            <a:r>
              <a:rPr lang="en-US" altLang="ko-KR" sz="1400" dirty="0" smtClean="0"/>
              <a:t>Textbook </a:t>
            </a:r>
            <a:r>
              <a:rPr lang="en-US" altLang="ko-KR" sz="1400" dirty="0"/>
              <a:t>pp. </a:t>
            </a:r>
            <a:r>
              <a:rPr lang="en-US" altLang="ko-KR" sz="1400" dirty="0" smtClean="0"/>
              <a:t>313~314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674370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 smtClean="0"/>
              <a:t> </a:t>
            </a:r>
            <a:r>
              <a:rPr lang="en-US" altLang="ko-KR" dirty="0" smtClean="0"/>
              <a:t>③</a:t>
            </a:r>
            <a:r>
              <a:rPr lang="ko-KR" altLang="en-US" dirty="0"/>
              <a:t> 메가</a:t>
            </a:r>
            <a:r>
              <a:rPr lang="en-US" altLang="ko-KR" dirty="0"/>
              <a:t>2560(2</a:t>
            </a:r>
            <a:r>
              <a:rPr lang="ko-KR" altLang="en-US" dirty="0"/>
              <a:t>번</a:t>
            </a:r>
            <a:r>
              <a:rPr lang="en-US" altLang="ko-KR" dirty="0"/>
              <a:t>)</a:t>
            </a:r>
            <a:r>
              <a:rPr lang="ko-KR" altLang="en-US" dirty="0"/>
              <a:t>에 </a:t>
            </a:r>
            <a:r>
              <a:rPr lang="en-US" altLang="ko-KR" dirty="0"/>
              <a:t>LED</a:t>
            </a:r>
            <a:r>
              <a:rPr lang="ko-KR" altLang="en-US" dirty="0"/>
              <a:t>출력 회로 </a:t>
            </a:r>
            <a:r>
              <a:rPr lang="ko-KR" altLang="en-US" dirty="0" smtClean="0"/>
              <a:t>구성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="" xmlns:a16="http://schemas.microsoft.com/office/drawing/2014/main" id="{10521D6C-F039-41DE-8435-C6287B177C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272886" y="966127"/>
            <a:ext cx="4265786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LED_pins</a:t>
            </a:r>
            <a:r>
              <a:rPr lang="en-US" altLang="ko-KR" sz="1300" dirty="0">
                <a:latin typeface="Consolas" panose="020B0609020204030204" pitchFamily="49" charset="0"/>
              </a:rPr>
              <a:t>[] = {2,3,4,5};</a:t>
            </a:r>
          </a:p>
          <a:p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delta = 1;</a:t>
            </a:r>
          </a:p>
          <a:p>
            <a:endParaRPr lang="en-US" altLang="ko-KR" sz="1300" dirty="0">
              <a:latin typeface="Consolas" panose="020B0609020204030204" pitchFamily="49" charset="0"/>
            </a:endParaRPr>
          </a:p>
          <a:p>
            <a:r>
              <a:rPr lang="en-US" altLang="ko-KR" sz="1300" dirty="0">
                <a:latin typeface="Consolas" panose="020B0609020204030204" pitchFamily="49" charset="0"/>
              </a:rPr>
              <a:t>void setup(){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300" dirty="0">
                <a:latin typeface="Consolas" panose="020B0609020204030204" pitchFamily="49" charset="0"/>
              </a:rPr>
              <a:t>(9600);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Serial1.begin(9600);</a:t>
            </a:r>
          </a:p>
          <a:p>
            <a:endParaRPr lang="en-US" altLang="ko-KR" sz="1300" dirty="0">
              <a:latin typeface="Consolas" panose="020B0609020204030204" pitchFamily="49" charset="0"/>
            </a:endParaRPr>
          </a:p>
          <a:p>
            <a:r>
              <a:rPr lang="en-US" altLang="ko-KR" sz="1300" dirty="0">
                <a:latin typeface="Consolas" panose="020B0609020204030204" pitchFamily="49" charset="0"/>
              </a:rPr>
              <a:t>    for(</a:t>
            </a:r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=0;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 &lt; 4 ;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++){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 </a:t>
            </a:r>
            <a:r>
              <a:rPr lang="en-US" altLang="ko-KR" sz="1300" dirty="0" err="1">
                <a:latin typeface="Consolas" panose="020B0609020204030204" pitchFamily="49" charset="0"/>
              </a:rPr>
              <a:t>pinMode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LED_pins</a:t>
            </a:r>
            <a:r>
              <a:rPr lang="en-US" altLang="ko-KR" sz="1300" dirty="0">
                <a:latin typeface="Consolas" panose="020B0609020204030204" pitchFamily="49" charset="0"/>
              </a:rPr>
              <a:t>[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],OUTPUT);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 </a:t>
            </a:r>
            <a:r>
              <a:rPr lang="en-US" altLang="ko-KR" sz="13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LED_pins</a:t>
            </a:r>
            <a:r>
              <a:rPr lang="en-US" altLang="ko-KR" sz="1300" dirty="0">
                <a:latin typeface="Consolas" panose="020B0609020204030204" pitchFamily="49" charset="0"/>
              </a:rPr>
              <a:t>[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],LOW);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}</a:t>
            </a:r>
            <a:endParaRPr lang="en-US" altLang="ko-KR" sz="1300" dirty="0" smtClean="0">
              <a:latin typeface="Consolas" panose="020B0609020204030204" pitchFamily="49" charset="0"/>
            </a:endParaRPr>
          </a:p>
        </p:txBody>
      </p:sp>
      <p:sp>
        <p:nvSpPr>
          <p:cNvPr id="8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4638364" y="966126"/>
            <a:ext cx="4265786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300" dirty="0">
                <a:latin typeface="Consolas" panose="020B0609020204030204" pitchFamily="49" charset="0"/>
              </a:rPr>
              <a:t>void loop(){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if(Serial1.available()){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 char data = Serial1.read();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 if(data == '1'){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 += delta;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if(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==5){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delta = -1;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 = 3;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else if(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 == -1){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delta = 1;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 = 1;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Serial.print</a:t>
            </a:r>
            <a:r>
              <a:rPr lang="en-US" altLang="ko-KR" sz="1300" dirty="0">
                <a:latin typeface="Consolas" panose="020B0609020204030204" pitchFamily="49" charset="0"/>
              </a:rPr>
              <a:t>("</a:t>
            </a:r>
            <a:r>
              <a:rPr lang="en-US" altLang="ko-KR" sz="1300" dirty="0" err="1">
                <a:latin typeface="Consolas" panose="020B0609020204030204" pitchFamily="49" charset="0"/>
              </a:rPr>
              <a:t>Currntly</a:t>
            </a:r>
            <a:r>
              <a:rPr lang="en-US" altLang="ko-KR" sz="1300" dirty="0">
                <a:latin typeface="Consolas" panose="020B0609020204030204" pitchFamily="49" charset="0"/>
              </a:rPr>
              <a:t>");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Serial.print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</a:t>
            </a:r>
            <a:r>
              <a:rPr lang="en-US" altLang="ko-KR" sz="13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300" dirty="0">
                <a:latin typeface="Consolas" panose="020B0609020204030204" pitchFamily="49" charset="0"/>
              </a:rPr>
              <a:t>("LEDs are ON.");</a:t>
            </a:r>
          </a:p>
          <a:p>
            <a:endParaRPr lang="en-US" altLang="ko-KR" sz="1300" dirty="0">
              <a:latin typeface="Consolas" panose="020B0609020204030204" pitchFamily="49" charset="0"/>
            </a:endParaRPr>
          </a:p>
          <a:p>
            <a:r>
              <a:rPr lang="en-US" altLang="ko-KR" sz="1300" dirty="0">
                <a:latin typeface="Consolas" panose="020B0609020204030204" pitchFamily="49" charset="0"/>
              </a:rPr>
              <a:t>  for(</a:t>
            </a:r>
            <a:r>
              <a:rPr lang="en-US" altLang="ko-KR" sz="1300" dirty="0" err="1">
                <a:latin typeface="Consolas" panose="020B0609020204030204" pitchFamily="49" charset="0"/>
              </a:rPr>
              <a:t>int</a:t>
            </a:r>
            <a:r>
              <a:rPr lang="en-US" altLang="ko-KR" sz="1300" dirty="0">
                <a:latin typeface="Consolas" panose="020B0609020204030204" pitchFamily="49" charset="0"/>
              </a:rPr>
              <a:t>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=0;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&lt;4; 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++){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if(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&lt;</a:t>
            </a:r>
            <a:r>
              <a:rPr lang="en-US" altLang="ko-KR" sz="1300" dirty="0" err="1">
                <a:latin typeface="Consolas" panose="020B0609020204030204" pitchFamily="49" charset="0"/>
              </a:rPr>
              <a:t>num_LED</a:t>
            </a:r>
            <a:r>
              <a:rPr lang="en-US" altLang="ko-KR" sz="1300" dirty="0">
                <a:latin typeface="Consolas" panose="020B0609020204030204" pitchFamily="49" charset="0"/>
              </a:rPr>
              <a:t>)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</a:t>
            </a:r>
            <a:r>
              <a:rPr lang="en-US" altLang="ko-KR" sz="13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LED_pins</a:t>
            </a:r>
            <a:r>
              <a:rPr lang="en-US" altLang="ko-KR" sz="1300" dirty="0">
                <a:latin typeface="Consolas" panose="020B0609020204030204" pitchFamily="49" charset="0"/>
              </a:rPr>
              <a:t>[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],HIGH);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else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</a:t>
            </a:r>
            <a:r>
              <a:rPr lang="en-US" altLang="ko-KR" sz="13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300" dirty="0">
                <a:latin typeface="Consolas" panose="020B0609020204030204" pitchFamily="49" charset="0"/>
              </a:rPr>
              <a:t>(</a:t>
            </a:r>
            <a:r>
              <a:rPr lang="en-US" altLang="ko-KR" sz="1300" dirty="0" err="1">
                <a:latin typeface="Consolas" panose="020B0609020204030204" pitchFamily="49" charset="0"/>
              </a:rPr>
              <a:t>LED_pins</a:t>
            </a:r>
            <a:r>
              <a:rPr lang="en-US" altLang="ko-KR" sz="1300" dirty="0">
                <a:latin typeface="Consolas" panose="020B0609020204030204" pitchFamily="49" charset="0"/>
              </a:rPr>
              <a:t>[</a:t>
            </a:r>
            <a:r>
              <a:rPr lang="en-US" altLang="ko-KR" sz="1300" dirty="0" err="1">
                <a:latin typeface="Consolas" panose="020B0609020204030204" pitchFamily="49" charset="0"/>
              </a:rPr>
              <a:t>i</a:t>
            </a:r>
            <a:r>
              <a:rPr lang="en-US" altLang="ko-KR" sz="1300" dirty="0">
                <a:latin typeface="Consolas" panose="020B0609020204030204" pitchFamily="49" charset="0"/>
              </a:rPr>
              <a:t>],LOW);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  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   }</a:t>
            </a:r>
          </a:p>
          <a:p>
            <a:r>
              <a:rPr lang="en-US" altLang="ko-KR" sz="1300" dirty="0">
                <a:latin typeface="Consolas" panose="020B0609020204030204" pitchFamily="49" charset="0"/>
              </a:rPr>
              <a:t>}</a:t>
            </a:r>
            <a:endParaRPr lang="en-US" altLang="ko-KR" sz="1300" dirty="0" smtClean="0">
              <a:latin typeface="Consolas" panose="020B0609020204030204" pitchFamily="49" charset="0"/>
            </a:endParaRPr>
          </a:p>
        </p:txBody>
      </p:sp>
      <p:sp>
        <p:nvSpPr>
          <p:cNvPr id="10" name="한쪽 모서리가 잘린 사각형 9"/>
          <p:cNvSpPr/>
          <p:nvPr/>
        </p:nvSpPr>
        <p:spPr>
          <a:xfrm>
            <a:off x="480818" y="4806468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10-5, </a:t>
            </a:r>
          </a:p>
          <a:p>
            <a:r>
              <a:rPr lang="en-US" altLang="ko-KR" sz="1400" dirty="0" smtClean="0"/>
              <a:t>Textbook </a:t>
            </a:r>
            <a:r>
              <a:rPr lang="en-US" altLang="ko-KR" sz="1400" dirty="0"/>
              <a:t>pp. </a:t>
            </a:r>
            <a:r>
              <a:rPr lang="en-US" altLang="ko-KR" sz="1400" dirty="0" smtClean="0"/>
              <a:t>316~317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9347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	 </a:t>
            </a:r>
            <a:r>
              <a:rPr lang="en-US" altLang="ko-KR" dirty="0" smtClean="0"/>
              <a:t>④</a:t>
            </a:r>
            <a:r>
              <a:rPr lang="ko-KR" altLang="en-US" dirty="0" smtClean="0"/>
              <a:t> </a:t>
            </a:r>
            <a:r>
              <a:rPr lang="ko-KR" altLang="en-US" dirty="0"/>
              <a:t>결과 확인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작성한 </a:t>
            </a:r>
            <a:r>
              <a:rPr lang="en-US" altLang="ko-KR" dirty="0"/>
              <a:t>2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Sketch</a:t>
            </a:r>
            <a:r>
              <a:rPr lang="ko-KR" altLang="en-US" dirty="0" smtClean="0"/>
              <a:t> 편집 창을 보여라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 smtClean="0"/>
              <a:t>Lab 10-1 Sketch</a:t>
            </a:r>
            <a:r>
              <a:rPr lang="ko-KR" altLang="en-US" dirty="0" smtClean="0"/>
              <a:t>의 실행을 </a:t>
            </a:r>
            <a:r>
              <a:rPr lang="en-US" altLang="ko-KR" dirty="0" smtClean="0"/>
              <a:t>Serial Monitor</a:t>
            </a:r>
            <a:r>
              <a:rPr lang="ko-KR" altLang="en-US" dirty="0" smtClean="0"/>
              <a:t>를 통해 보여라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조교의 물음에 답하고 채점 결과를 </a:t>
            </a:r>
            <a:r>
              <a:rPr lang="en-US" altLang="ko-KR" dirty="0"/>
              <a:t>PLMS LAB </a:t>
            </a:r>
            <a:r>
              <a:rPr lang="en-US" altLang="ko-KR" dirty="0" smtClean="0"/>
              <a:t>10-1</a:t>
            </a:r>
            <a:r>
              <a:rPr lang="ko-KR" altLang="en-US" dirty="0" smtClean="0"/>
              <a:t>에 </a:t>
            </a:r>
            <a:r>
              <a:rPr lang="ko-KR" altLang="en-US" dirty="0"/>
              <a:t>직접 입력하라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1052" y="2548158"/>
            <a:ext cx="4962853" cy="3401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6341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맺는말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UART</a:t>
            </a:r>
          </a:p>
          <a:p>
            <a:pPr lvl="1"/>
            <a:r>
              <a:rPr lang="ko-KR" altLang="en-US" spc="-50" dirty="0" err="1" smtClean="0">
                <a:latin typeface="+mn-ea"/>
              </a:rPr>
              <a:t>비동기식</a:t>
            </a:r>
            <a:r>
              <a:rPr lang="ko-KR" altLang="en-US" spc="-50" dirty="0" smtClean="0">
                <a:latin typeface="+mn-ea"/>
              </a:rPr>
              <a:t> 통신 </a:t>
            </a:r>
            <a:r>
              <a:rPr lang="en-US" altLang="ko-KR" spc="-50" dirty="0" smtClean="0">
                <a:latin typeface="+mn-ea"/>
              </a:rPr>
              <a:t>: </a:t>
            </a:r>
            <a:r>
              <a:rPr lang="ko-KR" altLang="en-US" spc="-50" dirty="0" smtClean="0">
                <a:latin typeface="+mn-ea"/>
              </a:rPr>
              <a:t>별도의 </a:t>
            </a:r>
            <a:r>
              <a:rPr lang="ko-KR" altLang="en-US" spc="-50" dirty="0" err="1" smtClean="0">
                <a:latin typeface="+mn-ea"/>
              </a:rPr>
              <a:t>클록을</a:t>
            </a:r>
            <a:r>
              <a:rPr lang="ko-KR" altLang="en-US" spc="-50" dirty="0" smtClean="0">
                <a:latin typeface="+mn-ea"/>
              </a:rPr>
              <a:t> 사용하지 않음</a:t>
            </a:r>
            <a:endParaRPr lang="en-US" altLang="ko-KR" spc="-50" dirty="0" smtClean="0">
              <a:latin typeface="+mn-ea"/>
            </a:endParaRPr>
          </a:p>
          <a:p>
            <a:pPr lvl="1"/>
            <a:r>
              <a:rPr lang="en-US" altLang="ko-KR" spc="-50" dirty="0" smtClean="0">
                <a:latin typeface="+mn-ea"/>
              </a:rPr>
              <a:t>1:1 </a:t>
            </a:r>
            <a:r>
              <a:rPr lang="ko-KR" altLang="en-US" spc="-50" dirty="0" smtClean="0">
                <a:latin typeface="+mn-ea"/>
              </a:rPr>
              <a:t>통신만 지원</a:t>
            </a:r>
            <a:endParaRPr lang="en-US" altLang="ko-KR" spc="-50" dirty="0" smtClean="0">
              <a:latin typeface="+mn-ea"/>
            </a:endParaRPr>
          </a:p>
          <a:p>
            <a:pPr lvl="1"/>
            <a:r>
              <a:rPr lang="en-US" altLang="ko-KR" spc="-50" dirty="0" smtClean="0">
                <a:latin typeface="+mn-ea"/>
              </a:rPr>
              <a:t>2</a:t>
            </a:r>
            <a:r>
              <a:rPr lang="ko-KR" altLang="en-US" spc="-50" dirty="0" smtClean="0">
                <a:latin typeface="+mn-ea"/>
              </a:rPr>
              <a:t>개의 데이터 선 </a:t>
            </a:r>
            <a:r>
              <a:rPr lang="en-US" altLang="ko-KR" spc="-50" dirty="0" smtClean="0">
                <a:latin typeface="+mn-ea"/>
              </a:rPr>
              <a:t>: RX</a:t>
            </a:r>
            <a:r>
              <a:rPr lang="ko-KR" altLang="en-US" spc="-50" dirty="0" smtClean="0">
                <a:latin typeface="+mn-ea"/>
              </a:rPr>
              <a:t>와 </a:t>
            </a:r>
            <a:r>
              <a:rPr lang="en-US" altLang="ko-KR" spc="-50" dirty="0" smtClean="0">
                <a:latin typeface="+mn-ea"/>
              </a:rPr>
              <a:t>TX (RX</a:t>
            </a:r>
            <a:r>
              <a:rPr lang="ko-KR" altLang="en-US" spc="-50" dirty="0" smtClean="0">
                <a:latin typeface="+mn-ea"/>
              </a:rPr>
              <a:t>와 </a:t>
            </a:r>
            <a:r>
              <a:rPr lang="en-US" altLang="ko-KR" spc="-50" dirty="0" smtClean="0">
                <a:latin typeface="+mn-ea"/>
              </a:rPr>
              <a:t>TX</a:t>
            </a:r>
            <a:r>
              <a:rPr lang="ko-KR" altLang="en-US" spc="-50" dirty="0" smtClean="0">
                <a:latin typeface="+mn-ea"/>
              </a:rPr>
              <a:t>는 서로 교차하여 연결하여야 함</a:t>
            </a:r>
            <a:r>
              <a:rPr lang="en-US" altLang="ko-KR" spc="-50" dirty="0" smtClean="0">
                <a:latin typeface="+mn-ea"/>
              </a:rPr>
              <a:t>)</a:t>
            </a:r>
            <a:endParaRPr lang="en-US" altLang="ko-KR" spc="-50" dirty="0">
              <a:latin typeface="+mn-ea"/>
            </a:endParaRPr>
          </a:p>
          <a:p>
            <a:pPr lvl="1"/>
            <a:endParaRPr lang="en-US" altLang="ko-KR" dirty="0" smtClean="0"/>
          </a:p>
          <a:p>
            <a:r>
              <a:rPr lang="ko-KR" altLang="en-US" dirty="0" err="1" smtClean="0"/>
              <a:t>아두이노의</a:t>
            </a:r>
            <a:r>
              <a:rPr lang="ko-KR" altLang="en-US" dirty="0" smtClean="0"/>
              <a:t> </a:t>
            </a:r>
            <a:r>
              <a:rPr lang="en-US" altLang="ko-KR" dirty="0" smtClean="0"/>
              <a:t>UART</a:t>
            </a:r>
          </a:p>
          <a:p>
            <a:pPr lvl="1"/>
            <a:r>
              <a:rPr lang="ko-KR" altLang="en-US" dirty="0" smtClean="0"/>
              <a:t>메가</a:t>
            </a:r>
            <a:r>
              <a:rPr lang="en-US" altLang="ko-KR" dirty="0" smtClean="0"/>
              <a:t>2560</a:t>
            </a:r>
            <a:r>
              <a:rPr lang="ko-KR" altLang="en-US" dirty="0" smtClean="0"/>
              <a:t>읜 </a:t>
            </a:r>
            <a:r>
              <a:rPr lang="en-US" altLang="ko-KR" dirty="0" smtClean="0"/>
              <a:t>4</a:t>
            </a:r>
            <a:r>
              <a:rPr lang="ko-KR" altLang="en-US" dirty="0" smtClean="0"/>
              <a:t>개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우노는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 채널 사용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전용 핀이 아닌 데이터 핀으로 </a:t>
            </a:r>
            <a:r>
              <a:rPr lang="en-US" altLang="ko-KR" dirty="0" smtClean="0"/>
              <a:t>UART </a:t>
            </a:r>
            <a:r>
              <a:rPr lang="ko-KR" altLang="en-US" dirty="0" smtClean="0"/>
              <a:t>통신을 수행하기 위해 </a:t>
            </a:r>
            <a:r>
              <a:rPr lang="en-US" altLang="ko-KR" dirty="0" err="1" smtClean="0"/>
              <a:t>SoftwareSerial</a:t>
            </a:r>
            <a:r>
              <a:rPr lang="en-US" altLang="ko-KR" dirty="0" smtClean="0"/>
              <a:t> </a:t>
            </a:r>
            <a:r>
              <a:rPr lang="ko-KR" altLang="en-US" dirty="0" smtClean="0"/>
              <a:t>클래스 사용가능 </a:t>
            </a:r>
            <a:r>
              <a:rPr lang="en-US" altLang="ko-KR" dirty="0" smtClean="0"/>
              <a:t>( </a:t>
            </a:r>
            <a:r>
              <a:rPr lang="ko-KR" altLang="en-US" dirty="0" smtClean="0"/>
              <a:t>특히 </a:t>
            </a:r>
            <a:r>
              <a:rPr lang="ko-KR" altLang="en-US" dirty="0" err="1" smtClean="0"/>
              <a:t>우노는</a:t>
            </a:r>
            <a:r>
              <a:rPr lang="ko-KR" altLang="en-US" dirty="0" smtClean="0"/>
              <a:t> </a:t>
            </a:r>
            <a:r>
              <a:rPr lang="en-US" altLang="ko-KR" dirty="0" smtClean="0"/>
              <a:t>1</a:t>
            </a:r>
            <a:r>
              <a:rPr lang="ko-KR" altLang="en-US" dirty="0" smtClean="0"/>
              <a:t>개의 채널만 존재하므로 흔히 사용됨</a:t>
            </a:r>
            <a:r>
              <a:rPr lang="en-US" altLang="ko-KR" dirty="0" smtClean="0"/>
              <a:t>)</a:t>
            </a:r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6838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8820150" y="6597650"/>
            <a:ext cx="323850" cy="193675"/>
          </a:xfrm>
        </p:spPr>
        <p:txBody>
          <a:bodyPr/>
          <a:lstStyle/>
          <a:p>
            <a:fld id="{B00D90EE-624F-4CF6-B1CA-C1033E61431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7220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199" y="908720"/>
            <a:ext cx="8509001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Serial Peripheral Interface</a:t>
            </a: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ko-KR" altLang="en-US" spc="-100" dirty="0">
                <a:latin typeface="+mn-ea"/>
              </a:rPr>
              <a:t>고속 직렬 통신 방식 중 하나</a:t>
            </a:r>
            <a:endParaRPr lang="en-US" altLang="ko-KR" spc="-100" dirty="0">
              <a:latin typeface="+mn-ea"/>
            </a:endParaRP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1:n </a:t>
            </a:r>
            <a:r>
              <a:rPr lang="ko-KR" altLang="en-US" spc="-100" dirty="0">
                <a:latin typeface="+mn-ea"/>
              </a:rPr>
              <a:t>통신 지원</a:t>
            </a:r>
            <a:endParaRPr lang="en-US" altLang="ko-KR" spc="-10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en-US" altLang="ko-KR" spc="-50" dirty="0">
                <a:latin typeface="+mn-ea"/>
              </a:rPr>
              <a:t>UART </a:t>
            </a:r>
            <a:r>
              <a:rPr lang="ko-KR" altLang="en-US" spc="-50" dirty="0">
                <a:latin typeface="+mn-ea"/>
              </a:rPr>
              <a:t>통신은 </a:t>
            </a:r>
            <a:r>
              <a:rPr lang="en-US" altLang="ko-KR" spc="-50" dirty="0">
                <a:latin typeface="+mn-ea"/>
              </a:rPr>
              <a:t>1:1 </a:t>
            </a:r>
            <a:r>
              <a:rPr lang="ko-KR" altLang="en-US" spc="-50" dirty="0">
                <a:latin typeface="+mn-ea"/>
              </a:rPr>
              <a:t>통신만 지원</a:t>
            </a:r>
            <a:endParaRPr lang="en-US" altLang="ko-KR" spc="-50" dirty="0">
              <a:latin typeface="+mn-ea"/>
            </a:endParaRP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4</a:t>
            </a:r>
            <a:r>
              <a:rPr lang="ko-KR" altLang="en-US" spc="-100" dirty="0">
                <a:latin typeface="+mn-ea"/>
              </a:rPr>
              <a:t>개의 연결선 필요</a:t>
            </a:r>
            <a:endParaRPr lang="en-US" altLang="ko-KR" spc="-100" dirty="0">
              <a:latin typeface="+mn-ea"/>
            </a:endParaRPr>
          </a:p>
          <a:p>
            <a:pPr lvl="1"/>
            <a:r>
              <a:rPr lang="en-US" altLang="ko-KR" dirty="0" smtClean="0"/>
              <a:t> </a:t>
            </a:r>
            <a:r>
              <a:rPr lang="en-US" altLang="ko-KR" spc="-50" dirty="0">
                <a:latin typeface="+mn-ea"/>
              </a:rPr>
              <a:t>SCK : </a:t>
            </a:r>
            <a:r>
              <a:rPr lang="ko-KR" altLang="en-US" spc="-50" dirty="0">
                <a:latin typeface="+mn-ea"/>
              </a:rPr>
              <a:t>동기 통신을 위한 </a:t>
            </a:r>
            <a:r>
              <a:rPr lang="ko-KR" altLang="en-US" spc="-50" dirty="0" err="1" smtClean="0">
                <a:latin typeface="+mn-ea"/>
              </a:rPr>
              <a:t>클록</a:t>
            </a:r>
            <a:r>
              <a:rPr lang="en-US" altLang="ko-KR" spc="-50" dirty="0">
                <a:latin typeface="+mn-ea"/>
              </a:rPr>
              <a:t/>
            </a:r>
            <a:br>
              <a:rPr lang="en-US" altLang="ko-KR" spc="-50" dirty="0">
                <a:latin typeface="+mn-ea"/>
              </a:rPr>
            </a:br>
            <a:r>
              <a:rPr lang="en-US" altLang="ko-KR" spc="-50" dirty="0" smtClean="0">
                <a:latin typeface="+mn-ea"/>
              </a:rPr>
              <a:t>- </a:t>
            </a:r>
            <a:r>
              <a:rPr lang="en-US" altLang="ko-KR" spc="-50" dirty="0">
                <a:latin typeface="+mn-ea"/>
              </a:rPr>
              <a:t>UART </a:t>
            </a:r>
            <a:r>
              <a:rPr lang="ko-KR" altLang="en-US" spc="-50" dirty="0">
                <a:latin typeface="+mn-ea"/>
              </a:rPr>
              <a:t>통신은 </a:t>
            </a:r>
            <a:r>
              <a:rPr lang="ko-KR" altLang="en-US" spc="-50" dirty="0" err="1">
                <a:latin typeface="+mn-ea"/>
              </a:rPr>
              <a:t>비동기</a:t>
            </a:r>
            <a:r>
              <a:rPr lang="ko-KR" altLang="en-US" spc="-50" dirty="0">
                <a:latin typeface="+mn-ea"/>
              </a:rPr>
              <a:t> 통신으로 </a:t>
            </a:r>
            <a:r>
              <a:rPr lang="ko-KR" altLang="en-US" spc="-50" dirty="0" err="1">
                <a:latin typeface="+mn-ea"/>
              </a:rPr>
              <a:t>클록</a:t>
            </a:r>
            <a:r>
              <a:rPr lang="ko-KR" altLang="en-US" spc="-50" dirty="0">
                <a:latin typeface="+mn-ea"/>
              </a:rPr>
              <a:t> </a:t>
            </a:r>
            <a:r>
              <a:rPr lang="ko-KR" altLang="en-US" spc="-50" dirty="0" smtClean="0">
                <a:latin typeface="+mn-ea"/>
              </a:rPr>
              <a:t>없음</a:t>
            </a:r>
            <a:endParaRPr lang="en-US" altLang="ko-KR" spc="-50" dirty="0">
              <a:latin typeface="+mn-ea"/>
            </a:endParaRPr>
          </a:p>
          <a:p>
            <a:pPr lvl="1"/>
            <a:r>
              <a:rPr lang="en-US" altLang="ko-KR" spc="-50" dirty="0">
                <a:latin typeface="+mn-ea"/>
              </a:rPr>
              <a:t>MOSI, MISO : </a:t>
            </a:r>
            <a:r>
              <a:rPr lang="ko-KR" altLang="en-US" spc="-50" dirty="0">
                <a:latin typeface="+mn-ea"/>
              </a:rPr>
              <a:t>데이터</a:t>
            </a:r>
            <a:r>
              <a:rPr lang="en-US" altLang="ko-KR" spc="-50" dirty="0">
                <a:latin typeface="+mn-ea"/>
              </a:rPr>
              <a:t> </a:t>
            </a:r>
            <a:r>
              <a:rPr lang="ko-KR" altLang="en-US" spc="-50" dirty="0">
                <a:latin typeface="+mn-ea"/>
              </a:rPr>
              <a:t>송수신</a:t>
            </a:r>
            <a:endParaRPr lang="en-US" altLang="ko-KR" spc="-50" dirty="0">
              <a:latin typeface="+mn-ea"/>
            </a:endParaRPr>
          </a:p>
          <a:p>
            <a:pPr lvl="1"/>
            <a:r>
              <a:rPr lang="en-US" altLang="ko-KR" spc="-50" dirty="0">
                <a:latin typeface="+mn-ea"/>
              </a:rPr>
              <a:t>SS : </a:t>
            </a:r>
            <a:r>
              <a:rPr lang="ko-KR" altLang="en-US" spc="-50" dirty="0">
                <a:latin typeface="+mn-ea"/>
              </a:rPr>
              <a:t>하드웨어적으로 </a:t>
            </a:r>
            <a:r>
              <a:rPr lang="ko-KR" altLang="en-US" spc="-50" dirty="0" err="1">
                <a:latin typeface="+mn-ea"/>
              </a:rPr>
              <a:t>슬레이브</a:t>
            </a:r>
            <a:r>
              <a:rPr lang="ko-KR" altLang="en-US" spc="-50" dirty="0">
                <a:latin typeface="+mn-ea"/>
              </a:rPr>
              <a:t> 중 하나를 </a:t>
            </a:r>
            <a:r>
              <a:rPr lang="ko-KR" altLang="en-US" spc="-50" dirty="0" smtClean="0">
                <a:latin typeface="+mn-ea"/>
              </a:rPr>
              <a:t>선택</a:t>
            </a:r>
            <a:r>
              <a:rPr lang="en-US" altLang="ko-KR" spc="-50" dirty="0" smtClean="0">
                <a:latin typeface="+mn-ea"/>
              </a:rPr>
              <a:t/>
            </a:r>
            <a:br>
              <a:rPr lang="en-US" altLang="ko-KR" spc="-50" dirty="0" smtClean="0">
                <a:latin typeface="+mn-ea"/>
              </a:rPr>
            </a:br>
            <a:r>
              <a:rPr lang="en-US" altLang="ko-KR" spc="-50" dirty="0" smtClean="0">
                <a:latin typeface="+mn-ea"/>
              </a:rPr>
              <a:t>-</a:t>
            </a:r>
            <a:r>
              <a:rPr lang="ko-KR" altLang="en-US" spc="-50" dirty="0">
                <a:latin typeface="+mn-ea"/>
              </a:rPr>
              <a:t>선택된 </a:t>
            </a:r>
            <a:r>
              <a:rPr lang="ko-KR" altLang="en-US" spc="-50" dirty="0" err="1">
                <a:latin typeface="+mn-ea"/>
              </a:rPr>
              <a:t>슬레이브의</a:t>
            </a:r>
            <a:r>
              <a:rPr lang="ko-KR" altLang="en-US" spc="-50" dirty="0">
                <a:latin typeface="+mn-ea"/>
              </a:rPr>
              <a:t> </a:t>
            </a:r>
            <a:r>
              <a:rPr lang="en-US" altLang="ko-KR" spc="-50" dirty="0">
                <a:latin typeface="+mn-ea"/>
              </a:rPr>
              <a:t>SS</a:t>
            </a:r>
            <a:r>
              <a:rPr lang="ko-KR" altLang="en-US" spc="-50" dirty="0">
                <a:latin typeface="+mn-ea"/>
              </a:rPr>
              <a:t>만 </a:t>
            </a:r>
            <a:r>
              <a:rPr lang="en-US" altLang="ko-KR" spc="-50" dirty="0">
                <a:latin typeface="+mn-ea"/>
              </a:rPr>
              <a:t>LOW </a:t>
            </a:r>
            <a:r>
              <a:rPr lang="ko-KR" altLang="en-US" spc="-50" dirty="0">
                <a:latin typeface="+mn-ea"/>
              </a:rPr>
              <a:t>상태에 있음</a:t>
            </a:r>
            <a:endParaRPr lang="en-US" altLang="ko-KR" spc="-50" dirty="0">
              <a:latin typeface="+mn-ea"/>
            </a:endParaRPr>
          </a:p>
          <a:p>
            <a:pPr lvl="1"/>
            <a:endParaRPr lang="en-US" altLang="ko-KR" spc="-50" dirty="0">
              <a:latin typeface="+mn-ea"/>
            </a:endParaRPr>
          </a:p>
          <a:p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 </a:t>
            </a:r>
            <a:r>
              <a:rPr lang="ko-KR" altLang="en-US" dirty="0"/>
              <a:t>통신</a:t>
            </a:r>
          </a:p>
        </p:txBody>
      </p:sp>
    </p:spTree>
    <p:extLst>
      <p:ext uri="{BB962C8B-B14F-4D97-AF65-F5344CB8AC3E}">
        <p14:creationId xmlns:p14="http://schemas.microsoft.com/office/powerpoint/2010/main" val="38974028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="" xmlns:a16="http://schemas.microsoft.com/office/drawing/2014/main" id="{B12E4C0D-198D-46F0-92A2-DD0B0F9048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908720"/>
            <a:ext cx="8363272" cy="5832648"/>
          </a:xfrm>
        </p:spPr>
        <p:txBody>
          <a:bodyPr/>
          <a:lstStyle/>
          <a:p>
            <a:r>
              <a:rPr lang="en-US" altLang="ko-KR" dirty="0" smtClean="0"/>
              <a:t>SPI </a:t>
            </a:r>
            <a:r>
              <a:rPr lang="ko-KR" altLang="en-US" dirty="0" smtClean="0"/>
              <a:t>통신은 하드웨어적으로 지원되는 통신임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- UART</a:t>
            </a:r>
            <a:r>
              <a:rPr lang="ko-KR" altLang="en-US" dirty="0" smtClean="0"/>
              <a:t>와 같은 에뮬레이션 라이브러리는 없음</a:t>
            </a:r>
            <a:endParaRPr lang="en-US" altLang="ko-KR" dirty="0" smtClean="0"/>
          </a:p>
          <a:p>
            <a:r>
              <a:rPr lang="en-US" altLang="ko-KR" dirty="0" smtClean="0"/>
              <a:t>4</a:t>
            </a:r>
            <a:r>
              <a:rPr lang="ko-KR" altLang="en-US" dirty="0" smtClean="0"/>
              <a:t>개의 </a:t>
            </a:r>
            <a:r>
              <a:rPr lang="ko-KR" altLang="en-US" dirty="0" err="1" smtClean="0"/>
              <a:t>연결선중</a:t>
            </a:r>
            <a:r>
              <a:rPr lang="ko-KR" altLang="en-US" dirty="0" smtClean="0"/>
              <a:t> </a:t>
            </a:r>
            <a:r>
              <a:rPr lang="en-US" altLang="ko-KR" dirty="0" smtClean="0"/>
              <a:t>SS</a:t>
            </a:r>
            <a:r>
              <a:rPr lang="ko-KR" altLang="en-US" dirty="0" smtClean="0"/>
              <a:t>를 제외한 </a:t>
            </a:r>
            <a:r>
              <a:rPr lang="en-US" altLang="ko-KR" dirty="0" smtClean="0"/>
              <a:t>3</a:t>
            </a:r>
            <a:r>
              <a:rPr lang="ko-KR" altLang="en-US" dirty="0" smtClean="0"/>
              <a:t>개 연결선은 전용 핀을 사용</a:t>
            </a:r>
            <a:endParaRPr lang="en-US" altLang="ko-KR" dirty="0" smtClean="0"/>
          </a:p>
          <a:p>
            <a:r>
              <a:rPr lang="ko-KR" altLang="en-US" dirty="0" smtClean="0"/>
              <a:t>기본 라이브러리 중 하나로 </a:t>
            </a:r>
            <a:r>
              <a:rPr lang="en-US" altLang="ko-KR" dirty="0" smtClean="0"/>
              <a:t>SPI </a:t>
            </a:r>
            <a:r>
              <a:rPr lang="ko-KR" altLang="en-US" dirty="0" smtClean="0"/>
              <a:t>라이브러리 포함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아두이노의</a:t>
            </a:r>
            <a:r>
              <a:rPr lang="ko-KR" altLang="en-US" dirty="0"/>
              <a:t> </a:t>
            </a:r>
            <a:r>
              <a:rPr lang="en-US" altLang="ko-KR" dirty="0"/>
              <a:t>SPI</a:t>
            </a:r>
            <a:endParaRPr lang="ko-KR" altLang="en-US" dirty="0"/>
          </a:p>
        </p:txBody>
      </p:sp>
      <p:graphicFrame>
        <p:nvGraphicFramePr>
          <p:cNvPr id="6" name="내용 개체 틀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2773149"/>
              </p:ext>
            </p:extLst>
          </p:nvPr>
        </p:nvGraphicFramePr>
        <p:xfrm>
          <a:off x="611560" y="3594968"/>
          <a:ext cx="7775576" cy="2257370"/>
        </p:xfrm>
        <a:graphic>
          <a:graphicData uri="http://schemas.openxmlformats.org/drawingml/2006/table">
            <a:tbl>
              <a:tblPr firstRow="1" bandRow="1">
                <a:tableStyleId>{912C8C85-51F0-491E-9774-3900AFEF0FD7}</a:tableStyleId>
              </a:tblPr>
              <a:tblGrid>
                <a:gridCol w="1943894"/>
                <a:gridCol w="1943894"/>
                <a:gridCol w="1943894"/>
                <a:gridCol w="1943894"/>
              </a:tblGrid>
              <a:tr h="451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SPI </a:t>
                      </a:r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신호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우노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메가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2560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비고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</a:tr>
              <a:tr h="451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MOSI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11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51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데이터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MISO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12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50</a:t>
                      </a:r>
                      <a:endParaRPr lang="ko-KR" altLang="en-US" sz="1800" dirty="0" smtClean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데이터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SCK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13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52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err="1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클록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147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SS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10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디지털</a:t>
                      </a:r>
                      <a:r>
                        <a:rPr lang="en-US" altLang="ko-KR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 53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 smtClean="0">
                          <a:latin typeface="+mn-ea"/>
                          <a:ea typeface="+mn-ea"/>
                          <a:cs typeface="함초롬바탕" panose="02030604000101010101" pitchFamily="18" charset="-127"/>
                        </a:rPr>
                        <a:t>변경 가능</a:t>
                      </a:r>
                      <a:endParaRPr lang="ko-KR" altLang="en-US" sz="1800" dirty="0">
                        <a:latin typeface="+mn-ea"/>
                        <a:ea typeface="+mn-ea"/>
                        <a:cs typeface="함초롬바탕" panose="02030604000101010101" pitchFamily="18" charset="-127"/>
                      </a:endParaRPr>
                    </a:p>
                  </a:txBody>
                  <a:tcPr marL="91425" marR="91425" marT="45721" marB="45721" anchor="ctr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34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SPI </a:t>
            </a:r>
            <a:r>
              <a:rPr lang="ko-KR" altLang="en-US" dirty="0"/>
              <a:t>연결</a:t>
            </a:r>
          </a:p>
        </p:txBody>
      </p:sp>
      <p:pic>
        <p:nvPicPr>
          <p:cNvPr id="7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086" y="3914701"/>
            <a:ext cx="4831429" cy="1788572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550438" y="1034381"/>
            <a:ext cx="5014286" cy="387714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84506" y="5703273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6600"/>
                </a:solidFill>
                <a:latin typeface="+mn-ea"/>
                <a:ea typeface="+mn-ea"/>
                <a:cs typeface="함초롬바탕" panose="02030604000101010101" pitchFamily="18" charset="-127"/>
              </a:rPr>
              <a:t>1:1 </a:t>
            </a:r>
            <a:r>
              <a:rPr lang="ko-KR" altLang="en-US" b="1" dirty="0" smtClean="0">
                <a:solidFill>
                  <a:srgbClr val="FF6600"/>
                </a:solidFill>
                <a:latin typeface="+mn-ea"/>
                <a:ea typeface="+mn-ea"/>
                <a:cs typeface="함초롬바탕" panose="02030604000101010101" pitchFamily="18" charset="-127"/>
              </a:rPr>
              <a:t>연결</a:t>
            </a:r>
            <a:endParaRPr lang="ko-KR" altLang="en-US" b="1" dirty="0">
              <a:solidFill>
                <a:srgbClr val="FF6600"/>
              </a:solidFill>
              <a:latin typeface="+mn-ea"/>
              <a:ea typeface="+mn-ea"/>
              <a:cs typeface="함초롬바탕" panose="0203060400010101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38072" y="4994821"/>
            <a:ext cx="10550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 smtClean="0">
                <a:solidFill>
                  <a:srgbClr val="FF6600"/>
                </a:solidFill>
                <a:latin typeface="+mn-ea"/>
                <a:ea typeface="+mn-ea"/>
                <a:cs typeface="함초롬바탕" panose="02030604000101010101" pitchFamily="18" charset="-127"/>
              </a:rPr>
              <a:t>1:2 </a:t>
            </a:r>
            <a:r>
              <a:rPr lang="ko-KR" altLang="en-US" b="1" dirty="0" smtClean="0">
                <a:solidFill>
                  <a:srgbClr val="FF6600"/>
                </a:solidFill>
                <a:latin typeface="+mn-ea"/>
                <a:ea typeface="+mn-ea"/>
                <a:cs typeface="함초롬바탕" panose="02030604000101010101" pitchFamily="18" charset="-127"/>
              </a:rPr>
              <a:t>연결</a:t>
            </a:r>
            <a:endParaRPr lang="ko-KR" altLang="en-US" b="1" dirty="0">
              <a:solidFill>
                <a:srgbClr val="FF6600"/>
              </a:solidFill>
              <a:latin typeface="+mn-ea"/>
              <a:ea typeface="+mn-ea"/>
              <a:cs typeface="함초롬바탕" panose="020306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402504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9A1B1E23-1989-40CF-9A3B-2076557045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4" name="제목 3">
            <a:extLst>
              <a:ext uri="{FF2B5EF4-FFF2-40B4-BE49-F238E27FC236}">
                <a16:creationId xmlns="" xmlns:a16="http://schemas.microsoft.com/office/drawing/2014/main" id="{A35D9EB2-58E5-4BC8-8945-2C038A3D3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SPI </a:t>
            </a:r>
            <a:r>
              <a:rPr lang="ko-KR" altLang="en-US" dirty="0" smtClean="0"/>
              <a:t>라이브러리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86" y="1368835"/>
            <a:ext cx="7297714" cy="121942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986" y="2854428"/>
            <a:ext cx="7297714" cy="1200571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00" y="4321163"/>
            <a:ext cx="7288286" cy="147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44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	</a:t>
            </a:r>
            <a:r>
              <a:rPr lang="en-US" altLang="ko-KR" dirty="0" smtClean="0"/>
              <a:t>SPI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실험 순서</a:t>
            </a:r>
            <a:endParaRPr lang="en-US" altLang="ko-KR" dirty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메가 </a:t>
            </a:r>
            <a:r>
              <a:rPr lang="en-US" altLang="ko-KR" dirty="0" smtClean="0"/>
              <a:t>2560(</a:t>
            </a:r>
            <a:r>
              <a:rPr lang="ko-KR" altLang="en-US" dirty="0" smtClean="0"/>
              <a:t>마스터</a:t>
            </a:r>
            <a:r>
              <a:rPr lang="en-US" altLang="ko-KR" dirty="0" smtClean="0"/>
              <a:t>) </a:t>
            </a:r>
            <a:r>
              <a:rPr lang="ko-KR" altLang="en-US" dirty="0" smtClean="0"/>
              <a:t>메가</a:t>
            </a:r>
            <a:r>
              <a:rPr lang="en-US" altLang="ko-KR" dirty="0" smtClean="0"/>
              <a:t>2560(</a:t>
            </a:r>
            <a:r>
              <a:rPr lang="ko-KR" altLang="en-US" dirty="0" err="1" smtClean="0"/>
              <a:t>슬레이브</a:t>
            </a:r>
            <a:r>
              <a:rPr lang="en-US" altLang="ko-KR" dirty="0" smtClean="0"/>
              <a:t>) SPI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/>
              <a:t>마스터에서 </a:t>
            </a:r>
            <a:r>
              <a:rPr lang="ko-KR" altLang="en-US" dirty="0" err="1"/>
              <a:t>슬레이브로</a:t>
            </a:r>
            <a:r>
              <a:rPr lang="ko-KR" altLang="en-US" dirty="0"/>
              <a:t> 메시지 </a:t>
            </a:r>
            <a:r>
              <a:rPr lang="ko-KR" altLang="en-US" dirty="0" smtClean="0"/>
              <a:t>보내기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en-US" altLang="ko-KR" dirty="0"/>
              <a:t>SPI – </a:t>
            </a:r>
            <a:r>
              <a:rPr lang="ko-KR" altLang="en-US" dirty="0" err="1"/>
              <a:t>슬레이브</a:t>
            </a:r>
            <a:r>
              <a:rPr lang="en-US" altLang="ko-KR" dirty="0"/>
              <a:t> </a:t>
            </a:r>
            <a:r>
              <a:rPr lang="ko-KR" altLang="en-US" dirty="0"/>
              <a:t>모드 설정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err="1" smtClean="0"/>
              <a:t>슬레이브에서</a:t>
            </a:r>
            <a:r>
              <a:rPr lang="ko-KR" altLang="en-US" dirty="0" smtClean="0"/>
              <a:t> 마스터로부터 수신된 데이터 출력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실행 결과 확인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="" xmlns:a16="http://schemas.microsoft.com/office/drawing/2014/main" id="{AC7C824B-D81B-4F77-8D09-BE3BDA1B1A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39928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7179" y="147083"/>
            <a:ext cx="8786688" cy="614218"/>
          </a:xfrm>
        </p:spPr>
        <p:txBody>
          <a:bodyPr/>
          <a:lstStyle/>
          <a:p>
            <a:r>
              <a:rPr lang="en-US" altLang="ko-KR" dirty="0" smtClean="0"/>
              <a:t>①</a:t>
            </a:r>
            <a:r>
              <a:rPr lang="ko-KR" altLang="en-US" dirty="0" smtClean="0"/>
              <a:t> </a:t>
            </a:r>
            <a:r>
              <a:rPr lang="ko-KR" altLang="en-US" dirty="0"/>
              <a:t>메가 </a:t>
            </a:r>
            <a:r>
              <a:rPr lang="en-US" altLang="ko-KR" dirty="0"/>
              <a:t>2560(</a:t>
            </a:r>
            <a:r>
              <a:rPr lang="ko-KR" altLang="en-US" dirty="0"/>
              <a:t>마스터</a:t>
            </a:r>
            <a:r>
              <a:rPr lang="en-US" altLang="ko-KR" dirty="0"/>
              <a:t>) </a:t>
            </a:r>
            <a:r>
              <a:rPr lang="ko-KR" altLang="en-US" dirty="0"/>
              <a:t>메가</a:t>
            </a:r>
            <a:r>
              <a:rPr lang="en-US" altLang="ko-KR" dirty="0"/>
              <a:t>2560(</a:t>
            </a:r>
            <a:r>
              <a:rPr lang="ko-KR" altLang="en-US" dirty="0" err="1"/>
              <a:t>슬레이브</a:t>
            </a:r>
            <a:r>
              <a:rPr lang="en-US" altLang="ko-KR" dirty="0"/>
              <a:t>) SPI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sp>
        <p:nvSpPr>
          <p:cNvPr id="12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501" y="1442612"/>
            <a:ext cx="4746662" cy="4300453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3922518" y="1692067"/>
            <a:ext cx="3375589" cy="422162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림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2558" y="1459704"/>
            <a:ext cx="2001150" cy="4053815"/>
          </a:xfrm>
          <a:prstGeom prst="rect">
            <a:avLst/>
          </a:prstGeom>
        </p:spPr>
      </p:pic>
      <p:cxnSp>
        <p:nvCxnSpPr>
          <p:cNvPr id="15" name="직선 연결선 14"/>
          <p:cNvCxnSpPr/>
          <p:nvPr/>
        </p:nvCxnSpPr>
        <p:spPr>
          <a:xfrm flipH="1">
            <a:off x="2400300" y="5595760"/>
            <a:ext cx="2495550" cy="1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연결선 20"/>
          <p:cNvCxnSpPr/>
          <p:nvPr/>
        </p:nvCxnSpPr>
        <p:spPr>
          <a:xfrm flipH="1">
            <a:off x="2298700" y="5678002"/>
            <a:ext cx="2495550" cy="6658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/>
          <p:nvPr/>
        </p:nvCxnSpPr>
        <p:spPr>
          <a:xfrm flipH="1">
            <a:off x="2373674" y="4078110"/>
            <a:ext cx="2495550" cy="1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/>
          <p:cNvCxnSpPr/>
          <p:nvPr/>
        </p:nvCxnSpPr>
        <p:spPr>
          <a:xfrm flipH="1">
            <a:off x="2298700" y="3983487"/>
            <a:ext cx="2495550" cy="1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/>
          <p:cNvCxnSpPr/>
          <p:nvPr/>
        </p:nvCxnSpPr>
        <p:spPr>
          <a:xfrm flipV="1">
            <a:off x="4775200" y="5302250"/>
            <a:ext cx="0" cy="405065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 flipV="1">
            <a:off x="4870450" y="5308166"/>
            <a:ext cx="0" cy="304332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 flipV="1">
            <a:off x="4775200" y="3964437"/>
            <a:ext cx="0" cy="1248913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직선 연결선 35"/>
          <p:cNvCxnSpPr/>
          <p:nvPr/>
        </p:nvCxnSpPr>
        <p:spPr>
          <a:xfrm flipV="1">
            <a:off x="4869224" y="4052710"/>
            <a:ext cx="0" cy="1154292"/>
          </a:xfrm>
          <a:prstGeom prst="line">
            <a:avLst/>
          </a:prstGeom>
          <a:ln w="57150">
            <a:solidFill>
              <a:srgbClr val="EF6D3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/>
          <p:nvPr/>
        </p:nvCxnSpPr>
        <p:spPr>
          <a:xfrm flipH="1">
            <a:off x="3795243" y="1220475"/>
            <a:ext cx="2495550" cy="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290793" y="2635250"/>
            <a:ext cx="683842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" dirty="0" smtClean="0"/>
              <a:t>GND</a:t>
            </a:r>
            <a:endParaRPr lang="ko-KR" altLang="en-US" sz="600" dirty="0"/>
          </a:p>
        </p:txBody>
      </p:sp>
      <p:cxnSp>
        <p:nvCxnSpPr>
          <p:cNvPr id="46" name="직선 연결선 45"/>
          <p:cNvCxnSpPr/>
          <p:nvPr/>
        </p:nvCxnSpPr>
        <p:spPr>
          <a:xfrm>
            <a:off x="6260689" y="1211929"/>
            <a:ext cx="21558" cy="15071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/>
          <p:cNvCxnSpPr/>
          <p:nvPr/>
        </p:nvCxnSpPr>
        <p:spPr>
          <a:xfrm flipH="1">
            <a:off x="3821057" y="1205942"/>
            <a:ext cx="3130" cy="152164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410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07223" y="966127"/>
            <a:ext cx="7736276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200" dirty="0">
                <a:latin typeface="Consolas" panose="020B0609020204030204" pitchFamily="49" charset="0"/>
              </a:rPr>
              <a:t>#include &lt;</a:t>
            </a:r>
            <a:r>
              <a:rPr lang="en-US" altLang="ko-KR" sz="1200" dirty="0" err="1">
                <a:latin typeface="Consolas" panose="020B0609020204030204" pitchFamily="49" charset="0"/>
              </a:rPr>
              <a:t>SPI.h</a:t>
            </a:r>
            <a:r>
              <a:rPr lang="en-US" altLang="ko-KR" sz="1200" dirty="0">
                <a:latin typeface="Consolas" panose="020B0609020204030204" pitchFamily="49" charset="0"/>
              </a:rPr>
              <a:t>&gt;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latin typeface="Consolas" panose="020B0609020204030204" pitchFamily="49" charset="0"/>
              </a:rPr>
              <a:t>SS_arduino</a:t>
            </a:r>
            <a:r>
              <a:rPr lang="en-US" altLang="ko-KR" sz="1200" dirty="0">
                <a:latin typeface="Consolas" panose="020B0609020204030204" pitchFamily="49" charset="0"/>
              </a:rPr>
              <a:t> = 53;</a:t>
            </a:r>
          </a:p>
          <a:p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SS_EEPROM = 42;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setup(void){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SS_arduino</a:t>
            </a:r>
            <a:r>
              <a:rPr lang="en-US" altLang="ko-KR" sz="1200" dirty="0">
                <a:latin typeface="Consolas" panose="020B0609020204030204" pitchFamily="49" charset="0"/>
              </a:rPr>
              <a:t>, OUTPUT);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(SS_EEPROM,OUTPUT);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SS_arduino</a:t>
            </a:r>
            <a:r>
              <a:rPr lang="en-US" altLang="ko-KR" sz="1200" dirty="0">
                <a:latin typeface="Consolas" panose="020B0609020204030204" pitchFamily="49" charset="0"/>
              </a:rPr>
              <a:t>, HIGH</a:t>
            </a:r>
            <a:r>
              <a:rPr lang="en-US" altLang="ko-KR" sz="1200" dirty="0" smtClean="0">
                <a:latin typeface="Consolas" panose="020B0609020204030204" pitchFamily="49" charset="0"/>
              </a:rPr>
              <a:t>);    	// </a:t>
            </a:r>
            <a:r>
              <a:rPr lang="ko-KR" altLang="en-US" sz="1200" dirty="0" err="1" smtClean="0">
                <a:latin typeface="Consolas" panose="020B0609020204030204" pitchFamily="49" charset="0"/>
              </a:rPr>
              <a:t>슬레이브가</a:t>
            </a:r>
            <a:r>
              <a:rPr lang="en-US" altLang="ko-KR" sz="1200" dirty="0" smtClean="0">
                <a:latin typeface="Consolas" panose="020B0609020204030204" pitchFamily="49" charset="0"/>
              </a:rPr>
              <a:t> </a:t>
            </a:r>
            <a:r>
              <a:rPr lang="ko-KR" altLang="en-US" sz="1200" dirty="0" smtClean="0">
                <a:latin typeface="Consolas" panose="020B0609020204030204" pitchFamily="49" charset="0"/>
              </a:rPr>
              <a:t>선택되지 않은 상태 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200" dirty="0">
                <a:latin typeface="Consolas" panose="020B0609020204030204" pitchFamily="49" charset="0"/>
              </a:rPr>
              <a:t>(SS_EEPROM,HIGH);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SPI.begin</a:t>
            </a:r>
            <a:r>
              <a:rPr lang="en-US" altLang="ko-KR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// </a:t>
            </a:r>
            <a:r>
              <a:rPr lang="ko-KR" altLang="en-US" sz="1200" dirty="0">
                <a:latin typeface="Consolas" panose="020B0609020204030204" pitchFamily="49" charset="0"/>
              </a:rPr>
              <a:t>안정적인 전송을 위해 </a:t>
            </a:r>
            <a:r>
              <a:rPr lang="ko-KR" altLang="en-US" sz="1200" dirty="0" err="1">
                <a:latin typeface="Consolas" panose="020B0609020204030204" pitchFamily="49" charset="0"/>
              </a:rPr>
              <a:t>분주비를</a:t>
            </a:r>
            <a:r>
              <a:rPr lang="ko-KR" altLang="en-US" sz="1200" dirty="0">
                <a:latin typeface="Consolas" panose="020B0609020204030204" pitchFamily="49" charset="0"/>
              </a:rPr>
              <a:t> 높여 전송속도를 낮춤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SPI.setClockDivider</a:t>
            </a:r>
            <a:r>
              <a:rPr lang="en-US" altLang="ko-KR" sz="1200" dirty="0">
                <a:latin typeface="Consolas" panose="020B0609020204030204" pitchFamily="49" charset="0"/>
              </a:rPr>
              <a:t>(SPI_CLOCK_DIV16);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loop(void){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const</a:t>
            </a:r>
            <a:r>
              <a:rPr lang="en-US" altLang="ko-KR" sz="1200" dirty="0">
                <a:latin typeface="Consolas" panose="020B0609020204030204" pitchFamily="49" charset="0"/>
              </a:rPr>
              <a:t> char *p = "Hello, World\n";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SS_arduino,LOW</a:t>
            </a:r>
            <a:r>
              <a:rPr lang="en-US" altLang="ko-KR" sz="1200" dirty="0">
                <a:latin typeface="Consolas" panose="020B0609020204030204" pitchFamily="49" charset="0"/>
              </a:rPr>
              <a:t>);    //</a:t>
            </a:r>
            <a:r>
              <a:rPr lang="ko-KR" altLang="en-US" sz="1200" dirty="0" err="1">
                <a:latin typeface="Consolas" panose="020B0609020204030204" pitchFamily="49" charset="0"/>
              </a:rPr>
              <a:t>슬레이브</a:t>
            </a:r>
            <a:r>
              <a:rPr lang="ko-KR" altLang="en-US" sz="1200" dirty="0">
                <a:latin typeface="Consolas" panose="020B0609020204030204" pitchFamily="49" charset="0"/>
              </a:rPr>
              <a:t> 선택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>
                <a:latin typeface="Consolas" panose="020B0609020204030204" pitchFamily="49" charset="0"/>
              </a:rPr>
              <a:t>for(</a:t>
            </a:r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 = 0 ;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 &lt; </a:t>
            </a:r>
            <a:r>
              <a:rPr lang="en-US" altLang="ko-KR" sz="1200" dirty="0" err="1">
                <a:latin typeface="Consolas" panose="020B0609020204030204" pitchFamily="49" charset="0"/>
              </a:rPr>
              <a:t>strlen</a:t>
            </a:r>
            <a:r>
              <a:rPr lang="en-US" altLang="ko-KR" sz="1200" dirty="0">
                <a:latin typeface="Consolas" panose="020B0609020204030204" pitchFamily="49" charset="0"/>
              </a:rPr>
              <a:t>(p); </a:t>
            </a:r>
            <a:r>
              <a:rPr lang="en-US" altLang="ko-KR" sz="1200" dirty="0" err="1">
                <a:latin typeface="Consolas" panose="020B0609020204030204" pitchFamily="49" charset="0"/>
              </a:rPr>
              <a:t>i</a:t>
            </a:r>
            <a:r>
              <a:rPr lang="en-US" altLang="ko-KR" sz="1200" dirty="0">
                <a:latin typeface="Consolas" panose="020B0609020204030204" pitchFamily="49" charset="0"/>
              </a:rPr>
              <a:t>++){  //</a:t>
            </a:r>
            <a:r>
              <a:rPr lang="ko-KR" altLang="en-US" sz="1200" dirty="0">
                <a:latin typeface="Consolas" panose="020B0609020204030204" pitchFamily="49" charset="0"/>
              </a:rPr>
              <a:t>문자열 전송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SPI.transfer</a:t>
            </a:r>
            <a:r>
              <a:rPr lang="en-US" altLang="ko-KR" sz="1200" dirty="0" smtClean="0">
                <a:latin typeface="Consolas" panose="020B0609020204030204" pitchFamily="49" charset="0"/>
              </a:rPr>
              <a:t>(p[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i</a:t>
            </a:r>
            <a:r>
              <a:rPr lang="en-US" altLang="ko-KR" sz="1200" dirty="0" smtClean="0">
                <a:latin typeface="Consolas" panose="020B0609020204030204" pitchFamily="49" charset="0"/>
              </a:rPr>
              <a:t>]);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smtClean="0">
                <a:latin typeface="Consolas" panose="020B0609020204030204" pitchFamily="49" charset="0"/>
              </a:rPr>
              <a:t>}</a:t>
            </a:r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digitalWrite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SS_arduino,HIGH</a:t>
            </a:r>
            <a:r>
              <a:rPr lang="en-US" altLang="ko-KR" sz="1200" dirty="0">
                <a:latin typeface="Consolas" panose="020B0609020204030204" pitchFamily="49" charset="0"/>
              </a:rPr>
              <a:t>);    //</a:t>
            </a:r>
            <a:r>
              <a:rPr lang="ko-KR" altLang="en-US" sz="1200" dirty="0" err="1">
                <a:latin typeface="Consolas" panose="020B0609020204030204" pitchFamily="49" charset="0"/>
              </a:rPr>
              <a:t>슬레이브</a:t>
            </a:r>
            <a:r>
              <a:rPr lang="ko-KR" altLang="en-US" sz="1200" dirty="0">
                <a:latin typeface="Consolas" panose="020B0609020204030204" pitchFamily="49" charset="0"/>
              </a:rPr>
              <a:t> 선택 해제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>
                <a:latin typeface="Consolas" panose="020B0609020204030204" pitchFamily="49" charset="0"/>
              </a:rPr>
              <a:t>delay(1000);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/>
              <a:t> </a:t>
            </a:r>
            <a:r>
              <a:rPr lang="ko-KR" altLang="en-US" dirty="0" smtClean="0"/>
              <a:t>② </a:t>
            </a:r>
            <a:r>
              <a:rPr lang="ko-KR" altLang="en-US" dirty="0"/>
              <a:t>마스터에서 </a:t>
            </a:r>
            <a:r>
              <a:rPr lang="ko-KR" altLang="en-US" dirty="0" err="1"/>
              <a:t>슬레이브로</a:t>
            </a:r>
            <a:r>
              <a:rPr lang="ko-KR" altLang="en-US" dirty="0"/>
              <a:t> </a:t>
            </a:r>
            <a:r>
              <a:rPr lang="ko-KR" altLang="en-US" dirty="0" smtClean="0"/>
              <a:t>메시지 보내기</a:t>
            </a:r>
            <a:endParaRPr lang="ko-KR" altLang="en-US" dirty="0"/>
          </a:p>
        </p:txBody>
      </p:sp>
      <p:sp>
        <p:nvSpPr>
          <p:cNvPr id="10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한쪽 모서리가 잘린 사각형 11"/>
          <p:cNvSpPr/>
          <p:nvPr/>
        </p:nvSpPr>
        <p:spPr>
          <a:xfrm>
            <a:off x="5806892" y="5888822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20</a:t>
            </a:r>
            <a:r>
              <a:rPr lang="en-US" altLang="ko-KR" sz="1400" dirty="0" smtClean="0"/>
              <a:t>-1</a:t>
            </a:r>
            <a:r>
              <a:rPr lang="en-US" altLang="ko-KR" sz="1400" dirty="0" smtClean="0"/>
              <a:t>, </a:t>
            </a:r>
            <a:r>
              <a:rPr lang="en-US" altLang="ko-KR" sz="1400" dirty="0"/>
              <a:t>Textbook pp. </a:t>
            </a:r>
            <a:r>
              <a:rPr lang="en-US" altLang="ko-KR" sz="1400" dirty="0" smtClean="0"/>
              <a:t>346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37877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1" y="180108"/>
            <a:ext cx="9263591" cy="614218"/>
          </a:xfrm>
        </p:spPr>
        <p:txBody>
          <a:bodyPr/>
          <a:lstStyle/>
          <a:p>
            <a:r>
              <a:rPr lang="en-US" altLang="ko-KR" dirty="0" smtClean="0"/>
              <a:t>	③ </a:t>
            </a:r>
            <a:r>
              <a:rPr lang="en-US" altLang="ko-KR" dirty="0"/>
              <a:t>SPI – </a:t>
            </a:r>
            <a:r>
              <a:rPr lang="ko-KR" altLang="en-US" dirty="0" err="1"/>
              <a:t>슬레이브</a:t>
            </a:r>
            <a:r>
              <a:rPr lang="en-US" altLang="ko-KR" dirty="0"/>
              <a:t> </a:t>
            </a:r>
            <a:r>
              <a:rPr lang="ko-KR" altLang="en-US" dirty="0" smtClean="0"/>
              <a:t>모드 설정</a:t>
            </a:r>
            <a:endParaRPr lang="ko-KR" altLang="en-US" dirty="0"/>
          </a:p>
        </p:txBody>
      </p:sp>
      <p:sp>
        <p:nvSpPr>
          <p:cNvPr id="12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>
          <a:xfrm>
            <a:off x="361598" y="963912"/>
            <a:ext cx="8587509" cy="5532438"/>
          </a:xfrm>
        </p:spPr>
        <p:txBody>
          <a:bodyPr/>
          <a:lstStyle/>
          <a:p>
            <a:r>
              <a:rPr lang="en-US" altLang="ko-KR" dirty="0" smtClean="0"/>
              <a:t>SPI </a:t>
            </a:r>
            <a:r>
              <a:rPr lang="ko-KR" altLang="en-US" dirty="0" smtClean="0"/>
              <a:t>라이브러리는 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모드를 지원하지 않음</a:t>
            </a:r>
            <a:endParaRPr lang="en-US" altLang="ko-KR" dirty="0" smtClean="0"/>
          </a:p>
          <a:p>
            <a:r>
              <a:rPr lang="ko-KR" altLang="en-US" dirty="0" smtClean="0"/>
              <a:t>컨트롤 레지스터인 </a:t>
            </a:r>
            <a:r>
              <a:rPr lang="en-US" altLang="ko-KR" dirty="0" smtClean="0"/>
              <a:t>SPCR(SPI Control Register)</a:t>
            </a:r>
            <a:r>
              <a:rPr lang="ko-KR" altLang="en-US" dirty="0" smtClean="0"/>
              <a:t>를 직접 조작 하여야 함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SPI </a:t>
            </a:r>
            <a:r>
              <a:rPr lang="ko-KR" altLang="en-US" dirty="0" smtClean="0"/>
              <a:t>통신을 사용 할 수 있도록 설정 </a:t>
            </a:r>
            <a:r>
              <a:rPr lang="en-US" altLang="ko-KR" dirty="0" smtClean="0"/>
              <a:t>(SPE </a:t>
            </a:r>
            <a:r>
              <a:rPr lang="ko-KR" altLang="en-US" dirty="0" smtClean="0"/>
              <a:t>비트 </a:t>
            </a:r>
            <a:r>
              <a:rPr lang="en-US" altLang="ko-KR" dirty="0" smtClean="0"/>
              <a:t>1)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SPI </a:t>
            </a:r>
            <a:r>
              <a:rPr lang="ko-KR" altLang="en-US" dirty="0" smtClean="0"/>
              <a:t>통신에서 </a:t>
            </a:r>
            <a:r>
              <a:rPr lang="ko-KR" altLang="en-US" dirty="0" err="1" smtClean="0"/>
              <a:t>슬레이브로</a:t>
            </a:r>
            <a:r>
              <a:rPr lang="ko-KR" altLang="en-US" dirty="0" smtClean="0"/>
              <a:t> 동작하도록 설정 </a:t>
            </a:r>
            <a:r>
              <a:rPr lang="en-US" altLang="ko-KR" dirty="0" smtClean="0"/>
              <a:t>(MSTR </a:t>
            </a:r>
            <a:r>
              <a:rPr lang="ko-KR" altLang="en-US" dirty="0" smtClean="0"/>
              <a:t>비트 </a:t>
            </a:r>
            <a:r>
              <a:rPr lang="en-US" altLang="ko-KR" dirty="0" smtClean="0"/>
              <a:t>0)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SPI </a:t>
            </a:r>
            <a:r>
              <a:rPr lang="ko-KR" altLang="en-US" dirty="0" smtClean="0"/>
              <a:t>통신을 통해 데이터가 수신된 경우</a:t>
            </a:r>
            <a:r>
              <a:rPr lang="en-US" altLang="ko-KR" dirty="0" smtClean="0"/>
              <a:t>, </a:t>
            </a:r>
            <a:r>
              <a:rPr lang="ko-KR" altLang="en-US" dirty="0" smtClean="0"/>
              <a:t>인터럽트가 발생하도록 설정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  (SPIE </a:t>
            </a:r>
            <a:r>
              <a:rPr lang="ko-KR" altLang="en-US" dirty="0" smtClean="0"/>
              <a:t>비트 </a:t>
            </a:r>
            <a:r>
              <a:rPr lang="en-US" altLang="ko-KR" dirty="0" smtClean="0"/>
              <a:t>1) </a:t>
            </a:r>
          </a:p>
        </p:txBody>
      </p:sp>
      <p:pic>
        <p:nvPicPr>
          <p:cNvPr id="13" name="그림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216" y="3822784"/>
            <a:ext cx="7730000" cy="118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2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20616" y="794326"/>
            <a:ext cx="5530563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200" dirty="0">
                <a:latin typeface="Consolas" panose="020B0609020204030204" pitchFamily="49" charset="0"/>
              </a:rPr>
              <a:t>#include &lt;</a:t>
            </a:r>
            <a:r>
              <a:rPr lang="en-US" altLang="ko-KR" sz="1200" dirty="0" err="1">
                <a:latin typeface="Consolas" panose="020B0609020204030204" pitchFamily="49" charset="0"/>
              </a:rPr>
              <a:t>SPI.h</a:t>
            </a:r>
            <a:r>
              <a:rPr lang="en-US" altLang="ko-KR" sz="1200" dirty="0">
                <a:latin typeface="Consolas" panose="020B0609020204030204" pitchFamily="49" charset="0"/>
              </a:rPr>
              <a:t>&gt;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char </a:t>
            </a:r>
            <a:r>
              <a:rPr lang="en-US" altLang="ko-KR" sz="1200" dirty="0" err="1">
                <a:latin typeface="Consolas" panose="020B0609020204030204" pitchFamily="49" charset="0"/>
              </a:rPr>
              <a:t>buf</a:t>
            </a:r>
            <a:r>
              <a:rPr lang="en-US" altLang="ko-KR" sz="1200" dirty="0">
                <a:latin typeface="Consolas" panose="020B0609020204030204" pitchFamily="49" charset="0"/>
              </a:rPr>
              <a:t>[100];</a:t>
            </a:r>
          </a:p>
          <a:p>
            <a:r>
              <a:rPr lang="en-US" altLang="ko-KR" sz="1200" dirty="0" smtClean="0">
                <a:latin typeface="Consolas" panose="020B0609020204030204" pitchFamily="49" charset="0"/>
              </a:rPr>
              <a:t>// </a:t>
            </a:r>
            <a:r>
              <a:rPr lang="en-US" altLang="ko-KR" sz="1200" dirty="0" err="1" smtClean="0">
                <a:latin typeface="Consolas" panose="020B0609020204030204" pitchFamily="49" charset="0"/>
              </a:rPr>
              <a:t>pos</a:t>
            </a:r>
            <a:r>
              <a:rPr lang="ko-KR" altLang="en-US" sz="1200" dirty="0">
                <a:latin typeface="Consolas" panose="020B0609020204030204" pitchFamily="49" charset="0"/>
              </a:rPr>
              <a:t>와 </a:t>
            </a:r>
            <a:r>
              <a:rPr lang="en-US" altLang="ko-KR" sz="1200" dirty="0" err="1">
                <a:latin typeface="Consolas" panose="020B0609020204030204" pitchFamily="49" charset="0"/>
              </a:rPr>
              <a:t>process_it</a:t>
            </a:r>
            <a:r>
              <a:rPr lang="ko-KR" altLang="en-US" sz="1200" dirty="0">
                <a:latin typeface="Consolas" panose="020B0609020204030204" pitchFamily="49" charset="0"/>
              </a:rPr>
              <a:t>은 인터럽트 처리 루틴에서 값을 바꾸는 변수이므로 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// volatile </a:t>
            </a:r>
            <a:r>
              <a:rPr lang="ko-KR" altLang="en-US" sz="1200" dirty="0">
                <a:latin typeface="Consolas" panose="020B0609020204030204" pitchFamily="49" charset="0"/>
              </a:rPr>
              <a:t>선언을 통해 매번 값을 </a:t>
            </a:r>
            <a:r>
              <a:rPr lang="ko-KR" altLang="en-US" sz="1200" dirty="0" smtClean="0">
                <a:latin typeface="Consolas" panose="020B0609020204030204" pitchFamily="49" charset="0"/>
              </a:rPr>
              <a:t>참조하도록 </a:t>
            </a:r>
            <a:r>
              <a:rPr lang="ko-KR" altLang="en-US" sz="1200" dirty="0">
                <a:latin typeface="Consolas" panose="020B0609020204030204" pitchFamily="49" charset="0"/>
              </a:rPr>
              <a:t>설정해야 한다</a:t>
            </a:r>
            <a:r>
              <a:rPr lang="en-US" altLang="ko-KR" sz="1200" dirty="0">
                <a:latin typeface="Consolas" panose="020B0609020204030204" pitchFamily="49" charset="0"/>
              </a:rPr>
              <a:t>.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volatile byte </a:t>
            </a:r>
            <a:r>
              <a:rPr lang="en-US" altLang="ko-KR" sz="1200" dirty="0" err="1">
                <a:latin typeface="Consolas" panose="020B0609020204030204" pitchFamily="49" charset="0"/>
              </a:rPr>
              <a:t>pos</a:t>
            </a:r>
            <a:r>
              <a:rPr lang="en-US" altLang="ko-KR" sz="1200" dirty="0">
                <a:latin typeface="Consolas" panose="020B0609020204030204" pitchFamily="49" charset="0"/>
              </a:rPr>
              <a:t> = 0 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volatile </a:t>
            </a:r>
            <a:r>
              <a:rPr lang="en-US" altLang="ko-KR" sz="1200" dirty="0" err="1">
                <a:latin typeface="Consolas" panose="020B0609020204030204" pitchFamily="49" charset="0"/>
              </a:rPr>
              <a:t>boolean</a:t>
            </a:r>
            <a:r>
              <a:rPr lang="en-US" altLang="ko-KR" sz="1200" dirty="0">
                <a:latin typeface="Consolas" panose="020B0609020204030204" pitchFamily="49" charset="0"/>
              </a:rPr>
              <a:t> </a:t>
            </a:r>
            <a:r>
              <a:rPr lang="en-US" altLang="ko-KR" sz="1200" dirty="0" err="1">
                <a:latin typeface="Consolas" panose="020B0609020204030204" pitchFamily="49" charset="0"/>
              </a:rPr>
              <a:t>process_it</a:t>
            </a:r>
            <a:r>
              <a:rPr lang="en-US" altLang="ko-KR" sz="1200" dirty="0">
                <a:latin typeface="Consolas" panose="020B0609020204030204" pitchFamily="49" charset="0"/>
              </a:rPr>
              <a:t> = false;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setup () 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200" dirty="0">
                <a:latin typeface="Consolas" panose="020B0609020204030204" pitchFamily="49" charset="0"/>
              </a:rPr>
              <a:t>(9600);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//MOSI,SCLK,SS</a:t>
            </a:r>
            <a:r>
              <a:rPr lang="ko-KR" altLang="en-US" sz="1200" dirty="0">
                <a:latin typeface="Consolas" panose="020B0609020204030204" pitchFamily="49" charset="0"/>
              </a:rPr>
              <a:t>는 입력으로 설정하지 않아도 된다</a:t>
            </a:r>
            <a:r>
              <a:rPr lang="en-US" altLang="ko-KR" sz="12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//MISO </a:t>
            </a:r>
            <a:r>
              <a:rPr lang="ko-KR" altLang="en-US" sz="1200" dirty="0">
                <a:latin typeface="Consolas" panose="020B0609020204030204" pitchFamily="49" charset="0"/>
              </a:rPr>
              <a:t>역시 이 예에서는 사용하지 않으므로 생략할 수 있다</a:t>
            </a:r>
            <a:r>
              <a:rPr lang="en-US" altLang="ko-KR" sz="12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(MISO,OUTPUT);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(MOSI,INPUT);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(SCK,INPUT);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pinMode</a:t>
            </a:r>
            <a:r>
              <a:rPr lang="en-US" altLang="ko-KR" sz="1200" dirty="0">
                <a:latin typeface="Consolas" panose="020B0609020204030204" pitchFamily="49" charset="0"/>
              </a:rPr>
              <a:t>(SS,INPUT);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//</a:t>
            </a:r>
            <a:r>
              <a:rPr lang="ko-KR" altLang="en-US" sz="1200" dirty="0">
                <a:latin typeface="Consolas" panose="020B0609020204030204" pitchFamily="49" charset="0"/>
              </a:rPr>
              <a:t>마스터의 전송 속도에 맞추어 통신 속도를 설정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SPI.setClockDivider</a:t>
            </a:r>
            <a:r>
              <a:rPr lang="en-US" altLang="ko-KR" sz="1200" dirty="0">
                <a:latin typeface="Consolas" panose="020B0609020204030204" pitchFamily="49" charset="0"/>
              </a:rPr>
              <a:t>(SPI_CLOCK_DIV16);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//SPI </a:t>
            </a:r>
            <a:r>
              <a:rPr lang="ko-KR" altLang="en-US" sz="1200" dirty="0">
                <a:latin typeface="Consolas" panose="020B0609020204030204" pitchFamily="49" charset="0"/>
              </a:rPr>
              <a:t>통신을 위한 레지스터 설정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>
                <a:latin typeface="Consolas" panose="020B0609020204030204" pitchFamily="49" charset="0"/>
              </a:rPr>
              <a:t>//SPCR : SPI Control Register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SPCR |= (1 &lt;&lt; SPE);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SPCR &amp;=~(1 &lt;&lt; MSTR);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SPCR |= (1 &lt;&lt; SPIE);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 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147083"/>
            <a:ext cx="9707973" cy="614218"/>
          </a:xfrm>
        </p:spPr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/>
              <a:t> </a:t>
            </a:r>
            <a:r>
              <a:rPr lang="en-US" altLang="ko-KR" dirty="0"/>
              <a:t>④</a:t>
            </a:r>
            <a:r>
              <a:rPr lang="ko-KR" altLang="en-US" dirty="0"/>
              <a:t> </a:t>
            </a:r>
            <a:r>
              <a:rPr lang="ko-KR" altLang="en-US" dirty="0" err="1"/>
              <a:t>슬레이브에서</a:t>
            </a:r>
            <a:r>
              <a:rPr lang="ko-KR" altLang="en-US" dirty="0"/>
              <a:t> 마스터로부터 수신된 데이터 출력</a:t>
            </a:r>
          </a:p>
        </p:txBody>
      </p:sp>
      <p:sp>
        <p:nvSpPr>
          <p:cNvPr id="10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922199" y="794325"/>
            <a:ext cx="2872528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ISR(</a:t>
            </a:r>
            <a:r>
              <a:rPr lang="en-US" altLang="ko-KR" sz="1200" dirty="0" err="1">
                <a:latin typeface="Consolas" panose="020B0609020204030204" pitchFamily="49" charset="0"/>
              </a:rPr>
              <a:t>SPI_STC_vect</a:t>
            </a:r>
            <a:r>
              <a:rPr lang="en-US" altLang="ko-KR" sz="1200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byte c = SPDR;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if(</a:t>
            </a:r>
            <a:r>
              <a:rPr lang="en-US" altLang="ko-KR" sz="1200" dirty="0" err="1">
                <a:latin typeface="Consolas" panose="020B0609020204030204" pitchFamily="49" charset="0"/>
              </a:rPr>
              <a:t>pos</a:t>
            </a:r>
            <a:r>
              <a:rPr lang="en-US" altLang="ko-KR" sz="1200" dirty="0">
                <a:latin typeface="Consolas" panose="020B0609020204030204" pitchFamily="49" charset="0"/>
              </a:rPr>
              <a:t>&lt;</a:t>
            </a:r>
            <a:r>
              <a:rPr lang="en-US" altLang="ko-KR" sz="1200" dirty="0" err="1">
                <a:latin typeface="Consolas" panose="020B0609020204030204" pitchFamily="49" charset="0"/>
              </a:rPr>
              <a:t>sizeof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buf</a:t>
            </a:r>
            <a:r>
              <a:rPr lang="en-US" altLang="ko-KR" sz="1200" dirty="0">
                <a:latin typeface="Consolas" panose="020B0609020204030204" pitchFamily="49" charset="0"/>
              </a:rPr>
              <a:t>)){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  </a:t>
            </a:r>
            <a:r>
              <a:rPr lang="en-US" altLang="ko-KR" sz="1200" dirty="0" err="1">
                <a:latin typeface="Consolas" panose="020B0609020204030204" pitchFamily="49" charset="0"/>
              </a:rPr>
              <a:t>buf</a:t>
            </a:r>
            <a:r>
              <a:rPr lang="en-US" altLang="ko-KR" sz="1200" dirty="0"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latin typeface="Consolas" panose="020B0609020204030204" pitchFamily="49" charset="0"/>
              </a:rPr>
              <a:t>pos</a:t>
            </a:r>
            <a:r>
              <a:rPr lang="en-US" altLang="ko-KR" sz="1200" dirty="0">
                <a:latin typeface="Consolas" panose="020B0609020204030204" pitchFamily="49" charset="0"/>
              </a:rPr>
              <a:t>++] = c;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  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  if(c =='\n'){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    </a:t>
            </a:r>
            <a:r>
              <a:rPr lang="en-US" altLang="ko-KR" sz="1200" dirty="0" err="1">
                <a:latin typeface="Consolas" panose="020B0609020204030204" pitchFamily="49" charset="0"/>
              </a:rPr>
              <a:t>process_it</a:t>
            </a:r>
            <a:r>
              <a:rPr lang="en-US" altLang="ko-KR" sz="1200" dirty="0">
                <a:latin typeface="Consolas" panose="020B0609020204030204" pitchFamily="49" charset="0"/>
              </a:rPr>
              <a:t> = true;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loop(){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if(</a:t>
            </a:r>
            <a:r>
              <a:rPr lang="en-US" altLang="ko-KR" sz="1200" dirty="0" err="1">
                <a:latin typeface="Consolas" panose="020B0609020204030204" pitchFamily="49" charset="0"/>
              </a:rPr>
              <a:t>process_it</a:t>
            </a:r>
            <a:r>
              <a:rPr lang="en-US" altLang="ko-KR" sz="1200" dirty="0">
                <a:latin typeface="Consolas" panose="020B0609020204030204" pitchFamily="49" charset="0"/>
              </a:rPr>
              <a:t>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buf</a:t>
            </a:r>
            <a:r>
              <a:rPr lang="en-US" altLang="ko-KR" sz="1200" dirty="0">
                <a:latin typeface="Consolas" panose="020B0609020204030204" pitchFamily="49" charset="0"/>
              </a:rPr>
              <a:t>[</a:t>
            </a:r>
            <a:r>
              <a:rPr lang="en-US" altLang="ko-KR" sz="1200" dirty="0" err="1">
                <a:latin typeface="Consolas" panose="020B0609020204030204" pitchFamily="49" charset="0"/>
              </a:rPr>
              <a:t>pos</a:t>
            </a:r>
            <a:r>
              <a:rPr lang="en-US" altLang="ko-KR" sz="1200" dirty="0">
                <a:latin typeface="Consolas" panose="020B0609020204030204" pitchFamily="49" charset="0"/>
              </a:rPr>
              <a:t>] = 0;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Serial.print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buf</a:t>
            </a:r>
            <a:r>
              <a:rPr lang="en-US" altLang="ko-KR" sz="1200" dirty="0">
                <a:latin typeface="Consolas" panose="020B0609020204030204" pitchFamily="49" charset="0"/>
              </a:rPr>
              <a:t>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pos</a:t>
            </a:r>
            <a:r>
              <a:rPr lang="en-US" altLang="ko-KR" sz="1200" dirty="0">
                <a:latin typeface="Consolas" panose="020B0609020204030204" pitchFamily="49" charset="0"/>
              </a:rPr>
              <a:t> = 0;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process_it</a:t>
            </a:r>
            <a:r>
              <a:rPr lang="en-US" altLang="ko-KR" sz="1200" dirty="0">
                <a:latin typeface="Consolas" panose="020B0609020204030204" pitchFamily="49" charset="0"/>
              </a:rPr>
              <a:t> = false;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2" name="한쪽 모서리가 잘린 사각형 11"/>
          <p:cNvSpPr/>
          <p:nvPr/>
        </p:nvSpPr>
        <p:spPr>
          <a:xfrm>
            <a:off x="4277195" y="5705489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20</a:t>
            </a:r>
            <a:r>
              <a:rPr lang="en-US" altLang="ko-KR" sz="1400" dirty="0" smtClean="0"/>
              <a:t>-2, </a:t>
            </a:r>
            <a:r>
              <a:rPr lang="en-US" altLang="ko-KR" sz="1400" dirty="0"/>
              <a:t>Textbook pp. </a:t>
            </a:r>
            <a:r>
              <a:rPr lang="en-US" altLang="ko-KR" sz="1400" dirty="0" smtClean="0"/>
              <a:t>349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10858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0108"/>
            <a:ext cx="9058492" cy="614218"/>
          </a:xfrm>
        </p:spPr>
        <p:txBody>
          <a:bodyPr/>
          <a:lstStyle/>
          <a:p>
            <a:r>
              <a:rPr lang="en-US" altLang="ko-KR" dirty="0"/>
              <a:t>	 </a:t>
            </a:r>
            <a:r>
              <a:rPr lang="ko-KR" altLang="en-US" dirty="0" smtClean="0"/>
              <a:t> ⑤ 실행결과 확인</a:t>
            </a:r>
            <a:endParaRPr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작성한 </a:t>
            </a:r>
            <a:r>
              <a:rPr lang="en-US" altLang="ko-KR" dirty="0"/>
              <a:t>2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Sketch</a:t>
            </a:r>
            <a:r>
              <a:rPr lang="ko-KR" altLang="en-US" dirty="0" smtClean="0"/>
              <a:t> 편집 창을 보여라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 smtClean="0"/>
              <a:t>Lab 10-2 Sketch</a:t>
            </a:r>
            <a:r>
              <a:rPr lang="ko-KR" altLang="en-US" dirty="0" smtClean="0"/>
              <a:t>의 실행을 </a:t>
            </a:r>
            <a:r>
              <a:rPr lang="en-US" altLang="ko-KR" dirty="0" smtClean="0"/>
              <a:t>Serial Monitor</a:t>
            </a:r>
            <a:r>
              <a:rPr lang="ko-KR" altLang="en-US" dirty="0" smtClean="0"/>
              <a:t>를 통해 보여라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조교의 물음에 답하고 채점 결과를 </a:t>
            </a:r>
            <a:r>
              <a:rPr lang="en-US" altLang="ko-KR" dirty="0"/>
              <a:t>PLMS LAB </a:t>
            </a:r>
            <a:r>
              <a:rPr lang="en-US" altLang="ko-KR" dirty="0" smtClean="0"/>
              <a:t>10-2</a:t>
            </a:r>
            <a:r>
              <a:rPr lang="ko-KR" altLang="en-US" dirty="0" smtClean="0"/>
              <a:t>에 </a:t>
            </a:r>
            <a:r>
              <a:rPr lang="ko-KR" altLang="en-US" dirty="0"/>
              <a:t>직접 입력하라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047" y="2445406"/>
            <a:ext cx="5297946" cy="363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686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맺는말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>
          <a:xfrm>
            <a:off x="378690" y="871670"/>
            <a:ext cx="8587509" cy="5532438"/>
          </a:xfrm>
        </p:spPr>
        <p:txBody>
          <a:bodyPr/>
          <a:lstStyle/>
          <a:p>
            <a:r>
              <a:rPr lang="en-US" altLang="ko-KR" dirty="0" smtClean="0"/>
              <a:t>SPI</a:t>
            </a:r>
          </a:p>
          <a:p>
            <a:pPr lvl="1"/>
            <a:r>
              <a:rPr lang="ko-KR" altLang="en-US" dirty="0" smtClean="0"/>
              <a:t>고속 직렬통신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1:n </a:t>
            </a:r>
            <a:r>
              <a:rPr lang="ko-KR" altLang="en-US" dirty="0" smtClean="0"/>
              <a:t>통신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많은 데이터를 고속으로 전송하기 위해 주로 사용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</a:t>
            </a:r>
            <a:r>
              <a:rPr lang="ko-KR" altLang="en-US" dirty="0" err="1" smtClean="0"/>
              <a:t>이더넷</a:t>
            </a:r>
            <a:r>
              <a:rPr lang="en-US" altLang="ko-KR" dirty="0" smtClean="0"/>
              <a:t>, </a:t>
            </a:r>
            <a:r>
              <a:rPr lang="ko-KR" altLang="en-US" dirty="0" err="1" smtClean="0"/>
              <a:t>와이파이</a:t>
            </a:r>
            <a:r>
              <a:rPr lang="en-US" altLang="ko-KR" dirty="0" smtClean="0"/>
              <a:t>, </a:t>
            </a:r>
            <a:r>
              <a:rPr lang="ko-KR" altLang="en-US" dirty="0" smtClean="0"/>
              <a:t>컬러 </a:t>
            </a:r>
            <a:r>
              <a:rPr lang="en-US" altLang="ko-KR" dirty="0" smtClean="0"/>
              <a:t>LCD, </a:t>
            </a:r>
            <a:r>
              <a:rPr lang="ko-KR" altLang="en-US" dirty="0" smtClean="0"/>
              <a:t>외장 메모리 등</a:t>
            </a:r>
            <a:endParaRPr lang="en-US" altLang="ko-KR" dirty="0" smtClean="0"/>
          </a:p>
          <a:p>
            <a:r>
              <a:rPr lang="en-US" altLang="ko-KR" dirty="0" smtClean="0"/>
              <a:t>SPI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lvl="1"/>
            <a:r>
              <a:rPr lang="en-US" altLang="ko-KR" dirty="0"/>
              <a:t>4</a:t>
            </a:r>
            <a:r>
              <a:rPr lang="ko-KR" altLang="en-US" dirty="0"/>
              <a:t>개의 연결선 </a:t>
            </a:r>
            <a:r>
              <a:rPr lang="en-US" altLang="ko-KR" dirty="0"/>
              <a:t>:3</a:t>
            </a:r>
            <a:r>
              <a:rPr lang="ko-KR" altLang="en-US" dirty="0"/>
              <a:t>개의 전용선 </a:t>
            </a:r>
            <a:r>
              <a:rPr lang="en-US" altLang="ko-KR" dirty="0"/>
              <a:t>+ </a:t>
            </a:r>
            <a:r>
              <a:rPr lang="ko-KR" altLang="en-US" dirty="0" err="1"/>
              <a:t>슬레이브</a:t>
            </a:r>
            <a:r>
              <a:rPr lang="ko-KR" altLang="en-US" dirty="0"/>
              <a:t> 선택을 위한 선</a:t>
            </a:r>
            <a:endParaRPr lang="en-US" altLang="ko-KR" dirty="0"/>
          </a:p>
          <a:p>
            <a:pPr lvl="1"/>
            <a:r>
              <a:rPr lang="ko-KR" altLang="en-US" dirty="0" err="1"/>
              <a:t>슬</a:t>
            </a:r>
            <a:r>
              <a:rPr lang="ko-KR" altLang="en-US" dirty="0" err="1" smtClean="0"/>
              <a:t>레이브</a:t>
            </a:r>
            <a:r>
              <a:rPr lang="ko-KR" altLang="en-US" dirty="0" smtClean="0"/>
              <a:t> </a:t>
            </a:r>
            <a:r>
              <a:rPr lang="ko-KR" altLang="en-US" dirty="0"/>
              <a:t>선택 선이 </a:t>
            </a:r>
            <a:r>
              <a:rPr lang="en-US" altLang="ko-KR" dirty="0"/>
              <a:t>LOW</a:t>
            </a:r>
            <a:r>
              <a:rPr lang="ko-KR" altLang="en-US" dirty="0"/>
              <a:t>인 장치가 선택됨</a:t>
            </a:r>
            <a:endParaRPr lang="en-US" altLang="ko-KR" dirty="0"/>
          </a:p>
          <a:p>
            <a:r>
              <a:rPr lang="en-US" altLang="ko-KR" dirty="0" smtClean="0"/>
              <a:t>SPI</a:t>
            </a:r>
            <a:r>
              <a:rPr lang="ko-KR" altLang="en-US" dirty="0" smtClean="0"/>
              <a:t>라이브러리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라이브러리 중 하나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슬레이브</a:t>
            </a:r>
            <a:r>
              <a:rPr lang="ko-KR" altLang="en-US" dirty="0" smtClean="0"/>
              <a:t> 모드는 지원하지 않음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dirty="0" smtClean="0"/>
              <a:t>- SPCR </a:t>
            </a:r>
            <a:r>
              <a:rPr lang="ko-KR" altLang="en-US" dirty="0" smtClean="0"/>
              <a:t>레지스터를 직접 조작해야 함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9611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I2c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7" name="텍스트 개체 틀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294967295"/>
          </p:nvPr>
        </p:nvSpPr>
        <p:spPr>
          <a:xfrm>
            <a:off x="8820150" y="6597650"/>
            <a:ext cx="323850" cy="193675"/>
          </a:xfrm>
        </p:spPr>
        <p:txBody>
          <a:bodyPr/>
          <a:lstStyle/>
          <a:p>
            <a:fld id="{B00D90EE-624F-4CF6-B1CA-C1033E61431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26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199" y="908720"/>
            <a:ext cx="8509001" cy="583264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Inter-Integrated Circuit</a:t>
            </a: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ko-KR" altLang="en-US" spc="-100" dirty="0">
                <a:latin typeface="+mn-ea"/>
              </a:rPr>
              <a:t>저속</a:t>
            </a:r>
            <a:r>
              <a:rPr lang="en-US" altLang="ko-KR" spc="-100" dirty="0">
                <a:latin typeface="+mn-ea"/>
              </a:rPr>
              <a:t> </a:t>
            </a:r>
            <a:r>
              <a:rPr lang="ko-KR" altLang="en-US" spc="-100" dirty="0">
                <a:latin typeface="+mn-ea"/>
              </a:rPr>
              <a:t>직렬 통신 방식 중 하나</a:t>
            </a:r>
            <a:endParaRPr lang="en-US" altLang="ko-KR" spc="-100" dirty="0">
              <a:latin typeface="+mn-ea"/>
            </a:endParaRP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>
                <a:latin typeface="+mn-ea"/>
              </a:rPr>
              <a:t>1:n </a:t>
            </a:r>
            <a:r>
              <a:rPr lang="ko-KR" altLang="en-US" spc="-100" dirty="0">
                <a:latin typeface="+mn-ea"/>
              </a:rPr>
              <a:t>통신</a:t>
            </a:r>
            <a:endParaRPr lang="en-US" altLang="ko-KR" spc="-100" dirty="0">
              <a:latin typeface="+mn-ea"/>
            </a:endParaRPr>
          </a:p>
          <a:p>
            <a:pPr marL="252000" lvl="1" indent="-252000">
              <a:lnSpc>
                <a:spcPct val="120000"/>
              </a:lnSpc>
              <a:spcBef>
                <a:spcPts val="0"/>
              </a:spcBef>
              <a:buFontTx/>
              <a:buChar char="‒"/>
            </a:pPr>
            <a:r>
              <a:rPr lang="en-US" altLang="ko-KR" spc="-50" dirty="0">
                <a:latin typeface="+mn-ea"/>
              </a:rPr>
              <a:t>UART</a:t>
            </a:r>
            <a:r>
              <a:rPr lang="ko-KR" altLang="en-US" spc="-50" dirty="0">
                <a:latin typeface="+mn-ea"/>
              </a:rPr>
              <a:t>는 </a:t>
            </a:r>
            <a:r>
              <a:rPr lang="en-US" altLang="ko-KR" spc="-50" dirty="0">
                <a:latin typeface="+mn-ea"/>
              </a:rPr>
              <a:t>1:1, SPI</a:t>
            </a:r>
            <a:r>
              <a:rPr lang="ko-KR" altLang="en-US" spc="-50" dirty="0">
                <a:latin typeface="+mn-ea"/>
              </a:rPr>
              <a:t>는 </a:t>
            </a:r>
            <a:r>
              <a:rPr lang="en-US" altLang="ko-KR" spc="-50" dirty="0">
                <a:latin typeface="+mn-ea"/>
              </a:rPr>
              <a:t>1:n</a:t>
            </a: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 smtClean="0">
                <a:latin typeface="+mn-ea"/>
              </a:rPr>
              <a:t>2</a:t>
            </a:r>
            <a:r>
              <a:rPr lang="ko-KR" altLang="en-US" spc="-100" dirty="0" smtClean="0">
                <a:latin typeface="+mn-ea"/>
              </a:rPr>
              <a:t>개의</a:t>
            </a:r>
            <a:r>
              <a:rPr lang="en-US" altLang="ko-KR" spc="-100" dirty="0" smtClean="0">
                <a:latin typeface="+mn-ea"/>
              </a:rPr>
              <a:t> </a:t>
            </a:r>
            <a:r>
              <a:rPr lang="ko-KR" altLang="en-US" spc="-100" dirty="0" smtClean="0">
                <a:latin typeface="+mn-ea"/>
              </a:rPr>
              <a:t>연결선 필요</a:t>
            </a:r>
            <a:r>
              <a:rPr lang="en-US" altLang="ko-KR" spc="-100" dirty="0" smtClean="0">
                <a:latin typeface="+mn-ea"/>
              </a:rPr>
              <a:t/>
            </a:r>
            <a:br>
              <a:rPr lang="en-US" altLang="ko-KR" spc="-100" dirty="0" smtClean="0">
                <a:latin typeface="+mn-ea"/>
              </a:rPr>
            </a:br>
            <a:r>
              <a:rPr lang="en-US" altLang="ko-KR" spc="-100" dirty="0" smtClean="0">
                <a:latin typeface="+mn-ea"/>
              </a:rPr>
              <a:t> </a:t>
            </a:r>
            <a:br>
              <a:rPr lang="en-US" altLang="ko-KR" spc="-100" dirty="0" smtClean="0">
                <a:latin typeface="+mn-ea"/>
              </a:rPr>
            </a:br>
            <a:r>
              <a:rPr lang="en-US" altLang="ko-KR" spc="-100" dirty="0" smtClean="0">
                <a:latin typeface="+mn-ea"/>
              </a:rPr>
              <a:t/>
            </a:r>
            <a:br>
              <a:rPr lang="en-US" altLang="ko-KR" spc="-100" dirty="0" smtClean="0">
                <a:latin typeface="+mn-ea"/>
              </a:rPr>
            </a:br>
            <a:endParaRPr lang="en-US" altLang="ko-KR" spc="-100" dirty="0" smtClean="0">
              <a:latin typeface="+mn-ea"/>
            </a:endParaRPr>
          </a:p>
          <a:p>
            <a:pPr>
              <a:lnSpc>
                <a:spcPct val="120000"/>
              </a:lnSpc>
              <a:buSzPct val="90000"/>
              <a:buBlip>
                <a:blip r:embed="rId3"/>
              </a:buBlip>
            </a:pPr>
            <a:r>
              <a:rPr lang="en-US" altLang="ko-KR" spc="-100" dirty="0" smtClean="0">
                <a:latin typeface="+mn-ea"/>
              </a:rPr>
              <a:t>N</a:t>
            </a:r>
            <a:r>
              <a:rPr lang="ko-KR" altLang="en-US" spc="-100" dirty="0" smtClean="0">
                <a:latin typeface="+mn-ea"/>
              </a:rPr>
              <a:t>개의 </a:t>
            </a:r>
            <a:r>
              <a:rPr lang="ko-KR" altLang="en-US" spc="-100" dirty="0" err="1" smtClean="0">
                <a:latin typeface="+mn-ea"/>
              </a:rPr>
              <a:t>슬레이브는</a:t>
            </a:r>
            <a:r>
              <a:rPr lang="ko-KR" altLang="en-US" spc="-100" dirty="0" smtClean="0">
                <a:latin typeface="+mn-ea"/>
              </a:rPr>
              <a:t> 소프트웨어적인 </a:t>
            </a:r>
            <a:r>
              <a:rPr lang="en-US" altLang="ko-KR" spc="-100" dirty="0" smtClean="0">
                <a:latin typeface="+mn-ea"/>
              </a:rPr>
              <a:t>‘</a:t>
            </a:r>
            <a:r>
              <a:rPr lang="ko-KR" altLang="en-US" spc="-100" dirty="0" smtClean="0">
                <a:latin typeface="+mn-ea"/>
              </a:rPr>
              <a:t>주소</a:t>
            </a:r>
            <a:r>
              <a:rPr lang="en-US" altLang="ko-KR" spc="-100" dirty="0" smtClean="0">
                <a:latin typeface="+mn-ea"/>
              </a:rPr>
              <a:t>’</a:t>
            </a:r>
            <a:r>
              <a:rPr lang="ko-KR" altLang="en-US" spc="-100" dirty="0" smtClean="0">
                <a:latin typeface="+mn-ea"/>
              </a:rPr>
              <a:t>에</a:t>
            </a:r>
            <a:r>
              <a:rPr lang="en-US" altLang="ko-KR" spc="-100" dirty="0" smtClean="0">
                <a:latin typeface="+mn-ea"/>
              </a:rPr>
              <a:t> </a:t>
            </a:r>
            <a:r>
              <a:rPr lang="ko-KR" altLang="en-US" spc="-100" dirty="0" smtClean="0">
                <a:latin typeface="+mn-ea"/>
              </a:rPr>
              <a:t>의해 구별됨</a:t>
            </a:r>
            <a:endParaRPr lang="en-US" altLang="ko-KR" spc="-100" dirty="0">
              <a:latin typeface="+mn-ea"/>
            </a:endParaRPr>
          </a:p>
          <a:p>
            <a:pPr lvl="1"/>
            <a:r>
              <a:rPr lang="en-US" altLang="ko-KR" spc="-50" dirty="0" smtClean="0">
                <a:latin typeface="+mn-ea"/>
              </a:rPr>
              <a:t>SPI</a:t>
            </a:r>
            <a:r>
              <a:rPr lang="ko-KR" altLang="en-US" spc="-50" dirty="0" smtClean="0">
                <a:latin typeface="+mn-ea"/>
              </a:rPr>
              <a:t>의 </a:t>
            </a:r>
            <a:r>
              <a:rPr lang="en-US" altLang="ko-KR" spc="-50" dirty="0" smtClean="0">
                <a:latin typeface="+mn-ea"/>
              </a:rPr>
              <a:t>SS</a:t>
            </a:r>
            <a:r>
              <a:rPr lang="ko-KR" altLang="en-US" spc="-50" dirty="0" smtClean="0">
                <a:latin typeface="+mn-ea"/>
              </a:rPr>
              <a:t>와 같은 연결선이 필요하지 않으므로 </a:t>
            </a:r>
            <a:r>
              <a:rPr lang="ko-KR" altLang="en-US" spc="-50" dirty="0" err="1" smtClean="0">
                <a:latin typeface="+mn-ea"/>
              </a:rPr>
              <a:t>슬레이브</a:t>
            </a:r>
            <a:r>
              <a:rPr lang="ko-KR" altLang="en-US" spc="-50" dirty="0" smtClean="0">
                <a:latin typeface="+mn-ea"/>
              </a:rPr>
              <a:t> 수에 따라 연결선이 </a:t>
            </a:r>
            <a:r>
              <a:rPr lang="en-US" altLang="ko-KR" spc="-50" dirty="0" smtClean="0">
                <a:latin typeface="+mn-ea"/>
              </a:rPr>
              <a:t/>
            </a:r>
            <a:br>
              <a:rPr lang="en-US" altLang="ko-KR" spc="-50" dirty="0" smtClean="0">
                <a:latin typeface="+mn-ea"/>
              </a:rPr>
            </a:br>
            <a:r>
              <a:rPr lang="ko-KR" altLang="en-US" spc="-50" dirty="0" smtClean="0">
                <a:latin typeface="+mn-ea"/>
              </a:rPr>
              <a:t>증가하지 않음</a:t>
            </a:r>
            <a:endParaRPr lang="en-US" altLang="ko-KR" spc="-50" dirty="0" smtClean="0">
              <a:latin typeface="+mn-ea"/>
            </a:endParaRPr>
          </a:p>
          <a:p>
            <a:endParaRPr lang="en-US" altLang="ko-KR" dirty="0" smtClean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14" name="슬라이드 번호 개체 틀 1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24</a:t>
            </a:fld>
            <a:endParaRPr lang="ko-KR" altLang="en-US" dirty="0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I2C </a:t>
            </a:r>
            <a:r>
              <a:rPr lang="ko-KR" altLang="en-US" dirty="0"/>
              <a:t>통신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279399" y="3293246"/>
            <a:ext cx="75673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pc="-50" dirty="0">
                <a:latin typeface="+mn-ea"/>
              </a:rPr>
              <a:t>SDA : </a:t>
            </a:r>
            <a:r>
              <a:rPr lang="ko-KR" altLang="en-US" spc="-50" dirty="0">
                <a:latin typeface="+mn-ea"/>
              </a:rPr>
              <a:t>데이터</a:t>
            </a:r>
            <a:r>
              <a:rPr lang="en-US" altLang="ko-KR" spc="-50" dirty="0">
                <a:latin typeface="+mn-ea"/>
              </a:rPr>
              <a:t> </a:t>
            </a:r>
            <a:r>
              <a:rPr lang="ko-KR" altLang="en-US" spc="-50" dirty="0">
                <a:latin typeface="+mn-ea"/>
              </a:rPr>
              <a:t>송수신</a:t>
            </a:r>
            <a:r>
              <a:rPr lang="en-US" altLang="ko-KR" spc="-50" dirty="0">
                <a:latin typeface="+mn-ea"/>
              </a:rPr>
              <a:t/>
            </a:r>
            <a:br>
              <a:rPr lang="en-US" altLang="ko-KR" spc="-50" dirty="0">
                <a:latin typeface="+mn-ea"/>
              </a:rPr>
            </a:br>
            <a:r>
              <a:rPr lang="en-US" altLang="ko-KR" spc="-50" dirty="0">
                <a:latin typeface="+mn-ea"/>
              </a:rPr>
              <a:t>- UART, SPI</a:t>
            </a:r>
            <a:r>
              <a:rPr lang="ko-KR" altLang="en-US" spc="-50" dirty="0">
                <a:latin typeface="+mn-ea"/>
              </a:rPr>
              <a:t>와 달리 </a:t>
            </a:r>
            <a:r>
              <a:rPr lang="ko-KR" altLang="en-US" spc="-50" dirty="0" err="1">
                <a:latin typeface="+mn-ea"/>
              </a:rPr>
              <a:t>반이중</a:t>
            </a:r>
            <a:r>
              <a:rPr lang="ko-KR" altLang="en-US" spc="-50" dirty="0">
                <a:latin typeface="+mn-ea"/>
              </a:rPr>
              <a:t> 방식으로 하나의 데이터 선만 사용</a:t>
            </a:r>
            <a:endParaRPr lang="en-US" altLang="ko-KR" spc="-50" dirty="0">
              <a:latin typeface="+mn-ea"/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spc="-50" dirty="0">
                <a:latin typeface="+mn-ea"/>
              </a:rPr>
              <a:t>SCL : </a:t>
            </a:r>
            <a:r>
              <a:rPr lang="ko-KR" altLang="en-US" spc="-50" dirty="0">
                <a:latin typeface="+mn-ea"/>
              </a:rPr>
              <a:t>동기 통신을 위한 </a:t>
            </a:r>
            <a:r>
              <a:rPr lang="ko-KR" altLang="en-US" spc="-50" dirty="0" err="1" smtClean="0">
                <a:latin typeface="+mn-ea"/>
              </a:rPr>
              <a:t>클록</a:t>
            </a:r>
            <a:r>
              <a:rPr lang="en-US" altLang="ko-KR" spc="-50" dirty="0">
                <a:latin typeface="+mn-ea"/>
              </a:rPr>
              <a:t/>
            </a:r>
            <a:br>
              <a:rPr lang="en-US" altLang="ko-KR" spc="-50" dirty="0">
                <a:latin typeface="+mn-ea"/>
              </a:rPr>
            </a:br>
            <a:r>
              <a:rPr lang="en-US" altLang="ko-KR" spc="-50" dirty="0" smtClean="0">
                <a:latin typeface="+mn-ea"/>
              </a:rPr>
              <a:t>- </a:t>
            </a:r>
            <a:r>
              <a:rPr lang="en-US" altLang="ko-KR" spc="-50" dirty="0">
                <a:latin typeface="+mn-ea"/>
              </a:rPr>
              <a:t>UART</a:t>
            </a:r>
            <a:r>
              <a:rPr lang="ko-KR" altLang="en-US" spc="-50" dirty="0">
                <a:latin typeface="+mn-ea"/>
              </a:rPr>
              <a:t>는 </a:t>
            </a:r>
            <a:r>
              <a:rPr lang="ko-KR" altLang="en-US" spc="-50" dirty="0" err="1">
                <a:latin typeface="+mn-ea"/>
              </a:rPr>
              <a:t>비동기</a:t>
            </a:r>
            <a:r>
              <a:rPr lang="ko-KR" altLang="en-US" spc="-50" dirty="0">
                <a:latin typeface="+mn-ea"/>
              </a:rPr>
              <a:t> 통신</a:t>
            </a:r>
            <a:r>
              <a:rPr lang="en-US" altLang="ko-KR" spc="-50" dirty="0">
                <a:latin typeface="+mn-ea"/>
              </a:rPr>
              <a:t>, SPI</a:t>
            </a:r>
            <a:r>
              <a:rPr lang="ko-KR" altLang="en-US" spc="-50" dirty="0">
                <a:latin typeface="+mn-ea"/>
              </a:rPr>
              <a:t>는 동기 통신</a:t>
            </a:r>
            <a:endParaRPr lang="en-US" altLang="ko-KR" spc="-5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7708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직렬 통신 방식 비교</a:t>
            </a:r>
            <a:endParaRPr lang="ko-KR" altLang="en-US" dirty="0"/>
          </a:p>
        </p:txBody>
      </p:sp>
      <p:pic>
        <p:nvPicPr>
          <p:cNvPr id="7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562" y="1683716"/>
            <a:ext cx="8229600" cy="3796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9016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26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Wire </a:t>
            </a:r>
            <a:r>
              <a:rPr lang="ko-KR" altLang="en-US" dirty="0"/>
              <a:t>라이브러리</a:t>
            </a:r>
          </a:p>
        </p:txBody>
      </p:sp>
      <p:sp>
        <p:nvSpPr>
          <p:cNvPr id="6" name="내용 개체 틀 3"/>
          <p:cNvSpPr>
            <a:spLocks noGrp="1"/>
          </p:cNvSpPr>
          <p:nvPr>
            <p:ph sz="quarter" idx="4294967295"/>
          </p:nvPr>
        </p:nvSpPr>
        <p:spPr>
          <a:xfrm>
            <a:off x="378690" y="914400"/>
            <a:ext cx="8587509" cy="5532438"/>
          </a:xfrm>
          <a:prstGeom prst="rect">
            <a:avLst/>
          </a:prstGeom>
        </p:spPr>
        <p:txBody>
          <a:bodyPr/>
          <a:lstStyle/>
          <a:p>
            <a:r>
              <a:rPr lang="en-US" altLang="ko-KR" dirty="0" smtClean="0"/>
              <a:t>I2C </a:t>
            </a:r>
            <a:r>
              <a:rPr lang="ko-KR" altLang="en-US" dirty="0" smtClean="0"/>
              <a:t>통신을 위한 라이브러리</a:t>
            </a:r>
            <a:endParaRPr lang="en-US" altLang="ko-KR" dirty="0" smtClean="0"/>
          </a:p>
          <a:p>
            <a:r>
              <a:rPr lang="ko-KR" altLang="en-US" dirty="0" smtClean="0"/>
              <a:t>기본 </a:t>
            </a:r>
            <a:r>
              <a:rPr lang="ko-KR" altLang="en-US" dirty="0" err="1" smtClean="0"/>
              <a:t>라이브러리중</a:t>
            </a:r>
            <a:r>
              <a:rPr lang="ko-KR" altLang="en-US" dirty="0" smtClean="0"/>
              <a:t> 하나</a:t>
            </a:r>
            <a:endParaRPr lang="en-US" altLang="ko-KR" dirty="0" smtClean="0"/>
          </a:p>
          <a:p>
            <a:r>
              <a:rPr lang="ko-KR" altLang="en-US" dirty="0" smtClean="0"/>
              <a:t>마스터와 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모드 모두 지원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b="0" dirty="0" smtClean="0">
                <a:solidFill>
                  <a:schemeClr val="tx1"/>
                </a:solidFill>
              </a:rPr>
              <a:t>- SPI </a:t>
            </a:r>
            <a:r>
              <a:rPr lang="ko-KR" altLang="en-US" b="0" dirty="0" smtClean="0">
                <a:solidFill>
                  <a:schemeClr val="tx1"/>
                </a:solidFill>
              </a:rPr>
              <a:t>라이브러리는 마스터 모드만 지원</a:t>
            </a:r>
            <a:endParaRPr lang="en-US" altLang="ko-KR" b="0" dirty="0" smtClean="0">
              <a:solidFill>
                <a:schemeClr val="tx1"/>
              </a:solidFill>
            </a:endParaRPr>
          </a:p>
          <a:p>
            <a:r>
              <a:rPr lang="ko-KR" altLang="en-US" dirty="0" smtClean="0"/>
              <a:t>마스터 모드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en-US" altLang="ko-KR" b="0" dirty="0" smtClean="0">
                <a:solidFill>
                  <a:schemeClr val="tx1"/>
                </a:solidFill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</a:rPr>
              <a:t>송신</a:t>
            </a:r>
            <a:r>
              <a:rPr lang="en-US" altLang="ko-KR" b="0" dirty="0" smtClean="0">
                <a:solidFill>
                  <a:schemeClr val="tx1"/>
                </a:solidFill>
              </a:rPr>
              <a:t> : </a:t>
            </a:r>
            <a:r>
              <a:rPr lang="en-US" altLang="ko-KR" b="0" dirty="0" err="1" smtClean="0">
                <a:solidFill>
                  <a:schemeClr val="tx1"/>
                </a:solidFill>
              </a:rPr>
              <a:t>beginTransmission</a:t>
            </a:r>
            <a:r>
              <a:rPr lang="en-US" altLang="ko-KR" b="0" dirty="0" smtClean="0">
                <a:solidFill>
                  <a:schemeClr val="tx1"/>
                </a:solidFill>
              </a:rPr>
              <a:t> -&gt; write -&gt; </a:t>
            </a:r>
            <a:r>
              <a:rPr lang="en-US" altLang="ko-KR" b="0" dirty="0" err="1" smtClean="0">
                <a:solidFill>
                  <a:schemeClr val="tx1"/>
                </a:solidFill>
              </a:rPr>
              <a:t>endTransmission</a:t>
            </a:r>
            <a:r>
              <a:rPr lang="en-US" altLang="ko-KR" b="0" dirty="0">
                <a:solidFill>
                  <a:schemeClr val="tx1"/>
                </a:solidFill>
              </a:rPr>
              <a:t/>
            </a:r>
            <a:br>
              <a:rPr lang="en-US" altLang="ko-KR" b="0" dirty="0">
                <a:solidFill>
                  <a:schemeClr val="tx1"/>
                </a:solidFill>
              </a:rPr>
            </a:br>
            <a:r>
              <a:rPr lang="en-US" altLang="ko-KR" b="0" dirty="0" smtClean="0">
                <a:solidFill>
                  <a:schemeClr val="tx1"/>
                </a:solidFill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</a:rPr>
              <a:t>수신 </a:t>
            </a:r>
            <a:r>
              <a:rPr lang="en-US" altLang="ko-KR" b="0" dirty="0" smtClean="0">
                <a:solidFill>
                  <a:schemeClr val="tx1"/>
                </a:solidFill>
              </a:rPr>
              <a:t>: </a:t>
            </a:r>
            <a:r>
              <a:rPr lang="en-US" altLang="ko-KR" b="0" dirty="0" err="1" smtClean="0">
                <a:solidFill>
                  <a:schemeClr val="tx1"/>
                </a:solidFill>
              </a:rPr>
              <a:t>requestFrom</a:t>
            </a:r>
            <a:endParaRPr lang="en-US" altLang="ko-KR" b="0" dirty="0" smtClean="0">
              <a:solidFill>
                <a:schemeClr val="tx1"/>
              </a:solidFill>
            </a:endParaRPr>
          </a:p>
          <a:p>
            <a:r>
              <a:rPr lang="ko-KR" altLang="en-US" dirty="0" err="1" smtClean="0"/>
              <a:t>슬레이브</a:t>
            </a:r>
            <a:r>
              <a:rPr lang="ko-KR" altLang="en-US" dirty="0" smtClean="0"/>
              <a:t> 모드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인터럽트 기반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b="0" dirty="0" smtClean="0">
                <a:solidFill>
                  <a:schemeClr val="tx1"/>
                </a:solidFill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</a:rPr>
              <a:t>송신 </a:t>
            </a:r>
            <a:r>
              <a:rPr lang="en-US" altLang="ko-KR" b="0" dirty="0" smtClean="0">
                <a:solidFill>
                  <a:schemeClr val="tx1"/>
                </a:solidFill>
              </a:rPr>
              <a:t>: </a:t>
            </a:r>
            <a:r>
              <a:rPr lang="en-US" altLang="ko-KR" b="0" dirty="0" err="1" smtClean="0">
                <a:solidFill>
                  <a:schemeClr val="tx1"/>
                </a:solidFill>
              </a:rPr>
              <a:t>onRequest</a:t>
            </a:r>
            <a:r>
              <a:rPr lang="en-US" altLang="ko-KR" b="0" dirty="0">
                <a:solidFill>
                  <a:schemeClr val="tx1"/>
                </a:solidFill>
              </a:rPr>
              <a:t/>
            </a:r>
            <a:br>
              <a:rPr lang="en-US" altLang="ko-KR" b="0" dirty="0">
                <a:solidFill>
                  <a:schemeClr val="tx1"/>
                </a:solidFill>
              </a:rPr>
            </a:br>
            <a:r>
              <a:rPr lang="en-US" altLang="ko-KR" b="0" dirty="0" smtClean="0">
                <a:solidFill>
                  <a:schemeClr val="tx1"/>
                </a:solidFill>
              </a:rPr>
              <a:t>- </a:t>
            </a:r>
            <a:r>
              <a:rPr lang="ko-KR" altLang="en-US" b="0" dirty="0" smtClean="0">
                <a:solidFill>
                  <a:schemeClr val="tx1"/>
                </a:solidFill>
              </a:rPr>
              <a:t>수신</a:t>
            </a:r>
            <a:r>
              <a:rPr lang="en-US" altLang="ko-KR" b="0" dirty="0" smtClean="0">
                <a:solidFill>
                  <a:schemeClr val="tx1"/>
                </a:solidFill>
              </a:rPr>
              <a:t> : </a:t>
            </a:r>
            <a:r>
              <a:rPr lang="en-US" altLang="ko-KR" b="0" dirty="0" err="1" smtClean="0">
                <a:solidFill>
                  <a:schemeClr val="tx1"/>
                </a:solidFill>
              </a:rPr>
              <a:t>onReceive</a:t>
            </a:r>
            <a:endParaRPr lang="en-US" altLang="ko-KR" b="0" dirty="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49289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27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I2C </a:t>
            </a:r>
            <a:r>
              <a:rPr lang="ko-KR" altLang="en-US" dirty="0" smtClean="0"/>
              <a:t>통신을 위한 연결</a:t>
            </a:r>
            <a:endParaRPr lang="ko-KR" altLang="en-US" dirty="0"/>
          </a:p>
        </p:txBody>
      </p:sp>
      <p:pic>
        <p:nvPicPr>
          <p:cNvPr id="5" name="내용 개체 틀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59" y="1802095"/>
            <a:ext cx="7488832" cy="341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6502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28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Wire </a:t>
            </a:r>
            <a:r>
              <a:rPr lang="ko-KR" altLang="en-US" dirty="0" smtClean="0"/>
              <a:t>라이브러리 함수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2314" y="4065376"/>
            <a:ext cx="6200000" cy="1661333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6981" y="2793387"/>
            <a:ext cx="6184000" cy="1077333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3648" y="1497243"/>
            <a:ext cx="6197333" cy="10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47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Wire </a:t>
            </a:r>
            <a:r>
              <a:rPr lang="ko-KR" altLang="en-US" dirty="0" smtClean="0"/>
              <a:t>라이브러리 함수 </a:t>
            </a:r>
            <a:r>
              <a:rPr lang="en-US" altLang="ko-KR" dirty="0" smtClean="0"/>
              <a:t>- </a:t>
            </a:r>
            <a:r>
              <a:rPr lang="ko-KR" altLang="en-US" dirty="0" smtClean="0"/>
              <a:t>마스터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303123"/>
            <a:ext cx="6184000" cy="126666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7656" y="2678562"/>
            <a:ext cx="6192000" cy="1456000"/>
          </a:xfrm>
          <a:prstGeom prst="rect">
            <a:avLst/>
          </a:prstGeom>
        </p:spPr>
      </p:pic>
      <p:pic>
        <p:nvPicPr>
          <p:cNvPr id="11" name="그림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4323" y="4243334"/>
            <a:ext cx="6205333" cy="1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0479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="" xmlns:a16="http://schemas.microsoft.com/office/drawing/2014/main" id="{22EF267F-43E5-4189-81C8-C4DDB15F2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="" xmlns:a16="http://schemas.microsoft.com/office/drawing/2014/main" id="{AE999AE6-4AC9-4366-B30C-DF6B0C79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Wire </a:t>
            </a:r>
            <a:r>
              <a:rPr lang="ko-KR" altLang="en-US" dirty="0" smtClean="0"/>
              <a:t>라이브러리 함수 </a:t>
            </a:r>
            <a:r>
              <a:rPr lang="en-US" altLang="ko-KR" dirty="0" smtClean="0"/>
              <a:t>- </a:t>
            </a:r>
            <a:r>
              <a:rPr lang="ko-KR" altLang="en-US" dirty="0" err="1" smtClean="0"/>
              <a:t>슬레이브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656" y="1700742"/>
            <a:ext cx="6197333" cy="1066667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656" y="2944640"/>
            <a:ext cx="620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73219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	</a:t>
            </a:r>
            <a:r>
              <a:rPr lang="en-US" altLang="ko-KR" dirty="0" smtClean="0"/>
              <a:t>I2C </a:t>
            </a:r>
            <a:r>
              <a:rPr lang="ko-KR" altLang="en-US" dirty="0" smtClean="0"/>
              <a:t>통신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97B2DE0-1A44-4C02-8B54-020652419A9C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 dirty="0"/>
              <a:t>실험 순서</a:t>
            </a:r>
            <a:endParaRPr lang="en-US" altLang="ko-KR" dirty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메가 </a:t>
            </a:r>
            <a:r>
              <a:rPr lang="en-US" altLang="ko-KR" dirty="0" smtClean="0"/>
              <a:t>2560(</a:t>
            </a:r>
            <a:r>
              <a:rPr lang="ko-KR" altLang="en-US" dirty="0" smtClean="0"/>
              <a:t>마스터</a:t>
            </a:r>
            <a:r>
              <a:rPr lang="en-US" altLang="ko-KR" dirty="0" smtClean="0"/>
              <a:t>) </a:t>
            </a:r>
            <a:r>
              <a:rPr lang="ko-KR" altLang="en-US" dirty="0" smtClean="0"/>
              <a:t>메가</a:t>
            </a:r>
            <a:r>
              <a:rPr lang="en-US" altLang="ko-KR" dirty="0" smtClean="0"/>
              <a:t>2560(</a:t>
            </a:r>
            <a:r>
              <a:rPr lang="ko-KR" altLang="en-US" dirty="0" err="1" smtClean="0"/>
              <a:t>슬레이브</a:t>
            </a:r>
            <a:r>
              <a:rPr lang="en-US" altLang="ko-KR" dirty="0" smtClean="0"/>
              <a:t>) I2C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/>
              <a:t>마스터에서 </a:t>
            </a:r>
            <a:r>
              <a:rPr lang="ko-KR" altLang="en-US" dirty="0" err="1" smtClean="0"/>
              <a:t>가변저항값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슬레이브로</a:t>
            </a:r>
            <a:r>
              <a:rPr lang="ko-KR" altLang="en-US" dirty="0" smtClean="0"/>
              <a:t> 보내기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err="1" smtClean="0"/>
              <a:t>슬레이브에서</a:t>
            </a:r>
            <a:r>
              <a:rPr lang="ko-KR" altLang="en-US" dirty="0" smtClean="0"/>
              <a:t> 마스터로부터 수신된 데이터 출력</a:t>
            </a:r>
            <a:endParaRPr lang="en-US" altLang="ko-KR" dirty="0" smtClean="0"/>
          </a:p>
          <a:p>
            <a:pPr marL="457200" indent="-457200">
              <a:buFont typeface="+mj-ea"/>
              <a:buAutoNum type="circleNumDbPlain"/>
            </a:pPr>
            <a:r>
              <a:rPr lang="ko-KR" altLang="en-US" dirty="0" smtClean="0"/>
              <a:t>실행 결과 확인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5" name="AutoShape 4">
            <a:extLst>
              <a:ext uri="{FF2B5EF4-FFF2-40B4-BE49-F238E27FC236}">
                <a16:creationId xmlns="" xmlns:a16="http://schemas.microsoft.com/office/drawing/2014/main" id="{AC7C824B-D81B-4F77-8D09-BE3BDA1B1A4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accent2">
                  <a:lumMod val="75000"/>
                </a:schemeClr>
              </a:gs>
              <a:gs pos="100000">
                <a:schemeClr val="accent2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Lab.10-2</a:t>
            </a:r>
            <a:endParaRPr lang="ko-KR" altLang="en-US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179441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57179" y="147083"/>
            <a:ext cx="8786688" cy="614218"/>
          </a:xfrm>
        </p:spPr>
        <p:txBody>
          <a:bodyPr/>
          <a:lstStyle/>
          <a:p>
            <a:r>
              <a:rPr lang="en-US" altLang="ko-KR" dirty="0" smtClean="0"/>
              <a:t>①</a:t>
            </a:r>
            <a:r>
              <a:rPr lang="ko-KR" altLang="en-US" dirty="0" smtClean="0"/>
              <a:t> </a:t>
            </a:r>
            <a:r>
              <a:rPr lang="ko-KR" altLang="en-US" dirty="0"/>
              <a:t>메가 </a:t>
            </a:r>
            <a:r>
              <a:rPr lang="en-US" altLang="ko-KR" dirty="0"/>
              <a:t>2560(</a:t>
            </a:r>
            <a:r>
              <a:rPr lang="ko-KR" altLang="en-US" dirty="0"/>
              <a:t>마스터</a:t>
            </a:r>
            <a:r>
              <a:rPr lang="en-US" altLang="ko-KR" dirty="0"/>
              <a:t>) </a:t>
            </a:r>
            <a:r>
              <a:rPr lang="ko-KR" altLang="en-US" dirty="0"/>
              <a:t>메가</a:t>
            </a:r>
            <a:r>
              <a:rPr lang="en-US" altLang="ko-KR" dirty="0"/>
              <a:t>2560(</a:t>
            </a:r>
            <a:r>
              <a:rPr lang="ko-KR" altLang="en-US" dirty="0" err="1"/>
              <a:t>슬레이브</a:t>
            </a:r>
            <a:r>
              <a:rPr lang="en-US" altLang="ko-KR" dirty="0"/>
              <a:t>) </a:t>
            </a:r>
            <a:r>
              <a:rPr lang="en-US" altLang="ko-KR" dirty="0" smtClean="0"/>
              <a:t>I2C </a:t>
            </a:r>
            <a:r>
              <a:rPr lang="ko-KR" altLang="en-US" dirty="0" smtClean="0"/>
              <a:t>연결</a:t>
            </a:r>
            <a:endParaRPr lang="ko-KR" altLang="en-US" dirty="0"/>
          </a:p>
        </p:txBody>
      </p:sp>
      <p:sp>
        <p:nvSpPr>
          <p:cNvPr id="12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2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Lab.10-3</a:t>
            </a:r>
            <a:endParaRPr lang="ko-KR" altLang="en-US" sz="12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0" name="그룹 29"/>
          <p:cNvGrpSpPr/>
          <p:nvPr/>
        </p:nvGrpSpPr>
        <p:grpSpPr>
          <a:xfrm>
            <a:off x="709711" y="1459702"/>
            <a:ext cx="6588396" cy="4780589"/>
            <a:chOff x="709711" y="1459702"/>
            <a:chExt cx="6588396" cy="4780589"/>
          </a:xfrm>
        </p:grpSpPr>
        <p:sp>
          <p:nvSpPr>
            <p:cNvPr id="3" name="직사각형 2"/>
            <p:cNvSpPr/>
            <p:nvPr/>
          </p:nvSpPr>
          <p:spPr>
            <a:xfrm>
              <a:off x="3922518" y="1692067"/>
              <a:ext cx="3375589" cy="42216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181425" y="1459702"/>
              <a:ext cx="2001150" cy="4053815"/>
            </a:xfrm>
            <a:prstGeom prst="rect">
              <a:avLst/>
            </a:prstGeom>
          </p:spPr>
        </p:pic>
        <p:pic>
          <p:nvPicPr>
            <p:cNvPr id="8" name="내용 개체 틀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9711" y="1483790"/>
              <a:ext cx="2945352" cy="4005641"/>
            </a:xfrm>
            <a:prstGeom prst="rect">
              <a:avLst/>
            </a:prstGeom>
          </p:spPr>
        </p:pic>
        <p:sp>
          <p:nvSpPr>
            <p:cNvPr id="4" name="TextBox 3"/>
            <p:cNvSpPr txBox="1"/>
            <p:nvPr/>
          </p:nvSpPr>
          <p:spPr>
            <a:xfrm>
              <a:off x="3134872" y="5870959"/>
              <a:ext cx="25737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 smtClean="0"/>
                <a:t>D21 (SCL) D20 (SDA)</a:t>
              </a:r>
              <a:endParaRPr lang="ko-KR" altLang="en-US" dirty="0"/>
            </a:p>
          </p:txBody>
        </p:sp>
        <p:cxnSp>
          <p:nvCxnSpPr>
            <p:cNvPr id="6" name="직선 연결선 5"/>
            <p:cNvCxnSpPr/>
            <p:nvPr/>
          </p:nvCxnSpPr>
          <p:spPr>
            <a:xfrm>
              <a:off x="3503776" y="4913832"/>
              <a:ext cx="3589233" cy="17091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" name="직선 연결선 10"/>
            <p:cNvCxnSpPr/>
            <p:nvPr/>
          </p:nvCxnSpPr>
          <p:spPr>
            <a:xfrm>
              <a:off x="3503775" y="4814742"/>
              <a:ext cx="3589233" cy="0"/>
            </a:xfrm>
            <a:prstGeom prst="line">
              <a:avLst/>
            </a:prstGeom>
            <a:ln w="38100">
              <a:solidFill>
                <a:schemeClr val="accent6"/>
              </a:solidFill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" name="직선 연결선 9"/>
            <p:cNvCxnSpPr/>
            <p:nvPr/>
          </p:nvCxnSpPr>
          <p:spPr>
            <a:xfrm>
              <a:off x="3503775" y="2717563"/>
              <a:ext cx="3589233" cy="8545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/>
            <p:cNvCxnSpPr/>
            <p:nvPr/>
          </p:nvCxnSpPr>
          <p:spPr>
            <a:xfrm>
              <a:off x="3503775" y="5264210"/>
              <a:ext cx="3589233" cy="8545"/>
            </a:xfrm>
            <a:prstGeom prst="line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연결선 26"/>
            <p:cNvCxnSpPr>
              <a:stCxn id="19" idx="1"/>
              <a:endCxn id="19" idx="3"/>
            </p:cNvCxnSpPr>
            <p:nvPr/>
          </p:nvCxnSpPr>
          <p:spPr>
            <a:xfrm>
              <a:off x="4523179" y="4888878"/>
              <a:ext cx="0" cy="413463"/>
            </a:xfrm>
            <a:prstGeom prst="line">
              <a:avLst/>
            </a:prstGeom>
            <a:ln w="28575">
              <a:solidFill>
                <a:srgbClr val="9090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9" name="Picture 2" descr="ê´ë ¨ ì´ë¯¸ì§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4316448" y="4888878"/>
              <a:ext cx="413463" cy="413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직선 연결선 20"/>
            <p:cNvCxnSpPr/>
            <p:nvPr/>
          </p:nvCxnSpPr>
          <p:spPr>
            <a:xfrm>
              <a:off x="4090691" y="4806884"/>
              <a:ext cx="0" cy="457326"/>
            </a:xfrm>
            <a:prstGeom prst="line">
              <a:avLst/>
            </a:prstGeom>
            <a:ln w="28575">
              <a:solidFill>
                <a:srgbClr val="90909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" name="Picture 2" descr="ê´ë ¨ ì´ë¯¸ì§"/>
            <p:cNvPicPr>
              <a:picLocks noChangeAspect="1"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5400000">
              <a:off x="3880819" y="4840376"/>
              <a:ext cx="413463" cy="4134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59948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07223" y="966127"/>
            <a:ext cx="7736276" cy="545942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200" dirty="0">
                <a:latin typeface="Consolas" panose="020B0609020204030204" pitchFamily="49" charset="0"/>
              </a:rPr>
              <a:t>#include &lt;</a:t>
            </a:r>
            <a:r>
              <a:rPr lang="en-US" altLang="ko-KR" sz="1200" dirty="0" err="1">
                <a:latin typeface="Consolas" panose="020B0609020204030204" pitchFamily="49" charset="0"/>
              </a:rPr>
              <a:t>Wire.h</a:t>
            </a:r>
            <a:r>
              <a:rPr lang="en-US" altLang="ko-KR" sz="1200" dirty="0">
                <a:latin typeface="Consolas" panose="020B0609020204030204" pitchFamily="49" charset="0"/>
              </a:rPr>
              <a:t>&gt;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#define SLAVE 4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setup() {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// I2C </a:t>
            </a:r>
            <a:r>
              <a:rPr lang="ko-KR" altLang="en-US" sz="1200" dirty="0">
                <a:latin typeface="Consolas" panose="020B0609020204030204" pitchFamily="49" charset="0"/>
              </a:rPr>
              <a:t>통신을 위한 </a:t>
            </a:r>
            <a:r>
              <a:rPr lang="en-US" altLang="ko-KR" sz="1200" dirty="0">
                <a:latin typeface="Consolas" panose="020B0609020204030204" pitchFamily="49" charset="0"/>
              </a:rPr>
              <a:t>Wire </a:t>
            </a:r>
            <a:r>
              <a:rPr lang="ko-KR" altLang="en-US" sz="1200" dirty="0">
                <a:latin typeface="Consolas" panose="020B0609020204030204" pitchFamily="49" charset="0"/>
              </a:rPr>
              <a:t>라이브러리 초기화</a:t>
            </a:r>
            <a:r>
              <a:rPr lang="en-US" altLang="ko-KR" sz="1200" dirty="0">
                <a:latin typeface="Consolas" panose="020B0609020204030204" pitchFamily="49" charset="0"/>
              </a:rPr>
              <a:t>, </a:t>
            </a:r>
            <a:r>
              <a:rPr lang="ko-KR" altLang="en-US" sz="1200" dirty="0">
                <a:latin typeface="Consolas" panose="020B0609020204030204" pitchFamily="49" charset="0"/>
              </a:rPr>
              <a:t>마스터로 참여하는 경우 주소 불필요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Wire.begin</a:t>
            </a:r>
            <a:r>
              <a:rPr lang="en-US" altLang="ko-KR" sz="1200" dirty="0"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200" dirty="0">
                <a:latin typeface="Consolas" panose="020B0609020204030204" pitchFamily="49" charset="0"/>
              </a:rPr>
              <a:t>(9600);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void loop() 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i2c_communication();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delay(1000);//1</a:t>
            </a:r>
            <a:r>
              <a:rPr lang="ko-KR" altLang="en-US" sz="1200" dirty="0">
                <a:latin typeface="Consolas" panose="020B0609020204030204" pitchFamily="49" charset="0"/>
              </a:rPr>
              <a:t>초 대기 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i2c_communication(){    // </a:t>
            </a:r>
            <a:r>
              <a:rPr lang="ko-KR" altLang="en-US" sz="1200" dirty="0" err="1">
                <a:latin typeface="Consolas" panose="020B0609020204030204" pitchFamily="49" charset="0"/>
              </a:rPr>
              <a:t>슬레이브로</a:t>
            </a:r>
            <a:r>
              <a:rPr lang="ko-KR" altLang="en-US" sz="1200" dirty="0">
                <a:latin typeface="Consolas" panose="020B0609020204030204" pitchFamily="49" charset="0"/>
              </a:rPr>
              <a:t> 데이터 전송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reading = </a:t>
            </a:r>
            <a:r>
              <a:rPr lang="en-US" altLang="ko-KR" sz="1200" dirty="0" err="1">
                <a:latin typeface="Consolas" panose="020B0609020204030204" pitchFamily="49" charset="0"/>
              </a:rPr>
              <a:t>analogRead</a:t>
            </a:r>
            <a:r>
              <a:rPr lang="en-US" altLang="ko-KR" sz="1200" dirty="0">
                <a:latin typeface="Consolas" panose="020B0609020204030204" pitchFamily="49" charset="0"/>
              </a:rPr>
              <a:t>(A0); 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Wire.beginTransmission</a:t>
            </a:r>
            <a:r>
              <a:rPr lang="en-US" altLang="ko-KR" sz="1200" dirty="0">
                <a:latin typeface="Consolas" panose="020B0609020204030204" pitchFamily="49" charset="0"/>
              </a:rPr>
              <a:t>(SLAVE);  // </a:t>
            </a:r>
            <a:r>
              <a:rPr lang="ko-KR" altLang="en-US" sz="1200" dirty="0">
                <a:latin typeface="Consolas" panose="020B0609020204030204" pitchFamily="49" charset="0"/>
              </a:rPr>
              <a:t>전송 시작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Wire.write</a:t>
            </a:r>
            <a:r>
              <a:rPr lang="en-US" altLang="ko-KR" sz="1200" dirty="0">
                <a:latin typeface="Consolas" panose="020B0609020204030204" pitchFamily="49" charset="0"/>
              </a:rPr>
              <a:t>(reading &gt;&gt; 8);    // </a:t>
            </a:r>
            <a:r>
              <a:rPr lang="ko-KR" altLang="en-US" sz="1200" dirty="0">
                <a:latin typeface="Consolas" panose="020B0609020204030204" pitchFamily="49" charset="0"/>
              </a:rPr>
              <a:t>버퍼에 쓰기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Wire.write</a:t>
            </a:r>
            <a:r>
              <a:rPr lang="en-US" altLang="ko-KR" sz="1200" dirty="0">
                <a:latin typeface="Consolas" panose="020B0609020204030204" pitchFamily="49" charset="0"/>
              </a:rPr>
              <a:t>(reading &amp; 0xFF);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Wire.endTransmission</a:t>
            </a:r>
            <a:r>
              <a:rPr lang="en-US" altLang="ko-KR" sz="1200" dirty="0">
                <a:latin typeface="Consolas" panose="020B0609020204030204" pitchFamily="49" charset="0"/>
              </a:rPr>
              <a:t>(SLAVE);    // </a:t>
            </a:r>
            <a:r>
              <a:rPr lang="ko-KR" altLang="en-US" sz="1200" dirty="0">
                <a:latin typeface="Consolas" panose="020B0609020204030204" pitchFamily="49" charset="0"/>
              </a:rPr>
              <a:t>실제 데이터 전송</a:t>
            </a:r>
          </a:p>
          <a:p>
            <a:endParaRPr lang="ko-KR" altLang="en-US" sz="1200" dirty="0">
              <a:latin typeface="Consolas" panose="020B0609020204030204" pitchFamily="49" charset="0"/>
            </a:endParaRPr>
          </a:p>
          <a:p>
            <a:r>
              <a:rPr lang="ko-KR" altLang="en-US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Serial.print</a:t>
            </a:r>
            <a:r>
              <a:rPr lang="en-US" altLang="ko-KR" sz="1200" dirty="0">
                <a:latin typeface="Consolas" panose="020B0609020204030204" pitchFamily="49" charset="0"/>
              </a:rPr>
              <a:t>("I send");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200" dirty="0">
                <a:latin typeface="Consolas" panose="020B0609020204030204" pitchFamily="49" charset="0"/>
              </a:rPr>
              <a:t>(reading);    // </a:t>
            </a:r>
            <a:r>
              <a:rPr lang="ko-KR" altLang="en-US" sz="1200" dirty="0">
                <a:latin typeface="Consolas" panose="020B0609020204030204" pitchFamily="49" charset="0"/>
              </a:rPr>
              <a:t>송신 데이터 출력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/>
              <a:t> </a:t>
            </a:r>
            <a:r>
              <a:rPr lang="ko-KR" altLang="en-US" dirty="0" smtClean="0"/>
              <a:t>② </a:t>
            </a:r>
            <a:r>
              <a:rPr lang="ko-KR" altLang="en-US" dirty="0"/>
              <a:t>마스터에서 </a:t>
            </a:r>
            <a:r>
              <a:rPr lang="ko-KR" altLang="en-US" dirty="0" err="1"/>
              <a:t>가변저항값</a:t>
            </a:r>
            <a:r>
              <a:rPr lang="ko-KR" altLang="en-US" dirty="0"/>
              <a:t> </a:t>
            </a:r>
            <a:r>
              <a:rPr lang="ko-KR" altLang="en-US" dirty="0" err="1"/>
              <a:t>슬레이브로</a:t>
            </a:r>
            <a:r>
              <a:rPr lang="ko-KR" altLang="en-US" dirty="0"/>
              <a:t> 보내기</a:t>
            </a:r>
            <a:endParaRPr lang="en-US" altLang="ko-KR" dirty="0"/>
          </a:p>
        </p:txBody>
      </p:sp>
      <p:sp>
        <p:nvSpPr>
          <p:cNvPr id="10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Lab.10-3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한쪽 모서리가 잘린 사각형 11"/>
          <p:cNvSpPr/>
          <p:nvPr/>
        </p:nvSpPr>
        <p:spPr>
          <a:xfrm>
            <a:off x="5806892" y="5888822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21-4, </a:t>
            </a:r>
            <a:r>
              <a:rPr lang="en-US" altLang="ko-KR" sz="1400" dirty="0"/>
              <a:t>Textbook pp. </a:t>
            </a:r>
            <a:r>
              <a:rPr lang="en-US" altLang="ko-KR" sz="1400" dirty="0" smtClean="0"/>
              <a:t>369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1097003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907223" y="966127"/>
            <a:ext cx="7736276" cy="533934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r>
              <a:rPr lang="en-US" altLang="ko-KR" sz="1200" dirty="0">
                <a:latin typeface="Consolas" panose="020B0609020204030204" pitchFamily="49" charset="0"/>
              </a:rPr>
              <a:t>#include &lt;</a:t>
            </a:r>
            <a:r>
              <a:rPr lang="en-US" altLang="ko-KR" sz="1200" dirty="0" err="1">
                <a:latin typeface="Consolas" panose="020B0609020204030204" pitchFamily="49" charset="0"/>
              </a:rPr>
              <a:t>Wire.h</a:t>
            </a:r>
            <a:r>
              <a:rPr lang="en-US" altLang="ko-KR" sz="1200" dirty="0">
                <a:latin typeface="Consolas" panose="020B0609020204030204" pitchFamily="49" charset="0"/>
              </a:rPr>
              <a:t>&gt;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#define SLAVE 4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void setup() {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//Wire </a:t>
            </a:r>
            <a:r>
              <a:rPr lang="ko-KR" altLang="en-US" sz="1200" dirty="0">
                <a:latin typeface="Consolas" panose="020B0609020204030204" pitchFamily="49" charset="0"/>
              </a:rPr>
              <a:t>라이브러리 초기화</a:t>
            </a:r>
            <a:r>
              <a:rPr lang="en-US" altLang="ko-KR" sz="1200" dirty="0">
                <a:latin typeface="Consolas" panose="020B0609020204030204" pitchFamily="49" charset="0"/>
              </a:rPr>
              <a:t>, </a:t>
            </a:r>
            <a:r>
              <a:rPr lang="ko-KR" altLang="en-US" sz="1200" dirty="0" err="1">
                <a:latin typeface="Consolas" panose="020B0609020204030204" pitchFamily="49" charset="0"/>
              </a:rPr>
              <a:t>슬레이브로</a:t>
            </a:r>
            <a:r>
              <a:rPr lang="ko-KR" altLang="en-US" sz="1200" dirty="0">
                <a:latin typeface="Consolas" panose="020B0609020204030204" pitchFamily="49" charset="0"/>
              </a:rPr>
              <a:t> 참여하기 위해서는 주소를 지정해야 한다</a:t>
            </a:r>
            <a:r>
              <a:rPr lang="en-US" altLang="ko-KR" sz="1200" dirty="0">
                <a:latin typeface="Consolas" panose="020B0609020204030204" pitchFamily="49" charset="0"/>
              </a:rPr>
              <a:t>.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Wire.begin</a:t>
            </a:r>
            <a:r>
              <a:rPr lang="en-US" altLang="ko-KR" sz="1200" dirty="0">
                <a:latin typeface="Consolas" panose="020B0609020204030204" pitchFamily="49" charset="0"/>
              </a:rPr>
              <a:t>(SLAVE);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//</a:t>
            </a:r>
            <a:r>
              <a:rPr lang="ko-KR" altLang="en-US" sz="1200" dirty="0">
                <a:latin typeface="Consolas" panose="020B0609020204030204" pitchFamily="49" charset="0"/>
              </a:rPr>
              <a:t>마스터의 </a:t>
            </a:r>
            <a:r>
              <a:rPr lang="ko-KR" altLang="en-US" sz="1200" dirty="0" smtClean="0">
                <a:latin typeface="Consolas" panose="020B0609020204030204" pitchFamily="49" charset="0"/>
              </a:rPr>
              <a:t>데이터를 수신했을 때 </a:t>
            </a:r>
            <a:r>
              <a:rPr lang="ko-KR" altLang="en-US" sz="1200" dirty="0">
                <a:latin typeface="Consolas" panose="020B0609020204030204" pitchFamily="49" charset="0"/>
              </a:rPr>
              <a:t>처리할 함수 등록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Wire.onReceive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receiveFromMaster</a:t>
            </a:r>
            <a:r>
              <a:rPr lang="en-US" altLang="ko-KR" sz="1200" dirty="0">
                <a:latin typeface="Consolas" panose="020B0609020204030204" pitchFamily="49" charset="0"/>
              </a:rPr>
              <a:t>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Serial.begin</a:t>
            </a:r>
            <a:r>
              <a:rPr lang="en-US" altLang="ko-KR" sz="1200" dirty="0">
                <a:latin typeface="Consolas" panose="020B0609020204030204" pitchFamily="49" charset="0"/>
              </a:rPr>
              <a:t>(9600);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void loop(){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void </a:t>
            </a:r>
            <a:r>
              <a:rPr lang="en-US" altLang="ko-KR" sz="1200" dirty="0" err="1">
                <a:latin typeface="Consolas" panose="020B0609020204030204" pitchFamily="49" charset="0"/>
              </a:rPr>
              <a:t>receiveFromMaster</a:t>
            </a:r>
            <a:r>
              <a:rPr lang="en-US" altLang="ko-KR" sz="1200" dirty="0">
                <a:latin typeface="Consolas" panose="020B0609020204030204" pitchFamily="49" charset="0"/>
              </a:rPr>
              <a:t>(</a:t>
            </a:r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bytes){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byte r1 = </a:t>
            </a:r>
            <a:r>
              <a:rPr lang="en-US" altLang="ko-KR" sz="1200" dirty="0" err="1">
                <a:latin typeface="Consolas" panose="020B0609020204030204" pitchFamily="49" charset="0"/>
              </a:rPr>
              <a:t>Wire.read</a:t>
            </a:r>
            <a:r>
              <a:rPr lang="en-US" altLang="ko-KR" sz="1200" dirty="0">
                <a:latin typeface="Consolas" panose="020B0609020204030204" pitchFamily="49" charset="0"/>
              </a:rPr>
              <a:t>();              //2</a:t>
            </a:r>
            <a:r>
              <a:rPr lang="ko-KR" altLang="en-US" sz="1200" dirty="0">
                <a:latin typeface="Consolas" panose="020B0609020204030204" pitchFamily="49" charset="0"/>
              </a:rPr>
              <a:t>바이트 </a:t>
            </a:r>
            <a:r>
              <a:rPr lang="ko-KR" altLang="en-US" sz="1200" dirty="0" err="1">
                <a:latin typeface="Consolas" panose="020B0609020204030204" pitchFamily="49" charset="0"/>
              </a:rPr>
              <a:t>정수값</a:t>
            </a:r>
            <a:r>
              <a:rPr lang="ko-KR" altLang="en-US" sz="1200" dirty="0">
                <a:latin typeface="Consolas" panose="020B0609020204030204" pitchFamily="49" charset="0"/>
              </a:rPr>
              <a:t> 읽기</a:t>
            </a:r>
          </a:p>
          <a:p>
            <a:r>
              <a:rPr lang="ko-KR" altLang="en-US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>
                <a:latin typeface="Consolas" panose="020B0609020204030204" pitchFamily="49" charset="0"/>
              </a:rPr>
              <a:t>byte r2 = </a:t>
            </a:r>
            <a:r>
              <a:rPr lang="en-US" altLang="ko-KR" sz="1200" dirty="0" err="1">
                <a:latin typeface="Consolas" panose="020B0609020204030204" pitchFamily="49" charset="0"/>
              </a:rPr>
              <a:t>Wire.read</a:t>
            </a:r>
            <a:r>
              <a:rPr lang="en-US" altLang="ko-KR" sz="1200" dirty="0">
                <a:latin typeface="Consolas" panose="020B0609020204030204" pitchFamily="49" charset="0"/>
              </a:rPr>
              <a:t>();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int</a:t>
            </a:r>
            <a:r>
              <a:rPr lang="en-US" altLang="ko-KR" sz="1200" dirty="0">
                <a:latin typeface="Consolas" panose="020B0609020204030204" pitchFamily="49" charset="0"/>
              </a:rPr>
              <a:t> value = (r1 &lt;&lt; 8) + r2;</a:t>
            </a:r>
          </a:p>
          <a:p>
            <a:endParaRPr lang="en-US" altLang="ko-KR" sz="1200" dirty="0">
              <a:latin typeface="Consolas" panose="020B0609020204030204" pitchFamily="49" charset="0"/>
            </a:endParaRP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Serial.print</a:t>
            </a:r>
            <a:r>
              <a:rPr lang="en-US" altLang="ko-KR" sz="1200" dirty="0">
                <a:latin typeface="Consolas" panose="020B0609020204030204" pitchFamily="49" charset="0"/>
              </a:rPr>
              <a:t>("I got");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  </a:t>
            </a:r>
            <a:r>
              <a:rPr lang="en-US" altLang="ko-KR" sz="1200" dirty="0" err="1">
                <a:latin typeface="Consolas" panose="020B0609020204030204" pitchFamily="49" charset="0"/>
              </a:rPr>
              <a:t>Serial.println</a:t>
            </a:r>
            <a:r>
              <a:rPr lang="en-US" altLang="ko-KR" sz="1200" dirty="0">
                <a:latin typeface="Consolas" panose="020B0609020204030204" pitchFamily="49" charset="0"/>
              </a:rPr>
              <a:t>(value);</a:t>
            </a:r>
          </a:p>
          <a:p>
            <a:r>
              <a:rPr lang="en-US" altLang="ko-KR" sz="12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-38431" y="168769"/>
            <a:ext cx="9220862" cy="614218"/>
          </a:xfrm>
        </p:spPr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/>
              <a:t> </a:t>
            </a:r>
            <a:r>
              <a:rPr lang="en-US" altLang="ko-KR" dirty="0" smtClean="0"/>
              <a:t>③</a:t>
            </a:r>
            <a:r>
              <a:rPr lang="ko-KR" altLang="en-US" dirty="0" smtClean="0"/>
              <a:t> </a:t>
            </a:r>
            <a:r>
              <a:rPr lang="ko-KR" altLang="en-US" dirty="0" err="1"/>
              <a:t>슬레이브에서</a:t>
            </a:r>
            <a:r>
              <a:rPr lang="ko-KR" altLang="en-US" dirty="0"/>
              <a:t> 마스터로부터 수신된 데이터 </a:t>
            </a:r>
            <a:r>
              <a:rPr lang="ko-KR" altLang="en-US" dirty="0" smtClean="0"/>
              <a:t>출력</a:t>
            </a:r>
            <a:endParaRPr lang="en-US" altLang="ko-KR" dirty="0"/>
          </a:p>
        </p:txBody>
      </p:sp>
      <p:sp>
        <p:nvSpPr>
          <p:cNvPr id="10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Lab.10-3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12" name="한쪽 모서리가 잘린 사각형 11"/>
          <p:cNvSpPr/>
          <p:nvPr/>
        </p:nvSpPr>
        <p:spPr>
          <a:xfrm>
            <a:off x="5806892" y="5658086"/>
            <a:ext cx="2836607" cy="416646"/>
          </a:xfrm>
          <a:prstGeom prst="snip1Rect">
            <a:avLst/>
          </a:prstGeom>
          <a:solidFill>
            <a:schemeClr val="bg1">
              <a:lumMod val="95000"/>
            </a:schemeClr>
          </a:solidFill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ko-KR" sz="1400" dirty="0"/>
              <a:t>Sketch </a:t>
            </a:r>
            <a:r>
              <a:rPr lang="en-US" altLang="ko-KR" sz="1400" dirty="0" smtClean="0"/>
              <a:t>21-3, </a:t>
            </a:r>
            <a:r>
              <a:rPr lang="en-US" altLang="ko-KR" sz="1400" dirty="0"/>
              <a:t>Textbook pp. </a:t>
            </a:r>
            <a:r>
              <a:rPr lang="en-US" altLang="ko-KR" sz="1400" dirty="0" smtClean="0"/>
              <a:t>368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747504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512" y="180108"/>
            <a:ext cx="9058492" cy="614218"/>
          </a:xfrm>
        </p:spPr>
        <p:txBody>
          <a:bodyPr/>
          <a:lstStyle/>
          <a:p>
            <a:r>
              <a:rPr lang="en-US" altLang="ko-KR" dirty="0"/>
              <a:t>	 ④</a:t>
            </a:r>
            <a:r>
              <a:rPr lang="ko-KR" altLang="en-US" dirty="0" smtClean="0"/>
              <a:t> 실행결과 확인</a:t>
            </a:r>
            <a:endParaRPr lang="en-US" altLang="ko-KR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작성한 </a:t>
            </a:r>
            <a:r>
              <a:rPr lang="en-US" altLang="ko-KR" dirty="0"/>
              <a:t>2</a:t>
            </a:r>
            <a:r>
              <a:rPr lang="ko-KR" altLang="en-US" dirty="0" smtClean="0"/>
              <a:t>개의 </a:t>
            </a:r>
            <a:r>
              <a:rPr lang="en-US" altLang="ko-KR" dirty="0" smtClean="0"/>
              <a:t>Sketch</a:t>
            </a:r>
            <a:r>
              <a:rPr lang="ko-KR" altLang="en-US" dirty="0" smtClean="0"/>
              <a:t> 편집 창을 보여라</a:t>
            </a:r>
            <a:endParaRPr lang="en-US" altLang="ko-KR" dirty="0" smtClean="0"/>
          </a:p>
          <a:p>
            <a:pPr marL="457200" indent="-457200">
              <a:buFont typeface="+mj-lt"/>
              <a:buAutoNum type="arabicPeriod"/>
            </a:pPr>
            <a:r>
              <a:rPr lang="en-US" altLang="ko-KR" dirty="0" smtClean="0"/>
              <a:t>Lab 10-3 Sketch</a:t>
            </a:r>
            <a:r>
              <a:rPr lang="ko-KR" altLang="en-US" dirty="0" smtClean="0"/>
              <a:t>의 실행을 </a:t>
            </a:r>
            <a:r>
              <a:rPr lang="en-US" altLang="ko-KR" dirty="0" smtClean="0"/>
              <a:t>Serial Monitor</a:t>
            </a:r>
            <a:r>
              <a:rPr lang="ko-KR" altLang="en-US" dirty="0" smtClean="0"/>
              <a:t>를 통해 보여라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r>
              <a:rPr lang="ko-KR" altLang="en-US" dirty="0"/>
              <a:t>조교의 물음에 답하고 채점 결과를 </a:t>
            </a:r>
            <a:r>
              <a:rPr lang="en-US" altLang="ko-KR" dirty="0"/>
              <a:t>PLMS LAB </a:t>
            </a:r>
            <a:r>
              <a:rPr lang="en-US" altLang="ko-KR" dirty="0" smtClean="0"/>
              <a:t>10-3</a:t>
            </a:r>
            <a:r>
              <a:rPr lang="ko-KR" altLang="en-US" dirty="0" smtClean="0"/>
              <a:t>에 </a:t>
            </a:r>
            <a:r>
              <a:rPr lang="ko-KR" altLang="en-US" dirty="0"/>
              <a:t>직접 입력하라</a:t>
            </a:r>
            <a:r>
              <a:rPr lang="en-US" altLang="ko-KR" dirty="0"/>
              <a:t> 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AutoShape 4">
            <a:extLst>
              <a:ext uri="{FF2B5EF4-FFF2-40B4-BE49-F238E27FC236}">
                <a16:creationId xmlns="" xmlns:a16="http://schemas.microsoft.com/office/drawing/2014/main" id="{7B4B18A5-69E8-457F-8FA4-CF983A2B56C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bg1">
                  <a:lumMod val="65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Lab.10-3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4077" y="3073817"/>
            <a:ext cx="3773438" cy="258591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665" y="3073816"/>
            <a:ext cx="3773438" cy="2585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136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맺는말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ko-KR" dirty="0" smtClean="0"/>
              <a:t>I2C</a:t>
            </a:r>
          </a:p>
          <a:p>
            <a:pPr lvl="1"/>
            <a:r>
              <a:rPr lang="ko-KR" altLang="en-US" dirty="0" smtClean="0"/>
              <a:t>저속 직렬 통신 </a:t>
            </a:r>
            <a:r>
              <a:rPr lang="en-US" altLang="ko-KR" dirty="0" smtClean="0"/>
              <a:t>(1 :n)</a:t>
            </a:r>
          </a:p>
          <a:p>
            <a:pPr lvl="1"/>
            <a:r>
              <a:rPr lang="ko-KR" altLang="en-US" dirty="0" smtClean="0"/>
              <a:t>적은 데이터를 간헐적으로 전송하기 위해 주로 사용 </a:t>
            </a:r>
            <a:r>
              <a:rPr lang="en-US" altLang="ko-KR" dirty="0" smtClean="0"/>
              <a:t>( </a:t>
            </a:r>
            <a:r>
              <a:rPr lang="ko-KR" altLang="en-US" dirty="0" smtClean="0"/>
              <a:t>센서 데이터 전송</a:t>
            </a:r>
            <a:r>
              <a:rPr lang="en-US" altLang="ko-KR" dirty="0" smtClean="0"/>
              <a:t>)</a:t>
            </a:r>
          </a:p>
          <a:p>
            <a:r>
              <a:rPr lang="en-US" altLang="ko-KR" dirty="0" smtClean="0"/>
              <a:t>I2C </a:t>
            </a:r>
            <a:r>
              <a:rPr lang="ko-KR" altLang="en-US" dirty="0" smtClean="0"/>
              <a:t>연결</a:t>
            </a:r>
            <a:endParaRPr lang="en-US" altLang="ko-KR" dirty="0" smtClean="0"/>
          </a:p>
          <a:p>
            <a:pPr lvl="1"/>
            <a:r>
              <a:rPr lang="en-US" altLang="ko-KR" dirty="0" smtClean="0"/>
              <a:t>2</a:t>
            </a:r>
            <a:r>
              <a:rPr lang="ko-KR" altLang="en-US" dirty="0" smtClean="0"/>
              <a:t>개의 연결 선 사용 </a:t>
            </a:r>
            <a:r>
              <a:rPr lang="en-US" altLang="ko-KR" dirty="0" smtClean="0"/>
              <a:t>: </a:t>
            </a:r>
            <a:r>
              <a:rPr lang="ko-KR" altLang="en-US" dirty="0" smtClean="0"/>
              <a:t>전용선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슬레이브는</a:t>
            </a:r>
            <a:r>
              <a:rPr lang="ko-KR" altLang="en-US" dirty="0" smtClean="0"/>
              <a:t> 소프트웨어적인 </a:t>
            </a:r>
            <a:r>
              <a:rPr lang="ko-KR" altLang="en-US" dirty="0" smtClean="0"/>
              <a:t>주소로 선택</a:t>
            </a:r>
            <a:endParaRPr lang="en-US" altLang="ko-KR" dirty="0" smtClean="0"/>
          </a:p>
          <a:p>
            <a:r>
              <a:rPr lang="en-US" altLang="ko-KR" dirty="0" smtClean="0"/>
              <a:t>Wire </a:t>
            </a:r>
            <a:r>
              <a:rPr lang="ko-KR" altLang="en-US" dirty="0" smtClean="0"/>
              <a:t>라이브러리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기본 라이브러리 중 하나</a:t>
            </a:r>
            <a:endParaRPr lang="en-US" altLang="ko-KR" dirty="0" smtClean="0"/>
          </a:p>
          <a:p>
            <a:pPr lvl="1"/>
            <a:r>
              <a:rPr lang="ko-KR" altLang="en-US" dirty="0" smtClean="0"/>
              <a:t>마스터와 </a:t>
            </a:r>
            <a:r>
              <a:rPr lang="ko-KR" altLang="en-US" dirty="0" err="1" smtClean="0"/>
              <a:t>슬레이브</a:t>
            </a:r>
            <a:r>
              <a:rPr lang="ko-KR" altLang="en-US" dirty="0" smtClean="0"/>
              <a:t> 모드 모두 지원</a:t>
            </a:r>
            <a:endParaRPr lang="en-US" altLang="ko-KR" dirty="0" smtClean="0"/>
          </a:p>
          <a:p>
            <a:pPr lvl="1"/>
            <a:r>
              <a:rPr lang="ko-KR" altLang="en-US" dirty="0" err="1" smtClean="0"/>
              <a:t>슬레이브는</a:t>
            </a:r>
            <a:r>
              <a:rPr lang="ko-KR" altLang="en-US" dirty="0" smtClean="0"/>
              <a:t> 인터럽트 방식으로 동작</a:t>
            </a:r>
            <a:endParaRPr lang="en-US" altLang="ko-KR" dirty="0" smtClean="0"/>
          </a:p>
          <a:p>
            <a:pPr lvl="1"/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3863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5">
            <a:extLst>
              <a:ext uri="{FF2B5EF4-FFF2-40B4-BE49-F238E27FC236}">
                <a16:creationId xmlns="" xmlns:a16="http://schemas.microsoft.com/office/drawing/2014/main" id="{0AC0DB59-5A63-4DBC-BF51-E4914BDD13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908720"/>
            <a:ext cx="4567727" cy="5832648"/>
          </a:xfrm>
        </p:spPr>
        <p:txBody>
          <a:bodyPr/>
          <a:lstStyle/>
          <a:p>
            <a:r>
              <a:rPr lang="ko-KR" altLang="en-US" dirty="0" smtClean="0"/>
              <a:t>연습문제 </a:t>
            </a:r>
            <a:r>
              <a:rPr lang="en-US" altLang="ko-KR" dirty="0" smtClean="0"/>
              <a:t>18.1</a:t>
            </a:r>
          </a:p>
          <a:p>
            <a:pPr lvl="1"/>
            <a:r>
              <a:rPr lang="ko-KR" altLang="en-US" dirty="0" smtClean="0"/>
              <a:t>메가</a:t>
            </a:r>
            <a:r>
              <a:rPr lang="en-US" altLang="ko-KR" dirty="0" smtClean="0"/>
              <a:t>2560 2</a:t>
            </a:r>
            <a:r>
              <a:rPr lang="ko-KR" altLang="en-US" dirty="0" smtClean="0"/>
              <a:t>개를 </a:t>
            </a:r>
            <a:r>
              <a:rPr lang="en-US" altLang="ko-KR" dirty="0" smtClean="0"/>
              <a:t>UART </a:t>
            </a:r>
            <a:r>
              <a:rPr lang="ko-KR" altLang="en-US" dirty="0" smtClean="0"/>
              <a:t>시리얼 통신을 사용하여 연결한다</a:t>
            </a:r>
            <a:r>
              <a:rPr lang="en-US" altLang="ko-KR" dirty="0" smtClean="0"/>
              <a:t>. (Serial1 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하나의 </a:t>
            </a:r>
            <a:r>
              <a:rPr lang="ko-KR" altLang="en-US" dirty="0" err="1" smtClean="0"/>
              <a:t>아두이노</a:t>
            </a:r>
            <a:r>
              <a:rPr lang="ko-KR" altLang="en-US" dirty="0" smtClean="0"/>
              <a:t> 메가 </a:t>
            </a:r>
            <a:r>
              <a:rPr lang="en-US" altLang="ko-KR" dirty="0" smtClean="0"/>
              <a:t>2560</a:t>
            </a:r>
            <a:r>
              <a:rPr lang="ko-KR" altLang="en-US" dirty="0" smtClean="0"/>
              <a:t>의 아날로그 </a:t>
            </a:r>
            <a:r>
              <a:rPr lang="en-US" altLang="ko-KR" dirty="0" smtClean="0"/>
              <a:t>1</a:t>
            </a:r>
            <a:r>
              <a:rPr lang="ko-KR" altLang="en-US" dirty="0" smtClean="0"/>
              <a:t>번 </a:t>
            </a:r>
            <a:r>
              <a:rPr lang="en-US" altLang="ko-KR" dirty="0" smtClean="0"/>
              <a:t>A0</a:t>
            </a:r>
            <a:r>
              <a:rPr lang="ko-KR" altLang="en-US" dirty="0" smtClean="0"/>
              <a:t>핀에는 온도센서를 연결하고</a:t>
            </a:r>
            <a:r>
              <a:rPr lang="en-US" altLang="ko-KR" dirty="0" smtClean="0"/>
              <a:t>, 1</a:t>
            </a:r>
            <a:r>
              <a:rPr lang="ko-KR" altLang="en-US" dirty="0" smtClean="0"/>
              <a:t>초 간격으로 다른 메가 </a:t>
            </a:r>
            <a:r>
              <a:rPr lang="en-US" altLang="ko-KR" dirty="0" smtClean="0"/>
              <a:t>2560</a:t>
            </a:r>
            <a:r>
              <a:rPr lang="ko-KR" altLang="en-US" dirty="0" smtClean="0"/>
              <a:t>로 </a:t>
            </a:r>
            <a:r>
              <a:rPr lang="ko-KR" altLang="en-US" dirty="0" err="1" smtClean="0"/>
              <a:t>온도값을</a:t>
            </a:r>
            <a:r>
              <a:rPr lang="ko-KR" altLang="en-US" dirty="0" smtClean="0"/>
              <a:t> 전송하도록 스케치를 작성해보자</a:t>
            </a:r>
            <a:r>
              <a:rPr lang="en-US" altLang="ko-KR" dirty="0" smtClean="0"/>
              <a:t>.</a:t>
            </a:r>
          </a:p>
          <a:p>
            <a:pPr lvl="1"/>
            <a:r>
              <a:rPr lang="en-US" altLang="ko-KR" dirty="0" smtClean="0"/>
              <a:t> </a:t>
            </a:r>
            <a:r>
              <a:rPr lang="ko-KR" altLang="en-US" dirty="0" err="1" smtClean="0"/>
              <a:t>온도값은</a:t>
            </a:r>
            <a:r>
              <a:rPr lang="ko-KR" altLang="en-US" dirty="0" smtClean="0"/>
              <a:t> </a:t>
            </a:r>
            <a:r>
              <a:rPr lang="en-US" altLang="ko-KR" dirty="0" smtClean="0"/>
              <a:t>print </a:t>
            </a:r>
            <a:r>
              <a:rPr lang="ko-KR" altLang="en-US" dirty="0" smtClean="0"/>
              <a:t>함수를 사용하여 문자열로 전송하고</a:t>
            </a:r>
            <a:r>
              <a:rPr lang="en-US" altLang="ko-KR" dirty="0" smtClean="0"/>
              <a:t>, </a:t>
            </a:r>
            <a:r>
              <a:rPr lang="ko-KR" altLang="en-US" dirty="0" smtClean="0"/>
              <a:t>문자열의 끝을 표시하기 위해 </a:t>
            </a:r>
            <a:r>
              <a:rPr lang="en-US" altLang="ko-KR" dirty="0" smtClean="0"/>
              <a:t>‘\n’</a:t>
            </a:r>
            <a:r>
              <a:rPr lang="ko-KR" altLang="en-US" dirty="0" smtClean="0"/>
              <a:t>문자를 사용한다</a:t>
            </a:r>
            <a:r>
              <a:rPr lang="en-US" altLang="ko-KR" dirty="0" smtClean="0"/>
              <a:t>.</a:t>
            </a:r>
          </a:p>
          <a:p>
            <a:pPr marL="268288" lvl="1" indent="0">
              <a:buNone/>
            </a:pPr>
            <a:endParaRPr lang="en-US" altLang="ko-KR" dirty="0" smtClean="0"/>
          </a:p>
          <a:p>
            <a:pPr lvl="1"/>
            <a:endParaRPr lang="en-US" altLang="ko-KR" dirty="0" smtClean="0"/>
          </a:p>
          <a:p>
            <a:pPr marL="268288" lvl="1" indent="0">
              <a:buNone/>
            </a:pPr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="" xmlns:a16="http://schemas.microsoft.com/office/drawing/2014/main" id="{D8CA4C89-ADD8-4E78-9259-BBC36F31CA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00D90EE-624F-4CF6-B1CA-C1033E61431F}" type="slidenum">
              <a:rPr lang="ko-KR" altLang="en-US" smtClean="0"/>
              <a:pPr/>
              <a:t>37</a:t>
            </a:fld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	</a:t>
            </a:r>
            <a:r>
              <a:rPr lang="ko-KR" altLang="en-US" dirty="0" smtClean="0"/>
              <a:t>실습 과제 </a:t>
            </a:r>
            <a:r>
              <a:rPr lang="en-US" altLang="ko-KR" dirty="0" smtClean="0"/>
              <a:t>(2</a:t>
            </a:r>
            <a:r>
              <a:rPr lang="ko-KR" altLang="en-US" dirty="0" smtClean="0"/>
              <a:t>인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1"/>
          </p:nvPr>
        </p:nvSpPr>
        <p:spPr>
          <a:xfrm>
            <a:off x="602315" y="4314950"/>
            <a:ext cx="4038600" cy="5832648"/>
          </a:xfrm>
        </p:spPr>
        <p:txBody>
          <a:bodyPr/>
          <a:lstStyle/>
          <a:p>
            <a:r>
              <a:rPr lang="ko-KR" altLang="en-US" dirty="0" smtClean="0"/>
              <a:t>제출 방법</a:t>
            </a:r>
            <a:endParaRPr lang="en-US" altLang="ko-KR" dirty="0" smtClean="0"/>
          </a:p>
          <a:p>
            <a:pPr marL="611188" lvl="1" indent="-342900">
              <a:buFont typeface="+mj-lt"/>
              <a:buAutoNum type="arabicPeriod"/>
            </a:pPr>
            <a:r>
              <a:rPr lang="en-US" altLang="ko-KR" dirty="0" smtClean="0"/>
              <a:t>PLMS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HW 10-1</a:t>
            </a:r>
            <a:r>
              <a:rPr lang="ko-KR" altLang="en-US" dirty="0" smtClean="0"/>
              <a:t>에 작성한 </a:t>
            </a:r>
            <a:r>
              <a:rPr lang="en-US" altLang="ko-KR" dirty="0" smtClean="0"/>
              <a:t>Sketch </a:t>
            </a:r>
            <a:r>
              <a:rPr lang="ko-KR" altLang="en-US" dirty="0" smtClean="0"/>
              <a:t>코드를 입력하라</a:t>
            </a:r>
            <a:endParaRPr lang="en-US" altLang="ko-KR" dirty="0" smtClean="0"/>
          </a:p>
          <a:p>
            <a:pPr marL="611188" lvl="1" indent="-342900">
              <a:buFont typeface="+mj-lt"/>
              <a:buAutoNum type="arabicPeriod"/>
            </a:pPr>
            <a:r>
              <a:rPr lang="ko-KR" altLang="en-US" dirty="0" smtClean="0"/>
              <a:t>또한 </a:t>
            </a:r>
            <a:r>
              <a:rPr lang="ko-KR" altLang="en-US" dirty="0"/>
              <a:t>실행한 </a:t>
            </a:r>
            <a:r>
              <a:rPr lang="en-US" altLang="ko-KR" dirty="0"/>
              <a:t>Serial Monitor</a:t>
            </a:r>
            <a:r>
              <a:rPr lang="ko-KR" altLang="en-US" dirty="0"/>
              <a:t>를 </a:t>
            </a:r>
            <a:r>
              <a:rPr lang="ko-KR" altLang="en-US" dirty="0" err="1"/>
              <a:t>캡쳐하여</a:t>
            </a:r>
            <a:r>
              <a:rPr lang="ko-KR" altLang="en-US" dirty="0"/>
              <a:t> 이미지로 포함하라</a:t>
            </a:r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7" name="AutoShape 4">
            <a:extLst>
              <a:ext uri="{FF2B5EF4-FFF2-40B4-BE49-F238E27FC236}">
                <a16:creationId xmlns="" xmlns:a16="http://schemas.microsoft.com/office/drawing/2014/main" id="{71E41C2D-AC54-46ED-94B3-FFABA03C1C46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8491" y="147083"/>
            <a:ext cx="744654" cy="357889"/>
          </a:xfrm>
          <a:prstGeom prst="roundRect">
            <a:avLst>
              <a:gd name="adj" fmla="val 7303"/>
            </a:avLst>
          </a:prstGeom>
          <a:gradFill>
            <a:gsLst>
              <a:gs pos="0">
                <a:schemeClr val="accent5">
                  <a:lumMod val="75000"/>
                </a:schemeClr>
              </a:gs>
              <a:gs pos="100000">
                <a:schemeClr val="accent5">
                  <a:lumMod val="50000"/>
                </a:schemeClr>
              </a:gs>
            </a:gsLst>
            <a:lin ang="2700000" scaled="1"/>
          </a:gradFill>
          <a:ln w="25400">
            <a:solidFill>
              <a:schemeClr val="bg1"/>
            </a:solidFill>
          </a:ln>
          <a:effectLst>
            <a:outerShdw blurRad="50800" algn="ctr" rotWithShape="0">
              <a:prstClr val="black">
                <a:alpha val="75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altLang="ko-KR" sz="1100" dirty="0" smtClean="0">
                <a:solidFill>
                  <a:schemeClr val="bg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HW.10-1</a:t>
            </a:r>
            <a:endParaRPr lang="ko-KR" altLang="en-US" sz="1100" dirty="0">
              <a:solidFill>
                <a:schemeClr val="bg1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1801" y="967194"/>
            <a:ext cx="3498671" cy="244787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2182" y="3976608"/>
            <a:ext cx="3537907" cy="248136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76666" y="549562"/>
            <a:ext cx="290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accent6">
                    <a:lumMod val="75000"/>
                  </a:schemeClr>
                </a:solidFill>
              </a:rPr>
              <a:t>온도 측정 및 송신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060630" y="3497847"/>
            <a:ext cx="29055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chemeClr val="accent6">
                    <a:lumMod val="75000"/>
                  </a:schemeClr>
                </a:solidFill>
              </a:rPr>
              <a:t>온도 수신 및 출력</a:t>
            </a:r>
            <a:endParaRPr lang="ko-KR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682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YopYkUTD7qABHdSGfRxOu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esVgDfMlUYA4jayhh1HOv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m9DTBptqZV2uc8jFWqjFc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18pChlaXnULdSmJ4motlV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HbEfVRAWoJn4JJGiHEPMc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oBYOn956YP6sfx4V7ktuW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tcCmzjmhfJDuZhLbpvT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BtcCmzjmhfJDuZhLbpvT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JfwnYXOXLUvR45dobOFO5w"/>
</p:tagLst>
</file>

<file path=ppt/theme/theme1.xml><?xml version="1.0" encoding="utf-8"?>
<a:theme xmlns:a="http://schemas.openxmlformats.org/drawingml/2006/main" name="정컴2018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가을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정컴2018" id="{C861CE52-3C0B-419D-AA69-3331CDD1644B}" vid="{ED64DD60-6D2F-4F9A-8677-D387716AA2C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정컴2018</Template>
  <TotalTime>2432</TotalTime>
  <Words>1599</Words>
  <Application>Microsoft Office PowerPoint</Application>
  <PresentationFormat>화면 슬라이드 쇼(4:3)</PresentationFormat>
  <Paragraphs>449</Paragraphs>
  <Slides>37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37</vt:i4>
      </vt:variant>
    </vt:vector>
  </HeadingPairs>
  <TitlesOfParts>
    <vt:vector size="47" baseType="lpstr">
      <vt:lpstr>나눔고딕 Bold</vt:lpstr>
      <vt:lpstr>나눔고딕 ExtraBold</vt:lpstr>
      <vt:lpstr>맑은 고딕</vt:lpstr>
      <vt:lpstr>함초롬바탕</vt:lpstr>
      <vt:lpstr>Arial</vt:lpstr>
      <vt:lpstr>Candara</vt:lpstr>
      <vt:lpstr>Consolas</vt:lpstr>
      <vt:lpstr>Times New Roman</vt:lpstr>
      <vt:lpstr>Wingdings</vt:lpstr>
      <vt:lpstr>정컴2018</vt:lpstr>
      <vt:lpstr>Serial 통신 </vt:lpstr>
      <vt:lpstr>UART</vt:lpstr>
      <vt:lpstr>아두이노 메가2560의 UART 통신</vt:lpstr>
      <vt:lpstr>SoftwareSerial 클래스</vt:lpstr>
      <vt:lpstr> UART 시리얼 통신을 LED 원격 제어</vt:lpstr>
      <vt:lpstr> ① 원격버튼제어 회로, LED연결출력 회로 구성</vt:lpstr>
      <vt:lpstr>  ② 메가2560(1번)에 원격버튼제어코드 작성</vt:lpstr>
      <vt:lpstr>  ③ 메가2560(2번)에 LED출력 회로 구성</vt:lpstr>
      <vt:lpstr>  ④ 결과 확인</vt:lpstr>
      <vt:lpstr>맺는말</vt:lpstr>
      <vt:lpstr>SPI 통신</vt:lpstr>
      <vt:lpstr>SPI 통신</vt:lpstr>
      <vt:lpstr>아두이노의 SPI</vt:lpstr>
      <vt:lpstr>SPI 연결</vt:lpstr>
      <vt:lpstr>SPI 라이브러리</vt:lpstr>
      <vt:lpstr> SPI 통신</vt:lpstr>
      <vt:lpstr>① 메가 2560(마스터) 메가2560(슬레이브) SPI 연결</vt:lpstr>
      <vt:lpstr>  ② 마스터에서 슬레이브로 메시지 보내기</vt:lpstr>
      <vt:lpstr> ③ SPI – 슬레이브 모드 설정</vt:lpstr>
      <vt:lpstr>  ④ 슬레이브에서 마스터로부터 수신된 데이터 출력</vt:lpstr>
      <vt:lpstr>   ⑤ 실행결과 확인</vt:lpstr>
      <vt:lpstr>맺는말</vt:lpstr>
      <vt:lpstr>I2c 통신</vt:lpstr>
      <vt:lpstr>I2C 통신</vt:lpstr>
      <vt:lpstr>직렬 통신 방식 비교</vt:lpstr>
      <vt:lpstr>Wire 라이브러리</vt:lpstr>
      <vt:lpstr>I2C 통신을 위한 연결</vt:lpstr>
      <vt:lpstr>Wire 라이브러리 함수</vt:lpstr>
      <vt:lpstr>Wire 라이브러리 함수 - 마스터</vt:lpstr>
      <vt:lpstr>Wire 라이브러리 함수 - 슬레이브</vt:lpstr>
      <vt:lpstr> I2C 통신</vt:lpstr>
      <vt:lpstr>① 메가 2560(마스터) 메가2560(슬레이브) I2C 연결</vt:lpstr>
      <vt:lpstr>  ② 마스터에서 가변저항값 슬레이브로 보내기</vt:lpstr>
      <vt:lpstr>  ③ 슬레이브에서 마스터로부터 수신된 데이터 출력</vt:lpstr>
      <vt:lpstr>  ④ 실행결과 확인</vt:lpstr>
      <vt:lpstr>맺는말</vt:lpstr>
      <vt:lpstr> 실습 과제 (2인)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김종덕</dc:creator>
  <cp:lastModifiedBy>배 병환</cp:lastModifiedBy>
  <cp:revision>114</cp:revision>
  <dcterms:created xsi:type="dcterms:W3CDTF">2018-03-06T09:06:27Z</dcterms:created>
  <dcterms:modified xsi:type="dcterms:W3CDTF">2018-04-26T07:05:49Z</dcterms:modified>
</cp:coreProperties>
</file>