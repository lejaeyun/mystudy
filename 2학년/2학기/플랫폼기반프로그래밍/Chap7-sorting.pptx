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26"/>
  </p:notesMasterIdLst>
  <p:handoutMasterIdLst>
    <p:handoutMasterId r:id="rId27"/>
  </p:handoutMasterIdLst>
  <p:sldIdLst>
    <p:sldId id="465" r:id="rId3"/>
    <p:sldId id="466" r:id="rId4"/>
    <p:sldId id="467" r:id="rId5"/>
    <p:sldId id="468" r:id="rId6"/>
    <p:sldId id="469" r:id="rId7"/>
    <p:sldId id="484" r:id="rId8"/>
    <p:sldId id="470" r:id="rId9"/>
    <p:sldId id="293" r:id="rId10"/>
    <p:sldId id="471" r:id="rId11"/>
    <p:sldId id="472" r:id="rId12"/>
    <p:sldId id="474" r:id="rId13"/>
    <p:sldId id="475" r:id="rId14"/>
    <p:sldId id="476" r:id="rId15"/>
    <p:sldId id="478" r:id="rId16"/>
    <p:sldId id="479" r:id="rId17"/>
    <p:sldId id="480" r:id="rId18"/>
    <p:sldId id="481" r:id="rId19"/>
    <p:sldId id="485" r:id="rId20"/>
    <p:sldId id="303" r:id="rId21"/>
    <p:sldId id="304" r:id="rId22"/>
    <p:sldId id="305" r:id="rId23"/>
    <p:sldId id="482" r:id="rId24"/>
    <p:sldId id="483" r:id="rId25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FEB13-F3CE-428D-8DC1-0D28E911E1D5}" v="8" dt="2019-10-21T05:24:33.3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0" autoAdjust="0"/>
    <p:restoredTop sz="98627" autoAdjust="0"/>
  </p:normalViewPr>
  <p:slideViewPr>
    <p:cSldViewPr snapToGrid="0" snapToObjects="1">
      <p:cViewPr varScale="1">
        <p:scale>
          <a:sx n="145" d="100"/>
          <a:sy n="145" d="100"/>
        </p:scale>
        <p:origin x="366" y="1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10/21/2019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10/21/2019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93FA0A-839A-9247-9A67-1FC47B7B8576}" type="datetimeFigureOut">
              <a:rPr lang="en-US"/>
              <a:pPr/>
              <a:t>10/21/2019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FBC074-9BA2-B943-8697-4BF185FAF12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70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30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9" r:id="rId9"/>
    <p:sldLayoutId id="2147484100" r:id="rId10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912496" y="474581"/>
            <a:ext cx="5143500" cy="449977"/>
          </a:xfr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Arrays: Outline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4294967295"/>
          </p:nvPr>
        </p:nvSpPr>
        <p:spPr>
          <a:xfrm>
            <a:off x="912496" y="1615202"/>
            <a:ext cx="7743824" cy="299743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Sorting arrays</a:t>
            </a:r>
          </a:p>
          <a:p>
            <a:pPr eaLnBrk="1" hangingPunct="1"/>
            <a:r>
              <a:rPr lang="en-US" dirty="0">
                <a:cs typeface="Arial"/>
              </a:rPr>
              <a:t>Multi-dimensional arrays</a:t>
            </a:r>
          </a:p>
        </p:txBody>
      </p:sp>
    </p:spTree>
    <p:extLst>
      <p:ext uri="{BB962C8B-B14F-4D97-AF65-F5344CB8AC3E}">
        <p14:creationId xmlns:p14="http://schemas.microsoft.com/office/powerpoint/2010/main" val="4293159248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Selection Sort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Consider arranging all elements of an array so they are ascending order</a:t>
            </a:r>
          </a:p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Algorithm is to step through the array</a:t>
            </a:r>
          </a:p>
          <a:p>
            <a:pPr lvl="2" eaLnBrk="1" hangingPunct="1"/>
            <a:r>
              <a:rPr lang="en-US" dirty="0">
                <a:cs typeface="Arial"/>
              </a:rPr>
              <a:t>Place smallest element in index 0</a:t>
            </a:r>
          </a:p>
          <a:p>
            <a:pPr lvl="2" eaLnBrk="1" hangingPunct="1"/>
            <a:r>
              <a:rPr lang="en-US" dirty="0">
                <a:cs typeface="Arial"/>
              </a:rPr>
              <a:t>Swap elements as needed to accomplish this</a:t>
            </a:r>
          </a:p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Called an interchange sorting algorithm</a:t>
            </a:r>
          </a:p>
          <a:p>
            <a:pPr eaLnBrk="1" hangingPunct="1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2311219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Selection Sort</a:t>
            </a:r>
          </a:p>
        </p:txBody>
      </p:sp>
      <p:pic>
        <p:nvPicPr>
          <p:cNvPr id="4198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136" y="1562417"/>
            <a:ext cx="6835775" cy="271105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4171983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Selection Sort</a:t>
            </a:r>
          </a:p>
        </p:txBody>
      </p:sp>
      <p:sp>
        <p:nvSpPr>
          <p:cNvPr id="43012" name="TextBox 6"/>
          <p:cNvSpPr txBox="1">
            <a:spLocks noChangeArrowheads="1"/>
          </p:cNvSpPr>
          <p:nvPr/>
        </p:nvSpPr>
        <p:spPr bwMode="auto">
          <a:xfrm rot="5400000">
            <a:off x="3620691" y="3248422"/>
            <a:ext cx="550069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. . .</a:t>
            </a:r>
          </a:p>
        </p:txBody>
      </p:sp>
      <p:pic>
        <p:nvPicPr>
          <p:cNvPr id="43013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88" y="1247934"/>
            <a:ext cx="6356350" cy="30765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964228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Selection Sort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4294967295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Algorithm for selection sort of an array</a:t>
            </a: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  <p:pic>
        <p:nvPicPr>
          <p:cNvPr id="440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3" y="1900237"/>
            <a:ext cx="7461250" cy="182522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4310570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Selection Sort – output</a:t>
            </a:r>
          </a:p>
        </p:txBody>
      </p:sp>
      <p:pic>
        <p:nvPicPr>
          <p:cNvPr id="450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538" y="2376329"/>
            <a:ext cx="3876675" cy="1035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Text Box 7"/>
          <p:cNvSpPr txBox="1">
            <a:spLocks noChangeArrowheads="1"/>
          </p:cNvSpPr>
          <p:nvPr/>
        </p:nvSpPr>
        <p:spPr bwMode="auto">
          <a:xfrm>
            <a:off x="5681662" y="2102486"/>
            <a:ext cx="1524000" cy="1015663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/>
              <a:t>Sample </a:t>
            </a:r>
            <a:br>
              <a:rPr lang="en-US" sz="2000"/>
            </a:br>
            <a:r>
              <a:rPr lang="en-US" sz="2000"/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351455386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815332" y="115529"/>
            <a:ext cx="7707862" cy="488024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Selection Sort – code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" t="23151" r="3322" b="25708"/>
          <a:stretch/>
        </p:blipFill>
        <p:spPr bwMode="auto">
          <a:xfrm>
            <a:off x="499184" y="697629"/>
            <a:ext cx="5095147" cy="1770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25"/>
          <a:stretch/>
        </p:blipFill>
        <p:spPr bwMode="auto">
          <a:xfrm>
            <a:off x="732776" y="2827563"/>
            <a:ext cx="4577074" cy="2244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" t="91338" r="2517" b="423"/>
          <a:stretch/>
        </p:blipFill>
        <p:spPr bwMode="auto">
          <a:xfrm>
            <a:off x="732776" y="2541377"/>
            <a:ext cx="4944111" cy="286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21" r="13516"/>
          <a:stretch/>
        </p:blipFill>
        <p:spPr bwMode="auto">
          <a:xfrm>
            <a:off x="4856799" y="587002"/>
            <a:ext cx="4134802" cy="1035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>
            <a:stCxn id="45058" idx="2"/>
          </p:cNvCxnSpPr>
          <p:nvPr/>
        </p:nvCxnSpPr>
        <p:spPr>
          <a:xfrm flipH="1">
            <a:off x="4663440" y="603553"/>
            <a:ext cx="5823" cy="11338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4869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3">
            <a:extLst>
              <a:ext uri="{FF2B5EF4-FFF2-40B4-BE49-F238E27FC236}">
                <a16:creationId xmlns:a16="http://schemas.microsoft.com/office/drawing/2014/main" id="{DE8A500E-A548-4384-822F-06FE34668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71451"/>
            <a:ext cx="4978004" cy="456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Other Sorting Algorithms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Selection sort is simplest</a:t>
            </a:r>
          </a:p>
          <a:p>
            <a:pPr lvl="1" eaLnBrk="1" hangingPunct="1"/>
            <a:r>
              <a:rPr lang="en-US" dirty="0">
                <a:cs typeface="Arial"/>
              </a:rPr>
              <a:t>But it is very inefficient for large arrays</a:t>
            </a:r>
          </a:p>
          <a:p>
            <a:pPr eaLnBrk="1" hangingPunct="1"/>
            <a:r>
              <a:rPr lang="en-US" dirty="0">
                <a:cs typeface="Arial"/>
              </a:rPr>
              <a:t>Java Class Library provides for efficient sorting</a:t>
            </a:r>
          </a:p>
          <a:p>
            <a:pPr lvl="1" eaLnBrk="1" hangingPunct="1"/>
            <a:r>
              <a:rPr lang="en-US" dirty="0">
                <a:cs typeface="Arial"/>
              </a:rPr>
              <a:t>Has a class called Arrays</a:t>
            </a:r>
          </a:p>
          <a:p>
            <a:pPr lvl="1" eaLnBrk="1" hangingPunct="1"/>
            <a:r>
              <a:rPr lang="en-US" dirty="0">
                <a:cs typeface="Arial"/>
              </a:rPr>
              <a:t>import </a:t>
            </a:r>
            <a:r>
              <a:rPr lang="en-US" dirty="0" err="1">
                <a:cs typeface="Arial"/>
              </a:rPr>
              <a:t>java.util</a:t>
            </a:r>
            <a:r>
              <a:rPr lang="en-US" dirty="0">
                <a:cs typeface="Arial"/>
              </a:rPr>
              <a:t> – </a:t>
            </a:r>
            <a:r>
              <a:rPr lang="en-US" dirty="0" err="1">
                <a:cs typeface="Arial"/>
              </a:rPr>
              <a:t>Arrays.sort</a:t>
            </a:r>
            <a:r>
              <a:rPr lang="en-US" dirty="0">
                <a:cs typeface="Arial"/>
              </a:rPr>
              <a:t>(</a:t>
            </a:r>
            <a:r>
              <a:rPr lang="en-US" dirty="0" err="1">
                <a:cs typeface="Arial"/>
              </a:rPr>
              <a:t>int</a:t>
            </a:r>
            <a:r>
              <a:rPr lang="en-US" dirty="0">
                <a:cs typeface="Arial"/>
              </a:rPr>
              <a:t> [])</a:t>
            </a:r>
          </a:p>
        </p:txBody>
      </p:sp>
    </p:spTree>
    <p:extLst>
      <p:ext uri="{BB962C8B-B14F-4D97-AF65-F5344CB8AC3E}">
        <p14:creationId xmlns:p14="http://schemas.microsoft.com/office/powerpoint/2010/main" val="226242702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Searching an Array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Sequential search</a:t>
            </a:r>
          </a:p>
          <a:p>
            <a:pPr lvl="1" eaLnBrk="1" hangingPunct="1"/>
            <a:r>
              <a:rPr lang="en-US" dirty="0">
                <a:cs typeface="Arial"/>
              </a:rPr>
              <a:t>Looks in order from first to last</a:t>
            </a:r>
          </a:p>
          <a:p>
            <a:pPr lvl="1" eaLnBrk="1" hangingPunct="1"/>
            <a:r>
              <a:rPr lang="en-US" dirty="0">
                <a:cs typeface="Arial"/>
              </a:rPr>
              <a:t>Good for unsorted arrays</a:t>
            </a:r>
          </a:p>
          <a:p>
            <a:pPr eaLnBrk="1" hangingPunct="1"/>
            <a:r>
              <a:rPr lang="en-US" dirty="0">
                <a:cs typeface="Arial"/>
              </a:rPr>
              <a:t>Search ends when </a:t>
            </a:r>
          </a:p>
          <a:p>
            <a:pPr lvl="1" eaLnBrk="1" hangingPunct="1"/>
            <a:r>
              <a:rPr lang="en-US" dirty="0">
                <a:cs typeface="Arial"/>
              </a:rPr>
              <a:t>Item is found … or …</a:t>
            </a:r>
          </a:p>
          <a:p>
            <a:pPr lvl="1" eaLnBrk="1" hangingPunct="1"/>
            <a:r>
              <a:rPr lang="en-US" dirty="0">
                <a:cs typeface="Arial"/>
              </a:rPr>
              <a:t>End of list is reached</a:t>
            </a:r>
          </a:p>
          <a:p>
            <a:pPr eaLnBrk="1" hangingPunct="1"/>
            <a:r>
              <a:rPr lang="en-US" dirty="0">
                <a:cs typeface="Arial"/>
              </a:rPr>
              <a:t>If list is sorted, use more efficient searches</a:t>
            </a:r>
          </a:p>
        </p:txBody>
      </p:sp>
    </p:spTree>
    <p:extLst>
      <p:ext uri="{BB962C8B-B14F-4D97-AF65-F5344CB8AC3E}">
        <p14:creationId xmlns:p14="http://schemas.microsoft.com/office/powerpoint/2010/main" val="617284876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Multidimensional-Array Basics</a:t>
            </a:r>
          </a:p>
        </p:txBody>
      </p:sp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2126" y="1414621"/>
            <a:ext cx="6029325" cy="3014663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893166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Multidimensional-Array Basics</a:t>
            </a:r>
          </a:p>
        </p:txBody>
      </p:sp>
      <p:pic>
        <p:nvPicPr>
          <p:cNvPr id="501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15"/>
          <a:stretch>
            <a:fillRect/>
          </a:stretch>
        </p:blipFill>
        <p:spPr bwMode="auto">
          <a:xfrm>
            <a:off x="1505585" y="1787129"/>
            <a:ext cx="5264150" cy="259318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TextBox 4"/>
          <p:cNvSpPr txBox="1">
            <a:spLocks noChangeArrowheads="1"/>
          </p:cNvSpPr>
          <p:nvPr/>
        </p:nvSpPr>
        <p:spPr bwMode="auto">
          <a:xfrm>
            <a:off x="5528310" y="1599010"/>
            <a:ext cx="2408238" cy="70788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b="1">
                <a:solidFill>
                  <a:srgbClr val="0033CC"/>
                </a:solidFill>
                <a:latin typeface="Courier New" charset="0"/>
                <a:cs typeface="Courier New" charset="0"/>
              </a:rPr>
              <a:t>table[3][2] </a:t>
            </a:r>
            <a:r>
              <a:rPr lang="en-US" sz="2000"/>
              <a:t>has a value of 1262</a:t>
            </a:r>
          </a:p>
        </p:txBody>
      </p:sp>
    </p:spTree>
    <p:extLst>
      <p:ext uri="{BB962C8B-B14F-4D97-AF65-F5344CB8AC3E}">
        <p14:creationId xmlns:p14="http://schemas.microsoft.com/office/powerpoint/2010/main" val="570966794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Multidimensional-Array Basics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503679"/>
            <a:ext cx="7566574" cy="312904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We can access elements of the table with a nested for loop</a:t>
            </a:r>
          </a:p>
          <a:p>
            <a:pPr eaLnBrk="1" hangingPunct="1"/>
            <a:r>
              <a:rPr lang="en-US" dirty="0">
                <a:cs typeface="Arial"/>
              </a:rPr>
              <a:t>Example:</a:t>
            </a: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endParaRPr lang="en-US" dirty="0">
              <a:cs typeface="Arial"/>
            </a:endParaRPr>
          </a:p>
        </p:txBody>
      </p:sp>
      <p:pic>
        <p:nvPicPr>
          <p:cNvPr id="5120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" r="1688"/>
          <a:stretch>
            <a:fillRect/>
          </a:stretch>
        </p:blipFill>
        <p:spPr bwMode="auto">
          <a:xfrm>
            <a:off x="1710374" y="2629694"/>
            <a:ext cx="6169025" cy="93225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2074201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914400" y="303610"/>
            <a:ext cx="8229600" cy="857250"/>
          </a:xfr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Multidimensional-Array Parameters and Returned Values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4294967295"/>
          </p:nvPr>
        </p:nvSpPr>
        <p:spPr>
          <a:xfrm>
            <a:off x="914400" y="1369219"/>
            <a:ext cx="7600950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Methods can have</a:t>
            </a:r>
          </a:p>
          <a:p>
            <a:pPr lvl="1" eaLnBrk="1" hangingPunct="1"/>
            <a:r>
              <a:rPr lang="en-US" dirty="0">
                <a:cs typeface="Arial"/>
              </a:rPr>
              <a:t>Parameters that are multidimensional-arrays</a:t>
            </a:r>
          </a:p>
          <a:p>
            <a:pPr lvl="1" eaLnBrk="1" hangingPunct="1"/>
            <a:r>
              <a:rPr lang="en-US" dirty="0">
                <a:cs typeface="Arial"/>
              </a:rPr>
              <a:t>Return values that are multidimensional</a:t>
            </a:r>
            <a:r>
              <a:rPr lang="en-US">
                <a:cs typeface="Arial"/>
              </a:rPr>
              <a:t>-arrays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3901500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Java's Representation of Multidimensional Arrays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523999"/>
            <a:ext cx="7566574" cy="310872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cs typeface="Arial"/>
              </a:rPr>
              <a:t>Multidimensional array represented as several one-dimensional arrays</a:t>
            </a:r>
          </a:p>
          <a:p>
            <a:pPr eaLnBrk="1" hangingPunct="1"/>
            <a:r>
              <a:rPr lang="en-US" dirty="0">
                <a:cs typeface="Arial"/>
              </a:rPr>
              <a:t>Given  </a:t>
            </a:r>
            <a:br>
              <a:rPr lang="en-US" dirty="0">
                <a:cs typeface="Arial"/>
              </a:rPr>
            </a:br>
            <a:r>
              <a:rPr lang="en-US" b="1" dirty="0" err="1">
                <a:solidFill>
                  <a:srgbClr val="0033CC"/>
                </a:solidFill>
                <a:cs typeface="Arial"/>
              </a:rPr>
              <a:t>int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 [][] table = new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int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 [10][6];</a:t>
            </a:r>
          </a:p>
          <a:p>
            <a:pPr eaLnBrk="1" hangingPunct="1"/>
            <a:r>
              <a:rPr lang="en-US" dirty="0">
                <a:cs typeface="Arial"/>
              </a:rPr>
              <a:t>Array table is actually 1 dimensional of type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int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[]</a:t>
            </a:r>
          </a:p>
          <a:p>
            <a:pPr lvl="1" eaLnBrk="1" hangingPunct="1"/>
            <a:r>
              <a:rPr lang="en-US" dirty="0">
                <a:cs typeface="Arial"/>
              </a:rPr>
              <a:t>It is an array of arrays</a:t>
            </a:r>
          </a:p>
          <a:p>
            <a:pPr eaLnBrk="1" hangingPunct="1"/>
            <a:r>
              <a:rPr lang="en-US" dirty="0">
                <a:cs typeface="Arial"/>
              </a:rPr>
              <a:t>Important when sequencing through multidimensional array</a:t>
            </a:r>
          </a:p>
        </p:txBody>
      </p:sp>
    </p:spTree>
    <p:extLst>
      <p:ext uri="{BB962C8B-B14F-4D97-AF65-F5344CB8AC3E}">
        <p14:creationId xmlns:p14="http://schemas.microsoft.com/office/powerpoint/2010/main" val="2541842670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Ragged Arrays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463039"/>
            <a:ext cx="7566574" cy="316968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Not necessary for all rows to be of the same length</a:t>
            </a:r>
          </a:p>
          <a:p>
            <a:pPr eaLnBrk="1" hangingPunct="1"/>
            <a:r>
              <a:rPr lang="en-US" dirty="0">
                <a:latin typeface="Calibri" charset="0"/>
              </a:rPr>
              <a:t>Example:</a:t>
            </a:r>
          </a:p>
        </p:txBody>
      </p:sp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244" y="2614613"/>
            <a:ext cx="5953125" cy="1228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6257385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Programming Example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Employee Time Records</a:t>
            </a:r>
          </a:p>
          <a:p>
            <a:pPr lvl="1" eaLnBrk="1" hangingPunct="1"/>
            <a:r>
              <a:rPr lang="en-US" dirty="0">
                <a:cs typeface="Arial"/>
              </a:rPr>
              <a:t>Two-dimensional array stores hours worked</a:t>
            </a:r>
          </a:p>
          <a:p>
            <a:pPr lvl="2" eaLnBrk="1" hangingPunct="1"/>
            <a:r>
              <a:rPr lang="en-US" dirty="0">
                <a:cs typeface="Arial"/>
              </a:rPr>
              <a:t>For each employee</a:t>
            </a:r>
          </a:p>
          <a:p>
            <a:pPr lvl="2" eaLnBrk="1" hangingPunct="1"/>
            <a:r>
              <a:rPr lang="en-US" dirty="0">
                <a:cs typeface="Arial"/>
              </a:rPr>
              <a:t>For each of 5 days of work week</a:t>
            </a:r>
          </a:p>
          <a:p>
            <a:pPr lvl="1" eaLnBrk="1" hangingPunct="1"/>
            <a:r>
              <a:rPr lang="en-US" dirty="0">
                <a:cs typeface="Arial"/>
              </a:rPr>
              <a:t>Array is private instance variable of class</a:t>
            </a:r>
          </a:p>
        </p:txBody>
      </p:sp>
    </p:spTree>
    <p:extLst>
      <p:ext uri="{BB962C8B-B14F-4D97-AF65-F5344CB8AC3E}">
        <p14:creationId xmlns:p14="http://schemas.microsoft.com/office/powerpoint/2010/main" val="2390906413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732777" y="247609"/>
            <a:ext cx="7707862" cy="488024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Programming Example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" t="32845" r="4874"/>
          <a:stretch/>
        </p:blipFill>
        <p:spPr bwMode="auto">
          <a:xfrm>
            <a:off x="558581" y="1108346"/>
            <a:ext cx="4357383" cy="215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" t="45829" r="3052"/>
          <a:stretch/>
        </p:blipFill>
        <p:spPr bwMode="auto">
          <a:xfrm>
            <a:off x="793738" y="3394156"/>
            <a:ext cx="3958360" cy="1207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" r="9219"/>
          <a:stretch/>
        </p:blipFill>
        <p:spPr bwMode="auto">
          <a:xfrm>
            <a:off x="4969623" y="1098186"/>
            <a:ext cx="4174377" cy="3394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7835710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4">
            <a:extLst>
              <a:ext uri="{FF2B5EF4-FFF2-40B4-BE49-F238E27FC236}">
                <a16:creationId xmlns:a16="http://schemas.microsoft.com/office/drawing/2014/main" id="{E4ECD3AF-2C62-47A3-B545-9FBB3AA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1" y="285750"/>
            <a:ext cx="3421856" cy="721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5" name="Picture 5">
            <a:extLst>
              <a:ext uri="{FF2B5EF4-FFF2-40B4-BE49-F238E27FC236}">
                <a16:creationId xmlns:a16="http://schemas.microsoft.com/office/drawing/2014/main" id="{FED3C7C5-9C5D-4B6E-B789-C6548A634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914400"/>
            <a:ext cx="4400550" cy="155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6">
            <a:extLst>
              <a:ext uri="{FF2B5EF4-FFF2-40B4-BE49-F238E27FC236}">
                <a16:creationId xmlns:a16="http://schemas.microsoft.com/office/drawing/2014/main" id="{D655B882-0578-4661-8DD4-D2D989B08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182" y="2514600"/>
            <a:ext cx="4493419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3">
            <a:extLst>
              <a:ext uri="{FF2B5EF4-FFF2-40B4-BE49-F238E27FC236}">
                <a16:creationId xmlns:a16="http://schemas.microsoft.com/office/drawing/2014/main" id="{E5CBF278-4ABE-4D29-A13A-9D86797E7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866" y="889398"/>
            <a:ext cx="4436269" cy="3364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3">
            <a:extLst>
              <a:ext uri="{FF2B5EF4-FFF2-40B4-BE49-F238E27FC236}">
                <a16:creationId xmlns:a16="http://schemas.microsoft.com/office/drawing/2014/main" id="{7B112759-2F5D-412E-A075-44482F73A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57150"/>
            <a:ext cx="3971925" cy="4654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Programming Example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4294967295"/>
          </p:nvPr>
        </p:nvSpPr>
        <p:spPr>
          <a:xfrm>
            <a:off x="0" y="1200151"/>
            <a:ext cx="8229600" cy="3394472"/>
          </a:xfrm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  <a:p>
            <a:pPr eaLnBrk="1" hangingPunct="1"/>
            <a:endParaRPr lang="en-US">
              <a:latin typeface="Calibri" charset="0"/>
            </a:endParaRPr>
          </a:p>
          <a:p>
            <a:pPr eaLnBrk="1" hangingPunct="1"/>
            <a:endParaRPr lang="en-US">
              <a:latin typeface="Calibri" charset="0"/>
            </a:endParaRPr>
          </a:p>
          <a:p>
            <a:pPr eaLnBrk="1" hangingPunct="1"/>
            <a:endParaRPr lang="en-US">
              <a:latin typeface="Calibri" charset="0"/>
            </a:endParaRPr>
          </a:p>
        </p:txBody>
      </p:sp>
      <p:pic>
        <p:nvPicPr>
          <p:cNvPr id="5734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1204913"/>
            <a:ext cx="5602288" cy="30003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Text Box 7"/>
          <p:cNvSpPr txBox="1">
            <a:spLocks noChangeArrowheads="1"/>
          </p:cNvSpPr>
          <p:nvPr/>
        </p:nvSpPr>
        <p:spPr bwMode="auto">
          <a:xfrm>
            <a:off x="6518275" y="3662363"/>
            <a:ext cx="1524000" cy="1015663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/>
              <a:t>Sample </a:t>
            </a:r>
            <a:br>
              <a:rPr lang="en-US" sz="2000"/>
            </a:br>
            <a:r>
              <a:rPr lang="en-US" sz="2000"/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1367883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Programming Example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44203"/>
            <a:ext cx="7886700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indent="-457200"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Arrays for the class </a:t>
            </a:r>
            <a:r>
              <a:rPr lang="en-US" sz="2000" b="1" dirty="0" err="1">
                <a:solidFill>
                  <a:srgbClr val="0033CC"/>
                </a:solidFill>
                <a:cs typeface="Arial"/>
              </a:rPr>
              <a:t>TimeBook</a:t>
            </a:r>
            <a:endParaRPr lang="en-US" sz="2000" b="1" dirty="0">
              <a:solidFill>
                <a:srgbClr val="0033CC"/>
              </a:solidFill>
              <a:cs typeface="Arial"/>
            </a:endParaRPr>
          </a:p>
          <a:p>
            <a:pPr eaLnBrk="1" hangingPunct="1"/>
            <a:endParaRPr lang="en-US" sz="2000" dirty="0">
              <a:cs typeface="Arial"/>
            </a:endParaRPr>
          </a:p>
        </p:txBody>
      </p:sp>
      <p:pic>
        <p:nvPicPr>
          <p:cNvPr id="5837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7"/>
          <a:stretch>
            <a:fillRect/>
          </a:stretch>
        </p:blipFill>
        <p:spPr bwMode="auto">
          <a:xfrm>
            <a:off x="1628226" y="1737122"/>
            <a:ext cx="6764338" cy="264556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6580719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35804</TotalTime>
  <Words>264</Words>
  <Application>Microsoft Office PowerPoint</Application>
  <PresentationFormat>화면 슬라이드 쇼(16:9)</PresentationFormat>
  <Paragraphs>68</Paragraphs>
  <Slides>23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23</vt:i4>
      </vt:variant>
    </vt:vector>
  </HeadingPairs>
  <TitlesOfParts>
    <vt:vector size="25" baseType="lpstr">
      <vt:lpstr>Jobtalk_UF</vt:lpstr>
      <vt:lpstr>SU_Template_TopBar</vt:lpstr>
      <vt:lpstr>Arrays: Outline</vt:lpstr>
      <vt:lpstr>Selection Sort</vt:lpstr>
      <vt:lpstr>Selection Sort</vt:lpstr>
      <vt:lpstr>Selection Sort</vt:lpstr>
      <vt:lpstr>Selection Sort</vt:lpstr>
      <vt:lpstr>Selection Sort – output</vt:lpstr>
      <vt:lpstr>Selection Sort – code</vt:lpstr>
      <vt:lpstr>PowerPoint 프레젠테이션</vt:lpstr>
      <vt:lpstr>Other Sorting Algorithms</vt:lpstr>
      <vt:lpstr>Searching an Array</vt:lpstr>
      <vt:lpstr>Multidimensional-Array Basics</vt:lpstr>
      <vt:lpstr>Multidimensional-Array Basics</vt:lpstr>
      <vt:lpstr>Multidimensional-Array Basics</vt:lpstr>
      <vt:lpstr>Multidimensional-Array Parameters and Returned Values</vt:lpstr>
      <vt:lpstr>Java's Representation of Multidimensional Arrays</vt:lpstr>
      <vt:lpstr>Ragged Arrays</vt:lpstr>
      <vt:lpstr>Programming Example</vt:lpstr>
      <vt:lpstr>Programming Example</vt:lpstr>
      <vt:lpstr>PowerPoint 프레젠테이션</vt:lpstr>
      <vt:lpstr>PowerPoint 프레젠테이션</vt:lpstr>
      <vt:lpstr>PowerPoint 프레젠테이션</vt:lpstr>
      <vt:lpstr>Programming Example</vt:lpstr>
      <vt:lpstr>Programming Example</vt:lpstr>
    </vt:vector>
  </TitlesOfParts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Jin Kyu Gahm</cp:lastModifiedBy>
  <cp:revision>1683</cp:revision>
  <cp:lastPrinted>2016-01-15T22:14:07Z</cp:lastPrinted>
  <dcterms:created xsi:type="dcterms:W3CDTF">2016-01-04T21:30:26Z</dcterms:created>
  <dcterms:modified xsi:type="dcterms:W3CDTF">2019-10-21T08:26:06Z</dcterms:modified>
</cp:coreProperties>
</file>