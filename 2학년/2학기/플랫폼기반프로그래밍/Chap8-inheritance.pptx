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99" r:id="rId2"/>
  </p:sldMasterIdLst>
  <p:notesMasterIdLst>
    <p:notesMasterId r:id="rId25"/>
  </p:notesMasterIdLst>
  <p:handoutMasterIdLst>
    <p:handoutMasterId r:id="rId26"/>
  </p:handoutMasterIdLst>
  <p:sldIdLst>
    <p:sldId id="256" r:id="rId3"/>
    <p:sldId id="281" r:id="rId4"/>
    <p:sldId id="257" r:id="rId5"/>
    <p:sldId id="258" r:id="rId6"/>
    <p:sldId id="282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83" r:id="rId18"/>
    <p:sldId id="269" r:id="rId19"/>
    <p:sldId id="270" r:id="rId20"/>
    <p:sldId id="271" r:id="rId21"/>
    <p:sldId id="272" r:id="rId22"/>
    <p:sldId id="273" r:id="rId23"/>
    <p:sldId id="274" r:id="rId24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4A44"/>
    <a:srgbClr val="D0A760"/>
    <a:srgbClr val="8C1515"/>
    <a:srgbClr val="D6DDD3"/>
    <a:srgbClr val="EDE8DD"/>
    <a:srgbClr val="C2B7A1"/>
    <a:srgbClr val="918873"/>
    <a:srgbClr val="3C36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70" autoAdjust="0"/>
    <p:restoredTop sz="98627" autoAdjust="0"/>
  </p:normalViewPr>
  <p:slideViewPr>
    <p:cSldViewPr snapToGrid="0" snapToObjects="1">
      <p:cViewPr>
        <p:scale>
          <a:sx n="125" d="100"/>
          <a:sy n="125" d="100"/>
        </p:scale>
        <p:origin x="-736" y="-8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E057C042-89AF-7C4F-814C-314EFA3A3EE1}" type="datetimeFigureOut">
              <a:rPr lang="en-US"/>
              <a:pPr/>
              <a:t>10/21/2019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F4901583-69B2-544D-B088-2FDC2234E5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8533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50284C57-E8CD-D545-98D2-D98BB465D38A}" type="datetimeFigureOut">
              <a:rPr lang="en-US"/>
              <a:pPr/>
              <a:t>10/21/2019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DCF55573-23BE-7541-92D3-8BDD66C16B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411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440319" y="1071091"/>
            <a:ext cx="8229600" cy="61847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3"/>
          <p:cNvSpPr>
            <a:spLocks noGrp="1"/>
          </p:cNvSpPr>
          <p:nvPr userDrawn="1">
            <p:ph type="body" sz="quarter" idx="18"/>
          </p:nvPr>
        </p:nvSpPr>
        <p:spPr>
          <a:xfrm>
            <a:off x="1586494" y="2877596"/>
            <a:ext cx="6059488" cy="205740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 algn="ctr">
              <a:buNone/>
              <a:defRPr sz="18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ubtitle 2"/>
          <p:cNvSpPr>
            <a:spLocks noGrp="1"/>
          </p:cNvSpPr>
          <p:nvPr userDrawn="1">
            <p:ph type="subTitle" idx="1"/>
          </p:nvPr>
        </p:nvSpPr>
        <p:spPr>
          <a:xfrm>
            <a:off x="440319" y="1689564"/>
            <a:ext cx="8229600" cy="461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00" cap="small" spc="3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514" name="Picture 5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46986" y="3477453"/>
            <a:ext cx="1158660" cy="1158660"/>
          </a:xfrm>
          <a:prstGeom prst="rect">
            <a:avLst/>
          </a:prstGeom>
        </p:spPr>
      </p:pic>
      <p:pic>
        <p:nvPicPr>
          <p:cNvPr id="515" name="Picture 5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67806" y="3505379"/>
            <a:ext cx="1158660" cy="115866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03377" y="1538765"/>
            <a:ext cx="2954337" cy="92583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3377" y="2571750"/>
            <a:ext cx="2954337" cy="932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4665662" y="1535112"/>
            <a:ext cx="1951038" cy="1951038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none"/>
        </p:style>
        <p:txBody>
          <a:bodyPr/>
          <a:lstStyle>
            <a:lvl1pPr>
              <a:buNone/>
              <a:defRPr sz="1200"/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>
            <a:lvl2pPr marL="0" indent="0">
              <a:buFont typeface="Arial"/>
              <a:buNone/>
              <a:defRPr baseline="0"/>
            </a:lvl2pPr>
            <a:lvl3pPr marL="344488" indent="0">
              <a:buNone/>
              <a:defRPr/>
            </a:lvl3pPr>
            <a:lvl4pPr marL="687387" indent="0">
              <a:buNone/>
              <a:defRPr/>
            </a:lvl4pPr>
            <a:lvl5pPr marL="103187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8" name="Slide Number Placeholder 22"/>
          <p:cNvSpPr txBox="1">
            <a:spLocks/>
          </p:cNvSpPr>
          <p:nvPr/>
        </p:nvSpPr>
        <p:spPr>
          <a:xfrm>
            <a:off x="60325" y="7938"/>
            <a:ext cx="457200" cy="457200"/>
          </a:xfrm>
          <a:prstGeom prst="rect">
            <a:avLst/>
          </a:prstGeom>
        </p:spPr>
        <p:txBody>
          <a:bodyPr wrap="none" lIns="45720" tIns="0" rIns="45720" bIns="0" anchor="ctr" anchorCtr="1">
            <a:prstTxWarp prst="textNoShape">
              <a:avLst/>
            </a:prstTxWarp>
          </a:bodyPr>
          <a:lstStyle/>
          <a:p>
            <a:pPr algn="ctr"/>
            <a:fld id="{D308AB99-1C09-3141-9A6B-ED1B38F7FDA2}" type="slidenum">
              <a:rPr lang="en-US" sz="1000">
                <a:solidFill>
                  <a:srgbClr val="7F7F7F"/>
                </a:solidFill>
                <a:latin typeface="Arial" pitchFamily="-102" charset="0"/>
              </a:rPr>
              <a:pPr algn="ctr"/>
              <a:t>‹#›</a:t>
            </a:fld>
            <a:endParaRPr lang="en-US" sz="1000">
              <a:solidFill>
                <a:srgbClr val="7F7F7F"/>
              </a:solidFill>
              <a:latin typeface="Arial" pitchFamily="-102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/>
          </p:nvPr>
        </p:nvSpPr>
        <p:spPr>
          <a:xfrm>
            <a:off x="4876800" y="908685"/>
            <a:ext cx="3779838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948777" y="908685"/>
            <a:ext cx="7707862" cy="18166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1"/>
          </p:nvPr>
        </p:nvSpPr>
        <p:spPr>
          <a:xfrm>
            <a:off x="949327" y="2841313"/>
            <a:ext cx="7707313" cy="18166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4876800" y="908686"/>
            <a:ext cx="3779838" cy="1823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4876800" y="2837497"/>
            <a:ext cx="3779838" cy="18302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949327" y="908686"/>
            <a:ext cx="3787775" cy="1823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/>
          </p:nvPr>
        </p:nvSpPr>
        <p:spPr>
          <a:xfrm>
            <a:off x="955677" y="2840613"/>
            <a:ext cx="3781425" cy="1827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2"/>
          </p:nvPr>
        </p:nvSpPr>
        <p:spPr>
          <a:xfrm>
            <a:off x="4876800" y="908686"/>
            <a:ext cx="3779838" cy="1823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4876800" y="2840613"/>
            <a:ext cx="3779838" cy="1827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9" descr="SUSig_White.eps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10350" y="4811713"/>
            <a:ext cx="2046288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pic>
        <p:nvPicPr>
          <p:cNvPr id="7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4883150"/>
            <a:ext cx="1546225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800555"/>
            <a:ext cx="8229600" cy="61847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3"/>
          <p:cNvSpPr>
            <a:spLocks noGrp="1"/>
          </p:cNvSpPr>
          <p:nvPr>
            <p:ph type="body" sz="quarter" idx="18"/>
          </p:nvPr>
        </p:nvSpPr>
        <p:spPr>
          <a:xfrm>
            <a:off x="1603375" y="3599022"/>
            <a:ext cx="6059488" cy="205740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 algn="ctr">
              <a:buNone/>
              <a:defRPr sz="18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457200" y="2419028"/>
            <a:ext cx="8229600" cy="461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00" cap="small" spc="300">
                <a:solidFill>
                  <a:srgbClr val="A4001D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pic>
        <p:nvPicPr>
          <p:cNvPr id="7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4883150"/>
            <a:ext cx="1546225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03377" y="1538765"/>
            <a:ext cx="2954337" cy="92583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3377" y="2571750"/>
            <a:ext cx="2954337" cy="932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4665662" y="1535112"/>
            <a:ext cx="1951038" cy="1951038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none"/>
        </p:style>
        <p:txBody>
          <a:bodyPr/>
          <a:lstStyle>
            <a:lvl1pPr>
              <a:defRPr lang="en-US" sz="12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8" name="Slide Number Placeholder 22"/>
          <p:cNvSpPr txBox="1">
            <a:spLocks/>
          </p:cNvSpPr>
          <p:nvPr/>
        </p:nvSpPr>
        <p:spPr>
          <a:xfrm>
            <a:off x="60325" y="7938"/>
            <a:ext cx="457200" cy="457200"/>
          </a:xfrm>
          <a:prstGeom prst="rect">
            <a:avLst/>
          </a:prstGeom>
        </p:spPr>
        <p:txBody>
          <a:bodyPr wrap="none" lIns="45720" tIns="0" rIns="45720" bIns="0" anchor="ctr" anchorCtr="1">
            <a:prstTxWarp prst="textNoShape">
              <a:avLst/>
            </a:prstTxWarp>
          </a:bodyPr>
          <a:lstStyle/>
          <a:p>
            <a:pPr algn="ctr"/>
            <a:fld id="{6011AB87-0029-AF46-BA7B-14EC2941E070}" type="slidenum">
              <a:rPr lang="en-US" sz="1000">
                <a:solidFill>
                  <a:srgbClr val="7F7F7F"/>
                </a:solidFill>
                <a:latin typeface="Arial" pitchFamily="-102" charset="0"/>
              </a:rPr>
              <a:pPr algn="ctr"/>
              <a:t>‹#›</a:t>
            </a:fld>
            <a:endParaRPr lang="en-US" sz="1000">
              <a:solidFill>
                <a:srgbClr val="7F7F7F"/>
              </a:solidFill>
              <a:latin typeface="Arial" pitchFamily="-102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/>
          </p:nvPr>
        </p:nvSpPr>
        <p:spPr>
          <a:xfrm>
            <a:off x="4876800" y="908685"/>
            <a:ext cx="3779838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948777" y="908685"/>
            <a:ext cx="7707862" cy="181660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1"/>
          </p:nvPr>
        </p:nvSpPr>
        <p:spPr>
          <a:xfrm>
            <a:off x="949327" y="2841313"/>
            <a:ext cx="7707313" cy="181660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4876800" y="908686"/>
            <a:ext cx="3779838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4876800" y="2837497"/>
            <a:ext cx="3779838" cy="183023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949327" y="908686"/>
            <a:ext cx="3787775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/>
          </p:nvPr>
        </p:nvSpPr>
        <p:spPr>
          <a:xfrm>
            <a:off x="955677" y="2840613"/>
            <a:ext cx="3781425" cy="182711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2"/>
          </p:nvPr>
        </p:nvSpPr>
        <p:spPr>
          <a:xfrm>
            <a:off x="4876800" y="908686"/>
            <a:ext cx="3779838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4876800" y="2840613"/>
            <a:ext cx="3779838" cy="182711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"/>
          <p:cNvSpPr>
            <a:spLocks noGrp="1"/>
          </p:cNvSpPr>
          <p:nvPr>
            <p:ph type="title"/>
          </p:nvPr>
        </p:nvSpPr>
        <p:spPr bwMode="auto">
          <a:xfrm>
            <a:off x="949325" y="358775"/>
            <a:ext cx="7707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49325" y="903288"/>
            <a:ext cx="7707313" cy="37639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538" y="4811713"/>
            <a:ext cx="846137" cy="2714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898989"/>
                </a:solidFill>
                <a:latin typeface="Arial" pitchFamily="-102" charset="0"/>
              </a:defRPr>
            </a:lvl1pPr>
          </a:lstStyle>
          <a:p>
            <a:fld id="{7E9329A1-051D-4748-88E9-0F62A5F8FD3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4" r:id="rId1"/>
    <p:sldLayoutId id="2147484085" r:id="rId2"/>
    <p:sldLayoutId id="2147484086" r:id="rId3"/>
    <p:sldLayoutId id="2147484087" r:id="rId4"/>
    <p:sldLayoutId id="2147484088" r:id="rId5"/>
    <p:sldLayoutId id="2147484089" r:id="rId6"/>
    <p:sldLayoutId id="2147484090" r:id="rId7"/>
    <p:sldLayoutId id="2147484091" r:id="rId8"/>
  </p:sldLayoutIdLst>
  <p:transition spd="slow">
    <p:fade/>
  </p:transition>
  <p:hf hdr="0" ftr="0" dt="0"/>
  <p:txStyles>
    <p:titleStyle>
      <a:lvl1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b="1" kern="1200">
          <a:solidFill>
            <a:schemeClr val="bg2"/>
          </a:solidFill>
          <a:latin typeface="Arial"/>
          <a:ea typeface="ＭＳ Ｐゴシック" charset="0"/>
          <a:cs typeface="ＭＳ Ｐゴシック" charset="0"/>
        </a:defRPr>
      </a:lvl1pPr>
      <a:lvl2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6pPr>
      <a:lvl7pPr marL="9144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7pPr>
      <a:lvl8pPr marL="13716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8pPr>
      <a:lvl9pPr marL="18288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defRPr kern="1200" spc="20">
          <a:solidFill>
            <a:schemeClr val="tx1"/>
          </a:solidFill>
          <a:latin typeface="Arial"/>
          <a:ea typeface="ＭＳ Ｐゴシック" charset="0"/>
          <a:cs typeface="ＭＳ Ｐゴシック" charset="0"/>
        </a:defRPr>
      </a:lvl1pPr>
      <a:lvl2pPr marL="288925" indent="-2889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buChar char="§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2pPr>
      <a:lvl3pPr marL="569913" indent="-2254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02000"/>
        <a:buFont typeface="Source Sans Pro" charset="0"/>
        <a:buChar char="›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3pPr>
      <a:lvl4pPr marL="914400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pitchFamily="-102" charset="0"/>
        <a:buChar char="•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4pPr>
      <a:lvl5pPr marL="1258888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Source Sans Pro" charset="0"/>
        <a:buChar char="–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2"/>
          <p:cNvSpPr>
            <a:spLocks noGrp="1"/>
          </p:cNvSpPr>
          <p:nvPr>
            <p:ph type="title"/>
          </p:nvPr>
        </p:nvSpPr>
        <p:spPr bwMode="auto">
          <a:xfrm>
            <a:off x="949325" y="358775"/>
            <a:ext cx="7707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49325" y="903288"/>
            <a:ext cx="7707313" cy="37639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538" y="4811713"/>
            <a:ext cx="846137" cy="2714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898989"/>
                </a:solidFill>
                <a:latin typeface="Arial" pitchFamily="-102" charset="0"/>
              </a:defRPr>
            </a:lvl1pPr>
          </a:lstStyle>
          <a:p>
            <a:fld id="{49034457-845F-754F-BC5C-07288356842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2" r:id="rId1"/>
    <p:sldLayoutId id="2147484093" r:id="rId2"/>
    <p:sldLayoutId id="2147484094" r:id="rId3"/>
    <p:sldLayoutId id="2147484095" r:id="rId4"/>
    <p:sldLayoutId id="2147484096" r:id="rId5"/>
    <p:sldLayoutId id="2147484097" r:id="rId6"/>
    <p:sldLayoutId id="2147484098" r:id="rId7"/>
  </p:sldLayoutIdLst>
  <p:transition spd="slow">
    <p:fade/>
  </p:transition>
  <p:hf hdr="0" ftr="0" dt="0"/>
  <p:txStyles>
    <p:titleStyle>
      <a:lvl1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kern="1200">
          <a:solidFill>
            <a:schemeClr val="bg2"/>
          </a:solidFill>
          <a:latin typeface="Arial"/>
          <a:ea typeface="ＭＳ Ｐゴシック" charset="0"/>
          <a:cs typeface="ＭＳ Ｐゴシック" charset="0"/>
        </a:defRPr>
      </a:lvl1pPr>
      <a:lvl2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6pPr>
      <a:lvl7pPr marL="9144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7pPr>
      <a:lvl8pPr marL="13716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8pPr>
      <a:lvl9pPr marL="18288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-102" charset="0"/>
        <a:defRPr sz="1600" kern="1200" cap="small" spc="20">
          <a:solidFill>
            <a:schemeClr val="tx1"/>
          </a:solidFill>
          <a:latin typeface="Arial"/>
          <a:ea typeface="ＭＳ Ｐゴシック" charset="0"/>
          <a:cs typeface="ＭＳ Ｐゴシック" charset="0"/>
        </a:defRPr>
      </a:lvl1pPr>
      <a:lvl2pPr marL="288925" indent="-2889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buChar char="§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2pPr>
      <a:lvl3pPr marL="569913" indent="-2254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02000"/>
        <a:buFont typeface="Source Sans Pro" charset="0"/>
        <a:buChar char="›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3pPr>
      <a:lvl4pPr marL="914400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pitchFamily="-102" charset="0"/>
        <a:buChar char="•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4pPr>
      <a:lvl5pPr marL="1258888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Source Sans Pro" charset="0"/>
        <a:buChar char="–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CodeSamples4.htm#Listing 8.2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../Local%20Settings/Temp/Temporary%20Directory%202%20for%2089512-86612-savitchC7-12.zip/CodeSamples4.htm#Listing 8.8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Inheritance Basics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Inheritance allows programmer to define a general class</a:t>
            </a:r>
          </a:p>
          <a:p>
            <a:pPr eaLnBrk="1" hangingPunct="1"/>
            <a:r>
              <a:rPr lang="en-US" dirty="0">
                <a:latin typeface="Calibri" charset="0"/>
              </a:rPr>
              <a:t>Later you define a more specific class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Adds new details to general definition</a:t>
            </a:r>
          </a:p>
          <a:p>
            <a:pPr eaLnBrk="1" hangingPunct="1"/>
            <a:r>
              <a:rPr lang="en-US" dirty="0">
                <a:latin typeface="Calibri" charset="0"/>
              </a:rPr>
              <a:t>New class inherits all properties of initial, general class</a:t>
            </a:r>
          </a:p>
        </p:txBody>
      </p:sp>
    </p:spTree>
    <p:extLst>
      <p:ext uri="{BB962C8B-B14F-4D97-AF65-F5344CB8AC3E}">
        <p14:creationId xmlns:p14="http://schemas.microsoft.com/office/powerpoint/2010/main" val="4026719203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Inheritance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59" b="2973"/>
          <a:stretch/>
        </p:blipFill>
        <p:spPr bwMode="auto">
          <a:xfrm>
            <a:off x="2645496" y="847565"/>
            <a:ext cx="4286833" cy="4137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360322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Derived Classes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A class hierarchy</a:t>
            </a:r>
          </a:p>
        </p:txBody>
      </p:sp>
      <p:pic>
        <p:nvPicPr>
          <p:cNvPr id="717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826" y="1866901"/>
            <a:ext cx="6429375" cy="2536031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6027163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Derived Classes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sz="2000" dirty="0">
                <a:cs typeface="Arial"/>
              </a:rPr>
              <a:t>Class </a:t>
            </a:r>
            <a:r>
              <a:rPr lang="en-US" sz="2000" b="1" dirty="0">
                <a:solidFill>
                  <a:srgbClr val="0033CC"/>
                </a:solidFill>
                <a:cs typeface="Arial"/>
              </a:rPr>
              <a:t>Person</a:t>
            </a:r>
            <a:r>
              <a:rPr lang="en-US" sz="2000" dirty="0">
                <a:cs typeface="Arial"/>
              </a:rPr>
              <a:t> used as a </a:t>
            </a:r>
            <a:r>
              <a:rPr lang="en-US" sz="2000" i="1" dirty="0">
                <a:cs typeface="Arial"/>
              </a:rPr>
              <a:t>base</a:t>
            </a:r>
            <a:r>
              <a:rPr lang="en-US" sz="2000" dirty="0">
                <a:cs typeface="Arial"/>
              </a:rPr>
              <a:t> class</a:t>
            </a:r>
          </a:p>
          <a:p>
            <a:pPr lvl="1" eaLnBrk="1" hangingPunct="1"/>
            <a:r>
              <a:rPr lang="en-US" sz="2000" dirty="0">
                <a:cs typeface="Arial"/>
              </a:rPr>
              <a:t>Also called </a:t>
            </a:r>
            <a:r>
              <a:rPr lang="en-US" sz="2000" i="1" dirty="0">
                <a:cs typeface="Arial"/>
              </a:rPr>
              <a:t>superclass</a:t>
            </a:r>
            <a:endParaRPr lang="en-US" sz="2000" dirty="0">
              <a:cs typeface="Arial"/>
            </a:endParaRPr>
          </a:p>
          <a:p>
            <a:pPr eaLnBrk="1" hangingPunct="1"/>
            <a:r>
              <a:rPr lang="en-US" sz="2000" dirty="0">
                <a:cs typeface="Arial"/>
              </a:rPr>
              <a:t>Now we declare </a:t>
            </a:r>
            <a:r>
              <a:rPr lang="en-US" sz="2000" i="1" dirty="0">
                <a:cs typeface="Arial"/>
              </a:rPr>
              <a:t>derived</a:t>
            </a:r>
            <a:r>
              <a:rPr lang="en-US" sz="2000" dirty="0">
                <a:cs typeface="Arial"/>
              </a:rPr>
              <a:t> class </a:t>
            </a:r>
            <a:r>
              <a:rPr lang="en-US" sz="2000" b="1" dirty="0">
                <a:solidFill>
                  <a:srgbClr val="0033CC"/>
                </a:solidFill>
                <a:cs typeface="Arial"/>
              </a:rPr>
              <a:t>Student</a:t>
            </a:r>
          </a:p>
          <a:p>
            <a:pPr lvl="1" eaLnBrk="1" hangingPunct="1"/>
            <a:r>
              <a:rPr lang="en-US" sz="2000" dirty="0">
                <a:cs typeface="Arial"/>
              </a:rPr>
              <a:t>Also called </a:t>
            </a:r>
            <a:r>
              <a:rPr lang="en-US" sz="2000" i="1" dirty="0">
                <a:cs typeface="Arial"/>
              </a:rPr>
              <a:t>subclass</a:t>
            </a:r>
          </a:p>
          <a:p>
            <a:pPr lvl="1" eaLnBrk="1" hangingPunct="1"/>
            <a:r>
              <a:rPr lang="en-US" sz="2000" dirty="0">
                <a:cs typeface="Arial"/>
              </a:rPr>
              <a:t>Inherits methods from the superclass</a:t>
            </a:r>
          </a:p>
          <a:p>
            <a:pPr eaLnBrk="1" hangingPunct="1"/>
            <a:r>
              <a:rPr lang="en-US" sz="2000" dirty="0">
                <a:cs typeface="Arial"/>
                <a:hlinkClick r:id="rId2" action="ppaction://hlinkfile"/>
              </a:rPr>
              <a:t>derived class</a:t>
            </a:r>
            <a:r>
              <a:rPr lang="en-US" sz="2000" dirty="0">
                <a:cs typeface="Arial"/>
              </a:rPr>
              <a:t> - example</a:t>
            </a:r>
            <a:br>
              <a:rPr lang="en-US" sz="2000" dirty="0">
                <a:cs typeface="Arial"/>
              </a:rPr>
            </a:br>
            <a:r>
              <a:rPr lang="en-US" sz="2000" b="1" dirty="0">
                <a:solidFill>
                  <a:srgbClr val="0033CC"/>
                </a:solidFill>
                <a:cs typeface="Arial"/>
              </a:rPr>
              <a:t>class Student extends Person</a:t>
            </a:r>
          </a:p>
        </p:txBody>
      </p:sp>
    </p:spTree>
    <p:extLst>
      <p:ext uri="{BB962C8B-B14F-4D97-AF65-F5344CB8AC3E}">
        <p14:creationId xmlns:p14="http://schemas.microsoft.com/office/powerpoint/2010/main" val="2859705004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Derived Classes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81"/>
          <a:stretch/>
        </p:blipFill>
        <p:spPr bwMode="auto">
          <a:xfrm>
            <a:off x="482601" y="965200"/>
            <a:ext cx="4195079" cy="3944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1327" y="847565"/>
            <a:ext cx="4201160" cy="858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91" b="2543"/>
          <a:stretch/>
        </p:blipFill>
        <p:spPr bwMode="auto">
          <a:xfrm>
            <a:off x="4831327" y="2479040"/>
            <a:ext cx="4185673" cy="2288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677680" y="847565"/>
            <a:ext cx="0" cy="4062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67590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Overriding Method Definitions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Note method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writeOutput</a:t>
            </a:r>
            <a:r>
              <a:rPr lang="en-US" dirty="0">
                <a:latin typeface="Calibri" charset="0"/>
              </a:rPr>
              <a:t> in class 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Student</a:t>
            </a:r>
            <a:endParaRPr lang="en-US" sz="2800" b="1" dirty="0">
              <a:solidFill>
                <a:srgbClr val="0033CC"/>
              </a:solidFill>
              <a:latin typeface="Courier New" charset="0"/>
              <a:cs typeface="Courier New" charset="0"/>
            </a:endParaRPr>
          </a:p>
          <a:p>
            <a:pPr lvl="1" eaLnBrk="1" hangingPunct="1"/>
            <a:r>
              <a:rPr lang="en-US" dirty="0">
                <a:latin typeface="Calibri" charset="0"/>
              </a:rPr>
              <a:t>Class Person also has method with that name</a:t>
            </a:r>
          </a:p>
          <a:p>
            <a:pPr eaLnBrk="1" hangingPunct="1"/>
            <a:r>
              <a:rPr lang="en-US" dirty="0">
                <a:latin typeface="Calibri" charset="0"/>
              </a:rPr>
              <a:t>Method in subclass with same signature overrides method from base class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Overriding method is the one used for objects of the derived class</a:t>
            </a:r>
          </a:p>
          <a:p>
            <a:pPr eaLnBrk="1" hangingPunct="1"/>
            <a:r>
              <a:rPr lang="en-US" dirty="0">
                <a:latin typeface="Calibri" charset="0"/>
              </a:rPr>
              <a:t>Overriding method must return same type of value</a:t>
            </a:r>
          </a:p>
        </p:txBody>
      </p:sp>
    </p:spTree>
    <p:extLst>
      <p:ext uri="{BB962C8B-B14F-4D97-AF65-F5344CB8AC3E}">
        <p14:creationId xmlns:p14="http://schemas.microsoft.com/office/powerpoint/2010/main" val="549286331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Overriding Versus Overloading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Do not confuse overriding with overloading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Overriding takes place in subclass – new method with same signature</a:t>
            </a:r>
          </a:p>
          <a:p>
            <a:pPr eaLnBrk="1" hangingPunct="1"/>
            <a:r>
              <a:rPr lang="en-US" dirty="0">
                <a:latin typeface="Calibri" charset="0"/>
              </a:rPr>
              <a:t>Overloading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New method in same class with different signature</a:t>
            </a:r>
          </a:p>
        </p:txBody>
      </p:sp>
    </p:spTree>
    <p:extLst>
      <p:ext uri="{BB962C8B-B14F-4D97-AF65-F5344CB8AC3E}">
        <p14:creationId xmlns:p14="http://schemas.microsoft.com/office/powerpoint/2010/main" val="2766944810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a typeface="+mj-ea"/>
              </a:rPr>
              <a:t>The </a:t>
            </a:r>
            <a:r>
              <a:rPr lang="en-US" b="1" dirty="0">
                <a:solidFill>
                  <a:srgbClr val="0033CC"/>
                </a:solidFill>
                <a:latin typeface="Courier New" pitchFamily="49" charset="0"/>
                <a:ea typeface="+mn-ea"/>
                <a:cs typeface="Courier New" pitchFamily="49" charset="0"/>
              </a:rPr>
              <a:t>final</a:t>
            </a:r>
            <a:r>
              <a:rPr lang="en-US" dirty="0">
                <a:ea typeface="+mj-ea"/>
              </a:rPr>
              <a:t> Modifier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Possible to specify that a method </a:t>
            </a:r>
            <a:r>
              <a:rPr lang="en-US" u="sng" dirty="0">
                <a:cs typeface="Arial"/>
              </a:rPr>
              <a:t>cannot</a:t>
            </a:r>
            <a:r>
              <a:rPr lang="en-US" dirty="0">
                <a:cs typeface="Arial"/>
              </a:rPr>
              <a:t> be overridden in subclass</a:t>
            </a:r>
          </a:p>
          <a:p>
            <a:pPr eaLnBrk="1" hangingPunct="1"/>
            <a:r>
              <a:rPr lang="en-US" dirty="0">
                <a:cs typeface="Arial"/>
              </a:rPr>
              <a:t>Add modifier final to the heading</a:t>
            </a:r>
            <a:br>
              <a:rPr lang="en-US" dirty="0">
                <a:cs typeface="Arial"/>
              </a:rPr>
            </a:br>
            <a:r>
              <a:rPr lang="en-US" b="1" dirty="0">
                <a:solidFill>
                  <a:srgbClr val="0033CC"/>
                </a:solidFill>
                <a:cs typeface="Arial"/>
              </a:rPr>
              <a:t>public final void </a:t>
            </a:r>
            <a:r>
              <a:rPr lang="en-US" b="1" dirty="0" err="1">
                <a:solidFill>
                  <a:srgbClr val="0033CC"/>
                </a:solidFill>
                <a:cs typeface="Arial"/>
              </a:rPr>
              <a:t>specialMethod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()</a:t>
            </a:r>
          </a:p>
          <a:p>
            <a:pPr eaLnBrk="1" hangingPunct="1"/>
            <a:r>
              <a:rPr lang="en-US" dirty="0">
                <a:cs typeface="Arial"/>
              </a:rPr>
              <a:t>An entire class may be declared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final</a:t>
            </a:r>
          </a:p>
          <a:p>
            <a:pPr lvl="1" eaLnBrk="1" hangingPunct="1"/>
            <a:r>
              <a:rPr lang="en-US" dirty="0">
                <a:cs typeface="Arial"/>
              </a:rPr>
              <a:t>Thus cannot be used as a base class to derive any other class</a:t>
            </a:r>
          </a:p>
        </p:txBody>
      </p:sp>
    </p:spTree>
    <p:extLst>
      <p:ext uri="{BB962C8B-B14F-4D97-AF65-F5344CB8AC3E}">
        <p14:creationId xmlns:p14="http://schemas.microsoft.com/office/powerpoint/2010/main" val="1274727111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Private Instance Variables, Methods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4294967295"/>
          </p:nvPr>
        </p:nvSpPr>
        <p:spPr>
          <a:xfrm>
            <a:off x="948776" y="1259840"/>
            <a:ext cx="7566574" cy="3372883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Consider private instance variable in a base class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It is not inherited in subclass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It can be manipulated only by public </a:t>
            </a:r>
            <a:r>
              <a:rPr lang="en-US" dirty="0" err="1">
                <a:latin typeface="Calibri" charset="0"/>
              </a:rPr>
              <a:t>accessor</a:t>
            </a:r>
            <a:r>
              <a:rPr lang="en-US" dirty="0">
                <a:latin typeface="Calibri" charset="0"/>
              </a:rPr>
              <a:t>, modifier methods</a:t>
            </a:r>
          </a:p>
          <a:p>
            <a:pPr eaLnBrk="1" hangingPunct="1"/>
            <a:r>
              <a:rPr lang="en-US" dirty="0">
                <a:latin typeface="Calibri" charset="0"/>
              </a:rPr>
              <a:t>Similarly, private methods in a superclass not inherited by subclass</a:t>
            </a:r>
          </a:p>
        </p:txBody>
      </p:sp>
    </p:spTree>
    <p:extLst>
      <p:ext uri="{BB962C8B-B14F-4D97-AF65-F5344CB8AC3E}">
        <p14:creationId xmlns:p14="http://schemas.microsoft.com/office/powerpoint/2010/main" val="807640193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UML Inheritance Diagrams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A class hierarchy in UML notation</a:t>
            </a:r>
          </a:p>
        </p:txBody>
      </p:sp>
      <p:pic>
        <p:nvPicPr>
          <p:cNvPr id="13316" name="Picture 4" descr="figure8-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7050" y="1034415"/>
            <a:ext cx="5589588" cy="3734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1246137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UML Inheritance Diagrams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Some details of UML class </a:t>
            </a:r>
            <a:br>
              <a:rPr lang="en-US" dirty="0">
                <a:latin typeface="Calibri" charset="0"/>
              </a:rPr>
            </a:br>
            <a:r>
              <a:rPr lang="en-US" dirty="0">
                <a:latin typeface="Calibri" charset="0"/>
              </a:rPr>
              <a:t>hierarchy </a:t>
            </a:r>
            <a:br>
              <a:rPr lang="en-US" dirty="0">
                <a:latin typeface="Calibri" charset="0"/>
              </a:rPr>
            </a:br>
            <a:endParaRPr lang="en-US" dirty="0">
              <a:latin typeface="Calibri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rot="5400000" flipH="1" flipV="1">
            <a:off x="5792788" y="2704306"/>
            <a:ext cx="366713" cy="1588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559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29025" y="1002507"/>
            <a:ext cx="4533900" cy="1521619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  <p:pic>
        <p:nvPicPr>
          <p:cNvPr id="23560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73401" y="2886075"/>
            <a:ext cx="5756275" cy="1839516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892509810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Constructors in Derived Classes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4294967295"/>
          </p:nvPr>
        </p:nvSpPr>
        <p:spPr>
          <a:xfrm>
            <a:off x="948776" y="1127522"/>
            <a:ext cx="7738024" cy="3394472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A derived class does not inherit constructors from base class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Constructor in a subclass must invoke constructor from base class</a:t>
            </a:r>
          </a:p>
          <a:p>
            <a:pPr eaLnBrk="1" hangingPunct="1"/>
            <a:r>
              <a:rPr lang="en-US" dirty="0">
                <a:latin typeface="Calibri" charset="0"/>
              </a:rPr>
              <a:t>Use the reserve word 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super</a:t>
            </a:r>
            <a:endParaRPr lang="en-US" sz="3600" b="1" dirty="0">
              <a:solidFill>
                <a:srgbClr val="0033CC"/>
              </a:solidFill>
              <a:latin typeface="Courier New" charset="0"/>
              <a:cs typeface="Courier New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lvl="1" eaLnBrk="1" hangingPunct="1"/>
            <a:endParaRPr lang="en-US" dirty="0">
              <a:latin typeface="Calibri" charset="0"/>
            </a:endParaRPr>
          </a:p>
          <a:p>
            <a:pPr lvl="1" eaLnBrk="1" hangingPunct="1"/>
            <a:r>
              <a:rPr lang="en-US" dirty="0">
                <a:latin typeface="Calibri" charset="0"/>
              </a:rPr>
              <a:t>Must be first action in the constructor</a:t>
            </a:r>
          </a:p>
          <a:p>
            <a:pPr eaLnBrk="1" hangingPunct="1"/>
            <a:endParaRPr lang="en-US" dirty="0">
              <a:latin typeface="Calibri" charset="0"/>
            </a:endParaRPr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388" y="3555921"/>
            <a:ext cx="6656388" cy="992981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4"/>
          <p:cNvSpPr/>
          <p:nvPr/>
        </p:nvSpPr>
        <p:spPr>
          <a:xfrm>
            <a:off x="1479551" y="3771424"/>
            <a:ext cx="2724150" cy="4524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747313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>
                <a:cs typeface="Arial"/>
              </a:rPr>
              <a:t>The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this</a:t>
            </a:r>
            <a:r>
              <a:rPr lang="en-US" dirty="0">
                <a:cs typeface="Arial"/>
              </a:rPr>
              <a:t> Method – Again 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Also possible to use the 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this</a:t>
            </a:r>
            <a:r>
              <a:rPr lang="en-US" dirty="0">
                <a:latin typeface="Calibri" charset="0"/>
              </a:rPr>
              <a:t> keyword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Use to call any constructor in the class</a:t>
            </a: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r>
              <a:rPr lang="en-US" dirty="0">
                <a:latin typeface="Calibri" charset="0"/>
              </a:rPr>
              <a:t>When used in a constructor, this calls constructor in same class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Contrast use of 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super</a:t>
            </a:r>
            <a:r>
              <a:rPr lang="en-US" dirty="0">
                <a:latin typeface="Calibri" charset="0"/>
              </a:rPr>
              <a:t> which invokes constructor of base class</a:t>
            </a:r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1601" y="2089547"/>
            <a:ext cx="3343275" cy="8001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0000507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Calling an Overridden Method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Reserved word 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super</a:t>
            </a:r>
            <a:r>
              <a:rPr lang="en-US" dirty="0">
                <a:latin typeface="Calibri" charset="0"/>
              </a:rPr>
              <a:t> can also be used to call method in overridden method</a:t>
            </a: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r>
              <a:rPr lang="en-US" dirty="0">
                <a:latin typeface="Calibri" charset="0"/>
              </a:rPr>
              <a:t>Calls method by same name in base class</a:t>
            </a:r>
          </a:p>
        </p:txBody>
      </p: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189" y="2132410"/>
            <a:ext cx="6143625" cy="878681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4"/>
          <p:cNvSpPr/>
          <p:nvPr/>
        </p:nvSpPr>
        <p:spPr>
          <a:xfrm>
            <a:off x="1498600" y="2378869"/>
            <a:ext cx="2859088" cy="39409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418746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Programming Example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A derived class of a derived class</a:t>
            </a:r>
            <a:br>
              <a:rPr lang="en-US" dirty="0">
                <a:latin typeface="Calibri" charset="0"/>
              </a:rPr>
            </a:b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class Undergraduate</a:t>
            </a:r>
          </a:p>
          <a:p>
            <a:pPr eaLnBrk="1" hangingPunct="1"/>
            <a:r>
              <a:rPr lang="en-US" dirty="0">
                <a:latin typeface="Calibri" charset="0"/>
              </a:rPr>
              <a:t>Has all public members of both</a:t>
            </a:r>
          </a:p>
          <a:p>
            <a:pPr lvl="1" eaLnBrk="1" hangingPunct="1"/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Person</a:t>
            </a:r>
          </a:p>
          <a:p>
            <a:pPr lvl="1" eaLnBrk="1" hangingPunct="1"/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Student</a:t>
            </a:r>
          </a:p>
          <a:p>
            <a:pPr eaLnBrk="1" hangingPunct="1"/>
            <a:r>
              <a:rPr lang="en-US" dirty="0">
                <a:latin typeface="Calibri" charset="0"/>
              </a:rPr>
              <a:t>This reuses the code in </a:t>
            </a:r>
            <a:r>
              <a:rPr lang="en-US" dirty="0" err="1">
                <a:latin typeface="Calibri" charset="0"/>
              </a:rPr>
              <a:t>superclasses</a:t>
            </a:r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593597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Programming Example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90"/>
          <a:stretch/>
        </p:blipFill>
        <p:spPr bwMode="auto">
          <a:xfrm>
            <a:off x="577533" y="1557734"/>
            <a:ext cx="4177347" cy="2933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711" y="1142205"/>
            <a:ext cx="4171568" cy="3684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4754880" y="1091405"/>
            <a:ext cx="10160" cy="38158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9903886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Programming Example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4294967295"/>
          </p:nvPr>
        </p:nvSpPr>
        <p:spPr>
          <a:xfrm>
            <a:off x="873760" y="1632347"/>
            <a:ext cx="7813040" cy="2962275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	More details </a:t>
            </a:r>
            <a:br>
              <a:rPr lang="en-US" dirty="0">
                <a:latin typeface="Calibri" charset="0"/>
              </a:rPr>
            </a:br>
            <a:r>
              <a:rPr lang="en-US" dirty="0">
                <a:latin typeface="Calibri" charset="0"/>
              </a:rPr>
              <a:t>of the UML </a:t>
            </a:r>
            <a:br>
              <a:rPr lang="en-US" dirty="0">
                <a:latin typeface="Calibri" charset="0"/>
              </a:rPr>
            </a:br>
            <a:r>
              <a:rPr lang="en-US" dirty="0">
                <a:latin typeface="Calibri" charset="0"/>
              </a:rPr>
              <a:t>class </a:t>
            </a:r>
            <a:br>
              <a:rPr lang="en-US" dirty="0">
                <a:latin typeface="Calibri" charset="0"/>
              </a:rPr>
            </a:br>
            <a:r>
              <a:rPr lang="en-US" dirty="0">
                <a:latin typeface="Calibri" charset="0"/>
              </a:rPr>
              <a:t>hierarchy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rot="5400000" flipH="1" flipV="1">
            <a:off x="5921971" y="2912070"/>
            <a:ext cx="260747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rot="5400000" flipH="1" flipV="1">
            <a:off x="5842596" y="1097558"/>
            <a:ext cx="260747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462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4588" y="1250156"/>
            <a:ext cx="4654550" cy="15109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</p:pic>
      <p:pic>
        <p:nvPicPr>
          <p:cNvPr id="19463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0614" y="3037285"/>
            <a:ext cx="4772025" cy="16287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42602524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Type Compatibility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In the class hierarchy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Each </a:t>
            </a:r>
            <a:r>
              <a:rPr lang="en-US" sz="3200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Undergraduate</a:t>
            </a:r>
            <a:r>
              <a:rPr lang="en-US" dirty="0">
                <a:latin typeface="Calibri" charset="0"/>
              </a:rPr>
              <a:t> is also a </a:t>
            </a:r>
            <a:r>
              <a:rPr lang="en-US" sz="3200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Student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Each </a:t>
            </a:r>
            <a:r>
              <a:rPr lang="en-US" sz="3200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Student</a:t>
            </a:r>
            <a:r>
              <a:rPr lang="en-US" dirty="0">
                <a:latin typeface="Calibri" charset="0"/>
              </a:rPr>
              <a:t> is also a </a:t>
            </a:r>
            <a:r>
              <a:rPr lang="en-US" sz="3200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Person</a:t>
            </a:r>
          </a:p>
          <a:p>
            <a:pPr eaLnBrk="1" hangingPunct="1"/>
            <a:r>
              <a:rPr lang="en-US" dirty="0">
                <a:latin typeface="Calibri" charset="0"/>
              </a:rPr>
              <a:t>An object of a derived class can serve as an object of the base class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Note this is </a:t>
            </a:r>
            <a:r>
              <a:rPr lang="en-US" u="sng" dirty="0">
                <a:latin typeface="Calibri" charset="0"/>
              </a:rPr>
              <a:t>not</a:t>
            </a:r>
            <a:r>
              <a:rPr lang="en-US" dirty="0">
                <a:latin typeface="Calibri" charset="0"/>
              </a:rPr>
              <a:t> typecasting</a:t>
            </a:r>
          </a:p>
          <a:p>
            <a:pPr eaLnBrk="1" hangingPunct="1"/>
            <a:r>
              <a:rPr lang="en-US" dirty="0">
                <a:latin typeface="Calibri" charset="0"/>
              </a:rPr>
              <a:t>An object of a class can be referenced by a variable of an ancestor type</a:t>
            </a:r>
          </a:p>
        </p:txBody>
      </p:sp>
    </p:spTree>
    <p:extLst>
      <p:ext uri="{BB962C8B-B14F-4D97-AF65-F5344CB8AC3E}">
        <p14:creationId xmlns:p14="http://schemas.microsoft.com/office/powerpoint/2010/main" val="2340153650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Type Compatibility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280160"/>
            <a:ext cx="7566574" cy="3352563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Be aware of the "is-a" relationship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A </a:t>
            </a:r>
            <a:r>
              <a:rPr lang="en-US" sz="3200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Student</a:t>
            </a:r>
            <a:r>
              <a:rPr lang="en-US" dirty="0">
                <a:latin typeface="Calibri" charset="0"/>
              </a:rPr>
              <a:t> </a:t>
            </a:r>
            <a:r>
              <a:rPr lang="en-US" i="1" dirty="0">
                <a:latin typeface="Calibri" charset="0"/>
              </a:rPr>
              <a:t>is a</a:t>
            </a:r>
            <a:r>
              <a:rPr lang="en-US" dirty="0">
                <a:latin typeface="Calibri" charset="0"/>
              </a:rPr>
              <a:t> </a:t>
            </a:r>
            <a:r>
              <a:rPr lang="en-US" sz="3200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Person</a:t>
            </a:r>
          </a:p>
          <a:p>
            <a:pPr eaLnBrk="1" hangingPunct="1"/>
            <a:r>
              <a:rPr lang="en-US" dirty="0">
                <a:latin typeface="Calibri" charset="0"/>
              </a:rPr>
              <a:t>Another relationship is the "has-a"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A class can contain (as an instance variable) an object of another type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If we specify a date of birth variable for </a:t>
            </a:r>
            <a:r>
              <a:rPr lang="en-US" sz="3200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Person</a:t>
            </a:r>
            <a:r>
              <a:rPr lang="en-US" dirty="0">
                <a:latin typeface="Calibri" charset="0"/>
              </a:rPr>
              <a:t> – it "has-a" </a:t>
            </a:r>
            <a:r>
              <a:rPr lang="en-US" sz="3200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Date</a:t>
            </a:r>
            <a:r>
              <a:rPr lang="en-US" dirty="0">
                <a:latin typeface="Calibri" charset="0"/>
              </a:rPr>
              <a:t> object</a:t>
            </a:r>
          </a:p>
          <a:p>
            <a:pPr lvl="1"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327473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a typeface="+mj-ea"/>
              </a:rPr>
              <a:t>The Class </a:t>
            </a:r>
            <a:r>
              <a:rPr lang="en-US" b="1" dirty="0">
                <a:solidFill>
                  <a:srgbClr val="0033CC"/>
                </a:solidFill>
                <a:latin typeface="Courier New" pitchFamily="49" charset="0"/>
                <a:ea typeface="+mn-ea"/>
                <a:cs typeface="Courier New" pitchFamily="49" charset="0"/>
              </a:rPr>
              <a:t>Object</a:t>
            </a:r>
            <a:endParaRPr lang="en-US" sz="3200" b="1" dirty="0">
              <a:solidFill>
                <a:srgbClr val="0033CC"/>
              </a:solidFill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22531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Java has a class that is the ultimate ancestor of every class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The class 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Object</a:t>
            </a:r>
            <a:endParaRPr lang="en-US" sz="3200" b="1" dirty="0">
              <a:solidFill>
                <a:srgbClr val="0033CC"/>
              </a:solidFill>
              <a:latin typeface="Courier New" charset="0"/>
              <a:cs typeface="Courier New" charset="0"/>
            </a:endParaRPr>
          </a:p>
          <a:p>
            <a:pPr eaLnBrk="1" hangingPunct="1"/>
            <a:r>
              <a:rPr lang="en-US" dirty="0">
                <a:latin typeface="Calibri" charset="0"/>
              </a:rPr>
              <a:t>Thus possible to write a method with parameter of type 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Object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Actual parameter in the call can be object of </a:t>
            </a:r>
            <a:r>
              <a:rPr lang="en-US" u="sng" dirty="0">
                <a:latin typeface="Calibri" charset="0"/>
              </a:rPr>
              <a:t>any</a:t>
            </a:r>
            <a:r>
              <a:rPr lang="en-US" dirty="0">
                <a:latin typeface="Calibri" charset="0"/>
              </a:rPr>
              <a:t> type</a:t>
            </a:r>
          </a:p>
          <a:p>
            <a:pPr eaLnBrk="1" hangingPunct="1"/>
            <a:r>
              <a:rPr lang="en-US" dirty="0">
                <a:latin typeface="Calibri" charset="0"/>
              </a:rPr>
              <a:t>Example:  method </a:t>
            </a:r>
            <a:br>
              <a:rPr lang="en-US" dirty="0">
                <a:latin typeface="Calibri" charset="0"/>
              </a:rPr>
            </a:b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println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(Object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theObject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)</a:t>
            </a: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236222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The Class </a:t>
            </a:r>
            <a:r>
              <a:rPr lang="en-US" b="1">
                <a:solidFill>
                  <a:srgbClr val="0033CC"/>
                </a:solidFill>
                <a:latin typeface="Courier New" charset="0"/>
                <a:cs typeface="Courier New" charset="0"/>
              </a:rPr>
              <a:t>Object</a:t>
            </a:r>
            <a:endParaRPr lang="en-US">
              <a:latin typeface="Calibri Light" charset="0"/>
            </a:endParaRPr>
          </a:p>
        </p:txBody>
      </p:sp>
      <p:sp>
        <p:nvSpPr>
          <p:cNvPr id="2355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200151"/>
            <a:ext cx="8195224" cy="3394472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Class Object has some methods that every Java class inherits</a:t>
            </a:r>
          </a:p>
          <a:p>
            <a:pPr eaLnBrk="1" hangingPunct="1"/>
            <a:r>
              <a:rPr lang="en-US" dirty="0">
                <a:latin typeface="Calibri" charset="0"/>
              </a:rPr>
              <a:t>Examples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Method </a:t>
            </a:r>
            <a:r>
              <a:rPr lang="en-US" sz="3200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equals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Method </a:t>
            </a:r>
            <a:r>
              <a:rPr lang="en-US" sz="3200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toString</a:t>
            </a:r>
            <a:endParaRPr lang="en-US" sz="3200" b="1" dirty="0">
              <a:solidFill>
                <a:srgbClr val="0033CC"/>
              </a:solidFill>
              <a:latin typeface="Courier New" charset="0"/>
              <a:cs typeface="Courier New" charset="0"/>
            </a:endParaRPr>
          </a:p>
          <a:p>
            <a:pPr eaLnBrk="1" hangingPunct="1"/>
            <a:r>
              <a:rPr lang="en-US" dirty="0">
                <a:latin typeface="Calibri" charset="0"/>
              </a:rPr>
              <a:t>Method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toString</a:t>
            </a:r>
            <a:r>
              <a:rPr lang="en-US" dirty="0">
                <a:latin typeface="Calibri" charset="0"/>
              </a:rPr>
              <a:t> called when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println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(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theObject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) </a:t>
            </a:r>
            <a:r>
              <a:rPr lang="en-US" dirty="0">
                <a:latin typeface="Calibri" charset="0"/>
              </a:rPr>
              <a:t>invoked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Best to define your own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toString</a:t>
            </a:r>
            <a:r>
              <a:rPr lang="en-US" dirty="0">
                <a:latin typeface="Calibri" charset="0"/>
              </a:rPr>
              <a:t> to handle this</a:t>
            </a: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126391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a typeface="+mj-ea"/>
              </a:rPr>
              <a:t>A Better </a:t>
            </a:r>
            <a:r>
              <a:rPr lang="en-US" b="1" dirty="0">
                <a:solidFill>
                  <a:srgbClr val="0033CC"/>
                </a:solidFill>
                <a:latin typeface="Courier New" pitchFamily="49" charset="0"/>
                <a:ea typeface="+mn-ea"/>
                <a:cs typeface="Courier New" pitchFamily="49" charset="0"/>
              </a:rPr>
              <a:t>equals</a:t>
            </a:r>
            <a:r>
              <a:rPr lang="en-US" dirty="0">
                <a:ea typeface="+mj-ea"/>
              </a:rPr>
              <a:t> Method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4294967295"/>
          </p:nvPr>
        </p:nvSpPr>
        <p:spPr>
          <a:xfrm>
            <a:off x="914400" y="901779"/>
            <a:ext cx="8229600" cy="3149203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Programmer of a class should override method equals from 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Object</a:t>
            </a:r>
          </a:p>
          <a:p>
            <a:pPr eaLnBrk="1" hangingPunct="1"/>
            <a:r>
              <a:rPr lang="en-US" dirty="0">
                <a:latin typeface="Calibri" charset="0"/>
              </a:rPr>
              <a:t>View code of </a:t>
            </a:r>
            <a:r>
              <a:rPr lang="en-US" dirty="0">
                <a:latin typeface="Calibri" charset="0"/>
                <a:hlinkClick r:id="rId2" action="ppaction://hlinkfile"/>
              </a:rPr>
              <a:t>sample override</a:t>
            </a:r>
            <a:br>
              <a:rPr lang="en-US" dirty="0">
                <a:latin typeface="Calibri" charset="0"/>
              </a:rPr>
            </a:b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public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boolean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 equals</a:t>
            </a:r>
            <a:b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</a:b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       (Object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theObject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)</a:t>
            </a:r>
          </a:p>
          <a:p>
            <a:pPr eaLnBrk="1" hangingPunct="1"/>
            <a:endParaRPr lang="en-US" dirty="0">
              <a:latin typeface="Calibri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49" b="6799"/>
          <a:stretch/>
        </p:blipFill>
        <p:spPr bwMode="auto">
          <a:xfrm>
            <a:off x="1572578" y="2303154"/>
            <a:ext cx="6484937" cy="2689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1510477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Jobtalk_UF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Stanford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U_Template_TopBar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Stanford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Jobtalk_UF.pot</Template>
  <TotalTime>15475</TotalTime>
  <Words>553</Words>
  <Application>Microsoft Office PowerPoint</Application>
  <PresentationFormat>화면 슬라이드 쇼(16:9)</PresentationFormat>
  <Paragraphs>105</Paragraphs>
  <Slides>22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22</vt:i4>
      </vt:variant>
    </vt:vector>
  </HeadingPairs>
  <TitlesOfParts>
    <vt:vector size="24" baseType="lpstr">
      <vt:lpstr>Jobtalk_UF</vt:lpstr>
      <vt:lpstr>SU_Template_TopBar</vt:lpstr>
      <vt:lpstr>Inheritance Basics</vt:lpstr>
      <vt:lpstr>Inheritance</vt:lpstr>
      <vt:lpstr>Derived Classes</vt:lpstr>
      <vt:lpstr>Derived Classes</vt:lpstr>
      <vt:lpstr>Derived Classes</vt:lpstr>
      <vt:lpstr>Overriding Method Definitions</vt:lpstr>
      <vt:lpstr>Overriding Versus Overloading</vt:lpstr>
      <vt:lpstr>The final Modifier</vt:lpstr>
      <vt:lpstr>Private Instance Variables, Methods</vt:lpstr>
      <vt:lpstr>UML Inheritance Diagrams</vt:lpstr>
      <vt:lpstr>UML Inheritance Diagrams</vt:lpstr>
      <vt:lpstr>Constructors in Derived Classes</vt:lpstr>
      <vt:lpstr>The this Method – Again </vt:lpstr>
      <vt:lpstr>Calling an Overridden Method</vt:lpstr>
      <vt:lpstr>Programming Example</vt:lpstr>
      <vt:lpstr>Programming Example</vt:lpstr>
      <vt:lpstr>Programming Example</vt:lpstr>
      <vt:lpstr>Type Compatibility</vt:lpstr>
      <vt:lpstr>Type Compatibility</vt:lpstr>
      <vt:lpstr>The Class Object</vt:lpstr>
      <vt:lpstr>The Class Object</vt:lpstr>
      <vt:lpstr>A Better equals Method</vt:lpstr>
    </vt:vector>
  </TitlesOfParts>
  <Company>Stanford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Guidelines</dc:title>
  <dc:creator>Giltae Song</dc:creator>
  <dc:description>2012 PowerPoint template redesign</dc:description>
  <cp:lastModifiedBy>curator</cp:lastModifiedBy>
  <cp:revision>1695</cp:revision>
  <cp:lastPrinted>2016-01-15T22:14:07Z</cp:lastPrinted>
  <dcterms:created xsi:type="dcterms:W3CDTF">2016-01-04T21:30:26Z</dcterms:created>
  <dcterms:modified xsi:type="dcterms:W3CDTF">2019-10-21T08:26:01Z</dcterms:modified>
</cp:coreProperties>
</file>