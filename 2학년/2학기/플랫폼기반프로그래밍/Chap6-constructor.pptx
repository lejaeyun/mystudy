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40"/>
  </p:notesMasterIdLst>
  <p:handoutMasterIdLst>
    <p:handoutMasterId r:id="rId41"/>
  </p:handoutMasterIdLst>
  <p:sldIdLst>
    <p:sldId id="409" r:id="rId3"/>
    <p:sldId id="412" r:id="rId4"/>
    <p:sldId id="413" r:id="rId5"/>
    <p:sldId id="414" r:id="rId6"/>
    <p:sldId id="481" r:id="rId7"/>
    <p:sldId id="417" r:id="rId8"/>
    <p:sldId id="418" r:id="rId9"/>
    <p:sldId id="419" r:id="rId10"/>
    <p:sldId id="420" r:id="rId11"/>
    <p:sldId id="422" r:id="rId12"/>
    <p:sldId id="423" r:id="rId13"/>
    <p:sldId id="424" r:id="rId14"/>
    <p:sldId id="425" r:id="rId15"/>
    <p:sldId id="427" r:id="rId16"/>
    <p:sldId id="428" r:id="rId17"/>
    <p:sldId id="482" r:id="rId18"/>
    <p:sldId id="483" r:id="rId19"/>
    <p:sldId id="484" r:id="rId20"/>
    <p:sldId id="485" r:id="rId21"/>
    <p:sldId id="48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1" r:id="rId37"/>
    <p:sldId id="502" r:id="rId38"/>
    <p:sldId id="503" r:id="rId39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EC58A8-8DCE-3C91-F0D9-32AFF9C9D103}" v="12" dt="2019-10-01T04:55:44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>
        <p:scale>
          <a:sx n="125" d="100"/>
          <a:sy n="125" d="100"/>
        </p:scale>
        <p:origin x="-88" y="-1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10/21/2019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Objects and Methods (Chapter 6)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452879"/>
            <a:ext cx="7566574" cy="3179843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Constructors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Static variables and methods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Overloaded methods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ea typeface="ＭＳ Ｐゴシック"/>
                <a:cs typeface="Arial"/>
              </a:rPr>
              <a:t>Math class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Wrapper classes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Overloaded methods</a:t>
            </a:r>
          </a:p>
        </p:txBody>
      </p:sp>
    </p:spTree>
    <p:extLst>
      <p:ext uri="{BB962C8B-B14F-4D97-AF65-F5344CB8AC3E}">
        <p14:creationId xmlns:p14="http://schemas.microsoft.com/office/powerpoint/2010/main" val="201741305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Constructors: Outline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20800"/>
            <a:ext cx="7738024" cy="3352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Defining Constructors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Calling Methods from Constructors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Calling a Constructor from Other Constructors</a:t>
            </a:r>
          </a:p>
        </p:txBody>
      </p:sp>
    </p:spTree>
    <p:extLst>
      <p:ext uri="{BB962C8B-B14F-4D97-AF65-F5344CB8AC3E}">
        <p14:creationId xmlns:p14="http://schemas.microsoft.com/office/powerpoint/2010/main" val="170827311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Constructors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5" y="1106091"/>
            <a:ext cx="7707863" cy="339447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special method called when instance of an object created with new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Create objects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Initialize values of instance variables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Can have parameters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To specify initial values if desired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May have multiple definitions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Each with different numbers or types of parameters</a:t>
            </a:r>
          </a:p>
        </p:txBody>
      </p:sp>
    </p:spTree>
    <p:extLst>
      <p:ext uri="{BB962C8B-B14F-4D97-AF65-F5344CB8AC3E}">
        <p14:creationId xmlns:p14="http://schemas.microsoft.com/office/powerpoint/2010/main" val="159905677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Constructors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48080"/>
            <a:ext cx="7707862" cy="348464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Example: Class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Pet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810" y="1939290"/>
            <a:ext cx="5530850" cy="25396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35200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Defining Constructors – example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48080"/>
            <a:ext cx="7707862" cy="3484643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Example: Class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Pet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3"/>
          <a:stretch/>
        </p:blipFill>
        <p:spPr bwMode="auto">
          <a:xfrm>
            <a:off x="1524000" y="1760310"/>
            <a:ext cx="6465888" cy="29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683608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Defining Constructors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Constructor without parameters is the default constructor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Java will define this automatically if the class designer does not define any constructors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If you </a:t>
            </a:r>
            <a:r>
              <a:rPr lang="en-US" sz="2000" u="sng" dirty="0">
                <a:solidFill>
                  <a:srgbClr val="000000"/>
                </a:solidFill>
                <a:cs typeface="Arial"/>
              </a:rPr>
              <a:t>do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define a constructor, Java will </a:t>
            </a:r>
            <a:r>
              <a:rPr lang="en-US" sz="2000" u="sng" dirty="0">
                <a:solidFill>
                  <a:srgbClr val="000000"/>
                </a:solidFill>
                <a:cs typeface="Arial"/>
              </a:rPr>
              <a:t>not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automatically define a default constructor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Usually default constructors not included in class diagram</a:t>
            </a:r>
          </a:p>
        </p:txBody>
      </p:sp>
    </p:spTree>
    <p:extLst>
      <p:ext uri="{BB962C8B-B14F-4D97-AF65-F5344CB8AC3E}">
        <p14:creationId xmlns:p14="http://schemas.microsoft.com/office/powerpoint/2010/main" val="102352571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Defining Constructors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995681"/>
            <a:ext cx="5380904" cy="55507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 constructor returning a reference</a:t>
            </a:r>
          </a:p>
        </p:txBody>
      </p:sp>
      <p:pic>
        <p:nvPicPr>
          <p:cNvPr id="1229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145" y="1550750"/>
            <a:ext cx="5437188" cy="3208734"/>
          </a:xfrm>
          <a:prstGeom prst="rect">
            <a:avLst/>
          </a:prstGeom>
          <a:noFill/>
          <a:ln>
            <a:noFill/>
          </a:ln>
          <a:effectLst>
            <a:outerShdw blurRad="63500"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876473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28054" y="396240"/>
            <a:ext cx="6186170" cy="457200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Calling Methods from Other Constructors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1047750" y="1369219"/>
            <a:ext cx="7467600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Constructor can call other class methods</a:t>
            </a:r>
            <a:endParaRPr lang="en-US" dirty="0">
              <a:latin typeface="Calibri" charset="0"/>
            </a:endParaRP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Keeps from repeating code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3010217"/>
            <a:ext cx="5564188" cy="945356"/>
          </a:xfrm>
          <a:prstGeom prst="rect">
            <a:avLst/>
          </a:prstGeom>
          <a:noFill/>
          <a:ln>
            <a:noFill/>
          </a:ln>
          <a:effectLst>
            <a:outerShdw blurRad="63500" dist="88900" dir="2700000" algn="tl" rotWithShape="0">
              <a:srgbClr val="000000">
                <a:alpha val="39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rot="10800000" flipV="1">
            <a:off x="3090864" y="2755424"/>
            <a:ext cx="2471737" cy="7453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270125" y="3460116"/>
            <a:ext cx="960438" cy="3309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804112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5242561" y="162554"/>
            <a:ext cx="3669480" cy="751840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Calling Constructor from Other Constructors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" t="16764" b="5629"/>
          <a:stretch/>
        </p:blipFill>
        <p:spPr bwMode="auto">
          <a:xfrm>
            <a:off x="560520" y="162554"/>
            <a:ext cx="4588060" cy="484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080" y="1626883"/>
            <a:ext cx="4057648" cy="133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" b="32348"/>
          <a:stretch/>
        </p:blipFill>
        <p:spPr bwMode="auto">
          <a:xfrm>
            <a:off x="4673600" y="2936240"/>
            <a:ext cx="4321808" cy="916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058784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Static Variables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16794"/>
            <a:ext cx="7784062" cy="3394472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Static variables are shared by all objects of a class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Variables declared </a:t>
            </a:r>
            <a:r>
              <a:rPr lang="en-US" sz="2000" b="1" spc="20" dirty="0">
                <a:solidFill>
                  <a:schemeClr val="accent2"/>
                </a:solidFill>
                <a:cs typeface="Arial"/>
              </a:rPr>
              <a:t>static final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are considered constants – value cannot be changed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Variables declared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static</a:t>
            </a:r>
            <a:r>
              <a:rPr lang="en-US" sz="2000" dirty="0">
                <a:cs typeface="Arial"/>
              </a:rPr>
              <a:t> (without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final</a:t>
            </a:r>
            <a:r>
              <a:rPr lang="en-US" sz="2000" dirty="0">
                <a:cs typeface="Arial"/>
              </a:rPr>
              <a:t>) can be changed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Only one instance of the variable exists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It can be accessed by all instances of the class</a:t>
            </a:r>
          </a:p>
        </p:txBody>
      </p:sp>
    </p:spTree>
    <p:extLst>
      <p:ext uri="{BB962C8B-B14F-4D97-AF65-F5344CB8AC3E}">
        <p14:creationId xmlns:p14="http://schemas.microsoft.com/office/powerpoint/2010/main" val="41477076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Static Variables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Static variables also are called </a:t>
            </a:r>
            <a:r>
              <a:rPr lang="en-US" sz="2000" i="1" dirty="0">
                <a:cs typeface="Arial"/>
              </a:rPr>
              <a:t>class variables</a:t>
            </a:r>
            <a:endParaRPr lang="en-US" sz="2000" dirty="0">
              <a:cs typeface="Arial"/>
            </a:endParaRP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Contrast with </a:t>
            </a:r>
            <a:r>
              <a:rPr lang="en-US" sz="2000" i="1" dirty="0">
                <a:solidFill>
                  <a:srgbClr val="000000"/>
                </a:solidFill>
                <a:cs typeface="Arial"/>
              </a:rPr>
              <a:t>instance variables</a:t>
            </a:r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Do not confuse class variables with variables of a class type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Both static variables and instance variables are sometimes called </a:t>
            </a:r>
            <a:r>
              <a:rPr lang="en-US" sz="2000" i="1" dirty="0">
                <a:cs typeface="Arial"/>
              </a:rPr>
              <a:t>fields</a:t>
            </a:r>
            <a:r>
              <a:rPr lang="en-US" sz="2000" dirty="0">
                <a:cs typeface="Arial"/>
              </a:rPr>
              <a:t> or </a:t>
            </a:r>
            <a:r>
              <a:rPr lang="en-US" sz="2000" i="1" dirty="0">
                <a:cs typeface="Arial"/>
              </a:rPr>
              <a:t>data members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301061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Static Methods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Some methods may have no relation to any type of object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Compute max of two integers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Convert character from upper- to lower case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Static method declared </a:t>
            </a:r>
            <a:r>
              <a:rPr lang="en-US" sz="2000" u="sng" dirty="0">
                <a:cs typeface="Arial"/>
              </a:rPr>
              <a:t>in</a:t>
            </a:r>
            <a:r>
              <a:rPr lang="en-US" sz="2000" dirty="0">
                <a:cs typeface="Arial"/>
              </a:rPr>
              <a:t> a class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Can be invoked </a:t>
            </a:r>
            <a:r>
              <a:rPr lang="en-US" sz="2000" u="sng" dirty="0">
                <a:solidFill>
                  <a:srgbClr val="000000"/>
                </a:solidFill>
                <a:cs typeface="Arial"/>
              </a:rPr>
              <a:t>without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using an object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Instead use the class name</a:t>
            </a:r>
          </a:p>
        </p:txBody>
      </p:sp>
    </p:spTree>
    <p:extLst>
      <p:ext uri="{BB962C8B-B14F-4D97-AF65-F5344CB8AC3E}">
        <p14:creationId xmlns:p14="http://schemas.microsoft.com/office/powerpoint/2010/main" val="1367677858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48776" y="115529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Static Methods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0880" y="4013200"/>
            <a:ext cx="5354320" cy="984935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6987223" y="3941088"/>
            <a:ext cx="1214438" cy="92333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dirty="0">
                <a:latin typeface="Arial" pitchFamily="34" charset="0"/>
                <a:ea typeface="+mn-ea"/>
              </a:rPr>
              <a:t>Sample </a:t>
            </a:r>
            <a:br>
              <a:rPr lang="en-US" altLang="en-US" dirty="0">
                <a:latin typeface="Arial" pitchFamily="34" charset="0"/>
                <a:ea typeface="+mn-ea"/>
              </a:rPr>
            </a:br>
            <a:r>
              <a:rPr lang="en-US" altLang="en-US" dirty="0">
                <a:latin typeface="Arial" pitchFamily="34" charset="0"/>
                <a:ea typeface="+mn-ea"/>
              </a:rPr>
              <a:t>screen output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9"/>
          <a:stretch/>
        </p:blipFill>
        <p:spPr bwMode="auto">
          <a:xfrm>
            <a:off x="2062480" y="703280"/>
            <a:ext cx="5341303" cy="286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87" b="54281"/>
          <a:stretch/>
        </p:blipFill>
        <p:spPr bwMode="auto">
          <a:xfrm>
            <a:off x="1410335" y="3589853"/>
            <a:ext cx="5576888" cy="388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4788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46480"/>
            <a:ext cx="2962824" cy="3220720"/>
          </a:xfrm>
          <a:prstGeom prst="rect">
            <a:avLst/>
          </a:prstGeom>
        </p:spPr>
        <p:txBody>
          <a:bodyPr/>
          <a:lstStyle/>
          <a:p>
            <a:pPr eaLnBrk="1" hangingPunct="1">
              <a:buFont typeface="Wingdings" charset="2"/>
              <a:buChar char="§"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main</a:t>
            </a:r>
            <a:r>
              <a:rPr lang="en-US" sz="2000" dirty="0">
                <a:cs typeface="Arial"/>
              </a:rPr>
              <a:t> method with repetitive code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4"/>
          <a:stretch/>
        </p:blipFill>
        <p:spPr bwMode="auto">
          <a:xfrm>
            <a:off x="4065242" y="359541"/>
            <a:ext cx="4764116" cy="450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</p:spPr>
        <p:txBody>
          <a:bodyPr/>
          <a:lstStyle/>
          <a:p>
            <a:pPr eaLnBrk="1" hangingPunct="1"/>
            <a:r>
              <a:rPr lang="en-US" spc="20" dirty="0">
                <a:solidFill>
                  <a:schemeClr val="accent1"/>
                </a:solidFill>
                <a:cs typeface="Arial"/>
              </a:rPr>
              <a:t>Tasks of </a:t>
            </a:r>
            <a:r>
              <a:rPr lang="en-US" spc="20" dirty="0">
                <a:solidFill>
                  <a:schemeClr val="accent2"/>
                </a:solidFill>
                <a:cs typeface="Arial"/>
              </a:rPr>
              <a:t>main</a:t>
            </a:r>
            <a:endParaRPr lang="en-US" dirty="0">
              <a:latin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296600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19759"/>
            <a:ext cx="7802880" cy="443469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Arial"/>
              </a:rPr>
              <a:t>Adding Method </a:t>
            </a:r>
            <a:r>
              <a:rPr lang="en-US" b="1" dirty="0">
                <a:solidFill>
                  <a:schemeClr val="accent2"/>
                </a:solidFill>
                <a:ea typeface="+mn-ea"/>
                <a:cs typeface="Arial"/>
              </a:rPr>
              <a:t>main</a:t>
            </a:r>
            <a:r>
              <a:rPr lang="en-US" dirty="0">
                <a:ea typeface="+mj-ea"/>
                <a:cs typeface="Arial"/>
              </a:rPr>
              <a:t> to a Class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4294967295"/>
          </p:nvPr>
        </p:nvSpPr>
        <p:spPr>
          <a:xfrm>
            <a:off x="914400" y="1369219"/>
            <a:ext cx="7802880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Method main used so far in its own class within a separate file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Often useful to include method main within class definition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To create objects in other classes</a:t>
            </a:r>
          </a:p>
          <a:p>
            <a:pPr lvl="2" eaLnBrk="1" hangingPunct="1"/>
            <a:r>
              <a:rPr lang="en-US" sz="2000" dirty="0">
                <a:solidFill>
                  <a:schemeClr val="tx1"/>
                </a:solidFill>
                <a:cs typeface="Arial"/>
              </a:rPr>
              <a:t>To be run as a program</a:t>
            </a:r>
          </a:p>
        </p:txBody>
      </p:sp>
    </p:spTree>
    <p:extLst>
      <p:ext uri="{BB962C8B-B14F-4D97-AF65-F5344CB8AC3E}">
        <p14:creationId xmlns:p14="http://schemas.microsoft.com/office/powerpoint/2010/main" val="82548260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ea typeface="+mn-ea"/>
                <a:cs typeface="Arial"/>
              </a:rPr>
              <a:t>Math</a:t>
            </a:r>
            <a:r>
              <a:rPr lang="en-US" dirty="0">
                <a:ea typeface="+mj-ea"/>
                <a:cs typeface="Arial"/>
              </a:rPr>
              <a:t> Class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52512"/>
            <a:ext cx="7738024" cy="3793807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Provides many standard mathematical methods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sz="2000" dirty="0">
                <a:solidFill>
                  <a:schemeClr val="tx1"/>
                </a:solidFill>
                <a:cs typeface="Arial"/>
              </a:rPr>
              <a:t>Automatically provided, no import needed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 methods</a:t>
            </a:r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988" y="2441894"/>
            <a:ext cx="6965950" cy="227052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3786443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Math</a:t>
            </a:r>
            <a:r>
              <a:rPr lang="en-US" dirty="0">
                <a:cs typeface="Arial"/>
              </a:rPr>
              <a:t> Class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76960"/>
            <a:ext cx="7707862" cy="3616959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Example methods</a:t>
            </a:r>
          </a:p>
        </p:txBody>
      </p:sp>
      <p:grpSp>
        <p:nvGrpSpPr>
          <p:cNvPr id="24580" name="Group 9"/>
          <p:cNvGrpSpPr>
            <a:grpSpLocks/>
          </p:cNvGrpSpPr>
          <p:nvPr/>
        </p:nvGrpSpPr>
        <p:grpSpPr bwMode="auto">
          <a:xfrm>
            <a:off x="1591629" y="1696165"/>
            <a:ext cx="6421437" cy="2800350"/>
            <a:chOff x="1514475" y="2861324"/>
            <a:chExt cx="6421997" cy="3734739"/>
          </a:xfrm>
        </p:grpSpPr>
        <p:pic>
          <p:nvPicPr>
            <p:cNvPr id="24581" name="Picture 8"/>
            <p:cNvPicPr>
              <a:picLocks noChangeAspect="1" noChangeArrowheads="1"/>
            </p:cNvPicPr>
            <p:nvPr/>
          </p:nvPicPr>
          <p:blipFill>
            <a:blip r:embed="rId2"/>
            <a:srcRect b="90425"/>
            <a:stretch>
              <a:fillRect/>
            </a:stretch>
          </p:blipFill>
          <p:spPr bwMode="auto">
            <a:xfrm>
              <a:off x="1516062" y="2861324"/>
              <a:ext cx="6420410" cy="57799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4582" name="Picture 8"/>
            <p:cNvPicPr>
              <a:picLocks noChangeAspect="1" noChangeArrowheads="1"/>
            </p:cNvPicPr>
            <p:nvPr/>
          </p:nvPicPr>
          <p:blipFill>
            <a:blip r:embed="rId2"/>
            <a:srcRect t="47420"/>
            <a:stretch>
              <a:fillRect/>
            </a:stretch>
          </p:blipFill>
          <p:spPr bwMode="auto">
            <a:xfrm>
              <a:off x="1514475" y="3425028"/>
              <a:ext cx="6420410" cy="3171035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535406990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Random Numbers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77778"/>
            <a:ext cx="7707862" cy="3365341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b="1" dirty="0" err="1">
                <a:solidFill>
                  <a:srgbClr val="000000"/>
                </a:solidFill>
                <a:cs typeface="Arial"/>
              </a:rPr>
              <a:t>Math.random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()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returns a random double that is greater than or equal to zero and less than 1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Java also has a 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Random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class to generate random numbers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Can scale using addition and multiplication; the following simulates rolling a six sided die</a:t>
            </a:r>
          </a:p>
          <a:p>
            <a:pPr marL="457200" lvl="1" indent="0" eaLnBrk="1" hangingPunct="1">
              <a:buFont typeface="Wingdings" charset="0"/>
              <a:buNone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int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 die = (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int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) (6.0 * 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Math.random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()) + 1;</a:t>
            </a:r>
          </a:p>
        </p:txBody>
      </p:sp>
    </p:spTree>
    <p:extLst>
      <p:ext uri="{BB962C8B-B14F-4D97-AF65-F5344CB8AC3E}">
        <p14:creationId xmlns:p14="http://schemas.microsoft.com/office/powerpoint/2010/main" val="100055492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Wrapper Classes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68400"/>
            <a:ext cx="7707862" cy="346432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Java provides </a:t>
            </a:r>
            <a:r>
              <a:rPr lang="en-US" sz="2000" i="1" dirty="0">
                <a:solidFill>
                  <a:srgbClr val="000000"/>
                </a:solidFill>
                <a:cs typeface="Arial"/>
              </a:rPr>
              <a:t>wrapper classes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for each primitive type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Methods provided to act on values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Allow programmer to have an object that corresponds to value of primitive type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Contain useful predefined constants and methods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Wrapper classes have no default constructor</a:t>
            </a:r>
          </a:p>
          <a:p>
            <a:pPr marL="857250" lvl="3" indent="-285750" eaLnBrk="1" hangingPunct="1">
              <a:buFont typeface="Wingdings" charset="2"/>
              <a:buChar char="²"/>
            </a:pPr>
            <a:r>
              <a:rPr lang="en-US" dirty="0">
                <a:solidFill>
                  <a:srgbClr val="000000"/>
                </a:solidFill>
                <a:cs typeface="Arial"/>
              </a:rPr>
              <a:t>Programmer must specify an initializing value when creating new object</a:t>
            </a:r>
          </a:p>
          <a:p>
            <a:pPr lvl="2" eaLnBrk="1" hangingPunct="1">
              <a:buFont typeface="Wingdings" charset="2"/>
              <a:buChar char="§"/>
            </a:pPr>
            <a:r>
              <a:rPr lang="en-US" dirty="0">
                <a:solidFill>
                  <a:srgbClr val="000000"/>
                </a:solidFill>
                <a:cs typeface="Arial"/>
              </a:rPr>
              <a:t>Wrapper classes have no </a:t>
            </a:r>
            <a:r>
              <a:rPr lang="en-US" b="1" dirty="0">
                <a:solidFill>
                  <a:srgbClr val="000000"/>
                </a:solidFill>
                <a:cs typeface="Arial"/>
              </a:rPr>
              <a:t>set</a:t>
            </a:r>
            <a:r>
              <a:rPr lang="en-US" dirty="0">
                <a:solidFill>
                  <a:srgbClr val="000000"/>
                </a:solidFill>
                <a:cs typeface="Arial"/>
              </a:rPr>
              <a:t> methods</a:t>
            </a:r>
          </a:p>
          <a:p>
            <a:pPr lvl="2" eaLnBrk="1" hangingPunct="1"/>
            <a:endParaRPr lang="en-US" sz="2000" dirty="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165461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Wrapper Classes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Static methods in class </a:t>
            </a:r>
            <a:r>
              <a:rPr lang="en-US" sz="2400" b="1" dirty="0">
                <a:solidFill>
                  <a:schemeClr val="accent2"/>
                </a:solidFill>
                <a:cs typeface="Arial"/>
              </a:rPr>
              <a:t>Character</a:t>
            </a:r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336" y="2118043"/>
            <a:ext cx="7847013" cy="192405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3126397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Wrapper Classes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0871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indent="-457200" eaLnBrk="1" hangingPunct="1">
              <a:buFont typeface="Wingdings" charset="2"/>
              <a:buChar char="v"/>
            </a:pPr>
            <a:r>
              <a:rPr lang="en-US" sz="2400" dirty="0">
                <a:cs typeface="Arial"/>
              </a:rPr>
              <a:t>Static methods in class </a:t>
            </a:r>
            <a:r>
              <a:rPr lang="en-US" sz="2400" b="1" dirty="0">
                <a:solidFill>
                  <a:schemeClr val="accent2"/>
                </a:solidFill>
                <a:cs typeface="Arial"/>
              </a:rPr>
              <a:t>Character</a:t>
            </a:r>
          </a:p>
        </p:txBody>
      </p:sp>
      <p:grpSp>
        <p:nvGrpSpPr>
          <p:cNvPr id="29700" name="Group 8"/>
          <p:cNvGrpSpPr>
            <a:grpSpLocks/>
          </p:cNvGrpSpPr>
          <p:nvPr/>
        </p:nvGrpSpPr>
        <p:grpSpPr bwMode="auto">
          <a:xfrm>
            <a:off x="735330" y="1797844"/>
            <a:ext cx="8096250" cy="2870597"/>
            <a:chOff x="794331" y="2745213"/>
            <a:chExt cx="8096250" cy="3827439"/>
          </a:xfrm>
        </p:grpSpPr>
        <p:pic>
          <p:nvPicPr>
            <p:cNvPr id="29701" name="Picture 7"/>
            <p:cNvPicPr>
              <a:picLocks noChangeAspect="1" noChangeArrowheads="1"/>
            </p:cNvPicPr>
            <p:nvPr/>
          </p:nvPicPr>
          <p:blipFill>
            <a:blip r:embed="rId2"/>
            <a:srcRect b="86201"/>
            <a:stretch>
              <a:fillRect/>
            </a:stretch>
          </p:blipFill>
          <p:spPr bwMode="auto">
            <a:xfrm>
              <a:off x="794331" y="2745213"/>
              <a:ext cx="8096250" cy="796920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  <p:pic>
          <p:nvPicPr>
            <p:cNvPr id="29702" name="Picture 8"/>
            <p:cNvPicPr>
              <a:picLocks noChangeAspect="1" noChangeArrowheads="1"/>
            </p:cNvPicPr>
            <p:nvPr/>
          </p:nvPicPr>
          <p:blipFill>
            <a:blip r:embed="rId2"/>
            <a:srcRect t="46822"/>
            <a:stretch>
              <a:fillRect/>
            </a:stretch>
          </p:blipFill>
          <p:spPr bwMode="auto">
            <a:xfrm>
              <a:off x="794331" y="3502446"/>
              <a:ext cx="8096250" cy="3070206"/>
            </a:xfrm>
            <a:prstGeom prst="rect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450626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Decomposition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With this </a:t>
            </a:r>
            <a:r>
              <a:rPr lang="en-US" sz="2000" dirty="0" err="1">
                <a:cs typeface="Arial"/>
              </a:rPr>
              <a:t>pseudocode</a:t>
            </a:r>
            <a:r>
              <a:rPr lang="en-US" sz="2000" dirty="0">
                <a:cs typeface="Arial"/>
              </a:rPr>
              <a:t> we </a:t>
            </a:r>
            <a:r>
              <a:rPr lang="en-US" sz="2000" i="1" dirty="0">
                <a:cs typeface="Arial"/>
              </a:rPr>
              <a:t>decompose</a:t>
            </a:r>
            <a:r>
              <a:rPr lang="en-US" sz="2000" dirty="0">
                <a:cs typeface="Arial"/>
              </a:rPr>
              <a:t> the task into subtasks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Then solve each subtask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Combine code of subtasks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Place in a method</a:t>
            </a:r>
          </a:p>
        </p:txBody>
      </p:sp>
    </p:spTree>
    <p:extLst>
      <p:ext uri="{BB962C8B-B14F-4D97-AF65-F5344CB8AC3E}">
        <p14:creationId xmlns:p14="http://schemas.microsoft.com/office/powerpoint/2010/main" val="216712685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Addressing Compiler Concerns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Compiler ensures necessary tasks are done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Initialize variables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Include</a:t>
            </a:r>
            <a:r>
              <a:rPr lang="en-US" sz="2000" dirty="0">
                <a:cs typeface="Arial"/>
              </a:rPr>
              <a:t>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return</a:t>
            </a:r>
            <a:r>
              <a:rPr lang="en-US" sz="2000" dirty="0"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statement</a:t>
            </a:r>
          </a:p>
          <a:p>
            <a:pPr lvl="2" eaLnBrk="1" hangingPunct="1"/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Rule of thumb: believe the compiler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Change the code as requested by compiler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It is most likely correct</a:t>
            </a:r>
          </a:p>
        </p:txBody>
      </p:sp>
    </p:spTree>
    <p:extLst>
      <p:ext uri="{BB962C8B-B14F-4D97-AF65-F5344CB8AC3E}">
        <p14:creationId xmlns:p14="http://schemas.microsoft.com/office/powerpoint/2010/main" val="274218793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Testing Methods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To test a method use a driver program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Every method in a class should be tested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Bottom-up testing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Test code at end of sequence of method calls first</a:t>
            </a:r>
          </a:p>
        </p:txBody>
      </p:sp>
    </p:spTree>
    <p:extLst>
      <p:ext uri="{BB962C8B-B14F-4D97-AF65-F5344CB8AC3E}">
        <p14:creationId xmlns:p14="http://schemas.microsoft.com/office/powerpoint/2010/main" val="1088799156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Basics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When two or more methods have same name within the same class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Java distinguishes the methods by number and types of parameters</a:t>
            </a:r>
          </a:p>
          <a:p>
            <a:pPr lvl="2" eaLnBrk="1" hangingPunct="1"/>
            <a:r>
              <a:rPr lang="en-US" dirty="0">
                <a:solidFill>
                  <a:srgbClr val="000000"/>
                </a:solidFill>
                <a:cs typeface="Arial"/>
              </a:rPr>
              <a:t>If it cannot match a call with a definition, it attempts to do type conversions</a:t>
            </a:r>
          </a:p>
          <a:p>
            <a:pPr eaLnBrk="1" hangingPunct="1">
              <a:buFont typeface="Wingdings" charset="2"/>
              <a:buChar char="v"/>
            </a:pPr>
            <a:r>
              <a:rPr lang="en-US" dirty="0">
                <a:cs typeface="Arial"/>
              </a:rPr>
              <a:t>A method's name and number and type of parameters is called the </a:t>
            </a:r>
            <a:r>
              <a:rPr lang="en-US" i="1" dirty="0">
                <a:cs typeface="Arial"/>
              </a:rPr>
              <a:t>signature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9206713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Basics – example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0" b="20424"/>
          <a:stretch/>
        </p:blipFill>
        <p:spPr bwMode="auto">
          <a:xfrm>
            <a:off x="2103120" y="956642"/>
            <a:ext cx="4997450" cy="4021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0105853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and Type Conversion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Overloading and automatic type conversion can conflict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Remember the compiler attempts to overload before it does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753907188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Overloading and Return Type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cs typeface="Arial"/>
              </a:rPr>
              <a:t>You must not overload a method where the only difference is the type of value returned !!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87576" y="2397760"/>
            <a:ext cx="4955048" cy="1879599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  <p:sp>
        <p:nvSpPr>
          <p:cNvPr id="5" name="&quot;No&quot; Symbol 4"/>
          <p:cNvSpPr/>
          <p:nvPr/>
        </p:nvSpPr>
        <p:spPr>
          <a:xfrm>
            <a:off x="3558859" y="2581275"/>
            <a:ext cx="2008187" cy="1506141"/>
          </a:xfrm>
          <a:prstGeom prst="noSmoking">
            <a:avLst/>
          </a:prstGeom>
          <a:solidFill>
            <a:srgbClr val="FF0000">
              <a:alpha val="37000"/>
            </a:srgbClr>
          </a:solidFill>
          <a:ln w="12700" algn="ctr">
            <a:noFill/>
            <a:miter lim="800000"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26041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dirty="0">
                <a:cs typeface="Arial"/>
              </a:rPr>
              <a:t>public class Money</a:t>
            </a:r>
          </a:p>
          <a:p>
            <a:pPr eaLnBrk="1" hangingPunct="1"/>
            <a:r>
              <a:rPr lang="en-US" dirty="0">
                <a:cs typeface="Arial"/>
              </a:rPr>
              <a:t>{</a:t>
            </a:r>
          </a:p>
          <a:p>
            <a:pPr eaLnBrk="1" hangingPunct="1"/>
            <a:r>
              <a:rPr lang="en-US" dirty="0">
                <a:cs typeface="Arial"/>
              </a:rPr>
              <a:t>	public void set(long </a:t>
            </a:r>
            <a:r>
              <a:rPr lang="en-US" dirty="0" err="1">
                <a:cs typeface="Arial"/>
              </a:rPr>
              <a:t>newDollars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r>
              <a:rPr lang="en-US" dirty="0">
                <a:cs typeface="Arial"/>
              </a:rPr>
              <a:t>	</a:t>
            </a: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	public void set(double </a:t>
            </a:r>
            <a:r>
              <a:rPr lang="en-US" dirty="0" err="1">
                <a:cs typeface="Arial"/>
              </a:rPr>
              <a:t>newAmount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endParaRPr lang="en-US" dirty="0">
              <a:cs typeface="Arial"/>
            </a:endParaRP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	public void set(Money </a:t>
            </a:r>
            <a:r>
              <a:rPr lang="en-US" dirty="0" err="1">
                <a:cs typeface="Arial"/>
              </a:rPr>
              <a:t>moneyObject</a:t>
            </a:r>
            <a:r>
              <a:rPr lang="en-US" dirty="0">
                <a:cs typeface="Arial"/>
              </a:rPr>
              <a:t>) {</a:t>
            </a:r>
          </a:p>
          <a:p>
            <a:pPr eaLnBrk="1" hangingPunct="1"/>
            <a:r>
              <a:rPr lang="en-US" dirty="0">
                <a:cs typeface="Arial"/>
              </a:rPr>
              <a:t>		</a:t>
            </a:r>
          </a:p>
          <a:p>
            <a:pPr eaLnBrk="1" hangingPunct="1"/>
            <a:r>
              <a:rPr lang="en-US" dirty="0">
                <a:cs typeface="Arial"/>
              </a:rPr>
              <a:t>	}</a:t>
            </a:r>
          </a:p>
          <a:p>
            <a:pPr eaLnBrk="1" hangingPunct="1"/>
            <a:r>
              <a:rPr lang="en-US" dirty="0"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20427258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Information Hiding Revisited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9040"/>
            <a:ext cx="7707862" cy="34236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Privacy Leaks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Instance variable of a class type contain address where that object is stored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Assignment of class variables results in two variables pointing to same object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Use of method to change </a:t>
            </a:r>
            <a:r>
              <a:rPr lang="en-US" sz="2000" i="1" dirty="0">
                <a:solidFill>
                  <a:srgbClr val="000000"/>
                </a:solidFill>
                <a:cs typeface="Arial"/>
              </a:rPr>
              <a:t>either</a:t>
            </a:r>
            <a:r>
              <a:rPr lang="en-US" sz="2000" dirty="0">
                <a:solidFill>
                  <a:srgbClr val="000000"/>
                </a:solidFill>
                <a:cs typeface="Arial"/>
              </a:rPr>
              <a:t> variable, changes the actual object itself</a:t>
            </a:r>
          </a:p>
        </p:txBody>
      </p:sp>
    </p:spTree>
    <p:extLst>
      <p:ext uri="{BB962C8B-B14F-4D97-AF65-F5344CB8AC3E}">
        <p14:creationId xmlns:p14="http://schemas.microsoft.com/office/powerpoint/2010/main" val="4245108152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Information Hiding Revisited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48" b="5814"/>
          <a:stretch/>
        </p:blipFill>
        <p:spPr bwMode="auto">
          <a:xfrm>
            <a:off x="505461" y="939005"/>
            <a:ext cx="5102860" cy="3988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" t="27475" r="11839"/>
          <a:stretch/>
        </p:blipFill>
        <p:spPr bwMode="auto">
          <a:xfrm>
            <a:off x="4876800" y="1209040"/>
            <a:ext cx="4267200" cy="345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785360" y="939005"/>
            <a:ext cx="20320" cy="3988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235749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cs typeface="Arial"/>
              </a:rPr>
              <a:t>Enumeration as a Class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cs typeface="Arial"/>
              </a:rPr>
              <a:t>Consider defining an enumeration for suits of cards</a:t>
            </a:r>
            <a:br>
              <a:rPr lang="en-US" dirty="0">
                <a:cs typeface="Arial"/>
              </a:rPr>
            </a:br>
            <a:r>
              <a:rPr lang="en-US" b="1" dirty="0" err="1">
                <a:solidFill>
                  <a:schemeClr val="accent2"/>
                </a:solidFill>
                <a:cs typeface="Arial"/>
              </a:rPr>
              <a:t>enum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 Suit {CLUBS, DIAMONDS, HEARTS, SPADES}</a:t>
            </a:r>
          </a:p>
          <a:p>
            <a:pPr eaLnBrk="1" hangingPunct="1"/>
            <a:r>
              <a:rPr lang="en-US" dirty="0">
                <a:cs typeface="Arial"/>
              </a:rPr>
              <a:t>Compiler creates a class with methods</a:t>
            </a:r>
          </a:p>
          <a:p>
            <a:pPr lvl="1" eaLnBrk="1" hangingPunct="1"/>
            <a:r>
              <a:rPr lang="en-US" b="1" dirty="0">
                <a:solidFill>
                  <a:schemeClr val="accent2"/>
                </a:solidFill>
                <a:cs typeface="Arial"/>
              </a:rPr>
              <a:t>equals</a:t>
            </a:r>
          </a:p>
          <a:p>
            <a:pPr lvl="1" eaLnBrk="1" hangingPunct="1"/>
            <a:r>
              <a:rPr lang="en-US" b="1" dirty="0" err="1">
                <a:solidFill>
                  <a:schemeClr val="accent2"/>
                </a:solidFill>
                <a:cs typeface="Arial"/>
              </a:rPr>
              <a:t>compareTo</a:t>
            </a:r>
            <a:endParaRPr lang="en-US" b="1" dirty="0">
              <a:solidFill>
                <a:schemeClr val="accent2"/>
              </a:solidFill>
              <a:cs typeface="Arial"/>
            </a:endParaRPr>
          </a:p>
          <a:p>
            <a:pPr lvl="1" eaLnBrk="1" hangingPunct="1"/>
            <a:r>
              <a:rPr lang="en-US" b="1" dirty="0">
                <a:solidFill>
                  <a:schemeClr val="accent2"/>
                </a:solidFill>
                <a:cs typeface="Arial"/>
              </a:rPr>
              <a:t>ordinal</a:t>
            </a:r>
          </a:p>
          <a:p>
            <a:pPr lvl="1" eaLnBrk="1" hangingPunct="1"/>
            <a:r>
              <a:rPr lang="en-US" b="1" dirty="0" err="1">
                <a:solidFill>
                  <a:schemeClr val="accent2"/>
                </a:solidFill>
                <a:cs typeface="Arial"/>
              </a:rPr>
              <a:t>toString</a:t>
            </a:r>
            <a:endParaRPr lang="en-US" b="1" dirty="0">
              <a:solidFill>
                <a:schemeClr val="accent2"/>
              </a:solidFill>
              <a:cs typeface="Arial"/>
            </a:endParaRPr>
          </a:p>
          <a:p>
            <a:pPr lvl="1" eaLnBrk="1" hangingPunct="1"/>
            <a:r>
              <a:rPr lang="en-US" b="1" dirty="0" err="1">
                <a:solidFill>
                  <a:schemeClr val="accent2"/>
                </a:solidFill>
                <a:cs typeface="Arial"/>
              </a:rPr>
              <a:t>valueOf</a:t>
            </a:r>
            <a:endParaRPr lang="en-US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019423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Enumeration as a Class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b="7163"/>
          <a:stretch/>
        </p:blipFill>
        <p:spPr bwMode="auto">
          <a:xfrm>
            <a:off x="948776" y="1091465"/>
            <a:ext cx="6675437" cy="325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 flipV="1">
            <a:off x="2712720" y="1091465"/>
            <a:ext cx="1320800" cy="351255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033520" y="894080"/>
            <a:ext cx="398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This calls constructor Suit(“black”)</a:t>
            </a:r>
          </a:p>
        </p:txBody>
      </p:sp>
    </p:spTree>
    <p:extLst>
      <p:ext uri="{BB962C8B-B14F-4D97-AF65-F5344CB8AC3E}">
        <p14:creationId xmlns:p14="http://schemas.microsoft.com/office/powerpoint/2010/main" val="2432858903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Packages and Importing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9040"/>
            <a:ext cx="7707862" cy="34236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A package is a collection of classes grouped together into a folder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Name of folder is name of package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Each class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Placed in a separate file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Has this line at the beginning of the file</a:t>
            </a:r>
            <a:br>
              <a:rPr lang="en-US" sz="2000" dirty="0">
                <a:solidFill>
                  <a:srgbClr val="000000"/>
                </a:solidFill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cs typeface="Arial"/>
              </a:rPr>
              <a:t>package </a:t>
            </a:r>
            <a:r>
              <a:rPr lang="en-US" sz="2000" b="1" dirty="0" err="1">
                <a:solidFill>
                  <a:srgbClr val="000000"/>
                </a:solidFill>
                <a:cs typeface="Arial"/>
              </a:rPr>
              <a:t>Package_Name</a:t>
            </a:r>
            <a:r>
              <a:rPr lang="en-US" sz="2000" b="1" dirty="0">
                <a:solidFill>
                  <a:srgbClr val="000000"/>
                </a:solidFill>
                <a:cs typeface="Arial"/>
              </a:rPr>
              <a:t>;</a:t>
            </a:r>
          </a:p>
          <a:p>
            <a:pPr eaLnBrk="1" hangingPunct="1">
              <a:buFont typeface="Wingdings" charset="2"/>
              <a:buChar char="v"/>
            </a:pPr>
            <a:r>
              <a:rPr lang="en-US" sz="2000" dirty="0">
                <a:cs typeface="Arial"/>
              </a:rPr>
              <a:t>Classes use packages by use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import</a:t>
            </a:r>
            <a:r>
              <a:rPr lang="en-US" sz="2000" dirty="0">
                <a:cs typeface="Arial"/>
              </a:rPr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2308704455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914400" y="205979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Package Names and Directories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4294967295"/>
          </p:nvPr>
        </p:nvSpPr>
        <p:spPr>
          <a:xfrm>
            <a:off x="914400" y="1369219"/>
            <a:ext cx="7600950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Package name tells compiler path name for directory containing classes of package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Search for package begins in class path base directory</a:t>
            </a:r>
          </a:p>
          <a:p>
            <a:pPr lvl="2" eaLnBrk="1" hangingPunct="1"/>
            <a:r>
              <a:rPr lang="en-US" sz="2000" dirty="0">
                <a:solidFill>
                  <a:srgbClr val="000000"/>
                </a:solidFill>
                <a:cs typeface="Arial"/>
              </a:rPr>
              <a:t>Package name uses dots in place of / or \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Name of package uses relative path name starting from any directory in class path</a:t>
            </a:r>
          </a:p>
        </p:txBody>
      </p:sp>
    </p:spTree>
    <p:extLst>
      <p:ext uri="{BB962C8B-B14F-4D97-AF65-F5344CB8AC3E}">
        <p14:creationId xmlns:p14="http://schemas.microsoft.com/office/powerpoint/2010/main" val="2098646426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914400" y="518160"/>
            <a:ext cx="4876800" cy="456406"/>
          </a:xfr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Package Names and Directories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4294967295"/>
          </p:nvPr>
        </p:nvSpPr>
        <p:spPr>
          <a:xfrm>
            <a:off x="1910080" y="1369219"/>
            <a:ext cx="563880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A package name</a:t>
            </a:r>
          </a:p>
        </p:txBody>
      </p:sp>
      <p:pic>
        <p:nvPicPr>
          <p:cNvPr id="5325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7876" y="1783557"/>
            <a:ext cx="5241925" cy="2831306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87033070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Name Clashes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37920"/>
            <a:ext cx="7707862" cy="349480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Packages help in dealing with name clashes</a:t>
            </a:r>
          </a:p>
          <a:p>
            <a:pPr lvl="1" eaLnBrk="1" hangingPunct="1"/>
            <a:r>
              <a:rPr lang="en-US" dirty="0">
                <a:cs typeface="Arial"/>
              </a:rPr>
              <a:t>When two classes have same name</a:t>
            </a:r>
          </a:p>
          <a:p>
            <a:pPr eaLnBrk="1" hangingPunct="1"/>
            <a:r>
              <a:rPr lang="en-US" dirty="0">
                <a:cs typeface="Arial"/>
              </a:rPr>
              <a:t>Different programmers may give same name to two classes</a:t>
            </a:r>
          </a:p>
          <a:p>
            <a:pPr lvl="1" eaLnBrk="1" hangingPunct="1"/>
            <a:r>
              <a:rPr lang="en-US" dirty="0">
                <a:cs typeface="Arial"/>
              </a:rPr>
              <a:t>Ambiguity resolved by using the package name</a:t>
            </a:r>
          </a:p>
        </p:txBody>
      </p:sp>
    </p:spTree>
    <p:extLst>
      <p:ext uri="{BB962C8B-B14F-4D97-AF65-F5344CB8AC3E}">
        <p14:creationId xmlns:p14="http://schemas.microsoft.com/office/powerpoint/2010/main" val="218566237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15104</TotalTime>
  <Words>876</Words>
  <Application>Microsoft Office PowerPoint</Application>
  <PresentationFormat>화면 슬라이드 쇼(16:9)</PresentationFormat>
  <Paragraphs>162</Paragraphs>
  <Slides>37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37</vt:i4>
      </vt:variant>
    </vt:vector>
  </HeadingPairs>
  <TitlesOfParts>
    <vt:vector size="39" baseType="lpstr">
      <vt:lpstr>Jobtalk_UF</vt:lpstr>
      <vt:lpstr>SU_Template_TopBar</vt:lpstr>
      <vt:lpstr>Objects and Methods (Chapter 6)</vt:lpstr>
      <vt:lpstr>Constructors: Outline</vt:lpstr>
      <vt:lpstr>Defining Constructors</vt:lpstr>
      <vt:lpstr>Defining Constructors</vt:lpstr>
      <vt:lpstr>Defining Constructors – example</vt:lpstr>
      <vt:lpstr>Defining Constructors</vt:lpstr>
      <vt:lpstr>Defining Constructors</vt:lpstr>
      <vt:lpstr>Calling Methods from Other Constructors</vt:lpstr>
      <vt:lpstr>Calling Constructor from Other Constructors</vt:lpstr>
      <vt:lpstr>Static Variables</vt:lpstr>
      <vt:lpstr>Static Variables</vt:lpstr>
      <vt:lpstr>Static Methods</vt:lpstr>
      <vt:lpstr>Static Methods</vt:lpstr>
      <vt:lpstr>Tasks of main</vt:lpstr>
      <vt:lpstr>Adding Method main to a Class</vt:lpstr>
      <vt:lpstr>The Math Class</vt:lpstr>
      <vt:lpstr>The Math Class</vt:lpstr>
      <vt:lpstr>Random Numbers</vt:lpstr>
      <vt:lpstr>Wrapper Classes</vt:lpstr>
      <vt:lpstr>Wrapper Classes</vt:lpstr>
      <vt:lpstr>Wrapper Classes</vt:lpstr>
      <vt:lpstr>Decomposition</vt:lpstr>
      <vt:lpstr>Addressing Compiler Concerns</vt:lpstr>
      <vt:lpstr>Testing Methods</vt:lpstr>
      <vt:lpstr>Overloading Basics</vt:lpstr>
      <vt:lpstr>Overloading Basics – example</vt:lpstr>
      <vt:lpstr>Overloading and Type Conversion</vt:lpstr>
      <vt:lpstr>Overloading and Return Type</vt:lpstr>
      <vt:lpstr>Programming Example</vt:lpstr>
      <vt:lpstr>Information Hiding Revisited</vt:lpstr>
      <vt:lpstr>Information Hiding Revisited</vt:lpstr>
      <vt:lpstr>Enumeration as a Class</vt:lpstr>
      <vt:lpstr>Enumeration as a Class</vt:lpstr>
      <vt:lpstr>Packages and Importing</vt:lpstr>
      <vt:lpstr>Package Names and Directories</vt:lpstr>
      <vt:lpstr>Package Names and Directories</vt:lpstr>
      <vt:lpstr>Name Clashes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1607</cp:revision>
  <cp:lastPrinted>2016-01-15T22:14:07Z</cp:lastPrinted>
  <dcterms:created xsi:type="dcterms:W3CDTF">2016-01-04T21:30:26Z</dcterms:created>
  <dcterms:modified xsi:type="dcterms:W3CDTF">2019-10-21T08:26:23Z</dcterms:modified>
</cp:coreProperties>
</file>