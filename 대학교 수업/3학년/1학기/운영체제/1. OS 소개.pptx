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7" r:id="rId1"/>
  </p:sldMasterIdLst>
  <p:notesMasterIdLst>
    <p:notesMasterId r:id="rId67"/>
  </p:notesMasterIdLst>
  <p:handoutMasterIdLst>
    <p:handoutMasterId r:id="rId68"/>
  </p:handoutMasterIdLst>
  <p:sldIdLst>
    <p:sldId id="297" r:id="rId2"/>
    <p:sldId id="713" r:id="rId3"/>
    <p:sldId id="742" r:id="rId4"/>
    <p:sldId id="719" r:id="rId5"/>
    <p:sldId id="712" r:id="rId6"/>
    <p:sldId id="714" r:id="rId7"/>
    <p:sldId id="765" r:id="rId8"/>
    <p:sldId id="766" r:id="rId9"/>
    <p:sldId id="767" r:id="rId10"/>
    <p:sldId id="768" r:id="rId11"/>
    <p:sldId id="769" r:id="rId12"/>
    <p:sldId id="770" r:id="rId13"/>
    <p:sldId id="771" r:id="rId14"/>
    <p:sldId id="772" r:id="rId15"/>
    <p:sldId id="773" r:id="rId16"/>
    <p:sldId id="774" r:id="rId17"/>
    <p:sldId id="775" r:id="rId18"/>
    <p:sldId id="776" r:id="rId19"/>
    <p:sldId id="777" r:id="rId20"/>
    <p:sldId id="778" r:id="rId21"/>
    <p:sldId id="779" r:id="rId22"/>
    <p:sldId id="780" r:id="rId23"/>
    <p:sldId id="781" r:id="rId24"/>
    <p:sldId id="782" r:id="rId25"/>
    <p:sldId id="783" r:id="rId26"/>
    <p:sldId id="784" r:id="rId27"/>
    <p:sldId id="785" r:id="rId28"/>
    <p:sldId id="786" r:id="rId29"/>
    <p:sldId id="787" r:id="rId30"/>
    <p:sldId id="788" r:id="rId31"/>
    <p:sldId id="789" r:id="rId32"/>
    <p:sldId id="790" r:id="rId33"/>
    <p:sldId id="791" r:id="rId34"/>
    <p:sldId id="792" r:id="rId35"/>
    <p:sldId id="793" r:id="rId36"/>
    <p:sldId id="794" r:id="rId37"/>
    <p:sldId id="795" r:id="rId38"/>
    <p:sldId id="796" r:id="rId39"/>
    <p:sldId id="797" r:id="rId40"/>
    <p:sldId id="798" r:id="rId41"/>
    <p:sldId id="822" r:id="rId42"/>
    <p:sldId id="799" r:id="rId43"/>
    <p:sldId id="800" r:id="rId44"/>
    <p:sldId id="801" r:id="rId45"/>
    <p:sldId id="802" r:id="rId46"/>
    <p:sldId id="803" r:id="rId47"/>
    <p:sldId id="804" r:id="rId48"/>
    <p:sldId id="805" r:id="rId49"/>
    <p:sldId id="806" r:id="rId50"/>
    <p:sldId id="807" r:id="rId51"/>
    <p:sldId id="808" r:id="rId52"/>
    <p:sldId id="809" r:id="rId53"/>
    <p:sldId id="810" r:id="rId54"/>
    <p:sldId id="811" r:id="rId55"/>
    <p:sldId id="812" r:id="rId56"/>
    <p:sldId id="813" r:id="rId57"/>
    <p:sldId id="814" r:id="rId58"/>
    <p:sldId id="815" r:id="rId59"/>
    <p:sldId id="816" r:id="rId60"/>
    <p:sldId id="817" r:id="rId61"/>
    <p:sldId id="818" r:id="rId62"/>
    <p:sldId id="819" r:id="rId63"/>
    <p:sldId id="820" r:id="rId64"/>
    <p:sldId id="821" r:id="rId65"/>
    <p:sldId id="717" r:id="rId66"/>
  </p:sldIdLst>
  <p:sldSz cx="9144000" cy="6858000" type="screen4x3"/>
  <p:notesSz cx="6797675" cy="9928225"/>
  <p:defaultTextStyle>
    <a:defPPr>
      <a:defRPr lang="en-US"/>
    </a:defPPr>
    <a:lvl1pPr algn="l" rtl="0" eaLnBrk="0" fontAlgn="base" hangingPunct="0">
      <a:spcBef>
        <a:spcPct val="0"/>
      </a:spcBef>
      <a:spcAft>
        <a:spcPct val="0"/>
      </a:spcAft>
      <a:defRPr sz="2800" kern="1200">
        <a:solidFill>
          <a:schemeClr val="tx1"/>
        </a:solidFill>
        <a:latin typeface="Tahoma" panose="020B0604030504040204" pitchFamily="34" charset="0"/>
        <a:ea typeface="+mn-ea"/>
        <a:cs typeface="Times New Roman (Hebrew)" charset="0"/>
      </a:defRPr>
    </a:lvl1pPr>
    <a:lvl2pPr marL="457200" algn="l" rtl="0" eaLnBrk="0" fontAlgn="base" hangingPunct="0">
      <a:spcBef>
        <a:spcPct val="0"/>
      </a:spcBef>
      <a:spcAft>
        <a:spcPct val="0"/>
      </a:spcAft>
      <a:defRPr sz="2800" kern="1200">
        <a:solidFill>
          <a:schemeClr val="tx1"/>
        </a:solidFill>
        <a:latin typeface="Tahoma" panose="020B0604030504040204" pitchFamily="34" charset="0"/>
        <a:ea typeface="+mn-ea"/>
        <a:cs typeface="Times New Roman (Hebrew)" charset="0"/>
      </a:defRPr>
    </a:lvl2pPr>
    <a:lvl3pPr marL="914400" algn="l" rtl="0" eaLnBrk="0" fontAlgn="base" hangingPunct="0">
      <a:spcBef>
        <a:spcPct val="0"/>
      </a:spcBef>
      <a:spcAft>
        <a:spcPct val="0"/>
      </a:spcAft>
      <a:defRPr sz="2800" kern="1200">
        <a:solidFill>
          <a:schemeClr val="tx1"/>
        </a:solidFill>
        <a:latin typeface="Tahoma" panose="020B0604030504040204" pitchFamily="34" charset="0"/>
        <a:ea typeface="+mn-ea"/>
        <a:cs typeface="Times New Roman (Hebrew)" charset="0"/>
      </a:defRPr>
    </a:lvl3pPr>
    <a:lvl4pPr marL="1371600" algn="l" rtl="0" eaLnBrk="0" fontAlgn="base" hangingPunct="0">
      <a:spcBef>
        <a:spcPct val="0"/>
      </a:spcBef>
      <a:spcAft>
        <a:spcPct val="0"/>
      </a:spcAft>
      <a:defRPr sz="2800" kern="1200">
        <a:solidFill>
          <a:schemeClr val="tx1"/>
        </a:solidFill>
        <a:latin typeface="Tahoma" panose="020B0604030504040204" pitchFamily="34" charset="0"/>
        <a:ea typeface="+mn-ea"/>
        <a:cs typeface="Times New Roman (Hebrew)" charset="0"/>
      </a:defRPr>
    </a:lvl4pPr>
    <a:lvl5pPr marL="1828800" algn="l" rtl="0" eaLnBrk="0" fontAlgn="base" hangingPunct="0">
      <a:spcBef>
        <a:spcPct val="0"/>
      </a:spcBef>
      <a:spcAft>
        <a:spcPct val="0"/>
      </a:spcAft>
      <a:defRPr sz="2800" kern="1200">
        <a:solidFill>
          <a:schemeClr val="tx1"/>
        </a:solidFill>
        <a:latin typeface="Tahoma" panose="020B0604030504040204" pitchFamily="34" charset="0"/>
        <a:ea typeface="+mn-ea"/>
        <a:cs typeface="Times New Roman (Hebrew)" charset="0"/>
      </a:defRPr>
    </a:lvl5pPr>
    <a:lvl6pPr marL="2286000" algn="l" defTabSz="914400" rtl="0" eaLnBrk="1" latinLnBrk="1" hangingPunct="1">
      <a:defRPr sz="2800" kern="1200">
        <a:solidFill>
          <a:schemeClr val="tx1"/>
        </a:solidFill>
        <a:latin typeface="Tahoma" panose="020B0604030504040204" pitchFamily="34" charset="0"/>
        <a:ea typeface="+mn-ea"/>
        <a:cs typeface="Times New Roman (Hebrew)" charset="0"/>
      </a:defRPr>
    </a:lvl6pPr>
    <a:lvl7pPr marL="2743200" algn="l" defTabSz="914400" rtl="0" eaLnBrk="1" latinLnBrk="1" hangingPunct="1">
      <a:defRPr sz="2800" kern="1200">
        <a:solidFill>
          <a:schemeClr val="tx1"/>
        </a:solidFill>
        <a:latin typeface="Tahoma" panose="020B0604030504040204" pitchFamily="34" charset="0"/>
        <a:ea typeface="+mn-ea"/>
        <a:cs typeface="Times New Roman (Hebrew)" charset="0"/>
      </a:defRPr>
    </a:lvl7pPr>
    <a:lvl8pPr marL="3200400" algn="l" defTabSz="914400" rtl="0" eaLnBrk="1" latinLnBrk="1" hangingPunct="1">
      <a:defRPr sz="2800" kern="1200">
        <a:solidFill>
          <a:schemeClr val="tx1"/>
        </a:solidFill>
        <a:latin typeface="Tahoma" panose="020B0604030504040204" pitchFamily="34" charset="0"/>
        <a:ea typeface="+mn-ea"/>
        <a:cs typeface="Times New Roman (Hebrew)" charset="0"/>
      </a:defRPr>
    </a:lvl8pPr>
    <a:lvl9pPr marL="3657600" algn="l" defTabSz="914400" rtl="0" eaLnBrk="1" latinLnBrk="1" hangingPunct="1">
      <a:defRPr sz="2800" kern="1200">
        <a:solidFill>
          <a:schemeClr val="tx1"/>
        </a:solidFill>
        <a:latin typeface="Tahoma" panose="020B0604030504040204" pitchFamily="34" charset="0"/>
        <a:ea typeface="+mn-ea"/>
        <a:cs typeface="Times New Roman (Hebrew)" charset="0"/>
      </a:defRPr>
    </a:lvl9pPr>
  </p:defaultTextStyle>
  <p:extLst>
    <p:ext uri="{521415D9-36F7-43E2-AB2F-B90AF26B5E84}">
      <p14:sectionLst xmlns:p14="http://schemas.microsoft.com/office/powerpoint/2010/main">
        <p14:section name="기본 구역" id="{AA8570CD-ABD5-45B9-AF14-C1C72CEC44B0}">
          <p14:sldIdLst>
            <p14:sldId id="297"/>
            <p14:sldId id="713"/>
            <p14:sldId id="742"/>
            <p14:sldId id="719"/>
            <p14:sldId id="712"/>
            <p14:sldId id="714"/>
            <p14:sldId id="765"/>
            <p14:sldId id="766"/>
            <p14:sldId id="767"/>
            <p14:sldId id="768"/>
            <p14:sldId id="769"/>
            <p14:sldId id="770"/>
            <p14:sldId id="771"/>
            <p14:sldId id="772"/>
            <p14:sldId id="773"/>
            <p14:sldId id="774"/>
            <p14:sldId id="775"/>
            <p14:sldId id="776"/>
            <p14:sldId id="777"/>
            <p14:sldId id="778"/>
            <p14:sldId id="779"/>
            <p14:sldId id="780"/>
            <p14:sldId id="781"/>
            <p14:sldId id="782"/>
            <p14:sldId id="783"/>
            <p14:sldId id="784"/>
            <p14:sldId id="785"/>
            <p14:sldId id="786"/>
            <p14:sldId id="787"/>
            <p14:sldId id="788"/>
            <p14:sldId id="789"/>
            <p14:sldId id="790"/>
            <p14:sldId id="791"/>
            <p14:sldId id="792"/>
            <p14:sldId id="793"/>
            <p14:sldId id="794"/>
            <p14:sldId id="795"/>
            <p14:sldId id="796"/>
            <p14:sldId id="797"/>
          </p14:sldIdLst>
        </p14:section>
        <p14:section name="제목 없는 구역" id="{C8E8C098-2B08-43FF-A978-AEA49561D76B}">
          <p14:sldIdLst>
            <p14:sldId id="798"/>
            <p14:sldId id="822"/>
            <p14:sldId id="799"/>
            <p14:sldId id="800"/>
            <p14:sldId id="801"/>
            <p14:sldId id="802"/>
            <p14:sldId id="803"/>
            <p14:sldId id="804"/>
            <p14:sldId id="805"/>
            <p14:sldId id="806"/>
            <p14:sldId id="807"/>
            <p14:sldId id="808"/>
            <p14:sldId id="809"/>
            <p14:sldId id="810"/>
            <p14:sldId id="811"/>
            <p14:sldId id="812"/>
            <p14:sldId id="813"/>
            <p14:sldId id="814"/>
            <p14:sldId id="815"/>
            <p14:sldId id="816"/>
            <p14:sldId id="817"/>
            <p14:sldId id="818"/>
            <p14:sldId id="819"/>
            <p14:sldId id="820"/>
            <p14:sldId id="821"/>
            <p14:sldId id="71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FFCC"/>
    <a:srgbClr val="89FFE0"/>
    <a:srgbClr val="FF0000"/>
    <a:srgbClr val="990099"/>
    <a:srgbClr val="0099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0" autoAdjust="0"/>
    <p:restoredTop sz="86747" autoAdjust="0"/>
  </p:normalViewPr>
  <p:slideViewPr>
    <p:cSldViewPr>
      <p:cViewPr>
        <p:scale>
          <a:sx n="125" d="100"/>
          <a:sy n="125" d="100"/>
        </p:scale>
        <p:origin x="2796" y="39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200" d="100"/>
        <a:sy n="200" d="100"/>
      </p:scale>
      <p:origin x="0" y="0"/>
    </p:cViewPr>
  </p:sorterViewPr>
  <p:notesViewPr>
    <p:cSldViewPr>
      <p:cViewPr varScale="1">
        <p:scale>
          <a:sx n="60" d="100"/>
          <a:sy n="60" d="100"/>
        </p:scale>
        <p:origin x="-1104" y="-84"/>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1" eaLnBrk="1" hangingPunct="1">
              <a:defRPr sz="1200">
                <a:latin typeface="Arial" charset="0"/>
                <a:ea typeface="굴림" charset="-127"/>
                <a:cs typeface="Times New Roman (Hebrew)" charset="-79"/>
              </a:defRPr>
            </a:lvl1pPr>
          </a:lstStyle>
          <a:p>
            <a:pPr>
              <a:defRPr/>
            </a:pPr>
            <a:endParaRPr lang="en-US" altLang="ko-KR"/>
          </a:p>
        </p:txBody>
      </p:sp>
      <p:sp>
        <p:nvSpPr>
          <p:cNvPr id="177155"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200">
                <a:latin typeface="Arial" charset="0"/>
                <a:ea typeface="굴림" charset="-127"/>
                <a:cs typeface="Times New Roman (Hebrew)" charset="-79"/>
              </a:defRPr>
            </a:lvl1pPr>
          </a:lstStyle>
          <a:p>
            <a:pPr>
              <a:defRPr/>
            </a:pPr>
            <a:fld id="{F0796CBF-6469-4D97-B627-2E6F8DEEAFDE}" type="datetime1">
              <a:rPr lang="en-US" altLang="ko-KR" smtClean="0"/>
              <a:t>3/15/2020</a:t>
            </a:fld>
            <a:endParaRPr lang="en-US" altLang="ko-KR"/>
          </a:p>
        </p:txBody>
      </p:sp>
      <p:sp>
        <p:nvSpPr>
          <p:cNvPr id="177156" name="Rectangle 4"/>
          <p:cNvSpPr>
            <a:spLocks noGrp="1" noChangeArrowheads="1"/>
          </p:cNvSpPr>
          <p:nvPr>
            <p:ph type="ftr" sz="quarter" idx="2"/>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1" eaLnBrk="1" hangingPunct="1">
              <a:defRPr sz="1200">
                <a:latin typeface="Arial" charset="0"/>
                <a:ea typeface="굴림" charset="-127"/>
                <a:cs typeface="Times New Roman (Hebrew)" charset="-79"/>
              </a:defRPr>
            </a:lvl1pPr>
          </a:lstStyle>
          <a:p>
            <a:pPr>
              <a:defRPr/>
            </a:pPr>
            <a:endParaRPr lang="en-US" altLang="ko-KR"/>
          </a:p>
        </p:txBody>
      </p:sp>
      <p:sp>
        <p:nvSpPr>
          <p:cNvPr id="177157" name="Rectangle 5"/>
          <p:cNvSpPr>
            <a:spLocks noGrp="1" noChangeArrowheads="1"/>
          </p:cNvSpPr>
          <p:nvPr>
            <p:ph type="sldNum" sz="quarter" idx="3"/>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smtClean="0">
                <a:latin typeface="Arial" panose="020B0604020202020204" pitchFamily="34" charset="0"/>
                <a:ea typeface="굴림" panose="020B0600000101010101" pitchFamily="50" charset="-127"/>
              </a:defRPr>
            </a:lvl1pPr>
          </a:lstStyle>
          <a:p>
            <a:pPr>
              <a:defRPr/>
            </a:pPr>
            <a:fld id="{C9566543-2CF4-4DF5-9921-62E6835E5356}"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376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1" eaLnBrk="1" hangingPunct="1">
              <a:defRPr sz="1200">
                <a:latin typeface="Arial" charset="0"/>
                <a:ea typeface="굴림" charset="-127"/>
                <a:cs typeface="Times New Roman (Hebrew)" charset="-79"/>
              </a:defRPr>
            </a:lvl1pPr>
          </a:lstStyle>
          <a:p>
            <a:pPr>
              <a:defRPr/>
            </a:pPr>
            <a:endParaRPr lang="en-US" altLang="ko-KR"/>
          </a:p>
        </p:txBody>
      </p:sp>
      <p:sp>
        <p:nvSpPr>
          <p:cNvPr id="373763"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200">
                <a:latin typeface="Arial" charset="0"/>
                <a:ea typeface="굴림" charset="-127"/>
                <a:cs typeface="Times New Roman (Hebrew)" charset="-79"/>
              </a:defRPr>
            </a:lvl1pPr>
          </a:lstStyle>
          <a:p>
            <a:pPr>
              <a:defRPr/>
            </a:pPr>
            <a:fld id="{55AC08C5-071F-468E-AF92-311127222429}" type="datetime1">
              <a:rPr lang="en-US" altLang="ko-KR" smtClean="0"/>
              <a:t>3/15/2020</a:t>
            </a:fld>
            <a:endParaRPr lang="en-US" altLang="ko-KR"/>
          </a:p>
        </p:txBody>
      </p:sp>
      <p:sp>
        <p:nvSpPr>
          <p:cNvPr id="4100" name="Rectangle 4"/>
          <p:cNvSpPr>
            <a:spLocks noGrp="1" noRot="1" noChangeAspect="1" noChangeArrowheads="1" noTextEdit="1"/>
          </p:cNvSpPr>
          <p:nvPr>
            <p:ph type="sldImg" idx="2"/>
          </p:nvPr>
        </p:nvSpPr>
        <p:spPr bwMode="auto">
          <a:xfrm>
            <a:off x="915988" y="744538"/>
            <a:ext cx="4965700"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3765" name="Rectangle 5"/>
          <p:cNvSpPr>
            <a:spLocks noGrp="1" noChangeArrowheads="1"/>
          </p:cNvSpPr>
          <p:nvPr>
            <p:ph type="body" sz="quarter" idx="3"/>
          </p:nvPr>
        </p:nvSpPr>
        <p:spPr bwMode="auto">
          <a:xfrm>
            <a:off x="679450" y="4716463"/>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373766" name="Rectangle 6"/>
          <p:cNvSpPr>
            <a:spLocks noGrp="1" noChangeArrowheads="1"/>
          </p:cNvSpPr>
          <p:nvPr>
            <p:ph type="ftr" sz="quarter" idx="4"/>
          </p:nvPr>
        </p:nvSpPr>
        <p:spPr bwMode="auto">
          <a:xfrm>
            <a:off x="0"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1" eaLnBrk="1" hangingPunct="1">
              <a:defRPr sz="1200">
                <a:latin typeface="Arial" charset="0"/>
                <a:ea typeface="굴림" charset="-127"/>
                <a:cs typeface="Times New Roman (Hebrew)" charset="-79"/>
              </a:defRPr>
            </a:lvl1pPr>
          </a:lstStyle>
          <a:p>
            <a:pPr>
              <a:defRPr/>
            </a:pPr>
            <a:endParaRPr lang="en-US" altLang="ko-KR"/>
          </a:p>
        </p:txBody>
      </p:sp>
      <p:sp>
        <p:nvSpPr>
          <p:cNvPr id="373767" name="Rectangle 7"/>
          <p:cNvSpPr>
            <a:spLocks noGrp="1" noChangeArrowheads="1"/>
          </p:cNvSpPr>
          <p:nvPr>
            <p:ph type="sldNum" sz="quarter" idx="5"/>
          </p:nvPr>
        </p:nvSpPr>
        <p:spPr bwMode="auto">
          <a:xfrm>
            <a:off x="3849688" y="9429750"/>
            <a:ext cx="29464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smtClean="0">
                <a:latin typeface="Arial" panose="020B0604020202020204" pitchFamily="34" charset="0"/>
                <a:ea typeface="굴림" panose="020B0600000101010101" pitchFamily="50" charset="-127"/>
              </a:defRPr>
            </a:lvl1pPr>
          </a:lstStyle>
          <a:p>
            <a:pPr>
              <a:defRPr/>
            </a:pPr>
            <a:fld id="{939436B6-E848-4667-AD4A-40A091C58D54}"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hf hdr="0" ftr="0"/>
  <p:notesStyle>
    <a:lvl1pPr algn="r" rtl="1" eaLnBrk="0" fontAlgn="base" hangingPunct="0">
      <a:spcBef>
        <a:spcPct val="30000"/>
      </a:spcBef>
      <a:spcAft>
        <a:spcPct val="0"/>
      </a:spcAft>
      <a:defRPr kumimoji="1" sz="1200" kern="1200">
        <a:solidFill>
          <a:schemeClr val="tx1"/>
        </a:solidFill>
        <a:latin typeface="Arial" charset="0"/>
        <a:ea typeface="+mn-ea"/>
        <a:cs typeface="Times New Roman (Hebrew)" charset="-79"/>
      </a:defRPr>
    </a:lvl1pPr>
    <a:lvl2pPr marL="457200" algn="r" rtl="1" eaLnBrk="0" fontAlgn="base" hangingPunct="0">
      <a:spcBef>
        <a:spcPct val="30000"/>
      </a:spcBef>
      <a:spcAft>
        <a:spcPct val="0"/>
      </a:spcAft>
      <a:defRPr kumimoji="1" sz="1200" kern="1200">
        <a:solidFill>
          <a:schemeClr val="tx1"/>
        </a:solidFill>
        <a:latin typeface="Arial" charset="0"/>
        <a:ea typeface="+mn-ea"/>
        <a:cs typeface="Times New Roman (Hebrew)" charset="-79"/>
      </a:defRPr>
    </a:lvl2pPr>
    <a:lvl3pPr marL="914400" algn="r" rtl="1" eaLnBrk="0" fontAlgn="base" hangingPunct="0">
      <a:spcBef>
        <a:spcPct val="30000"/>
      </a:spcBef>
      <a:spcAft>
        <a:spcPct val="0"/>
      </a:spcAft>
      <a:defRPr kumimoji="1" sz="1200" kern="1200">
        <a:solidFill>
          <a:schemeClr val="tx1"/>
        </a:solidFill>
        <a:latin typeface="Arial" charset="0"/>
        <a:ea typeface="+mn-ea"/>
        <a:cs typeface="Times New Roman (Hebrew)" charset="-79"/>
      </a:defRPr>
    </a:lvl3pPr>
    <a:lvl4pPr marL="1371600" algn="r" rtl="1" eaLnBrk="0" fontAlgn="base" hangingPunct="0">
      <a:spcBef>
        <a:spcPct val="30000"/>
      </a:spcBef>
      <a:spcAft>
        <a:spcPct val="0"/>
      </a:spcAft>
      <a:defRPr kumimoji="1" sz="1200" kern="1200">
        <a:solidFill>
          <a:schemeClr val="tx1"/>
        </a:solidFill>
        <a:latin typeface="Arial" charset="0"/>
        <a:ea typeface="+mn-ea"/>
        <a:cs typeface="Times New Roman (Hebrew)" charset="-79"/>
      </a:defRPr>
    </a:lvl4pPr>
    <a:lvl5pPr marL="1828800" algn="r" rtl="1" eaLnBrk="0" fontAlgn="base" hangingPunct="0">
      <a:spcBef>
        <a:spcPct val="30000"/>
      </a:spcBef>
      <a:spcAft>
        <a:spcPct val="0"/>
      </a:spcAft>
      <a:defRPr kumimoji="1" sz="1200" kern="1200">
        <a:solidFill>
          <a:schemeClr val="tx1"/>
        </a:solidFill>
        <a:latin typeface="Arial" charset="0"/>
        <a:ea typeface="+mn-ea"/>
        <a:cs typeface="Times New Roman (Hebrew)" charset="-79"/>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4DC34B3E-8099-4FD8-807C-F938D31B1ED9}"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717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3536DE12-BF81-4990-B910-5EF9CD6A362E}" type="slidenum">
              <a:rPr kumimoji="0" lang="en-US" altLang="ko-KR"/>
              <a:pPr>
                <a:spcBef>
                  <a:spcPct val="0"/>
                </a:spcBef>
              </a:pPr>
              <a:t>1</a:t>
            </a:fld>
            <a:endParaRPr kumimoji="0" lang="en-US" altLang="ko-KR"/>
          </a:p>
        </p:txBody>
      </p:sp>
      <p:sp>
        <p:nvSpPr>
          <p:cNvPr id="7172" name="Rectangle 2"/>
          <p:cNvSpPr>
            <a:spLocks noGrp="1" noRot="1" noChangeAspect="1" noChangeArrowheads="1" noTextEdit="1"/>
          </p:cNvSpPr>
          <p:nvPr>
            <p:ph type="sldImg"/>
          </p:nvPr>
        </p:nvSpPr>
        <p:spPr>
          <a:xfrm>
            <a:off x="917575" y="744538"/>
            <a:ext cx="4962525" cy="3722687"/>
          </a:xfrm>
          <a:ln/>
        </p:spPr>
      </p:sp>
      <p:sp>
        <p:nvSpPr>
          <p:cNvPr id="71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a:latin typeface="Arial" panose="020B0604020202020204" pitchFamily="34" charset="0"/>
              <a:cs typeface="Times New Roman (Hebrew)"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슬라이드 이미지 개체 틀 1"/>
          <p:cNvSpPr>
            <a:spLocks noGrp="1" noRot="1" noChangeAspect="1" noTextEdit="1"/>
          </p:cNvSpPr>
          <p:nvPr>
            <p:ph type="sldImg"/>
          </p:nvPr>
        </p:nvSpPr>
        <p:spPr>
          <a:xfrm>
            <a:off x="917575" y="744538"/>
            <a:ext cx="4962525" cy="3722687"/>
          </a:xfrm>
          <a:ln/>
        </p:spPr>
      </p:sp>
      <p:sp>
        <p:nvSpPr>
          <p:cNvPr id="13315"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Arial" panose="020B0604020202020204" pitchFamily="34" charset="0"/>
              <a:cs typeface="Times New Roman (Hebrew)" charset="0"/>
            </a:endParaRPr>
          </a:p>
        </p:txBody>
      </p:sp>
      <p:sp>
        <p:nvSpPr>
          <p:cNvPr id="13316" name="날짜 개체 틀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2BE91460-3C53-4571-8130-F44A7F87D009}"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13317" name="슬라이드 번호 개체 틀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5DBACDF7-7D18-4082-B1F0-796CB68E6A92}" type="slidenum">
              <a:rPr kumimoji="0" lang="en-US" altLang="ko-KR"/>
              <a:pPr>
                <a:spcBef>
                  <a:spcPct val="0"/>
                </a:spcBef>
              </a:pPr>
              <a:t>2</a:t>
            </a:fld>
            <a:endParaRPr kumimoji="0" lang="en-US" altLang="ko-K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슬라이드 이미지 개체 틀 1"/>
          <p:cNvSpPr>
            <a:spLocks noGrp="1" noRot="1" noChangeAspect="1" noTextEdit="1"/>
          </p:cNvSpPr>
          <p:nvPr>
            <p:ph type="sldImg"/>
          </p:nvPr>
        </p:nvSpPr>
        <p:spPr>
          <a:xfrm>
            <a:off x="917575" y="744538"/>
            <a:ext cx="4962525" cy="3722687"/>
          </a:xfrm>
          <a:ln/>
        </p:spPr>
      </p:sp>
      <p:sp>
        <p:nvSpPr>
          <p:cNvPr id="15363"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Arial" panose="020B0604020202020204" pitchFamily="34" charset="0"/>
              <a:cs typeface="Times New Roman (Hebrew)" charset="0"/>
            </a:endParaRPr>
          </a:p>
        </p:txBody>
      </p:sp>
      <p:sp>
        <p:nvSpPr>
          <p:cNvPr id="15364" name="날짜 개체 틀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410EB892-7796-4A00-B856-D23C52432B29}"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15365" name="슬라이드 번호 개체 틀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94B0D8BB-DBC5-441F-9D47-72462D35847C}" type="slidenum">
              <a:rPr kumimoji="0" lang="en-US" altLang="ko-KR"/>
              <a:pPr>
                <a:spcBef>
                  <a:spcPct val="0"/>
                </a:spcBef>
              </a:pPr>
              <a:t>3</a:t>
            </a:fld>
            <a:endParaRPr kumimoji="0" lang="en-US" altLang="ko-K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p:cNvSpPr>
            <a:spLocks noGrp="1" noRot="1" noChangeAspect="1" noTextEdit="1"/>
          </p:cNvSpPr>
          <p:nvPr>
            <p:ph type="sldImg"/>
          </p:nvPr>
        </p:nvSpPr>
        <p:spPr>
          <a:xfrm>
            <a:off x="917575" y="744538"/>
            <a:ext cx="4962525" cy="3722687"/>
          </a:xfrm>
          <a:ln/>
        </p:spPr>
      </p:sp>
      <p:sp>
        <p:nvSpPr>
          <p:cNvPr id="17411"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Arial" panose="020B0604020202020204" pitchFamily="34" charset="0"/>
              <a:cs typeface="Times New Roman (Hebrew)" charset="0"/>
            </a:endParaRPr>
          </a:p>
        </p:txBody>
      </p:sp>
      <p:sp>
        <p:nvSpPr>
          <p:cNvPr id="17412" name="날짜 개체 틀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5844F97D-6990-443C-AF49-AFC834874C5C}"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17413" name="슬라이드 번호 개체 틀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750070A4-228F-463C-90E3-6D173B6FFBB8}" type="slidenum">
              <a:rPr kumimoji="0" lang="en-US" altLang="ko-KR"/>
              <a:pPr>
                <a:spcBef>
                  <a:spcPct val="0"/>
                </a:spcBef>
              </a:pPr>
              <a:t>4</a:t>
            </a:fld>
            <a:endParaRPr kumimoji="0" lang="en-US" altLang="ko-K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p:cNvSpPr>
            <a:spLocks noGrp="1" noRot="1" noChangeAspect="1" noTextEdit="1"/>
          </p:cNvSpPr>
          <p:nvPr>
            <p:ph type="sldImg"/>
          </p:nvPr>
        </p:nvSpPr>
        <p:spPr>
          <a:xfrm>
            <a:off x="917575" y="744538"/>
            <a:ext cx="4962525" cy="3722687"/>
          </a:xfrm>
          <a:ln/>
        </p:spPr>
      </p:sp>
      <p:sp>
        <p:nvSpPr>
          <p:cNvPr id="19459"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Arial" panose="020B0604020202020204" pitchFamily="34" charset="0"/>
              <a:cs typeface="Times New Roman (Hebrew)" charset="0"/>
            </a:endParaRPr>
          </a:p>
        </p:txBody>
      </p:sp>
      <p:sp>
        <p:nvSpPr>
          <p:cNvPr id="19460" name="날짜 개체 틀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6EDF3D91-53A0-4D94-8EEC-F2D388D3BFE8}"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19461" name="슬라이드 번호 개체 틀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96F8D8E7-8824-44F0-885C-98DF6F1C53BB}" type="slidenum">
              <a:rPr kumimoji="0" lang="en-US" altLang="ko-KR"/>
              <a:pPr>
                <a:spcBef>
                  <a:spcPct val="0"/>
                </a:spcBef>
              </a:pPr>
              <a:t>5</a:t>
            </a:fld>
            <a:endParaRPr kumimoji="0" lang="en-US" alt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슬라이드 이미지 개체 틀 1"/>
          <p:cNvSpPr>
            <a:spLocks noGrp="1" noRot="1" noChangeAspect="1" noTextEdit="1"/>
          </p:cNvSpPr>
          <p:nvPr>
            <p:ph type="sldImg"/>
          </p:nvPr>
        </p:nvSpPr>
        <p:spPr>
          <a:xfrm>
            <a:off x="917575" y="744538"/>
            <a:ext cx="4962525" cy="3722687"/>
          </a:xfrm>
          <a:ln/>
        </p:spPr>
      </p:sp>
      <p:sp>
        <p:nvSpPr>
          <p:cNvPr id="21507" name="슬라이드 노트 개체 틀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Arial" panose="020B0604020202020204" pitchFamily="34" charset="0"/>
              <a:cs typeface="Times New Roman (Hebrew)" charset="0"/>
            </a:endParaRPr>
          </a:p>
        </p:txBody>
      </p:sp>
      <p:sp>
        <p:nvSpPr>
          <p:cNvPr id="21508" name="날짜 개체 틀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06133865-BF3E-4DF2-AEFD-3A447937ECAF}" type="datetime1">
              <a:rPr kumimoji="0" lang="en-US" altLang="ko-KR" smtClean="0">
                <a:ea typeface="굴림" panose="020B0600000101010101" pitchFamily="50" charset="-127"/>
              </a:rPr>
              <a:t>3/15/2020</a:t>
            </a:fld>
            <a:endParaRPr kumimoji="0" lang="en-US" altLang="ko-KR">
              <a:ea typeface="굴림" panose="020B0600000101010101" pitchFamily="50" charset="-127"/>
            </a:endParaRPr>
          </a:p>
        </p:txBody>
      </p:sp>
      <p:sp>
        <p:nvSpPr>
          <p:cNvPr id="21509" name="슬라이드 번호 개체 틀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kumimoji="1" sz="1200">
                <a:solidFill>
                  <a:schemeClr val="tx1"/>
                </a:solidFill>
                <a:latin typeface="Arial" panose="020B0604020202020204" pitchFamily="34" charset="0"/>
                <a:cs typeface="Times New Roman (Hebrew)" charset="0"/>
              </a:defRPr>
            </a:lvl1pPr>
            <a:lvl2pPr marL="742950" indent="-285750" algn="r" rtl="1">
              <a:spcBef>
                <a:spcPct val="30000"/>
              </a:spcBef>
              <a:defRPr kumimoji="1" sz="1200">
                <a:solidFill>
                  <a:schemeClr val="tx1"/>
                </a:solidFill>
                <a:latin typeface="Arial" panose="020B0604020202020204" pitchFamily="34" charset="0"/>
                <a:cs typeface="Times New Roman (Hebrew)" charset="0"/>
              </a:defRPr>
            </a:lvl2pPr>
            <a:lvl3pPr marL="1143000" indent="-228600" algn="r" rtl="1">
              <a:spcBef>
                <a:spcPct val="30000"/>
              </a:spcBef>
              <a:defRPr kumimoji="1" sz="1200">
                <a:solidFill>
                  <a:schemeClr val="tx1"/>
                </a:solidFill>
                <a:latin typeface="Arial" panose="020B0604020202020204" pitchFamily="34" charset="0"/>
                <a:cs typeface="Times New Roman (Hebrew)" charset="0"/>
              </a:defRPr>
            </a:lvl3pPr>
            <a:lvl4pPr marL="1600200" indent="-228600" algn="r" rtl="1">
              <a:spcBef>
                <a:spcPct val="30000"/>
              </a:spcBef>
              <a:defRPr kumimoji="1" sz="1200">
                <a:solidFill>
                  <a:schemeClr val="tx1"/>
                </a:solidFill>
                <a:latin typeface="Arial" panose="020B0604020202020204" pitchFamily="34" charset="0"/>
                <a:cs typeface="Times New Roman (Hebrew)" charset="0"/>
              </a:defRPr>
            </a:lvl4pPr>
            <a:lvl5pPr marL="2057400" indent="-228600" algn="r" rtl="1">
              <a:spcBef>
                <a:spcPct val="30000"/>
              </a:spcBef>
              <a:defRPr kumimoji="1" sz="1200">
                <a:solidFill>
                  <a:schemeClr val="tx1"/>
                </a:solidFill>
                <a:latin typeface="Arial" panose="020B0604020202020204" pitchFamily="34" charset="0"/>
                <a:cs typeface="Times New Roman (Hebrew)" charset="0"/>
              </a:defRPr>
            </a:lvl5pPr>
            <a:lvl6pPr marL="25146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a:spcBef>
                <a:spcPct val="0"/>
              </a:spcBef>
            </a:pPr>
            <a:fld id="{5B0619B8-0CF9-400A-987B-59AD533EA889}" type="slidenum">
              <a:rPr kumimoji="0" lang="en-US" altLang="ko-KR"/>
              <a:pPr>
                <a:spcBef>
                  <a:spcPct val="0"/>
                </a:spcBef>
              </a:pPr>
              <a:t>6</a:t>
            </a:fld>
            <a:endParaRPr kumimoji="0" lang="en-US" altLang="ko-K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C361B6-4CFB-4E36-B848-CE39711AFA70}" type="slidenum">
              <a:rPr lang="en-US" altLang="ko-KR">
                <a:latin typeface="Times New Roman" panose="02020603050405020304" pitchFamily="18" charset="0"/>
              </a:rPr>
              <a:pPr/>
              <a:t>7</a:t>
            </a:fld>
            <a:endParaRPr lang="en-US" altLang="ko-KR">
              <a:latin typeface="Times New Roman" panose="02020603050405020304" pitchFamily="18" charset="0"/>
            </a:endParaRPr>
          </a:p>
        </p:txBody>
      </p:sp>
      <p:sp>
        <p:nvSpPr>
          <p:cNvPr id="6147" name="Rectangle 2"/>
          <p:cNvSpPr>
            <a:spLocks noGrp="1" noRot="1" noChangeAspect="1" noChangeArrowheads="1" noTextEdit="1"/>
          </p:cNvSpPr>
          <p:nvPr>
            <p:ph type="sldImg"/>
          </p:nvPr>
        </p:nvSpPr>
        <p:spPr>
          <a:xfrm>
            <a:off x="917575" y="744538"/>
            <a:ext cx="4962525" cy="3722687"/>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29334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1117600" y="696913"/>
            <a:ext cx="4648200" cy="3486150"/>
          </a:xfrm>
          <a:ln/>
        </p:spPr>
      </p:sp>
      <p:sp>
        <p:nvSpPr>
          <p:cNvPr id="81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988020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1117600" y="696913"/>
            <a:ext cx="4648200" cy="3486150"/>
          </a:xfrm>
          <a:ln/>
        </p:spPr>
      </p:sp>
      <p:sp>
        <p:nvSpPr>
          <p:cNvPr id="102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980689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1117600" y="696913"/>
            <a:ext cx="4648200" cy="3486150"/>
          </a:xfrm>
          <a:ln/>
        </p:spPr>
      </p:sp>
      <p:sp>
        <p:nvSpPr>
          <p:cNvPr id="1229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6652487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1117600" y="696913"/>
            <a:ext cx="4648200" cy="3486150"/>
          </a:xfrm>
          <a:ln/>
        </p:spPr>
      </p:sp>
      <p:sp>
        <p:nvSpPr>
          <p:cNvPr id="1433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657101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1117600" y="696913"/>
            <a:ext cx="4648200" cy="3486150"/>
          </a:xfrm>
          <a:ln/>
        </p:spPr>
      </p:sp>
      <p:sp>
        <p:nvSpPr>
          <p:cNvPr id="1638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23337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xfrm>
            <a:off x="1117600" y="696913"/>
            <a:ext cx="4648200" cy="3486150"/>
          </a:xfrm>
          <a:ln/>
        </p:spPr>
      </p:sp>
      <p:sp>
        <p:nvSpPr>
          <p:cNvPr id="1945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096312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Rot="1" noChangeAspect="1" noChangeArrowheads="1" noTextEdit="1"/>
          </p:cNvSpPr>
          <p:nvPr>
            <p:ph type="sldImg"/>
          </p:nvPr>
        </p:nvSpPr>
        <p:spPr>
          <a:xfrm>
            <a:off x="1117600" y="696913"/>
            <a:ext cx="4648200" cy="3486150"/>
          </a:xfrm>
          <a:ln/>
        </p:spPr>
      </p:sp>
      <p:sp>
        <p:nvSpPr>
          <p:cNvPr id="2150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049525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xfrm>
            <a:off x="1117600" y="696913"/>
            <a:ext cx="4648200" cy="3486150"/>
          </a:xfrm>
          <a:ln/>
        </p:spPr>
      </p:sp>
      <p:sp>
        <p:nvSpPr>
          <p:cNvPr id="2355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5068121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17600" y="696913"/>
            <a:ext cx="4648200" cy="3486150"/>
          </a:xfrm>
          <a:ln/>
        </p:spPr>
      </p:sp>
      <p:sp>
        <p:nvSpPr>
          <p:cNvPr id="2560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409069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xfrm>
            <a:off x="1117600" y="696913"/>
            <a:ext cx="4648200" cy="3486150"/>
          </a:xfrm>
          <a:ln/>
        </p:spPr>
      </p:sp>
      <p:sp>
        <p:nvSpPr>
          <p:cNvPr id="2765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733857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1117600" y="696913"/>
            <a:ext cx="4648200" cy="3486150"/>
          </a:xfrm>
          <a:ln/>
        </p:spPr>
      </p:sp>
      <p:sp>
        <p:nvSpPr>
          <p:cNvPr id="2969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1329007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117600" y="696913"/>
            <a:ext cx="4648200" cy="3486150"/>
          </a:xfrm>
          <a:ln/>
        </p:spPr>
      </p:sp>
      <p:sp>
        <p:nvSpPr>
          <p:cNvPr id="3174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550379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117600" y="696913"/>
            <a:ext cx="4648200" cy="3486150"/>
          </a:xfrm>
          <a:ln/>
        </p:spPr>
      </p:sp>
      <p:sp>
        <p:nvSpPr>
          <p:cNvPr id="337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087405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1117600" y="696913"/>
            <a:ext cx="4648200" cy="3486150"/>
          </a:xfrm>
          <a:ln/>
        </p:spPr>
      </p:sp>
      <p:sp>
        <p:nvSpPr>
          <p:cNvPr id="358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835009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1117600" y="696913"/>
            <a:ext cx="4648200" cy="3486150"/>
          </a:xfrm>
          <a:ln/>
        </p:spPr>
      </p:sp>
      <p:sp>
        <p:nvSpPr>
          <p:cNvPr id="3891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5576996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1117600" y="696913"/>
            <a:ext cx="4648200" cy="3486150"/>
          </a:xfrm>
          <a:ln/>
        </p:spPr>
      </p:sp>
      <p:sp>
        <p:nvSpPr>
          <p:cNvPr id="4096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591523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1117600" y="696913"/>
            <a:ext cx="4648200" cy="3486150"/>
          </a:xfrm>
          <a:ln/>
        </p:spPr>
      </p:sp>
      <p:sp>
        <p:nvSpPr>
          <p:cNvPr id="4301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549137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1117600" y="696913"/>
            <a:ext cx="4648200" cy="3486150"/>
          </a:xfrm>
          <a:ln/>
        </p:spPr>
      </p:sp>
      <p:sp>
        <p:nvSpPr>
          <p:cNvPr id="4505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86303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xfrm>
            <a:off x="1117600" y="696913"/>
            <a:ext cx="4648200" cy="3486150"/>
          </a:xfrm>
          <a:ln/>
        </p:spPr>
      </p:sp>
      <p:sp>
        <p:nvSpPr>
          <p:cNvPr id="4710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8064271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xfrm>
            <a:off x="1117600" y="696913"/>
            <a:ext cx="4648200" cy="3486150"/>
          </a:xfrm>
          <a:ln/>
        </p:spPr>
      </p:sp>
      <p:sp>
        <p:nvSpPr>
          <p:cNvPr id="4915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7230110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xfrm>
            <a:off x="1117600" y="696913"/>
            <a:ext cx="4648200" cy="3486150"/>
          </a:xfrm>
          <a:ln/>
        </p:spPr>
      </p:sp>
      <p:sp>
        <p:nvSpPr>
          <p:cNvPr id="5120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970936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xfrm>
            <a:off x="1117600" y="696913"/>
            <a:ext cx="4648200" cy="3486150"/>
          </a:xfrm>
          <a:ln/>
        </p:spPr>
      </p:sp>
      <p:sp>
        <p:nvSpPr>
          <p:cNvPr id="5325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445383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xfrm>
            <a:off x="1117600" y="696913"/>
            <a:ext cx="4648200" cy="3486150"/>
          </a:xfrm>
          <a:ln/>
        </p:spPr>
      </p:sp>
      <p:sp>
        <p:nvSpPr>
          <p:cNvPr id="5529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9515211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1117600" y="696913"/>
            <a:ext cx="4648200" cy="3486150"/>
          </a:xfrm>
          <a:ln/>
        </p:spPr>
      </p:sp>
      <p:sp>
        <p:nvSpPr>
          <p:cNvPr id="5734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5124161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xfrm>
            <a:off x="1117600" y="696913"/>
            <a:ext cx="4648200" cy="3486150"/>
          </a:xfrm>
          <a:ln/>
        </p:spPr>
      </p:sp>
      <p:sp>
        <p:nvSpPr>
          <p:cNvPr id="6041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979688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17600" y="696913"/>
            <a:ext cx="4648200" cy="3486150"/>
          </a:xfrm>
          <a:ln/>
        </p:spPr>
      </p:sp>
      <p:sp>
        <p:nvSpPr>
          <p:cNvPr id="6246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018192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xfrm>
            <a:off x="1117600" y="696913"/>
            <a:ext cx="4648200" cy="3486150"/>
          </a:xfrm>
          <a:ln/>
        </p:spPr>
      </p:sp>
      <p:sp>
        <p:nvSpPr>
          <p:cNvPr id="6451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9668213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1117600" y="696913"/>
            <a:ext cx="4648200" cy="3486150"/>
          </a:xfrm>
          <a:ln/>
        </p:spPr>
      </p:sp>
      <p:sp>
        <p:nvSpPr>
          <p:cNvPr id="6656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1522420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1117600" y="696913"/>
            <a:ext cx="4648200" cy="3486150"/>
          </a:xfrm>
          <a:ln/>
        </p:spPr>
      </p:sp>
      <p:sp>
        <p:nvSpPr>
          <p:cNvPr id="6861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2323711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17600" y="696913"/>
            <a:ext cx="4648200" cy="3486150"/>
          </a:xfrm>
          <a:ln/>
        </p:spPr>
      </p:sp>
      <p:sp>
        <p:nvSpPr>
          <p:cNvPr id="7065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1663388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17600" y="696913"/>
            <a:ext cx="4648200" cy="3486150"/>
          </a:xfrm>
          <a:ln/>
        </p:spPr>
      </p:sp>
      <p:sp>
        <p:nvSpPr>
          <p:cNvPr id="7065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2278829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p:nvPr>
        </p:nvSpPr>
        <p:spPr>
          <a:xfrm>
            <a:off x="1117600" y="696913"/>
            <a:ext cx="4648200" cy="3486150"/>
          </a:xfrm>
          <a:ln/>
        </p:spPr>
      </p:sp>
      <p:sp>
        <p:nvSpPr>
          <p:cNvPr id="7270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5146269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a:xfrm>
            <a:off x="1117600" y="696913"/>
            <a:ext cx="4648200" cy="3486150"/>
          </a:xfrm>
          <a:ln/>
        </p:spPr>
      </p:sp>
      <p:sp>
        <p:nvSpPr>
          <p:cNvPr id="7475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2231730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xfrm>
            <a:off x="1117600" y="696913"/>
            <a:ext cx="4648200" cy="3486150"/>
          </a:xfrm>
          <a:ln/>
        </p:spPr>
      </p:sp>
      <p:sp>
        <p:nvSpPr>
          <p:cNvPr id="7680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9124941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17600" y="696913"/>
            <a:ext cx="4648200" cy="3486150"/>
          </a:xfrm>
          <a:ln/>
        </p:spPr>
      </p:sp>
      <p:sp>
        <p:nvSpPr>
          <p:cNvPr id="7885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pPr algn="l"/>
            <a:r>
              <a:rPr kumimoji="1" lang="en-US" altLang="ko-KR" sz="1200" b="0" i="0" kern="1200" dirty="0" smtClean="0">
                <a:solidFill>
                  <a:schemeClr val="tx1"/>
                </a:solidFill>
                <a:effectLst/>
                <a:latin typeface="Arial" charset="0"/>
                <a:ea typeface="+mn-ea"/>
                <a:cs typeface="Times New Roman (Hebrew)" charset="-79"/>
              </a:rPr>
              <a:t>tertiary</a:t>
            </a:r>
            <a:r>
              <a:rPr lang="en-US" altLang="ko-KR" dirty="0" smtClean="0">
                <a:latin typeface="Times New Roman" panose="02020603050405020304" pitchFamily="18" charset="0"/>
              </a:rPr>
              <a:t>:</a:t>
            </a:r>
            <a:r>
              <a:rPr lang="ko-KR" altLang="en-US" dirty="0" smtClean="0">
                <a:latin typeface="Times New Roman" panose="02020603050405020304" pitchFamily="18" charset="0"/>
              </a:rPr>
              <a:t> </a:t>
            </a:r>
            <a:r>
              <a:rPr lang="ko-KR" altLang="en-US" dirty="0">
                <a:latin typeface="Times New Roman" panose="02020603050405020304" pitchFamily="18" charset="0"/>
              </a:rPr>
              <a:t>제 </a:t>
            </a:r>
            <a:r>
              <a:rPr lang="en-US" altLang="ko-KR" dirty="0">
                <a:latin typeface="Times New Roman" panose="02020603050405020304" pitchFamily="18" charset="0"/>
              </a:rPr>
              <a:t>3</a:t>
            </a:r>
            <a:r>
              <a:rPr lang="ko-KR" altLang="en-US" dirty="0">
                <a:latin typeface="Times New Roman" panose="02020603050405020304" pitchFamily="18" charset="0"/>
              </a:rPr>
              <a:t>의</a:t>
            </a:r>
            <a:r>
              <a:rPr lang="en-US" altLang="ko-KR" dirty="0">
                <a:latin typeface="Times New Roman" panose="02020603050405020304" pitchFamily="18" charset="0"/>
              </a:rPr>
              <a:t>.. </a:t>
            </a:r>
            <a:endParaRPr lang="ko-KR" altLang="ko-KR" dirty="0">
              <a:latin typeface="Times New Roman" panose="02020603050405020304" pitchFamily="18" charset="0"/>
            </a:endParaRPr>
          </a:p>
        </p:txBody>
      </p:sp>
    </p:spTree>
    <p:extLst>
      <p:ext uri="{BB962C8B-B14F-4D97-AF65-F5344CB8AC3E}">
        <p14:creationId xmlns:p14="http://schemas.microsoft.com/office/powerpoint/2010/main" val="4192545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xfrm>
            <a:off x="1117600" y="696913"/>
            <a:ext cx="4648200" cy="3486150"/>
          </a:xfrm>
          <a:ln/>
        </p:spPr>
      </p:sp>
      <p:sp>
        <p:nvSpPr>
          <p:cNvPr id="8089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5185271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xfrm>
            <a:off x="1117600" y="696913"/>
            <a:ext cx="4648200" cy="3486150"/>
          </a:xfrm>
          <a:ln/>
        </p:spPr>
      </p:sp>
      <p:sp>
        <p:nvSpPr>
          <p:cNvPr id="8294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02551731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17600" y="696913"/>
            <a:ext cx="4648200" cy="3486150"/>
          </a:xfrm>
          <a:ln/>
        </p:spPr>
      </p:sp>
      <p:sp>
        <p:nvSpPr>
          <p:cNvPr id="849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6862297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xfrm>
            <a:off x="1117600" y="696913"/>
            <a:ext cx="4648200" cy="3486150"/>
          </a:xfrm>
          <a:ln/>
        </p:spPr>
      </p:sp>
      <p:sp>
        <p:nvSpPr>
          <p:cNvPr id="8704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7795145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17575" y="744538"/>
            <a:ext cx="4962525" cy="3722687"/>
          </a:xfrm>
        </p:spPr>
      </p:sp>
      <p:sp>
        <p:nvSpPr>
          <p:cNvPr id="3" name="슬라이드 노트 개체 틀 2"/>
          <p:cNvSpPr>
            <a:spLocks noGrp="1"/>
          </p:cNvSpPr>
          <p:nvPr>
            <p:ph type="body" idx="1"/>
          </p:nvPr>
        </p:nvSpPr>
        <p:spPr/>
        <p:txBody>
          <a:bodyPr/>
          <a:lstStyle/>
          <a:p>
            <a:pPr algn="l"/>
            <a:r>
              <a:rPr lang="en-US" altLang="ko-KR" dirty="0" err="1" smtClean="0"/>
              <a:t>Rbtee</a:t>
            </a:r>
            <a:r>
              <a:rPr lang="en-US" altLang="ko-KR" dirty="0" smtClean="0"/>
              <a:t>: red-black tree  https://lwn.net/Articles/184495/</a:t>
            </a:r>
          </a:p>
          <a:p>
            <a:pPr algn="l"/>
            <a:r>
              <a:rPr lang="en-US" altLang="ko-KR" dirty="0" smtClean="0"/>
              <a:t>https://en.wikipedia.org/wiki/Red%E2%80%93black_tree</a:t>
            </a:r>
          </a:p>
          <a:p>
            <a:pPr algn="l"/>
            <a:endParaRPr lang="ko-KR" altLang="en-US" dirty="0"/>
          </a:p>
        </p:txBody>
      </p:sp>
      <p:sp>
        <p:nvSpPr>
          <p:cNvPr id="4" name="날짜 개체 틀 3"/>
          <p:cNvSpPr>
            <a:spLocks noGrp="1"/>
          </p:cNvSpPr>
          <p:nvPr>
            <p:ph type="dt" idx="10"/>
          </p:nvPr>
        </p:nvSpPr>
        <p:spPr/>
        <p:txBody>
          <a:bodyPr/>
          <a:lstStyle/>
          <a:p>
            <a:pPr>
              <a:defRPr/>
            </a:pPr>
            <a:fld id="{55AC08C5-071F-468E-AF92-311127222429}" type="datetime1">
              <a:rPr lang="en-US" altLang="ko-KR" smtClean="0"/>
              <a:t>3/15/2020</a:t>
            </a:fld>
            <a:endParaRPr lang="en-US" altLang="ko-KR"/>
          </a:p>
        </p:txBody>
      </p:sp>
      <p:sp>
        <p:nvSpPr>
          <p:cNvPr id="5" name="슬라이드 번호 개체 틀 4"/>
          <p:cNvSpPr>
            <a:spLocks noGrp="1"/>
          </p:cNvSpPr>
          <p:nvPr>
            <p:ph type="sldNum" sz="quarter" idx="11"/>
          </p:nvPr>
        </p:nvSpPr>
        <p:spPr/>
        <p:txBody>
          <a:bodyPr/>
          <a:lstStyle/>
          <a:p>
            <a:pPr>
              <a:defRPr/>
            </a:pPr>
            <a:fld id="{939436B6-E848-4667-AD4A-40A091C58D54}" type="slidenum">
              <a:rPr lang="en-US" altLang="ko-KR" smtClean="0"/>
              <a:pPr>
                <a:defRPr/>
              </a:pPr>
              <a:t>52</a:t>
            </a:fld>
            <a:endParaRPr lang="en-US" altLang="ko-KR"/>
          </a:p>
        </p:txBody>
      </p:sp>
    </p:spTree>
    <p:extLst>
      <p:ext uri="{BB962C8B-B14F-4D97-AF65-F5344CB8AC3E}">
        <p14:creationId xmlns:p14="http://schemas.microsoft.com/office/powerpoint/2010/main" val="33478871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a:xfrm>
            <a:off x="1117600" y="696913"/>
            <a:ext cx="4648200" cy="3486150"/>
          </a:xfrm>
          <a:ln/>
        </p:spPr>
      </p:sp>
      <p:sp>
        <p:nvSpPr>
          <p:cNvPr id="9523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23638904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17600" y="696913"/>
            <a:ext cx="4648200" cy="3486150"/>
          </a:xfrm>
          <a:ln/>
        </p:spPr>
      </p:sp>
      <p:sp>
        <p:nvSpPr>
          <p:cNvPr id="9728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5265551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a:xfrm>
            <a:off x="1117600" y="696913"/>
            <a:ext cx="4648200" cy="3486150"/>
          </a:xfrm>
          <a:ln/>
        </p:spPr>
      </p:sp>
      <p:sp>
        <p:nvSpPr>
          <p:cNvPr id="99331"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2885064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a:xfrm>
            <a:off x="1117600" y="696913"/>
            <a:ext cx="4648200" cy="3486150"/>
          </a:xfrm>
          <a:ln/>
        </p:spPr>
      </p:sp>
      <p:sp>
        <p:nvSpPr>
          <p:cNvPr id="101379"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950606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17600" y="696913"/>
            <a:ext cx="4648200" cy="3486150"/>
          </a:xfrm>
          <a:ln/>
        </p:spPr>
      </p:sp>
      <p:sp>
        <p:nvSpPr>
          <p:cNvPr id="103427"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0496946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17600" y="696913"/>
            <a:ext cx="4648200" cy="3486150"/>
          </a:xfrm>
          <a:ln/>
        </p:spPr>
      </p:sp>
      <p:sp>
        <p:nvSpPr>
          <p:cNvPr id="10547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15301894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a:xfrm>
            <a:off x="1117600" y="696913"/>
            <a:ext cx="4648200" cy="3486150"/>
          </a:xfrm>
          <a:ln/>
        </p:spPr>
      </p:sp>
      <p:sp>
        <p:nvSpPr>
          <p:cNvPr id="107523"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402471118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Rot="1" noChangeAspect="1" noChangeArrowheads="1" noTextEdit="1"/>
          </p:cNvSpPr>
          <p:nvPr>
            <p:ph type="sldImg"/>
          </p:nvPr>
        </p:nvSpPr>
        <p:spPr>
          <a:xfrm>
            <a:off x="1117600" y="696913"/>
            <a:ext cx="4648200" cy="3486150"/>
          </a:xfrm>
          <a:ln/>
        </p:spPr>
      </p:sp>
      <p:sp>
        <p:nvSpPr>
          <p:cNvPr id="110595" name="Rectangle 3"/>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ko-KR" altLang="ko-KR">
              <a:latin typeface="Times New Roman" panose="02020603050405020304" pitchFamily="18" charset="0"/>
            </a:endParaRPr>
          </a:p>
        </p:txBody>
      </p:sp>
    </p:spTree>
    <p:extLst>
      <p:ext uri="{BB962C8B-B14F-4D97-AF65-F5344CB8AC3E}">
        <p14:creationId xmlns:p14="http://schemas.microsoft.com/office/powerpoint/2010/main" val="36391018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txBox="1">
            <a:spLocks noGrp="1" noChangeArrowheads="1"/>
          </p:cNvSpPr>
          <p:nvPr/>
        </p:nvSpPr>
        <p:spPr bwMode="auto">
          <a:xfrm>
            <a:off x="3851275" y="9434513"/>
            <a:ext cx="2946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773" tIns="44386" rIns="88773" bIns="44386" anchor="b"/>
          <a:lstStyle>
            <a:lvl1pPr algn="r" defTabSz="887413" rtl="1">
              <a:spcBef>
                <a:spcPct val="30000"/>
              </a:spcBef>
              <a:defRPr kumimoji="1" sz="1200">
                <a:solidFill>
                  <a:schemeClr val="tx1"/>
                </a:solidFill>
                <a:latin typeface="Arial" panose="020B0604020202020204" pitchFamily="34" charset="0"/>
                <a:cs typeface="Times New Roman (Hebrew)" charset="0"/>
              </a:defRPr>
            </a:lvl1pPr>
            <a:lvl2pPr marL="742950" indent="-285750" algn="r" defTabSz="887413" rtl="1">
              <a:spcBef>
                <a:spcPct val="30000"/>
              </a:spcBef>
              <a:defRPr kumimoji="1" sz="1200">
                <a:solidFill>
                  <a:schemeClr val="tx1"/>
                </a:solidFill>
                <a:latin typeface="Arial" panose="020B0604020202020204" pitchFamily="34" charset="0"/>
                <a:cs typeface="Times New Roman (Hebrew)" charset="0"/>
              </a:defRPr>
            </a:lvl2pPr>
            <a:lvl3pPr marL="1143000" indent="-228600" algn="r" defTabSz="887413" rtl="1">
              <a:spcBef>
                <a:spcPct val="30000"/>
              </a:spcBef>
              <a:defRPr kumimoji="1" sz="1200">
                <a:solidFill>
                  <a:schemeClr val="tx1"/>
                </a:solidFill>
                <a:latin typeface="Arial" panose="020B0604020202020204" pitchFamily="34" charset="0"/>
                <a:cs typeface="Times New Roman (Hebrew)" charset="0"/>
              </a:defRPr>
            </a:lvl3pPr>
            <a:lvl4pPr marL="1600200" indent="-228600" algn="r" defTabSz="887413" rtl="1">
              <a:spcBef>
                <a:spcPct val="30000"/>
              </a:spcBef>
              <a:defRPr kumimoji="1" sz="1200">
                <a:solidFill>
                  <a:schemeClr val="tx1"/>
                </a:solidFill>
                <a:latin typeface="Arial" panose="020B0604020202020204" pitchFamily="34" charset="0"/>
                <a:cs typeface="Times New Roman (Hebrew)" charset="0"/>
              </a:defRPr>
            </a:lvl4pPr>
            <a:lvl5pPr marL="2057400" indent="-228600" algn="r" defTabSz="887413" rtl="1">
              <a:spcBef>
                <a:spcPct val="30000"/>
              </a:spcBef>
              <a:defRPr kumimoji="1" sz="1200">
                <a:solidFill>
                  <a:schemeClr val="tx1"/>
                </a:solidFill>
                <a:latin typeface="Arial" panose="020B0604020202020204" pitchFamily="34" charset="0"/>
                <a:cs typeface="Times New Roman (Hebrew)" charset="0"/>
              </a:defRPr>
            </a:lvl5pPr>
            <a:lvl6pPr marL="2514600" indent="-228600" algn="r" defTabSz="887413"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6pPr>
            <a:lvl7pPr marL="2971800" indent="-228600" algn="r" defTabSz="887413"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7pPr>
            <a:lvl8pPr marL="3429000" indent="-228600" algn="r" defTabSz="887413"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8pPr>
            <a:lvl9pPr marL="3886200" indent="-228600" algn="r" defTabSz="887413" rtl="1" eaLnBrk="0" fontAlgn="base" hangingPunct="0">
              <a:spcBef>
                <a:spcPct val="30000"/>
              </a:spcBef>
              <a:spcAft>
                <a:spcPct val="0"/>
              </a:spcAft>
              <a:defRPr kumimoji="1" sz="1200">
                <a:solidFill>
                  <a:schemeClr val="tx1"/>
                </a:solidFill>
                <a:latin typeface="Arial" panose="020B0604020202020204" pitchFamily="34" charset="0"/>
                <a:cs typeface="Times New Roman (Hebrew)" charset="0"/>
              </a:defRPr>
            </a:lvl9pPr>
          </a:lstStyle>
          <a:p>
            <a:pPr rtl="0" eaLnBrk="1" latinLnBrk="1" hangingPunct="1">
              <a:spcBef>
                <a:spcPct val="0"/>
              </a:spcBef>
            </a:pPr>
            <a:fld id="{1072F13A-EE54-4975-AD86-52A0F2F6EDEB}" type="slidenum">
              <a:rPr lang="en-US" altLang="ko-KR">
                <a:latin typeface="Times New Roman" panose="02020603050405020304" pitchFamily="18" charset="0"/>
                <a:ea typeface="굴림" panose="020B0600000101010101" pitchFamily="50" charset="-127"/>
              </a:rPr>
              <a:pPr rtl="0" eaLnBrk="1" latinLnBrk="1" hangingPunct="1">
                <a:spcBef>
                  <a:spcPct val="0"/>
                </a:spcBef>
              </a:pPr>
              <a:t>65</a:t>
            </a:fld>
            <a:endParaRPr lang="en-US" altLang="ko-KR">
              <a:latin typeface="Times New Roman" panose="02020603050405020304" pitchFamily="18" charset="0"/>
              <a:ea typeface="굴림" panose="020B0600000101010101" pitchFamily="50" charset="-127"/>
            </a:endParaRPr>
          </a:p>
        </p:txBody>
      </p:sp>
      <p:sp>
        <p:nvSpPr>
          <p:cNvPr id="66563" name="Rectangle 2"/>
          <p:cNvSpPr>
            <a:spLocks noGrp="1" noRot="1" noChangeAspect="1" noChangeArrowheads="1" noTextEdit="1"/>
          </p:cNvSpPr>
          <p:nvPr>
            <p:ph type="sldImg"/>
          </p:nvPr>
        </p:nvSpPr>
        <p:spPr>
          <a:xfrm>
            <a:off x="919163" y="744538"/>
            <a:ext cx="4964112" cy="3722687"/>
          </a:xfrm>
          <a:ln/>
        </p:spPr>
      </p:sp>
      <p:sp>
        <p:nvSpPr>
          <p:cNvPr id="66564" name="Rectangle 3"/>
          <p:cNvSpPr>
            <a:spLocks noGrp="1" noChangeArrowheads="1"/>
          </p:cNvSpPr>
          <p:nvPr>
            <p:ph type="body" idx="1"/>
          </p:nvPr>
        </p:nvSpPr>
        <p:spPr>
          <a:xfrm>
            <a:off x="906463" y="4714875"/>
            <a:ext cx="4984750" cy="4468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773" tIns="44386" rIns="88773" bIns="44386"/>
          <a:lstStyle/>
          <a:p>
            <a:r>
              <a:rPr lang="en-US" altLang="ko-KR">
                <a:latin typeface="Arial" panose="020B0604020202020204" pitchFamily="34" charset="0"/>
                <a:ea typeface="Arial Unicode MS" panose="020B0604020202020204" pitchFamily="50" charset="-127"/>
                <a:cs typeface="Arial Unicode MS" panose="020B0604020202020204" pitchFamily="50" charset="-127"/>
              </a:rPr>
              <a:t>Thank you for your attention.</a:t>
            </a:r>
          </a:p>
          <a:p>
            <a:endParaRPr lang="en-US" altLang="ko-KR">
              <a:latin typeface="Arial" panose="020B0604020202020204" pitchFamily="34" charset="0"/>
              <a:ea typeface="Arial Unicode MS" panose="020B0604020202020204" pitchFamily="50" charset="-127"/>
              <a:cs typeface="Arial Unicode MS" panose="020B0604020202020204" pitchFamily="50" charset="-127"/>
            </a:endParaRPr>
          </a:p>
          <a:p>
            <a:r>
              <a:rPr lang="en-US" altLang="ko-KR">
                <a:latin typeface="Arial" panose="020B0604020202020204" pitchFamily="34" charset="0"/>
                <a:ea typeface="Arial Unicode MS" panose="020B0604020202020204" pitchFamily="50" charset="-127"/>
                <a:cs typeface="Arial Unicode MS" panose="020B0604020202020204" pitchFamily="50" charset="-127"/>
              </a:rPr>
              <a:t>Thank you. </a:t>
            </a:r>
          </a:p>
          <a:p>
            <a:endParaRPr lang="en-US" altLang="ko-KR">
              <a:latin typeface="Arial" panose="020B0604020202020204" pitchFamily="34" charset="0"/>
              <a:ea typeface="Arial Unicode MS" panose="020B0604020202020204" pitchFamily="50" charset="-127"/>
              <a:cs typeface="Arial Unicode MS" panose="020B0604020202020204" pitchFamily="50" charset="-127"/>
            </a:endParaRPr>
          </a:p>
          <a:p>
            <a:endParaRPr lang="ko-KR" altLang="en-US">
              <a:latin typeface="Arial" panose="020B0604020202020204" pitchFamily="34" charset="0"/>
              <a:ea typeface="Arial Unicode MS" panose="020B0604020202020204" pitchFamily="50" charset="-127"/>
              <a:cs typeface="Arial Unicode MS" panose="020B0604020202020204" pitchFamily="50" charset="-127"/>
            </a:endParaRPr>
          </a:p>
          <a:p>
            <a:pPr eaLnBrk="1" hangingPunct="1"/>
            <a:endParaRPr lang="ko-KR" altLang="ko-KR">
              <a:latin typeface="Arial" panose="020B0604020202020204" pitchFamily="34" charset="0"/>
              <a:ea typeface="Arial Unicode MS" panose="020B0604020202020204" pitchFamily="50" charset="-127"/>
              <a:cs typeface="Arial Unicode MS" panose="020B0604020202020204" pitchFamily="50"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rtl="1" eaLnBrk="1" hangingPunct="1">
                <a:defRPr/>
              </a:pPr>
              <a:endParaRPr lang="ko-KR" altLang="en-US">
                <a:ea typeface="굴림" charset="-127"/>
              </a:endParaRPr>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fld id="{C3A0A408-C827-4C43-AD54-7EB7C0535DA1}" type="datetime1">
              <a:rPr lang="en-US" altLang="ko-KR" smtClean="0"/>
              <a:t>3/15/2020</a:t>
            </a:fld>
            <a:endParaRPr lang="en-US" altLang="ko-KR"/>
          </a:p>
        </p:txBody>
      </p:sp>
      <p:sp>
        <p:nvSpPr>
          <p:cNvPr id="15" name="Rectangle 15"/>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r>
              <a:rPr lang="en-US" altLang="ko-KR"/>
              <a:t>
              </a:t>
            </a:r>
          </a:p>
        </p:txBody>
      </p:sp>
      <p:sp>
        <p:nvSpPr>
          <p:cNvPr id="16" name="Rectangle 16"/>
          <p:cNvSpPr>
            <a:spLocks noGrp="1" noChangeArrowheads="1"/>
          </p:cNvSpPr>
          <p:nvPr>
            <p:ph type="sldNum" sz="quarter" idx="12"/>
          </p:nvPr>
        </p:nvSpPr>
        <p:spPr>
          <a:xfrm>
            <a:off x="6858000" y="6248400"/>
            <a:ext cx="1905000" cy="457200"/>
          </a:xfrm>
        </p:spPr>
        <p:txBody>
          <a:bodyPr/>
          <a:lstStyle>
            <a:lvl1pPr>
              <a:defRPr sz="1400" smtClean="0">
                <a:solidFill>
                  <a:schemeClr val="bg2"/>
                </a:solidFill>
              </a:defRPr>
            </a:lvl1pPr>
          </a:lstStyle>
          <a:p>
            <a:pPr>
              <a:defRPr/>
            </a:pPr>
            <a:fld id="{34088934-EC52-44E6-8A61-4A7D78DADCB5}" type="slidenum">
              <a:rPr lang="en-US" altLang="ko-KR"/>
              <a:pPr>
                <a:defRPr/>
              </a:pPr>
              <a:t>‹#›</a:t>
            </a:fld>
            <a:endParaRPr lang="en-US" altLang="ko-KR"/>
          </a:p>
        </p:txBody>
      </p:sp>
    </p:spTree>
    <p:extLst>
      <p:ext uri="{BB962C8B-B14F-4D97-AF65-F5344CB8AC3E}">
        <p14:creationId xmlns:p14="http://schemas.microsoft.com/office/powerpoint/2010/main" val="89605579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1143000" y="152400"/>
            <a:ext cx="7793038" cy="838200"/>
          </a:xfrm>
        </p:spPr>
        <p:txBody>
          <a:bodyPr/>
          <a:lstStyle/>
          <a:p>
            <a:r>
              <a:rPr lang="ko-KR" altLang="en-US" dirty="0"/>
              <a:t>마스터 제목 스타일 편집</a:t>
            </a:r>
          </a:p>
        </p:txBody>
      </p:sp>
      <p:sp>
        <p:nvSpPr>
          <p:cNvPr id="3" name="내용 개체 틀 2"/>
          <p:cNvSpPr>
            <a:spLocks noGrp="1"/>
          </p:cNvSpPr>
          <p:nvPr>
            <p:ph idx="1"/>
          </p:nvPr>
        </p:nvSpPr>
        <p:spPr>
          <a:xfrm>
            <a:off x="838200" y="1219200"/>
            <a:ext cx="7772400" cy="4913313"/>
          </a:xfrm>
        </p:spPr>
        <p:txBody>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Rectangle 11"/>
          <p:cNvSpPr>
            <a:spLocks noGrp="1" noChangeArrowheads="1"/>
          </p:cNvSpPr>
          <p:nvPr>
            <p:ph type="dt" sz="half" idx="10"/>
          </p:nvPr>
        </p:nvSpPr>
        <p:spPr>
          <a:ln/>
        </p:spPr>
        <p:txBody>
          <a:bodyPr/>
          <a:lstStyle>
            <a:lvl1pPr>
              <a:defRPr/>
            </a:lvl1pPr>
          </a:lstStyle>
          <a:p>
            <a:pPr>
              <a:defRPr/>
            </a:pPr>
            <a:fld id="{CF4977ED-9422-4A2B-AB3A-D910751FF2CA}" type="datetime1">
              <a:rPr lang="en-US" altLang="ko-KR" smtClean="0"/>
              <a:t>3/15/2020</a:t>
            </a:fld>
            <a:endParaRPr lang="en-US" altLang="ko-KR"/>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6" name="Rectangle 13"/>
          <p:cNvSpPr>
            <a:spLocks noGrp="1" noChangeArrowheads="1"/>
          </p:cNvSpPr>
          <p:nvPr>
            <p:ph type="sldNum" sz="quarter" idx="12"/>
          </p:nvPr>
        </p:nvSpPr>
        <p:spPr>
          <a:ln/>
        </p:spPr>
        <p:txBody>
          <a:bodyPr/>
          <a:lstStyle>
            <a:lvl1pPr>
              <a:defRPr/>
            </a:lvl1pPr>
          </a:lstStyle>
          <a:p>
            <a:pPr>
              <a:defRPr/>
            </a:pPr>
            <a:fld id="{8F6B6D71-C84E-4D63-B1C5-D438FF08FD95}" type="slidenum">
              <a:rPr lang="en-US" altLang="ko-KR"/>
              <a:pPr>
                <a:defRPr/>
              </a:pPr>
              <a:t>‹#›</a:t>
            </a:fld>
            <a:endParaRPr lang="en-US" altLang="ko-KR"/>
          </a:p>
        </p:txBody>
      </p:sp>
    </p:spTree>
    <p:extLst>
      <p:ext uri="{BB962C8B-B14F-4D97-AF65-F5344CB8AC3E}">
        <p14:creationId xmlns:p14="http://schemas.microsoft.com/office/powerpoint/2010/main" val="209931494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11"/>
          <p:cNvSpPr>
            <a:spLocks noGrp="1" noChangeArrowheads="1"/>
          </p:cNvSpPr>
          <p:nvPr>
            <p:ph type="dt" sz="half" idx="10"/>
          </p:nvPr>
        </p:nvSpPr>
        <p:spPr>
          <a:ln/>
        </p:spPr>
        <p:txBody>
          <a:bodyPr/>
          <a:lstStyle>
            <a:lvl1pPr>
              <a:defRPr/>
            </a:lvl1pPr>
          </a:lstStyle>
          <a:p>
            <a:pPr>
              <a:defRPr/>
            </a:pPr>
            <a:fld id="{4F54F31C-4625-4A4F-A6DD-0AF960690928}" type="datetime1">
              <a:rPr lang="en-US" altLang="ko-KR" smtClean="0"/>
              <a:t>3/15/2020</a:t>
            </a:fld>
            <a:endParaRPr lang="en-US" altLang="ko-KR"/>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6" name="Rectangle 13"/>
          <p:cNvSpPr>
            <a:spLocks noGrp="1" noChangeArrowheads="1"/>
          </p:cNvSpPr>
          <p:nvPr>
            <p:ph type="sldNum" sz="quarter" idx="12"/>
          </p:nvPr>
        </p:nvSpPr>
        <p:spPr>
          <a:ln/>
        </p:spPr>
        <p:txBody>
          <a:bodyPr/>
          <a:lstStyle>
            <a:lvl1pPr>
              <a:defRPr/>
            </a:lvl1pPr>
          </a:lstStyle>
          <a:p>
            <a:pPr>
              <a:defRPr/>
            </a:pPr>
            <a:fld id="{AF85BF25-80BB-48A2-A4FC-5D1C9570FD91}" type="slidenum">
              <a:rPr lang="en-US" altLang="ko-KR"/>
              <a:pPr>
                <a:defRPr/>
              </a:pPr>
              <a:t>‹#›</a:t>
            </a:fld>
            <a:endParaRPr lang="en-US" altLang="ko-KR"/>
          </a:p>
        </p:txBody>
      </p:sp>
    </p:spTree>
    <p:extLst>
      <p:ext uri="{BB962C8B-B14F-4D97-AF65-F5344CB8AC3E}">
        <p14:creationId xmlns:p14="http://schemas.microsoft.com/office/powerpoint/2010/main" val="267812992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838200"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800600"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11"/>
          <p:cNvSpPr>
            <a:spLocks noGrp="1" noChangeArrowheads="1"/>
          </p:cNvSpPr>
          <p:nvPr>
            <p:ph type="dt" sz="half" idx="10"/>
          </p:nvPr>
        </p:nvSpPr>
        <p:spPr>
          <a:ln/>
        </p:spPr>
        <p:txBody>
          <a:bodyPr/>
          <a:lstStyle>
            <a:lvl1pPr>
              <a:defRPr/>
            </a:lvl1pPr>
          </a:lstStyle>
          <a:p>
            <a:pPr>
              <a:defRPr/>
            </a:pPr>
            <a:fld id="{13246E35-DB02-428D-AE6F-972A251EE1A1}" type="datetime1">
              <a:rPr lang="en-US" altLang="ko-KR" smtClean="0"/>
              <a:t>3/15/2020</a:t>
            </a:fld>
            <a:endParaRPr lang="en-US" altLang="ko-KR"/>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7" name="Rectangle 13"/>
          <p:cNvSpPr>
            <a:spLocks noGrp="1" noChangeArrowheads="1"/>
          </p:cNvSpPr>
          <p:nvPr>
            <p:ph type="sldNum" sz="quarter" idx="12"/>
          </p:nvPr>
        </p:nvSpPr>
        <p:spPr>
          <a:ln/>
        </p:spPr>
        <p:txBody>
          <a:bodyPr/>
          <a:lstStyle>
            <a:lvl1pPr>
              <a:defRPr/>
            </a:lvl1pPr>
          </a:lstStyle>
          <a:p>
            <a:pPr>
              <a:defRPr/>
            </a:pPr>
            <a:fld id="{4D873581-941B-400F-B3F2-241556D8446C}" type="slidenum">
              <a:rPr lang="en-US" altLang="ko-KR"/>
              <a:pPr>
                <a:defRPr/>
              </a:pPr>
              <a:t>‹#›</a:t>
            </a:fld>
            <a:endParaRPr lang="en-US" altLang="ko-KR"/>
          </a:p>
        </p:txBody>
      </p:sp>
    </p:spTree>
    <p:extLst>
      <p:ext uri="{BB962C8B-B14F-4D97-AF65-F5344CB8AC3E}">
        <p14:creationId xmlns:p14="http://schemas.microsoft.com/office/powerpoint/2010/main" val="95757877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11"/>
          <p:cNvSpPr>
            <a:spLocks noGrp="1" noChangeArrowheads="1"/>
          </p:cNvSpPr>
          <p:nvPr>
            <p:ph type="dt" sz="half" idx="10"/>
          </p:nvPr>
        </p:nvSpPr>
        <p:spPr>
          <a:ln/>
        </p:spPr>
        <p:txBody>
          <a:bodyPr/>
          <a:lstStyle>
            <a:lvl1pPr>
              <a:defRPr/>
            </a:lvl1pPr>
          </a:lstStyle>
          <a:p>
            <a:pPr>
              <a:defRPr/>
            </a:pPr>
            <a:fld id="{4CE5A016-C739-4472-8638-D9D37E20C5A9}" type="datetime1">
              <a:rPr lang="en-US" altLang="ko-KR" smtClean="0"/>
              <a:t>3/15/2020</a:t>
            </a:fld>
            <a:endParaRPr lang="en-US" altLang="ko-KR"/>
          </a:p>
        </p:txBody>
      </p:sp>
      <p:sp>
        <p:nvSpPr>
          <p:cNvPr id="8"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9" name="Rectangle 13"/>
          <p:cNvSpPr>
            <a:spLocks noGrp="1" noChangeArrowheads="1"/>
          </p:cNvSpPr>
          <p:nvPr>
            <p:ph type="sldNum" sz="quarter" idx="12"/>
          </p:nvPr>
        </p:nvSpPr>
        <p:spPr>
          <a:ln/>
        </p:spPr>
        <p:txBody>
          <a:bodyPr/>
          <a:lstStyle>
            <a:lvl1pPr>
              <a:defRPr/>
            </a:lvl1pPr>
          </a:lstStyle>
          <a:p>
            <a:pPr>
              <a:defRPr/>
            </a:pPr>
            <a:fld id="{5A383AD5-9FE8-4D86-87E2-897B5EB507A1}" type="slidenum">
              <a:rPr lang="en-US" altLang="ko-KR"/>
              <a:pPr>
                <a:defRPr/>
              </a:pPr>
              <a:t>‹#›</a:t>
            </a:fld>
            <a:endParaRPr lang="en-US" altLang="ko-KR"/>
          </a:p>
        </p:txBody>
      </p:sp>
    </p:spTree>
    <p:extLst>
      <p:ext uri="{BB962C8B-B14F-4D97-AF65-F5344CB8AC3E}">
        <p14:creationId xmlns:p14="http://schemas.microsoft.com/office/powerpoint/2010/main" val="94022506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11"/>
          <p:cNvSpPr>
            <a:spLocks noGrp="1" noChangeArrowheads="1"/>
          </p:cNvSpPr>
          <p:nvPr>
            <p:ph type="dt" sz="half" idx="10"/>
          </p:nvPr>
        </p:nvSpPr>
        <p:spPr>
          <a:ln/>
        </p:spPr>
        <p:txBody>
          <a:bodyPr/>
          <a:lstStyle>
            <a:lvl1pPr>
              <a:defRPr/>
            </a:lvl1pPr>
          </a:lstStyle>
          <a:p>
            <a:pPr>
              <a:defRPr/>
            </a:pPr>
            <a:fld id="{03914BED-7199-4B87-B8A4-F6A8A6C53C7C}" type="datetime1">
              <a:rPr lang="en-US" altLang="ko-KR" smtClean="0"/>
              <a:t>3/15/2020</a:t>
            </a:fld>
            <a:endParaRPr lang="en-US" altLang="ko-KR"/>
          </a:p>
        </p:txBody>
      </p:sp>
      <p:sp>
        <p:nvSpPr>
          <p:cNvPr id="4"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5" name="Rectangle 13"/>
          <p:cNvSpPr>
            <a:spLocks noGrp="1" noChangeArrowheads="1"/>
          </p:cNvSpPr>
          <p:nvPr>
            <p:ph type="sldNum" sz="quarter" idx="12"/>
          </p:nvPr>
        </p:nvSpPr>
        <p:spPr>
          <a:ln/>
        </p:spPr>
        <p:txBody>
          <a:bodyPr/>
          <a:lstStyle>
            <a:lvl1pPr>
              <a:defRPr/>
            </a:lvl1pPr>
          </a:lstStyle>
          <a:p>
            <a:pPr>
              <a:defRPr/>
            </a:pPr>
            <a:fld id="{1EAE905E-7B89-49C7-B000-32FDD8E1C9C5}" type="slidenum">
              <a:rPr lang="en-US" altLang="ko-KR"/>
              <a:pPr>
                <a:defRPr/>
              </a:pPr>
              <a:t>‹#›</a:t>
            </a:fld>
            <a:endParaRPr lang="en-US" altLang="ko-KR"/>
          </a:p>
        </p:txBody>
      </p:sp>
    </p:spTree>
    <p:extLst>
      <p:ext uri="{BB962C8B-B14F-4D97-AF65-F5344CB8AC3E}">
        <p14:creationId xmlns:p14="http://schemas.microsoft.com/office/powerpoint/2010/main" val="42000757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67F8E7B0-40F8-43CC-A9B2-745778836A07}" type="datetime1">
              <a:rPr lang="en-US" altLang="ko-KR" smtClean="0"/>
              <a:t>3/15/2020</a:t>
            </a:fld>
            <a:endParaRPr lang="en-US" altLang="ko-KR"/>
          </a:p>
        </p:txBody>
      </p:sp>
      <p:sp>
        <p:nvSpPr>
          <p:cNvPr id="3"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4" name="Rectangle 13"/>
          <p:cNvSpPr>
            <a:spLocks noGrp="1" noChangeArrowheads="1"/>
          </p:cNvSpPr>
          <p:nvPr>
            <p:ph type="sldNum" sz="quarter" idx="12"/>
          </p:nvPr>
        </p:nvSpPr>
        <p:spPr>
          <a:ln/>
        </p:spPr>
        <p:txBody>
          <a:bodyPr/>
          <a:lstStyle>
            <a:lvl1pPr>
              <a:defRPr/>
            </a:lvl1pPr>
          </a:lstStyle>
          <a:p>
            <a:pPr>
              <a:defRPr/>
            </a:pPr>
            <a:fld id="{95C1A131-644A-46E0-B836-82F50B9109E3}" type="slidenum">
              <a:rPr lang="en-US" altLang="ko-KR"/>
              <a:pPr>
                <a:defRPr/>
              </a:pPr>
              <a:t>‹#›</a:t>
            </a:fld>
            <a:endParaRPr lang="en-US" altLang="ko-KR"/>
          </a:p>
        </p:txBody>
      </p:sp>
    </p:spTree>
    <p:extLst>
      <p:ext uri="{BB962C8B-B14F-4D97-AF65-F5344CB8AC3E}">
        <p14:creationId xmlns:p14="http://schemas.microsoft.com/office/powerpoint/2010/main" val="130000392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11"/>
          <p:cNvSpPr>
            <a:spLocks noGrp="1" noChangeArrowheads="1"/>
          </p:cNvSpPr>
          <p:nvPr>
            <p:ph type="dt" sz="half" idx="10"/>
          </p:nvPr>
        </p:nvSpPr>
        <p:spPr>
          <a:ln/>
        </p:spPr>
        <p:txBody>
          <a:bodyPr/>
          <a:lstStyle>
            <a:lvl1pPr>
              <a:defRPr/>
            </a:lvl1pPr>
          </a:lstStyle>
          <a:p>
            <a:pPr>
              <a:defRPr/>
            </a:pPr>
            <a:fld id="{766ED69E-E738-48DC-ABFD-FBA09A0FE375}" type="datetime1">
              <a:rPr lang="en-US" altLang="ko-KR" smtClean="0"/>
              <a:t>3/15/2020</a:t>
            </a:fld>
            <a:endParaRPr lang="en-US" altLang="ko-KR"/>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7" name="Rectangle 13"/>
          <p:cNvSpPr>
            <a:spLocks noGrp="1" noChangeArrowheads="1"/>
          </p:cNvSpPr>
          <p:nvPr>
            <p:ph type="sldNum" sz="quarter" idx="12"/>
          </p:nvPr>
        </p:nvSpPr>
        <p:spPr>
          <a:ln/>
        </p:spPr>
        <p:txBody>
          <a:bodyPr/>
          <a:lstStyle>
            <a:lvl1pPr>
              <a:defRPr/>
            </a:lvl1pPr>
          </a:lstStyle>
          <a:p>
            <a:pPr>
              <a:defRPr/>
            </a:pPr>
            <a:fld id="{75FED41B-3809-486B-AA3F-3C1230B5228F}" type="slidenum">
              <a:rPr lang="en-US" altLang="ko-KR"/>
              <a:pPr>
                <a:defRPr/>
              </a:pPr>
              <a:t>‹#›</a:t>
            </a:fld>
            <a:endParaRPr lang="en-US" altLang="ko-KR"/>
          </a:p>
        </p:txBody>
      </p:sp>
    </p:spTree>
    <p:extLst>
      <p:ext uri="{BB962C8B-B14F-4D97-AF65-F5344CB8AC3E}">
        <p14:creationId xmlns:p14="http://schemas.microsoft.com/office/powerpoint/2010/main" val="215519686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11"/>
          <p:cNvSpPr>
            <a:spLocks noGrp="1" noChangeArrowheads="1"/>
          </p:cNvSpPr>
          <p:nvPr>
            <p:ph type="dt" sz="half" idx="10"/>
          </p:nvPr>
        </p:nvSpPr>
        <p:spPr>
          <a:ln/>
        </p:spPr>
        <p:txBody>
          <a:bodyPr/>
          <a:lstStyle>
            <a:lvl1pPr>
              <a:defRPr/>
            </a:lvl1pPr>
          </a:lstStyle>
          <a:p>
            <a:pPr>
              <a:defRPr/>
            </a:pPr>
            <a:fld id="{FBF8679A-253C-4242-9E31-195D5FB79179}" type="datetime1">
              <a:rPr lang="en-US" altLang="ko-KR" smtClean="0"/>
              <a:t>3/15/2020</a:t>
            </a:fld>
            <a:endParaRPr lang="en-US" altLang="ko-KR"/>
          </a:p>
        </p:txBody>
      </p:sp>
      <p:sp>
        <p:nvSpPr>
          <p:cNvPr id="6"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7" name="Rectangle 13"/>
          <p:cNvSpPr>
            <a:spLocks noGrp="1" noChangeArrowheads="1"/>
          </p:cNvSpPr>
          <p:nvPr>
            <p:ph type="sldNum" sz="quarter" idx="12"/>
          </p:nvPr>
        </p:nvSpPr>
        <p:spPr>
          <a:ln/>
        </p:spPr>
        <p:txBody>
          <a:bodyPr/>
          <a:lstStyle>
            <a:lvl1pPr>
              <a:defRPr/>
            </a:lvl1pPr>
          </a:lstStyle>
          <a:p>
            <a:pPr>
              <a:defRPr/>
            </a:pPr>
            <a:fld id="{188E86C3-33DA-42B1-A51C-9F2880267E01}" type="slidenum">
              <a:rPr lang="en-US" altLang="ko-KR"/>
              <a:pPr>
                <a:defRPr/>
              </a:pPr>
              <a:t>‹#›</a:t>
            </a:fld>
            <a:endParaRPr lang="en-US" altLang="ko-KR"/>
          </a:p>
        </p:txBody>
      </p:sp>
    </p:spTree>
    <p:extLst>
      <p:ext uri="{BB962C8B-B14F-4D97-AF65-F5344CB8AC3E}">
        <p14:creationId xmlns:p14="http://schemas.microsoft.com/office/powerpoint/2010/main" val="275414645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11"/>
          <p:cNvSpPr>
            <a:spLocks noGrp="1" noChangeArrowheads="1"/>
          </p:cNvSpPr>
          <p:nvPr>
            <p:ph type="dt" sz="half" idx="10"/>
          </p:nvPr>
        </p:nvSpPr>
        <p:spPr>
          <a:ln/>
        </p:spPr>
        <p:txBody>
          <a:bodyPr/>
          <a:lstStyle>
            <a:lvl1pPr>
              <a:defRPr/>
            </a:lvl1pPr>
          </a:lstStyle>
          <a:p>
            <a:pPr>
              <a:defRPr/>
            </a:pPr>
            <a:fld id="{1B8E962C-1846-4C1D-8445-70DBF3A215F2}" type="datetime1">
              <a:rPr lang="en-US" altLang="ko-KR" smtClean="0"/>
              <a:t>3/15/2020</a:t>
            </a:fld>
            <a:endParaRPr lang="en-US" altLang="ko-KR"/>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6" name="Rectangle 13"/>
          <p:cNvSpPr>
            <a:spLocks noGrp="1" noChangeArrowheads="1"/>
          </p:cNvSpPr>
          <p:nvPr>
            <p:ph type="sldNum" sz="quarter" idx="12"/>
          </p:nvPr>
        </p:nvSpPr>
        <p:spPr>
          <a:ln/>
        </p:spPr>
        <p:txBody>
          <a:bodyPr/>
          <a:lstStyle>
            <a:lvl1pPr>
              <a:defRPr/>
            </a:lvl1pPr>
          </a:lstStyle>
          <a:p>
            <a:pPr>
              <a:defRPr/>
            </a:pPr>
            <a:fld id="{283DDEA3-CFAD-4F17-B90D-A736C5CC535D}" type="slidenum">
              <a:rPr lang="en-US" altLang="ko-KR"/>
              <a:pPr>
                <a:defRPr/>
              </a:pPr>
              <a:t>‹#›</a:t>
            </a:fld>
            <a:endParaRPr lang="en-US" altLang="ko-KR"/>
          </a:p>
        </p:txBody>
      </p:sp>
    </p:spTree>
    <p:extLst>
      <p:ext uri="{BB962C8B-B14F-4D97-AF65-F5344CB8AC3E}">
        <p14:creationId xmlns:p14="http://schemas.microsoft.com/office/powerpoint/2010/main" val="395371125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18325" y="617538"/>
            <a:ext cx="2025650" cy="55149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838200" y="617538"/>
            <a:ext cx="5927725" cy="55149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11"/>
          <p:cNvSpPr>
            <a:spLocks noGrp="1" noChangeArrowheads="1"/>
          </p:cNvSpPr>
          <p:nvPr>
            <p:ph type="dt" sz="half" idx="10"/>
          </p:nvPr>
        </p:nvSpPr>
        <p:spPr>
          <a:ln/>
        </p:spPr>
        <p:txBody>
          <a:bodyPr/>
          <a:lstStyle>
            <a:lvl1pPr>
              <a:defRPr/>
            </a:lvl1pPr>
          </a:lstStyle>
          <a:p>
            <a:pPr>
              <a:defRPr/>
            </a:pPr>
            <a:fld id="{F6860DB5-C781-4951-A07E-70A6DBB9E418}" type="datetime1">
              <a:rPr lang="en-US" altLang="ko-KR" smtClean="0"/>
              <a:t>3/15/2020</a:t>
            </a:fld>
            <a:endParaRPr lang="en-US" altLang="ko-KR"/>
          </a:p>
        </p:txBody>
      </p:sp>
      <p:sp>
        <p:nvSpPr>
          <p:cNvPr id="5" name="Rectangle 12"/>
          <p:cNvSpPr>
            <a:spLocks noGrp="1" noChangeArrowheads="1"/>
          </p:cNvSpPr>
          <p:nvPr>
            <p:ph type="ftr" sz="quarter" idx="11"/>
          </p:nvPr>
        </p:nvSpPr>
        <p:spPr>
          <a:ln/>
        </p:spPr>
        <p:txBody>
          <a:bodyPr/>
          <a:lstStyle>
            <a:lvl1pPr>
              <a:defRPr/>
            </a:lvl1pPr>
          </a:lstStyle>
          <a:p>
            <a:pPr>
              <a:defRPr/>
            </a:pPr>
            <a:r>
              <a:rPr lang="en-US" altLang="ko-KR"/>
              <a:t>
              </a:t>
            </a:r>
          </a:p>
        </p:txBody>
      </p:sp>
      <p:sp>
        <p:nvSpPr>
          <p:cNvPr id="6" name="Rectangle 13"/>
          <p:cNvSpPr>
            <a:spLocks noGrp="1" noChangeArrowheads="1"/>
          </p:cNvSpPr>
          <p:nvPr>
            <p:ph type="sldNum" sz="quarter" idx="12"/>
          </p:nvPr>
        </p:nvSpPr>
        <p:spPr>
          <a:ln/>
        </p:spPr>
        <p:txBody>
          <a:bodyPr/>
          <a:lstStyle>
            <a:lvl1pPr>
              <a:defRPr/>
            </a:lvl1pPr>
          </a:lstStyle>
          <a:p>
            <a:pPr>
              <a:defRPr/>
            </a:pPr>
            <a:fld id="{A53C98A8-29D7-407C-8EDA-DC1E36B4BED0}" type="slidenum">
              <a:rPr lang="en-US" altLang="ko-KR"/>
              <a:pPr>
                <a:defRPr/>
              </a:pPr>
              <a:t>‹#›</a:t>
            </a:fld>
            <a:endParaRPr lang="en-US" altLang="ko-KR"/>
          </a:p>
        </p:txBody>
      </p:sp>
    </p:spTree>
    <p:extLst>
      <p:ext uri="{BB962C8B-B14F-4D97-AF65-F5344CB8AC3E}">
        <p14:creationId xmlns:p14="http://schemas.microsoft.com/office/powerpoint/2010/main" val="3840486517"/>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3" name="Date Placeholder 1"/>
          <p:cNvSpPr>
            <a:spLocks noGrp="1"/>
          </p:cNvSpPr>
          <p:nvPr>
            <p:ph type="dt" sz="half" idx="10"/>
          </p:nvPr>
        </p:nvSpPr>
        <p:spPr/>
        <p:txBody>
          <a:bodyPr/>
          <a:lstStyle>
            <a:lvl1pPr>
              <a:defRPr/>
            </a:lvl1pPr>
          </a:lstStyle>
          <a:p>
            <a:pPr>
              <a:defRPr/>
            </a:pPr>
            <a:fld id="{12FC87E6-22DC-44CC-A19E-A1471220CDB4}" type="datetime1">
              <a:rPr lang="en-US" altLang="ko-KR" smtClean="0"/>
              <a:t>3/15/2020</a:t>
            </a:fld>
            <a:endParaRPr/>
          </a:p>
        </p:txBody>
      </p:sp>
      <p:sp>
        <p:nvSpPr>
          <p:cNvPr id="4" name="Footer Placeholder 2"/>
          <p:cNvSpPr>
            <a:spLocks noGrp="1"/>
          </p:cNvSpPr>
          <p:nvPr>
            <p:ph type="ftr" sz="quarter" idx="11"/>
          </p:nvPr>
        </p:nvSpPr>
        <p:spPr/>
        <p:txBody>
          <a:bodyPr/>
          <a:lstStyle>
            <a:lvl1pPr>
              <a:defRPr/>
            </a:lvl1pPr>
          </a:lstStyle>
          <a:p>
            <a:pPr>
              <a:defRPr/>
            </a:pPr>
            <a:r>
              <a:t>
              </a:t>
            </a:r>
          </a:p>
        </p:txBody>
      </p:sp>
      <p:sp>
        <p:nvSpPr>
          <p:cNvPr id="5" name="Slide Number Placeholder 3"/>
          <p:cNvSpPr>
            <a:spLocks noGrp="1"/>
          </p:cNvSpPr>
          <p:nvPr>
            <p:ph type="sldNum" sz="quarter" idx="12"/>
          </p:nvPr>
        </p:nvSpPr>
        <p:spPr/>
        <p:txBody>
          <a:bodyPr/>
          <a:lstStyle>
            <a:lvl1pPr>
              <a:defRPr smtClean="0"/>
            </a:lvl1pPr>
          </a:lstStyle>
          <a:p>
            <a:pPr>
              <a:defRPr/>
            </a:pPr>
            <a:fld id="{3C2A9AA2-7725-4B89-B2D3-5A8420073571}" type="slidenum">
              <a:rPr lang="ko-KR" altLang="ko-KR"/>
              <a:pPr>
                <a:defRPr/>
              </a:pPr>
              <a:t>‹#›</a:t>
            </a:fld>
            <a:endParaRPr lang="ko-KR" altLang="ko-KR"/>
          </a:p>
        </p:txBody>
      </p:sp>
    </p:spTree>
    <p:extLst>
      <p:ext uri="{BB962C8B-B14F-4D97-AF65-F5344CB8AC3E}">
        <p14:creationId xmlns:p14="http://schemas.microsoft.com/office/powerpoint/2010/main" val="32741729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ko-KR"/>
            </a:p>
          </p:txBody>
        </p:sp>
        <p:sp>
          <p:nvSpPr>
            <p:cNvPr id="5" name="Rectangle 5"/>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ko-KR"/>
            </a:p>
          </p:txBody>
        </p:sp>
        <p:sp>
          <p:nvSpPr>
            <p:cNvPr id="6" name="Rectangle 6"/>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ko-KR"/>
            </a:p>
          </p:txBody>
        </p:sp>
      </p:grpSp>
      <p:sp>
        <p:nvSpPr>
          <p:cNvPr id="7" name="Text Box 7"/>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ko-KR" sz="1000" b="1">
                <a:solidFill>
                  <a:srgbClr val="336699"/>
                </a:solidFill>
                <a:latin typeface="Helvetica" panose="020B0604020202020204" pitchFamily="34" charset="0"/>
              </a:rPr>
              <a:t>Silberschatz, Galvin and Gagne ©2018</a:t>
            </a:r>
          </a:p>
        </p:txBody>
      </p:sp>
      <p:pic>
        <p:nvPicPr>
          <p:cNvPr id="9" name="Picture 9" descr="dino_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lang="en-US" altLang="ko-KR"/>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3021777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42913" y="6413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27" name="Rectangle 3"/>
          <p:cNvSpPr>
            <a:spLocks noChangeArrowheads="1"/>
          </p:cNvSpPr>
          <p:nvPr/>
        </p:nvSpPr>
        <p:spPr bwMode="ltGray">
          <a:xfrm>
            <a:off x="825500" y="6413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28" name="Rectangle 4"/>
          <p:cNvSpPr>
            <a:spLocks noChangeArrowheads="1"/>
          </p:cNvSpPr>
          <p:nvPr/>
        </p:nvSpPr>
        <p:spPr bwMode="ltGray">
          <a:xfrm>
            <a:off x="566738" y="10636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29" name="Rectangle 5"/>
          <p:cNvSpPr>
            <a:spLocks noChangeArrowheads="1"/>
          </p:cNvSpPr>
          <p:nvPr/>
        </p:nvSpPr>
        <p:spPr bwMode="ltGray">
          <a:xfrm>
            <a:off x="936625" y="10636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30" name="Rectangle 6"/>
          <p:cNvSpPr>
            <a:spLocks noChangeArrowheads="1"/>
          </p:cNvSpPr>
          <p:nvPr/>
        </p:nvSpPr>
        <p:spPr bwMode="ltGray">
          <a:xfrm>
            <a:off x="152400" y="9906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31" name="Rectangle 7"/>
          <p:cNvSpPr>
            <a:spLocks noChangeArrowheads="1"/>
          </p:cNvSpPr>
          <p:nvPr/>
        </p:nvSpPr>
        <p:spPr bwMode="gray">
          <a:xfrm>
            <a:off x="787400" y="5334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32" name="Rectangle 8"/>
          <p:cNvSpPr>
            <a:spLocks noChangeArrowheads="1"/>
          </p:cNvSpPr>
          <p:nvPr/>
        </p:nvSpPr>
        <p:spPr bwMode="gray">
          <a:xfrm>
            <a:off x="533400" y="11430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a:solidFill>
                  <a:schemeClr val="tx1"/>
                </a:solidFill>
                <a:latin typeface="Tahoma" pitchFamily="34" charset="0"/>
                <a:cs typeface="Times New Roman (Hebrew)" charset="-79"/>
              </a:defRPr>
            </a:lvl1pPr>
            <a:lvl2pPr marL="742950" indent="-285750" eaLnBrk="0" hangingPunct="0">
              <a:defRPr sz="2800">
                <a:solidFill>
                  <a:schemeClr val="tx1"/>
                </a:solidFill>
                <a:latin typeface="Tahoma" pitchFamily="34" charset="0"/>
                <a:cs typeface="Times New Roman (Hebrew)" charset="-79"/>
              </a:defRPr>
            </a:lvl2pPr>
            <a:lvl3pPr marL="1143000" indent="-228600" eaLnBrk="0" hangingPunct="0">
              <a:defRPr sz="2800">
                <a:solidFill>
                  <a:schemeClr val="tx1"/>
                </a:solidFill>
                <a:latin typeface="Tahoma" pitchFamily="34" charset="0"/>
                <a:cs typeface="Times New Roman (Hebrew)" charset="-79"/>
              </a:defRPr>
            </a:lvl3pPr>
            <a:lvl4pPr marL="1600200" indent="-228600" eaLnBrk="0" hangingPunct="0">
              <a:defRPr sz="2800">
                <a:solidFill>
                  <a:schemeClr val="tx1"/>
                </a:solidFill>
                <a:latin typeface="Tahoma" pitchFamily="34" charset="0"/>
                <a:cs typeface="Times New Roman (Hebrew)" charset="-79"/>
              </a:defRPr>
            </a:lvl4pPr>
            <a:lvl5pPr marL="2057400" indent="-228600" eaLnBrk="0" hangingPunct="0">
              <a:defRPr sz="2800">
                <a:solidFill>
                  <a:schemeClr val="tx1"/>
                </a:solidFill>
                <a:latin typeface="Tahoma" pitchFamily="34" charset="0"/>
                <a:cs typeface="Times New Roman (Hebrew)" charset="-79"/>
              </a:defRPr>
            </a:lvl5pPr>
            <a:lvl6pPr marL="25146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6pPr>
            <a:lvl7pPr marL="29718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7pPr>
            <a:lvl8pPr marL="34290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8pPr>
            <a:lvl9pPr marL="3886200" indent="-228600" algn="ctr" rtl="1" eaLnBrk="0" fontAlgn="base" hangingPunct="0">
              <a:spcBef>
                <a:spcPct val="0"/>
              </a:spcBef>
              <a:spcAft>
                <a:spcPct val="0"/>
              </a:spcAft>
              <a:defRPr sz="2800">
                <a:solidFill>
                  <a:schemeClr val="tx1"/>
                </a:solidFill>
                <a:latin typeface="Tahoma" pitchFamily="34" charset="0"/>
                <a:cs typeface="Times New Roman (Hebrew)" charset="-79"/>
              </a:defRPr>
            </a:lvl9pPr>
          </a:lstStyle>
          <a:p>
            <a:pPr algn="ctr" eaLnBrk="1" hangingPunct="1">
              <a:defRPr/>
            </a:pPr>
            <a:endParaRPr kumimoji="1" lang="ko-KR" altLang="ko-KR" sz="2400">
              <a:ea typeface="굴림" charset="-127"/>
            </a:endParaRPr>
          </a:p>
        </p:txBody>
      </p:sp>
      <p:sp>
        <p:nvSpPr>
          <p:cNvPr id="1033" name="Rectangle 9"/>
          <p:cNvSpPr>
            <a:spLocks noGrp="1" noChangeArrowheads="1"/>
          </p:cNvSpPr>
          <p:nvPr>
            <p:ph type="title"/>
          </p:nvPr>
        </p:nvSpPr>
        <p:spPr bwMode="auto">
          <a:xfrm>
            <a:off x="1143000" y="0"/>
            <a:ext cx="77930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ko-KR"/>
              <a:t>Click to edit Master title style</a:t>
            </a:r>
          </a:p>
        </p:txBody>
      </p:sp>
      <p:sp>
        <p:nvSpPr>
          <p:cNvPr id="1034" name="Rectangle 10"/>
          <p:cNvSpPr>
            <a:spLocks noGrp="1" noChangeArrowheads="1"/>
          </p:cNvSpPr>
          <p:nvPr>
            <p:ph type="body" idx="1"/>
          </p:nvPr>
        </p:nvSpPr>
        <p:spPr bwMode="auto">
          <a:xfrm>
            <a:off x="838200" y="1295400"/>
            <a:ext cx="7772400" cy="483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dirty="0"/>
              <a:t>Click to edit Master text styles</a:t>
            </a:r>
          </a:p>
          <a:p>
            <a:pPr lvl="1"/>
            <a:r>
              <a:rPr lang="en-US" altLang="ko-KR" dirty="0"/>
              <a:t>Second level</a:t>
            </a:r>
          </a:p>
          <a:p>
            <a:pPr lvl="2"/>
            <a:r>
              <a:rPr lang="en-US" altLang="ko-KR" dirty="0"/>
              <a:t>Third level</a:t>
            </a:r>
          </a:p>
          <a:p>
            <a:pPr lvl="3"/>
            <a:r>
              <a:rPr lang="en-US" altLang="ko-KR" dirty="0"/>
              <a:t>Fourth level</a:t>
            </a:r>
          </a:p>
          <a:p>
            <a:pPr lvl="4"/>
            <a:r>
              <a:rPr lang="en-US" altLang="ko-KR" dirty="0"/>
              <a:t>Fifth level</a:t>
            </a:r>
          </a:p>
        </p:txBody>
      </p:sp>
      <p:sp>
        <p:nvSpPr>
          <p:cNvPr id="64523" name="Rectangle 11"/>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0" eaLnBrk="1" hangingPunct="1">
              <a:defRPr sz="1400">
                <a:ea typeface="굴림" pitchFamily="50" charset="-127"/>
                <a:cs typeface="Times New Roman (Hebrew)" charset="-79"/>
              </a:defRPr>
            </a:lvl1pPr>
          </a:lstStyle>
          <a:p>
            <a:pPr>
              <a:defRPr/>
            </a:pPr>
            <a:fld id="{C4F30E0F-B856-439E-80C7-EE6350D8FA7F}" type="datetime1">
              <a:rPr lang="en-US" altLang="ko-KR" smtClean="0"/>
              <a:t>3/15/2020</a:t>
            </a:fld>
            <a:endParaRPr lang="en-US" altLang="ko-KR"/>
          </a:p>
        </p:txBody>
      </p:sp>
      <p:sp>
        <p:nvSpPr>
          <p:cNvPr id="64524" name="Rectangle 12"/>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rtl="0" eaLnBrk="1" hangingPunct="1">
              <a:defRPr sz="1400">
                <a:ea typeface="굴림" pitchFamily="50" charset="-127"/>
                <a:cs typeface="Times New Roman (Hebrew)" charset="-79"/>
              </a:defRPr>
            </a:lvl1pPr>
          </a:lstStyle>
          <a:p>
            <a:pPr>
              <a:defRPr/>
            </a:pPr>
            <a:r>
              <a:rPr lang="en-US" altLang="ko-KR"/>
              <a:t>
              </a:t>
            </a:r>
          </a:p>
        </p:txBody>
      </p:sp>
      <p:sp>
        <p:nvSpPr>
          <p:cNvPr id="64525" name="Rectangle 13"/>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0" eaLnBrk="1" hangingPunct="1">
              <a:defRPr sz="1000" smtClean="0">
                <a:ea typeface="굴림" panose="020B0600000101010101" pitchFamily="50" charset="-127"/>
              </a:defRPr>
            </a:lvl1pPr>
          </a:lstStyle>
          <a:p>
            <a:pPr>
              <a:defRPr/>
            </a:pPr>
            <a:fld id="{2C4BC7B3-AF99-4707-A7B5-8CB3505CE040}"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sldLayoutIdLst>
    <p:sldLayoutId id="2147483918"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9" r:id="rId12"/>
    <p:sldLayoutId id="2147483920" r:id="rId13"/>
  </p:sldLayoutIdLst>
  <p:transition/>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ahoma" pitchFamily="34" charset="0"/>
          <a:cs typeface="Times New Roman (Hebrew)" charset="-79"/>
        </a:defRPr>
      </a:lvl2pPr>
      <a:lvl3pPr algn="l" rtl="0" eaLnBrk="0" fontAlgn="base" hangingPunct="0">
        <a:spcBef>
          <a:spcPct val="0"/>
        </a:spcBef>
        <a:spcAft>
          <a:spcPct val="0"/>
        </a:spcAft>
        <a:defRPr sz="4000">
          <a:solidFill>
            <a:schemeClr val="tx2"/>
          </a:solidFill>
          <a:latin typeface="Tahoma" pitchFamily="34" charset="0"/>
          <a:cs typeface="Times New Roman (Hebrew)" charset="-79"/>
        </a:defRPr>
      </a:lvl3pPr>
      <a:lvl4pPr algn="l" rtl="0" eaLnBrk="0" fontAlgn="base" hangingPunct="0">
        <a:spcBef>
          <a:spcPct val="0"/>
        </a:spcBef>
        <a:spcAft>
          <a:spcPct val="0"/>
        </a:spcAft>
        <a:defRPr sz="4000">
          <a:solidFill>
            <a:schemeClr val="tx2"/>
          </a:solidFill>
          <a:latin typeface="Tahoma" pitchFamily="34" charset="0"/>
          <a:cs typeface="Times New Roman (Hebrew)" charset="-79"/>
        </a:defRPr>
      </a:lvl4pPr>
      <a:lvl5pPr algn="l" rtl="0" eaLnBrk="0" fontAlgn="base" hangingPunct="0">
        <a:spcBef>
          <a:spcPct val="0"/>
        </a:spcBef>
        <a:spcAft>
          <a:spcPct val="0"/>
        </a:spcAft>
        <a:defRPr sz="4000">
          <a:solidFill>
            <a:schemeClr val="tx2"/>
          </a:solidFill>
          <a:latin typeface="Tahoma" pitchFamily="34" charset="0"/>
          <a:cs typeface="Times New Roman (Hebrew)" charset="-79"/>
        </a:defRPr>
      </a:lvl5pPr>
      <a:lvl6pPr marL="457200" algn="l" rtl="0" fontAlgn="base">
        <a:spcBef>
          <a:spcPct val="0"/>
        </a:spcBef>
        <a:spcAft>
          <a:spcPct val="0"/>
        </a:spcAft>
        <a:defRPr sz="4000">
          <a:solidFill>
            <a:schemeClr val="tx2"/>
          </a:solidFill>
          <a:latin typeface="Tahoma" pitchFamily="34" charset="0"/>
          <a:cs typeface="Times New Roman (Hebrew)" charset="-79"/>
        </a:defRPr>
      </a:lvl6pPr>
      <a:lvl7pPr marL="914400" algn="l" rtl="0" fontAlgn="base">
        <a:spcBef>
          <a:spcPct val="0"/>
        </a:spcBef>
        <a:spcAft>
          <a:spcPct val="0"/>
        </a:spcAft>
        <a:defRPr sz="4000">
          <a:solidFill>
            <a:schemeClr val="tx2"/>
          </a:solidFill>
          <a:latin typeface="Tahoma" pitchFamily="34" charset="0"/>
          <a:cs typeface="Times New Roman (Hebrew)" charset="-79"/>
        </a:defRPr>
      </a:lvl7pPr>
      <a:lvl8pPr marL="1371600" algn="l" rtl="0" fontAlgn="base">
        <a:spcBef>
          <a:spcPct val="0"/>
        </a:spcBef>
        <a:spcAft>
          <a:spcPct val="0"/>
        </a:spcAft>
        <a:defRPr sz="4000">
          <a:solidFill>
            <a:schemeClr val="tx2"/>
          </a:solidFill>
          <a:latin typeface="Tahoma" pitchFamily="34" charset="0"/>
          <a:cs typeface="Times New Roman (Hebrew)" charset="-79"/>
        </a:defRPr>
      </a:lvl8pPr>
      <a:lvl9pPr marL="1828800" algn="l" rtl="0" fontAlgn="base">
        <a:spcBef>
          <a:spcPct val="0"/>
        </a:spcBef>
        <a:spcAft>
          <a:spcPct val="0"/>
        </a:spcAft>
        <a:defRPr sz="4000">
          <a:solidFill>
            <a:schemeClr val="tx2"/>
          </a:solidFill>
          <a:latin typeface="Tahoma" pitchFamily="34" charset="0"/>
          <a:cs typeface="Times New Roman (Hebrew)" charset="-79"/>
        </a:defRPr>
      </a:lvl9pPr>
    </p:titleStyle>
    <p:bodyStyle>
      <a:lvl1pPr marL="342900" indent="-342900" algn="l" rtl="0" eaLnBrk="0" fontAlgn="base" hangingPunct="0">
        <a:spcBef>
          <a:spcPct val="40000"/>
        </a:spcBef>
        <a:spcAft>
          <a:spcPct val="0"/>
        </a:spcAft>
        <a:buClr>
          <a:schemeClr val="folHlink"/>
        </a:buClr>
        <a:buSzPct val="60000"/>
        <a:buFont typeface="Wingdings" panose="05000000000000000000"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55000"/>
        <a:buFont typeface="Wingdings" panose="05000000000000000000" pitchFamily="2" charset="2"/>
        <a:buChar char="q"/>
        <a:defRPr sz="20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18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16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w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infosec.pusan.ac.kr/"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bcs.wiley.com/he-bcs/Books?action=index&amp;bcsId=11227&amp;itemId=1119320917"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5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6.xml"/><Relationship Id="rId1" Type="http://schemas.openxmlformats.org/officeDocument/2006/relationships/slideLayout" Target="../slideLayouts/slideLayout7.xml"/><Relationship Id="rId5" Type="http://schemas.openxmlformats.org/officeDocument/2006/relationships/hyperlink" Target="../../../KISA.EXE" TargetMode="Externa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533400" y="1676400"/>
            <a:ext cx="8191500" cy="1143000"/>
          </a:xfrm>
        </p:spPr>
        <p:txBody>
          <a:bodyPr/>
          <a:lstStyle/>
          <a:p>
            <a:pPr algn="ctr" eaLnBrk="1" hangingPunct="1"/>
            <a:r>
              <a:rPr lang="en-US" altLang="ko-KR" sz="3200" dirty="0">
                <a:ea typeface="굴림" panose="020B0600000101010101" pitchFamily="50" charset="-127"/>
              </a:rPr>
              <a:t>Operating System</a:t>
            </a:r>
            <a:br>
              <a:rPr lang="en-US" altLang="ko-KR" sz="3200" dirty="0">
                <a:ea typeface="굴림" panose="020B0600000101010101" pitchFamily="50" charset="-127"/>
              </a:rPr>
            </a:br>
            <a:r>
              <a:rPr lang="en-US" altLang="ko-KR" sz="3200" dirty="0">
                <a:ea typeface="굴림" panose="020B0600000101010101" pitchFamily="50" charset="-127"/>
              </a:rPr>
              <a:t>- Introduction - </a:t>
            </a:r>
            <a:endParaRPr lang="en-US" altLang="ko-KR" dirty="0">
              <a:ea typeface="굴림" panose="020B0600000101010101" pitchFamily="50" charset="-127"/>
            </a:endParaRPr>
          </a:p>
        </p:txBody>
      </p:sp>
      <p:sp>
        <p:nvSpPr>
          <p:cNvPr id="6147" name="Rectangle 5"/>
          <p:cNvSpPr>
            <a:spLocks noGrp="1" noChangeArrowheads="1"/>
          </p:cNvSpPr>
          <p:nvPr>
            <p:ph type="subTitle" idx="1"/>
          </p:nvPr>
        </p:nvSpPr>
        <p:spPr>
          <a:xfrm>
            <a:off x="1371600" y="4495800"/>
            <a:ext cx="6477000" cy="762000"/>
          </a:xfrm>
        </p:spPr>
        <p:txBody>
          <a:bodyPr/>
          <a:lstStyle/>
          <a:p>
            <a:pPr eaLnBrk="1" hangingPunct="1">
              <a:lnSpc>
                <a:spcPct val="80000"/>
              </a:lnSpc>
            </a:pPr>
            <a:r>
              <a:rPr lang="en-US" altLang="ko-KR" sz="2000" dirty="0" err="1">
                <a:ea typeface="굴림" panose="020B0600000101010101" pitchFamily="50" charset="-127"/>
              </a:rPr>
              <a:t>Howon</a:t>
            </a:r>
            <a:r>
              <a:rPr lang="en-US" altLang="ko-KR" sz="2000" dirty="0">
                <a:ea typeface="굴림" panose="020B0600000101010101" pitchFamily="50" charset="-127"/>
              </a:rPr>
              <a:t> Kim </a:t>
            </a:r>
          </a:p>
          <a:p>
            <a:pPr eaLnBrk="1" hangingPunct="1">
              <a:lnSpc>
                <a:spcPct val="80000"/>
              </a:lnSpc>
            </a:pPr>
            <a:r>
              <a:rPr lang="en-US" altLang="ko-KR" sz="2000" smtClean="0">
                <a:ea typeface="굴림" panose="020B0600000101010101" pitchFamily="50" charset="-127"/>
              </a:rPr>
              <a:t>2020.3.16</a:t>
            </a:r>
            <a:endParaRPr lang="en-US" altLang="ko-KR" sz="1000" dirty="0">
              <a:ea typeface="굴림" panose="020B0600000101010101" pitchFamily="50" charset="-127"/>
            </a:endParaRPr>
          </a:p>
        </p:txBody>
      </p:sp>
      <p:graphicFrame>
        <p:nvGraphicFramePr>
          <p:cNvPr id="6148" name="Object 4"/>
          <p:cNvGraphicFramePr>
            <a:graphicFrameLocks noChangeAspect="1"/>
          </p:cNvGraphicFramePr>
          <p:nvPr/>
        </p:nvGraphicFramePr>
        <p:xfrm>
          <a:off x="4089400" y="2794000"/>
          <a:ext cx="914400" cy="198438"/>
        </p:xfrm>
        <a:graphic>
          <a:graphicData uri="http://schemas.openxmlformats.org/presentationml/2006/ole">
            <mc:AlternateContent xmlns:mc="http://schemas.openxmlformats.org/markup-compatibility/2006">
              <mc:Choice xmlns:v="urn:schemas-microsoft-com:vml" Requires="v">
                <p:oleObj spid="_x0000_s6300" name="Equation" r:id="rId4" imgW="435285" imgH="677109" progId="Equation.DSMT4">
                  <p:embed/>
                </p:oleObj>
              </mc:Choice>
              <mc:Fallback>
                <p:oleObj name="Equation" r:id="rId4" imgW="435285" imgH="677109"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9400" y="27940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9" name="Object 5"/>
          <p:cNvGraphicFramePr>
            <a:graphicFrameLocks noChangeAspect="1"/>
          </p:cNvGraphicFramePr>
          <p:nvPr/>
        </p:nvGraphicFramePr>
        <p:xfrm>
          <a:off x="4089400" y="2794000"/>
          <a:ext cx="914400" cy="198438"/>
        </p:xfrm>
        <a:graphic>
          <a:graphicData uri="http://schemas.openxmlformats.org/presentationml/2006/ole">
            <mc:AlternateContent xmlns:mc="http://schemas.openxmlformats.org/markup-compatibility/2006">
              <mc:Choice xmlns:v="urn:schemas-microsoft-com:vml" Requires="v">
                <p:oleObj spid="_x0000_s6301" name="Equation" r:id="rId6" imgW="435285" imgH="677109" progId="Equation.DSMT4">
                  <p:embed/>
                </p:oleObj>
              </mc:Choice>
              <mc:Fallback>
                <p:oleObj name="Equation" r:id="rId6" imgW="435285" imgH="677109"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9400" y="279400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D7066A5E-72FE-453E-AB3F-9B2548522729}" type="slidenum">
              <a:rPr lang="en-US" altLang="ko-KR" sz="1000"/>
              <a:pPr>
                <a:spcBef>
                  <a:spcPct val="0"/>
                </a:spcBef>
                <a:buClrTx/>
                <a:buSzTx/>
                <a:buFontTx/>
                <a:buNone/>
              </a:pPr>
              <a:t>2</a:t>
            </a:fld>
            <a:endParaRPr lang="en-US" altLang="ko-KR" sz="1000"/>
          </a:p>
        </p:txBody>
      </p:sp>
      <p:sp>
        <p:nvSpPr>
          <p:cNvPr id="12291" name="Rectangle 2"/>
          <p:cNvSpPr>
            <a:spLocks noGrp="1" noChangeArrowheads="1"/>
          </p:cNvSpPr>
          <p:nvPr>
            <p:ph type="title"/>
          </p:nvPr>
        </p:nvSpPr>
        <p:spPr>
          <a:xfrm>
            <a:off x="1143000" y="0"/>
            <a:ext cx="7793038" cy="1143000"/>
          </a:xfrm>
        </p:spPr>
        <p:txBody>
          <a:bodyPr/>
          <a:lstStyle/>
          <a:p>
            <a:r>
              <a:rPr lang="en-US" altLang="ko-KR">
                <a:ea typeface="굴림" panose="020B0600000101010101" pitchFamily="50" charset="-127"/>
              </a:rPr>
              <a:t>About this course…</a:t>
            </a:r>
          </a:p>
        </p:txBody>
      </p:sp>
      <p:sp>
        <p:nvSpPr>
          <p:cNvPr id="12292" name="Rectangle 3"/>
          <p:cNvSpPr>
            <a:spLocks noGrp="1" noChangeArrowheads="1"/>
          </p:cNvSpPr>
          <p:nvPr>
            <p:ph type="body" idx="1"/>
          </p:nvPr>
        </p:nvSpPr>
        <p:spPr>
          <a:xfrm>
            <a:off x="838200" y="1295400"/>
            <a:ext cx="8077200" cy="5105400"/>
          </a:xfrm>
        </p:spPr>
        <p:txBody>
          <a:bodyPr/>
          <a:lstStyle/>
          <a:p>
            <a:pPr>
              <a:lnSpc>
                <a:spcPct val="90000"/>
              </a:lnSpc>
            </a:pPr>
            <a:r>
              <a:rPr lang="en-US" altLang="ko-KR" sz="2400" dirty="0">
                <a:ea typeface="굴림" panose="020B0600000101010101" pitchFamily="50" charset="-127"/>
              </a:rPr>
              <a:t>About me…</a:t>
            </a:r>
          </a:p>
          <a:p>
            <a:pPr lvl="1">
              <a:lnSpc>
                <a:spcPct val="90000"/>
              </a:lnSpc>
              <a:buFontTx/>
              <a:buChar char="-"/>
            </a:pPr>
            <a:r>
              <a:rPr lang="en-US" altLang="ko-KR" sz="2000" dirty="0">
                <a:solidFill>
                  <a:schemeClr val="folHlink"/>
                </a:solidFill>
                <a:ea typeface="굴림" panose="020B0600000101010101" pitchFamily="50" charset="-127"/>
              </a:rPr>
              <a:t>Office : A06-6503 </a:t>
            </a:r>
          </a:p>
          <a:p>
            <a:pPr lvl="1">
              <a:lnSpc>
                <a:spcPct val="90000"/>
              </a:lnSpc>
              <a:buFontTx/>
              <a:buChar char="-"/>
            </a:pPr>
            <a:r>
              <a:rPr lang="en-US" altLang="ko-KR" sz="2000" dirty="0">
                <a:solidFill>
                  <a:schemeClr val="folHlink"/>
                </a:solidFill>
                <a:ea typeface="굴림" panose="020B0600000101010101" pitchFamily="50" charset="-127"/>
              </a:rPr>
              <a:t>Office hours :  Monday &amp; Wednesday, 13:00~14:00</a:t>
            </a:r>
          </a:p>
          <a:p>
            <a:pPr lvl="1">
              <a:lnSpc>
                <a:spcPct val="90000"/>
              </a:lnSpc>
              <a:buFontTx/>
              <a:buChar char="-"/>
            </a:pPr>
            <a:r>
              <a:rPr lang="en-US" altLang="ko-KR" sz="2000" dirty="0">
                <a:solidFill>
                  <a:schemeClr val="folHlink"/>
                </a:solidFill>
                <a:ea typeface="굴림" panose="020B0600000101010101" pitchFamily="50" charset="-127"/>
              </a:rPr>
              <a:t>Email: howonkim@pusan.ac.kr</a:t>
            </a:r>
          </a:p>
          <a:p>
            <a:pPr lvl="1">
              <a:lnSpc>
                <a:spcPct val="90000"/>
              </a:lnSpc>
              <a:buFontTx/>
              <a:buChar char="-"/>
            </a:pPr>
            <a:r>
              <a:rPr lang="en-US" altLang="ko-KR" sz="2000" dirty="0">
                <a:solidFill>
                  <a:schemeClr val="folHlink"/>
                </a:solidFill>
                <a:ea typeface="굴림" panose="020B0600000101010101" pitchFamily="50" charset="-127"/>
              </a:rPr>
              <a:t>Phone: 010-8540-6336 </a:t>
            </a:r>
          </a:p>
          <a:p>
            <a:pPr lvl="1">
              <a:lnSpc>
                <a:spcPct val="90000"/>
              </a:lnSpc>
              <a:buFontTx/>
              <a:buChar char="-"/>
            </a:pPr>
            <a:r>
              <a:rPr lang="en-US" altLang="ko-KR" sz="2000" dirty="0">
                <a:solidFill>
                  <a:schemeClr val="folHlink"/>
                </a:solidFill>
                <a:ea typeface="굴림" panose="020B0600000101010101" pitchFamily="50" charset="-127"/>
              </a:rPr>
              <a:t>http://infosec.pusan.ac.kr</a:t>
            </a:r>
          </a:p>
          <a:p>
            <a:pPr>
              <a:lnSpc>
                <a:spcPct val="90000"/>
              </a:lnSpc>
            </a:pPr>
            <a:r>
              <a:rPr lang="en-US" altLang="ko-KR" sz="2400" dirty="0">
                <a:ea typeface="굴림" panose="020B0600000101010101" pitchFamily="50" charset="-127"/>
              </a:rPr>
              <a:t>Current Major Interests</a:t>
            </a:r>
          </a:p>
          <a:p>
            <a:pPr lvl="1">
              <a:lnSpc>
                <a:spcPct val="90000"/>
              </a:lnSpc>
              <a:buFontTx/>
              <a:buChar char="-"/>
            </a:pPr>
            <a:r>
              <a:rPr lang="en-US" altLang="ko-KR" sz="1800" dirty="0">
                <a:solidFill>
                  <a:srgbClr val="FF0000"/>
                </a:solidFill>
                <a:ea typeface="굴림" panose="020B0600000101010101" pitchFamily="50" charset="-127"/>
              </a:rPr>
              <a:t>Cryptography &amp; Security</a:t>
            </a:r>
          </a:p>
          <a:p>
            <a:pPr lvl="1">
              <a:lnSpc>
                <a:spcPct val="90000"/>
              </a:lnSpc>
              <a:buFontTx/>
              <a:buChar char="-"/>
            </a:pPr>
            <a:r>
              <a:rPr lang="en-US" altLang="ko-KR" sz="1800" dirty="0" err="1">
                <a:solidFill>
                  <a:srgbClr val="FF0000"/>
                </a:solidFill>
                <a:ea typeface="굴림" panose="020B0600000101010101" pitchFamily="50" charset="-127"/>
              </a:rPr>
              <a:t>Blockchain</a:t>
            </a:r>
            <a:r>
              <a:rPr lang="en-US" altLang="ko-KR" sz="1800" dirty="0">
                <a:solidFill>
                  <a:srgbClr val="FF0000"/>
                </a:solidFill>
                <a:ea typeface="굴림" panose="020B0600000101010101" pitchFamily="50" charset="-127"/>
              </a:rPr>
              <a:t> &amp; Its Security Issues</a:t>
            </a:r>
          </a:p>
          <a:p>
            <a:pPr lvl="1">
              <a:lnSpc>
                <a:spcPct val="90000"/>
              </a:lnSpc>
              <a:buFontTx/>
              <a:buChar char="-"/>
            </a:pPr>
            <a:r>
              <a:rPr lang="en-US" altLang="ko-KR" sz="1800" dirty="0">
                <a:solidFill>
                  <a:srgbClr val="FF0000"/>
                </a:solidFill>
                <a:ea typeface="굴림" panose="020B0600000101010101" pitchFamily="50" charset="-127"/>
              </a:rPr>
              <a:t>AI, Deep Learning, Digital Twin</a:t>
            </a:r>
          </a:p>
          <a:p>
            <a:pPr lvl="1">
              <a:lnSpc>
                <a:spcPct val="90000"/>
              </a:lnSpc>
              <a:buFontTx/>
              <a:buChar char="-"/>
            </a:pPr>
            <a:r>
              <a:rPr lang="en-US" altLang="ko-KR" sz="1800" dirty="0">
                <a:solidFill>
                  <a:srgbClr val="FF0000"/>
                </a:solidFill>
                <a:ea typeface="굴림" panose="020B0600000101010101" pitchFamily="50" charset="-127"/>
              </a:rPr>
              <a:t>FPGA &amp; ASIC chip design</a:t>
            </a:r>
          </a:p>
          <a:p>
            <a:pPr lvl="1">
              <a:lnSpc>
                <a:spcPct val="90000"/>
              </a:lnSpc>
              <a:buFontTx/>
              <a:buChar char="-"/>
            </a:pPr>
            <a:r>
              <a:rPr lang="en-US" altLang="ko-KR" sz="1800" dirty="0">
                <a:solidFill>
                  <a:srgbClr val="FF0000"/>
                </a:solidFill>
                <a:ea typeface="굴림" panose="020B0600000101010101" pitchFamily="50" charset="-127"/>
              </a:rPr>
              <a:t>Quantum Computer</a:t>
            </a:r>
          </a:p>
          <a:p>
            <a:pPr lvl="1">
              <a:lnSpc>
                <a:spcPct val="90000"/>
              </a:lnSpc>
              <a:buFontTx/>
              <a:buChar char="-"/>
            </a:pPr>
            <a:r>
              <a:rPr lang="ko-KR" altLang="en-US" sz="1800" dirty="0" err="1">
                <a:solidFill>
                  <a:schemeClr val="folHlink"/>
                </a:solidFill>
                <a:ea typeface="굴림" panose="020B0600000101010101" pitchFamily="50" charset="-127"/>
              </a:rPr>
              <a:t>과기정통부</a:t>
            </a:r>
            <a:r>
              <a:rPr lang="ko-KR" altLang="en-US" sz="1800" dirty="0">
                <a:solidFill>
                  <a:schemeClr val="folHlink"/>
                </a:solidFill>
                <a:ea typeface="굴림" panose="020B0600000101010101" pitchFamily="50" charset="-127"/>
              </a:rPr>
              <a:t> </a:t>
            </a:r>
            <a:r>
              <a:rPr lang="ko-KR" altLang="en-US" sz="1800" dirty="0" err="1">
                <a:solidFill>
                  <a:schemeClr val="folHlink"/>
                </a:solidFill>
                <a:ea typeface="굴림" panose="020B0600000101010101" pitchFamily="50" charset="-127"/>
              </a:rPr>
              <a:t>사물인터넷</a:t>
            </a:r>
            <a:r>
              <a:rPr lang="ko-KR" altLang="en-US" sz="1800" dirty="0">
                <a:solidFill>
                  <a:schemeClr val="folHlink"/>
                </a:solidFill>
                <a:ea typeface="굴림" panose="020B0600000101010101" pitchFamily="50" charset="-127"/>
              </a:rPr>
              <a:t> 연구센터</a:t>
            </a:r>
            <a:endParaRPr lang="en-US" altLang="ko-KR" sz="1800" dirty="0">
              <a:solidFill>
                <a:schemeClr val="folHlink"/>
              </a:solidFill>
              <a:ea typeface="굴림" panose="020B0600000101010101" pitchFamily="50" charset="-127"/>
            </a:endParaRPr>
          </a:p>
          <a:p>
            <a:pPr lvl="1">
              <a:lnSpc>
                <a:spcPct val="90000"/>
              </a:lnSpc>
              <a:buFontTx/>
              <a:buChar char="-"/>
            </a:pPr>
            <a:r>
              <a:rPr lang="ko-KR" altLang="en-US" sz="1800" dirty="0" err="1">
                <a:solidFill>
                  <a:schemeClr val="folHlink"/>
                </a:solidFill>
                <a:ea typeface="굴림" panose="020B0600000101010101" pitchFamily="50" charset="-127"/>
              </a:rPr>
              <a:t>과기정통부</a:t>
            </a:r>
            <a:r>
              <a:rPr lang="ko-KR" altLang="en-US" sz="1800" dirty="0">
                <a:solidFill>
                  <a:schemeClr val="folHlink"/>
                </a:solidFill>
                <a:ea typeface="굴림" panose="020B0600000101010101" pitchFamily="50" charset="-127"/>
              </a:rPr>
              <a:t> </a:t>
            </a:r>
            <a:r>
              <a:rPr lang="ko-KR" altLang="en-US" sz="1800" dirty="0" err="1">
                <a:solidFill>
                  <a:schemeClr val="folHlink"/>
                </a:solidFill>
                <a:ea typeface="굴림" panose="020B0600000101010101" pitchFamily="50" charset="-127"/>
              </a:rPr>
              <a:t>블록체인</a:t>
            </a:r>
            <a:r>
              <a:rPr lang="ko-KR" altLang="en-US" sz="1800" dirty="0">
                <a:solidFill>
                  <a:schemeClr val="folHlink"/>
                </a:solidFill>
                <a:ea typeface="굴림" panose="020B0600000101010101" pitchFamily="50" charset="-127"/>
              </a:rPr>
              <a:t> 보안 </a:t>
            </a:r>
            <a:r>
              <a:rPr lang="ko-KR" altLang="en-US" sz="1800" dirty="0" err="1">
                <a:solidFill>
                  <a:schemeClr val="folHlink"/>
                </a:solidFill>
                <a:ea typeface="굴림" panose="020B0600000101010101" pitchFamily="50" charset="-127"/>
              </a:rPr>
              <a:t>전문연구실</a:t>
            </a:r>
            <a:endParaRPr lang="en-US" altLang="ko-KR" sz="1800" dirty="0">
              <a:solidFill>
                <a:schemeClr val="folHlink"/>
              </a:solidFill>
              <a:ea typeface="굴림" panose="020B0600000101010101" pitchFamily="50" charset="-127"/>
            </a:endParaRPr>
          </a:p>
          <a:p>
            <a:pPr lvl="1">
              <a:lnSpc>
                <a:spcPct val="90000"/>
              </a:lnSpc>
              <a:buFontTx/>
              <a:buChar char="-"/>
            </a:pPr>
            <a:r>
              <a:rPr lang="ko-KR" altLang="en-US" sz="1800" dirty="0" err="1">
                <a:solidFill>
                  <a:schemeClr val="folHlink"/>
                </a:solidFill>
                <a:ea typeface="굴림" panose="020B0600000101010101" pitchFamily="50" charset="-127"/>
              </a:rPr>
              <a:t>과기정통부</a:t>
            </a:r>
            <a:r>
              <a:rPr lang="ko-KR" altLang="en-US" sz="1800" dirty="0">
                <a:solidFill>
                  <a:schemeClr val="folHlink"/>
                </a:solidFill>
                <a:ea typeface="굴림" panose="020B0600000101010101" pitchFamily="50" charset="-127"/>
              </a:rPr>
              <a:t> 양자컴퓨터 </a:t>
            </a:r>
            <a:r>
              <a:rPr lang="ko-KR" altLang="en-US" sz="1800">
                <a:solidFill>
                  <a:schemeClr val="folHlink"/>
                </a:solidFill>
                <a:ea typeface="굴림" panose="020B0600000101010101" pitchFamily="50" charset="-127"/>
              </a:rPr>
              <a:t>보안 </a:t>
            </a:r>
            <a:r>
              <a:rPr lang="ko-KR" altLang="en-US" sz="1800" smtClean="0">
                <a:solidFill>
                  <a:schemeClr val="folHlink"/>
                </a:solidFill>
                <a:ea typeface="굴림" panose="020B0600000101010101" pitchFamily="50" charset="-127"/>
              </a:rPr>
              <a:t>전문연구실</a:t>
            </a:r>
            <a:endParaRPr lang="en-US" altLang="ko-KR" sz="1800" dirty="0">
              <a:solidFill>
                <a:schemeClr val="folHlink"/>
              </a:solidFill>
              <a:ea typeface="굴림" panose="020B0600000101010101" pitchFamily="50" charset="-127"/>
            </a:endParaRPr>
          </a:p>
          <a:p>
            <a:pPr lvl="1">
              <a:lnSpc>
                <a:spcPct val="90000"/>
              </a:lnSpc>
              <a:buFontTx/>
              <a:buChar char="-"/>
            </a:pPr>
            <a:r>
              <a:rPr lang="ko-KR" altLang="en-US" sz="1800" dirty="0">
                <a:solidFill>
                  <a:schemeClr val="folHlink"/>
                </a:solidFill>
                <a:ea typeface="굴림" panose="020B0600000101010101" pitchFamily="50" charset="-127"/>
              </a:rPr>
              <a:t>국가보안기술연구소</a:t>
            </a:r>
            <a:r>
              <a:rPr lang="en-US" altLang="ko-KR" sz="1800" dirty="0">
                <a:solidFill>
                  <a:schemeClr val="folHlink"/>
                </a:solidFill>
                <a:ea typeface="굴림" panose="020B0600000101010101" pitchFamily="50" charset="-127"/>
              </a:rPr>
              <a:t>, ETRI, KISA, Virginia Tech</a:t>
            </a:r>
            <a:r>
              <a:rPr lang="ko-KR" altLang="en-US" sz="1800" dirty="0">
                <a:solidFill>
                  <a:schemeClr val="folHlink"/>
                </a:solidFill>
                <a:ea typeface="굴림" panose="020B0600000101010101" pitchFamily="50" charset="-127"/>
              </a:rPr>
              <a:t>과 국제공동연구</a:t>
            </a:r>
            <a:endParaRPr lang="en-US" altLang="ko-KR" sz="1800" dirty="0">
              <a:solidFill>
                <a:schemeClr val="folHlink"/>
              </a:solidFill>
              <a:ea typeface="굴림" panose="020B0600000101010101" pitchFamily="50" charset="-12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561C96BC-F3A1-47A8-90F7-86E27478B5D4}" type="slidenum">
              <a:rPr lang="en-US" altLang="ko-KR" sz="1000"/>
              <a:pPr>
                <a:spcBef>
                  <a:spcPct val="0"/>
                </a:spcBef>
                <a:buClrTx/>
                <a:buSzTx/>
                <a:buFontTx/>
                <a:buNone/>
              </a:pPr>
              <a:t>3</a:t>
            </a:fld>
            <a:endParaRPr lang="en-US" altLang="ko-KR" sz="1000"/>
          </a:p>
        </p:txBody>
      </p:sp>
      <p:sp>
        <p:nvSpPr>
          <p:cNvPr id="14340" name="Rectangle 2"/>
          <p:cNvSpPr>
            <a:spLocks noGrp="1" noChangeArrowheads="1"/>
          </p:cNvSpPr>
          <p:nvPr>
            <p:ph type="title"/>
          </p:nvPr>
        </p:nvSpPr>
        <p:spPr>
          <a:xfrm>
            <a:off x="1143000" y="0"/>
            <a:ext cx="7793038" cy="1143000"/>
          </a:xfrm>
        </p:spPr>
        <p:txBody>
          <a:bodyPr/>
          <a:lstStyle/>
          <a:p>
            <a:r>
              <a:rPr lang="en-US" altLang="ko-KR">
                <a:ea typeface="굴림" panose="020B0600000101010101" pitchFamily="50" charset="-127"/>
              </a:rPr>
              <a:t>About this course…</a:t>
            </a:r>
          </a:p>
        </p:txBody>
      </p:sp>
      <p:sp>
        <p:nvSpPr>
          <p:cNvPr id="12" name="Rectangle 3"/>
          <p:cNvSpPr txBox="1">
            <a:spLocks noChangeArrowheads="1"/>
          </p:cNvSpPr>
          <p:nvPr/>
        </p:nvSpPr>
        <p:spPr bwMode="auto">
          <a:xfrm>
            <a:off x="5592763" y="1371600"/>
            <a:ext cx="3513137" cy="1524000"/>
          </a:xfrm>
          <a:prstGeom prst="rect">
            <a:avLst/>
          </a:prstGeom>
          <a:solidFill>
            <a:schemeClr val="accent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4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55000"/>
              <a:buFont typeface="Wingdings" pitchFamily="2" charset="2"/>
              <a:buChar char="q"/>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a:defRPr/>
            </a:pPr>
            <a:r>
              <a:rPr lang="en-US" altLang="ko-KR" sz="2400" kern="0">
                <a:ea typeface="굴림" charset="-127"/>
              </a:rPr>
              <a:t>Course Materials</a:t>
            </a:r>
          </a:p>
          <a:p>
            <a:pPr marL="457200" lvl="1" indent="0">
              <a:buFont typeface="Wingdings" pitchFamily="2" charset="2"/>
              <a:buNone/>
              <a:defRPr/>
            </a:pPr>
            <a:r>
              <a:rPr lang="en-US" altLang="ko-KR" sz="1800" b="1" kern="0" smtClean="0">
                <a:solidFill>
                  <a:srgbClr val="33CC33"/>
                </a:solidFill>
                <a:ea typeface="굴림" charset="-127"/>
              </a:rPr>
              <a:t>1.PLATO</a:t>
            </a:r>
            <a:endParaRPr lang="en-US" altLang="ko-KR" sz="1800" b="1" kern="0" smtClean="0">
              <a:solidFill>
                <a:srgbClr val="33CC33"/>
              </a:solidFill>
              <a:ea typeface="굴림" charset="-127"/>
              <a:hlinkClick r:id="rId3"/>
            </a:endParaRPr>
          </a:p>
          <a:p>
            <a:pPr marL="457200" lvl="1" indent="0">
              <a:buFont typeface="Wingdings" pitchFamily="2" charset="2"/>
              <a:buNone/>
              <a:defRPr/>
            </a:pPr>
            <a:r>
              <a:rPr lang="en-US" altLang="ko-KR" sz="1800" kern="0" smtClean="0">
                <a:solidFill>
                  <a:schemeClr val="folHlink"/>
                </a:solidFill>
                <a:ea typeface="굴림" charset="-127"/>
                <a:hlinkClick r:id="rId3"/>
              </a:rPr>
              <a:t>2. http</a:t>
            </a:r>
            <a:r>
              <a:rPr lang="en-US" altLang="ko-KR" sz="1800" kern="0">
                <a:solidFill>
                  <a:schemeClr val="folHlink"/>
                </a:solidFill>
                <a:ea typeface="굴림" charset="-127"/>
                <a:hlinkClick r:id="rId3"/>
              </a:rPr>
              <a:t>://infosec.pusan.ac.kr</a:t>
            </a:r>
            <a:endParaRPr lang="en-US" altLang="ko-KR" sz="1800" kern="0">
              <a:solidFill>
                <a:schemeClr val="folHlink"/>
              </a:solidFill>
              <a:ea typeface="굴림" charset="-127"/>
            </a:endParaRPr>
          </a:p>
          <a:p>
            <a:pPr lvl="1">
              <a:buFontTx/>
              <a:buChar char="-"/>
              <a:defRPr/>
            </a:pPr>
            <a:endParaRPr lang="en-US" altLang="ko-KR" sz="1800" u="sng" kern="0" dirty="0">
              <a:solidFill>
                <a:schemeClr val="folHlink"/>
              </a:solidFill>
              <a:ea typeface="굴림" charset="-127"/>
            </a:endParaRPr>
          </a:p>
        </p:txBody>
      </p:sp>
      <p:grpSp>
        <p:nvGrpSpPr>
          <p:cNvPr id="13" name="그룹 11"/>
          <p:cNvGrpSpPr>
            <a:grpSpLocks/>
          </p:cNvGrpSpPr>
          <p:nvPr/>
        </p:nvGrpSpPr>
        <p:grpSpPr bwMode="auto">
          <a:xfrm>
            <a:off x="838200" y="4468813"/>
            <a:ext cx="7326313" cy="1855787"/>
            <a:chOff x="419100" y="3274483"/>
            <a:chExt cx="7326077" cy="1856317"/>
          </a:xfrm>
        </p:grpSpPr>
        <p:pic>
          <p:nvPicPr>
            <p:cNvPr id="14" name="그림 1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100" y="3274483"/>
              <a:ext cx="7326077" cy="185631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5" name="타원 14"/>
            <p:cNvSpPr/>
            <p:nvPr/>
          </p:nvSpPr>
          <p:spPr>
            <a:xfrm>
              <a:off x="571495" y="4495619"/>
              <a:ext cx="914371" cy="54784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ko-KR" altLang="en-US">
                <a:solidFill>
                  <a:srgbClr val="FFFFFF"/>
                </a:solidFill>
                <a:ea typeface="굴림" pitchFamily="50" charset="-127"/>
              </a:endParaRPr>
            </a:p>
          </p:txBody>
        </p:sp>
      </p:grpSp>
      <p:cxnSp>
        <p:nvCxnSpPr>
          <p:cNvPr id="16" name="직선 화살표 연결선 15"/>
          <p:cNvCxnSpPr/>
          <p:nvPr/>
        </p:nvCxnSpPr>
        <p:spPr>
          <a:xfrm flipH="1">
            <a:off x="1905000" y="2438400"/>
            <a:ext cx="5943600" cy="32512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7" name="직사각형 15"/>
          <p:cNvSpPr>
            <a:spLocks noChangeArrowheads="1"/>
          </p:cNvSpPr>
          <p:nvPr/>
        </p:nvSpPr>
        <p:spPr bwMode="auto">
          <a:xfrm>
            <a:off x="120650" y="1914525"/>
            <a:ext cx="4243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r>
              <a:rPr lang="en-US" altLang="ko-KR" sz="2800">
                <a:solidFill>
                  <a:srgbClr val="33CC33"/>
                </a:solidFill>
                <a:ea typeface="굴림" panose="020B0600000101010101" pitchFamily="50" charset="-127"/>
              </a:rPr>
              <a:t>https://plato.pusan.ac.kr</a:t>
            </a:r>
            <a:endParaRPr lang="ko-KR" altLang="en-US" sz="2800">
              <a:solidFill>
                <a:srgbClr val="33CC33"/>
              </a:solidFill>
              <a:ea typeface="굴림" panose="020B0600000101010101" pitchFamily="50" charset="-127"/>
            </a:endParaRPr>
          </a:p>
        </p:txBody>
      </p:sp>
      <p:cxnSp>
        <p:nvCxnSpPr>
          <p:cNvPr id="18" name="직선 화살표 연결선 17"/>
          <p:cNvCxnSpPr/>
          <p:nvPr/>
        </p:nvCxnSpPr>
        <p:spPr>
          <a:xfrm flipH="1">
            <a:off x="4267200" y="2055813"/>
            <a:ext cx="1752600" cy="153987"/>
          </a:xfrm>
          <a:prstGeom prst="straightConnector1">
            <a:avLst/>
          </a:prstGeom>
          <a:ln w="38100">
            <a:solidFill>
              <a:srgbClr val="33CC33"/>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CA2F7FE4-FA1F-44B1-BEA0-AF46F07468EC}" type="slidenum">
              <a:rPr lang="en-US" altLang="ko-KR" sz="1000"/>
              <a:pPr>
                <a:spcBef>
                  <a:spcPct val="0"/>
                </a:spcBef>
                <a:buClrTx/>
                <a:buSzTx/>
                <a:buFontTx/>
                <a:buNone/>
              </a:pPr>
              <a:t>4</a:t>
            </a:fld>
            <a:endParaRPr lang="en-US" altLang="ko-KR" sz="1000"/>
          </a:p>
        </p:txBody>
      </p:sp>
      <p:sp>
        <p:nvSpPr>
          <p:cNvPr id="16387" name="Rectangle 2"/>
          <p:cNvSpPr>
            <a:spLocks noGrp="1" noChangeArrowheads="1"/>
          </p:cNvSpPr>
          <p:nvPr>
            <p:ph type="title"/>
          </p:nvPr>
        </p:nvSpPr>
        <p:spPr>
          <a:xfrm>
            <a:off x="1143000" y="0"/>
            <a:ext cx="7793038" cy="1143000"/>
          </a:xfrm>
        </p:spPr>
        <p:txBody>
          <a:bodyPr/>
          <a:lstStyle/>
          <a:p>
            <a:r>
              <a:rPr lang="en-US" altLang="ko-KR">
                <a:ea typeface="굴림" panose="020B0600000101010101" pitchFamily="50" charset="-127"/>
              </a:rPr>
              <a:t>About this course…</a:t>
            </a:r>
          </a:p>
        </p:txBody>
      </p:sp>
      <p:sp>
        <p:nvSpPr>
          <p:cNvPr id="16388" name="Rectangle 3"/>
          <p:cNvSpPr>
            <a:spLocks noGrp="1" noChangeArrowheads="1"/>
          </p:cNvSpPr>
          <p:nvPr>
            <p:ph type="body" idx="1"/>
          </p:nvPr>
        </p:nvSpPr>
        <p:spPr>
          <a:xfrm>
            <a:off x="838200" y="1143000"/>
            <a:ext cx="8305800" cy="4837113"/>
          </a:xfrm>
        </p:spPr>
        <p:txBody>
          <a:bodyPr/>
          <a:lstStyle/>
          <a:p>
            <a:r>
              <a:rPr lang="en-US" altLang="ko-KR" sz="2400" dirty="0">
                <a:ea typeface="굴림" panose="020B0600000101010101" pitchFamily="50" charset="-127"/>
              </a:rPr>
              <a:t>Textbook </a:t>
            </a:r>
          </a:p>
          <a:p>
            <a:pPr lvl="1">
              <a:buFontTx/>
              <a:buChar char="-"/>
            </a:pPr>
            <a:r>
              <a:rPr lang="en-US" altLang="ko-KR" sz="1800" dirty="0">
                <a:solidFill>
                  <a:schemeClr val="folHlink"/>
                </a:solidFill>
                <a:ea typeface="굴림" panose="020B0600000101010101" pitchFamily="50" charset="-127"/>
              </a:rPr>
              <a:t>Operating System Concepts, 9</a:t>
            </a:r>
            <a:r>
              <a:rPr lang="en-US" altLang="ko-KR" sz="1800" baseline="30000" dirty="0">
                <a:solidFill>
                  <a:schemeClr val="folHlink"/>
                </a:solidFill>
                <a:ea typeface="굴림" panose="020B0600000101010101" pitchFamily="50" charset="-127"/>
              </a:rPr>
              <a:t>th</a:t>
            </a:r>
            <a:r>
              <a:rPr lang="en-US" altLang="ko-KR" sz="1800" dirty="0">
                <a:solidFill>
                  <a:schemeClr val="folHlink"/>
                </a:solidFill>
                <a:ea typeface="굴림" panose="020B0600000101010101" pitchFamily="50" charset="-127"/>
              </a:rPr>
              <a:t> Edition by Abraham </a:t>
            </a:r>
            <a:r>
              <a:rPr lang="en-US" altLang="ko-KR" sz="1800" dirty="0" err="1">
                <a:solidFill>
                  <a:schemeClr val="folHlink"/>
                </a:solidFill>
                <a:ea typeface="굴림" panose="020B0600000101010101" pitchFamily="50" charset="-127"/>
              </a:rPr>
              <a:t>Silberschatz</a:t>
            </a:r>
            <a:r>
              <a:rPr lang="en-US" altLang="ko-KR" sz="1800" dirty="0">
                <a:solidFill>
                  <a:schemeClr val="folHlink"/>
                </a:solidFill>
                <a:ea typeface="굴림" panose="020B0600000101010101" pitchFamily="50" charset="-127"/>
              </a:rPr>
              <a:t>, Wiley</a:t>
            </a:r>
            <a:r>
              <a:rPr lang="en-US" altLang="ko-KR" sz="2000" dirty="0">
                <a:solidFill>
                  <a:schemeClr val="folHlink"/>
                </a:solidFill>
                <a:ea typeface="굴림" panose="020B0600000101010101" pitchFamily="50" charset="-127"/>
              </a:rPr>
              <a:t>. </a:t>
            </a:r>
          </a:p>
          <a:p>
            <a:pPr lvl="2">
              <a:buFontTx/>
              <a:buChar char="-"/>
            </a:pPr>
            <a:r>
              <a:rPr lang="en-US" altLang="ko-KR" sz="1600" dirty="0">
                <a:ea typeface="굴림" panose="020B0600000101010101" pitchFamily="50" charset="-127"/>
                <a:hlinkClick r:id="rId3"/>
              </a:rPr>
              <a:t>http://bcs.wiley.com/he-bcs/Books?action=index&amp;bcsId=11227&amp;itemId=1119320917</a:t>
            </a:r>
            <a:endParaRPr lang="en-US" altLang="ko-KR" sz="1600" dirty="0">
              <a:ea typeface="굴림" panose="020B0600000101010101" pitchFamily="50" charset="-127"/>
            </a:endParaRPr>
          </a:p>
          <a:p>
            <a:pPr marL="342900" lvl="1" indent="-342900">
              <a:spcBef>
                <a:spcPct val="40000"/>
              </a:spcBef>
              <a:buSzPct val="60000"/>
              <a:buFont typeface="Wingdings" panose="05000000000000000000" pitchFamily="2" charset="2"/>
              <a:buChar char="n"/>
            </a:pPr>
            <a:r>
              <a:rPr lang="en-US" altLang="ko-KR" sz="2400" dirty="0">
                <a:ea typeface="굴림" panose="020B0600000101010101" pitchFamily="50" charset="-127"/>
              </a:rPr>
              <a:t>References</a:t>
            </a:r>
          </a:p>
          <a:p>
            <a:pPr lvl="1">
              <a:buFontTx/>
              <a:buChar char="-"/>
            </a:pPr>
            <a:r>
              <a:rPr lang="en-US" altLang="ko-KR" sz="1800" dirty="0">
                <a:solidFill>
                  <a:schemeClr val="folHlink"/>
                </a:solidFill>
                <a:ea typeface="굴림" panose="020B0600000101010101" pitchFamily="50" charset="-127"/>
              </a:rPr>
              <a:t>Operating Systems: Internals and Design Principles by William Stallings, Pearson, 2014</a:t>
            </a:r>
          </a:p>
          <a:p>
            <a:r>
              <a:rPr lang="en-US" altLang="ko-KR" sz="2400" dirty="0">
                <a:ea typeface="굴림" panose="020B0600000101010101" pitchFamily="50" charset="-127"/>
              </a:rPr>
              <a:t>Class time &amp; Classroom </a:t>
            </a:r>
          </a:p>
          <a:p>
            <a:pPr lvl="1">
              <a:buFontTx/>
              <a:buChar char="-"/>
            </a:pPr>
            <a:r>
              <a:rPr lang="en-US" altLang="ko-KR" sz="1800" dirty="0">
                <a:solidFill>
                  <a:schemeClr val="folHlink"/>
                </a:solidFill>
                <a:ea typeface="굴림" panose="020B0600000101010101" pitchFamily="50" charset="-127"/>
              </a:rPr>
              <a:t>Monday, Wednesday </a:t>
            </a:r>
            <a:r>
              <a:rPr lang="en-US" altLang="ko-KR" sz="1800">
                <a:solidFill>
                  <a:schemeClr val="folHlink"/>
                </a:solidFill>
                <a:ea typeface="굴림" panose="020B0600000101010101" pitchFamily="50" charset="-127"/>
              </a:rPr>
              <a:t>:  </a:t>
            </a:r>
            <a:r>
              <a:rPr lang="en-US" altLang="ko-KR" sz="1800" smtClean="0">
                <a:solidFill>
                  <a:schemeClr val="folHlink"/>
                </a:solidFill>
                <a:ea typeface="굴림" panose="020B0600000101010101" pitchFamily="50" charset="-127"/>
              </a:rPr>
              <a:t>13:30~14:45,  </a:t>
            </a:r>
            <a:r>
              <a:rPr lang="en-US" altLang="ko-KR" sz="1800" smtClean="0">
                <a:solidFill>
                  <a:schemeClr val="folHlink"/>
                </a:solidFill>
                <a:ea typeface="굴림" panose="020B0600000101010101" pitchFamily="50" charset="-127"/>
              </a:rPr>
              <a:t>Classroom :A6-514 </a:t>
            </a:r>
            <a:endParaRPr lang="ko-KR" altLang="en-US" sz="1800" dirty="0">
              <a:solidFill>
                <a:schemeClr val="folHlink"/>
              </a:solidFill>
              <a:ea typeface="굴림" panose="020B0600000101010101" pitchFamily="50" charset="-127"/>
            </a:endParaRPr>
          </a:p>
          <a:p>
            <a:pPr lvl="1">
              <a:buFontTx/>
              <a:buChar char="-"/>
            </a:pPr>
            <a:endParaRPr lang="ko-KR" altLang="en-US" sz="1800" dirty="0">
              <a:solidFill>
                <a:schemeClr val="folHlink"/>
              </a:solidFill>
              <a:ea typeface="굴림" panose="020B0600000101010101" pitchFamily="50" charset="-127"/>
            </a:endParaRPr>
          </a:p>
        </p:txBody>
      </p:sp>
      <p:pic>
        <p:nvPicPr>
          <p:cNvPr id="7170" name="Picture 2" descr="https://images-na.ssl-images-amazon.com/images/I/51zpM8P2FxL._SX348_BO1,204,203,200_.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4625339"/>
            <a:ext cx="1496513" cy="21336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ttps://images-na.ssl-images-amazon.com/images/I/51xilf5QJqL._SX365_BO1,204,203,200_.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4596952"/>
            <a:ext cx="1524000" cy="20721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AD9F3EF5-8410-4E5B-81F1-9FBCCA2DF2B7}" type="slidenum">
              <a:rPr lang="en-US" altLang="ko-KR" sz="1000"/>
              <a:pPr>
                <a:spcBef>
                  <a:spcPct val="0"/>
                </a:spcBef>
                <a:buClrTx/>
                <a:buSzTx/>
                <a:buFontTx/>
                <a:buNone/>
              </a:pPr>
              <a:t>5</a:t>
            </a:fld>
            <a:endParaRPr lang="en-US" altLang="ko-KR" sz="1000"/>
          </a:p>
        </p:txBody>
      </p:sp>
      <p:sp>
        <p:nvSpPr>
          <p:cNvPr id="18435" name="Rectangle 2"/>
          <p:cNvSpPr>
            <a:spLocks noGrp="1" noChangeArrowheads="1"/>
          </p:cNvSpPr>
          <p:nvPr>
            <p:ph type="title"/>
          </p:nvPr>
        </p:nvSpPr>
        <p:spPr>
          <a:xfrm>
            <a:off x="1143000" y="0"/>
            <a:ext cx="7793038" cy="1143000"/>
          </a:xfrm>
        </p:spPr>
        <p:txBody>
          <a:bodyPr/>
          <a:lstStyle/>
          <a:p>
            <a:r>
              <a:rPr lang="en-US" altLang="ko-KR">
                <a:ea typeface="굴림" panose="020B0600000101010101" pitchFamily="50" charset="-127"/>
              </a:rPr>
              <a:t>About this course…</a:t>
            </a:r>
          </a:p>
        </p:txBody>
      </p:sp>
      <p:sp>
        <p:nvSpPr>
          <p:cNvPr id="18436" name="Rectangle 3"/>
          <p:cNvSpPr>
            <a:spLocks noGrp="1" noChangeArrowheads="1"/>
          </p:cNvSpPr>
          <p:nvPr>
            <p:ph type="body" idx="1"/>
          </p:nvPr>
        </p:nvSpPr>
        <p:spPr>
          <a:xfrm>
            <a:off x="838200" y="1143000"/>
            <a:ext cx="7772400" cy="4837113"/>
          </a:xfrm>
        </p:spPr>
        <p:txBody>
          <a:bodyPr/>
          <a:lstStyle/>
          <a:p>
            <a:r>
              <a:rPr lang="en-US" altLang="ko-KR" sz="2800">
                <a:ea typeface="굴림" panose="020B0600000101010101" pitchFamily="50" charset="-127"/>
              </a:rPr>
              <a:t>Detailed schedule on this class </a:t>
            </a:r>
          </a:p>
          <a:p>
            <a:pPr lvl="1">
              <a:buFontTx/>
              <a:buChar char="-"/>
            </a:pPr>
            <a:endParaRPr lang="en-US" altLang="ko-KR" sz="2000">
              <a:solidFill>
                <a:schemeClr val="folHlink"/>
              </a:solidFill>
              <a:ea typeface="굴림" panose="020B0600000101010101" pitchFamily="50" charset="-127"/>
            </a:endParaRPr>
          </a:p>
          <a:p>
            <a:pPr lvl="1">
              <a:buFontTx/>
              <a:buChar char="-"/>
            </a:pPr>
            <a:endParaRPr lang="en-US" altLang="ko-KR" sz="2000">
              <a:solidFill>
                <a:schemeClr val="folHlink"/>
              </a:solidFill>
              <a:ea typeface="굴림" panose="020B0600000101010101" pitchFamily="50" charset="-127"/>
            </a:endParaRPr>
          </a:p>
          <a:p>
            <a:pPr lvl="1">
              <a:buFontTx/>
              <a:buChar char="-"/>
            </a:pPr>
            <a:endParaRPr lang="en-US" altLang="ko-KR" sz="2000">
              <a:solidFill>
                <a:schemeClr val="folHlink"/>
              </a:solidFill>
              <a:ea typeface="굴림" panose="020B0600000101010101" pitchFamily="50" charset="-127"/>
            </a:endParaRPr>
          </a:p>
        </p:txBody>
      </p:sp>
      <p:graphicFrame>
        <p:nvGraphicFramePr>
          <p:cNvPr id="58500" name="Group 132"/>
          <p:cNvGraphicFramePr>
            <a:graphicFrameLocks noGrp="1"/>
          </p:cNvGraphicFramePr>
          <p:nvPr>
            <p:extLst>
              <p:ext uri="{D42A27DB-BD31-4B8C-83A1-F6EECF244321}">
                <p14:modId xmlns:p14="http://schemas.microsoft.com/office/powerpoint/2010/main" val="4150540187"/>
              </p:ext>
            </p:extLst>
          </p:nvPr>
        </p:nvGraphicFramePr>
        <p:xfrm>
          <a:off x="533400" y="1600200"/>
          <a:ext cx="8305800" cy="5051420"/>
        </p:xfrm>
        <a:graphic>
          <a:graphicData uri="http://schemas.openxmlformats.org/drawingml/2006/table">
            <a:tbl>
              <a:tblPr rtl="1"/>
              <a:tblGrid>
                <a:gridCol w="3009900">
                  <a:extLst>
                    <a:ext uri="{9D8B030D-6E8A-4147-A177-3AD203B41FA5}">
                      <a16:colId xmlns:a16="http://schemas.microsoft.com/office/drawing/2014/main" val="20000"/>
                    </a:ext>
                  </a:extLst>
                </a:gridCol>
                <a:gridCol w="4597400">
                  <a:extLst>
                    <a:ext uri="{9D8B030D-6E8A-4147-A177-3AD203B41FA5}">
                      <a16:colId xmlns:a16="http://schemas.microsoft.com/office/drawing/2014/main" val="20001"/>
                    </a:ext>
                  </a:extLst>
                </a:gridCol>
                <a:gridCol w="698500">
                  <a:extLst>
                    <a:ext uri="{9D8B030D-6E8A-4147-A177-3AD203B41FA5}">
                      <a16:colId xmlns:a16="http://schemas.microsoft.com/office/drawing/2014/main" val="20002"/>
                    </a:ext>
                  </a:extLst>
                </a:gridCol>
              </a:tblGrid>
              <a:tr h="304838">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범위 등</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400" b="1" i="0" u="none" strike="noStrike" cap="none" normalizeH="0" baseline="0">
                          <a:ln>
                            <a:noFill/>
                          </a:ln>
                          <a:solidFill>
                            <a:schemeClr val="tx1"/>
                          </a:solidFill>
                          <a:effectLst/>
                          <a:latin typeface="Arial Narrow" pitchFamily="34" charset="0"/>
                          <a:ea typeface="굴림" pitchFamily="50" charset="-127"/>
                          <a:cs typeface="Times New Roman (Hebrew)" charset="-79"/>
                        </a:rPr>
                        <a:t>학습내용</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400" b="1" i="0" u="none" strike="noStrike" cap="none" normalizeH="0" baseline="0">
                          <a:ln>
                            <a:noFill/>
                          </a:ln>
                          <a:solidFill>
                            <a:schemeClr val="tx1"/>
                          </a:solidFill>
                          <a:effectLst/>
                          <a:latin typeface="Arial Narrow" pitchFamily="34" charset="0"/>
                          <a:ea typeface="굴림" pitchFamily="50" charset="-127"/>
                          <a:cs typeface="Times New Roman (Hebrew)" charset="-79"/>
                        </a:rPr>
                        <a:t>주</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Introduction</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a:t>
                      </a: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OS </a:t>
                      </a:r>
                      <a:r>
                        <a:rPr kumimoji="0" lang="ko-KR" altLang="en-US"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기초 </a:t>
                      </a: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2</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CH2</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System </a:t>
                      </a:r>
                      <a:r>
                        <a:rPr kumimoji="0" lang="ko-KR" altLang="en-US"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구조</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3</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CH3</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Process </a:t>
                      </a:r>
                      <a:r>
                        <a:rPr kumimoji="0" lang="ko-KR" altLang="en-US"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관리</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4</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CH4</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Threads </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5</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CH5</a:t>
                      </a: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CPU scheduling</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6</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CH6</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Process Synchronization</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7</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Midterm Exam</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8</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CH7</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Deadlocks</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9</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CH8</a:t>
                      </a: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Main Memory</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10</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CH9</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Virtual Memory</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11</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422329">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CH10</a:t>
                      </a: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File System</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12</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4354">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CH11</a:t>
                      </a:r>
                      <a:endParaRPr kumimoji="0" lang="ko-KR" altLang="en-US"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File Systems</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13</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422329">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CH12</a:t>
                      </a: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rPr>
                        <a:t>Secondary Storage</a:t>
                      </a:r>
                      <a:endParaRPr kumimoji="0" lang="ko-KR" altLang="ko-KR" sz="14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14</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04838">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endParaRPr kumimoji="0" lang="ko-KR" altLang="en-US" sz="1200" b="1" i="0" u="none" strike="noStrike" cap="none" normalizeH="0" baseline="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r>
                        <a:rPr kumimoji="0" lang="en-US" altLang="ko-KR" sz="1400" b="1" i="0" u="none" strike="noStrike" cap="none" normalizeH="0" baseline="0">
                          <a:ln>
                            <a:noFill/>
                          </a:ln>
                          <a:solidFill>
                            <a:schemeClr val="tx1"/>
                          </a:solidFill>
                          <a:effectLst/>
                          <a:latin typeface="Arial Narrow" pitchFamily="34" charset="0"/>
                          <a:ea typeface="굴림" pitchFamily="50" charset="-127"/>
                          <a:cs typeface="Times New Roman (Hebrew)" charset="-79"/>
                        </a:rPr>
                        <a:t>Final Exam</a:t>
                      </a:r>
                      <a:endParaRPr kumimoji="0" lang="ko-KR" altLang="en-US" sz="1400" b="1" i="0" u="none" strike="noStrike" cap="none" normalizeH="0" baseline="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200" b="1" i="0" u="none" strike="noStrike" cap="none" normalizeH="0" baseline="0">
                          <a:ln>
                            <a:noFill/>
                          </a:ln>
                          <a:solidFill>
                            <a:schemeClr val="tx1"/>
                          </a:solidFill>
                          <a:effectLst/>
                          <a:latin typeface="Arial Narrow" pitchFamily="34" charset="0"/>
                          <a:ea typeface="굴림" pitchFamily="50" charset="-127"/>
                          <a:cs typeface="Times New Roman (Hebrew)" charset="-79"/>
                        </a:rPr>
                        <a:t>15</a:t>
                      </a: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304838">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endParaRPr kumimoji="0" lang="ko-KR" altLang="en-US" sz="1200" b="1" i="0" u="none" strike="noStrike" cap="none" normalizeH="0" baseline="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457200" marR="0" lvl="1" indent="0" algn="l" defTabSz="914400" rtl="0" eaLnBrk="1" fontAlgn="base" latinLnBrk="0" hangingPunct="1">
                        <a:lnSpc>
                          <a:spcPct val="100000"/>
                        </a:lnSpc>
                        <a:spcBef>
                          <a:spcPct val="40000"/>
                        </a:spcBef>
                        <a:spcAft>
                          <a:spcPct val="0"/>
                        </a:spcAft>
                        <a:buClr>
                          <a:schemeClr val="folHlink"/>
                        </a:buClr>
                        <a:buSzPct val="60000"/>
                        <a:buFont typeface="Wingdings" pitchFamily="2" charset="2"/>
                        <a:buNone/>
                        <a:tabLst>
                          <a:tab pos="228600" algn="l"/>
                          <a:tab pos="457200" algn="l"/>
                          <a:tab pos="685800" algn="l"/>
                          <a:tab pos="914400" algn="l"/>
                          <a:tab pos="1143000" algn="l"/>
                          <a:tab pos="1371600" algn="l"/>
                          <a:tab pos="1600200" algn="l"/>
                          <a:tab pos="1828800" algn="l"/>
                          <a:tab pos="2057400" algn="l"/>
                          <a:tab pos="2286000" algn="l"/>
                          <a:tab pos="2514600" algn="l"/>
                          <a:tab pos="2743200" algn="l"/>
                          <a:tab pos="2971800" algn="l"/>
                        </a:tabLst>
                      </a:pPr>
                      <a:endParaRPr kumimoji="0" lang="ko-KR" altLang="en-US" sz="1400" b="1" i="0" u="none" strike="noStrike" cap="none" normalizeH="0" baseline="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endParaRPr kumimoji="0" lang="en-US" altLang="ko-KR" sz="1200" b="1" i="0" u="none" strike="noStrike" cap="none" normalizeH="0" baseline="0" dirty="0">
                        <a:ln>
                          <a:noFill/>
                        </a:ln>
                        <a:solidFill>
                          <a:schemeClr val="tx1"/>
                        </a:solidFill>
                        <a:effectLst/>
                        <a:latin typeface="Arial Narrow" pitchFamily="34" charset="0"/>
                        <a:ea typeface="굴림" pitchFamily="50" charset="-127"/>
                        <a:cs typeface="Times New Roman (Hebrew)" charset="-79"/>
                      </a:endParaRPr>
                    </a:p>
                  </a:txBody>
                  <a:tcPr marT="45726" marB="45726"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EBE78EB2-BB25-4772-852E-16DECD2BF3E5}" type="slidenum">
              <a:rPr lang="en-US" altLang="ko-KR" sz="1000"/>
              <a:pPr>
                <a:spcBef>
                  <a:spcPct val="0"/>
                </a:spcBef>
                <a:buClrTx/>
                <a:buSzTx/>
                <a:buFontTx/>
                <a:buNone/>
              </a:pPr>
              <a:t>6</a:t>
            </a:fld>
            <a:endParaRPr lang="en-US" altLang="ko-KR" sz="1000"/>
          </a:p>
        </p:txBody>
      </p:sp>
      <p:sp>
        <p:nvSpPr>
          <p:cNvPr id="20483" name="Rectangle 2"/>
          <p:cNvSpPr>
            <a:spLocks noGrp="1" noChangeArrowheads="1"/>
          </p:cNvSpPr>
          <p:nvPr>
            <p:ph type="title"/>
          </p:nvPr>
        </p:nvSpPr>
        <p:spPr>
          <a:xfrm>
            <a:off x="1143000" y="0"/>
            <a:ext cx="7793038" cy="1143000"/>
          </a:xfrm>
        </p:spPr>
        <p:txBody>
          <a:bodyPr/>
          <a:lstStyle/>
          <a:p>
            <a:r>
              <a:rPr lang="en-US" altLang="ko-KR">
                <a:ea typeface="굴림" panose="020B0600000101010101" pitchFamily="50" charset="-127"/>
              </a:rPr>
              <a:t>About this course…</a:t>
            </a:r>
          </a:p>
        </p:txBody>
      </p:sp>
      <p:sp>
        <p:nvSpPr>
          <p:cNvPr id="20484" name="Rectangle 3"/>
          <p:cNvSpPr>
            <a:spLocks noGrp="1" noChangeArrowheads="1"/>
          </p:cNvSpPr>
          <p:nvPr>
            <p:ph type="body" idx="1"/>
          </p:nvPr>
        </p:nvSpPr>
        <p:spPr>
          <a:xfrm>
            <a:off x="838200" y="1295400"/>
            <a:ext cx="7772400" cy="4837113"/>
          </a:xfrm>
        </p:spPr>
        <p:txBody>
          <a:bodyPr/>
          <a:lstStyle/>
          <a:p>
            <a:r>
              <a:rPr lang="en-US" altLang="ko-KR" sz="2800">
                <a:ea typeface="굴림" panose="020B0600000101010101" pitchFamily="50" charset="-127"/>
              </a:rPr>
              <a:t>Assessment</a:t>
            </a:r>
            <a:endParaRPr lang="en-US" altLang="ko-KR" sz="2400">
              <a:solidFill>
                <a:schemeClr val="folHlink"/>
              </a:solidFill>
              <a:ea typeface="굴림" panose="020B0600000101010101" pitchFamily="50" charset="-127"/>
            </a:endParaRPr>
          </a:p>
          <a:p>
            <a:pPr lvl="1">
              <a:buFontTx/>
              <a:buChar char="-"/>
            </a:pPr>
            <a:endParaRPr lang="en-US" altLang="ko-KR" sz="2000">
              <a:solidFill>
                <a:schemeClr val="folHlink"/>
              </a:solidFill>
              <a:ea typeface="굴림" panose="020B0600000101010101" pitchFamily="50" charset="-127"/>
            </a:endParaRPr>
          </a:p>
          <a:p>
            <a:pPr lvl="1">
              <a:buFontTx/>
              <a:buChar char="-"/>
            </a:pPr>
            <a:endParaRPr lang="en-US" altLang="ko-KR" sz="2000">
              <a:solidFill>
                <a:schemeClr val="folHlink"/>
              </a:solidFill>
              <a:ea typeface="굴림" panose="020B0600000101010101" pitchFamily="50" charset="-127"/>
            </a:endParaRPr>
          </a:p>
        </p:txBody>
      </p:sp>
      <p:graphicFrame>
        <p:nvGraphicFramePr>
          <p:cNvPr id="60521" name="Group 105"/>
          <p:cNvGraphicFramePr>
            <a:graphicFrameLocks noGrp="1"/>
          </p:cNvGraphicFramePr>
          <p:nvPr/>
        </p:nvGraphicFramePr>
        <p:xfrm>
          <a:off x="762000" y="1828800"/>
          <a:ext cx="7620000" cy="3654425"/>
        </p:xfrm>
        <a:graphic>
          <a:graphicData uri="http://schemas.openxmlformats.org/drawingml/2006/table">
            <a:tbl>
              <a:tblPr rtl="1"/>
              <a:tblGrid>
                <a:gridCol w="5032375">
                  <a:extLst>
                    <a:ext uri="{9D8B030D-6E8A-4147-A177-3AD203B41FA5}">
                      <a16:colId xmlns:a16="http://schemas.microsoft.com/office/drawing/2014/main" val="20000"/>
                    </a:ext>
                  </a:extLst>
                </a:gridCol>
                <a:gridCol w="2587625">
                  <a:extLst>
                    <a:ext uri="{9D8B030D-6E8A-4147-A177-3AD203B41FA5}">
                      <a16:colId xmlns:a16="http://schemas.microsoft.com/office/drawing/2014/main" val="20001"/>
                    </a:ext>
                  </a:extLst>
                </a:gridCol>
              </a:tblGrid>
              <a:tr h="654050">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2000" b="1" i="0" u="none" strike="noStrike" cap="none" normalizeH="0" baseline="0">
                          <a:ln>
                            <a:noFill/>
                          </a:ln>
                          <a:solidFill>
                            <a:schemeClr val="tx1"/>
                          </a:solidFill>
                          <a:effectLst/>
                          <a:latin typeface="Arial Narrow" pitchFamily="34" charset="0"/>
                          <a:ea typeface="굴림" pitchFamily="50" charset="-127"/>
                          <a:cs typeface="Times New Roman (Hebrew)" charset="-79"/>
                        </a:rPr>
                        <a:t>점 수</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2000" b="1" i="0" u="none" strike="noStrike" cap="none" normalizeH="0" baseline="0">
                          <a:ln>
                            <a:noFill/>
                          </a:ln>
                          <a:solidFill>
                            <a:schemeClr val="tx1"/>
                          </a:solidFill>
                          <a:effectLst/>
                          <a:latin typeface="Arial Narrow" pitchFamily="34" charset="0"/>
                          <a:ea typeface="굴림" pitchFamily="50" charset="-127"/>
                          <a:cs typeface="Times New Roman (Hebrew)" charset="-79"/>
                        </a:rPr>
                        <a:t>항 목</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600075">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rPr>
                        <a:t>5</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800" b="1" i="0" u="none" strike="noStrike" cap="none" normalizeH="0" baseline="0">
                          <a:ln>
                            <a:noFill/>
                          </a:ln>
                          <a:solidFill>
                            <a:schemeClr val="tx1"/>
                          </a:solidFill>
                          <a:effectLst/>
                          <a:latin typeface="Arial Narrow" pitchFamily="34" charset="0"/>
                          <a:ea typeface="굴림" pitchFamily="50" charset="-127"/>
                          <a:cs typeface="Times New Roman (Hebrew)" charset="-79"/>
                        </a:rPr>
                        <a:t>출 석</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00075">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rPr>
                        <a:t>40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800" b="1" i="0" u="none" strike="noStrike" cap="none" normalizeH="0" baseline="0">
                          <a:ln>
                            <a:noFill/>
                          </a:ln>
                          <a:solidFill>
                            <a:schemeClr val="tx1"/>
                          </a:solidFill>
                          <a:effectLst/>
                          <a:latin typeface="Arial Narrow" pitchFamily="34" charset="0"/>
                          <a:ea typeface="굴림" pitchFamily="50" charset="-127"/>
                          <a:cs typeface="Times New Roman (Hebrew)" charset="-79"/>
                        </a:rPr>
                        <a:t>중간고사</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0075">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rPr>
                        <a:t>40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800" b="1" i="0" u="none" strike="noStrike" cap="none" normalizeH="0" baseline="0">
                          <a:ln>
                            <a:noFill/>
                          </a:ln>
                          <a:solidFill>
                            <a:schemeClr val="tx1"/>
                          </a:solidFill>
                          <a:effectLst/>
                          <a:latin typeface="Arial Narrow" pitchFamily="34" charset="0"/>
                          <a:ea typeface="굴림" pitchFamily="50" charset="-127"/>
                          <a:cs typeface="Times New Roman (Hebrew)" charset="-79"/>
                        </a:rPr>
                        <a:t>기말고사</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00075">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rPr>
                        <a:t>15  (1 week delay: -20% penalty)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800" b="1" i="0" u="none" strike="noStrike" cap="none" normalizeH="0" baseline="0">
                          <a:ln>
                            <a:noFill/>
                          </a:ln>
                          <a:solidFill>
                            <a:schemeClr val="tx1"/>
                          </a:solidFill>
                          <a:effectLst/>
                          <a:latin typeface="Arial Narrow" pitchFamily="34" charset="0"/>
                          <a:ea typeface="굴림" pitchFamily="50" charset="-127"/>
                          <a:cs typeface="Times New Roman (Hebrew)" charset="-79"/>
                        </a:rPr>
                        <a:t>과제물 </a:t>
                      </a:r>
                      <a:endPar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00075">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en-US" altLang="ko-KR" sz="1800" b="1" i="0" u="none" strike="noStrike" cap="none" normalizeH="0" baseline="0">
                          <a:ln>
                            <a:noFill/>
                          </a:ln>
                          <a:solidFill>
                            <a:schemeClr val="tx1"/>
                          </a:solidFill>
                          <a:effectLst/>
                          <a:latin typeface="Arial Narrow" pitchFamily="34" charset="0"/>
                          <a:ea typeface="굴림" pitchFamily="50" charset="-127"/>
                          <a:cs typeface="Times New Roman (Hebrew)" charset="-79"/>
                        </a:rPr>
                        <a:t>100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chemeClr val="bg1"/>
                        </a:gs>
                        <a:gs pos="50000">
                          <a:srgbClr val="89FFE0"/>
                        </a:gs>
                        <a:gs pos="100000">
                          <a:schemeClr val="bg1"/>
                        </a:gs>
                      </a:gsLst>
                      <a:lin ang="5400000" scaled="1"/>
                    </a:gradFill>
                  </a:tcPr>
                </a:tc>
                <a:tc>
                  <a:txBody>
                    <a:bodyPr/>
                    <a:lstStyle/>
                    <a:p>
                      <a:pPr marL="0" marR="0" lvl="0" indent="0" algn="ctr" defTabSz="914400" rtl="0" eaLnBrk="0" fontAlgn="base" latinLnBrk="0" hangingPunct="0">
                        <a:lnSpc>
                          <a:spcPct val="100000"/>
                        </a:lnSpc>
                        <a:spcBef>
                          <a:spcPct val="40000"/>
                        </a:spcBef>
                        <a:spcAft>
                          <a:spcPct val="0"/>
                        </a:spcAft>
                        <a:buClr>
                          <a:schemeClr val="folHlink"/>
                        </a:buClr>
                        <a:buSzPct val="60000"/>
                        <a:buFont typeface="Wingdings" pitchFamily="2" charset="2"/>
                        <a:buNone/>
                        <a:tabLst/>
                      </a:pPr>
                      <a:r>
                        <a:rPr kumimoji="0" lang="ko-KR" altLang="en-US" sz="1800" b="1" i="0" u="none" strike="noStrike" cap="none" normalizeH="0" baseline="0">
                          <a:ln>
                            <a:noFill/>
                          </a:ln>
                          <a:solidFill>
                            <a:schemeClr val="tx1"/>
                          </a:solidFill>
                          <a:effectLst/>
                          <a:latin typeface="Arial Narrow" pitchFamily="34" charset="0"/>
                          <a:ea typeface="굴림" pitchFamily="50" charset="-127"/>
                          <a:cs typeface="Times New Roman (Hebrew)" charset="-79"/>
                        </a:rPr>
                        <a:t>합 계</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chemeClr val="bg1"/>
                        </a:gs>
                        <a:gs pos="50000">
                          <a:srgbClr val="89FFE0"/>
                        </a:gs>
                        <a:gs pos="100000">
                          <a:schemeClr val="bg1"/>
                        </a:gs>
                      </a:gsLst>
                      <a:lin ang="5400000" scaled="1"/>
                    </a:gra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ctrTitle"/>
          </p:nvPr>
        </p:nvSpPr>
        <p:spPr>
          <a:xfrm>
            <a:off x="371475" y="1900238"/>
            <a:ext cx="8458200" cy="1143000"/>
          </a:xfrm>
          <a:noFill/>
        </p:spPr>
        <p:txBody>
          <a:bodyPr/>
          <a:lstStyle/>
          <a:p>
            <a:pPr eaLnBrk="1" hangingPunct="1"/>
            <a:r>
              <a:rPr lang="en-US" altLang="ko-KR"/>
              <a:t>Chapter 1:  Introduction</a:t>
            </a:r>
          </a:p>
        </p:txBody>
      </p:sp>
    </p:spTree>
    <p:extLst>
      <p:ext uri="{BB962C8B-B14F-4D97-AF65-F5344CB8AC3E}">
        <p14:creationId xmlns:p14="http://schemas.microsoft.com/office/powerpoint/2010/main" val="62914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en-US" altLang="ko-KR"/>
              <a:t>Chapter 1: Introduction</a:t>
            </a:r>
          </a:p>
        </p:txBody>
      </p:sp>
      <p:sp>
        <p:nvSpPr>
          <p:cNvPr id="7171" name="Rectangle 3"/>
          <p:cNvSpPr>
            <a:spLocks noGrp="1" noChangeArrowheads="1"/>
          </p:cNvSpPr>
          <p:nvPr>
            <p:ph type="body" idx="4294967295"/>
          </p:nvPr>
        </p:nvSpPr>
        <p:spPr/>
        <p:txBody>
          <a:bodyPr/>
          <a:lstStyle/>
          <a:p>
            <a:r>
              <a:rPr lang="en-US" altLang="ko-KR" sz="1800" dirty="0"/>
              <a:t>What Operating Systems Do</a:t>
            </a:r>
          </a:p>
          <a:p>
            <a:r>
              <a:rPr lang="en-US" altLang="ko-KR" sz="1800" dirty="0"/>
              <a:t>Computer-System Organization</a:t>
            </a:r>
          </a:p>
          <a:p>
            <a:r>
              <a:rPr lang="en-US" altLang="ko-KR" sz="1800" dirty="0"/>
              <a:t>Computer-System Architecture</a:t>
            </a:r>
          </a:p>
          <a:p>
            <a:r>
              <a:rPr lang="en-US" altLang="ko-KR" sz="1800" dirty="0"/>
              <a:t>Operating-System Structure</a:t>
            </a:r>
          </a:p>
          <a:p>
            <a:r>
              <a:rPr lang="en-US" altLang="ko-KR" sz="1800" dirty="0"/>
              <a:t>Operating-System Operations</a:t>
            </a:r>
          </a:p>
          <a:p>
            <a:r>
              <a:rPr lang="en-US" altLang="ko-KR" sz="1800" dirty="0"/>
              <a:t>Process Management</a:t>
            </a:r>
          </a:p>
          <a:p>
            <a:r>
              <a:rPr lang="en-US" altLang="ko-KR" sz="1800" dirty="0"/>
              <a:t>Memory Management</a:t>
            </a:r>
          </a:p>
          <a:p>
            <a:r>
              <a:rPr lang="en-US" altLang="ko-KR" sz="1800" dirty="0"/>
              <a:t>Storage Management</a:t>
            </a:r>
          </a:p>
          <a:p>
            <a:r>
              <a:rPr lang="en-US" altLang="ko-KR" sz="1800" dirty="0"/>
              <a:t>Protection and Security</a:t>
            </a:r>
          </a:p>
          <a:p>
            <a:r>
              <a:rPr lang="en-US" altLang="ko-KR" sz="1800" dirty="0"/>
              <a:t>Kernel Data Structures</a:t>
            </a:r>
          </a:p>
          <a:p>
            <a:r>
              <a:rPr lang="en-US" altLang="ko-KR" sz="1800" dirty="0"/>
              <a:t>Computing Environments</a:t>
            </a:r>
          </a:p>
          <a:p>
            <a:r>
              <a:rPr lang="en-US" altLang="ko-KR" sz="1800" dirty="0"/>
              <a:t>Open-Source Operating Systems</a:t>
            </a:r>
          </a:p>
          <a:p>
            <a:pPr>
              <a:buFont typeface="Monotype Sorts" pitchFamily="-84" charset="2"/>
              <a:buNone/>
            </a:pPr>
            <a:endParaRPr lang="en-US" altLang="ko-KR" sz="1800" dirty="0"/>
          </a:p>
          <a:p>
            <a:endParaRPr lang="en-US" altLang="ko-KR" sz="1800"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8</a:t>
            </a:fld>
            <a:endParaRPr lang="ko-KR" altLang="ko-KR"/>
          </a:p>
        </p:txBody>
      </p:sp>
    </p:spTree>
    <p:extLst>
      <p:ext uri="{BB962C8B-B14F-4D97-AF65-F5344CB8AC3E}">
        <p14:creationId xmlns:p14="http://schemas.microsoft.com/office/powerpoint/2010/main" val="1466262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457200" y="166688"/>
            <a:ext cx="8229600" cy="576262"/>
          </a:xfrm>
        </p:spPr>
        <p:txBody>
          <a:bodyPr/>
          <a:lstStyle/>
          <a:p>
            <a:pPr eaLnBrk="1" hangingPunct="1"/>
            <a:r>
              <a:rPr lang="en-US" altLang="ko-KR"/>
              <a:t>Objectives</a:t>
            </a:r>
          </a:p>
        </p:txBody>
      </p:sp>
      <p:sp>
        <p:nvSpPr>
          <p:cNvPr id="9219" name="Rectangle 3"/>
          <p:cNvSpPr>
            <a:spLocks noGrp="1" noChangeArrowheads="1"/>
          </p:cNvSpPr>
          <p:nvPr>
            <p:ph type="body" idx="4294967295"/>
          </p:nvPr>
        </p:nvSpPr>
        <p:spPr>
          <a:xfrm>
            <a:off x="806450" y="1233488"/>
            <a:ext cx="8108950" cy="4530725"/>
          </a:xfrm>
        </p:spPr>
        <p:txBody>
          <a:bodyPr/>
          <a:lstStyle/>
          <a:p>
            <a:r>
              <a:rPr lang="en-US" altLang="ko-KR" dirty="0"/>
              <a:t>To describe the basic organization of computer systems</a:t>
            </a:r>
          </a:p>
          <a:p>
            <a:r>
              <a:rPr lang="en-US" altLang="ko-KR" dirty="0"/>
              <a:t>To provide a grand tour of the </a:t>
            </a:r>
            <a:r>
              <a:rPr lang="en-US" altLang="ko-KR" dirty="0">
                <a:solidFill>
                  <a:srgbClr val="0000FF"/>
                </a:solidFill>
              </a:rPr>
              <a:t>major components of operating systems</a:t>
            </a:r>
          </a:p>
          <a:p>
            <a:r>
              <a:rPr lang="en-US" altLang="ko-KR" dirty="0"/>
              <a:t>To give an overview of the many types of computing environments</a:t>
            </a:r>
          </a:p>
          <a:p>
            <a:r>
              <a:rPr lang="en-US" altLang="ko-KR" dirty="0"/>
              <a:t>To explore several open-source operating systems</a:t>
            </a:r>
          </a:p>
          <a:p>
            <a:pPr>
              <a:buFont typeface="Monotype Sorts" pitchFamily="-84" charset="2"/>
              <a:buNone/>
            </a:pPr>
            <a:endParaRPr lang="en-US" altLang="ko-KR"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9</a:t>
            </a:fld>
            <a:endParaRPr lang="ko-KR" altLang="ko-KR"/>
          </a:p>
        </p:txBody>
      </p:sp>
    </p:spTree>
    <p:extLst>
      <p:ext uri="{BB962C8B-B14F-4D97-AF65-F5344CB8AC3E}">
        <p14:creationId xmlns:p14="http://schemas.microsoft.com/office/powerpoint/2010/main" val="3638769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a:xfrm>
            <a:off x="963613" y="198438"/>
            <a:ext cx="7723187" cy="576262"/>
          </a:xfrm>
        </p:spPr>
        <p:txBody>
          <a:bodyPr/>
          <a:lstStyle/>
          <a:p>
            <a:pPr eaLnBrk="1" hangingPunct="1"/>
            <a:r>
              <a:rPr lang="en-US" altLang="ko-KR"/>
              <a:t>What is an Operating System?</a:t>
            </a:r>
          </a:p>
        </p:txBody>
      </p:sp>
      <p:sp>
        <p:nvSpPr>
          <p:cNvPr id="11267" name="Rectangle 3"/>
          <p:cNvSpPr>
            <a:spLocks noGrp="1" noChangeArrowheads="1"/>
          </p:cNvSpPr>
          <p:nvPr>
            <p:ph type="body" idx="4294967295"/>
          </p:nvPr>
        </p:nvSpPr>
        <p:spPr>
          <a:xfrm>
            <a:off x="925513" y="1268413"/>
            <a:ext cx="8066087" cy="4159250"/>
          </a:xfrm>
        </p:spPr>
        <p:txBody>
          <a:bodyPr/>
          <a:lstStyle/>
          <a:p>
            <a:r>
              <a:rPr lang="en-US" altLang="ko-KR" dirty="0"/>
              <a:t>A program that acts as an </a:t>
            </a:r>
            <a:r>
              <a:rPr lang="en-US" altLang="ko-KR" dirty="0">
                <a:solidFill>
                  <a:srgbClr val="C00000"/>
                </a:solidFill>
              </a:rPr>
              <a:t>intermediary between a user of a computer and the computer hardware</a:t>
            </a:r>
          </a:p>
          <a:p>
            <a:r>
              <a:rPr lang="en-US" altLang="ko-KR" dirty="0"/>
              <a:t>Operating system goals:</a:t>
            </a:r>
          </a:p>
          <a:p>
            <a:pPr lvl="1"/>
            <a:r>
              <a:rPr lang="en-US" altLang="ko-KR" dirty="0">
                <a:solidFill>
                  <a:srgbClr val="0000FF"/>
                </a:solidFill>
              </a:rPr>
              <a:t>Execute user programs and make solving user problems easier</a:t>
            </a:r>
          </a:p>
          <a:p>
            <a:pPr lvl="1"/>
            <a:r>
              <a:rPr lang="en-US" altLang="ko-KR" dirty="0">
                <a:solidFill>
                  <a:srgbClr val="0000FF"/>
                </a:solidFill>
              </a:rPr>
              <a:t>Make the computer system convenient to use</a:t>
            </a:r>
          </a:p>
          <a:p>
            <a:pPr lvl="1"/>
            <a:r>
              <a:rPr lang="en-US" altLang="ko-KR" dirty="0">
                <a:solidFill>
                  <a:srgbClr val="0000FF"/>
                </a:solidFill>
              </a:rPr>
              <a:t>Use the computer hardware in an efficient manner</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10</a:t>
            </a:fld>
            <a:endParaRPr lang="ko-KR" altLang="ko-KR"/>
          </a:p>
        </p:txBody>
      </p:sp>
    </p:spTree>
    <p:extLst>
      <p:ext uri="{BB962C8B-B14F-4D97-AF65-F5344CB8AC3E}">
        <p14:creationId xmlns:p14="http://schemas.microsoft.com/office/powerpoint/2010/main" val="2389517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041400" y="182563"/>
            <a:ext cx="7645400" cy="576262"/>
          </a:xfrm>
        </p:spPr>
        <p:txBody>
          <a:bodyPr/>
          <a:lstStyle/>
          <a:p>
            <a:pPr eaLnBrk="1" hangingPunct="1"/>
            <a:r>
              <a:rPr lang="en-US" altLang="ko-KR"/>
              <a:t>Computer System Structure</a:t>
            </a:r>
          </a:p>
        </p:txBody>
      </p:sp>
      <p:sp>
        <p:nvSpPr>
          <p:cNvPr id="13315" name="Rectangle 3"/>
          <p:cNvSpPr>
            <a:spLocks noGrp="1" noChangeArrowheads="1"/>
          </p:cNvSpPr>
          <p:nvPr>
            <p:ph type="body" idx="4294967295"/>
          </p:nvPr>
        </p:nvSpPr>
        <p:spPr>
          <a:xfrm>
            <a:off x="890588" y="1204913"/>
            <a:ext cx="8101012" cy="4483100"/>
          </a:xfrm>
        </p:spPr>
        <p:txBody>
          <a:bodyPr/>
          <a:lstStyle/>
          <a:p>
            <a:r>
              <a:rPr lang="en-US" altLang="ko-KR" dirty="0"/>
              <a:t>Computer system can be divided into </a:t>
            </a:r>
            <a:r>
              <a:rPr lang="en-US" altLang="ko-KR" dirty="0">
                <a:solidFill>
                  <a:srgbClr val="0000FF"/>
                </a:solidFill>
              </a:rPr>
              <a:t>four components:</a:t>
            </a:r>
          </a:p>
          <a:p>
            <a:pPr lvl="1"/>
            <a:r>
              <a:rPr lang="en-US" altLang="ko-KR" dirty="0">
                <a:solidFill>
                  <a:srgbClr val="0000FF"/>
                </a:solidFill>
              </a:rPr>
              <a:t>Hardware – provides basic computing resources</a:t>
            </a:r>
          </a:p>
          <a:p>
            <a:pPr lvl="2"/>
            <a:r>
              <a:rPr lang="en-US" altLang="ko-KR" dirty="0"/>
              <a:t>CPU, memory, I/O devices</a:t>
            </a:r>
          </a:p>
          <a:p>
            <a:pPr lvl="1"/>
            <a:r>
              <a:rPr lang="en-US" altLang="ko-KR" dirty="0">
                <a:solidFill>
                  <a:srgbClr val="0000FF"/>
                </a:solidFill>
              </a:rPr>
              <a:t>Operating system</a:t>
            </a:r>
          </a:p>
          <a:p>
            <a:pPr lvl="2"/>
            <a:r>
              <a:rPr lang="en-US" altLang="ko-KR" dirty="0"/>
              <a:t>Controls and coordinates use of hardware among various applications and users</a:t>
            </a:r>
          </a:p>
          <a:p>
            <a:pPr lvl="1"/>
            <a:r>
              <a:rPr lang="en-US" altLang="ko-KR" dirty="0">
                <a:solidFill>
                  <a:srgbClr val="0000FF"/>
                </a:solidFill>
              </a:rPr>
              <a:t>Application programs – define the ways in which the system resources are used to solve the computing problems of the users</a:t>
            </a:r>
          </a:p>
          <a:p>
            <a:pPr lvl="2"/>
            <a:r>
              <a:rPr lang="en-US" altLang="ko-KR" dirty="0"/>
              <a:t>Word processors, compilers, web browsers, database systems, video games</a:t>
            </a:r>
          </a:p>
          <a:p>
            <a:pPr lvl="1"/>
            <a:r>
              <a:rPr lang="en-US" altLang="ko-KR" dirty="0">
                <a:solidFill>
                  <a:srgbClr val="0000FF"/>
                </a:solidFill>
              </a:rPr>
              <a:t>Users</a:t>
            </a:r>
          </a:p>
          <a:p>
            <a:pPr lvl="2"/>
            <a:r>
              <a:rPr lang="en-US" altLang="ko-KR" dirty="0"/>
              <a:t>People, machines, other computers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11</a:t>
            </a:fld>
            <a:endParaRPr lang="ko-KR" altLang="ko-KR"/>
          </a:p>
        </p:txBody>
      </p:sp>
    </p:spTree>
    <p:extLst>
      <p:ext uri="{BB962C8B-B14F-4D97-AF65-F5344CB8AC3E}">
        <p14:creationId xmlns:p14="http://schemas.microsoft.com/office/powerpoint/2010/main" val="975270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a:xfrm>
            <a:off x="844550" y="120650"/>
            <a:ext cx="8229600" cy="576263"/>
          </a:xfrm>
        </p:spPr>
        <p:txBody>
          <a:bodyPr/>
          <a:lstStyle/>
          <a:p>
            <a:pPr eaLnBrk="1" hangingPunct="1"/>
            <a:r>
              <a:rPr lang="en-US" altLang="ko-KR" sz="2800"/>
              <a:t>Four Components of a Computer System</a:t>
            </a:r>
          </a:p>
        </p:txBody>
      </p:sp>
      <p:pic>
        <p:nvPicPr>
          <p:cNvPr id="1536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2625" y="1533525"/>
            <a:ext cx="544830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12</a:t>
            </a:fld>
            <a:endParaRPr lang="ko-KR" altLang="ko-KR"/>
          </a:p>
        </p:txBody>
      </p:sp>
    </p:spTree>
    <p:extLst>
      <p:ext uri="{BB962C8B-B14F-4D97-AF65-F5344CB8AC3E}">
        <p14:creationId xmlns:p14="http://schemas.microsoft.com/office/powerpoint/2010/main" val="1887795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idx="4294967295"/>
          </p:nvPr>
        </p:nvSpPr>
        <p:spPr>
          <a:xfrm>
            <a:off x="457200" y="182563"/>
            <a:ext cx="8229600" cy="576262"/>
          </a:xfrm>
        </p:spPr>
        <p:txBody>
          <a:bodyPr/>
          <a:lstStyle/>
          <a:p>
            <a:r>
              <a:rPr lang="en-US" altLang="ko-KR" dirty="0"/>
              <a:t>What Operating Systems Do</a:t>
            </a:r>
          </a:p>
        </p:txBody>
      </p:sp>
      <p:sp>
        <p:nvSpPr>
          <p:cNvPr id="17411" name="Content Placeholder 2"/>
          <p:cNvSpPr>
            <a:spLocks noGrp="1"/>
          </p:cNvSpPr>
          <p:nvPr>
            <p:ph idx="4294967295"/>
          </p:nvPr>
        </p:nvSpPr>
        <p:spPr>
          <a:xfrm>
            <a:off x="806450" y="1233488"/>
            <a:ext cx="8261350" cy="4530725"/>
          </a:xfrm>
        </p:spPr>
        <p:txBody>
          <a:bodyPr/>
          <a:lstStyle/>
          <a:p>
            <a:r>
              <a:rPr lang="en-US" altLang="ko-KR" sz="2000" dirty="0"/>
              <a:t>Depends on the point of view</a:t>
            </a:r>
          </a:p>
          <a:p>
            <a:r>
              <a:rPr lang="en-US" altLang="ko-KR" sz="2000" dirty="0"/>
              <a:t>Users want convenience, </a:t>
            </a:r>
            <a:r>
              <a:rPr lang="en-US" altLang="ko-KR" sz="2000" b="1" dirty="0">
                <a:solidFill>
                  <a:srgbClr val="3366FF"/>
                </a:solidFill>
              </a:rPr>
              <a:t>ease</a:t>
            </a:r>
            <a:r>
              <a:rPr lang="en-US" altLang="ko-KR" sz="2000" dirty="0">
                <a:solidFill>
                  <a:srgbClr val="3366FF"/>
                </a:solidFill>
              </a:rPr>
              <a:t> </a:t>
            </a:r>
            <a:r>
              <a:rPr lang="en-US" altLang="ko-KR" sz="2000" b="1" dirty="0">
                <a:solidFill>
                  <a:srgbClr val="3366FF"/>
                </a:solidFill>
              </a:rPr>
              <a:t>of</a:t>
            </a:r>
            <a:r>
              <a:rPr lang="en-US" altLang="ko-KR" sz="2000" dirty="0">
                <a:solidFill>
                  <a:srgbClr val="3366FF"/>
                </a:solidFill>
              </a:rPr>
              <a:t> </a:t>
            </a:r>
            <a:r>
              <a:rPr lang="en-US" altLang="ko-KR" sz="2000" b="1" dirty="0">
                <a:solidFill>
                  <a:srgbClr val="3366FF"/>
                </a:solidFill>
              </a:rPr>
              <a:t>use </a:t>
            </a:r>
            <a:r>
              <a:rPr lang="en-US" altLang="ko-KR" sz="2000" dirty="0"/>
              <a:t>and</a:t>
            </a:r>
            <a:r>
              <a:rPr lang="en-US" altLang="ko-KR" sz="2000" b="1" dirty="0">
                <a:solidFill>
                  <a:srgbClr val="3366FF"/>
                </a:solidFill>
              </a:rPr>
              <a:t> good performance </a:t>
            </a:r>
          </a:p>
          <a:p>
            <a:pPr lvl="1"/>
            <a:r>
              <a:rPr lang="en-US" altLang="ko-KR" sz="1800" dirty="0"/>
              <a:t>Don</a:t>
            </a:r>
            <a:r>
              <a:rPr lang="ja-JP" altLang="en-US" sz="1800" dirty="0"/>
              <a:t>’</a:t>
            </a:r>
            <a:r>
              <a:rPr lang="en-US" altLang="ja-JP" sz="1800" dirty="0"/>
              <a:t>t care about </a:t>
            </a:r>
            <a:r>
              <a:rPr lang="en-US" altLang="ja-JP" sz="1800" b="1" dirty="0">
                <a:solidFill>
                  <a:srgbClr val="3366FF"/>
                </a:solidFill>
              </a:rPr>
              <a:t>resource</a:t>
            </a:r>
            <a:r>
              <a:rPr lang="en-US" altLang="ja-JP" sz="1800" dirty="0">
                <a:solidFill>
                  <a:srgbClr val="3366FF"/>
                </a:solidFill>
              </a:rPr>
              <a:t> </a:t>
            </a:r>
            <a:r>
              <a:rPr lang="en-US" altLang="ja-JP" sz="1800" b="1" dirty="0">
                <a:solidFill>
                  <a:srgbClr val="3366FF"/>
                </a:solidFill>
              </a:rPr>
              <a:t>utilization</a:t>
            </a:r>
          </a:p>
          <a:p>
            <a:r>
              <a:rPr lang="en-US" altLang="ko-KR" sz="2000" dirty="0"/>
              <a:t>But </a:t>
            </a:r>
            <a:r>
              <a:rPr lang="en-US" altLang="ko-KR" sz="2000" b="1" dirty="0">
                <a:solidFill>
                  <a:srgbClr val="0000FF"/>
                </a:solidFill>
              </a:rPr>
              <a:t>shared computer</a:t>
            </a:r>
            <a:r>
              <a:rPr lang="en-US" altLang="ko-KR" sz="2000" dirty="0"/>
              <a:t> such as mainframe or minicomputer must </a:t>
            </a:r>
            <a:r>
              <a:rPr lang="en-US" altLang="ko-KR" sz="2000" dirty="0">
                <a:solidFill>
                  <a:srgbClr val="C00000"/>
                </a:solidFill>
              </a:rPr>
              <a:t>keep all users happy</a:t>
            </a:r>
          </a:p>
          <a:p>
            <a:r>
              <a:rPr lang="en-US" altLang="ko-KR" sz="2000" dirty="0"/>
              <a:t>Users of </a:t>
            </a:r>
            <a:r>
              <a:rPr lang="en-US" altLang="ko-KR" sz="2000" b="1" dirty="0">
                <a:solidFill>
                  <a:srgbClr val="0000FF"/>
                </a:solidFill>
              </a:rPr>
              <a:t>dedicate systems </a:t>
            </a:r>
            <a:r>
              <a:rPr lang="en-US" altLang="ko-KR" sz="2000" dirty="0"/>
              <a:t>such as workstations </a:t>
            </a:r>
            <a:r>
              <a:rPr lang="en-US" altLang="ko-KR" sz="2000" dirty="0">
                <a:solidFill>
                  <a:srgbClr val="C00000"/>
                </a:solidFill>
              </a:rPr>
              <a:t>have dedicated resources but frequently use shared resources from servers</a:t>
            </a:r>
          </a:p>
          <a:p>
            <a:r>
              <a:rPr lang="en-US" altLang="ko-KR" sz="2000" dirty="0">
                <a:solidFill>
                  <a:srgbClr val="000000"/>
                </a:solidFill>
              </a:rPr>
              <a:t>Handheld computers are resource poor,  optimized for usability and battery life</a:t>
            </a:r>
          </a:p>
          <a:p>
            <a:r>
              <a:rPr lang="en-US" altLang="ko-KR" sz="2000" dirty="0">
                <a:solidFill>
                  <a:srgbClr val="000000"/>
                </a:solidFill>
              </a:rPr>
              <a:t>Some computers have little or no user interface, such as embedded computers in devices and automobiles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13</a:t>
            </a:fld>
            <a:endParaRPr lang="ko-KR" altLang="ko-KR"/>
          </a:p>
        </p:txBody>
      </p:sp>
    </p:spTree>
    <p:extLst>
      <p:ext uri="{BB962C8B-B14F-4D97-AF65-F5344CB8AC3E}">
        <p14:creationId xmlns:p14="http://schemas.microsoft.com/office/powerpoint/2010/main" val="197506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1176338" y="166688"/>
            <a:ext cx="7510462" cy="576262"/>
          </a:xfrm>
        </p:spPr>
        <p:txBody>
          <a:bodyPr/>
          <a:lstStyle/>
          <a:p>
            <a:pPr eaLnBrk="1" hangingPunct="1"/>
            <a:r>
              <a:rPr lang="en-US" altLang="ko-KR"/>
              <a:t>Operating System Definition</a:t>
            </a:r>
          </a:p>
        </p:txBody>
      </p:sp>
      <p:sp>
        <p:nvSpPr>
          <p:cNvPr id="18435" name="Rectangle 3"/>
          <p:cNvSpPr>
            <a:spLocks noGrp="1" noChangeArrowheads="1"/>
          </p:cNvSpPr>
          <p:nvPr>
            <p:ph type="body" idx="4294967295"/>
          </p:nvPr>
        </p:nvSpPr>
        <p:spPr>
          <a:xfrm>
            <a:off x="827088" y="1028700"/>
            <a:ext cx="6638925" cy="4265613"/>
          </a:xfrm>
        </p:spPr>
        <p:txBody>
          <a:bodyPr/>
          <a:lstStyle/>
          <a:p>
            <a:pPr>
              <a:buFont typeface="Monotype Sorts" pitchFamily="-84" charset="2"/>
              <a:buNone/>
            </a:pPr>
            <a:endParaRPr lang="en-US" altLang="ko-KR"/>
          </a:p>
          <a:p>
            <a:r>
              <a:rPr lang="en-US" altLang="ko-KR"/>
              <a:t>OS is a </a:t>
            </a:r>
            <a:r>
              <a:rPr lang="en-US" altLang="ko-KR" b="1">
                <a:solidFill>
                  <a:srgbClr val="3366FF"/>
                </a:solidFill>
              </a:rPr>
              <a:t>resource allocator</a:t>
            </a:r>
          </a:p>
          <a:p>
            <a:pPr lvl="1"/>
            <a:r>
              <a:rPr lang="en-US" altLang="ko-KR"/>
              <a:t>Manages all resources</a:t>
            </a:r>
          </a:p>
          <a:p>
            <a:pPr lvl="1"/>
            <a:r>
              <a:rPr lang="en-US" altLang="ko-KR"/>
              <a:t>Decides between conflicting requests for efficient and fair resource use</a:t>
            </a:r>
          </a:p>
          <a:p>
            <a:r>
              <a:rPr lang="en-US" altLang="ko-KR"/>
              <a:t>OS is a </a:t>
            </a:r>
            <a:r>
              <a:rPr lang="en-US" altLang="ko-KR" b="1">
                <a:solidFill>
                  <a:srgbClr val="3366FF"/>
                </a:solidFill>
              </a:rPr>
              <a:t>control program</a:t>
            </a:r>
          </a:p>
          <a:p>
            <a:pPr lvl="1"/>
            <a:r>
              <a:rPr lang="en-US" altLang="ko-KR"/>
              <a:t>Controls execution of programs to prevent errors and improper use of the computer</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14</a:t>
            </a:fld>
            <a:endParaRPr lang="ko-KR" altLang="ko-KR"/>
          </a:p>
        </p:txBody>
      </p:sp>
    </p:spTree>
    <p:extLst>
      <p:ext uri="{BB962C8B-B14F-4D97-AF65-F5344CB8AC3E}">
        <p14:creationId xmlns:p14="http://schemas.microsoft.com/office/powerpoint/2010/main" val="2937548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1033463" y="198438"/>
            <a:ext cx="8024812" cy="576262"/>
          </a:xfrm>
        </p:spPr>
        <p:txBody>
          <a:bodyPr/>
          <a:lstStyle/>
          <a:p>
            <a:pPr eaLnBrk="1" hangingPunct="1"/>
            <a:r>
              <a:rPr lang="en-US" altLang="ko-KR" dirty="0"/>
              <a:t>Operating System Definition (Cont.)</a:t>
            </a:r>
          </a:p>
        </p:txBody>
      </p:sp>
      <p:sp>
        <p:nvSpPr>
          <p:cNvPr id="20483" name="Rectangle 3"/>
          <p:cNvSpPr>
            <a:spLocks noGrp="1" noChangeArrowheads="1"/>
          </p:cNvSpPr>
          <p:nvPr>
            <p:ph type="body" idx="4294967295"/>
          </p:nvPr>
        </p:nvSpPr>
        <p:spPr>
          <a:xfrm>
            <a:off x="893763" y="1247775"/>
            <a:ext cx="8021637" cy="4545013"/>
          </a:xfrm>
        </p:spPr>
        <p:txBody>
          <a:bodyPr/>
          <a:lstStyle/>
          <a:p>
            <a:r>
              <a:rPr lang="en-US" altLang="ko-KR"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ko-KR"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3366FF"/>
                </a:solidFill>
              </a:rPr>
              <a:t>kernel</a:t>
            </a:r>
            <a:r>
              <a:rPr lang="en-US" altLang="ja-JP" dirty="0"/>
              <a:t>.</a:t>
            </a:r>
            <a:r>
              <a:rPr lang="en-US" altLang="ja-JP" b="1" dirty="0"/>
              <a:t>  </a:t>
            </a:r>
            <a:endParaRPr lang="en-US" altLang="ja-JP" dirty="0"/>
          </a:p>
          <a:p>
            <a:r>
              <a:rPr lang="en-US" altLang="ja-JP" dirty="0"/>
              <a:t>Everything else is either</a:t>
            </a:r>
          </a:p>
          <a:p>
            <a:pPr lvl="1"/>
            <a:r>
              <a:rPr lang="en-US" altLang="ja-JP" dirty="0"/>
              <a:t>a system program (ships with the operating system) , or</a:t>
            </a:r>
          </a:p>
          <a:p>
            <a:pPr lvl="1"/>
            <a:r>
              <a:rPr lang="en-US" altLang="ja-JP" dirty="0"/>
              <a:t>an application program.</a:t>
            </a:r>
            <a:endParaRPr lang="en-US" altLang="ko-KR"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15</a:t>
            </a:fld>
            <a:endParaRPr lang="ko-KR" altLang="ko-KR"/>
          </a:p>
        </p:txBody>
      </p:sp>
    </p:spTree>
    <p:extLst>
      <p:ext uri="{BB962C8B-B14F-4D97-AF65-F5344CB8AC3E}">
        <p14:creationId xmlns:p14="http://schemas.microsoft.com/office/powerpoint/2010/main" val="101035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57200" y="182563"/>
            <a:ext cx="8229600" cy="576262"/>
          </a:xfrm>
        </p:spPr>
        <p:txBody>
          <a:bodyPr/>
          <a:lstStyle/>
          <a:p>
            <a:pPr eaLnBrk="1" hangingPunct="1"/>
            <a:r>
              <a:rPr lang="en-US" altLang="ko-KR"/>
              <a:t>Computer Startup</a:t>
            </a:r>
          </a:p>
        </p:txBody>
      </p:sp>
      <p:sp>
        <p:nvSpPr>
          <p:cNvPr id="22531" name="Rectangle 3"/>
          <p:cNvSpPr>
            <a:spLocks noGrp="1" noChangeArrowheads="1"/>
          </p:cNvSpPr>
          <p:nvPr>
            <p:ph type="body" idx="4294967295"/>
          </p:nvPr>
        </p:nvSpPr>
        <p:spPr>
          <a:xfrm>
            <a:off x="806450" y="1233488"/>
            <a:ext cx="8108950" cy="4530725"/>
          </a:xfrm>
        </p:spPr>
        <p:txBody>
          <a:bodyPr/>
          <a:lstStyle/>
          <a:p>
            <a:r>
              <a:rPr lang="en-US" altLang="ko-KR" b="1" dirty="0">
                <a:solidFill>
                  <a:srgbClr val="3366FF"/>
                </a:solidFill>
              </a:rPr>
              <a:t>bootstrap program</a:t>
            </a:r>
            <a:r>
              <a:rPr lang="en-US" altLang="ko-KR" dirty="0">
                <a:solidFill>
                  <a:srgbClr val="3366FF"/>
                </a:solidFill>
              </a:rPr>
              <a:t> </a:t>
            </a:r>
            <a:r>
              <a:rPr lang="en-US" altLang="ko-KR" dirty="0"/>
              <a:t>is loaded at power-up or reboot</a:t>
            </a:r>
          </a:p>
          <a:p>
            <a:pPr lvl="1"/>
            <a:r>
              <a:rPr lang="en-US" altLang="ko-KR" dirty="0"/>
              <a:t>Typically stored in ROM or EPROM, generally known as </a:t>
            </a:r>
            <a:r>
              <a:rPr lang="en-US" altLang="ko-KR" b="1" dirty="0">
                <a:solidFill>
                  <a:srgbClr val="3366FF"/>
                </a:solidFill>
              </a:rPr>
              <a:t>firmware</a:t>
            </a:r>
          </a:p>
          <a:p>
            <a:pPr lvl="1"/>
            <a:r>
              <a:rPr lang="en-US" altLang="ko-KR" dirty="0"/>
              <a:t>Initializes all aspects of system</a:t>
            </a:r>
          </a:p>
          <a:p>
            <a:pPr lvl="1"/>
            <a:r>
              <a:rPr lang="en-US" altLang="ko-KR" dirty="0"/>
              <a:t>Loads operating system kernel and starts execution</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16</a:t>
            </a:fld>
            <a:endParaRPr lang="ko-KR" altLang="ko-KR"/>
          </a:p>
        </p:txBody>
      </p:sp>
    </p:spTree>
    <p:extLst>
      <p:ext uri="{BB962C8B-B14F-4D97-AF65-F5344CB8AC3E}">
        <p14:creationId xmlns:p14="http://schemas.microsoft.com/office/powerpoint/2010/main" val="12647688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457200" y="214313"/>
            <a:ext cx="8229600" cy="576262"/>
          </a:xfrm>
        </p:spPr>
        <p:txBody>
          <a:bodyPr/>
          <a:lstStyle/>
          <a:p>
            <a:pPr eaLnBrk="1" hangingPunct="1"/>
            <a:r>
              <a:rPr lang="en-US" altLang="ko-KR"/>
              <a:t>Computer System Organization</a:t>
            </a:r>
          </a:p>
        </p:txBody>
      </p:sp>
      <p:sp>
        <p:nvSpPr>
          <p:cNvPr id="24579" name="Rectangle 3"/>
          <p:cNvSpPr>
            <a:spLocks noGrp="1" noChangeArrowheads="1"/>
          </p:cNvSpPr>
          <p:nvPr>
            <p:ph type="body" idx="4294967295"/>
          </p:nvPr>
        </p:nvSpPr>
        <p:spPr>
          <a:xfrm>
            <a:off x="815975" y="1233488"/>
            <a:ext cx="7597775" cy="4530725"/>
          </a:xfrm>
        </p:spPr>
        <p:txBody>
          <a:bodyPr/>
          <a:lstStyle/>
          <a:p>
            <a:r>
              <a:rPr lang="en-US" altLang="ko-KR" dirty="0"/>
              <a:t>Computer-system operation</a:t>
            </a:r>
          </a:p>
          <a:p>
            <a:pPr lvl="1"/>
            <a:r>
              <a:rPr lang="en-US" altLang="ko-KR" dirty="0">
                <a:solidFill>
                  <a:srgbClr val="0000FF"/>
                </a:solidFill>
              </a:rPr>
              <a:t>One or more CPUs, device controllers connect through common bus providing access to shared memory</a:t>
            </a:r>
          </a:p>
          <a:p>
            <a:pPr lvl="1"/>
            <a:r>
              <a:rPr lang="en-US" altLang="ko-KR" dirty="0">
                <a:solidFill>
                  <a:srgbClr val="0000FF"/>
                </a:solidFill>
              </a:rPr>
              <a:t>Concurrent execution of CPUs and devices competing for memory cycles</a:t>
            </a:r>
          </a:p>
          <a:p>
            <a:pPr lvl="1"/>
            <a:endParaRPr lang="en-US" altLang="ko-KR" dirty="0"/>
          </a:p>
        </p:txBody>
      </p:sp>
      <p:pic>
        <p:nvPicPr>
          <p:cNvPr id="2458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5938" y="2963863"/>
            <a:ext cx="6059487" cy="299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17</a:t>
            </a:fld>
            <a:endParaRPr lang="ko-KR" altLang="ko-KR"/>
          </a:p>
        </p:txBody>
      </p:sp>
    </p:spTree>
    <p:extLst>
      <p:ext uri="{BB962C8B-B14F-4D97-AF65-F5344CB8AC3E}">
        <p14:creationId xmlns:p14="http://schemas.microsoft.com/office/powerpoint/2010/main" val="1182670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a:xfrm>
            <a:off x="457200" y="182563"/>
            <a:ext cx="8229600" cy="576262"/>
          </a:xfrm>
        </p:spPr>
        <p:txBody>
          <a:bodyPr/>
          <a:lstStyle/>
          <a:p>
            <a:pPr eaLnBrk="1" hangingPunct="1"/>
            <a:r>
              <a:rPr lang="en-US" altLang="ko-KR"/>
              <a:t>Computer-System Operation</a:t>
            </a:r>
          </a:p>
        </p:txBody>
      </p:sp>
      <p:sp>
        <p:nvSpPr>
          <p:cNvPr id="26627" name="Rectangle 3"/>
          <p:cNvSpPr>
            <a:spLocks noGrp="1" noChangeArrowheads="1"/>
          </p:cNvSpPr>
          <p:nvPr>
            <p:ph type="body" idx="4294967295"/>
          </p:nvPr>
        </p:nvSpPr>
        <p:spPr>
          <a:xfrm>
            <a:off x="806450" y="1233488"/>
            <a:ext cx="8032750" cy="4530725"/>
          </a:xfrm>
        </p:spPr>
        <p:txBody>
          <a:bodyPr/>
          <a:lstStyle/>
          <a:p>
            <a:r>
              <a:rPr lang="en-US" altLang="ko-KR" dirty="0"/>
              <a:t>I/O devices and the CPU can execute concurrently</a:t>
            </a:r>
            <a:endParaRPr lang="en-US" altLang="ko-KR" sz="800" dirty="0"/>
          </a:p>
          <a:p>
            <a:r>
              <a:rPr lang="en-US" altLang="ko-KR" dirty="0"/>
              <a:t>Each device controller is in charge of a particular device type</a:t>
            </a:r>
            <a:endParaRPr lang="en-US" altLang="ko-KR" sz="800" dirty="0"/>
          </a:p>
          <a:p>
            <a:r>
              <a:rPr lang="en-US" altLang="ko-KR" dirty="0"/>
              <a:t>Each device controller has a local buffer</a:t>
            </a:r>
            <a:endParaRPr lang="en-US" altLang="ko-KR" sz="800" dirty="0"/>
          </a:p>
          <a:p>
            <a:r>
              <a:rPr lang="en-US" altLang="ko-KR" dirty="0"/>
              <a:t>CPU moves data from/to main memory to/from local buffers</a:t>
            </a:r>
            <a:endParaRPr lang="en-US" altLang="ko-KR" sz="800" dirty="0"/>
          </a:p>
          <a:p>
            <a:r>
              <a:rPr lang="en-US" altLang="ko-KR" dirty="0"/>
              <a:t>I/O is from the device to local buffer of controller</a:t>
            </a:r>
            <a:endParaRPr lang="en-US" altLang="ko-KR" sz="800" dirty="0"/>
          </a:p>
          <a:p>
            <a:r>
              <a:rPr lang="en-US" altLang="ko-KR" dirty="0"/>
              <a:t>Device controller informs CPU that it has finished its operation by causing an </a:t>
            </a:r>
            <a:r>
              <a:rPr lang="en-US" altLang="ko-KR" dirty="0">
                <a:solidFill>
                  <a:srgbClr val="0000FF"/>
                </a:solidFill>
              </a:rPr>
              <a:t>interrupt</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18</a:t>
            </a:fld>
            <a:endParaRPr lang="ko-KR" altLang="ko-KR"/>
          </a:p>
        </p:txBody>
      </p:sp>
    </p:spTree>
    <p:extLst>
      <p:ext uri="{BB962C8B-B14F-4D97-AF65-F5344CB8AC3E}">
        <p14:creationId xmlns:p14="http://schemas.microsoft.com/office/powerpoint/2010/main" val="3108614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a:xfrm>
            <a:off x="946150" y="166688"/>
            <a:ext cx="8229600" cy="576262"/>
          </a:xfrm>
        </p:spPr>
        <p:txBody>
          <a:bodyPr/>
          <a:lstStyle/>
          <a:p>
            <a:pPr eaLnBrk="1" hangingPunct="1"/>
            <a:r>
              <a:rPr lang="en-US" altLang="ko-KR"/>
              <a:t>Common Functions of Interrupts</a:t>
            </a:r>
          </a:p>
        </p:txBody>
      </p:sp>
      <p:sp>
        <p:nvSpPr>
          <p:cNvPr id="28675" name="Rectangle 3"/>
          <p:cNvSpPr>
            <a:spLocks noGrp="1" noChangeArrowheads="1"/>
          </p:cNvSpPr>
          <p:nvPr>
            <p:ph type="body" idx="4294967295"/>
          </p:nvPr>
        </p:nvSpPr>
        <p:spPr>
          <a:xfrm>
            <a:off x="806450" y="1233488"/>
            <a:ext cx="8032750" cy="4530725"/>
          </a:xfrm>
        </p:spPr>
        <p:txBody>
          <a:bodyPr/>
          <a:lstStyle/>
          <a:p>
            <a:r>
              <a:rPr lang="en-US" altLang="ko-KR" dirty="0"/>
              <a:t>Interrupt transfers control to the interrupt service routine generally, through the </a:t>
            </a:r>
            <a:r>
              <a:rPr lang="en-US" altLang="ko-KR" b="1" dirty="0">
                <a:solidFill>
                  <a:srgbClr val="3366FF"/>
                </a:solidFill>
              </a:rPr>
              <a:t>interrupt</a:t>
            </a:r>
            <a:r>
              <a:rPr lang="en-US" altLang="ko-KR" i="1" dirty="0"/>
              <a:t> </a:t>
            </a:r>
            <a:r>
              <a:rPr lang="en-US" altLang="ko-KR" b="1" dirty="0">
                <a:solidFill>
                  <a:srgbClr val="3366FF"/>
                </a:solidFill>
              </a:rPr>
              <a:t>vector</a:t>
            </a:r>
            <a:r>
              <a:rPr lang="en-US" altLang="ko-KR" dirty="0"/>
              <a:t>, which contains the addresses of all the service routines</a:t>
            </a:r>
            <a:endParaRPr lang="en-US" altLang="ko-KR" sz="800" dirty="0"/>
          </a:p>
          <a:p>
            <a:r>
              <a:rPr lang="en-US" altLang="ko-KR" dirty="0"/>
              <a:t>Interrupt architecture must save the address of the interrupted instruction</a:t>
            </a:r>
            <a:endParaRPr lang="en-US" altLang="ko-KR" sz="800" i="1" dirty="0"/>
          </a:p>
          <a:p>
            <a:r>
              <a:rPr lang="en-US" altLang="ko-KR" dirty="0"/>
              <a:t>A </a:t>
            </a:r>
            <a:r>
              <a:rPr lang="en-US" altLang="ko-KR" b="1" dirty="0">
                <a:solidFill>
                  <a:srgbClr val="3366FF"/>
                </a:solidFill>
              </a:rPr>
              <a:t>trap</a:t>
            </a:r>
            <a:r>
              <a:rPr lang="en-US" altLang="ko-KR" dirty="0"/>
              <a:t> or </a:t>
            </a:r>
            <a:r>
              <a:rPr lang="en-US" altLang="ko-KR" b="1" dirty="0">
                <a:solidFill>
                  <a:srgbClr val="3366FF"/>
                </a:solidFill>
              </a:rPr>
              <a:t>exception</a:t>
            </a:r>
            <a:r>
              <a:rPr lang="en-US" altLang="ko-KR" dirty="0"/>
              <a:t> is a software-generated interrupt caused either by an error or a user request</a:t>
            </a:r>
            <a:endParaRPr lang="en-US" altLang="ko-KR" sz="800" dirty="0"/>
          </a:p>
          <a:p>
            <a:r>
              <a:rPr lang="en-US" altLang="ko-KR" dirty="0"/>
              <a:t>An operating system is </a:t>
            </a:r>
            <a:r>
              <a:rPr lang="en-US" altLang="ko-KR" b="1" dirty="0">
                <a:solidFill>
                  <a:srgbClr val="3366FF"/>
                </a:solidFill>
              </a:rPr>
              <a:t>interrupt driven</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19</a:t>
            </a:fld>
            <a:endParaRPr lang="ko-KR" altLang="ko-KR"/>
          </a:p>
        </p:txBody>
      </p:sp>
    </p:spTree>
    <p:extLst>
      <p:ext uri="{BB962C8B-B14F-4D97-AF65-F5344CB8AC3E}">
        <p14:creationId xmlns:p14="http://schemas.microsoft.com/office/powerpoint/2010/main" val="2221264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idx="4294967295"/>
          </p:nvPr>
        </p:nvSpPr>
        <p:spPr>
          <a:xfrm>
            <a:off x="1063625" y="-95250"/>
            <a:ext cx="7772400" cy="844550"/>
          </a:xfrm>
        </p:spPr>
        <p:txBody>
          <a:bodyPr/>
          <a:lstStyle/>
          <a:p>
            <a:pPr eaLnBrk="1" hangingPunct="1"/>
            <a:r>
              <a:rPr lang="en-US" altLang="ko-KR"/>
              <a:t>Interrupt Handling</a:t>
            </a:r>
          </a:p>
        </p:txBody>
      </p:sp>
      <p:sp>
        <p:nvSpPr>
          <p:cNvPr id="30723" name="Rectangle 3"/>
          <p:cNvSpPr>
            <a:spLocks noGrp="1" noChangeArrowheads="1"/>
          </p:cNvSpPr>
          <p:nvPr>
            <p:ph type="body" idx="4294967295"/>
          </p:nvPr>
        </p:nvSpPr>
        <p:spPr>
          <a:xfrm>
            <a:off x="806450" y="1233488"/>
            <a:ext cx="6619875" cy="4530725"/>
          </a:xfrm>
        </p:spPr>
        <p:txBody>
          <a:bodyPr/>
          <a:lstStyle/>
          <a:p>
            <a:r>
              <a:rPr lang="en-US" altLang="ko-KR"/>
              <a:t>The operating system preserves the state of the CPU by storing registers and the program counter</a:t>
            </a:r>
          </a:p>
          <a:p>
            <a:r>
              <a:rPr lang="en-US" altLang="ko-KR"/>
              <a:t>Determines which type of interrupt has occurred:</a:t>
            </a:r>
          </a:p>
          <a:p>
            <a:pPr lvl="1"/>
            <a:r>
              <a:rPr lang="en-US" altLang="ko-KR" b="1">
                <a:solidFill>
                  <a:srgbClr val="3366FF"/>
                </a:solidFill>
              </a:rPr>
              <a:t>polling</a:t>
            </a:r>
          </a:p>
          <a:p>
            <a:pPr lvl="1"/>
            <a:r>
              <a:rPr lang="en-US" altLang="ko-KR" b="1">
                <a:solidFill>
                  <a:srgbClr val="3366FF"/>
                </a:solidFill>
              </a:rPr>
              <a:t>vectored</a:t>
            </a:r>
            <a:r>
              <a:rPr lang="en-US" altLang="ko-KR"/>
              <a:t> interrupt system</a:t>
            </a:r>
          </a:p>
          <a:p>
            <a:r>
              <a:rPr lang="en-US" altLang="ko-KR"/>
              <a:t>Separate segments of code determine what action should be taken for each type of interrupt</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20</a:t>
            </a:fld>
            <a:endParaRPr lang="ko-KR" altLang="ko-KR"/>
          </a:p>
        </p:txBody>
      </p:sp>
    </p:spTree>
    <p:extLst>
      <p:ext uri="{BB962C8B-B14F-4D97-AF65-F5344CB8AC3E}">
        <p14:creationId xmlns:p14="http://schemas.microsoft.com/office/powerpoint/2010/main" val="4110954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a:xfrm>
            <a:off x="457200" y="214313"/>
            <a:ext cx="8229600" cy="576262"/>
          </a:xfrm>
        </p:spPr>
        <p:txBody>
          <a:bodyPr/>
          <a:lstStyle/>
          <a:p>
            <a:pPr eaLnBrk="1" hangingPunct="1"/>
            <a:r>
              <a:rPr lang="en-US" altLang="ko-KR"/>
              <a:t>Interrupt Timeline</a:t>
            </a:r>
          </a:p>
        </p:txBody>
      </p:sp>
      <p:pic>
        <p:nvPicPr>
          <p:cNvPr id="3277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5" y="1277938"/>
            <a:ext cx="626427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21</a:t>
            </a:fld>
            <a:endParaRPr lang="ko-KR" altLang="ko-KR"/>
          </a:p>
        </p:txBody>
      </p:sp>
      <p:cxnSp>
        <p:nvCxnSpPr>
          <p:cNvPr id="5" name="직선 화살표 연결선 4"/>
          <p:cNvCxnSpPr/>
          <p:nvPr/>
        </p:nvCxnSpPr>
        <p:spPr bwMode="auto">
          <a:xfrm flipV="1">
            <a:off x="4876800" y="2362200"/>
            <a:ext cx="152400" cy="53340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cxnSp>
        <p:nvCxnSpPr>
          <p:cNvPr id="8" name="직선 화살표 연결선 7"/>
          <p:cNvCxnSpPr/>
          <p:nvPr/>
        </p:nvCxnSpPr>
        <p:spPr bwMode="auto">
          <a:xfrm flipV="1">
            <a:off x="6858000" y="2362200"/>
            <a:ext cx="152400" cy="533400"/>
          </a:xfrm>
          <a:prstGeom prst="straightConnector1">
            <a:avLst/>
          </a:prstGeom>
          <a:solidFill>
            <a:schemeClr val="accent1"/>
          </a:solidFill>
          <a:ln w="25400" cap="flat" cmpd="sng" algn="ctr">
            <a:solidFill>
              <a:srgbClr val="FF0000"/>
            </a:solidFill>
            <a:prstDash val="solid"/>
            <a:round/>
            <a:headEnd type="none" w="med" len="med"/>
            <a:tailEnd type="triangle"/>
          </a:ln>
          <a:effectLst/>
        </p:spPr>
      </p:cxnSp>
      <p:sp>
        <p:nvSpPr>
          <p:cNvPr id="6" name="타원 5"/>
          <p:cNvSpPr/>
          <p:nvPr/>
        </p:nvSpPr>
        <p:spPr bwMode="auto">
          <a:xfrm>
            <a:off x="4343400" y="3581400"/>
            <a:ext cx="1066800" cy="914400"/>
          </a:xfrm>
          <a:prstGeom prst="ellipse">
            <a:avLst/>
          </a:prstGeom>
          <a:noFill/>
          <a:ln w="25400" cap="flat" cmpd="sng" algn="ctr">
            <a:solidFill>
              <a:srgbClr val="FF0000"/>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1" eaLnBrk="1" fontAlgn="base" latinLnBrk="0" hangingPunct="1">
              <a:lnSpc>
                <a:spcPct val="100000"/>
              </a:lnSpc>
              <a:spcBef>
                <a:spcPct val="0"/>
              </a:spcBef>
              <a:spcAft>
                <a:spcPct val="0"/>
              </a:spcAft>
              <a:buClrTx/>
              <a:buSzTx/>
              <a:buFontTx/>
              <a:buNone/>
              <a:tabLst/>
            </a:pPr>
            <a:endParaRPr kumimoji="0" lang="ko-KR" altLang="en-US" sz="2800" b="0" i="0" u="none" strike="noStrike" cap="none" normalizeH="0" baseline="0">
              <a:ln>
                <a:noFill/>
              </a:ln>
              <a:solidFill>
                <a:schemeClr val="tx1"/>
              </a:solidFill>
              <a:effectLst/>
              <a:latin typeface="Tahoma" pitchFamily="34" charset="0"/>
              <a:cs typeface="Times New Roman (Hebrew)" charset="-79"/>
            </a:endParaRPr>
          </a:p>
        </p:txBody>
      </p:sp>
      <p:sp>
        <p:nvSpPr>
          <p:cNvPr id="10" name="타원 9"/>
          <p:cNvSpPr/>
          <p:nvPr/>
        </p:nvSpPr>
        <p:spPr bwMode="auto">
          <a:xfrm>
            <a:off x="6324600" y="3581400"/>
            <a:ext cx="1066800" cy="914400"/>
          </a:xfrm>
          <a:prstGeom prst="ellipse">
            <a:avLst/>
          </a:prstGeom>
          <a:noFill/>
          <a:ln w="25400" cap="flat" cmpd="sng" algn="ctr">
            <a:solidFill>
              <a:srgbClr val="FF0000"/>
            </a:solidFill>
            <a:prstDash val="solid"/>
            <a:round/>
            <a:headEnd type="none" w="med" len="med"/>
            <a:tailEnd type="triangle" w="med" len="med"/>
          </a:ln>
          <a:effectLst/>
        </p:spPr>
        <p:txBody>
          <a:bodyPr vert="horz" wrap="none" lIns="91440" tIns="45720" rIns="91440" bIns="45720" numCol="1" rtlCol="0" anchor="t" anchorCtr="0" compatLnSpc="1">
            <a:prstTxWarp prst="textNoShape">
              <a:avLst/>
            </a:prstTxWarp>
            <a:spAutoFit/>
          </a:bodyPr>
          <a:lstStyle/>
          <a:p>
            <a:pPr marL="0" marR="0" indent="0" algn="ctr" defTabSz="914400" rtl="1" eaLnBrk="1" fontAlgn="base" latinLnBrk="0" hangingPunct="1">
              <a:lnSpc>
                <a:spcPct val="100000"/>
              </a:lnSpc>
              <a:spcBef>
                <a:spcPct val="0"/>
              </a:spcBef>
              <a:spcAft>
                <a:spcPct val="0"/>
              </a:spcAft>
              <a:buClrTx/>
              <a:buSzTx/>
              <a:buFontTx/>
              <a:buNone/>
              <a:tabLst/>
            </a:pPr>
            <a:endParaRPr kumimoji="0" lang="ko-KR" altLang="en-US" sz="2800" b="0" i="0" u="none" strike="noStrike" cap="none" normalizeH="0" baseline="0">
              <a:ln>
                <a:noFill/>
              </a:ln>
              <a:solidFill>
                <a:schemeClr val="tx1"/>
              </a:solidFill>
              <a:effectLst/>
              <a:latin typeface="Tahoma" pitchFamily="34" charset="0"/>
              <a:cs typeface="Times New Roman (Hebrew)" charset="-79"/>
            </a:endParaRPr>
          </a:p>
        </p:txBody>
      </p:sp>
    </p:spTree>
    <p:extLst>
      <p:ext uri="{BB962C8B-B14F-4D97-AF65-F5344CB8AC3E}">
        <p14:creationId xmlns:p14="http://schemas.microsoft.com/office/powerpoint/2010/main" val="2240720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p:txBody>
          <a:bodyPr/>
          <a:lstStyle/>
          <a:p>
            <a:pPr eaLnBrk="1" hangingPunct="1"/>
            <a:r>
              <a:rPr lang="en-US" altLang="ko-KR"/>
              <a:t>I/O Structure</a:t>
            </a:r>
          </a:p>
        </p:txBody>
      </p:sp>
      <p:sp>
        <p:nvSpPr>
          <p:cNvPr id="34819" name="Rectangle 3"/>
          <p:cNvSpPr>
            <a:spLocks noGrp="1" noChangeArrowheads="1"/>
          </p:cNvSpPr>
          <p:nvPr>
            <p:ph type="body" idx="4294967295"/>
          </p:nvPr>
        </p:nvSpPr>
        <p:spPr>
          <a:xfrm>
            <a:off x="895350" y="1244600"/>
            <a:ext cx="6845300" cy="4583113"/>
          </a:xfrm>
        </p:spPr>
        <p:txBody>
          <a:bodyPr/>
          <a:lstStyle/>
          <a:p>
            <a:pPr>
              <a:lnSpc>
                <a:spcPct val="90000"/>
              </a:lnSpc>
            </a:pPr>
            <a:r>
              <a:rPr lang="en-US" altLang="ko-KR" dirty="0"/>
              <a:t>After I/O starts, control returns to user program only upon I/O completion</a:t>
            </a:r>
          </a:p>
          <a:p>
            <a:pPr lvl="1">
              <a:lnSpc>
                <a:spcPct val="90000"/>
              </a:lnSpc>
              <a:tabLst>
                <a:tab pos="1074738" algn="l"/>
              </a:tabLst>
            </a:pPr>
            <a:r>
              <a:rPr lang="en-US" altLang="ko-KR" dirty="0">
                <a:solidFill>
                  <a:srgbClr val="0000FF"/>
                </a:solidFill>
              </a:rPr>
              <a:t>Wait instruction idles the CPU </a:t>
            </a:r>
            <a:r>
              <a:rPr lang="en-US" altLang="ko-KR" dirty="0"/>
              <a:t>until the next interrupt</a:t>
            </a:r>
          </a:p>
          <a:p>
            <a:pPr lvl="1">
              <a:lnSpc>
                <a:spcPct val="90000"/>
              </a:lnSpc>
            </a:pPr>
            <a:r>
              <a:rPr lang="en-US" altLang="ko-KR" dirty="0">
                <a:solidFill>
                  <a:srgbClr val="0000FF"/>
                </a:solidFill>
              </a:rPr>
              <a:t>Wait loop (contention for memory access)</a:t>
            </a:r>
          </a:p>
          <a:p>
            <a:pPr lvl="1">
              <a:lnSpc>
                <a:spcPct val="90000"/>
              </a:lnSpc>
            </a:pPr>
            <a:r>
              <a:rPr lang="en-US" altLang="ko-KR" dirty="0">
                <a:solidFill>
                  <a:srgbClr val="0000FF"/>
                </a:solidFill>
              </a:rPr>
              <a:t>At most one I/O request is outstanding at a time, no simultaneous I/O processing</a:t>
            </a:r>
          </a:p>
          <a:p>
            <a:pPr>
              <a:lnSpc>
                <a:spcPct val="90000"/>
              </a:lnSpc>
            </a:pPr>
            <a:r>
              <a:rPr lang="en-US" altLang="ko-KR" dirty="0"/>
              <a:t>After I/O starts, control returns to user program without waiting for I/O completion</a:t>
            </a:r>
          </a:p>
          <a:p>
            <a:pPr lvl="1">
              <a:lnSpc>
                <a:spcPct val="90000"/>
              </a:lnSpc>
            </a:pPr>
            <a:r>
              <a:rPr lang="en-US" altLang="ko-KR" b="1" dirty="0">
                <a:solidFill>
                  <a:srgbClr val="3366FF"/>
                </a:solidFill>
              </a:rPr>
              <a:t>System call </a:t>
            </a:r>
            <a:r>
              <a:rPr lang="en-US" altLang="ko-KR" dirty="0"/>
              <a:t>– request to the OS to allow user to wait for I/O completion</a:t>
            </a:r>
          </a:p>
          <a:p>
            <a:pPr lvl="1">
              <a:lnSpc>
                <a:spcPct val="90000"/>
              </a:lnSpc>
            </a:pPr>
            <a:r>
              <a:rPr lang="en-US" altLang="ko-KR" b="1" dirty="0">
                <a:solidFill>
                  <a:srgbClr val="3366FF"/>
                </a:solidFill>
              </a:rPr>
              <a:t>Device-status table </a:t>
            </a:r>
            <a:r>
              <a:rPr lang="en-US" altLang="ko-KR" dirty="0"/>
              <a:t>contains entry for each I/O device indicating its type, address, and state</a:t>
            </a:r>
          </a:p>
          <a:p>
            <a:pPr lvl="1">
              <a:lnSpc>
                <a:spcPct val="90000"/>
              </a:lnSpc>
            </a:pPr>
            <a:r>
              <a:rPr lang="en-US" altLang="ko-KR" dirty="0"/>
              <a:t>OS indexes into I/O device table to determine device status and to modify table entry to include interrupt</a:t>
            </a:r>
          </a:p>
          <a:p>
            <a:pPr lvl="1">
              <a:lnSpc>
                <a:spcPct val="90000"/>
              </a:lnSpc>
            </a:pPr>
            <a:endParaRPr lang="en-US" altLang="ko-KR"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22</a:t>
            </a:fld>
            <a:endParaRPr lang="ko-KR" altLang="ko-KR"/>
          </a:p>
        </p:txBody>
      </p:sp>
    </p:spTree>
    <p:extLst>
      <p:ext uri="{BB962C8B-B14F-4D97-AF65-F5344CB8AC3E}">
        <p14:creationId xmlns:p14="http://schemas.microsoft.com/office/powerpoint/2010/main" val="227642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3"/>
          <p:cNvSpPr>
            <a:spLocks noGrp="1"/>
          </p:cNvSpPr>
          <p:nvPr>
            <p:ph type="title"/>
          </p:nvPr>
        </p:nvSpPr>
        <p:spPr>
          <a:xfrm>
            <a:off x="1287463" y="277813"/>
            <a:ext cx="7399337" cy="576262"/>
          </a:xfrm>
        </p:spPr>
        <p:txBody>
          <a:bodyPr/>
          <a:lstStyle/>
          <a:p>
            <a:r>
              <a:rPr lang="en-US" altLang="ko-KR" sz="2800"/>
              <a:t>Storage Definitions and Notation Review</a:t>
            </a:r>
          </a:p>
        </p:txBody>
      </p:sp>
      <p:sp>
        <p:nvSpPr>
          <p:cNvPr id="36867" name="Rectangle 5"/>
          <p:cNvSpPr>
            <a:spLocks noChangeArrowheads="1"/>
          </p:cNvSpPr>
          <p:nvPr/>
        </p:nvSpPr>
        <p:spPr bwMode="auto">
          <a:xfrm>
            <a:off x="747713" y="1177925"/>
            <a:ext cx="7440612" cy="51911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ko-KR" sz="1400" dirty="0">
                <a:latin typeface="Verdana" panose="020B0604030504040204" pitchFamily="34" charset="0"/>
              </a:rPr>
              <a:t>The basic unit of computer storage is the </a:t>
            </a:r>
            <a:r>
              <a:rPr kumimoji="0" lang="en-US" altLang="ko-KR" sz="1400" b="1" dirty="0">
                <a:latin typeface="Verdana" panose="020B0604030504040204" pitchFamily="34" charset="0"/>
              </a:rPr>
              <a:t>bit</a:t>
            </a:r>
            <a:r>
              <a:rPr kumimoji="0" lang="en-US" altLang="ko-KR" sz="1400" dirty="0">
                <a:latin typeface="Verdana" panose="020B0604030504040204" pitchFamily="34" charset="0"/>
              </a:rPr>
              <a:t>. A bit can contain one of two values, 0 and 1. All other storage in a computer is based on collections of bits. Given enough bits, it is amazing how many things a computer can represent: numbers, letters, images, movies, sounds, documents, and programs, to name a few. A </a:t>
            </a:r>
            <a:r>
              <a:rPr kumimoji="0" lang="en-US" altLang="ko-KR" sz="1400" b="1" dirty="0">
                <a:latin typeface="Verdana" panose="020B0604030504040204" pitchFamily="34" charset="0"/>
              </a:rPr>
              <a:t>byte </a:t>
            </a:r>
            <a:r>
              <a:rPr kumimoji="0" lang="en-US" altLang="ko-KR" sz="1400" dirty="0">
                <a:latin typeface="Verdana" panose="020B0604030504040204" pitchFamily="34" charset="0"/>
              </a:rPr>
              <a:t>is 8 bits, and on most computers it is the smallest convenient chunk of storage. For example, most computers don</a:t>
            </a:r>
            <a:r>
              <a:rPr kumimoji="0" lang="en-US" altLang="en-US" sz="1400" dirty="0">
                <a:latin typeface="Verdana" panose="020B0604030504040204" pitchFamily="34" charset="0"/>
              </a:rPr>
              <a:t>’</a:t>
            </a:r>
            <a:r>
              <a:rPr kumimoji="0" lang="en-US" altLang="ko-KR" sz="1400" dirty="0">
                <a:latin typeface="Verdana" panose="020B0604030504040204" pitchFamily="34" charset="0"/>
              </a:rPr>
              <a:t>t have an instruction to move a bit but do have one to move a byte. A less common term is </a:t>
            </a:r>
            <a:r>
              <a:rPr kumimoji="0" lang="en-US" altLang="ko-KR" sz="1400" b="1" dirty="0">
                <a:latin typeface="Verdana" panose="020B0604030504040204" pitchFamily="34" charset="0"/>
              </a:rPr>
              <a:t>word</a:t>
            </a:r>
            <a:r>
              <a:rPr kumimoji="0" lang="en-US" altLang="ko-KR" sz="1400" dirty="0">
                <a:latin typeface="Verdana" panose="020B0604030504040204" pitchFamily="34" charset="0"/>
              </a:rPr>
              <a:t>, which is a given computer architecture</a:t>
            </a:r>
            <a:r>
              <a:rPr kumimoji="0" lang="en-US" altLang="en-US" sz="1400" dirty="0">
                <a:latin typeface="Verdana" panose="020B0604030504040204" pitchFamily="34" charset="0"/>
              </a:rPr>
              <a:t>’</a:t>
            </a:r>
            <a:r>
              <a:rPr kumimoji="0" lang="en-US" altLang="ko-KR" sz="1400" dirty="0">
                <a:latin typeface="Verdana" panose="020B0604030504040204" pitchFamily="34" charset="0"/>
              </a:rPr>
              <a:t>s native unit of data. A word is made up of one or more bytes. For example, a computer that has 64-bit registers and 64-bit memory addressing typically has 64-bit (8-byte) words. A computer executes many operations in its native word size rather than a byte at a time.</a:t>
            </a:r>
          </a:p>
          <a:p>
            <a:pPr>
              <a:spcBef>
                <a:spcPct val="0"/>
              </a:spcBef>
              <a:buClrTx/>
              <a:buSzTx/>
              <a:buFontTx/>
              <a:buNone/>
            </a:pPr>
            <a:endParaRPr kumimoji="0" lang="en-US" altLang="ko-KR" sz="1400" baseline="-25000" dirty="0">
              <a:latin typeface="Verdana" panose="020B0604030504040204" pitchFamily="34" charset="0"/>
            </a:endParaRPr>
          </a:p>
          <a:p>
            <a:pPr>
              <a:spcBef>
                <a:spcPct val="0"/>
              </a:spcBef>
              <a:buClrTx/>
              <a:buSzTx/>
              <a:buFontTx/>
              <a:buNone/>
            </a:pPr>
            <a:r>
              <a:rPr kumimoji="0" lang="en-US" altLang="ko-KR" sz="1400" dirty="0">
                <a:latin typeface="Verdana" panose="020B0604030504040204" pitchFamily="34" charset="0"/>
              </a:rPr>
              <a:t>Computer storage, along with most computer throughput, is generally measured and manipulated in bytes and collections of bytes. </a:t>
            </a:r>
          </a:p>
          <a:p>
            <a:pPr>
              <a:spcBef>
                <a:spcPct val="0"/>
              </a:spcBef>
              <a:buClrTx/>
              <a:buSzTx/>
              <a:buFontTx/>
              <a:buNone/>
            </a:pPr>
            <a:r>
              <a:rPr kumimoji="0" lang="en-US" altLang="ko-KR" sz="1400" dirty="0">
                <a:latin typeface="Verdana" panose="020B0604030504040204" pitchFamily="34" charset="0"/>
              </a:rPr>
              <a:t>A </a:t>
            </a:r>
            <a:r>
              <a:rPr kumimoji="0" lang="en-US" altLang="ko-KR" sz="1400" b="1" dirty="0">
                <a:latin typeface="Verdana" panose="020B0604030504040204" pitchFamily="34" charset="0"/>
              </a:rPr>
              <a:t>kilobyte</a:t>
            </a:r>
            <a:r>
              <a:rPr kumimoji="0" lang="en-US" altLang="ko-KR" sz="1400" dirty="0">
                <a:latin typeface="Verdana" panose="020B0604030504040204" pitchFamily="34" charset="0"/>
              </a:rPr>
              <a:t>, or </a:t>
            </a:r>
            <a:r>
              <a:rPr kumimoji="0" lang="en-US" altLang="ko-KR" sz="1400" b="1" dirty="0">
                <a:latin typeface="Verdana" panose="020B0604030504040204" pitchFamily="34" charset="0"/>
              </a:rPr>
              <a:t>KB</a:t>
            </a:r>
            <a:r>
              <a:rPr kumimoji="0" lang="en-US" altLang="ko-KR" sz="1400" dirty="0">
                <a:latin typeface="Verdana" panose="020B0604030504040204" pitchFamily="34" charset="0"/>
              </a:rPr>
              <a:t>, is 1,024 bytes</a:t>
            </a:r>
            <a:r>
              <a:rPr kumimoji="0" lang="en-US" altLang="ko-KR" sz="1400" b="1" dirty="0">
                <a:solidFill>
                  <a:srgbClr val="C00000"/>
                </a:solidFill>
                <a:latin typeface="Verdana" panose="020B0604030504040204" pitchFamily="34" charset="0"/>
              </a:rPr>
              <a:t>  (2^10), 10^3</a:t>
            </a:r>
          </a:p>
          <a:p>
            <a:pPr>
              <a:spcBef>
                <a:spcPct val="0"/>
              </a:spcBef>
              <a:buClrTx/>
              <a:buSzTx/>
              <a:buFontTx/>
              <a:buNone/>
            </a:pPr>
            <a:r>
              <a:rPr kumimoji="0" lang="en-US" altLang="ko-KR" sz="1400" dirty="0">
                <a:latin typeface="Verdana" panose="020B0604030504040204" pitchFamily="34" charset="0"/>
              </a:rPr>
              <a:t>a </a:t>
            </a:r>
            <a:r>
              <a:rPr kumimoji="0" lang="en-US" altLang="ko-KR" sz="1400" b="1" dirty="0">
                <a:latin typeface="Verdana" panose="020B0604030504040204" pitchFamily="34" charset="0"/>
              </a:rPr>
              <a:t>megabyte</a:t>
            </a:r>
            <a:r>
              <a:rPr kumimoji="0" lang="en-US" altLang="ko-KR" sz="1400" dirty="0">
                <a:latin typeface="Verdana" panose="020B0604030504040204" pitchFamily="34" charset="0"/>
              </a:rPr>
              <a:t>, or </a:t>
            </a:r>
            <a:r>
              <a:rPr kumimoji="0" lang="en-US" altLang="ko-KR" sz="1400" b="1" dirty="0">
                <a:latin typeface="Verdana" panose="020B0604030504040204" pitchFamily="34" charset="0"/>
              </a:rPr>
              <a:t>MB</a:t>
            </a:r>
            <a:r>
              <a:rPr kumimoji="0" lang="en-US" altLang="ko-KR" sz="1400" dirty="0">
                <a:latin typeface="Verdana" panose="020B0604030504040204" pitchFamily="34" charset="0"/>
              </a:rPr>
              <a:t>, is 1,024</a:t>
            </a:r>
            <a:r>
              <a:rPr kumimoji="0" lang="en-US" altLang="ko-KR" sz="1400" baseline="30000" dirty="0">
                <a:latin typeface="Verdana" panose="020B0604030504040204" pitchFamily="34" charset="0"/>
              </a:rPr>
              <a:t>2</a:t>
            </a:r>
            <a:r>
              <a:rPr kumimoji="0" lang="en-US" altLang="ko-KR" sz="1400" dirty="0">
                <a:latin typeface="Verdana" panose="020B0604030504040204" pitchFamily="34" charset="0"/>
              </a:rPr>
              <a:t> bytes </a:t>
            </a:r>
            <a:r>
              <a:rPr kumimoji="0" lang="en-US" altLang="ko-KR" sz="1400" b="1" dirty="0">
                <a:solidFill>
                  <a:srgbClr val="C00000"/>
                </a:solidFill>
                <a:latin typeface="Verdana" panose="020B0604030504040204" pitchFamily="34" charset="0"/>
              </a:rPr>
              <a:t> (2^20), 10^6</a:t>
            </a:r>
            <a:endParaRPr kumimoji="0" lang="en-US" altLang="ko-KR" sz="1400" dirty="0">
              <a:latin typeface="Verdana" panose="020B0604030504040204" pitchFamily="34" charset="0"/>
            </a:endParaRPr>
          </a:p>
          <a:p>
            <a:pPr>
              <a:spcBef>
                <a:spcPct val="0"/>
              </a:spcBef>
              <a:buClrTx/>
              <a:buSzTx/>
              <a:buFontTx/>
              <a:buNone/>
            </a:pPr>
            <a:r>
              <a:rPr kumimoji="0" lang="en-US" altLang="ko-KR" sz="1400" dirty="0">
                <a:latin typeface="Verdana" panose="020B0604030504040204" pitchFamily="34" charset="0"/>
              </a:rPr>
              <a:t>a </a:t>
            </a:r>
            <a:r>
              <a:rPr kumimoji="0" lang="en-US" altLang="ko-KR" sz="1400" b="1" dirty="0">
                <a:latin typeface="Verdana" panose="020B0604030504040204" pitchFamily="34" charset="0"/>
              </a:rPr>
              <a:t>gigabyte</a:t>
            </a:r>
            <a:r>
              <a:rPr kumimoji="0" lang="en-US" altLang="ko-KR" sz="1400" dirty="0">
                <a:latin typeface="Verdana" panose="020B0604030504040204" pitchFamily="34" charset="0"/>
              </a:rPr>
              <a:t>, or </a:t>
            </a:r>
            <a:r>
              <a:rPr kumimoji="0" lang="en-US" altLang="ko-KR" sz="1400" b="1" dirty="0">
                <a:latin typeface="Verdana" panose="020B0604030504040204" pitchFamily="34" charset="0"/>
              </a:rPr>
              <a:t>GB</a:t>
            </a:r>
            <a:r>
              <a:rPr kumimoji="0" lang="en-US" altLang="ko-KR" sz="1400" dirty="0">
                <a:latin typeface="Verdana" panose="020B0604030504040204" pitchFamily="34" charset="0"/>
              </a:rPr>
              <a:t>, is 1,024</a:t>
            </a:r>
            <a:r>
              <a:rPr kumimoji="0" lang="en-US" altLang="ko-KR" sz="1400" baseline="30000" dirty="0">
                <a:latin typeface="Verdana" panose="020B0604030504040204" pitchFamily="34" charset="0"/>
              </a:rPr>
              <a:t>3</a:t>
            </a:r>
            <a:r>
              <a:rPr kumimoji="0" lang="en-US" altLang="ko-KR" sz="1400" dirty="0">
                <a:latin typeface="Verdana" panose="020B0604030504040204" pitchFamily="34" charset="0"/>
              </a:rPr>
              <a:t> bytes</a:t>
            </a:r>
            <a:r>
              <a:rPr kumimoji="0" lang="en-US" altLang="ko-KR" sz="1400" b="1" dirty="0">
                <a:solidFill>
                  <a:srgbClr val="C00000"/>
                </a:solidFill>
                <a:latin typeface="Verdana" panose="020B0604030504040204" pitchFamily="34" charset="0"/>
              </a:rPr>
              <a:t> (2^30), 10^9</a:t>
            </a:r>
            <a:endParaRPr kumimoji="0" lang="en-US" altLang="ko-KR" sz="1400" dirty="0">
              <a:latin typeface="Verdana" panose="020B0604030504040204" pitchFamily="34" charset="0"/>
            </a:endParaRPr>
          </a:p>
          <a:p>
            <a:pPr>
              <a:spcBef>
                <a:spcPct val="0"/>
              </a:spcBef>
              <a:buClrTx/>
              <a:buSzTx/>
              <a:buFontTx/>
              <a:buNone/>
            </a:pPr>
            <a:r>
              <a:rPr kumimoji="0" lang="en-US" altLang="ko-KR" sz="1400" dirty="0">
                <a:latin typeface="Verdana" panose="020B0604030504040204" pitchFamily="34" charset="0"/>
              </a:rPr>
              <a:t>a </a:t>
            </a:r>
            <a:r>
              <a:rPr kumimoji="0" lang="en-US" altLang="ko-KR" sz="1400" b="1" dirty="0">
                <a:latin typeface="Verdana" panose="020B0604030504040204" pitchFamily="34" charset="0"/>
              </a:rPr>
              <a:t>terabyte</a:t>
            </a:r>
            <a:r>
              <a:rPr kumimoji="0" lang="en-US" altLang="ko-KR" sz="1400" dirty="0">
                <a:latin typeface="Verdana" panose="020B0604030504040204" pitchFamily="34" charset="0"/>
              </a:rPr>
              <a:t>, or </a:t>
            </a:r>
            <a:r>
              <a:rPr kumimoji="0" lang="en-US" altLang="ko-KR" sz="1400" b="1" dirty="0">
                <a:latin typeface="Verdana" panose="020B0604030504040204" pitchFamily="34" charset="0"/>
              </a:rPr>
              <a:t>TB</a:t>
            </a:r>
            <a:r>
              <a:rPr kumimoji="0" lang="en-US" altLang="ko-KR" sz="1400" dirty="0">
                <a:latin typeface="Verdana" panose="020B0604030504040204" pitchFamily="34" charset="0"/>
              </a:rPr>
              <a:t>, is 1,024</a:t>
            </a:r>
            <a:r>
              <a:rPr kumimoji="0" lang="en-US" altLang="ko-KR" sz="1400" baseline="30000" dirty="0">
                <a:latin typeface="Verdana" panose="020B0604030504040204" pitchFamily="34" charset="0"/>
              </a:rPr>
              <a:t>4 </a:t>
            </a:r>
            <a:r>
              <a:rPr kumimoji="0" lang="en-US" altLang="ko-KR" sz="1400" dirty="0">
                <a:latin typeface="Verdana" panose="020B0604030504040204" pitchFamily="34" charset="0"/>
              </a:rPr>
              <a:t>bytes </a:t>
            </a:r>
            <a:r>
              <a:rPr kumimoji="0" lang="en-US" altLang="ko-KR" sz="1400" b="1" dirty="0">
                <a:solidFill>
                  <a:srgbClr val="C00000"/>
                </a:solidFill>
                <a:latin typeface="Verdana" panose="020B0604030504040204" pitchFamily="34" charset="0"/>
              </a:rPr>
              <a:t> (2^40), 10^12</a:t>
            </a:r>
            <a:endParaRPr kumimoji="0" lang="en-US" altLang="ko-KR" sz="1400" dirty="0">
              <a:latin typeface="Verdana" panose="020B0604030504040204" pitchFamily="34" charset="0"/>
            </a:endParaRPr>
          </a:p>
          <a:p>
            <a:pPr>
              <a:spcBef>
                <a:spcPct val="0"/>
              </a:spcBef>
              <a:buClrTx/>
              <a:buSzTx/>
              <a:buFontTx/>
              <a:buNone/>
            </a:pPr>
            <a:r>
              <a:rPr kumimoji="0" lang="en-US" altLang="ko-KR" sz="1400" dirty="0">
                <a:latin typeface="Verdana" panose="020B0604030504040204" pitchFamily="34" charset="0"/>
              </a:rPr>
              <a:t>a </a:t>
            </a:r>
            <a:r>
              <a:rPr kumimoji="0" lang="en-US" altLang="ko-KR" sz="1400" b="1" dirty="0">
                <a:latin typeface="Verdana" panose="020B0604030504040204" pitchFamily="34" charset="0"/>
              </a:rPr>
              <a:t>petabyte</a:t>
            </a:r>
            <a:r>
              <a:rPr kumimoji="0" lang="en-US" altLang="ko-KR" sz="1400" dirty="0">
                <a:latin typeface="Verdana" panose="020B0604030504040204" pitchFamily="34" charset="0"/>
              </a:rPr>
              <a:t>, or </a:t>
            </a:r>
            <a:r>
              <a:rPr kumimoji="0" lang="en-US" altLang="ko-KR" sz="1400" b="1" dirty="0">
                <a:latin typeface="Verdana" panose="020B0604030504040204" pitchFamily="34" charset="0"/>
              </a:rPr>
              <a:t>PB</a:t>
            </a:r>
            <a:r>
              <a:rPr kumimoji="0" lang="en-US" altLang="ko-KR" sz="1400" dirty="0">
                <a:latin typeface="Verdana" panose="020B0604030504040204" pitchFamily="34" charset="0"/>
              </a:rPr>
              <a:t>, is 1,024</a:t>
            </a:r>
            <a:r>
              <a:rPr kumimoji="0" lang="en-US" altLang="ko-KR" sz="1400" baseline="30000" dirty="0">
                <a:latin typeface="Verdana" panose="020B0604030504040204" pitchFamily="34" charset="0"/>
              </a:rPr>
              <a:t>5</a:t>
            </a:r>
            <a:r>
              <a:rPr kumimoji="0" lang="en-US" altLang="ko-KR" sz="1400" dirty="0">
                <a:latin typeface="Verdana" panose="020B0604030504040204" pitchFamily="34" charset="0"/>
              </a:rPr>
              <a:t> bytes</a:t>
            </a:r>
            <a:r>
              <a:rPr kumimoji="0" lang="en-US" altLang="ko-KR" sz="1400" b="1" dirty="0">
                <a:solidFill>
                  <a:srgbClr val="C00000"/>
                </a:solidFill>
                <a:latin typeface="Verdana" panose="020B0604030504040204" pitchFamily="34" charset="0"/>
              </a:rPr>
              <a:t> (2^50), 10^15</a:t>
            </a:r>
            <a:endParaRPr kumimoji="0" lang="en-US" altLang="ko-KR" sz="1400" dirty="0">
              <a:latin typeface="Verdana" panose="020B0604030504040204" pitchFamily="34" charset="0"/>
            </a:endParaRPr>
          </a:p>
          <a:p>
            <a:pPr>
              <a:spcBef>
                <a:spcPct val="0"/>
              </a:spcBef>
              <a:buClrTx/>
              <a:buSzTx/>
              <a:buFontTx/>
              <a:buNone/>
            </a:pPr>
            <a:endParaRPr kumimoji="0" lang="en-US" altLang="ko-KR" sz="1400" dirty="0">
              <a:latin typeface="Verdana" panose="020B0604030504040204" pitchFamily="34" charset="0"/>
            </a:endParaRPr>
          </a:p>
          <a:p>
            <a:pPr>
              <a:spcBef>
                <a:spcPct val="0"/>
              </a:spcBef>
              <a:buClrTx/>
              <a:buSzTx/>
              <a:buFontTx/>
              <a:buNone/>
            </a:pPr>
            <a:r>
              <a:rPr kumimoji="0" lang="en-US" altLang="ko-KR" sz="1400" dirty="0">
                <a:latin typeface="Verdana" panose="020B0604030504040204" pitchFamily="34" charset="0"/>
              </a:rPr>
              <a:t>Computer manufacturers often round off these numbers and say that a megabyte is 1 million bytes and a gigabyte is 1 billion bytes. Networking measurements are an exception to this general rule; they are given in bits (because networks move data a bit at a time).</a:t>
            </a:r>
          </a:p>
        </p:txBody>
      </p:sp>
      <p:sp>
        <p:nvSpPr>
          <p:cNvPr id="2" name="슬라이드 번호 개체 틀 1"/>
          <p:cNvSpPr>
            <a:spLocks noGrp="1"/>
          </p:cNvSpPr>
          <p:nvPr>
            <p:ph type="sldNum" sz="quarter" idx="12"/>
          </p:nvPr>
        </p:nvSpPr>
        <p:spPr/>
        <p:txBody>
          <a:bodyPr/>
          <a:lstStyle/>
          <a:p>
            <a:pPr>
              <a:defRPr/>
            </a:pPr>
            <a:fld id="{8F6B6D71-C84E-4D63-B1C5-D438FF08FD95}" type="slidenum">
              <a:rPr lang="en-US" altLang="ko-KR" smtClean="0"/>
              <a:pPr>
                <a:defRPr/>
              </a:pPr>
              <a:t>23</a:t>
            </a:fld>
            <a:endParaRPr lang="en-US" altLang="ko-KR"/>
          </a:p>
        </p:txBody>
      </p:sp>
    </p:spTree>
    <p:extLst>
      <p:ext uri="{BB962C8B-B14F-4D97-AF65-F5344CB8AC3E}">
        <p14:creationId xmlns:p14="http://schemas.microsoft.com/office/powerpoint/2010/main" val="57515548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57200" y="198438"/>
            <a:ext cx="8229600" cy="576262"/>
          </a:xfrm>
        </p:spPr>
        <p:txBody>
          <a:bodyPr/>
          <a:lstStyle/>
          <a:p>
            <a:pPr eaLnBrk="1" hangingPunct="1"/>
            <a:r>
              <a:rPr lang="en-US" altLang="ko-KR"/>
              <a:t>Storage Structure</a:t>
            </a:r>
          </a:p>
        </p:txBody>
      </p:sp>
      <p:sp>
        <p:nvSpPr>
          <p:cNvPr id="37891" name="Rectangle 3"/>
          <p:cNvSpPr>
            <a:spLocks noGrp="1" noChangeArrowheads="1"/>
          </p:cNvSpPr>
          <p:nvPr>
            <p:ph type="body" idx="4294967295"/>
          </p:nvPr>
        </p:nvSpPr>
        <p:spPr>
          <a:xfrm>
            <a:off x="806450" y="1138238"/>
            <a:ext cx="7612063" cy="4805362"/>
          </a:xfrm>
        </p:spPr>
        <p:txBody>
          <a:bodyPr/>
          <a:lstStyle/>
          <a:p>
            <a:r>
              <a:rPr lang="en-US" altLang="ko-KR" dirty="0">
                <a:solidFill>
                  <a:srgbClr val="C00000"/>
                </a:solidFill>
              </a:rPr>
              <a:t>Main memory </a:t>
            </a:r>
            <a:r>
              <a:rPr lang="en-US" altLang="ko-KR" dirty="0"/>
              <a:t>– only large storage media that the CPU can access directly</a:t>
            </a:r>
          </a:p>
          <a:p>
            <a:pPr lvl="1"/>
            <a:r>
              <a:rPr lang="en-US" altLang="ko-KR" sz="1600" b="1" dirty="0">
                <a:solidFill>
                  <a:srgbClr val="3366FF"/>
                </a:solidFill>
              </a:rPr>
              <a:t>Random</a:t>
            </a:r>
            <a:r>
              <a:rPr lang="en-US" altLang="ko-KR" sz="1600" dirty="0">
                <a:solidFill>
                  <a:srgbClr val="0000FF"/>
                </a:solidFill>
              </a:rPr>
              <a:t> </a:t>
            </a:r>
            <a:r>
              <a:rPr lang="en-US" altLang="ko-KR" sz="1600" b="1" dirty="0">
                <a:solidFill>
                  <a:srgbClr val="3366FF"/>
                </a:solidFill>
              </a:rPr>
              <a:t>access</a:t>
            </a:r>
          </a:p>
          <a:p>
            <a:pPr lvl="1"/>
            <a:r>
              <a:rPr lang="en-US" altLang="ko-KR" sz="1600" dirty="0"/>
              <a:t>Typically </a:t>
            </a:r>
            <a:r>
              <a:rPr lang="en-US" altLang="ko-KR" sz="1600" b="1" dirty="0">
                <a:solidFill>
                  <a:srgbClr val="3366FF"/>
                </a:solidFill>
              </a:rPr>
              <a:t>volatile</a:t>
            </a:r>
          </a:p>
          <a:p>
            <a:r>
              <a:rPr lang="en-US" altLang="ko-KR" dirty="0">
                <a:solidFill>
                  <a:srgbClr val="C00000"/>
                </a:solidFill>
              </a:rPr>
              <a:t>Secondary storage </a:t>
            </a:r>
            <a:r>
              <a:rPr lang="en-US" altLang="ko-KR" dirty="0"/>
              <a:t>– extension of main memory that provides large </a:t>
            </a:r>
            <a:r>
              <a:rPr lang="en-US" altLang="ko-KR" b="1" dirty="0">
                <a:solidFill>
                  <a:srgbClr val="3366FF"/>
                </a:solidFill>
              </a:rPr>
              <a:t>nonvolatile</a:t>
            </a:r>
            <a:r>
              <a:rPr lang="en-US" altLang="ko-KR" dirty="0">
                <a:solidFill>
                  <a:srgbClr val="0000FF"/>
                </a:solidFill>
              </a:rPr>
              <a:t> </a:t>
            </a:r>
            <a:r>
              <a:rPr lang="en-US" altLang="ko-KR" dirty="0"/>
              <a:t>storage capacity</a:t>
            </a:r>
          </a:p>
          <a:p>
            <a:r>
              <a:rPr lang="en-US" altLang="ko-KR" dirty="0">
                <a:solidFill>
                  <a:srgbClr val="C00000"/>
                </a:solidFill>
              </a:rPr>
              <a:t>Hard disks </a:t>
            </a:r>
            <a:r>
              <a:rPr lang="en-US" altLang="ko-KR" dirty="0"/>
              <a:t>– rigid metal or glass platters covered with magnetic recording material </a:t>
            </a:r>
          </a:p>
          <a:p>
            <a:pPr lvl="1"/>
            <a:r>
              <a:rPr lang="en-US" altLang="ko-KR" sz="1600" dirty="0"/>
              <a:t>Disk surface is logically divided into </a:t>
            </a:r>
            <a:r>
              <a:rPr lang="en-US" altLang="ko-KR" sz="1600" b="1" dirty="0">
                <a:solidFill>
                  <a:srgbClr val="3366FF"/>
                </a:solidFill>
              </a:rPr>
              <a:t>tracks</a:t>
            </a:r>
            <a:r>
              <a:rPr lang="en-US" altLang="ko-KR" sz="1600" dirty="0"/>
              <a:t>, which are subdivided into </a:t>
            </a:r>
            <a:r>
              <a:rPr lang="en-US" altLang="ko-KR" sz="1600" b="1" dirty="0">
                <a:solidFill>
                  <a:srgbClr val="3366FF"/>
                </a:solidFill>
              </a:rPr>
              <a:t>sectors</a:t>
            </a:r>
          </a:p>
          <a:p>
            <a:pPr lvl="1"/>
            <a:r>
              <a:rPr lang="en-US" altLang="ko-KR" sz="1600" dirty="0"/>
              <a:t>The </a:t>
            </a:r>
            <a:r>
              <a:rPr lang="en-US" altLang="ko-KR" sz="1600" b="1" dirty="0">
                <a:solidFill>
                  <a:srgbClr val="3366FF"/>
                </a:solidFill>
              </a:rPr>
              <a:t>disk controller </a:t>
            </a:r>
            <a:r>
              <a:rPr lang="en-US" altLang="ko-KR" sz="1600" dirty="0"/>
              <a:t>determines the logical interaction between the device and the computer </a:t>
            </a:r>
          </a:p>
          <a:p>
            <a:r>
              <a:rPr lang="en-US" altLang="ko-KR" b="1" dirty="0">
                <a:solidFill>
                  <a:srgbClr val="3366FF"/>
                </a:solidFill>
              </a:rPr>
              <a:t>Solid-state disks </a:t>
            </a:r>
            <a:r>
              <a:rPr lang="en-US" altLang="ko-KR" dirty="0"/>
              <a:t>– faster than hard disks, nonvolatile</a:t>
            </a:r>
          </a:p>
          <a:p>
            <a:pPr lvl="1"/>
            <a:r>
              <a:rPr lang="en-US" altLang="ko-KR" sz="1600" dirty="0"/>
              <a:t>Various technologies</a:t>
            </a:r>
          </a:p>
          <a:p>
            <a:pPr lvl="1"/>
            <a:r>
              <a:rPr lang="en-US" altLang="ko-KR" sz="1600" dirty="0"/>
              <a:t>Becoming more popular</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24</a:t>
            </a:fld>
            <a:endParaRPr lang="ko-KR" altLang="ko-KR"/>
          </a:p>
        </p:txBody>
      </p:sp>
    </p:spTree>
    <p:extLst>
      <p:ext uri="{BB962C8B-B14F-4D97-AF65-F5344CB8AC3E}">
        <p14:creationId xmlns:p14="http://schemas.microsoft.com/office/powerpoint/2010/main" val="4252546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876300" y="182563"/>
            <a:ext cx="7810500" cy="576262"/>
          </a:xfrm>
        </p:spPr>
        <p:txBody>
          <a:bodyPr/>
          <a:lstStyle/>
          <a:p>
            <a:pPr eaLnBrk="1" hangingPunct="1"/>
            <a:r>
              <a:rPr lang="en-US" altLang="ko-KR"/>
              <a:t>Storage Hierarchy</a:t>
            </a:r>
          </a:p>
        </p:txBody>
      </p:sp>
      <p:sp>
        <p:nvSpPr>
          <p:cNvPr id="39939" name="Rectangle 3"/>
          <p:cNvSpPr>
            <a:spLocks noGrp="1" noChangeArrowheads="1"/>
          </p:cNvSpPr>
          <p:nvPr>
            <p:ph type="body" idx="4294967295"/>
          </p:nvPr>
        </p:nvSpPr>
        <p:spPr>
          <a:xfrm>
            <a:off x="806450" y="1233488"/>
            <a:ext cx="6492875" cy="4530725"/>
          </a:xfrm>
        </p:spPr>
        <p:txBody>
          <a:bodyPr/>
          <a:lstStyle/>
          <a:p>
            <a:r>
              <a:rPr lang="en-US" altLang="ko-KR"/>
              <a:t>Storage systems organized in hierarchy</a:t>
            </a:r>
          </a:p>
          <a:p>
            <a:pPr lvl="1"/>
            <a:r>
              <a:rPr lang="en-US" altLang="ko-KR"/>
              <a:t>Speed</a:t>
            </a:r>
          </a:p>
          <a:p>
            <a:pPr lvl="1"/>
            <a:r>
              <a:rPr lang="en-US" altLang="ko-KR"/>
              <a:t>Cost</a:t>
            </a:r>
          </a:p>
          <a:p>
            <a:pPr lvl="1"/>
            <a:r>
              <a:rPr lang="en-US" altLang="ko-KR"/>
              <a:t>Volatility</a:t>
            </a:r>
          </a:p>
          <a:p>
            <a:r>
              <a:rPr lang="en-US" altLang="ko-KR" b="1">
                <a:solidFill>
                  <a:srgbClr val="3366FF"/>
                </a:solidFill>
              </a:rPr>
              <a:t>Caching</a:t>
            </a:r>
            <a:r>
              <a:rPr lang="en-US" altLang="ko-KR"/>
              <a:t> – copying information into faster storage system; main memory can be viewed as a cache for secondary storage</a:t>
            </a:r>
          </a:p>
          <a:p>
            <a:r>
              <a:rPr lang="en-US" altLang="ko-KR" b="1">
                <a:solidFill>
                  <a:srgbClr val="3366FF"/>
                </a:solidFill>
              </a:rPr>
              <a:t>Device Driver </a:t>
            </a:r>
            <a:r>
              <a:rPr lang="en-US" altLang="ko-KR"/>
              <a:t>for each device controller to manage I/O</a:t>
            </a:r>
          </a:p>
          <a:p>
            <a:pPr lvl="1"/>
            <a:r>
              <a:rPr lang="en-US" altLang="ko-KR"/>
              <a:t>Provides uniform interface between controller and kernel</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25</a:t>
            </a:fld>
            <a:endParaRPr lang="ko-KR" altLang="ko-KR"/>
          </a:p>
        </p:txBody>
      </p:sp>
    </p:spTree>
    <p:extLst>
      <p:ext uri="{BB962C8B-B14F-4D97-AF65-F5344CB8AC3E}">
        <p14:creationId xmlns:p14="http://schemas.microsoft.com/office/powerpoint/2010/main" val="601218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a:xfrm>
            <a:off x="457200" y="198438"/>
            <a:ext cx="8229600" cy="576262"/>
          </a:xfrm>
        </p:spPr>
        <p:txBody>
          <a:bodyPr/>
          <a:lstStyle/>
          <a:p>
            <a:pPr eaLnBrk="1" hangingPunct="1"/>
            <a:r>
              <a:rPr lang="en-US" altLang="ko-KR"/>
              <a:t>Storage-Device Hierarchy</a:t>
            </a:r>
          </a:p>
        </p:txBody>
      </p:sp>
      <p:pic>
        <p:nvPicPr>
          <p:cNvPr id="41987" name="Picture 3" descr="C:\Users\as668\Desktop\1_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313" y="1370013"/>
            <a:ext cx="5322887" cy="443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26</a:t>
            </a:fld>
            <a:endParaRPr lang="ko-KR" altLang="ko-KR"/>
          </a:p>
        </p:txBody>
      </p:sp>
    </p:spTree>
    <p:extLst>
      <p:ext uri="{BB962C8B-B14F-4D97-AF65-F5344CB8AC3E}">
        <p14:creationId xmlns:p14="http://schemas.microsoft.com/office/powerpoint/2010/main" val="10996880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57200" y="198438"/>
            <a:ext cx="8229600" cy="576262"/>
          </a:xfrm>
        </p:spPr>
        <p:txBody>
          <a:bodyPr/>
          <a:lstStyle/>
          <a:p>
            <a:pPr eaLnBrk="1" hangingPunct="1"/>
            <a:r>
              <a:rPr lang="en-US" altLang="ko-KR"/>
              <a:t>Caching</a:t>
            </a:r>
          </a:p>
        </p:txBody>
      </p:sp>
      <p:sp>
        <p:nvSpPr>
          <p:cNvPr id="44035" name="Rectangle 3"/>
          <p:cNvSpPr>
            <a:spLocks noGrp="1" noChangeArrowheads="1"/>
          </p:cNvSpPr>
          <p:nvPr>
            <p:ph type="body" idx="4294967295"/>
          </p:nvPr>
        </p:nvSpPr>
        <p:spPr>
          <a:xfrm>
            <a:off x="806450" y="1233488"/>
            <a:ext cx="7575550" cy="4910137"/>
          </a:xfrm>
        </p:spPr>
        <p:txBody>
          <a:bodyPr/>
          <a:lstStyle/>
          <a:p>
            <a:r>
              <a:rPr lang="en-US" altLang="ko-KR" dirty="0"/>
              <a:t>Important principle, performed at many levels in a computer (in hardware, operating system, software)</a:t>
            </a:r>
            <a:endParaRPr lang="en-US" altLang="ko-KR" sz="800" dirty="0"/>
          </a:p>
          <a:p>
            <a:r>
              <a:rPr lang="en-US" altLang="ko-KR" dirty="0"/>
              <a:t>Information in use copied from slower to faster storage temporarily</a:t>
            </a:r>
            <a:endParaRPr lang="en-US" altLang="ko-KR" sz="800" dirty="0"/>
          </a:p>
          <a:p>
            <a:r>
              <a:rPr lang="en-US" altLang="ko-KR" dirty="0">
                <a:solidFill>
                  <a:srgbClr val="C00000"/>
                </a:solidFill>
              </a:rPr>
              <a:t>Faster storage (cache) checked first to determine if information is there</a:t>
            </a:r>
          </a:p>
          <a:p>
            <a:pPr lvl="1"/>
            <a:r>
              <a:rPr lang="en-US" altLang="ko-KR" dirty="0"/>
              <a:t>If it is, information used directly from the cache (fast)</a:t>
            </a:r>
          </a:p>
          <a:p>
            <a:pPr lvl="1"/>
            <a:r>
              <a:rPr lang="en-US" altLang="ko-KR" dirty="0"/>
              <a:t>If not, data copied to cache and used there</a:t>
            </a:r>
            <a:endParaRPr lang="en-US" altLang="ko-KR" sz="800" dirty="0"/>
          </a:p>
          <a:p>
            <a:r>
              <a:rPr lang="en-US" altLang="ko-KR" dirty="0">
                <a:solidFill>
                  <a:srgbClr val="C00000"/>
                </a:solidFill>
              </a:rPr>
              <a:t>Cache smaller than storage being cached</a:t>
            </a:r>
          </a:p>
          <a:p>
            <a:pPr lvl="1"/>
            <a:r>
              <a:rPr lang="en-US" altLang="ko-KR" dirty="0"/>
              <a:t>Cache management important design problem</a:t>
            </a:r>
          </a:p>
          <a:p>
            <a:pPr lvl="1"/>
            <a:r>
              <a:rPr lang="en-US" altLang="ko-KR" dirty="0"/>
              <a:t>Cache size and replacement policy</a:t>
            </a:r>
          </a:p>
          <a:p>
            <a:pPr>
              <a:buFont typeface="Monotype Sorts" pitchFamily="-84" charset="2"/>
              <a:buNone/>
            </a:pPr>
            <a:endParaRPr lang="en-US" altLang="ko-KR"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27</a:t>
            </a:fld>
            <a:endParaRPr lang="ko-KR" altLang="ko-KR"/>
          </a:p>
        </p:txBody>
      </p:sp>
    </p:spTree>
    <p:extLst>
      <p:ext uri="{BB962C8B-B14F-4D97-AF65-F5344CB8AC3E}">
        <p14:creationId xmlns:p14="http://schemas.microsoft.com/office/powerpoint/2010/main" val="2741404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1020763" y="166688"/>
            <a:ext cx="7666037" cy="576262"/>
          </a:xfrm>
        </p:spPr>
        <p:txBody>
          <a:bodyPr/>
          <a:lstStyle/>
          <a:p>
            <a:pPr eaLnBrk="1" hangingPunct="1"/>
            <a:r>
              <a:rPr lang="en-US" altLang="ko-KR"/>
              <a:t>Direct Memory Access Structure</a:t>
            </a:r>
          </a:p>
        </p:txBody>
      </p:sp>
      <p:sp>
        <p:nvSpPr>
          <p:cNvPr id="46083" name="Rectangle 3"/>
          <p:cNvSpPr>
            <a:spLocks noGrp="1" noChangeArrowheads="1"/>
          </p:cNvSpPr>
          <p:nvPr>
            <p:ph type="body" idx="4294967295"/>
          </p:nvPr>
        </p:nvSpPr>
        <p:spPr>
          <a:xfrm>
            <a:off x="806450" y="1233488"/>
            <a:ext cx="6208713" cy="4530725"/>
          </a:xfrm>
        </p:spPr>
        <p:txBody>
          <a:bodyPr/>
          <a:lstStyle/>
          <a:p>
            <a:r>
              <a:rPr lang="en-US" altLang="ko-KR"/>
              <a:t>Used for high-speed I/O devices able to transmit information at close to memory speeds</a:t>
            </a:r>
          </a:p>
          <a:p>
            <a:r>
              <a:rPr lang="en-US" altLang="ko-KR"/>
              <a:t>Device controller transfers blocks of data from buffer storage directly to main memory without CPU intervention</a:t>
            </a:r>
          </a:p>
          <a:p>
            <a:r>
              <a:rPr lang="en-US" altLang="ko-KR"/>
              <a:t>Only one interrupt is generated per block, rather than the one interrupt per byte</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28</a:t>
            </a:fld>
            <a:endParaRPr lang="ko-KR" altLang="ko-KR"/>
          </a:p>
        </p:txBody>
      </p:sp>
    </p:spTree>
    <p:extLst>
      <p:ext uri="{BB962C8B-B14F-4D97-AF65-F5344CB8AC3E}">
        <p14:creationId xmlns:p14="http://schemas.microsoft.com/office/powerpoint/2010/main" val="41940803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idx="4294967295"/>
          </p:nvPr>
        </p:nvSpPr>
        <p:spPr>
          <a:xfrm>
            <a:off x="835025" y="166688"/>
            <a:ext cx="8229600" cy="576262"/>
          </a:xfrm>
        </p:spPr>
        <p:txBody>
          <a:bodyPr/>
          <a:lstStyle/>
          <a:p>
            <a:r>
              <a:rPr lang="en-US" altLang="ko-KR"/>
              <a:t>How a Modern Computer Works</a:t>
            </a:r>
          </a:p>
        </p:txBody>
      </p:sp>
      <p:pic>
        <p:nvPicPr>
          <p:cNvPr id="48131" name="Picture 5"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0913" y="1230313"/>
            <a:ext cx="5132387" cy="408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Box 3"/>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ko-KR" sz="1400" i="1">
                <a:latin typeface="Verdana" panose="020B0604030504040204" pitchFamily="34" charset="0"/>
              </a:rPr>
              <a:t>A von Neumann architecture</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29</a:t>
            </a:fld>
            <a:endParaRPr lang="ko-KR" altLang="ko-KR"/>
          </a:p>
        </p:txBody>
      </p:sp>
    </p:spTree>
    <p:extLst>
      <p:ext uri="{BB962C8B-B14F-4D97-AF65-F5344CB8AC3E}">
        <p14:creationId xmlns:p14="http://schemas.microsoft.com/office/powerpoint/2010/main" val="1668923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idx="4294967295"/>
          </p:nvPr>
        </p:nvSpPr>
        <p:spPr>
          <a:xfrm>
            <a:off x="1100138" y="198438"/>
            <a:ext cx="7586662" cy="576262"/>
          </a:xfrm>
        </p:spPr>
        <p:txBody>
          <a:bodyPr/>
          <a:lstStyle/>
          <a:p>
            <a:r>
              <a:rPr lang="en-US" altLang="ko-KR"/>
              <a:t>Computer-System Architecture</a:t>
            </a:r>
          </a:p>
        </p:txBody>
      </p:sp>
      <p:sp>
        <p:nvSpPr>
          <p:cNvPr id="50179" name="Content Placeholder 2"/>
          <p:cNvSpPr>
            <a:spLocks noGrp="1"/>
          </p:cNvSpPr>
          <p:nvPr>
            <p:ph idx="4294967295"/>
          </p:nvPr>
        </p:nvSpPr>
        <p:spPr>
          <a:xfrm>
            <a:off x="806450" y="1233488"/>
            <a:ext cx="8337550" cy="4867275"/>
          </a:xfrm>
        </p:spPr>
        <p:txBody>
          <a:bodyPr/>
          <a:lstStyle/>
          <a:p>
            <a:r>
              <a:rPr lang="en-US" altLang="ko-KR" dirty="0"/>
              <a:t>Most systems use a </a:t>
            </a:r>
            <a:r>
              <a:rPr lang="en-US" altLang="ko-KR" dirty="0">
                <a:solidFill>
                  <a:srgbClr val="C00000"/>
                </a:solidFill>
              </a:rPr>
              <a:t>single general-purpose processor</a:t>
            </a:r>
          </a:p>
          <a:p>
            <a:pPr lvl="1"/>
            <a:r>
              <a:rPr lang="en-US" altLang="ko-KR" dirty="0"/>
              <a:t>Most systems have special-purpose processors as well</a:t>
            </a:r>
            <a:endParaRPr lang="en-US" altLang="ko-KR" sz="800" dirty="0"/>
          </a:p>
          <a:p>
            <a:r>
              <a:rPr lang="en-US" altLang="ko-KR" b="1" dirty="0">
                <a:solidFill>
                  <a:srgbClr val="3366FF"/>
                </a:solidFill>
              </a:rPr>
              <a:t>Multiprocessors</a:t>
            </a:r>
            <a:r>
              <a:rPr lang="en-US" altLang="ko-KR" dirty="0">
                <a:solidFill>
                  <a:srgbClr val="3366FF"/>
                </a:solidFill>
              </a:rPr>
              <a:t> </a:t>
            </a:r>
            <a:r>
              <a:rPr lang="en-US" altLang="ko-KR" dirty="0"/>
              <a:t>systems growing in use and importance</a:t>
            </a:r>
          </a:p>
          <a:p>
            <a:pPr lvl="1"/>
            <a:r>
              <a:rPr lang="en-US" altLang="ko-KR" dirty="0"/>
              <a:t>Also known as </a:t>
            </a:r>
            <a:r>
              <a:rPr lang="en-US" altLang="ko-KR" b="1" dirty="0">
                <a:solidFill>
                  <a:srgbClr val="3366FF"/>
                </a:solidFill>
              </a:rPr>
              <a:t>parallel systems</a:t>
            </a:r>
            <a:r>
              <a:rPr lang="en-US" altLang="ko-KR" dirty="0"/>
              <a:t>, </a:t>
            </a:r>
            <a:r>
              <a:rPr lang="en-US" altLang="ko-KR" b="1" dirty="0">
                <a:solidFill>
                  <a:srgbClr val="3366FF"/>
                </a:solidFill>
              </a:rPr>
              <a:t>tightly-coupled systems</a:t>
            </a:r>
          </a:p>
          <a:p>
            <a:pPr lvl="1"/>
            <a:r>
              <a:rPr lang="en-US" altLang="ko-KR" dirty="0"/>
              <a:t>Advantages include:</a:t>
            </a:r>
          </a:p>
          <a:p>
            <a:pPr marL="1200150" lvl="2" indent="-342900">
              <a:buFont typeface="Arial" panose="020B0604020202020204" pitchFamily="34" charset="0"/>
              <a:buAutoNum type="arabicPeriod"/>
            </a:pPr>
            <a:r>
              <a:rPr lang="en-US" altLang="ko-KR" b="1" dirty="0">
                <a:solidFill>
                  <a:srgbClr val="3366FF"/>
                </a:solidFill>
              </a:rPr>
              <a:t>Increased throughput</a:t>
            </a:r>
          </a:p>
          <a:p>
            <a:pPr marL="1200150" lvl="2" indent="-342900">
              <a:buFont typeface="Arial" panose="020B0604020202020204" pitchFamily="34" charset="0"/>
              <a:buAutoNum type="arabicPeriod"/>
            </a:pPr>
            <a:r>
              <a:rPr lang="en-US" altLang="ko-KR" b="1" dirty="0">
                <a:solidFill>
                  <a:srgbClr val="3366FF"/>
                </a:solidFill>
              </a:rPr>
              <a:t>Economy of scale</a:t>
            </a:r>
          </a:p>
          <a:p>
            <a:pPr marL="1200150" lvl="2" indent="-342900">
              <a:buFont typeface="Arial" panose="020B0604020202020204" pitchFamily="34" charset="0"/>
              <a:buAutoNum type="arabicPeriod"/>
            </a:pPr>
            <a:r>
              <a:rPr lang="en-US" altLang="ko-KR" b="1" dirty="0">
                <a:solidFill>
                  <a:srgbClr val="3366FF"/>
                </a:solidFill>
              </a:rPr>
              <a:t>Increased reliability </a:t>
            </a:r>
            <a:r>
              <a:rPr lang="en-US" altLang="ko-KR" dirty="0"/>
              <a:t>– graceful degradation or fault tolerance</a:t>
            </a:r>
          </a:p>
          <a:p>
            <a:pPr lvl="1"/>
            <a:r>
              <a:rPr lang="en-US" altLang="ko-KR" dirty="0"/>
              <a:t>Two types:</a:t>
            </a:r>
          </a:p>
          <a:p>
            <a:pPr marL="1200150" lvl="2" indent="-342900">
              <a:buFont typeface="Arial" panose="020B0604020202020204" pitchFamily="34" charset="0"/>
              <a:buAutoNum type="arabicPeriod"/>
            </a:pPr>
            <a:r>
              <a:rPr lang="en-US" altLang="ko-KR" b="1" dirty="0">
                <a:solidFill>
                  <a:srgbClr val="3366FF"/>
                </a:solidFill>
              </a:rPr>
              <a:t>Asymmetric Multiprocessing </a:t>
            </a:r>
            <a:r>
              <a:rPr lang="en-US" altLang="ko-KR" dirty="0"/>
              <a:t>– each processor is assigned </a:t>
            </a:r>
            <a:r>
              <a:rPr lang="en-US" altLang="ko-KR"/>
              <a:t>a specific </a:t>
            </a:r>
            <a:r>
              <a:rPr lang="en-US" altLang="ko-KR" dirty="0"/>
              <a:t>task.</a:t>
            </a:r>
          </a:p>
          <a:p>
            <a:pPr marL="1200150" lvl="2" indent="-342900">
              <a:buFont typeface="Arial" panose="020B0604020202020204" pitchFamily="34" charset="0"/>
              <a:buAutoNum type="arabicPeriod"/>
            </a:pPr>
            <a:r>
              <a:rPr lang="en-US" altLang="ko-KR" b="1" dirty="0">
                <a:solidFill>
                  <a:srgbClr val="3366FF"/>
                </a:solidFill>
              </a:rPr>
              <a:t>Symmetric Multiprocessing </a:t>
            </a:r>
            <a:r>
              <a:rPr lang="en-US" altLang="ko-KR" dirty="0"/>
              <a:t>– each processor performs all tasks</a:t>
            </a:r>
          </a:p>
          <a:p>
            <a:pPr marL="1200150" lvl="2" indent="-342900">
              <a:buFont typeface="Webdings" panose="05030102010509060703" pitchFamily="18" charset="2"/>
              <a:buNone/>
            </a:pPr>
            <a:endParaRPr lang="en-US" altLang="ko-KR" dirty="0">
              <a:solidFill>
                <a:srgbClr val="3366FF"/>
              </a:solidFill>
            </a:endParaRP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30</a:t>
            </a:fld>
            <a:endParaRPr lang="ko-KR" altLang="ko-KR"/>
          </a:p>
        </p:txBody>
      </p:sp>
    </p:spTree>
    <p:extLst>
      <p:ext uri="{BB962C8B-B14F-4D97-AF65-F5344CB8AC3E}">
        <p14:creationId xmlns:p14="http://schemas.microsoft.com/office/powerpoint/2010/main" val="41056807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idx="4294967295"/>
          </p:nvPr>
        </p:nvSpPr>
        <p:spPr>
          <a:xfrm>
            <a:off x="939800" y="152400"/>
            <a:ext cx="8229600" cy="576263"/>
          </a:xfrm>
        </p:spPr>
        <p:txBody>
          <a:bodyPr/>
          <a:lstStyle/>
          <a:p>
            <a:r>
              <a:rPr lang="en-US" altLang="ko-KR" sz="2800"/>
              <a:t>Symmetric Multiprocessing Architecture</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31</a:t>
            </a:fld>
            <a:endParaRPr lang="ko-KR" altLang="ko-KR"/>
          </a:p>
        </p:txBody>
      </p:sp>
      <p:pic>
        <p:nvPicPr>
          <p:cNvPr id="7170" name="Picture 2" descr="symmetric-multiprocessing-vs-asymmetric-multiprocessing">
            <a:extLst>
              <a:ext uri="{FF2B5EF4-FFF2-40B4-BE49-F238E27FC236}">
                <a16:creationId xmlns:a16="http://schemas.microsoft.com/office/drawing/2014/main" id="{1990848D-585F-4B44-9D10-629B798F1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838200"/>
            <a:ext cx="4953000" cy="2914819"/>
          </a:xfrm>
          <a:prstGeom prst="rect">
            <a:avLst/>
          </a:prstGeom>
          <a:noFill/>
          <a:extLst>
            <a:ext uri="{909E8E84-426E-40DD-AFC4-6F175D3DCCD1}">
              <a14:hiddenFill xmlns:a14="http://schemas.microsoft.com/office/drawing/2010/main">
                <a:solidFill>
                  <a:srgbClr val="FFFFFF"/>
                </a:solidFill>
              </a14:hiddenFill>
            </a:ext>
          </a:extLst>
        </p:spPr>
      </p:pic>
      <p:sp>
        <p:nvSpPr>
          <p:cNvPr id="3" name="직사각형 2">
            <a:extLst>
              <a:ext uri="{FF2B5EF4-FFF2-40B4-BE49-F238E27FC236}">
                <a16:creationId xmlns:a16="http://schemas.microsoft.com/office/drawing/2014/main" id="{1C381700-A788-4082-9737-F705B68DA114}"/>
              </a:ext>
            </a:extLst>
          </p:cNvPr>
          <p:cNvSpPr/>
          <p:nvPr/>
        </p:nvSpPr>
        <p:spPr>
          <a:xfrm>
            <a:off x="348343" y="4244354"/>
            <a:ext cx="8763000" cy="2062103"/>
          </a:xfrm>
          <a:prstGeom prst="rect">
            <a:avLst/>
          </a:prstGeom>
        </p:spPr>
        <p:txBody>
          <a:bodyPr wrap="square">
            <a:spAutoFit/>
          </a:bodyPr>
          <a:lstStyle/>
          <a:p>
            <a:pPr marL="285750" indent="-285750">
              <a:buFont typeface="Arial" panose="020B0604020202020204" pitchFamily="34" charset="0"/>
              <a:buChar char="•"/>
            </a:pPr>
            <a:r>
              <a:rPr lang="en-US" altLang="ko-KR" sz="1600" b="1">
                <a:solidFill>
                  <a:srgbClr val="222222"/>
                </a:solidFill>
                <a:latin typeface="Verdana" panose="020B0604030504040204" pitchFamily="34" charset="0"/>
              </a:rPr>
              <a:t>Asymmetric Multiprocessing</a:t>
            </a:r>
            <a:r>
              <a:rPr lang="en-US" altLang="ko-KR" sz="1600">
                <a:solidFill>
                  <a:srgbClr val="222222"/>
                </a:solidFill>
                <a:latin typeface="Verdana" panose="020B0604030504040204" pitchFamily="34" charset="0"/>
              </a:rPr>
              <a:t> has the </a:t>
            </a:r>
            <a:r>
              <a:rPr lang="en-US" altLang="ko-KR" sz="1600" b="1">
                <a:solidFill>
                  <a:srgbClr val="222222"/>
                </a:solidFill>
                <a:latin typeface="Verdana" panose="020B0604030504040204" pitchFamily="34" charset="0"/>
              </a:rPr>
              <a:t>master-slave</a:t>
            </a:r>
            <a:r>
              <a:rPr lang="en-US" altLang="ko-KR" sz="1600">
                <a:solidFill>
                  <a:srgbClr val="222222"/>
                </a:solidFill>
                <a:latin typeface="Verdana" panose="020B0604030504040204" pitchFamily="34" charset="0"/>
              </a:rPr>
              <a:t> relationship among the processors. There is one master processor that controls remaining slave processor. The master processor allots processes to slave processor, or they may have some predefined task to perform.</a:t>
            </a:r>
          </a:p>
          <a:p>
            <a:pPr marL="285750" indent="-285750">
              <a:buFont typeface="Arial" panose="020B0604020202020204" pitchFamily="34" charset="0"/>
              <a:buChar char="•"/>
            </a:pPr>
            <a:endParaRPr lang="en-US" altLang="ko-KR" sz="1600">
              <a:solidFill>
                <a:srgbClr val="222222"/>
              </a:solidFill>
              <a:latin typeface="Verdana" panose="020B0604030504040204" pitchFamily="34" charset="0"/>
            </a:endParaRPr>
          </a:p>
          <a:p>
            <a:pPr marL="285750" indent="-285750">
              <a:buFont typeface="Arial" panose="020B0604020202020204" pitchFamily="34" charset="0"/>
              <a:buChar char="•"/>
            </a:pPr>
            <a:r>
              <a:rPr lang="en-US" altLang="ko-KR" sz="1600">
                <a:solidFill>
                  <a:srgbClr val="222222"/>
                </a:solidFill>
                <a:latin typeface="Verdana" panose="020B0604030504040204" pitchFamily="34" charset="0"/>
              </a:rPr>
              <a:t>The master processor controls the </a:t>
            </a:r>
            <a:r>
              <a:rPr lang="en-US" altLang="ko-KR" sz="1600" b="1">
                <a:solidFill>
                  <a:srgbClr val="222222"/>
                </a:solidFill>
                <a:latin typeface="Verdana" panose="020B0604030504040204" pitchFamily="34" charset="0"/>
              </a:rPr>
              <a:t>data structure</a:t>
            </a:r>
            <a:r>
              <a:rPr lang="en-US" altLang="ko-KR" sz="1600">
                <a:solidFill>
                  <a:srgbClr val="222222"/>
                </a:solidFill>
                <a:latin typeface="Verdana" panose="020B0604030504040204" pitchFamily="34" charset="0"/>
              </a:rPr>
              <a:t>. The </a:t>
            </a:r>
            <a:r>
              <a:rPr lang="en-US" altLang="ko-KR" sz="1600" b="1">
                <a:solidFill>
                  <a:srgbClr val="222222"/>
                </a:solidFill>
                <a:latin typeface="Verdana" panose="020B0604030504040204" pitchFamily="34" charset="0"/>
              </a:rPr>
              <a:t>scheduling</a:t>
            </a:r>
            <a:r>
              <a:rPr lang="en-US" altLang="ko-KR" sz="1600">
                <a:solidFill>
                  <a:srgbClr val="222222"/>
                </a:solidFill>
                <a:latin typeface="Verdana" panose="020B0604030504040204" pitchFamily="34" charset="0"/>
              </a:rPr>
              <a:t> of processes, </a:t>
            </a:r>
            <a:r>
              <a:rPr lang="en-US" altLang="ko-KR" sz="1600" b="1">
                <a:solidFill>
                  <a:srgbClr val="222222"/>
                </a:solidFill>
                <a:latin typeface="Verdana" panose="020B0604030504040204" pitchFamily="34" charset="0"/>
              </a:rPr>
              <a:t>I/O</a:t>
            </a:r>
            <a:r>
              <a:rPr lang="en-US" altLang="ko-KR" sz="1600">
                <a:solidFill>
                  <a:srgbClr val="222222"/>
                </a:solidFill>
                <a:latin typeface="Verdana" panose="020B0604030504040204" pitchFamily="34" charset="0"/>
              </a:rPr>
              <a:t> processing and other system activities are controlled by the </a:t>
            </a:r>
            <a:r>
              <a:rPr lang="en-US" altLang="ko-KR" sz="1600" b="1">
                <a:solidFill>
                  <a:srgbClr val="222222"/>
                </a:solidFill>
                <a:latin typeface="Verdana" panose="020B0604030504040204" pitchFamily="34" charset="0"/>
              </a:rPr>
              <a:t>master processor</a:t>
            </a:r>
            <a:r>
              <a:rPr lang="en-US" altLang="ko-KR" sz="1600">
                <a:solidFill>
                  <a:srgbClr val="222222"/>
                </a:solidFill>
                <a:latin typeface="Verdana" panose="020B0604030504040204" pitchFamily="34" charset="0"/>
              </a:rPr>
              <a:t>.</a:t>
            </a:r>
            <a:endParaRPr lang="en-US" altLang="ko-KR" sz="1600" b="0" i="0">
              <a:solidFill>
                <a:srgbClr val="222222"/>
              </a:solidFill>
              <a:effectLst/>
              <a:latin typeface="Verdana" panose="020B0604030504040204" pitchFamily="34" charset="0"/>
            </a:endParaRPr>
          </a:p>
        </p:txBody>
      </p:sp>
    </p:spTree>
    <p:extLst>
      <p:ext uri="{BB962C8B-B14F-4D97-AF65-F5344CB8AC3E}">
        <p14:creationId xmlns:p14="http://schemas.microsoft.com/office/powerpoint/2010/main" val="29462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457200" y="214313"/>
            <a:ext cx="8229600" cy="576262"/>
          </a:xfrm>
        </p:spPr>
        <p:txBody>
          <a:bodyPr/>
          <a:lstStyle/>
          <a:p>
            <a:r>
              <a:rPr lang="en-US" altLang="ko-KR"/>
              <a:t>A Dual-Core Design</a:t>
            </a:r>
          </a:p>
        </p:txBody>
      </p:sp>
      <p:sp>
        <p:nvSpPr>
          <p:cNvPr id="54275" name="Content Placeholder 1"/>
          <p:cNvSpPr>
            <a:spLocks noGrp="1"/>
          </p:cNvSpPr>
          <p:nvPr>
            <p:ph sz="half" idx="1"/>
          </p:nvPr>
        </p:nvSpPr>
        <p:spPr>
          <a:xfrm>
            <a:off x="854075" y="1108075"/>
            <a:ext cx="7108825" cy="2682875"/>
          </a:xfrm>
        </p:spPr>
        <p:txBody>
          <a:bodyPr/>
          <a:lstStyle/>
          <a:p>
            <a:r>
              <a:rPr lang="en-US" altLang="ko-KR" sz="1800"/>
              <a:t>Multi-chip and </a:t>
            </a:r>
            <a:r>
              <a:rPr lang="en-US" altLang="ko-KR" sz="1800" b="1">
                <a:solidFill>
                  <a:srgbClr val="3366FF"/>
                </a:solidFill>
              </a:rPr>
              <a:t>multicore</a:t>
            </a:r>
          </a:p>
          <a:p>
            <a:r>
              <a:rPr lang="en-US" altLang="ko-KR" sz="1800"/>
              <a:t>Systems containing all  chips</a:t>
            </a:r>
            <a:endParaRPr lang="en-US" altLang="ko-KR" sz="1800" b="1">
              <a:solidFill>
                <a:srgbClr val="3366FF"/>
              </a:solidFill>
            </a:endParaRPr>
          </a:p>
          <a:p>
            <a:pPr lvl="1"/>
            <a:r>
              <a:rPr lang="en-US" altLang="ko-KR" sz="1800"/>
              <a:t>Chassis containing multiple separate systems</a:t>
            </a:r>
          </a:p>
          <a:p>
            <a:pPr lvl="1"/>
            <a:endParaRPr lang="en-US" altLang="ko-KR"/>
          </a:p>
        </p:txBody>
      </p:sp>
      <p:pic>
        <p:nvPicPr>
          <p:cNvPr id="54276" name="Picture 10"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2563813"/>
            <a:ext cx="3073400" cy="226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4D873581-941B-400F-B3F2-241556D8446C}" type="slidenum">
              <a:rPr lang="en-US" altLang="ko-KR" smtClean="0"/>
              <a:pPr>
                <a:defRPr/>
              </a:pPr>
              <a:t>32</a:t>
            </a:fld>
            <a:endParaRPr lang="en-US" altLang="ko-KR"/>
          </a:p>
        </p:txBody>
      </p:sp>
    </p:spTree>
    <p:extLst>
      <p:ext uri="{BB962C8B-B14F-4D97-AF65-F5344CB8AC3E}">
        <p14:creationId xmlns:p14="http://schemas.microsoft.com/office/powerpoint/2010/main" val="229751879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idx="4294967295"/>
          </p:nvPr>
        </p:nvSpPr>
        <p:spPr>
          <a:xfrm>
            <a:off x="457200" y="182563"/>
            <a:ext cx="8229600" cy="576262"/>
          </a:xfrm>
        </p:spPr>
        <p:txBody>
          <a:bodyPr/>
          <a:lstStyle/>
          <a:p>
            <a:r>
              <a:rPr lang="en-US" altLang="ko-KR"/>
              <a:t>Clustered Systems</a:t>
            </a:r>
          </a:p>
        </p:txBody>
      </p:sp>
      <p:sp>
        <p:nvSpPr>
          <p:cNvPr id="56323" name="Content Placeholder 2"/>
          <p:cNvSpPr>
            <a:spLocks noGrp="1"/>
          </p:cNvSpPr>
          <p:nvPr>
            <p:ph idx="4294967295"/>
          </p:nvPr>
        </p:nvSpPr>
        <p:spPr/>
        <p:txBody>
          <a:bodyPr/>
          <a:lstStyle/>
          <a:p>
            <a:r>
              <a:rPr lang="en-US" altLang="ko-KR"/>
              <a:t>Like multiprocessor systems, but </a:t>
            </a:r>
            <a:r>
              <a:rPr lang="en-US" altLang="ko-KR" b="1">
                <a:solidFill>
                  <a:srgbClr val="FF0000"/>
                </a:solidFill>
              </a:rPr>
              <a:t>multiple systems working together</a:t>
            </a:r>
          </a:p>
          <a:p>
            <a:pPr lvl="1"/>
            <a:r>
              <a:rPr lang="en-US" altLang="ko-KR"/>
              <a:t>Usually sharing storage via a </a:t>
            </a:r>
            <a:r>
              <a:rPr lang="en-US" altLang="ko-KR" b="1">
                <a:solidFill>
                  <a:srgbClr val="3366FF"/>
                </a:solidFill>
              </a:rPr>
              <a:t>storage-area network (SAN)</a:t>
            </a:r>
          </a:p>
          <a:p>
            <a:pPr lvl="1"/>
            <a:r>
              <a:rPr lang="en-US" altLang="ko-KR"/>
              <a:t>Provides a </a:t>
            </a:r>
            <a:r>
              <a:rPr lang="en-US" altLang="ko-KR" b="1">
                <a:solidFill>
                  <a:srgbClr val="3366FF"/>
                </a:solidFill>
              </a:rPr>
              <a:t>high-availability</a:t>
            </a:r>
            <a:r>
              <a:rPr lang="en-US" altLang="ko-KR" b="1"/>
              <a:t> </a:t>
            </a:r>
            <a:r>
              <a:rPr lang="en-US" altLang="ko-KR"/>
              <a:t>service which survives failures</a:t>
            </a:r>
          </a:p>
          <a:p>
            <a:pPr lvl="2"/>
            <a:r>
              <a:rPr lang="en-US" altLang="ko-KR" b="1">
                <a:solidFill>
                  <a:srgbClr val="3366FF"/>
                </a:solidFill>
              </a:rPr>
              <a:t>Asymmetric clustering</a:t>
            </a:r>
            <a:r>
              <a:rPr lang="en-US" altLang="ko-KR">
                <a:solidFill>
                  <a:srgbClr val="3366FF"/>
                </a:solidFill>
              </a:rPr>
              <a:t> </a:t>
            </a:r>
            <a:r>
              <a:rPr lang="en-US" altLang="ko-KR"/>
              <a:t>has one machine in hot-standby mode</a:t>
            </a:r>
          </a:p>
          <a:p>
            <a:pPr lvl="2"/>
            <a:r>
              <a:rPr lang="en-US" altLang="ko-KR" b="1">
                <a:solidFill>
                  <a:srgbClr val="3366FF"/>
                </a:solidFill>
              </a:rPr>
              <a:t>Symmetric clustering</a:t>
            </a:r>
            <a:r>
              <a:rPr lang="en-US" altLang="ko-KR">
                <a:solidFill>
                  <a:srgbClr val="3366FF"/>
                </a:solidFill>
              </a:rPr>
              <a:t> </a:t>
            </a:r>
            <a:r>
              <a:rPr lang="en-US" altLang="ko-KR"/>
              <a:t>has multiple nodes running applications, monitoring each other</a:t>
            </a:r>
          </a:p>
          <a:p>
            <a:pPr lvl="1"/>
            <a:r>
              <a:rPr lang="en-US" altLang="ko-KR"/>
              <a:t>Some clusters are for </a:t>
            </a:r>
            <a:r>
              <a:rPr lang="en-US" altLang="ko-KR" b="1">
                <a:solidFill>
                  <a:srgbClr val="3366FF"/>
                </a:solidFill>
              </a:rPr>
              <a:t>high-performance computing (HPC)</a:t>
            </a:r>
          </a:p>
          <a:p>
            <a:pPr lvl="2"/>
            <a:r>
              <a:rPr lang="en-US" altLang="ko-KR"/>
              <a:t>Applications must be written to use </a:t>
            </a:r>
            <a:r>
              <a:rPr lang="en-US" altLang="ko-KR" b="1">
                <a:solidFill>
                  <a:srgbClr val="3366FF"/>
                </a:solidFill>
              </a:rPr>
              <a:t>parallelization</a:t>
            </a:r>
          </a:p>
          <a:p>
            <a:pPr lvl="1"/>
            <a:r>
              <a:rPr lang="en-US" altLang="ko-KR"/>
              <a:t>Some have</a:t>
            </a:r>
            <a:r>
              <a:rPr lang="en-US" altLang="ko-KR" b="1">
                <a:solidFill>
                  <a:srgbClr val="3366FF"/>
                </a:solidFill>
              </a:rPr>
              <a:t> distributed lock manager </a:t>
            </a:r>
            <a:r>
              <a:rPr lang="en-US" altLang="ko-KR"/>
              <a:t>(</a:t>
            </a:r>
            <a:r>
              <a:rPr lang="en-US" altLang="ko-KR" b="1">
                <a:solidFill>
                  <a:srgbClr val="3366FF"/>
                </a:solidFill>
              </a:rPr>
              <a:t>DLM</a:t>
            </a:r>
            <a:r>
              <a:rPr lang="en-US" altLang="ko-KR"/>
              <a:t>) to avoid conflicting operations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33</a:t>
            </a:fld>
            <a:endParaRPr lang="ko-KR" altLang="ko-KR"/>
          </a:p>
        </p:txBody>
      </p:sp>
    </p:spTree>
    <p:extLst>
      <p:ext uri="{BB962C8B-B14F-4D97-AF65-F5344CB8AC3E}">
        <p14:creationId xmlns:p14="http://schemas.microsoft.com/office/powerpoint/2010/main" val="22781446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idx="4294967295"/>
          </p:nvPr>
        </p:nvSpPr>
        <p:spPr>
          <a:xfrm>
            <a:off x="457200" y="198438"/>
            <a:ext cx="8229600" cy="576262"/>
          </a:xfrm>
        </p:spPr>
        <p:txBody>
          <a:bodyPr/>
          <a:lstStyle/>
          <a:p>
            <a:r>
              <a:rPr lang="en-US" altLang="ko-KR"/>
              <a:t>Clustered Systems</a:t>
            </a:r>
          </a:p>
        </p:txBody>
      </p:sp>
      <p:pic>
        <p:nvPicPr>
          <p:cNvPr id="58371" name="Content Placeholder 3" descr="1.08.pdf"/>
          <p:cNvPicPr>
            <a:picLocks noGrp="1" noChangeAspect="1"/>
          </p:cNvPicPr>
          <p:nvPr>
            <p:ph idx="4294967295"/>
          </p:nvPr>
        </p:nvPicPr>
        <p:blipFill>
          <a:blip r:embed="rId2">
            <a:extLst>
              <a:ext uri="{28A0092B-C50C-407E-A947-70E740481C1C}">
                <a14:useLocalDpi xmlns:a14="http://schemas.microsoft.com/office/drawing/2010/main" val="0"/>
              </a:ext>
            </a:extLst>
          </a:blip>
          <a:srcRect t="-3476" b="-3476"/>
          <a:stretch>
            <a:fillRect/>
          </a:stretch>
        </p:blipFill>
        <p:spPr>
          <a:xfrm>
            <a:off x="1404938" y="1557338"/>
            <a:ext cx="6402387" cy="3524250"/>
          </a:xfrm>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34</a:t>
            </a:fld>
            <a:endParaRPr lang="ko-KR" altLang="ko-KR"/>
          </a:p>
        </p:txBody>
      </p:sp>
    </p:spTree>
    <p:extLst>
      <p:ext uri="{BB962C8B-B14F-4D97-AF65-F5344CB8AC3E}">
        <p14:creationId xmlns:p14="http://schemas.microsoft.com/office/powerpoint/2010/main" val="2681384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a:xfrm>
            <a:off x="1069975" y="166688"/>
            <a:ext cx="7616825" cy="576262"/>
          </a:xfrm>
        </p:spPr>
        <p:txBody>
          <a:bodyPr/>
          <a:lstStyle/>
          <a:p>
            <a:pPr eaLnBrk="1" hangingPunct="1"/>
            <a:r>
              <a:rPr lang="en-US" altLang="ko-KR"/>
              <a:t>Operating System Structure</a:t>
            </a:r>
          </a:p>
        </p:txBody>
      </p:sp>
      <p:sp>
        <p:nvSpPr>
          <p:cNvPr id="59395" name="Rectangle 3"/>
          <p:cNvSpPr>
            <a:spLocks noGrp="1" noChangeArrowheads="1"/>
          </p:cNvSpPr>
          <p:nvPr>
            <p:ph type="body" idx="4294967295"/>
          </p:nvPr>
        </p:nvSpPr>
        <p:spPr>
          <a:xfrm>
            <a:off x="827088" y="835025"/>
            <a:ext cx="7832725" cy="5462588"/>
          </a:xfrm>
        </p:spPr>
        <p:txBody>
          <a:bodyPr/>
          <a:lstStyle/>
          <a:p>
            <a:pPr>
              <a:lnSpc>
                <a:spcPct val="90000"/>
              </a:lnSpc>
              <a:buFont typeface="Monotype Sorts" pitchFamily="-84" charset="2"/>
              <a:buNone/>
            </a:pPr>
            <a:endParaRPr lang="en-US" altLang="ko-KR" sz="1600"/>
          </a:p>
          <a:p>
            <a:pPr>
              <a:lnSpc>
                <a:spcPct val="90000"/>
              </a:lnSpc>
            </a:pPr>
            <a:r>
              <a:rPr lang="en-US" altLang="ko-KR" b="1">
                <a:solidFill>
                  <a:srgbClr val="3366FF"/>
                </a:solidFill>
              </a:rPr>
              <a:t>Multiprogramming</a:t>
            </a:r>
            <a:r>
              <a:rPr lang="en-US" altLang="ko-KR" sz="1600"/>
              <a:t> (</a:t>
            </a:r>
            <a:r>
              <a:rPr lang="en-US" altLang="ko-KR" b="1">
                <a:solidFill>
                  <a:srgbClr val="3366FF"/>
                </a:solidFill>
              </a:rPr>
              <a:t>Batch system</a:t>
            </a:r>
            <a:r>
              <a:rPr lang="en-US" altLang="ko-KR" sz="1600"/>
              <a:t>) needed for efficiency</a:t>
            </a:r>
          </a:p>
          <a:p>
            <a:pPr lvl="1">
              <a:lnSpc>
                <a:spcPct val="90000"/>
              </a:lnSpc>
            </a:pPr>
            <a:r>
              <a:rPr lang="en-US" altLang="ko-KR" sz="1600"/>
              <a:t>Single user cannot keep CPU and I/O devices busy at all times</a:t>
            </a:r>
          </a:p>
          <a:p>
            <a:pPr lvl="1">
              <a:lnSpc>
                <a:spcPct val="90000"/>
              </a:lnSpc>
            </a:pPr>
            <a:r>
              <a:rPr lang="en-US" altLang="ko-KR" sz="1600"/>
              <a:t>Multiprogramming organizes jobs (code and data) so CPU always has one to execute</a:t>
            </a:r>
          </a:p>
          <a:p>
            <a:pPr lvl="1">
              <a:lnSpc>
                <a:spcPct val="90000"/>
              </a:lnSpc>
            </a:pPr>
            <a:r>
              <a:rPr lang="en-US" altLang="ko-KR" sz="1600"/>
              <a:t>A subset of total jobs in system is kept in memory</a:t>
            </a:r>
          </a:p>
          <a:p>
            <a:pPr lvl="1">
              <a:lnSpc>
                <a:spcPct val="90000"/>
              </a:lnSpc>
            </a:pPr>
            <a:r>
              <a:rPr lang="en-US" altLang="ko-KR" sz="1600"/>
              <a:t>One job selected and run via </a:t>
            </a:r>
            <a:r>
              <a:rPr lang="en-US" altLang="ko-KR" b="1">
                <a:solidFill>
                  <a:srgbClr val="3366FF"/>
                </a:solidFill>
              </a:rPr>
              <a:t>job scheduling</a:t>
            </a:r>
          </a:p>
          <a:p>
            <a:pPr lvl="1">
              <a:lnSpc>
                <a:spcPct val="90000"/>
              </a:lnSpc>
            </a:pPr>
            <a:r>
              <a:rPr lang="en-US" altLang="ko-KR" sz="1600"/>
              <a:t>When it has to wait (for I/O for example), OS switches to another job</a:t>
            </a:r>
          </a:p>
          <a:p>
            <a:pPr lvl="1">
              <a:lnSpc>
                <a:spcPct val="90000"/>
              </a:lnSpc>
            </a:pPr>
            <a:endParaRPr lang="en-US" altLang="ko-KR" sz="800"/>
          </a:p>
          <a:p>
            <a:pPr>
              <a:lnSpc>
                <a:spcPct val="90000"/>
              </a:lnSpc>
            </a:pPr>
            <a:r>
              <a:rPr lang="en-US" altLang="ko-KR" b="1">
                <a:solidFill>
                  <a:srgbClr val="3366FF"/>
                </a:solidFill>
              </a:rPr>
              <a:t>Timesharing </a:t>
            </a:r>
            <a:r>
              <a:rPr lang="en-US" altLang="ko-KR" sz="1600"/>
              <a:t>(</a:t>
            </a:r>
            <a:r>
              <a:rPr lang="en-US" altLang="ko-KR" b="1">
                <a:solidFill>
                  <a:srgbClr val="3366FF"/>
                </a:solidFill>
              </a:rPr>
              <a:t>multitasking</a:t>
            </a:r>
            <a:r>
              <a:rPr lang="en-US" altLang="ko-KR" sz="1600"/>
              <a:t>)</a:t>
            </a:r>
            <a:r>
              <a:rPr lang="en-US" altLang="ko-KR" b="1">
                <a:solidFill>
                  <a:srgbClr val="3366FF"/>
                </a:solidFill>
              </a:rPr>
              <a:t> </a:t>
            </a:r>
            <a:r>
              <a:rPr lang="en-US" altLang="ko-KR" sz="1600"/>
              <a:t>is logical extension in which CPU switches jobs so frequently that users can interact with each job while it is running, creating </a:t>
            </a:r>
            <a:r>
              <a:rPr lang="en-US" altLang="ko-KR" b="1">
                <a:solidFill>
                  <a:srgbClr val="3366FF"/>
                </a:solidFill>
              </a:rPr>
              <a:t>interactive</a:t>
            </a:r>
            <a:r>
              <a:rPr lang="en-US" altLang="ko-KR" sz="1600"/>
              <a:t> computing</a:t>
            </a:r>
          </a:p>
          <a:p>
            <a:pPr lvl="1">
              <a:lnSpc>
                <a:spcPct val="90000"/>
              </a:lnSpc>
            </a:pPr>
            <a:r>
              <a:rPr lang="en-US" altLang="ko-KR" b="1">
                <a:solidFill>
                  <a:srgbClr val="3366FF"/>
                </a:solidFill>
              </a:rPr>
              <a:t>Response time </a:t>
            </a:r>
            <a:r>
              <a:rPr lang="en-US" altLang="ko-KR" sz="1600"/>
              <a:t>should be &lt; 1 second</a:t>
            </a:r>
          </a:p>
          <a:p>
            <a:pPr lvl="1">
              <a:lnSpc>
                <a:spcPct val="90000"/>
              </a:lnSpc>
            </a:pPr>
            <a:r>
              <a:rPr lang="en-US" altLang="ko-KR" sz="1600"/>
              <a:t>Each user has at least one program executing in memory </a:t>
            </a:r>
            <a:r>
              <a:rPr lang="en-US" altLang="ko-KR" sz="1600">
                <a:sym typeface="Wingdings 3" panose="05040102010807070707" pitchFamily="18" charset="2"/>
              </a:rPr>
              <a:t></a:t>
            </a:r>
            <a:r>
              <a:rPr lang="en-US" altLang="ko-KR" b="1">
                <a:solidFill>
                  <a:srgbClr val="3366FF"/>
                </a:solidFill>
                <a:sym typeface="Wingdings 3" panose="05040102010807070707" pitchFamily="18" charset="2"/>
              </a:rPr>
              <a:t>process</a:t>
            </a:r>
          </a:p>
          <a:p>
            <a:pPr lvl="1">
              <a:lnSpc>
                <a:spcPct val="90000"/>
              </a:lnSpc>
            </a:pPr>
            <a:r>
              <a:rPr lang="en-US" altLang="ko-KR" sz="1600">
                <a:sym typeface="Wingdings 3" panose="05040102010807070707" pitchFamily="18" charset="2"/>
              </a:rPr>
              <a:t>If several jobs ready to run at the same time  </a:t>
            </a:r>
            <a:r>
              <a:rPr lang="en-US" altLang="ko-KR" b="1">
                <a:solidFill>
                  <a:srgbClr val="3366FF"/>
                </a:solidFill>
                <a:sym typeface="Wingdings 3" panose="05040102010807070707" pitchFamily="18" charset="2"/>
              </a:rPr>
              <a:t>CPU scheduling</a:t>
            </a:r>
          </a:p>
          <a:p>
            <a:pPr lvl="1">
              <a:lnSpc>
                <a:spcPct val="90000"/>
              </a:lnSpc>
            </a:pPr>
            <a:r>
              <a:rPr lang="en-US" altLang="ko-KR" sz="1600">
                <a:sym typeface="Wingdings 3" panose="05040102010807070707" pitchFamily="18" charset="2"/>
              </a:rPr>
              <a:t>If processes don</a:t>
            </a:r>
            <a:r>
              <a:rPr lang="ja-JP" altLang="en-US" sz="1600">
                <a:sym typeface="Wingdings 3" panose="05040102010807070707" pitchFamily="18" charset="2"/>
              </a:rPr>
              <a:t>’</a:t>
            </a:r>
            <a:r>
              <a:rPr lang="en-US" altLang="ja-JP" sz="1600">
                <a:sym typeface="Wingdings 3" panose="05040102010807070707" pitchFamily="18" charset="2"/>
              </a:rPr>
              <a:t>t fit in memory, </a:t>
            </a:r>
            <a:r>
              <a:rPr lang="en-US" altLang="ja-JP" b="1">
                <a:solidFill>
                  <a:srgbClr val="3366FF"/>
                </a:solidFill>
                <a:sym typeface="Wingdings 3" panose="05040102010807070707" pitchFamily="18" charset="2"/>
              </a:rPr>
              <a:t>swapping</a:t>
            </a:r>
            <a:r>
              <a:rPr lang="en-US" altLang="ja-JP" sz="1600">
                <a:sym typeface="Wingdings 3" panose="05040102010807070707" pitchFamily="18" charset="2"/>
              </a:rPr>
              <a:t> moves them in and out to run</a:t>
            </a:r>
          </a:p>
          <a:p>
            <a:pPr lvl="1">
              <a:lnSpc>
                <a:spcPct val="90000"/>
              </a:lnSpc>
            </a:pPr>
            <a:r>
              <a:rPr lang="en-US" altLang="ko-KR" b="1">
                <a:solidFill>
                  <a:srgbClr val="3366FF"/>
                </a:solidFill>
                <a:sym typeface="Wingdings 3" panose="05040102010807070707" pitchFamily="18" charset="2"/>
              </a:rPr>
              <a:t>Virtual memory </a:t>
            </a:r>
            <a:r>
              <a:rPr lang="en-US" altLang="ko-KR" sz="1600">
                <a:sym typeface="Wingdings 3" panose="05040102010807070707" pitchFamily="18" charset="2"/>
              </a:rPr>
              <a:t>allows execution of processes not completely in memory</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35</a:t>
            </a:fld>
            <a:endParaRPr lang="ko-KR" altLang="ko-KR"/>
          </a:p>
        </p:txBody>
      </p:sp>
    </p:spTree>
    <p:extLst>
      <p:ext uri="{BB962C8B-B14F-4D97-AF65-F5344CB8AC3E}">
        <p14:creationId xmlns:p14="http://schemas.microsoft.com/office/powerpoint/2010/main" val="32621993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a:xfrm>
            <a:off x="1033463" y="198438"/>
            <a:ext cx="8229600" cy="576262"/>
          </a:xfrm>
        </p:spPr>
        <p:txBody>
          <a:bodyPr/>
          <a:lstStyle/>
          <a:p>
            <a:pPr eaLnBrk="1" hangingPunct="1"/>
            <a:r>
              <a:rPr lang="en-US" altLang="ko-KR" sz="2800"/>
              <a:t>Memory Layout for Multiprogrammed System</a:t>
            </a:r>
          </a:p>
        </p:txBody>
      </p:sp>
      <p:pic>
        <p:nvPicPr>
          <p:cNvPr id="6144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663" y="1230313"/>
            <a:ext cx="2814637"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36</a:t>
            </a:fld>
            <a:endParaRPr lang="ko-KR" altLang="ko-KR"/>
          </a:p>
        </p:txBody>
      </p:sp>
    </p:spTree>
    <p:extLst>
      <p:ext uri="{BB962C8B-B14F-4D97-AF65-F5344CB8AC3E}">
        <p14:creationId xmlns:p14="http://schemas.microsoft.com/office/powerpoint/2010/main" val="4051822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a:xfrm>
            <a:off x="895350" y="166688"/>
            <a:ext cx="7791450" cy="576262"/>
          </a:xfrm>
        </p:spPr>
        <p:txBody>
          <a:bodyPr/>
          <a:lstStyle/>
          <a:p>
            <a:pPr eaLnBrk="1" hangingPunct="1"/>
            <a:r>
              <a:rPr lang="en-US" altLang="ko-KR"/>
              <a:t>Operating-System Operations</a:t>
            </a:r>
          </a:p>
        </p:txBody>
      </p:sp>
      <p:sp>
        <p:nvSpPr>
          <p:cNvPr id="63491" name="Rectangle 3"/>
          <p:cNvSpPr>
            <a:spLocks noGrp="1" noChangeArrowheads="1"/>
          </p:cNvSpPr>
          <p:nvPr>
            <p:ph type="body" idx="4294967295"/>
          </p:nvPr>
        </p:nvSpPr>
        <p:spPr>
          <a:xfrm>
            <a:off x="838200" y="1154113"/>
            <a:ext cx="8001000" cy="4938712"/>
          </a:xfrm>
        </p:spPr>
        <p:txBody>
          <a:bodyPr/>
          <a:lstStyle/>
          <a:p>
            <a:pPr>
              <a:lnSpc>
                <a:spcPct val="90000"/>
              </a:lnSpc>
            </a:pPr>
            <a:r>
              <a:rPr lang="en-US" altLang="ko-KR" b="1" dirty="0" smtClean="0">
                <a:solidFill>
                  <a:srgbClr val="3366FF"/>
                </a:solidFill>
              </a:rPr>
              <a:t>OS is based on Interrupt </a:t>
            </a:r>
            <a:r>
              <a:rPr lang="en-US" altLang="ko-KR" b="1" dirty="0">
                <a:solidFill>
                  <a:srgbClr val="3366FF"/>
                </a:solidFill>
              </a:rPr>
              <a:t>driven </a:t>
            </a:r>
            <a:r>
              <a:rPr lang="en-US" altLang="ko-KR" dirty="0"/>
              <a:t>(hardware and software)</a:t>
            </a:r>
          </a:p>
          <a:p>
            <a:pPr lvl="1">
              <a:lnSpc>
                <a:spcPct val="90000"/>
              </a:lnSpc>
            </a:pPr>
            <a:r>
              <a:rPr lang="en-US" altLang="ko-KR" dirty="0">
                <a:solidFill>
                  <a:srgbClr val="C00000"/>
                </a:solidFill>
              </a:rPr>
              <a:t>Hardware interrupt by one of the devices </a:t>
            </a:r>
          </a:p>
          <a:p>
            <a:pPr lvl="1">
              <a:lnSpc>
                <a:spcPct val="90000"/>
              </a:lnSpc>
            </a:pPr>
            <a:r>
              <a:rPr lang="en-US" altLang="ko-KR" dirty="0">
                <a:solidFill>
                  <a:srgbClr val="C00000"/>
                </a:solidFill>
              </a:rPr>
              <a:t>Software interrupt </a:t>
            </a:r>
            <a:r>
              <a:rPr lang="en-US" altLang="ko-KR" dirty="0"/>
              <a:t>(</a:t>
            </a:r>
            <a:r>
              <a:rPr lang="en-US" altLang="ko-KR" b="1" dirty="0">
                <a:solidFill>
                  <a:srgbClr val="3366FF"/>
                </a:solidFill>
              </a:rPr>
              <a:t>exception </a:t>
            </a:r>
            <a:r>
              <a:rPr lang="en-US" altLang="ko-KR" dirty="0"/>
              <a:t>or </a:t>
            </a:r>
            <a:r>
              <a:rPr lang="en-US" altLang="ko-KR" b="1" dirty="0">
                <a:solidFill>
                  <a:srgbClr val="3366FF"/>
                </a:solidFill>
              </a:rPr>
              <a:t>trap</a:t>
            </a:r>
            <a:r>
              <a:rPr lang="en-US" altLang="ko-KR" b="1" dirty="0" smtClean="0">
                <a:solidFill>
                  <a:srgbClr val="3366FF"/>
                </a:solidFill>
              </a:rPr>
              <a:t>)</a:t>
            </a:r>
            <a:r>
              <a:rPr lang="en-US" altLang="ko-KR" dirty="0" smtClean="0"/>
              <a:t> happens when</a:t>
            </a:r>
            <a:r>
              <a:rPr lang="en-US" altLang="ko-KR" b="1" dirty="0" smtClean="0">
                <a:solidFill>
                  <a:srgbClr val="3366FF"/>
                </a:solidFill>
              </a:rPr>
              <a:t>:</a:t>
            </a:r>
            <a:endParaRPr lang="en-US" altLang="ko-KR" b="1" dirty="0">
              <a:solidFill>
                <a:srgbClr val="3366FF"/>
              </a:solidFill>
            </a:endParaRPr>
          </a:p>
          <a:p>
            <a:pPr lvl="2">
              <a:lnSpc>
                <a:spcPct val="90000"/>
              </a:lnSpc>
            </a:pPr>
            <a:r>
              <a:rPr lang="en-US" altLang="ko-KR" dirty="0"/>
              <a:t>Software error (e.g., division by zero)</a:t>
            </a:r>
            <a:endParaRPr lang="en-US" altLang="ko-KR" b="1" dirty="0">
              <a:solidFill>
                <a:srgbClr val="3366FF"/>
              </a:solidFill>
            </a:endParaRPr>
          </a:p>
          <a:p>
            <a:pPr lvl="2">
              <a:lnSpc>
                <a:spcPct val="90000"/>
              </a:lnSpc>
            </a:pPr>
            <a:r>
              <a:rPr lang="en-US" altLang="ko-KR" dirty="0"/>
              <a:t>Request for operating system service</a:t>
            </a:r>
          </a:p>
          <a:p>
            <a:pPr lvl="2">
              <a:lnSpc>
                <a:spcPct val="90000"/>
              </a:lnSpc>
            </a:pPr>
            <a:r>
              <a:rPr lang="en-US" altLang="ko-KR" dirty="0" smtClean="0"/>
              <a:t>Process </a:t>
            </a:r>
            <a:r>
              <a:rPr lang="en-US" altLang="ko-KR" dirty="0"/>
              <a:t>problems </a:t>
            </a:r>
            <a:r>
              <a:rPr lang="en-US" altLang="ko-KR" dirty="0" smtClean="0"/>
              <a:t>such as infinite loop</a:t>
            </a:r>
          </a:p>
          <a:p>
            <a:pPr lvl="2">
              <a:lnSpc>
                <a:spcPct val="90000"/>
              </a:lnSpc>
            </a:pPr>
            <a:r>
              <a:rPr lang="en-US" altLang="ko-KR" dirty="0" smtClean="0"/>
              <a:t>Processes modify </a:t>
            </a:r>
            <a:r>
              <a:rPr lang="en-US" altLang="ko-KR" dirty="0"/>
              <a:t>each other or the operating system</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37</a:t>
            </a:fld>
            <a:endParaRPr lang="ko-KR" altLang="ko-KR"/>
          </a:p>
        </p:txBody>
      </p:sp>
    </p:spTree>
    <p:extLst>
      <p:ext uri="{BB962C8B-B14F-4D97-AF65-F5344CB8AC3E}">
        <p14:creationId xmlns:p14="http://schemas.microsoft.com/office/powerpoint/2010/main" val="7235824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1179513" y="198438"/>
            <a:ext cx="7791450" cy="576262"/>
          </a:xfrm>
        </p:spPr>
        <p:txBody>
          <a:bodyPr/>
          <a:lstStyle/>
          <a:p>
            <a:pPr eaLnBrk="1" hangingPunct="1"/>
            <a:r>
              <a:rPr lang="en-US" altLang="ko-KR" sz="3200" dirty="0"/>
              <a:t>Operating-System Operations (cont.)</a:t>
            </a:r>
          </a:p>
        </p:txBody>
      </p:sp>
      <p:sp>
        <p:nvSpPr>
          <p:cNvPr id="65539" name="Rectangle 3"/>
          <p:cNvSpPr>
            <a:spLocks noGrp="1" noChangeArrowheads="1"/>
          </p:cNvSpPr>
          <p:nvPr>
            <p:ph type="body" idx="4294967295"/>
          </p:nvPr>
        </p:nvSpPr>
        <p:spPr>
          <a:xfrm>
            <a:off x="806450" y="1233488"/>
            <a:ext cx="7297738" cy="4938712"/>
          </a:xfrm>
        </p:spPr>
        <p:txBody>
          <a:bodyPr/>
          <a:lstStyle/>
          <a:p>
            <a:pPr>
              <a:lnSpc>
                <a:spcPct val="90000"/>
              </a:lnSpc>
            </a:pPr>
            <a:r>
              <a:rPr lang="en-US" altLang="ko-KR" b="1" dirty="0">
                <a:solidFill>
                  <a:srgbClr val="3366FF"/>
                </a:solidFill>
              </a:rPr>
              <a:t>Dual-mode </a:t>
            </a:r>
            <a:r>
              <a:rPr lang="en-US" altLang="ko-KR" dirty="0"/>
              <a:t>operation allows </a:t>
            </a:r>
            <a:r>
              <a:rPr lang="en-US" altLang="ko-KR" dirty="0">
                <a:solidFill>
                  <a:srgbClr val="C00000"/>
                </a:solidFill>
              </a:rPr>
              <a:t>OS to protect itself and other system components</a:t>
            </a:r>
          </a:p>
          <a:p>
            <a:pPr lvl="1">
              <a:lnSpc>
                <a:spcPct val="90000"/>
              </a:lnSpc>
            </a:pPr>
            <a:r>
              <a:rPr lang="en-US" altLang="ko-KR" b="1" dirty="0">
                <a:solidFill>
                  <a:srgbClr val="3366FF"/>
                </a:solidFill>
              </a:rPr>
              <a:t>User mode </a:t>
            </a:r>
            <a:r>
              <a:rPr lang="en-US" altLang="ko-KR" dirty="0"/>
              <a:t>and </a:t>
            </a:r>
            <a:r>
              <a:rPr lang="en-US" altLang="ko-KR" b="1" dirty="0">
                <a:solidFill>
                  <a:srgbClr val="3366FF"/>
                </a:solidFill>
              </a:rPr>
              <a:t>kernel mode </a:t>
            </a:r>
          </a:p>
          <a:p>
            <a:pPr lvl="1">
              <a:lnSpc>
                <a:spcPct val="90000"/>
              </a:lnSpc>
            </a:pPr>
            <a:r>
              <a:rPr lang="en-US" altLang="ko-KR" b="1" dirty="0">
                <a:solidFill>
                  <a:srgbClr val="3366FF"/>
                </a:solidFill>
              </a:rPr>
              <a:t>Mode bit </a:t>
            </a:r>
            <a:r>
              <a:rPr lang="en-US" altLang="ko-KR" dirty="0"/>
              <a:t>provided by hardware</a:t>
            </a:r>
          </a:p>
          <a:p>
            <a:pPr lvl="2">
              <a:lnSpc>
                <a:spcPct val="90000"/>
              </a:lnSpc>
            </a:pPr>
            <a:r>
              <a:rPr lang="en-US" altLang="ko-KR" dirty="0"/>
              <a:t>Provides ability to distinguish when system is running user code or kernel code</a:t>
            </a:r>
          </a:p>
          <a:p>
            <a:pPr lvl="2">
              <a:lnSpc>
                <a:spcPct val="90000"/>
              </a:lnSpc>
            </a:pPr>
            <a:r>
              <a:rPr lang="en-US" altLang="ko-KR" dirty="0"/>
              <a:t>Some instructions designated as </a:t>
            </a:r>
            <a:r>
              <a:rPr lang="en-US" altLang="ko-KR" b="1" dirty="0">
                <a:solidFill>
                  <a:srgbClr val="3366FF"/>
                </a:solidFill>
              </a:rPr>
              <a:t>privileged</a:t>
            </a:r>
            <a:r>
              <a:rPr lang="en-US" altLang="ko-KR" dirty="0"/>
              <a:t>, only executable in kernel mode</a:t>
            </a:r>
          </a:p>
          <a:p>
            <a:pPr lvl="2">
              <a:lnSpc>
                <a:spcPct val="90000"/>
              </a:lnSpc>
            </a:pPr>
            <a:r>
              <a:rPr lang="en-US" altLang="ko-KR" dirty="0"/>
              <a:t>System call changes mode to kernel, return from call resets it to user</a:t>
            </a:r>
          </a:p>
          <a:p>
            <a:pPr>
              <a:lnSpc>
                <a:spcPct val="90000"/>
              </a:lnSpc>
            </a:pPr>
            <a:r>
              <a:rPr lang="en-US" altLang="ko-KR" dirty="0"/>
              <a:t>Increasingly </a:t>
            </a:r>
            <a:r>
              <a:rPr lang="en-US" altLang="ko-KR" dirty="0">
                <a:solidFill>
                  <a:srgbClr val="C00000"/>
                </a:solidFill>
              </a:rPr>
              <a:t>CPUs support multi-mode operations</a:t>
            </a:r>
          </a:p>
          <a:p>
            <a:pPr lvl="1">
              <a:lnSpc>
                <a:spcPct val="90000"/>
              </a:lnSpc>
            </a:pPr>
            <a:r>
              <a:rPr lang="en-US" altLang="ko-KR" dirty="0"/>
              <a:t>i.e. </a:t>
            </a:r>
            <a:r>
              <a:rPr lang="en-US" altLang="ko-KR" b="1" dirty="0">
                <a:solidFill>
                  <a:srgbClr val="3366FF"/>
                </a:solidFill>
              </a:rPr>
              <a:t>virtual machine manager </a:t>
            </a:r>
            <a:r>
              <a:rPr lang="en-US" altLang="ko-KR" dirty="0"/>
              <a:t>(</a:t>
            </a:r>
            <a:r>
              <a:rPr lang="en-US" altLang="ko-KR" b="1" dirty="0">
                <a:solidFill>
                  <a:srgbClr val="3366FF"/>
                </a:solidFill>
              </a:rPr>
              <a:t>VMM</a:t>
            </a:r>
            <a:r>
              <a:rPr lang="en-US" altLang="ko-KR" dirty="0"/>
              <a:t>) mode for guest </a:t>
            </a:r>
            <a:r>
              <a:rPr lang="en-US" altLang="ko-KR" b="1" dirty="0">
                <a:solidFill>
                  <a:srgbClr val="3366FF"/>
                </a:solidFill>
              </a:rPr>
              <a:t>VMs</a:t>
            </a:r>
          </a:p>
          <a:p>
            <a:pPr lvl="1">
              <a:lnSpc>
                <a:spcPct val="90000"/>
              </a:lnSpc>
            </a:pPr>
            <a:endParaRPr lang="en-US" altLang="ko-KR" sz="1600"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38</a:t>
            </a:fld>
            <a:endParaRPr lang="ko-KR" altLang="ko-KR"/>
          </a:p>
        </p:txBody>
      </p:sp>
    </p:spTree>
    <p:extLst>
      <p:ext uri="{BB962C8B-B14F-4D97-AF65-F5344CB8AC3E}">
        <p14:creationId xmlns:p14="http://schemas.microsoft.com/office/powerpoint/2010/main" val="1149949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882650" y="136525"/>
            <a:ext cx="8415338" cy="576263"/>
          </a:xfrm>
        </p:spPr>
        <p:txBody>
          <a:bodyPr/>
          <a:lstStyle/>
          <a:p>
            <a:pPr eaLnBrk="1" hangingPunct="1"/>
            <a:r>
              <a:rPr lang="en-US" altLang="ko-KR" sz="3200" dirty="0"/>
              <a:t>Transition from User to Kernel Mode</a:t>
            </a:r>
          </a:p>
        </p:txBody>
      </p:sp>
      <p:sp>
        <p:nvSpPr>
          <p:cNvPr id="67587" name="Rectangle 4"/>
          <p:cNvSpPr>
            <a:spLocks noGrp="1" noChangeArrowheads="1"/>
          </p:cNvSpPr>
          <p:nvPr>
            <p:ph type="body" idx="4294967295"/>
          </p:nvPr>
        </p:nvSpPr>
        <p:spPr>
          <a:xfrm>
            <a:off x="822325" y="1219200"/>
            <a:ext cx="7753350" cy="2817813"/>
          </a:xfrm>
        </p:spPr>
        <p:txBody>
          <a:bodyPr/>
          <a:lstStyle/>
          <a:p>
            <a:r>
              <a:rPr lang="en-US" altLang="ko-KR" sz="2000" dirty="0">
                <a:solidFill>
                  <a:srgbClr val="C00000"/>
                </a:solidFill>
              </a:rPr>
              <a:t>Timer to prevent infinite loop / process </a:t>
            </a:r>
            <a:r>
              <a:rPr lang="en-US" altLang="ko-KR" sz="2000">
                <a:solidFill>
                  <a:srgbClr val="C00000"/>
                </a:solidFill>
              </a:rPr>
              <a:t>hogging resources</a:t>
            </a:r>
            <a:r>
              <a:rPr lang="en-US" altLang="ko-KR" sz="2000">
                <a:solidFill>
                  <a:srgbClr val="C00000"/>
                </a:solidFill>
                <a:latin typeface="나눔고딕" panose="020D0604000000000000" pitchFamily="50" charset="-127"/>
                <a:ea typeface="나눔고딕" panose="020D0604000000000000" pitchFamily="50" charset="-127"/>
              </a:rPr>
              <a:t>(</a:t>
            </a:r>
            <a:r>
              <a:rPr lang="ko-KR" altLang="en-US" sz="2000">
                <a:solidFill>
                  <a:srgbClr val="C00000"/>
                </a:solidFill>
                <a:latin typeface="나눔고딕" panose="020D0604000000000000" pitchFamily="50" charset="-127"/>
                <a:ea typeface="나눔고딕" panose="020D0604000000000000" pitchFamily="50" charset="-127"/>
              </a:rPr>
              <a:t>무한루프 및 프로세스의 자원 독점 방지</a:t>
            </a:r>
            <a:r>
              <a:rPr lang="en-US" altLang="ko-KR" sz="2000">
                <a:solidFill>
                  <a:srgbClr val="C00000"/>
                </a:solidFill>
                <a:latin typeface="나눔고딕" panose="020D0604000000000000" pitchFamily="50" charset="-127"/>
                <a:ea typeface="나눔고딕" panose="020D0604000000000000" pitchFamily="50" charset="-127"/>
              </a:rPr>
              <a:t>)</a:t>
            </a:r>
            <a:endParaRPr lang="en-US" altLang="ko-KR" sz="2000" dirty="0">
              <a:solidFill>
                <a:srgbClr val="C00000"/>
              </a:solidFill>
              <a:latin typeface="나눔고딕" panose="020D0604000000000000" pitchFamily="50" charset="-127"/>
              <a:ea typeface="나눔고딕" panose="020D0604000000000000" pitchFamily="50" charset="-127"/>
            </a:endParaRPr>
          </a:p>
          <a:p>
            <a:pPr lvl="1"/>
            <a:r>
              <a:rPr lang="en-US" altLang="ko-KR" sz="1800" dirty="0"/>
              <a:t>Timer is set to interrupt the computer </a:t>
            </a:r>
            <a:r>
              <a:rPr lang="en-US" altLang="ko-KR" sz="1800" dirty="0">
                <a:solidFill>
                  <a:srgbClr val="0000FF"/>
                </a:solidFill>
              </a:rPr>
              <a:t>after some time period</a:t>
            </a:r>
          </a:p>
          <a:p>
            <a:pPr lvl="1"/>
            <a:r>
              <a:rPr lang="en-US" altLang="ko-KR" sz="1800" dirty="0"/>
              <a:t>Keep a counter that is decremented by the physical clock.</a:t>
            </a:r>
          </a:p>
          <a:p>
            <a:pPr lvl="1"/>
            <a:r>
              <a:rPr lang="en-US" altLang="ko-KR" sz="1800" dirty="0"/>
              <a:t>Operating system set the counter (privileged instruction)</a:t>
            </a:r>
          </a:p>
          <a:p>
            <a:pPr lvl="1"/>
            <a:r>
              <a:rPr lang="en-US" altLang="ko-KR" sz="1800" dirty="0">
                <a:solidFill>
                  <a:srgbClr val="0000FF"/>
                </a:solidFill>
              </a:rPr>
              <a:t>When counter zero generate an interrupt</a:t>
            </a:r>
          </a:p>
          <a:p>
            <a:pPr lvl="1"/>
            <a:r>
              <a:rPr lang="en-US" altLang="ko-KR" sz="1800" dirty="0"/>
              <a:t>Set up before scheduling process to regain control or terminate program that exceeds allotted time</a:t>
            </a:r>
          </a:p>
        </p:txBody>
      </p:sp>
      <p:pic>
        <p:nvPicPr>
          <p:cNvPr id="6758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350" y="3895725"/>
            <a:ext cx="7602538" cy="234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39</a:t>
            </a:fld>
            <a:endParaRPr lang="ko-KR" altLang="ko-KR"/>
          </a:p>
        </p:txBody>
      </p:sp>
    </p:spTree>
    <p:extLst>
      <p:ext uri="{BB962C8B-B14F-4D97-AF65-F5344CB8AC3E}">
        <p14:creationId xmlns:p14="http://schemas.microsoft.com/office/powerpoint/2010/main" val="3762403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1089025" y="198438"/>
            <a:ext cx="7597775" cy="576262"/>
          </a:xfrm>
        </p:spPr>
        <p:txBody>
          <a:bodyPr/>
          <a:lstStyle/>
          <a:p>
            <a:pPr eaLnBrk="1" hangingPunct="1"/>
            <a:r>
              <a:rPr lang="en-US" altLang="ko-KR" sz="3200" dirty="0"/>
              <a:t>Process Management</a:t>
            </a:r>
          </a:p>
        </p:txBody>
      </p:sp>
      <p:sp>
        <p:nvSpPr>
          <p:cNvPr id="69635" name="Rectangle 3"/>
          <p:cNvSpPr>
            <a:spLocks noGrp="1" noChangeArrowheads="1"/>
          </p:cNvSpPr>
          <p:nvPr>
            <p:ph type="body" idx="4294967295"/>
          </p:nvPr>
        </p:nvSpPr>
        <p:spPr>
          <a:xfrm>
            <a:off x="890588" y="809625"/>
            <a:ext cx="7197725" cy="5105400"/>
          </a:xfrm>
        </p:spPr>
        <p:txBody>
          <a:bodyPr/>
          <a:lstStyle/>
          <a:p>
            <a:pPr>
              <a:lnSpc>
                <a:spcPct val="90000"/>
              </a:lnSpc>
            </a:pPr>
            <a:endParaRPr lang="en-US" altLang="ko-KR" sz="1800" dirty="0"/>
          </a:p>
          <a:p>
            <a:pPr>
              <a:lnSpc>
                <a:spcPct val="90000"/>
              </a:lnSpc>
            </a:pPr>
            <a:r>
              <a:rPr lang="en-US" altLang="ko-KR" sz="1800" dirty="0">
                <a:solidFill>
                  <a:srgbClr val="0000FF"/>
                </a:solidFill>
              </a:rPr>
              <a:t>A process is a program in execution</a:t>
            </a:r>
            <a:r>
              <a:rPr lang="en-US" altLang="ko-KR" sz="1800" dirty="0"/>
              <a:t>. It is a unit of work within the system. Program is a </a:t>
            </a:r>
            <a:r>
              <a:rPr lang="en-US" altLang="ko-KR" sz="1800" b="1" i="1" dirty="0"/>
              <a:t>passive entity</a:t>
            </a:r>
            <a:r>
              <a:rPr lang="en-US" altLang="ko-KR" sz="1800" dirty="0"/>
              <a:t>, </a:t>
            </a:r>
            <a:r>
              <a:rPr lang="en-US" altLang="ko-KR" sz="1800" dirty="0">
                <a:solidFill>
                  <a:srgbClr val="0000FF"/>
                </a:solidFill>
              </a:rPr>
              <a:t>process is an </a:t>
            </a:r>
            <a:r>
              <a:rPr lang="en-US" altLang="ko-KR" sz="1800" b="1" i="1" dirty="0">
                <a:solidFill>
                  <a:srgbClr val="0000FF"/>
                </a:solidFill>
              </a:rPr>
              <a:t>active entity</a:t>
            </a:r>
            <a:r>
              <a:rPr lang="en-US" altLang="ko-KR" sz="1800" dirty="0">
                <a:solidFill>
                  <a:srgbClr val="0000FF"/>
                </a:solidFill>
              </a:rPr>
              <a:t>.</a:t>
            </a:r>
          </a:p>
          <a:p>
            <a:pPr>
              <a:lnSpc>
                <a:spcPct val="90000"/>
              </a:lnSpc>
            </a:pPr>
            <a:r>
              <a:rPr lang="en-US" altLang="ko-KR" sz="1800" dirty="0"/>
              <a:t>Process needs resources to accomplish its task</a:t>
            </a:r>
          </a:p>
          <a:p>
            <a:pPr lvl="1">
              <a:lnSpc>
                <a:spcPct val="90000"/>
              </a:lnSpc>
            </a:pPr>
            <a:r>
              <a:rPr lang="en-US" altLang="ko-KR" sz="1600" dirty="0"/>
              <a:t>CPU, memory, I/O, files</a:t>
            </a:r>
          </a:p>
          <a:p>
            <a:pPr lvl="1">
              <a:lnSpc>
                <a:spcPct val="90000"/>
              </a:lnSpc>
            </a:pPr>
            <a:r>
              <a:rPr lang="en-US" altLang="ko-KR" sz="1600" dirty="0"/>
              <a:t>Initialization data</a:t>
            </a:r>
          </a:p>
          <a:p>
            <a:pPr>
              <a:lnSpc>
                <a:spcPct val="90000"/>
              </a:lnSpc>
            </a:pPr>
            <a:r>
              <a:rPr lang="en-US" altLang="ko-KR" sz="1800" dirty="0"/>
              <a:t>Process termination requires reclaim of any reusable resources</a:t>
            </a:r>
          </a:p>
          <a:p>
            <a:pPr>
              <a:lnSpc>
                <a:spcPct val="90000"/>
              </a:lnSpc>
            </a:pPr>
            <a:r>
              <a:rPr lang="en-US" altLang="ko-KR" sz="1800" dirty="0"/>
              <a:t> Typically system has many processes, some user, some operating system running concurrently on one or more CPUs</a:t>
            </a:r>
          </a:p>
          <a:p>
            <a:pPr lvl="1">
              <a:lnSpc>
                <a:spcPct val="90000"/>
              </a:lnSpc>
            </a:pPr>
            <a:r>
              <a:rPr lang="en-US" altLang="ko-KR" sz="1600" dirty="0"/>
              <a:t>Concurrency by multiplexing the CPUs among the processes / threads</a:t>
            </a:r>
          </a:p>
          <a:p>
            <a:pPr>
              <a:lnSpc>
                <a:spcPct val="90000"/>
              </a:lnSpc>
              <a:buFont typeface="Monotype Sorts" pitchFamily="-84" charset="2"/>
              <a:buNone/>
            </a:pPr>
            <a:endParaRPr lang="en-US" altLang="ko-KR" sz="1800" dirty="0"/>
          </a:p>
          <a:p>
            <a:pPr>
              <a:lnSpc>
                <a:spcPct val="90000"/>
              </a:lnSpc>
            </a:pPr>
            <a:endParaRPr lang="en-US" altLang="ko-KR" sz="1800"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40</a:t>
            </a:fld>
            <a:endParaRPr lang="ko-KR" altLang="ko-KR"/>
          </a:p>
        </p:txBody>
      </p:sp>
    </p:spTree>
    <p:extLst>
      <p:ext uri="{BB962C8B-B14F-4D97-AF65-F5344CB8AC3E}">
        <p14:creationId xmlns:p14="http://schemas.microsoft.com/office/powerpoint/2010/main" val="31748625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idx="4294967295"/>
          </p:nvPr>
        </p:nvSpPr>
        <p:spPr>
          <a:xfrm>
            <a:off x="1089025" y="198438"/>
            <a:ext cx="7597775" cy="576262"/>
          </a:xfrm>
        </p:spPr>
        <p:txBody>
          <a:bodyPr/>
          <a:lstStyle/>
          <a:p>
            <a:pPr eaLnBrk="1" hangingPunct="1"/>
            <a:r>
              <a:rPr lang="en-US" altLang="ko-KR" sz="3200" dirty="0"/>
              <a:t>Process Management</a:t>
            </a:r>
          </a:p>
        </p:txBody>
      </p:sp>
      <p:sp>
        <p:nvSpPr>
          <p:cNvPr id="69635" name="Rectangle 3"/>
          <p:cNvSpPr>
            <a:spLocks noGrp="1" noChangeArrowheads="1"/>
          </p:cNvSpPr>
          <p:nvPr>
            <p:ph type="body" idx="4294967295"/>
          </p:nvPr>
        </p:nvSpPr>
        <p:spPr>
          <a:xfrm>
            <a:off x="890588" y="1142999"/>
            <a:ext cx="7197725" cy="4772025"/>
          </a:xfrm>
        </p:spPr>
        <p:txBody>
          <a:bodyPr/>
          <a:lstStyle/>
          <a:p>
            <a:pPr>
              <a:lnSpc>
                <a:spcPct val="90000"/>
              </a:lnSpc>
            </a:pPr>
            <a:r>
              <a:rPr lang="en-US" altLang="ko-KR" sz="1800" dirty="0" smtClean="0"/>
              <a:t>Single-threaded </a:t>
            </a:r>
            <a:r>
              <a:rPr lang="en-US" altLang="ko-KR" sz="1800" dirty="0"/>
              <a:t>process has one </a:t>
            </a:r>
            <a:r>
              <a:rPr lang="en-US" altLang="ko-KR" sz="1800" b="1" dirty="0">
                <a:solidFill>
                  <a:srgbClr val="3366FF"/>
                </a:solidFill>
              </a:rPr>
              <a:t>program counter</a:t>
            </a:r>
            <a:r>
              <a:rPr lang="en-US" altLang="ko-KR" sz="1600" b="1" dirty="0">
                <a:solidFill>
                  <a:srgbClr val="3366FF"/>
                </a:solidFill>
              </a:rPr>
              <a:t> </a:t>
            </a:r>
            <a:r>
              <a:rPr lang="en-US" altLang="ko-KR" sz="1800" dirty="0"/>
              <a:t>specifying location of next instruction to execute</a:t>
            </a:r>
          </a:p>
          <a:p>
            <a:pPr lvl="1">
              <a:lnSpc>
                <a:spcPct val="90000"/>
              </a:lnSpc>
            </a:pPr>
            <a:r>
              <a:rPr lang="en-US" altLang="ko-KR" sz="1600" dirty="0"/>
              <a:t>Process executes instructions sequentially, one at a time, until completion</a:t>
            </a:r>
          </a:p>
          <a:p>
            <a:pPr>
              <a:lnSpc>
                <a:spcPct val="90000"/>
              </a:lnSpc>
            </a:pPr>
            <a:r>
              <a:rPr lang="en-US" altLang="ko-KR" sz="1800" dirty="0">
                <a:solidFill>
                  <a:srgbClr val="C00000"/>
                </a:solidFill>
              </a:rPr>
              <a:t>Multi-threaded process has one program counter per </a:t>
            </a:r>
            <a:r>
              <a:rPr lang="en-US" altLang="ko-KR" sz="1800" dirty="0" smtClean="0">
                <a:solidFill>
                  <a:srgbClr val="C00000"/>
                </a:solidFill>
              </a:rPr>
              <a:t>thread</a:t>
            </a:r>
          </a:p>
          <a:p>
            <a:pPr lvl="1">
              <a:buFont typeface="Arial" panose="020B0604020202020204" pitchFamily="34" charset="0"/>
              <a:buChar char="•"/>
            </a:pPr>
            <a:r>
              <a:rPr lang="en-US" altLang="ko-KR" sz="1200" dirty="0" smtClean="0"/>
              <a:t>Threads within the same process share the </a:t>
            </a:r>
            <a:r>
              <a:rPr lang="en-US" altLang="ko-KR" sz="1200" b="1" dirty="0" smtClean="0"/>
              <a:t>same</a:t>
            </a:r>
            <a:r>
              <a:rPr lang="en-US" altLang="ko-KR" sz="1200" dirty="0" smtClean="0"/>
              <a:t> virtual address space and file descriptors</a:t>
            </a:r>
          </a:p>
          <a:p>
            <a:pPr lvl="1">
              <a:buFont typeface="Arial" panose="020B0604020202020204" pitchFamily="34" charset="0"/>
              <a:buChar char="•"/>
            </a:pPr>
            <a:r>
              <a:rPr lang="en-US" altLang="ko-KR" sz="1200" dirty="0" smtClean="0"/>
              <a:t>Each thread has its own stack, stack pointer, program counter, and other CPU registers</a:t>
            </a:r>
          </a:p>
          <a:p>
            <a:pPr lvl="1">
              <a:buFont typeface="Arial" panose="020B0604020202020204" pitchFamily="34" charset="0"/>
              <a:buChar char="•"/>
            </a:pPr>
            <a:r>
              <a:rPr lang="en-US" altLang="ko-KR" sz="1200" dirty="0" smtClean="0"/>
              <a:t>A thread is the unit that the OS uses to schedule the processor</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41</a:t>
            </a:fld>
            <a:endParaRPr lang="ko-KR" altLang="ko-KR"/>
          </a:p>
        </p:txBody>
      </p:sp>
      <p:pic>
        <p:nvPicPr>
          <p:cNvPr id="3" name="그림 2"/>
          <p:cNvPicPr>
            <a:picLocks noChangeAspect="1"/>
          </p:cNvPicPr>
          <p:nvPr/>
        </p:nvPicPr>
        <p:blipFill>
          <a:blip r:embed="rId3"/>
          <a:stretch>
            <a:fillRect/>
          </a:stretch>
        </p:blipFill>
        <p:spPr>
          <a:xfrm>
            <a:off x="685800" y="3352800"/>
            <a:ext cx="8001000" cy="3429000"/>
          </a:xfrm>
          <a:prstGeom prst="rect">
            <a:avLst/>
          </a:prstGeom>
        </p:spPr>
      </p:pic>
    </p:spTree>
    <p:extLst>
      <p:ext uri="{BB962C8B-B14F-4D97-AF65-F5344CB8AC3E}">
        <p14:creationId xmlns:p14="http://schemas.microsoft.com/office/powerpoint/2010/main" val="1525993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idx="4294967295"/>
          </p:nvPr>
        </p:nvSpPr>
        <p:spPr>
          <a:xfrm>
            <a:off x="1128713" y="152400"/>
            <a:ext cx="7558087" cy="576263"/>
          </a:xfrm>
        </p:spPr>
        <p:txBody>
          <a:bodyPr/>
          <a:lstStyle/>
          <a:p>
            <a:pPr eaLnBrk="1" hangingPunct="1"/>
            <a:r>
              <a:rPr lang="en-US" altLang="ko-KR"/>
              <a:t>Process Management Activities</a:t>
            </a:r>
          </a:p>
        </p:txBody>
      </p:sp>
      <p:sp>
        <p:nvSpPr>
          <p:cNvPr id="71683" name="Rectangle 3"/>
          <p:cNvSpPr>
            <a:spLocks noGrp="1" noChangeArrowheads="1"/>
          </p:cNvSpPr>
          <p:nvPr>
            <p:ph type="body" idx="4294967295"/>
          </p:nvPr>
        </p:nvSpPr>
        <p:spPr>
          <a:xfrm>
            <a:off x="1125538" y="1587500"/>
            <a:ext cx="7958137" cy="4035425"/>
          </a:xfrm>
        </p:spPr>
        <p:txBody>
          <a:bodyPr/>
          <a:lstStyle/>
          <a:p>
            <a:pPr>
              <a:buFont typeface="Monotype Sorts" pitchFamily="-84" charset="2"/>
              <a:buNone/>
            </a:pPr>
            <a:r>
              <a:rPr lang="en-US" altLang="ko-KR" dirty="0"/>
              <a:t>     </a:t>
            </a:r>
          </a:p>
          <a:p>
            <a:r>
              <a:rPr lang="en-US" altLang="ko-KR" dirty="0"/>
              <a:t>Creating and deleting both user and system processes</a:t>
            </a:r>
          </a:p>
          <a:p>
            <a:r>
              <a:rPr lang="en-US" altLang="ko-KR" dirty="0"/>
              <a:t>Suspending and resuming processes</a:t>
            </a:r>
          </a:p>
          <a:p>
            <a:r>
              <a:rPr lang="en-US" altLang="ko-KR" dirty="0"/>
              <a:t>Providing mechanisms for process synchronization</a:t>
            </a:r>
          </a:p>
          <a:p>
            <a:r>
              <a:rPr lang="en-US" altLang="ko-KR" dirty="0"/>
              <a:t>Providing mechanisms for process communication</a:t>
            </a:r>
          </a:p>
          <a:p>
            <a:r>
              <a:rPr lang="en-US" altLang="ko-KR" dirty="0"/>
              <a:t>Providing mechanisms for deadlock handling</a:t>
            </a:r>
          </a:p>
        </p:txBody>
      </p:sp>
      <p:sp>
        <p:nvSpPr>
          <p:cNvPr id="71684" name="Text Box 4"/>
          <p:cNvSpPr txBox="1">
            <a:spLocks noChangeArrowheads="1"/>
          </p:cNvSpPr>
          <p:nvPr/>
        </p:nvSpPr>
        <p:spPr bwMode="auto">
          <a:xfrm>
            <a:off x="885825" y="1238250"/>
            <a:ext cx="81978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ko-KR" sz="2400" b="1" dirty="0">
                <a:solidFill>
                  <a:srgbClr val="0000FF"/>
                </a:solidFill>
              </a:rPr>
              <a:t>The operating system is responsible for the following activities in connection with process management:</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42</a:t>
            </a:fld>
            <a:endParaRPr lang="ko-KR" altLang="ko-KR"/>
          </a:p>
        </p:txBody>
      </p:sp>
    </p:spTree>
    <p:extLst>
      <p:ext uri="{BB962C8B-B14F-4D97-AF65-F5344CB8AC3E}">
        <p14:creationId xmlns:p14="http://schemas.microsoft.com/office/powerpoint/2010/main" val="38755540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idx="4294967295"/>
          </p:nvPr>
        </p:nvSpPr>
        <p:spPr>
          <a:xfrm>
            <a:off x="1090613" y="166688"/>
            <a:ext cx="7596187" cy="576262"/>
          </a:xfrm>
        </p:spPr>
        <p:txBody>
          <a:bodyPr/>
          <a:lstStyle/>
          <a:p>
            <a:pPr eaLnBrk="1" hangingPunct="1"/>
            <a:r>
              <a:rPr lang="en-US" altLang="ko-KR"/>
              <a:t>Memory Management</a:t>
            </a:r>
          </a:p>
        </p:txBody>
      </p:sp>
      <p:sp>
        <p:nvSpPr>
          <p:cNvPr id="73731" name="Rectangle 3"/>
          <p:cNvSpPr>
            <a:spLocks noGrp="1" noChangeArrowheads="1"/>
          </p:cNvSpPr>
          <p:nvPr>
            <p:ph type="body" idx="4294967295"/>
          </p:nvPr>
        </p:nvSpPr>
        <p:spPr>
          <a:xfrm>
            <a:off x="806450" y="1233488"/>
            <a:ext cx="7107238" cy="4530725"/>
          </a:xfrm>
        </p:spPr>
        <p:txBody>
          <a:bodyPr/>
          <a:lstStyle/>
          <a:p>
            <a:r>
              <a:rPr lang="en-US" altLang="ko-KR" sz="2000" dirty="0"/>
              <a:t>To execute a program all (or part) of the instructions must be in memory</a:t>
            </a:r>
          </a:p>
          <a:p>
            <a:r>
              <a:rPr lang="en-US" altLang="ko-KR" sz="2000" dirty="0"/>
              <a:t>All  (or part) of the data that is needed by the program must be in memory.</a:t>
            </a:r>
            <a:endParaRPr lang="en-US" altLang="ko-KR" sz="700" dirty="0"/>
          </a:p>
          <a:p>
            <a:r>
              <a:rPr lang="en-US" altLang="ko-KR" sz="2000" dirty="0"/>
              <a:t>Memory management determines what is in memory and when</a:t>
            </a:r>
          </a:p>
          <a:p>
            <a:pPr lvl="1"/>
            <a:r>
              <a:rPr lang="en-US" altLang="ko-KR" sz="1800" dirty="0"/>
              <a:t>Optimizing CPU utilization and computer response to users</a:t>
            </a:r>
            <a:endParaRPr lang="en-US" altLang="ko-KR" sz="700" dirty="0"/>
          </a:p>
          <a:p>
            <a:r>
              <a:rPr lang="en-US" altLang="ko-KR" sz="2000" dirty="0">
                <a:solidFill>
                  <a:srgbClr val="0000FF"/>
                </a:solidFill>
              </a:rPr>
              <a:t>Memory management activities</a:t>
            </a:r>
          </a:p>
          <a:p>
            <a:pPr lvl="1"/>
            <a:r>
              <a:rPr lang="en-US" altLang="ko-KR" sz="1800" dirty="0">
                <a:solidFill>
                  <a:srgbClr val="C00000"/>
                </a:solidFill>
              </a:rPr>
              <a:t>Keeping track of which parts of memory are currently being used and by whom</a:t>
            </a:r>
          </a:p>
          <a:p>
            <a:pPr lvl="1"/>
            <a:r>
              <a:rPr lang="en-US" altLang="ko-KR" sz="1800" dirty="0">
                <a:solidFill>
                  <a:srgbClr val="C00000"/>
                </a:solidFill>
              </a:rPr>
              <a:t>Deciding which processes (or parts thereof) and data to move into and out of memory</a:t>
            </a:r>
          </a:p>
          <a:p>
            <a:pPr lvl="1"/>
            <a:r>
              <a:rPr lang="en-US" altLang="ko-KR" sz="1800" dirty="0">
                <a:solidFill>
                  <a:srgbClr val="C00000"/>
                </a:solidFill>
              </a:rPr>
              <a:t>Allocating and deallocating memory space as needed</a:t>
            </a:r>
          </a:p>
          <a:p>
            <a:pPr lvl="1">
              <a:buFont typeface="Monotype Sorts" pitchFamily="-84" charset="2"/>
              <a:buNone/>
            </a:pPr>
            <a:endParaRPr lang="en-US" altLang="ko-KR" sz="1800"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43</a:t>
            </a:fld>
            <a:endParaRPr lang="ko-KR" altLang="ko-KR"/>
          </a:p>
        </p:txBody>
      </p:sp>
    </p:spTree>
    <p:extLst>
      <p:ext uri="{BB962C8B-B14F-4D97-AF65-F5344CB8AC3E}">
        <p14:creationId xmlns:p14="http://schemas.microsoft.com/office/powerpoint/2010/main" val="6193942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1128713" y="182563"/>
            <a:ext cx="7558087" cy="576262"/>
          </a:xfrm>
        </p:spPr>
        <p:txBody>
          <a:bodyPr/>
          <a:lstStyle/>
          <a:p>
            <a:pPr eaLnBrk="1" hangingPunct="1"/>
            <a:r>
              <a:rPr lang="en-US" altLang="ko-KR"/>
              <a:t>Storage Management</a:t>
            </a:r>
          </a:p>
        </p:txBody>
      </p:sp>
      <p:sp>
        <p:nvSpPr>
          <p:cNvPr id="75779" name="Rectangle 3"/>
          <p:cNvSpPr>
            <a:spLocks noGrp="1" noChangeArrowheads="1"/>
          </p:cNvSpPr>
          <p:nvPr>
            <p:ph type="body" idx="4294967295"/>
          </p:nvPr>
        </p:nvSpPr>
        <p:spPr>
          <a:xfrm>
            <a:off x="920750" y="1104900"/>
            <a:ext cx="7434263" cy="4992688"/>
          </a:xfrm>
        </p:spPr>
        <p:txBody>
          <a:bodyPr/>
          <a:lstStyle/>
          <a:p>
            <a:pPr>
              <a:lnSpc>
                <a:spcPct val="90000"/>
              </a:lnSpc>
            </a:pPr>
            <a:r>
              <a:rPr lang="en-US" altLang="ko-KR" dirty="0"/>
              <a:t>OS provides uniform, logical view of information storage</a:t>
            </a:r>
          </a:p>
          <a:p>
            <a:pPr lvl="1">
              <a:lnSpc>
                <a:spcPct val="90000"/>
              </a:lnSpc>
            </a:pPr>
            <a:r>
              <a:rPr lang="en-US" altLang="ko-KR" dirty="0"/>
              <a:t>Abstracts physical properties to logical storage unit  - </a:t>
            </a:r>
            <a:r>
              <a:rPr lang="en-US" altLang="ko-KR" b="1" dirty="0">
                <a:solidFill>
                  <a:srgbClr val="3366FF"/>
                </a:solidFill>
              </a:rPr>
              <a:t>file</a:t>
            </a:r>
          </a:p>
          <a:p>
            <a:pPr lvl="1">
              <a:lnSpc>
                <a:spcPct val="90000"/>
              </a:lnSpc>
            </a:pPr>
            <a:r>
              <a:rPr lang="en-US" altLang="ko-KR" dirty="0"/>
              <a:t>Each medium is controlled by device (i.e., disk drive, tape drive)</a:t>
            </a:r>
          </a:p>
          <a:p>
            <a:pPr lvl="2">
              <a:lnSpc>
                <a:spcPct val="90000"/>
              </a:lnSpc>
            </a:pPr>
            <a:r>
              <a:rPr lang="en-US" altLang="ko-KR" dirty="0"/>
              <a:t>Varying properties include access speed, capacity, data-transfer rate, access method (sequential or random)</a:t>
            </a:r>
          </a:p>
          <a:p>
            <a:pPr lvl="2">
              <a:lnSpc>
                <a:spcPct val="90000"/>
              </a:lnSpc>
            </a:pPr>
            <a:endParaRPr lang="en-US" altLang="ko-KR" sz="800" dirty="0"/>
          </a:p>
          <a:p>
            <a:pPr>
              <a:lnSpc>
                <a:spcPct val="90000"/>
              </a:lnSpc>
            </a:pPr>
            <a:r>
              <a:rPr lang="en-US" altLang="ko-KR" dirty="0">
                <a:solidFill>
                  <a:srgbClr val="C00000"/>
                </a:solidFill>
              </a:rPr>
              <a:t>File-System management</a:t>
            </a:r>
          </a:p>
          <a:p>
            <a:pPr lvl="1">
              <a:lnSpc>
                <a:spcPct val="90000"/>
              </a:lnSpc>
            </a:pPr>
            <a:r>
              <a:rPr lang="en-US" altLang="ko-KR" dirty="0"/>
              <a:t>Files usually organized into directories</a:t>
            </a:r>
          </a:p>
          <a:p>
            <a:pPr lvl="1">
              <a:lnSpc>
                <a:spcPct val="90000"/>
              </a:lnSpc>
            </a:pPr>
            <a:r>
              <a:rPr lang="en-US" altLang="ko-KR" dirty="0">
                <a:solidFill>
                  <a:srgbClr val="C00000"/>
                </a:solidFill>
              </a:rPr>
              <a:t>Access control on most systems to determine who can access what</a:t>
            </a:r>
          </a:p>
          <a:p>
            <a:pPr lvl="1">
              <a:lnSpc>
                <a:spcPct val="90000"/>
              </a:lnSpc>
            </a:pPr>
            <a:r>
              <a:rPr lang="en-US" altLang="ko-KR" dirty="0">
                <a:solidFill>
                  <a:srgbClr val="C00000"/>
                </a:solidFill>
              </a:rPr>
              <a:t>OS activities include</a:t>
            </a:r>
          </a:p>
          <a:p>
            <a:pPr lvl="2">
              <a:lnSpc>
                <a:spcPct val="90000"/>
              </a:lnSpc>
            </a:pPr>
            <a:r>
              <a:rPr lang="en-US" altLang="ko-KR" dirty="0"/>
              <a:t>Creating and deleting files and directories</a:t>
            </a:r>
          </a:p>
          <a:p>
            <a:pPr lvl="2">
              <a:lnSpc>
                <a:spcPct val="90000"/>
              </a:lnSpc>
            </a:pPr>
            <a:r>
              <a:rPr lang="en-US" altLang="ko-KR" dirty="0"/>
              <a:t>Primitives to manipulate files and directories</a:t>
            </a:r>
          </a:p>
          <a:p>
            <a:pPr lvl="2">
              <a:lnSpc>
                <a:spcPct val="90000"/>
              </a:lnSpc>
            </a:pPr>
            <a:r>
              <a:rPr lang="en-US" altLang="ko-KR" dirty="0"/>
              <a:t>Mapping files onto secondary storage</a:t>
            </a:r>
          </a:p>
          <a:p>
            <a:pPr lvl="2">
              <a:lnSpc>
                <a:spcPct val="90000"/>
              </a:lnSpc>
            </a:pPr>
            <a:r>
              <a:rPr lang="en-US" altLang="ko-KR" dirty="0"/>
              <a:t>Backup files onto stable (non-volatile) storage media</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44</a:t>
            </a:fld>
            <a:endParaRPr lang="ko-KR" altLang="ko-KR"/>
          </a:p>
        </p:txBody>
      </p:sp>
    </p:spTree>
    <p:extLst>
      <p:ext uri="{BB962C8B-B14F-4D97-AF65-F5344CB8AC3E}">
        <p14:creationId xmlns:p14="http://schemas.microsoft.com/office/powerpoint/2010/main" val="39236329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idx="4294967295"/>
          </p:nvPr>
        </p:nvSpPr>
        <p:spPr>
          <a:xfrm>
            <a:off x="1331913" y="277813"/>
            <a:ext cx="7354887" cy="576262"/>
          </a:xfrm>
        </p:spPr>
        <p:txBody>
          <a:bodyPr/>
          <a:lstStyle/>
          <a:p>
            <a:pPr eaLnBrk="1" hangingPunct="1"/>
            <a:r>
              <a:rPr lang="en-US" altLang="ko-KR"/>
              <a:t>Mass-Storage Management</a:t>
            </a:r>
          </a:p>
        </p:txBody>
      </p:sp>
      <p:sp>
        <p:nvSpPr>
          <p:cNvPr id="77827" name="Rectangle 3"/>
          <p:cNvSpPr>
            <a:spLocks noGrp="1" noChangeArrowheads="1"/>
          </p:cNvSpPr>
          <p:nvPr>
            <p:ph type="body" idx="4294967295"/>
          </p:nvPr>
        </p:nvSpPr>
        <p:spPr>
          <a:xfrm>
            <a:off x="806450" y="1233488"/>
            <a:ext cx="7575550" cy="4938712"/>
          </a:xfrm>
        </p:spPr>
        <p:txBody>
          <a:bodyPr/>
          <a:lstStyle/>
          <a:p>
            <a:r>
              <a:rPr lang="en-US" altLang="ko-KR" sz="2000" dirty="0"/>
              <a:t>Usually disks used to store data that does not fit in main memory or data that must be kept for a </a:t>
            </a:r>
            <a:r>
              <a:rPr lang="ja-JP" altLang="en-US" sz="2000" dirty="0"/>
              <a:t>“</a:t>
            </a:r>
            <a:r>
              <a:rPr lang="en-US" altLang="ja-JP" sz="2000" dirty="0"/>
              <a:t>long</a:t>
            </a:r>
            <a:r>
              <a:rPr lang="ja-JP" altLang="en-US" sz="2000" dirty="0"/>
              <a:t>”</a:t>
            </a:r>
            <a:r>
              <a:rPr lang="en-US" altLang="ja-JP" sz="2000" dirty="0"/>
              <a:t> period of time</a:t>
            </a:r>
          </a:p>
          <a:p>
            <a:r>
              <a:rPr lang="en-US" altLang="ko-KR" sz="2000" dirty="0"/>
              <a:t>Proper management is of central importance</a:t>
            </a:r>
          </a:p>
          <a:p>
            <a:r>
              <a:rPr lang="en-US" altLang="ko-KR" sz="2000" dirty="0"/>
              <a:t>Entire speed of computer operation hinges on disk subsystem and its algorithms</a:t>
            </a:r>
          </a:p>
          <a:p>
            <a:r>
              <a:rPr lang="en-US" altLang="ko-KR" sz="2000" dirty="0">
                <a:solidFill>
                  <a:srgbClr val="C00000"/>
                </a:solidFill>
              </a:rPr>
              <a:t>OS activities</a:t>
            </a:r>
          </a:p>
          <a:p>
            <a:pPr lvl="1"/>
            <a:r>
              <a:rPr lang="en-US" altLang="ko-KR" sz="1800" dirty="0"/>
              <a:t>Free-space management</a:t>
            </a:r>
          </a:p>
          <a:p>
            <a:pPr lvl="1"/>
            <a:r>
              <a:rPr lang="en-US" altLang="ko-KR" sz="1800" dirty="0"/>
              <a:t>Storage allocation</a:t>
            </a:r>
          </a:p>
          <a:p>
            <a:pPr lvl="1"/>
            <a:r>
              <a:rPr lang="en-US" altLang="ko-KR" sz="1800" dirty="0"/>
              <a:t>Disk scheduling</a:t>
            </a:r>
          </a:p>
          <a:p>
            <a:r>
              <a:rPr lang="en-US" altLang="ko-KR" sz="2000" dirty="0">
                <a:solidFill>
                  <a:srgbClr val="C00000"/>
                </a:solidFill>
              </a:rPr>
              <a:t>Some storage need not be fast</a:t>
            </a:r>
          </a:p>
          <a:p>
            <a:pPr lvl="1"/>
            <a:r>
              <a:rPr lang="en-US" altLang="ko-KR" sz="1800" dirty="0"/>
              <a:t>Tertiary storage includes optical storage, magnetic tape</a:t>
            </a:r>
          </a:p>
          <a:p>
            <a:pPr lvl="1"/>
            <a:r>
              <a:rPr lang="en-US" altLang="ko-KR" sz="1800" dirty="0"/>
              <a:t>Still must be managed – by OS or applications</a:t>
            </a:r>
          </a:p>
          <a:p>
            <a:pPr lvl="1"/>
            <a:r>
              <a:rPr lang="en-US" altLang="ko-KR" sz="1800" dirty="0"/>
              <a:t>Varies between WORM (write-once, read-many-times) and RW (read-write)</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45</a:t>
            </a:fld>
            <a:endParaRPr lang="ko-KR" altLang="ko-KR"/>
          </a:p>
        </p:txBody>
      </p:sp>
    </p:spTree>
    <p:extLst>
      <p:ext uri="{BB962C8B-B14F-4D97-AF65-F5344CB8AC3E}">
        <p14:creationId xmlns:p14="http://schemas.microsoft.com/office/powerpoint/2010/main" val="35186801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833438" y="182563"/>
            <a:ext cx="8531225" cy="576262"/>
          </a:xfrm>
        </p:spPr>
        <p:txBody>
          <a:bodyPr/>
          <a:lstStyle/>
          <a:p>
            <a:pPr eaLnBrk="1" hangingPunct="1"/>
            <a:r>
              <a:rPr lang="en-US" altLang="ko-KR" sz="2800"/>
              <a:t>Performance of Various Levels of Storage</a:t>
            </a:r>
          </a:p>
        </p:txBody>
      </p:sp>
      <p:sp>
        <p:nvSpPr>
          <p:cNvPr id="39939" name="Rectangle 3"/>
          <p:cNvSpPr>
            <a:spLocks noGrp="1" noChangeArrowheads="1"/>
          </p:cNvSpPr>
          <p:nvPr>
            <p:ph type="body" idx="4294967295"/>
          </p:nvPr>
        </p:nvSpPr>
        <p:spPr>
          <a:xfrm>
            <a:off x="806450" y="1233488"/>
            <a:ext cx="7707313" cy="3186112"/>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pitchFamily="-84" charset="2"/>
              <a:buNone/>
              <a:defRPr/>
            </a:pPr>
            <a:r>
              <a:rPr lang="en-US">
                <a:ea typeface="ＭＳ Ｐゴシック" charset="0"/>
                <a:cs typeface="ＭＳ Ｐゴシック" charset="0"/>
              </a:rPr>
              <a:t>   </a:t>
            </a:r>
            <a:r>
              <a:rPr lang="en-US" dirty="0">
                <a:ea typeface="ＭＳ Ｐゴシック" charset="0"/>
                <a:cs typeface="ＭＳ Ｐゴシック" charset="0"/>
              </a:rPr>
              <a:t>Movement between levels of storage hierarchy can be explicit or implicit</a:t>
            </a:r>
          </a:p>
        </p:txBody>
      </p:sp>
      <p:pic>
        <p:nvPicPr>
          <p:cNvPr id="79876" name="Picture 1" descr="1_1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87475" y="1349375"/>
            <a:ext cx="6877050" cy="287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46</a:t>
            </a:fld>
            <a:endParaRPr lang="ko-KR" altLang="ko-KR"/>
          </a:p>
        </p:txBody>
      </p:sp>
    </p:spTree>
    <p:extLst>
      <p:ext uri="{BB962C8B-B14F-4D97-AF65-F5344CB8AC3E}">
        <p14:creationId xmlns:p14="http://schemas.microsoft.com/office/powerpoint/2010/main" val="40094761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idx="4294967295"/>
          </p:nvPr>
        </p:nvSpPr>
        <p:spPr>
          <a:xfrm>
            <a:off x="1135063" y="136525"/>
            <a:ext cx="8229600" cy="576263"/>
          </a:xfrm>
        </p:spPr>
        <p:txBody>
          <a:bodyPr/>
          <a:lstStyle/>
          <a:p>
            <a:pPr eaLnBrk="1" hangingPunct="1"/>
            <a:r>
              <a:rPr lang="en-US" altLang="ko-KR" sz="2800"/>
              <a:t>Migration of data “A” from Disk to Register</a:t>
            </a:r>
          </a:p>
        </p:txBody>
      </p:sp>
      <p:sp>
        <p:nvSpPr>
          <p:cNvPr id="81923" name="Rectangle 3"/>
          <p:cNvSpPr>
            <a:spLocks noGrp="1" noChangeArrowheads="1"/>
          </p:cNvSpPr>
          <p:nvPr>
            <p:ph type="body" idx="4294967295"/>
          </p:nvPr>
        </p:nvSpPr>
        <p:spPr>
          <a:xfrm>
            <a:off x="806450" y="1233488"/>
            <a:ext cx="7391400" cy="4530725"/>
          </a:xfrm>
        </p:spPr>
        <p:txBody>
          <a:bodyPr/>
          <a:lstStyle/>
          <a:p>
            <a:r>
              <a:rPr lang="en-US" altLang="ko-KR" sz="2000" dirty="0">
                <a:solidFill>
                  <a:srgbClr val="C00000"/>
                </a:solidFill>
              </a:rPr>
              <a:t>Multitasking environments must be careful to use most recent value, </a:t>
            </a:r>
            <a:r>
              <a:rPr lang="en-US" altLang="ko-KR" sz="2000" dirty="0"/>
              <a:t>no matter where it is stored in the storage hierarchy</a:t>
            </a:r>
            <a:br>
              <a:rPr lang="en-US" altLang="ko-KR" sz="2000" dirty="0"/>
            </a:br>
            <a:r>
              <a:rPr lang="en-US" altLang="ko-KR" sz="2000" dirty="0"/>
              <a:t/>
            </a:r>
            <a:br>
              <a:rPr lang="en-US" altLang="ko-KR" sz="2000" dirty="0"/>
            </a:br>
            <a:r>
              <a:rPr lang="en-US" altLang="ko-KR" sz="2000" dirty="0"/>
              <a:t/>
            </a:r>
            <a:br>
              <a:rPr lang="en-US" altLang="ko-KR" sz="2000" dirty="0"/>
            </a:br>
            <a:r>
              <a:rPr lang="en-US" altLang="ko-KR" sz="2000" dirty="0"/>
              <a:t/>
            </a:r>
            <a:br>
              <a:rPr lang="en-US" altLang="ko-KR" sz="2000" dirty="0"/>
            </a:br>
            <a:endParaRPr lang="en-US" altLang="ko-KR" sz="2000" dirty="0"/>
          </a:p>
          <a:p>
            <a:r>
              <a:rPr lang="en-US" altLang="ko-KR" sz="2000" dirty="0"/>
              <a:t>Multiprocessor environment must provide </a:t>
            </a:r>
            <a:r>
              <a:rPr lang="en-US" altLang="ko-KR" sz="2000" b="1" dirty="0">
                <a:solidFill>
                  <a:srgbClr val="3366FF"/>
                </a:solidFill>
              </a:rPr>
              <a:t>cache coherency </a:t>
            </a:r>
            <a:r>
              <a:rPr lang="en-US" altLang="ko-KR" sz="2000" dirty="0"/>
              <a:t>in hardware such that all CPUs have the most recent value in their cache</a:t>
            </a:r>
            <a:endParaRPr lang="en-US" altLang="ko-KR" sz="700" dirty="0"/>
          </a:p>
          <a:p>
            <a:r>
              <a:rPr lang="en-US" altLang="ko-KR" sz="2000" dirty="0"/>
              <a:t>Distributed environment situation even more complex</a:t>
            </a:r>
          </a:p>
          <a:p>
            <a:pPr lvl="1"/>
            <a:r>
              <a:rPr lang="en-US" altLang="ko-KR" sz="1800" dirty="0"/>
              <a:t>Several copies of a datum can exist</a:t>
            </a:r>
          </a:p>
          <a:p>
            <a:pPr lvl="1"/>
            <a:r>
              <a:rPr lang="en-US" altLang="ko-KR" sz="1800" dirty="0"/>
              <a:t>Various solutions covered in Chapter 17</a:t>
            </a:r>
          </a:p>
        </p:txBody>
      </p:sp>
      <p:pic>
        <p:nvPicPr>
          <p:cNvPr id="81924" name="Picture 5" descr="C:\Users\as668\Desktop\1_1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2250" y="2211388"/>
            <a:ext cx="65595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47</a:t>
            </a:fld>
            <a:endParaRPr lang="ko-KR" altLang="ko-KR"/>
          </a:p>
        </p:txBody>
      </p:sp>
    </p:spTree>
    <p:extLst>
      <p:ext uri="{BB962C8B-B14F-4D97-AF65-F5344CB8AC3E}">
        <p14:creationId xmlns:p14="http://schemas.microsoft.com/office/powerpoint/2010/main" val="35535151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idx="4294967295"/>
          </p:nvPr>
        </p:nvSpPr>
        <p:spPr>
          <a:xfrm>
            <a:off x="822325" y="228600"/>
            <a:ext cx="7875108" cy="576262"/>
          </a:xfrm>
        </p:spPr>
        <p:txBody>
          <a:bodyPr/>
          <a:lstStyle/>
          <a:p>
            <a:pPr eaLnBrk="1" hangingPunct="1"/>
            <a:r>
              <a:rPr lang="en-US" altLang="ko-KR"/>
              <a:t>I/O Subsystem</a:t>
            </a:r>
          </a:p>
        </p:txBody>
      </p:sp>
      <p:sp>
        <p:nvSpPr>
          <p:cNvPr id="83971" name="Rectangle 3"/>
          <p:cNvSpPr>
            <a:spLocks noGrp="1" noChangeArrowheads="1"/>
          </p:cNvSpPr>
          <p:nvPr>
            <p:ph type="body" idx="4294967295"/>
          </p:nvPr>
        </p:nvSpPr>
        <p:spPr>
          <a:xfrm>
            <a:off x="822325" y="1169988"/>
            <a:ext cx="7265988" cy="4530725"/>
          </a:xfrm>
        </p:spPr>
        <p:txBody>
          <a:bodyPr/>
          <a:lstStyle/>
          <a:p>
            <a:r>
              <a:rPr lang="en-US" altLang="ko-KR" dirty="0"/>
              <a:t>One purpose of OS is to hide peculiarities of hardware devices from the user</a:t>
            </a:r>
          </a:p>
          <a:p>
            <a:r>
              <a:rPr lang="en-US" altLang="ko-KR" dirty="0">
                <a:solidFill>
                  <a:srgbClr val="0000FF"/>
                </a:solidFill>
              </a:rPr>
              <a:t>I/O subsystem responsible for</a:t>
            </a:r>
          </a:p>
          <a:p>
            <a:pPr lvl="1"/>
            <a:r>
              <a:rPr lang="en-US" altLang="ko-KR" dirty="0">
                <a:solidFill>
                  <a:srgbClr val="C00000"/>
                </a:solidFill>
              </a:rPr>
              <a:t>Memory management of I/O including buffering </a:t>
            </a:r>
            <a:r>
              <a:rPr lang="en-US" altLang="ko-KR" dirty="0"/>
              <a:t>(storing data temporarily while it is being transferred), </a:t>
            </a:r>
            <a:r>
              <a:rPr lang="en-US" altLang="ko-KR" dirty="0">
                <a:solidFill>
                  <a:srgbClr val="C00000"/>
                </a:solidFill>
              </a:rPr>
              <a:t>caching </a:t>
            </a:r>
            <a:r>
              <a:rPr lang="en-US" altLang="ko-KR" dirty="0"/>
              <a:t>(storing parts of data in faster storage for performance), </a:t>
            </a:r>
            <a:r>
              <a:rPr lang="en-US" altLang="ko-KR" dirty="0">
                <a:solidFill>
                  <a:srgbClr val="C00000"/>
                </a:solidFill>
              </a:rPr>
              <a:t>spooling </a:t>
            </a:r>
            <a:r>
              <a:rPr lang="en-US" altLang="ko-KR" dirty="0"/>
              <a:t>(the overlapping of output of one job with input of other jobs)</a:t>
            </a:r>
          </a:p>
          <a:p>
            <a:pPr lvl="1"/>
            <a:r>
              <a:rPr lang="en-US" altLang="ko-KR" dirty="0"/>
              <a:t>General device-driver interface</a:t>
            </a:r>
          </a:p>
          <a:p>
            <a:pPr lvl="1"/>
            <a:r>
              <a:rPr lang="en-US" altLang="ko-KR" dirty="0"/>
              <a:t>Drivers for specific hardware devices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48</a:t>
            </a:fld>
            <a:endParaRPr lang="ko-KR" altLang="ko-KR"/>
          </a:p>
        </p:txBody>
      </p:sp>
    </p:spTree>
    <p:extLst>
      <p:ext uri="{BB962C8B-B14F-4D97-AF65-F5344CB8AC3E}">
        <p14:creationId xmlns:p14="http://schemas.microsoft.com/office/powerpoint/2010/main" val="40017782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idx="4294967295"/>
          </p:nvPr>
        </p:nvSpPr>
        <p:spPr>
          <a:xfrm>
            <a:off x="1022350" y="182563"/>
            <a:ext cx="7664450" cy="576262"/>
          </a:xfrm>
        </p:spPr>
        <p:txBody>
          <a:bodyPr/>
          <a:lstStyle/>
          <a:p>
            <a:pPr eaLnBrk="1" hangingPunct="1"/>
            <a:r>
              <a:rPr lang="en-US" altLang="ko-KR"/>
              <a:t>Protection and Security</a:t>
            </a:r>
          </a:p>
        </p:txBody>
      </p:sp>
      <p:sp>
        <p:nvSpPr>
          <p:cNvPr id="86019" name="Rectangle 3"/>
          <p:cNvSpPr>
            <a:spLocks noGrp="1" noChangeArrowheads="1"/>
          </p:cNvSpPr>
          <p:nvPr>
            <p:ph type="body" idx="4294967295"/>
          </p:nvPr>
        </p:nvSpPr>
        <p:spPr>
          <a:xfrm>
            <a:off x="806450" y="1233488"/>
            <a:ext cx="7648575" cy="5183187"/>
          </a:xfrm>
        </p:spPr>
        <p:txBody>
          <a:bodyPr/>
          <a:lstStyle/>
          <a:p>
            <a:pPr>
              <a:lnSpc>
                <a:spcPct val="90000"/>
              </a:lnSpc>
            </a:pPr>
            <a:r>
              <a:rPr lang="en-US" altLang="ko-KR" sz="2000" b="1" dirty="0">
                <a:solidFill>
                  <a:srgbClr val="3366FF"/>
                </a:solidFill>
              </a:rPr>
              <a:t>Protection </a:t>
            </a:r>
            <a:r>
              <a:rPr lang="en-US" altLang="ko-KR" sz="2000" dirty="0"/>
              <a:t>– any mechanism for </a:t>
            </a:r>
            <a:r>
              <a:rPr lang="en-US" altLang="ko-KR" sz="2000" dirty="0">
                <a:solidFill>
                  <a:srgbClr val="C00000"/>
                </a:solidFill>
              </a:rPr>
              <a:t>controlling access </a:t>
            </a:r>
            <a:r>
              <a:rPr lang="en-US" altLang="ko-KR" sz="2000" dirty="0"/>
              <a:t>of processes or users to resources defined by the OS</a:t>
            </a:r>
            <a:endParaRPr lang="en-US" altLang="ko-KR" sz="700" dirty="0"/>
          </a:p>
          <a:p>
            <a:pPr>
              <a:lnSpc>
                <a:spcPct val="90000"/>
              </a:lnSpc>
            </a:pPr>
            <a:r>
              <a:rPr lang="en-US" altLang="ko-KR" sz="2000" b="1" dirty="0">
                <a:solidFill>
                  <a:srgbClr val="3366FF"/>
                </a:solidFill>
              </a:rPr>
              <a:t>Security </a:t>
            </a:r>
            <a:r>
              <a:rPr lang="en-US" altLang="ko-KR" sz="2000" dirty="0"/>
              <a:t>– </a:t>
            </a:r>
            <a:r>
              <a:rPr lang="en-US" altLang="ko-KR" sz="2000" dirty="0">
                <a:solidFill>
                  <a:srgbClr val="C00000"/>
                </a:solidFill>
              </a:rPr>
              <a:t>defense of the system against internal and external attacks</a:t>
            </a:r>
          </a:p>
          <a:p>
            <a:pPr lvl="1">
              <a:lnSpc>
                <a:spcPct val="90000"/>
              </a:lnSpc>
            </a:pPr>
            <a:r>
              <a:rPr lang="en-US" altLang="ko-KR" sz="1800" dirty="0"/>
              <a:t>Huge range, including denial-of-service, worms, viruses, identity theft, theft of service</a:t>
            </a:r>
            <a:endParaRPr lang="en-US" altLang="ko-KR" sz="700" dirty="0"/>
          </a:p>
          <a:p>
            <a:pPr>
              <a:lnSpc>
                <a:spcPct val="90000"/>
              </a:lnSpc>
            </a:pPr>
            <a:r>
              <a:rPr lang="en-US" altLang="ko-KR" sz="2000" dirty="0">
                <a:solidFill>
                  <a:srgbClr val="C00000"/>
                </a:solidFill>
              </a:rPr>
              <a:t>Systems generally first distinguish among users, to determine who can do what</a:t>
            </a:r>
          </a:p>
          <a:p>
            <a:pPr lvl="1">
              <a:lnSpc>
                <a:spcPct val="90000"/>
              </a:lnSpc>
            </a:pPr>
            <a:r>
              <a:rPr lang="en-US" altLang="ko-KR" sz="1800" dirty="0"/>
              <a:t>User identities (</a:t>
            </a:r>
            <a:r>
              <a:rPr lang="en-US" altLang="ko-KR" sz="1800" b="1" dirty="0">
                <a:solidFill>
                  <a:srgbClr val="3366FF"/>
                </a:solidFill>
              </a:rPr>
              <a:t>user IDs</a:t>
            </a:r>
            <a:r>
              <a:rPr lang="en-US" altLang="ko-KR" sz="1800" dirty="0"/>
              <a:t>, security IDs) include name and associated number, one per user</a:t>
            </a:r>
          </a:p>
          <a:p>
            <a:pPr lvl="1">
              <a:lnSpc>
                <a:spcPct val="90000"/>
              </a:lnSpc>
            </a:pPr>
            <a:r>
              <a:rPr lang="en-US" altLang="ko-KR" sz="1800" dirty="0"/>
              <a:t>User ID then associated with all files, processes of that user to determine access control</a:t>
            </a:r>
          </a:p>
          <a:p>
            <a:pPr lvl="1">
              <a:lnSpc>
                <a:spcPct val="90000"/>
              </a:lnSpc>
            </a:pPr>
            <a:r>
              <a:rPr lang="en-US" altLang="ko-KR" sz="1800" dirty="0"/>
              <a:t>Group identifier (</a:t>
            </a:r>
            <a:r>
              <a:rPr lang="en-US" altLang="ko-KR" sz="1800" b="1" dirty="0">
                <a:solidFill>
                  <a:srgbClr val="3366FF"/>
                </a:solidFill>
              </a:rPr>
              <a:t>group ID</a:t>
            </a:r>
            <a:r>
              <a:rPr lang="en-US" altLang="ko-KR" sz="1800" dirty="0"/>
              <a:t>) allows set of users to be defined and controls managed, then also associated with each process, file</a:t>
            </a:r>
          </a:p>
          <a:p>
            <a:pPr lvl="1">
              <a:lnSpc>
                <a:spcPct val="90000"/>
              </a:lnSpc>
            </a:pPr>
            <a:r>
              <a:rPr lang="en-US" altLang="ko-KR" sz="1800" b="1" dirty="0">
                <a:solidFill>
                  <a:srgbClr val="3366FF"/>
                </a:solidFill>
              </a:rPr>
              <a:t>Privilege escalation </a:t>
            </a:r>
            <a:r>
              <a:rPr lang="en-US" altLang="ko-KR" sz="1800" dirty="0"/>
              <a:t>allows user to change to effective ID with more rights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49</a:t>
            </a:fld>
            <a:endParaRPr lang="ko-KR" altLang="ko-KR"/>
          </a:p>
        </p:txBody>
      </p:sp>
    </p:spTree>
    <p:extLst>
      <p:ext uri="{BB962C8B-B14F-4D97-AF65-F5344CB8AC3E}">
        <p14:creationId xmlns:p14="http://schemas.microsoft.com/office/powerpoint/2010/main" val="26944835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457200" y="182563"/>
            <a:ext cx="8229600" cy="576262"/>
          </a:xfrm>
        </p:spPr>
        <p:txBody>
          <a:bodyPr/>
          <a:lstStyle/>
          <a:p>
            <a:r>
              <a:rPr lang="en-US" altLang="ko-KR"/>
              <a:t>Kernel Data Structures</a:t>
            </a:r>
          </a:p>
        </p:txBody>
      </p:sp>
      <p:sp>
        <p:nvSpPr>
          <p:cNvPr id="3" name="Content Placeholder 2"/>
          <p:cNvSpPr>
            <a:spLocks noGrp="1"/>
          </p:cNvSpPr>
          <p:nvPr>
            <p:ph idx="1"/>
          </p:nvPr>
        </p:nvSpPr>
        <p:spPr/>
        <p:txBody>
          <a:bodyPr/>
          <a:lstStyle/>
          <a:p>
            <a:pPr>
              <a:buFont typeface="Monotype Sorts" charset="0"/>
              <a:buChar char="n"/>
              <a:defRPr/>
            </a:pPr>
            <a:r>
              <a:rPr lang="en-US" sz="1800" dirty="0">
                <a:ea typeface="ＭＳ Ｐゴシック" charset="-128"/>
              </a:rPr>
              <a:t>Many similar to standard programming data structures</a:t>
            </a:r>
          </a:p>
          <a:p>
            <a:pPr>
              <a:buFont typeface="Monotype Sorts" charset="0"/>
              <a:buChar char="n"/>
              <a:defRPr/>
            </a:pPr>
            <a:r>
              <a:rPr lang="en-US" sz="1800" b="1" i="1" dirty="0">
                <a:ea typeface="ＭＳ Ｐゴシック" charset="-128"/>
              </a:rPr>
              <a:t>Singly linked list</a:t>
            </a: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r>
              <a:rPr lang="en-US" sz="1800" b="1" i="1" dirty="0">
                <a:ea typeface="ＭＳ Ｐゴシック" charset="-128"/>
              </a:rPr>
              <a:t>Doubly linked list</a:t>
            </a: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r>
              <a:rPr lang="en-US" sz="1800" b="1" i="1" dirty="0">
                <a:ea typeface="ＭＳ Ｐゴシック" charset="-128"/>
              </a:rPr>
              <a:t>Circular linked list</a:t>
            </a: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a:p>
            <a:pPr marL="0" indent="0">
              <a:buFont typeface="Monotype Sorts" charset="0"/>
              <a:buNone/>
              <a:defRPr/>
            </a:pPr>
            <a:endParaRPr lang="en-US" sz="1800" dirty="0">
              <a:ea typeface="ＭＳ Ｐゴシック" charset="-128"/>
            </a:endParaRPr>
          </a:p>
          <a:p>
            <a:pPr>
              <a:buFont typeface="Monotype Sorts" charset="0"/>
              <a:buChar char="n"/>
              <a:defRPr/>
            </a:pPr>
            <a:endParaRPr lang="en-US" sz="1800" dirty="0">
              <a:ea typeface="ＭＳ Ｐゴシック" charset="-128"/>
            </a:endParaRPr>
          </a:p>
        </p:txBody>
      </p:sp>
      <p:pic>
        <p:nvPicPr>
          <p:cNvPr id="88068" name="Picture 3" descr="1_13.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4" descr="1_14.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0" name="Picture 5" descr="1_15.pd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8F6B6D71-C84E-4D63-B1C5-D438FF08FD95}" type="slidenum">
              <a:rPr lang="en-US" altLang="ko-KR" smtClean="0"/>
              <a:pPr>
                <a:defRPr/>
              </a:pPr>
              <a:t>50</a:t>
            </a:fld>
            <a:endParaRPr lang="en-US" altLang="ko-KR"/>
          </a:p>
        </p:txBody>
      </p:sp>
    </p:spTree>
    <p:extLst>
      <p:ext uri="{BB962C8B-B14F-4D97-AF65-F5344CB8AC3E}">
        <p14:creationId xmlns:p14="http://schemas.microsoft.com/office/powerpoint/2010/main" val="2871516154"/>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a:xfrm>
            <a:off x="457200" y="198438"/>
            <a:ext cx="8229600" cy="576262"/>
          </a:xfrm>
        </p:spPr>
        <p:txBody>
          <a:bodyPr/>
          <a:lstStyle/>
          <a:p>
            <a:r>
              <a:rPr lang="en-US" altLang="ko-KR"/>
              <a:t>Kernel Data Structures</a:t>
            </a:r>
          </a:p>
        </p:txBody>
      </p:sp>
      <p:sp>
        <p:nvSpPr>
          <p:cNvPr id="89091" name="Content Placeholder 2"/>
          <p:cNvSpPr>
            <a:spLocks noGrp="1"/>
          </p:cNvSpPr>
          <p:nvPr>
            <p:ph sz="half" idx="1"/>
          </p:nvPr>
        </p:nvSpPr>
        <p:spPr>
          <a:xfrm>
            <a:off x="806450" y="1233488"/>
            <a:ext cx="7880350" cy="1604962"/>
          </a:xfrm>
        </p:spPr>
        <p:txBody>
          <a:bodyPr/>
          <a:lstStyle/>
          <a:p>
            <a:r>
              <a:rPr lang="en-US" altLang="ko-KR" sz="1800" b="1" dirty="0">
                <a:solidFill>
                  <a:srgbClr val="3366FF"/>
                </a:solidFill>
              </a:rPr>
              <a:t>Binary search tree</a:t>
            </a:r>
            <a:r>
              <a:rPr lang="en-US" altLang="ko-KR" sz="1800" dirty="0"/>
              <a:t/>
            </a:r>
            <a:br>
              <a:rPr lang="en-US" altLang="ko-KR" sz="1800" dirty="0"/>
            </a:br>
            <a:r>
              <a:rPr lang="en-US" altLang="ko-KR" sz="1800" dirty="0"/>
              <a:t>left &lt;= right</a:t>
            </a:r>
          </a:p>
          <a:p>
            <a:pPr lvl="1"/>
            <a:r>
              <a:rPr lang="en-US" altLang="ko-KR" sz="1800" dirty="0"/>
              <a:t>Search performance is </a:t>
            </a:r>
            <a:r>
              <a:rPr lang="en-US" altLang="ko-KR" sz="1800" i="1" dirty="0"/>
              <a:t>O(n</a:t>
            </a:r>
            <a:r>
              <a:rPr lang="en-US" altLang="ko-KR" sz="1800" i="1" dirty="0" smtClean="0"/>
              <a:t>) </a:t>
            </a:r>
            <a:r>
              <a:rPr lang="en-US" altLang="ko-KR" sz="1800" dirty="0" smtClean="0"/>
              <a:t> (</a:t>
            </a:r>
            <a:r>
              <a:rPr lang="ko-KR" altLang="en-US" sz="1800" dirty="0" smtClean="0"/>
              <a:t>최악의 경우</a:t>
            </a:r>
            <a:r>
              <a:rPr lang="en-US" altLang="ko-KR" sz="1800" dirty="0" smtClean="0"/>
              <a:t>)</a:t>
            </a:r>
            <a:endParaRPr lang="en-US" altLang="ko-KR" sz="1800" dirty="0"/>
          </a:p>
          <a:p>
            <a:pPr marL="457200" lvl="1" indent="0">
              <a:buNone/>
            </a:pPr>
            <a:r>
              <a:rPr lang="en-US" altLang="ko-KR" sz="1800" b="1" dirty="0" smtClean="0">
                <a:solidFill>
                  <a:srgbClr val="3366FF"/>
                </a:solidFill>
                <a:sym typeface="Wingdings" panose="05000000000000000000" pitchFamily="2" charset="2"/>
              </a:rPr>
              <a:t></a:t>
            </a:r>
            <a:r>
              <a:rPr lang="en-US" altLang="ko-KR" sz="1800" b="1" dirty="0" smtClean="0">
                <a:solidFill>
                  <a:srgbClr val="3366FF"/>
                </a:solidFill>
              </a:rPr>
              <a:t> Balanced </a:t>
            </a:r>
            <a:r>
              <a:rPr lang="en-US" altLang="ko-KR" sz="1800" b="1" dirty="0">
                <a:solidFill>
                  <a:srgbClr val="3366FF"/>
                </a:solidFill>
              </a:rPr>
              <a:t>binary search tree </a:t>
            </a:r>
            <a:r>
              <a:rPr lang="en-US" altLang="ko-KR" sz="1800" b="1" dirty="0" smtClean="0">
                <a:solidFill>
                  <a:srgbClr val="3366FF"/>
                </a:solidFill>
              </a:rPr>
              <a:t>algorithm </a:t>
            </a:r>
            <a:r>
              <a:rPr lang="ko-KR" altLang="en-US" sz="1800" b="1" dirty="0" smtClean="0">
                <a:solidFill>
                  <a:srgbClr val="3366FF"/>
                </a:solidFill>
              </a:rPr>
              <a:t>사용시</a:t>
            </a:r>
            <a:r>
              <a:rPr lang="en-US" altLang="ko-KR" sz="1800" b="1" dirty="0" smtClean="0">
                <a:solidFill>
                  <a:srgbClr val="3366FF"/>
                </a:solidFill>
              </a:rPr>
              <a:t>, </a:t>
            </a:r>
            <a:r>
              <a:rPr lang="en-US" altLang="ko-KR" sz="1800" i="1" dirty="0" smtClean="0"/>
              <a:t>O(</a:t>
            </a:r>
            <a:r>
              <a:rPr lang="en-US" altLang="ko-KR" sz="1800" i="1" dirty="0" err="1" smtClean="0"/>
              <a:t>lg</a:t>
            </a:r>
            <a:r>
              <a:rPr lang="en-US" altLang="ko-KR" sz="1800" i="1" dirty="0" smtClean="0"/>
              <a:t> </a:t>
            </a:r>
            <a:r>
              <a:rPr lang="en-US" altLang="ko-KR" sz="1800" i="1" dirty="0"/>
              <a:t>n</a:t>
            </a:r>
            <a:r>
              <a:rPr lang="en-US" altLang="ko-KR" sz="1800" i="1" dirty="0" smtClean="0"/>
              <a:t>) </a:t>
            </a:r>
            <a:endParaRPr lang="en-US" altLang="ko-KR" sz="1800" i="1"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a:buFont typeface="Monotype Sorts" pitchFamily="-84" charset="2"/>
              <a:buNone/>
            </a:pPr>
            <a:endParaRPr lang="en-US" altLang="ko-KR" dirty="0"/>
          </a:p>
          <a:p>
            <a:endParaRPr lang="en-US" altLang="ko-KR" dirty="0"/>
          </a:p>
        </p:txBody>
      </p:sp>
      <p:pic>
        <p:nvPicPr>
          <p:cNvPr id="89092" name="Picture 1" descr="1_16.pd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4D873581-941B-400F-B3F2-241556D8446C}" type="slidenum">
              <a:rPr lang="en-US" altLang="ko-KR" smtClean="0"/>
              <a:pPr>
                <a:defRPr/>
              </a:pPr>
              <a:t>51</a:t>
            </a:fld>
            <a:endParaRPr lang="en-US" altLang="ko-KR"/>
          </a:p>
        </p:txBody>
      </p:sp>
    </p:spTree>
    <p:extLst>
      <p:ext uri="{BB962C8B-B14F-4D97-AF65-F5344CB8AC3E}">
        <p14:creationId xmlns:p14="http://schemas.microsoft.com/office/powerpoint/2010/main" val="337580325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p:cNvSpPr>
            <a:spLocks noGrp="1"/>
          </p:cNvSpPr>
          <p:nvPr>
            <p:ph type="title"/>
          </p:nvPr>
        </p:nvSpPr>
        <p:spPr>
          <a:xfrm>
            <a:off x="457200" y="198438"/>
            <a:ext cx="8229600" cy="576262"/>
          </a:xfrm>
        </p:spPr>
        <p:txBody>
          <a:bodyPr/>
          <a:lstStyle/>
          <a:p>
            <a:r>
              <a:rPr lang="en-US" altLang="ko-KR"/>
              <a:t>Kernel Data Structures</a:t>
            </a:r>
          </a:p>
        </p:txBody>
      </p:sp>
      <p:sp>
        <p:nvSpPr>
          <p:cNvPr id="90115" name="Content Placeholder 2"/>
          <p:cNvSpPr>
            <a:spLocks noGrp="1"/>
          </p:cNvSpPr>
          <p:nvPr>
            <p:ph sz="half" idx="1"/>
          </p:nvPr>
        </p:nvSpPr>
        <p:spPr>
          <a:xfrm>
            <a:off x="806450" y="1233488"/>
            <a:ext cx="8337550" cy="4983162"/>
          </a:xfrm>
        </p:spPr>
        <p:txBody>
          <a:bodyPr/>
          <a:lstStyle/>
          <a:p>
            <a:r>
              <a:rPr lang="en-US" altLang="ko-KR" sz="1800" b="1" dirty="0">
                <a:solidFill>
                  <a:srgbClr val="3366FF"/>
                </a:solidFill>
              </a:rPr>
              <a:t>Hash function </a:t>
            </a:r>
            <a:r>
              <a:rPr lang="en-US" altLang="ko-KR" sz="1800" dirty="0"/>
              <a:t>can create a</a:t>
            </a:r>
            <a:r>
              <a:rPr lang="en-US" altLang="ko-KR" sz="1800" b="1" dirty="0">
                <a:solidFill>
                  <a:srgbClr val="3366FF"/>
                </a:solidFill>
              </a:rPr>
              <a:t> hash map</a:t>
            </a:r>
          </a:p>
          <a:p>
            <a:endParaRPr lang="en-US" altLang="ko-KR" sz="1800" b="1" i="1" dirty="0">
              <a:solidFill>
                <a:srgbClr val="3366FF"/>
              </a:solidFill>
            </a:endParaRPr>
          </a:p>
          <a:p>
            <a:endParaRPr lang="en-US" altLang="ko-KR" sz="1800" b="1" i="1" dirty="0">
              <a:solidFill>
                <a:srgbClr val="3366FF"/>
              </a:solidFill>
            </a:endParaRPr>
          </a:p>
          <a:p>
            <a:endParaRPr lang="en-US" altLang="ko-KR" sz="1800" b="1" i="1" dirty="0">
              <a:solidFill>
                <a:srgbClr val="3366FF"/>
              </a:solidFill>
            </a:endParaRPr>
          </a:p>
          <a:p>
            <a:endParaRPr lang="en-US" altLang="ko-KR" sz="1800" b="1" i="1" dirty="0">
              <a:solidFill>
                <a:srgbClr val="3366FF"/>
              </a:solidFill>
            </a:endParaRPr>
          </a:p>
          <a:p>
            <a:endParaRPr lang="en-US" altLang="ko-KR" sz="1800" b="1" i="1" dirty="0">
              <a:solidFill>
                <a:srgbClr val="3366FF"/>
              </a:solidFill>
            </a:endParaRPr>
          </a:p>
          <a:p>
            <a:endParaRPr lang="en-US" altLang="ko-KR" sz="1800" b="1" i="1" dirty="0">
              <a:solidFill>
                <a:srgbClr val="3366FF"/>
              </a:solidFill>
            </a:endParaRPr>
          </a:p>
          <a:p>
            <a:pPr>
              <a:buFont typeface="Monotype Sorts" pitchFamily="-84" charset="2"/>
              <a:buNone/>
            </a:pPr>
            <a:endParaRPr lang="en-US" altLang="ko-KR" sz="1800" b="1" i="1" dirty="0">
              <a:solidFill>
                <a:srgbClr val="3366FF"/>
              </a:solidFill>
            </a:endParaRPr>
          </a:p>
          <a:p>
            <a:r>
              <a:rPr lang="en-US" altLang="ko-KR" sz="1800" b="1" dirty="0">
                <a:solidFill>
                  <a:srgbClr val="3366FF"/>
                </a:solidFill>
              </a:rPr>
              <a:t>Bitmap</a:t>
            </a:r>
            <a:r>
              <a:rPr lang="en-US" altLang="ko-KR" sz="1800" dirty="0"/>
              <a:t> – string of </a:t>
            </a:r>
            <a:r>
              <a:rPr lang="en-US" altLang="ko-KR" sz="1800" i="1" dirty="0"/>
              <a:t>n</a:t>
            </a:r>
            <a:r>
              <a:rPr lang="en-US" altLang="ko-KR" sz="1800" dirty="0"/>
              <a:t> binary digits representing the status of </a:t>
            </a:r>
            <a:r>
              <a:rPr lang="en-US" altLang="ko-KR" sz="1800" i="1" dirty="0"/>
              <a:t>n</a:t>
            </a:r>
            <a:r>
              <a:rPr lang="en-US" altLang="ko-KR" sz="1800" dirty="0"/>
              <a:t> items</a:t>
            </a:r>
          </a:p>
          <a:p>
            <a:r>
              <a:rPr lang="en-US" altLang="ko-KR" sz="1800" dirty="0"/>
              <a:t>Linux data structures defined in</a:t>
            </a:r>
          </a:p>
          <a:p>
            <a:pPr>
              <a:buFont typeface="Monotype Sorts" pitchFamily="-84" charset="2"/>
              <a:buNone/>
            </a:pPr>
            <a:r>
              <a:rPr lang="en-US" altLang="ko-KR" sz="1800" b="1" i="1" dirty="0" smtClean="0"/>
              <a:t>include</a:t>
            </a:r>
            <a:r>
              <a:rPr lang="en-US" altLang="ko-KR" sz="1800" dirty="0" smtClean="0"/>
              <a:t> </a:t>
            </a:r>
            <a:r>
              <a:rPr lang="en-US" altLang="ko-KR" sz="1800" dirty="0"/>
              <a:t>files </a:t>
            </a:r>
            <a:r>
              <a:rPr lang="en-US" altLang="ko-KR" sz="1800" dirty="0">
                <a:latin typeface="Courier New" panose="02070309020205020404" pitchFamily="49" charset="0"/>
                <a:cs typeface="Courier New" panose="02070309020205020404" pitchFamily="49" charset="0"/>
              </a:rPr>
              <a:t>&lt;</a:t>
            </a:r>
            <a:r>
              <a:rPr lang="en-US" altLang="ko-KR" sz="1800" dirty="0" err="1">
                <a:latin typeface="Courier New" panose="02070309020205020404" pitchFamily="49" charset="0"/>
                <a:cs typeface="Courier New" panose="02070309020205020404" pitchFamily="49" charset="0"/>
              </a:rPr>
              <a:t>linux</a:t>
            </a:r>
            <a:r>
              <a:rPr lang="en-US" altLang="ko-KR" sz="1800" dirty="0">
                <a:latin typeface="Courier New" panose="02070309020205020404" pitchFamily="49" charset="0"/>
                <a:cs typeface="Courier New" panose="02070309020205020404" pitchFamily="49" charset="0"/>
              </a:rPr>
              <a:t>/</a:t>
            </a:r>
            <a:r>
              <a:rPr lang="en-US" altLang="ko-KR" sz="1800" dirty="0" err="1">
                <a:latin typeface="Courier New" panose="02070309020205020404" pitchFamily="49" charset="0"/>
                <a:cs typeface="Courier New" panose="02070309020205020404" pitchFamily="49" charset="0"/>
              </a:rPr>
              <a:t>list.h</a:t>
            </a:r>
            <a:r>
              <a:rPr lang="en-US" altLang="ko-KR" sz="1800" dirty="0">
                <a:latin typeface="Courier New" panose="02070309020205020404" pitchFamily="49" charset="0"/>
                <a:cs typeface="Courier New" panose="02070309020205020404" pitchFamily="49" charset="0"/>
              </a:rPr>
              <a:t>&gt;, &lt;</a:t>
            </a:r>
            <a:r>
              <a:rPr lang="en-US" altLang="ko-KR" sz="1800" dirty="0" err="1">
                <a:latin typeface="Courier New" panose="02070309020205020404" pitchFamily="49" charset="0"/>
                <a:cs typeface="Courier New" panose="02070309020205020404" pitchFamily="49" charset="0"/>
              </a:rPr>
              <a:t>linux</a:t>
            </a:r>
            <a:r>
              <a:rPr lang="en-US" altLang="ko-KR" sz="1800" dirty="0">
                <a:latin typeface="Courier New" panose="02070309020205020404" pitchFamily="49" charset="0"/>
                <a:cs typeface="Courier New" panose="02070309020205020404" pitchFamily="49" charset="0"/>
              </a:rPr>
              <a:t>/</a:t>
            </a:r>
            <a:r>
              <a:rPr lang="en-US" altLang="ko-KR" sz="1800" dirty="0" err="1">
                <a:latin typeface="Courier New" panose="02070309020205020404" pitchFamily="49" charset="0"/>
                <a:cs typeface="Courier New" panose="02070309020205020404" pitchFamily="49" charset="0"/>
              </a:rPr>
              <a:t>kfifo.h</a:t>
            </a:r>
            <a:r>
              <a:rPr lang="en-US" altLang="ko-KR" sz="1800" dirty="0" smtClean="0">
                <a:latin typeface="Courier New" panose="02070309020205020404" pitchFamily="49" charset="0"/>
                <a:cs typeface="Courier New" panose="02070309020205020404" pitchFamily="49" charset="0"/>
              </a:rPr>
              <a:t>&gt;,&lt;</a:t>
            </a:r>
            <a:r>
              <a:rPr lang="en-US" altLang="ko-KR" sz="1800" dirty="0" err="1">
                <a:latin typeface="Courier New" panose="02070309020205020404" pitchFamily="49" charset="0"/>
                <a:cs typeface="Courier New" panose="02070309020205020404" pitchFamily="49" charset="0"/>
              </a:rPr>
              <a:t>linux</a:t>
            </a:r>
            <a:r>
              <a:rPr lang="en-US" altLang="ko-KR" sz="1800" dirty="0">
                <a:latin typeface="Courier New" panose="02070309020205020404" pitchFamily="49" charset="0"/>
                <a:cs typeface="Courier New" panose="02070309020205020404" pitchFamily="49" charset="0"/>
              </a:rPr>
              <a:t>/</a:t>
            </a:r>
            <a:r>
              <a:rPr lang="en-US" altLang="ko-KR" sz="1800" dirty="0" err="1">
                <a:latin typeface="Courier New" panose="02070309020205020404" pitchFamily="49" charset="0"/>
                <a:cs typeface="Courier New" panose="02070309020205020404" pitchFamily="49" charset="0"/>
              </a:rPr>
              <a:t>rbtree.h</a:t>
            </a:r>
            <a:r>
              <a:rPr lang="en-US" altLang="ko-KR" sz="1800" dirty="0">
                <a:latin typeface="Courier New" panose="02070309020205020404" pitchFamily="49" charset="0"/>
                <a:cs typeface="Courier New" panose="02070309020205020404" pitchFamily="49" charset="0"/>
              </a:rPr>
              <a:t>&gt;</a:t>
            </a:r>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pPr>
              <a:buFont typeface="Monotype Sorts" pitchFamily="-84" charset="2"/>
              <a:buNone/>
            </a:pPr>
            <a:endParaRPr lang="en-US" altLang="ko-KR" dirty="0"/>
          </a:p>
          <a:p>
            <a:endParaRPr lang="en-US" altLang="ko-KR" dirty="0"/>
          </a:p>
        </p:txBody>
      </p:sp>
      <p:pic>
        <p:nvPicPr>
          <p:cNvPr id="90116" name="Picture 3" descr="1_17.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4D873581-941B-400F-B3F2-241556D8446C}" type="slidenum">
              <a:rPr lang="en-US" altLang="ko-KR" smtClean="0"/>
              <a:pPr>
                <a:defRPr/>
              </a:pPr>
              <a:t>52</a:t>
            </a:fld>
            <a:endParaRPr lang="en-US" altLang="ko-KR"/>
          </a:p>
        </p:txBody>
      </p:sp>
    </p:spTree>
    <p:extLst>
      <p:ext uri="{BB962C8B-B14F-4D97-AF65-F5344CB8AC3E}">
        <p14:creationId xmlns:p14="http://schemas.microsoft.com/office/powerpoint/2010/main" val="59782021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idx="4294967295"/>
          </p:nvPr>
        </p:nvSpPr>
        <p:spPr>
          <a:xfrm>
            <a:off x="819150" y="152400"/>
            <a:ext cx="8229600" cy="576263"/>
          </a:xfrm>
        </p:spPr>
        <p:txBody>
          <a:bodyPr/>
          <a:lstStyle/>
          <a:p>
            <a:r>
              <a:rPr lang="en-US" altLang="ko-KR" sz="2800"/>
              <a:t>Computing Environments - Traditional</a:t>
            </a:r>
          </a:p>
        </p:txBody>
      </p:sp>
      <p:sp>
        <p:nvSpPr>
          <p:cNvPr id="91139" name="Content Placeholder 2"/>
          <p:cNvSpPr>
            <a:spLocks noGrp="1"/>
          </p:cNvSpPr>
          <p:nvPr>
            <p:ph idx="4294967295"/>
          </p:nvPr>
        </p:nvSpPr>
        <p:spPr>
          <a:xfrm>
            <a:off x="854074" y="1138238"/>
            <a:ext cx="8061325" cy="4530725"/>
          </a:xfrm>
        </p:spPr>
        <p:txBody>
          <a:bodyPr/>
          <a:lstStyle/>
          <a:p>
            <a:r>
              <a:rPr lang="en-US" altLang="ko-KR" dirty="0"/>
              <a:t>Stand-alone general purpose machines</a:t>
            </a:r>
          </a:p>
          <a:p>
            <a:r>
              <a:rPr lang="en-US" altLang="ko-KR" dirty="0"/>
              <a:t>But blurred as most systems interconnect with others (i.e., the Internet)</a:t>
            </a:r>
          </a:p>
          <a:p>
            <a:r>
              <a:rPr lang="en-US" altLang="ko-KR" b="1" dirty="0">
                <a:solidFill>
                  <a:srgbClr val="3366FF"/>
                </a:solidFill>
              </a:rPr>
              <a:t>Portals</a:t>
            </a:r>
            <a:r>
              <a:rPr lang="en-US" altLang="ko-KR" dirty="0"/>
              <a:t> provide web access to internal systems</a:t>
            </a:r>
          </a:p>
          <a:p>
            <a:r>
              <a:rPr lang="en-US" altLang="ko-KR" b="1" dirty="0">
                <a:solidFill>
                  <a:srgbClr val="3366FF"/>
                </a:solidFill>
              </a:rPr>
              <a:t>Network computers </a:t>
            </a:r>
            <a:r>
              <a:rPr lang="en-US" altLang="ko-KR" dirty="0"/>
              <a:t>(</a:t>
            </a:r>
            <a:r>
              <a:rPr lang="en-US" altLang="ko-KR" b="1" dirty="0">
                <a:solidFill>
                  <a:srgbClr val="3366FF"/>
                </a:solidFill>
              </a:rPr>
              <a:t>thin clients</a:t>
            </a:r>
            <a:r>
              <a:rPr lang="en-US" altLang="ko-KR" dirty="0"/>
              <a:t>) are like Web terminals</a:t>
            </a:r>
          </a:p>
          <a:p>
            <a:r>
              <a:rPr lang="en-US" altLang="ko-KR" dirty="0"/>
              <a:t>Mobile computers interconnect via </a:t>
            </a:r>
            <a:r>
              <a:rPr lang="en-US" altLang="ko-KR" b="1" dirty="0">
                <a:solidFill>
                  <a:srgbClr val="3366FF"/>
                </a:solidFill>
              </a:rPr>
              <a:t>wireless networks</a:t>
            </a:r>
          </a:p>
          <a:p>
            <a:r>
              <a:rPr lang="en-US" altLang="ko-KR" dirty="0"/>
              <a:t>Networking becoming ubiquitous – even home systems use </a:t>
            </a:r>
            <a:r>
              <a:rPr lang="en-US" altLang="ko-KR" b="1" dirty="0">
                <a:solidFill>
                  <a:srgbClr val="3366FF"/>
                </a:solidFill>
              </a:rPr>
              <a:t>firewalls</a:t>
            </a:r>
            <a:r>
              <a:rPr lang="en-US" altLang="ko-KR" dirty="0"/>
              <a:t> to protect home computers from Internet attacks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53</a:t>
            </a:fld>
            <a:endParaRPr lang="ko-KR" altLang="ko-KR"/>
          </a:p>
        </p:txBody>
      </p:sp>
    </p:spTree>
    <p:extLst>
      <p:ext uri="{BB962C8B-B14F-4D97-AF65-F5344CB8AC3E}">
        <p14:creationId xmlns:p14="http://schemas.microsoft.com/office/powerpoint/2010/main" val="31456092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idx="4294967295"/>
          </p:nvPr>
        </p:nvSpPr>
        <p:spPr>
          <a:xfrm>
            <a:off x="457200" y="152400"/>
            <a:ext cx="8229600" cy="576263"/>
          </a:xfrm>
        </p:spPr>
        <p:txBody>
          <a:bodyPr/>
          <a:lstStyle/>
          <a:p>
            <a:r>
              <a:rPr lang="en-US" altLang="ko-KR" sz="2800"/>
              <a:t>Computing Environments - Mobile</a:t>
            </a:r>
          </a:p>
        </p:txBody>
      </p:sp>
      <p:sp>
        <p:nvSpPr>
          <p:cNvPr id="92163" name="Content Placeholder 2"/>
          <p:cNvSpPr>
            <a:spLocks noGrp="1"/>
          </p:cNvSpPr>
          <p:nvPr>
            <p:ph idx="4294967295"/>
          </p:nvPr>
        </p:nvSpPr>
        <p:spPr>
          <a:xfrm>
            <a:off x="854075" y="1122363"/>
            <a:ext cx="7832725" cy="4530725"/>
          </a:xfrm>
        </p:spPr>
        <p:txBody>
          <a:bodyPr/>
          <a:lstStyle/>
          <a:p>
            <a:r>
              <a:rPr lang="en-US" altLang="ko-KR" dirty="0"/>
              <a:t>Handheld smartphones, tablets, </a:t>
            </a:r>
            <a:r>
              <a:rPr lang="en-US" altLang="ko-KR" dirty="0" err="1"/>
              <a:t>etc</a:t>
            </a:r>
            <a:endParaRPr lang="en-US" altLang="ko-KR" dirty="0"/>
          </a:p>
          <a:p>
            <a:r>
              <a:rPr lang="en-US" altLang="ko-KR" dirty="0"/>
              <a:t>What is the functional difference between them and a </a:t>
            </a:r>
            <a:r>
              <a:rPr lang="en-US" altLang="en-US" dirty="0"/>
              <a:t>“</a:t>
            </a:r>
            <a:r>
              <a:rPr lang="en-US" altLang="ko-KR" dirty="0"/>
              <a:t>traditional</a:t>
            </a:r>
            <a:r>
              <a:rPr lang="en-US" altLang="en-US" dirty="0"/>
              <a:t>”</a:t>
            </a:r>
            <a:r>
              <a:rPr lang="en-US" altLang="ko-KR" dirty="0"/>
              <a:t> laptop?</a:t>
            </a:r>
          </a:p>
          <a:p>
            <a:r>
              <a:rPr lang="en-US" altLang="ko-KR" dirty="0"/>
              <a:t>Extra feature – more OS features (GPS, gyroscope)</a:t>
            </a:r>
          </a:p>
          <a:p>
            <a:r>
              <a:rPr lang="en-US" altLang="ko-KR" dirty="0"/>
              <a:t>Allows new types of apps like </a:t>
            </a:r>
            <a:r>
              <a:rPr lang="en-US" altLang="ko-KR" b="1" i="1" dirty="0"/>
              <a:t>augmented reality</a:t>
            </a:r>
          </a:p>
          <a:p>
            <a:r>
              <a:rPr lang="en-US" altLang="ko-KR" dirty="0"/>
              <a:t>Use IEEE 802.11 wireless, or cellular data networks for connectivity</a:t>
            </a:r>
          </a:p>
          <a:p>
            <a:r>
              <a:rPr lang="en-US" altLang="ko-KR" dirty="0"/>
              <a:t>Leaders are </a:t>
            </a:r>
            <a:r>
              <a:rPr lang="en-US" altLang="ko-KR" b="1" dirty="0">
                <a:solidFill>
                  <a:srgbClr val="3366FF"/>
                </a:solidFill>
              </a:rPr>
              <a:t>Apple iOS </a:t>
            </a:r>
            <a:r>
              <a:rPr lang="en-US" altLang="ko-KR" dirty="0"/>
              <a:t>and </a:t>
            </a:r>
            <a:r>
              <a:rPr lang="en-US" altLang="ko-KR" b="1" dirty="0">
                <a:solidFill>
                  <a:srgbClr val="3366FF"/>
                </a:solidFill>
              </a:rPr>
              <a:t>Google Android</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54</a:t>
            </a:fld>
            <a:endParaRPr lang="ko-KR" altLang="ko-KR"/>
          </a:p>
        </p:txBody>
      </p:sp>
    </p:spTree>
    <p:extLst>
      <p:ext uri="{BB962C8B-B14F-4D97-AF65-F5344CB8AC3E}">
        <p14:creationId xmlns:p14="http://schemas.microsoft.com/office/powerpoint/2010/main" val="18991522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idx="4294967295"/>
          </p:nvPr>
        </p:nvSpPr>
        <p:spPr>
          <a:xfrm>
            <a:off x="912813" y="152400"/>
            <a:ext cx="8229600" cy="576263"/>
          </a:xfrm>
        </p:spPr>
        <p:txBody>
          <a:bodyPr/>
          <a:lstStyle/>
          <a:p>
            <a:r>
              <a:rPr lang="en-US" altLang="ko-KR" sz="2800"/>
              <a:t>Computing Environments – Distributed</a:t>
            </a:r>
          </a:p>
        </p:txBody>
      </p:sp>
      <p:sp>
        <p:nvSpPr>
          <p:cNvPr id="93187" name="Content Placeholder 2"/>
          <p:cNvSpPr>
            <a:spLocks noGrp="1"/>
          </p:cNvSpPr>
          <p:nvPr>
            <p:ph idx="4294967295"/>
          </p:nvPr>
        </p:nvSpPr>
        <p:spPr>
          <a:xfrm>
            <a:off x="838200" y="1092200"/>
            <a:ext cx="7313613" cy="4530725"/>
          </a:xfrm>
        </p:spPr>
        <p:txBody>
          <a:bodyPr/>
          <a:lstStyle/>
          <a:p>
            <a:r>
              <a:rPr lang="en-US" altLang="ko-KR"/>
              <a:t>Distributed computiing</a:t>
            </a:r>
          </a:p>
          <a:p>
            <a:pPr lvl="1"/>
            <a:r>
              <a:rPr lang="en-US" altLang="ko-KR"/>
              <a:t>Collection of separate, possibly heterogeneous, systems networked together</a:t>
            </a:r>
          </a:p>
          <a:p>
            <a:pPr lvl="2"/>
            <a:r>
              <a:rPr lang="en-US" altLang="ko-KR" b="1">
                <a:solidFill>
                  <a:srgbClr val="3366FF"/>
                </a:solidFill>
              </a:rPr>
              <a:t>Network</a:t>
            </a:r>
            <a:r>
              <a:rPr lang="en-US" altLang="ko-KR"/>
              <a:t> is a communications path, </a:t>
            </a:r>
            <a:r>
              <a:rPr lang="en-US" altLang="ko-KR" b="1">
                <a:solidFill>
                  <a:srgbClr val="3366FF"/>
                </a:solidFill>
              </a:rPr>
              <a:t>TCP/IP </a:t>
            </a:r>
            <a:r>
              <a:rPr lang="en-US" altLang="ko-KR"/>
              <a:t>most common</a:t>
            </a:r>
          </a:p>
          <a:p>
            <a:pPr lvl="3"/>
            <a:r>
              <a:rPr lang="en-US" altLang="ko-KR" b="1">
                <a:solidFill>
                  <a:srgbClr val="3366FF"/>
                </a:solidFill>
              </a:rPr>
              <a:t>Local Area Network </a:t>
            </a:r>
            <a:r>
              <a:rPr lang="en-US" altLang="ko-KR"/>
              <a:t>(</a:t>
            </a:r>
            <a:r>
              <a:rPr lang="en-US" altLang="ko-KR" b="1">
                <a:solidFill>
                  <a:srgbClr val="3366FF"/>
                </a:solidFill>
              </a:rPr>
              <a:t>LAN</a:t>
            </a:r>
            <a:r>
              <a:rPr lang="en-US" altLang="ko-KR"/>
              <a:t>)</a:t>
            </a:r>
          </a:p>
          <a:p>
            <a:pPr lvl="3"/>
            <a:r>
              <a:rPr lang="en-US" altLang="ko-KR" b="1">
                <a:solidFill>
                  <a:srgbClr val="3366FF"/>
                </a:solidFill>
              </a:rPr>
              <a:t>Wide Area Network </a:t>
            </a:r>
            <a:r>
              <a:rPr lang="en-US" altLang="ko-KR"/>
              <a:t>(</a:t>
            </a:r>
            <a:r>
              <a:rPr lang="en-US" altLang="ko-KR" b="1">
                <a:solidFill>
                  <a:srgbClr val="3366FF"/>
                </a:solidFill>
              </a:rPr>
              <a:t>WAN</a:t>
            </a:r>
            <a:r>
              <a:rPr lang="en-US" altLang="ko-KR"/>
              <a:t>)</a:t>
            </a:r>
          </a:p>
          <a:p>
            <a:pPr lvl="3"/>
            <a:r>
              <a:rPr lang="en-US" altLang="ko-KR" b="1">
                <a:solidFill>
                  <a:srgbClr val="3366FF"/>
                </a:solidFill>
              </a:rPr>
              <a:t>Metropolitan Area Network </a:t>
            </a:r>
            <a:r>
              <a:rPr lang="en-US" altLang="ko-KR"/>
              <a:t>(</a:t>
            </a:r>
            <a:r>
              <a:rPr lang="en-US" altLang="ko-KR" b="1">
                <a:solidFill>
                  <a:srgbClr val="3366FF"/>
                </a:solidFill>
              </a:rPr>
              <a:t>MAN</a:t>
            </a:r>
            <a:r>
              <a:rPr lang="en-US" altLang="ko-KR"/>
              <a:t>)</a:t>
            </a:r>
            <a:endParaRPr lang="en-US" altLang="ko-KR" b="1">
              <a:solidFill>
                <a:srgbClr val="3366FF"/>
              </a:solidFill>
            </a:endParaRPr>
          </a:p>
          <a:p>
            <a:pPr lvl="3"/>
            <a:r>
              <a:rPr lang="en-US" altLang="ko-KR" b="1">
                <a:solidFill>
                  <a:srgbClr val="3366FF"/>
                </a:solidFill>
              </a:rPr>
              <a:t>Personal Area Network </a:t>
            </a:r>
            <a:r>
              <a:rPr lang="en-US" altLang="ko-KR"/>
              <a:t>(</a:t>
            </a:r>
            <a:r>
              <a:rPr lang="en-US" altLang="ko-KR" b="1">
                <a:solidFill>
                  <a:srgbClr val="3366FF"/>
                </a:solidFill>
              </a:rPr>
              <a:t>PAN</a:t>
            </a:r>
            <a:r>
              <a:rPr lang="en-US" altLang="ko-KR"/>
              <a:t>)</a:t>
            </a:r>
          </a:p>
          <a:p>
            <a:pPr lvl="1"/>
            <a:r>
              <a:rPr lang="en-US" altLang="ko-KR" b="1">
                <a:solidFill>
                  <a:srgbClr val="3366FF"/>
                </a:solidFill>
              </a:rPr>
              <a:t>Network Operating System </a:t>
            </a:r>
            <a:r>
              <a:rPr lang="en-US" altLang="ko-KR"/>
              <a:t>provides features between systems across network</a:t>
            </a:r>
          </a:p>
          <a:p>
            <a:pPr lvl="2"/>
            <a:r>
              <a:rPr lang="en-US" altLang="ko-KR"/>
              <a:t>Communication scheme allows systems to exchange messages</a:t>
            </a:r>
          </a:p>
          <a:p>
            <a:pPr lvl="2"/>
            <a:r>
              <a:rPr lang="en-US" altLang="ko-KR"/>
              <a:t>Illusion of a single system</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55</a:t>
            </a:fld>
            <a:endParaRPr lang="ko-KR" altLang="ko-KR"/>
          </a:p>
        </p:txBody>
      </p:sp>
    </p:spTree>
    <p:extLst>
      <p:ext uri="{BB962C8B-B14F-4D97-AF65-F5344CB8AC3E}">
        <p14:creationId xmlns:p14="http://schemas.microsoft.com/office/powerpoint/2010/main" val="42452185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idx="4294967295"/>
          </p:nvPr>
        </p:nvSpPr>
        <p:spPr>
          <a:xfrm>
            <a:off x="1296988" y="152400"/>
            <a:ext cx="7615237" cy="576263"/>
          </a:xfrm>
        </p:spPr>
        <p:txBody>
          <a:bodyPr/>
          <a:lstStyle/>
          <a:p>
            <a:pPr eaLnBrk="1" hangingPunct="1"/>
            <a:r>
              <a:rPr lang="en-US" altLang="ko-KR" sz="2800"/>
              <a:t>Computing Environments – Client-Server</a:t>
            </a:r>
          </a:p>
        </p:txBody>
      </p:sp>
      <p:sp>
        <p:nvSpPr>
          <p:cNvPr id="94211" name="Rectangle 4"/>
          <p:cNvSpPr>
            <a:spLocks noChangeArrowheads="1"/>
          </p:cNvSpPr>
          <p:nvPr/>
        </p:nvSpPr>
        <p:spPr bwMode="auto">
          <a:xfrm>
            <a:off x="874713" y="1166813"/>
            <a:ext cx="7351712"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pPr>
            <a:r>
              <a:rPr lang="en-US" altLang="ko-KR" sz="2000" dirty="0"/>
              <a:t>Client-Server Computing</a:t>
            </a:r>
          </a:p>
          <a:p>
            <a:pPr lvl="1">
              <a:lnSpc>
                <a:spcPct val="90000"/>
              </a:lnSpc>
            </a:pPr>
            <a:r>
              <a:rPr lang="en-US" altLang="ko-KR" sz="2000" dirty="0"/>
              <a:t>Dumb terminals supplanted by smart PCs</a:t>
            </a:r>
          </a:p>
          <a:p>
            <a:pPr lvl="1">
              <a:lnSpc>
                <a:spcPct val="90000"/>
              </a:lnSpc>
            </a:pPr>
            <a:r>
              <a:rPr lang="en-US" altLang="ko-KR" sz="2000" dirty="0"/>
              <a:t>Many systems now </a:t>
            </a:r>
            <a:r>
              <a:rPr lang="en-US" altLang="ko-KR" sz="2000" b="1" dirty="0">
                <a:solidFill>
                  <a:srgbClr val="3366FF"/>
                </a:solidFill>
              </a:rPr>
              <a:t>servers</a:t>
            </a:r>
            <a:r>
              <a:rPr lang="en-US" altLang="ko-KR" sz="2000" dirty="0"/>
              <a:t>, responding to requests generated by </a:t>
            </a:r>
            <a:r>
              <a:rPr lang="en-US" altLang="ko-KR" sz="2000" b="1" dirty="0">
                <a:solidFill>
                  <a:srgbClr val="3366FF"/>
                </a:solidFill>
              </a:rPr>
              <a:t>clients</a:t>
            </a:r>
          </a:p>
          <a:p>
            <a:pPr lvl="2">
              <a:lnSpc>
                <a:spcPct val="90000"/>
              </a:lnSpc>
            </a:pPr>
            <a:r>
              <a:rPr lang="en-US" altLang="ko-KR" sz="2000" b="1" dirty="0">
                <a:solidFill>
                  <a:srgbClr val="3366FF"/>
                </a:solidFill>
              </a:rPr>
              <a:t>Compute-server system </a:t>
            </a:r>
            <a:r>
              <a:rPr lang="en-US" altLang="ko-KR" sz="2000" dirty="0"/>
              <a:t>provides an interface to client to request services (i.e., database)</a:t>
            </a:r>
          </a:p>
          <a:p>
            <a:pPr lvl="2">
              <a:lnSpc>
                <a:spcPct val="90000"/>
              </a:lnSpc>
            </a:pPr>
            <a:r>
              <a:rPr lang="en-US" altLang="ko-KR" sz="2000" b="1" dirty="0">
                <a:solidFill>
                  <a:srgbClr val="3366FF"/>
                </a:solidFill>
              </a:rPr>
              <a:t>File-server system </a:t>
            </a:r>
            <a:r>
              <a:rPr lang="en-US" altLang="ko-KR" sz="2000" dirty="0"/>
              <a:t>provides interface for clients to store and retrieve files</a:t>
            </a:r>
          </a:p>
        </p:txBody>
      </p:sp>
      <p:pic>
        <p:nvPicPr>
          <p:cNvPr id="94212" name="Picture 1" descr="1_18.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56</a:t>
            </a:fld>
            <a:endParaRPr lang="ko-KR" altLang="ko-KR"/>
          </a:p>
        </p:txBody>
      </p:sp>
    </p:spTree>
    <p:extLst>
      <p:ext uri="{BB962C8B-B14F-4D97-AF65-F5344CB8AC3E}">
        <p14:creationId xmlns:p14="http://schemas.microsoft.com/office/powerpoint/2010/main" val="5956776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idx="4294967295"/>
          </p:nvPr>
        </p:nvSpPr>
        <p:spPr>
          <a:xfrm>
            <a:off x="1152525" y="166688"/>
            <a:ext cx="7645400" cy="576262"/>
          </a:xfrm>
        </p:spPr>
        <p:txBody>
          <a:bodyPr/>
          <a:lstStyle/>
          <a:p>
            <a:pPr eaLnBrk="1" hangingPunct="1"/>
            <a:r>
              <a:rPr lang="en-US" altLang="ko-KR" sz="2800"/>
              <a:t>Computing Environments - Peer-to-Peer</a:t>
            </a:r>
          </a:p>
        </p:txBody>
      </p:sp>
      <p:sp>
        <p:nvSpPr>
          <p:cNvPr id="96259" name="Rectangle 3"/>
          <p:cNvSpPr>
            <a:spLocks noGrp="1" noChangeArrowheads="1"/>
          </p:cNvSpPr>
          <p:nvPr>
            <p:ph type="body" idx="4294967295"/>
          </p:nvPr>
        </p:nvSpPr>
        <p:spPr>
          <a:xfrm>
            <a:off x="806450" y="1233488"/>
            <a:ext cx="5057775" cy="4530725"/>
          </a:xfrm>
        </p:spPr>
        <p:txBody>
          <a:bodyPr/>
          <a:lstStyle/>
          <a:p>
            <a:r>
              <a:rPr lang="en-US" altLang="ko-KR" sz="1800" dirty="0"/>
              <a:t>Another model of distributed system</a:t>
            </a:r>
          </a:p>
          <a:p>
            <a:r>
              <a:rPr lang="en-US" altLang="ko-KR" sz="1800" dirty="0"/>
              <a:t>P2P does not distinguish clients and servers</a:t>
            </a:r>
          </a:p>
          <a:p>
            <a:pPr lvl="1"/>
            <a:r>
              <a:rPr lang="en-US" altLang="ko-KR" sz="1600" dirty="0"/>
              <a:t>Instead all nodes are considered peers</a:t>
            </a:r>
          </a:p>
          <a:p>
            <a:pPr lvl="1"/>
            <a:r>
              <a:rPr lang="en-US" altLang="ko-KR" sz="1600" dirty="0"/>
              <a:t>May each act as client, server or both</a:t>
            </a:r>
          </a:p>
          <a:p>
            <a:pPr lvl="1"/>
            <a:r>
              <a:rPr lang="en-US" altLang="ko-KR" sz="1600" dirty="0"/>
              <a:t>Node must join P2P network</a:t>
            </a:r>
          </a:p>
          <a:p>
            <a:pPr lvl="2"/>
            <a:r>
              <a:rPr lang="en-US" altLang="ko-KR" sz="1400" dirty="0"/>
              <a:t>Registers its service with central lookup service on network, or</a:t>
            </a:r>
          </a:p>
          <a:p>
            <a:pPr lvl="2"/>
            <a:r>
              <a:rPr lang="en-US" altLang="ko-KR" sz="1400" dirty="0"/>
              <a:t>Broadcast request for service and respond to requests for service via </a:t>
            </a:r>
            <a:r>
              <a:rPr lang="en-US" altLang="ko-KR" sz="1400" b="1" i="1" dirty="0"/>
              <a:t>discovery protocol</a:t>
            </a:r>
          </a:p>
          <a:p>
            <a:pPr lvl="1"/>
            <a:r>
              <a:rPr lang="en-US" altLang="ko-KR" sz="1600" dirty="0"/>
              <a:t>Examples include</a:t>
            </a:r>
            <a:r>
              <a:rPr lang="en-US" altLang="ko-KR" sz="1600" i="1" dirty="0"/>
              <a:t> </a:t>
            </a:r>
            <a:r>
              <a:rPr lang="en-US" altLang="ko-KR" sz="1600" dirty="0"/>
              <a:t>Napster</a:t>
            </a:r>
            <a:r>
              <a:rPr lang="en-US" altLang="ko-KR" sz="1600" i="1" dirty="0"/>
              <a:t> </a:t>
            </a:r>
            <a:r>
              <a:rPr lang="en-US" altLang="ko-KR" sz="1600" dirty="0"/>
              <a:t>and</a:t>
            </a:r>
            <a:r>
              <a:rPr lang="en-US" altLang="ko-KR" sz="1600" i="1" dirty="0"/>
              <a:t> </a:t>
            </a:r>
            <a:r>
              <a:rPr lang="en-US" altLang="ko-KR" sz="1600" dirty="0"/>
              <a:t>Gnutella</a:t>
            </a:r>
            <a:r>
              <a:rPr lang="en-US" altLang="ko-KR" sz="1600" i="1" dirty="0"/>
              <a:t>, </a:t>
            </a:r>
            <a:r>
              <a:rPr lang="en-US" altLang="ko-KR" sz="1600" b="1" dirty="0">
                <a:solidFill>
                  <a:srgbClr val="3366FF"/>
                </a:solidFill>
              </a:rPr>
              <a:t>Voice over IP </a:t>
            </a:r>
            <a:r>
              <a:rPr lang="en-US" altLang="ko-KR" sz="1600" dirty="0"/>
              <a:t>(</a:t>
            </a:r>
            <a:r>
              <a:rPr lang="en-US" altLang="ko-KR" sz="1600" b="1" dirty="0">
                <a:solidFill>
                  <a:srgbClr val="3366FF"/>
                </a:solidFill>
              </a:rPr>
              <a:t>VoIP</a:t>
            </a:r>
            <a:r>
              <a:rPr lang="en-US" altLang="ko-KR" sz="1600" dirty="0"/>
              <a:t>)</a:t>
            </a:r>
            <a:r>
              <a:rPr lang="en-US" altLang="ko-KR" sz="1600" i="1" dirty="0"/>
              <a:t> </a:t>
            </a:r>
            <a:r>
              <a:rPr lang="en-US" altLang="ko-KR" sz="1600" dirty="0"/>
              <a:t>such as Skype </a:t>
            </a:r>
          </a:p>
        </p:txBody>
      </p:sp>
      <p:pic>
        <p:nvPicPr>
          <p:cNvPr id="96260" name="Picture 1" descr="1_19.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57</a:t>
            </a:fld>
            <a:endParaRPr lang="ko-KR" altLang="ko-KR"/>
          </a:p>
        </p:txBody>
      </p:sp>
    </p:spTree>
    <p:extLst>
      <p:ext uri="{BB962C8B-B14F-4D97-AF65-F5344CB8AC3E}">
        <p14:creationId xmlns:p14="http://schemas.microsoft.com/office/powerpoint/2010/main" val="19694882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idx="4294967295"/>
          </p:nvPr>
        </p:nvSpPr>
        <p:spPr>
          <a:xfrm>
            <a:off x="1268413" y="166688"/>
            <a:ext cx="7645400" cy="576262"/>
          </a:xfrm>
        </p:spPr>
        <p:txBody>
          <a:bodyPr/>
          <a:lstStyle/>
          <a:p>
            <a:pPr eaLnBrk="1" hangingPunct="1"/>
            <a:r>
              <a:rPr lang="en-US" altLang="ko-KR" sz="2800"/>
              <a:t>Computing Environments - Virtualization</a:t>
            </a:r>
          </a:p>
        </p:txBody>
      </p:sp>
      <p:sp>
        <p:nvSpPr>
          <p:cNvPr id="98307" name="Rectangle 3"/>
          <p:cNvSpPr>
            <a:spLocks noGrp="1" noChangeArrowheads="1"/>
          </p:cNvSpPr>
          <p:nvPr>
            <p:ph type="body" idx="4294967295"/>
          </p:nvPr>
        </p:nvSpPr>
        <p:spPr>
          <a:xfrm>
            <a:off x="806450" y="1233488"/>
            <a:ext cx="6918325" cy="4530725"/>
          </a:xfrm>
        </p:spPr>
        <p:txBody>
          <a:bodyPr/>
          <a:lstStyle/>
          <a:p>
            <a:r>
              <a:rPr lang="en-US" altLang="ko-KR" sz="1800" dirty="0"/>
              <a:t>Allows operating systems to run applications within other OSes</a:t>
            </a:r>
          </a:p>
          <a:p>
            <a:pPr lvl="1"/>
            <a:r>
              <a:rPr lang="en-US" altLang="ko-KR" sz="1600" dirty="0"/>
              <a:t>Vast and growing industry</a:t>
            </a:r>
            <a:endParaRPr lang="en-US" altLang="ko-KR" sz="600" dirty="0"/>
          </a:p>
          <a:p>
            <a:r>
              <a:rPr lang="en-US" altLang="ko-KR" sz="1800" b="1" dirty="0">
                <a:solidFill>
                  <a:srgbClr val="3366FF"/>
                </a:solidFill>
              </a:rPr>
              <a:t>Emulation</a:t>
            </a:r>
            <a:r>
              <a:rPr lang="en-US" altLang="ko-KR" sz="1800" dirty="0"/>
              <a:t> used </a:t>
            </a:r>
            <a:r>
              <a:rPr lang="en-US" altLang="ko-KR" sz="1800" dirty="0">
                <a:solidFill>
                  <a:srgbClr val="FF0000"/>
                </a:solidFill>
              </a:rPr>
              <a:t>when source CPU type different from target type</a:t>
            </a:r>
            <a:r>
              <a:rPr lang="en-US" altLang="ko-KR" sz="1800" dirty="0"/>
              <a:t> (i.e. PowerPC to Intel x86)</a:t>
            </a:r>
          </a:p>
          <a:p>
            <a:pPr lvl="1"/>
            <a:r>
              <a:rPr lang="en-US" altLang="ko-KR" sz="1600" dirty="0"/>
              <a:t>Generally slowest method</a:t>
            </a:r>
          </a:p>
          <a:p>
            <a:pPr lvl="1"/>
            <a:r>
              <a:rPr lang="en-US" altLang="ko-KR" sz="1600" dirty="0"/>
              <a:t>When computer language not compiled to native code – </a:t>
            </a:r>
            <a:r>
              <a:rPr lang="en-US" altLang="ko-KR" sz="1600" b="1" dirty="0">
                <a:solidFill>
                  <a:srgbClr val="3366FF"/>
                </a:solidFill>
              </a:rPr>
              <a:t>Interpretation</a:t>
            </a:r>
          </a:p>
          <a:p>
            <a:r>
              <a:rPr lang="en-US" altLang="ko-KR" sz="1800" b="1" dirty="0">
                <a:solidFill>
                  <a:srgbClr val="3366FF"/>
                </a:solidFill>
              </a:rPr>
              <a:t>Virtualization</a:t>
            </a:r>
            <a:r>
              <a:rPr lang="en-US" altLang="ko-KR" sz="1800" dirty="0"/>
              <a:t> – OS natively compiled for CPU, running </a:t>
            </a:r>
            <a:r>
              <a:rPr lang="en-US" altLang="ko-KR" sz="1800" b="1" dirty="0">
                <a:solidFill>
                  <a:srgbClr val="3366FF"/>
                </a:solidFill>
              </a:rPr>
              <a:t>guest</a:t>
            </a:r>
            <a:r>
              <a:rPr lang="en-US" altLang="ko-KR" sz="1800" dirty="0"/>
              <a:t> OSes  also natively compiled </a:t>
            </a:r>
          </a:p>
          <a:p>
            <a:pPr lvl="1"/>
            <a:r>
              <a:rPr lang="en-US" altLang="ko-KR" sz="1600" dirty="0"/>
              <a:t>Consider VMware running </a:t>
            </a:r>
            <a:r>
              <a:rPr lang="en-US" altLang="ko-KR" sz="1600" dirty="0" err="1"/>
              <a:t>WinXP</a:t>
            </a:r>
            <a:r>
              <a:rPr lang="en-US" altLang="ko-KR" sz="1600" dirty="0"/>
              <a:t> guests, each running applications, all on native </a:t>
            </a:r>
            <a:r>
              <a:rPr lang="en-US" altLang="ko-KR" sz="1600" dirty="0" err="1"/>
              <a:t>WinXP</a:t>
            </a:r>
            <a:r>
              <a:rPr lang="en-US" altLang="ko-KR" sz="1600" dirty="0"/>
              <a:t> </a:t>
            </a:r>
            <a:r>
              <a:rPr lang="en-US" altLang="ko-KR" sz="1600" b="1" dirty="0">
                <a:solidFill>
                  <a:srgbClr val="3366FF"/>
                </a:solidFill>
              </a:rPr>
              <a:t>host</a:t>
            </a:r>
            <a:r>
              <a:rPr lang="en-US" altLang="ko-KR" sz="1600" dirty="0"/>
              <a:t> OS</a:t>
            </a:r>
          </a:p>
          <a:p>
            <a:pPr lvl="1"/>
            <a:r>
              <a:rPr lang="en-US" altLang="ko-KR" sz="1600" b="1" dirty="0">
                <a:solidFill>
                  <a:srgbClr val="3366FF"/>
                </a:solidFill>
              </a:rPr>
              <a:t>VMM</a:t>
            </a:r>
            <a:r>
              <a:rPr lang="en-US" altLang="ko-KR" sz="1600" dirty="0"/>
              <a:t> (virtual machine Manager) provides virtualization services</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58</a:t>
            </a:fld>
            <a:endParaRPr lang="ko-KR" altLang="ko-KR"/>
          </a:p>
        </p:txBody>
      </p:sp>
    </p:spTree>
    <p:extLst>
      <p:ext uri="{BB962C8B-B14F-4D97-AF65-F5344CB8AC3E}">
        <p14:creationId xmlns:p14="http://schemas.microsoft.com/office/powerpoint/2010/main" val="34533132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idx="4294967295"/>
          </p:nvPr>
        </p:nvSpPr>
        <p:spPr>
          <a:xfrm>
            <a:off x="1117600" y="150813"/>
            <a:ext cx="7645400" cy="576262"/>
          </a:xfrm>
        </p:spPr>
        <p:txBody>
          <a:bodyPr/>
          <a:lstStyle/>
          <a:p>
            <a:pPr eaLnBrk="1" hangingPunct="1"/>
            <a:r>
              <a:rPr lang="en-US" altLang="ko-KR" sz="2800"/>
              <a:t>Computing Environments - Virtualization</a:t>
            </a:r>
          </a:p>
        </p:txBody>
      </p:sp>
      <p:sp>
        <p:nvSpPr>
          <p:cNvPr id="100355" name="Rectangle 3"/>
          <p:cNvSpPr>
            <a:spLocks noGrp="1" noChangeArrowheads="1"/>
          </p:cNvSpPr>
          <p:nvPr>
            <p:ph type="body" idx="4294967295"/>
          </p:nvPr>
        </p:nvSpPr>
        <p:spPr>
          <a:xfrm>
            <a:off x="806450" y="1233488"/>
            <a:ext cx="8108950" cy="4530725"/>
          </a:xfrm>
        </p:spPr>
        <p:txBody>
          <a:bodyPr/>
          <a:lstStyle/>
          <a:p>
            <a:r>
              <a:rPr lang="en-US" altLang="ko-KR" dirty="0"/>
              <a:t>Use cases involve laptops and desktops running multiple OSes for exploration or compatibility</a:t>
            </a:r>
          </a:p>
          <a:p>
            <a:pPr lvl="1"/>
            <a:r>
              <a:rPr lang="en-US" altLang="ko-KR" dirty="0">
                <a:solidFill>
                  <a:srgbClr val="0000FF"/>
                </a:solidFill>
              </a:rPr>
              <a:t>Apple laptop running Mac OS X host, Windows as a guest</a:t>
            </a:r>
          </a:p>
          <a:p>
            <a:pPr lvl="1"/>
            <a:r>
              <a:rPr lang="en-US" altLang="ko-KR" dirty="0">
                <a:solidFill>
                  <a:srgbClr val="0000FF"/>
                </a:solidFill>
              </a:rPr>
              <a:t>Developing apps for multiple OSes without having multiple systems</a:t>
            </a:r>
          </a:p>
          <a:p>
            <a:pPr lvl="1"/>
            <a:r>
              <a:rPr lang="en-US" altLang="ko-KR" dirty="0">
                <a:solidFill>
                  <a:srgbClr val="0000FF"/>
                </a:solidFill>
              </a:rPr>
              <a:t>QA testing applications without having multiple systems</a:t>
            </a:r>
          </a:p>
          <a:p>
            <a:pPr lvl="1"/>
            <a:r>
              <a:rPr lang="en-US" altLang="ko-KR" dirty="0">
                <a:solidFill>
                  <a:srgbClr val="0000FF"/>
                </a:solidFill>
              </a:rPr>
              <a:t>Executing and managing compute environments within data centers</a:t>
            </a:r>
          </a:p>
          <a:p>
            <a:r>
              <a:rPr lang="en-US" altLang="ko-KR" dirty="0"/>
              <a:t>VMM can run natively, in which case they are also the host</a:t>
            </a:r>
          </a:p>
          <a:p>
            <a:pPr lvl="1"/>
            <a:r>
              <a:rPr lang="en-US" altLang="ko-KR" dirty="0">
                <a:solidFill>
                  <a:srgbClr val="0000FF"/>
                </a:solidFill>
              </a:rPr>
              <a:t>There is no general purpose host then (VMware ESX and Citrix </a:t>
            </a:r>
            <a:r>
              <a:rPr lang="en-US" altLang="ko-KR" dirty="0" err="1">
                <a:solidFill>
                  <a:srgbClr val="0000FF"/>
                </a:solidFill>
              </a:rPr>
              <a:t>XenServer</a:t>
            </a:r>
            <a:r>
              <a:rPr lang="en-US" altLang="ko-KR" dirty="0">
                <a:solidFill>
                  <a:srgbClr val="0000FF"/>
                </a:solidFill>
              </a:rPr>
              <a:t>)</a:t>
            </a:r>
          </a:p>
          <a:p>
            <a:pPr lvl="2"/>
            <a:endParaRPr lang="en-US" altLang="ko-KR" dirty="0"/>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59</a:t>
            </a:fld>
            <a:endParaRPr lang="ko-KR" altLang="ko-KR"/>
          </a:p>
        </p:txBody>
      </p:sp>
    </p:spTree>
    <p:extLst>
      <p:ext uri="{BB962C8B-B14F-4D97-AF65-F5344CB8AC3E}">
        <p14:creationId xmlns:p14="http://schemas.microsoft.com/office/powerpoint/2010/main" val="20365047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idx="4294967295"/>
          </p:nvPr>
        </p:nvSpPr>
        <p:spPr>
          <a:xfrm>
            <a:off x="1120775" y="136525"/>
            <a:ext cx="7645400" cy="576263"/>
          </a:xfrm>
        </p:spPr>
        <p:txBody>
          <a:bodyPr/>
          <a:lstStyle/>
          <a:p>
            <a:pPr eaLnBrk="1" hangingPunct="1"/>
            <a:r>
              <a:rPr lang="en-US" altLang="ko-KR" sz="2800"/>
              <a:t>Computing Environments - Virtualization</a:t>
            </a:r>
          </a:p>
        </p:txBody>
      </p:sp>
      <p:pic>
        <p:nvPicPr>
          <p:cNvPr id="102403" name="Picture 1" descr="1_20.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60</a:t>
            </a:fld>
            <a:endParaRPr lang="ko-KR" altLang="ko-KR"/>
          </a:p>
        </p:txBody>
      </p:sp>
    </p:spTree>
    <p:extLst>
      <p:ext uri="{BB962C8B-B14F-4D97-AF65-F5344CB8AC3E}">
        <p14:creationId xmlns:p14="http://schemas.microsoft.com/office/powerpoint/2010/main" val="38664722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idx="4294967295"/>
          </p:nvPr>
        </p:nvSpPr>
        <p:spPr>
          <a:xfrm>
            <a:off x="1123950" y="114300"/>
            <a:ext cx="7645400" cy="576263"/>
          </a:xfrm>
        </p:spPr>
        <p:txBody>
          <a:bodyPr/>
          <a:lstStyle/>
          <a:p>
            <a:pPr eaLnBrk="1" hangingPunct="1"/>
            <a:r>
              <a:rPr lang="en-US" altLang="ko-KR" sz="2400"/>
              <a:t>Computing Environments – Cloud Computing</a:t>
            </a:r>
          </a:p>
        </p:txBody>
      </p:sp>
      <p:sp>
        <p:nvSpPr>
          <p:cNvPr id="104451" name="Rectangle 3"/>
          <p:cNvSpPr>
            <a:spLocks noGrp="1" noChangeArrowheads="1"/>
          </p:cNvSpPr>
          <p:nvPr>
            <p:ph type="body" idx="4294967295"/>
          </p:nvPr>
        </p:nvSpPr>
        <p:spPr>
          <a:xfrm>
            <a:off x="806450" y="1060450"/>
            <a:ext cx="7439025" cy="5103813"/>
          </a:xfrm>
        </p:spPr>
        <p:txBody>
          <a:bodyPr/>
          <a:lstStyle/>
          <a:p>
            <a:r>
              <a:rPr lang="en-US" altLang="ko-KR" sz="1600"/>
              <a:t>Delivers computing, storage, even apps as a service across a network</a:t>
            </a:r>
          </a:p>
          <a:p>
            <a:r>
              <a:rPr lang="en-US" altLang="ko-KR" sz="1600"/>
              <a:t>Logical extension of virtualization because it uses virtualization as the base for it functionality.</a:t>
            </a:r>
          </a:p>
          <a:p>
            <a:pPr lvl="1"/>
            <a:r>
              <a:rPr lang="en-US" altLang="ko-KR" sz="1600"/>
              <a:t>Amazon </a:t>
            </a:r>
            <a:r>
              <a:rPr lang="en-US" altLang="ko-KR" sz="1600" b="1">
                <a:solidFill>
                  <a:srgbClr val="3366FF"/>
                </a:solidFill>
              </a:rPr>
              <a:t>EC2</a:t>
            </a:r>
            <a:r>
              <a:rPr lang="en-US" altLang="ko-KR" sz="1600"/>
              <a:t>  has thousands of servers, millions of virtual machines, petabytes of storage available across the Internet, pay based on usage</a:t>
            </a:r>
          </a:p>
          <a:p>
            <a:r>
              <a:rPr lang="en-US" altLang="ko-KR" sz="1600"/>
              <a:t>Many types</a:t>
            </a:r>
          </a:p>
          <a:p>
            <a:pPr lvl="1"/>
            <a:r>
              <a:rPr lang="en-US" altLang="ko-KR" sz="1600" b="1">
                <a:solidFill>
                  <a:srgbClr val="3366FF"/>
                </a:solidFill>
              </a:rPr>
              <a:t>Public cloud </a:t>
            </a:r>
            <a:r>
              <a:rPr lang="en-US" altLang="ko-KR" sz="1600"/>
              <a:t>– available via Internet to anyone willing to pay</a:t>
            </a:r>
          </a:p>
          <a:p>
            <a:pPr lvl="1"/>
            <a:r>
              <a:rPr lang="en-US" altLang="ko-KR" sz="1600" b="1">
                <a:solidFill>
                  <a:srgbClr val="3366FF"/>
                </a:solidFill>
              </a:rPr>
              <a:t>Private cloud </a:t>
            </a:r>
            <a:r>
              <a:rPr lang="en-US" altLang="ko-KR" sz="1600"/>
              <a:t>– run by a company for the company</a:t>
            </a:r>
            <a:r>
              <a:rPr lang="en-US" altLang="en-US" sz="1600"/>
              <a:t>’</a:t>
            </a:r>
            <a:r>
              <a:rPr lang="en-US" altLang="ko-KR" sz="1600"/>
              <a:t>s own use</a:t>
            </a:r>
          </a:p>
          <a:p>
            <a:pPr lvl="1"/>
            <a:r>
              <a:rPr lang="en-US" altLang="ko-KR" sz="1600" b="1">
                <a:solidFill>
                  <a:srgbClr val="3366FF"/>
                </a:solidFill>
              </a:rPr>
              <a:t>Hybrid cloud </a:t>
            </a:r>
            <a:r>
              <a:rPr lang="en-US" altLang="ko-KR" sz="1600"/>
              <a:t>– includes both public and private cloud components</a:t>
            </a:r>
          </a:p>
          <a:p>
            <a:pPr lvl="1"/>
            <a:r>
              <a:rPr lang="en-US" altLang="ko-KR" sz="1600"/>
              <a:t>Software as a Service (</a:t>
            </a:r>
            <a:r>
              <a:rPr lang="en-US" altLang="ko-KR" sz="1600" b="1">
                <a:solidFill>
                  <a:srgbClr val="3366FF"/>
                </a:solidFill>
              </a:rPr>
              <a:t>SaaS</a:t>
            </a:r>
            <a:r>
              <a:rPr lang="en-US" altLang="ko-KR" sz="1600"/>
              <a:t>) – one or more applications available via the Internet (i.e., word processor)</a:t>
            </a:r>
          </a:p>
          <a:p>
            <a:pPr lvl="1"/>
            <a:r>
              <a:rPr lang="en-US" altLang="ko-KR" sz="1600"/>
              <a:t>Platform as a Service (</a:t>
            </a:r>
            <a:r>
              <a:rPr lang="en-US" altLang="ko-KR" sz="1600" b="1">
                <a:solidFill>
                  <a:srgbClr val="3366FF"/>
                </a:solidFill>
              </a:rPr>
              <a:t>PaaS</a:t>
            </a:r>
            <a:r>
              <a:rPr lang="en-US" altLang="ko-KR" sz="1600"/>
              <a:t>) – software stack ready for application use via the Internet (i.e., a database server)</a:t>
            </a:r>
          </a:p>
          <a:p>
            <a:pPr lvl="1"/>
            <a:r>
              <a:rPr lang="en-US" altLang="ko-KR" sz="1600"/>
              <a:t>Infrastructure as a Service (</a:t>
            </a:r>
            <a:r>
              <a:rPr lang="en-US" altLang="ko-KR" sz="1600" b="1">
                <a:solidFill>
                  <a:srgbClr val="3366FF"/>
                </a:solidFill>
              </a:rPr>
              <a:t>IaaS</a:t>
            </a:r>
            <a:r>
              <a:rPr lang="en-US" altLang="ko-KR" sz="1600"/>
              <a:t>) – servers or storage available over Internet (i.e., storage available for backup use)</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61</a:t>
            </a:fld>
            <a:endParaRPr lang="ko-KR" altLang="ko-KR"/>
          </a:p>
        </p:txBody>
      </p:sp>
    </p:spTree>
    <p:extLst>
      <p:ext uri="{BB962C8B-B14F-4D97-AF65-F5344CB8AC3E}">
        <p14:creationId xmlns:p14="http://schemas.microsoft.com/office/powerpoint/2010/main" val="39059882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idx="4294967295"/>
          </p:nvPr>
        </p:nvSpPr>
        <p:spPr>
          <a:xfrm>
            <a:off x="1109663" y="73025"/>
            <a:ext cx="7645400" cy="576263"/>
          </a:xfrm>
        </p:spPr>
        <p:txBody>
          <a:bodyPr/>
          <a:lstStyle/>
          <a:p>
            <a:pPr eaLnBrk="1" hangingPunct="1"/>
            <a:r>
              <a:rPr lang="en-US" altLang="ko-KR" sz="2400"/>
              <a:t>Computing Environments – Cloud Computing</a:t>
            </a:r>
          </a:p>
        </p:txBody>
      </p:sp>
      <p:sp>
        <p:nvSpPr>
          <p:cNvPr id="106499" name="Rectangle 3"/>
          <p:cNvSpPr>
            <a:spLocks noGrp="1" noChangeArrowheads="1"/>
          </p:cNvSpPr>
          <p:nvPr>
            <p:ph type="body" idx="4294967295"/>
          </p:nvPr>
        </p:nvSpPr>
        <p:spPr>
          <a:xfrm>
            <a:off x="854075" y="1092200"/>
            <a:ext cx="7154863" cy="1571625"/>
          </a:xfrm>
        </p:spPr>
        <p:txBody>
          <a:bodyPr/>
          <a:lstStyle/>
          <a:p>
            <a:r>
              <a:rPr lang="en-US" altLang="ko-KR"/>
              <a:t>Cloud computing environments composed of traditional OSes, plus VMMs, plus cloud management tools</a:t>
            </a:r>
          </a:p>
          <a:p>
            <a:pPr lvl="1"/>
            <a:r>
              <a:rPr lang="en-US" altLang="ko-KR"/>
              <a:t>Internet connectivity requires security like firewalls</a:t>
            </a:r>
            <a:endParaRPr lang="en-US" altLang="ko-KR" sz="800"/>
          </a:p>
          <a:p>
            <a:pPr lvl="1"/>
            <a:r>
              <a:rPr lang="en-US" altLang="ko-KR"/>
              <a:t>Load balancers spread traffic across multiple applications</a:t>
            </a:r>
          </a:p>
        </p:txBody>
      </p:sp>
      <p:pic>
        <p:nvPicPr>
          <p:cNvPr id="106500" name="Picture 1" descr="1_21.pd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0800" y="3068637"/>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62</a:t>
            </a:fld>
            <a:endParaRPr lang="ko-KR" altLang="ko-KR"/>
          </a:p>
        </p:txBody>
      </p:sp>
    </p:spTree>
    <p:extLst>
      <p:ext uri="{BB962C8B-B14F-4D97-AF65-F5344CB8AC3E}">
        <p14:creationId xmlns:p14="http://schemas.microsoft.com/office/powerpoint/2010/main" val="28102419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idx="4294967295"/>
          </p:nvPr>
        </p:nvSpPr>
        <p:spPr>
          <a:xfrm>
            <a:off x="1058863" y="73025"/>
            <a:ext cx="8229600" cy="576263"/>
          </a:xfrm>
        </p:spPr>
        <p:txBody>
          <a:bodyPr/>
          <a:lstStyle/>
          <a:p>
            <a:r>
              <a:rPr lang="en-US" altLang="ko-KR" sz="2000"/>
              <a:t>Computing Environments – Real-Time Embedded Systems</a:t>
            </a:r>
          </a:p>
        </p:txBody>
      </p:sp>
      <p:sp>
        <p:nvSpPr>
          <p:cNvPr id="108547" name="Content Placeholder 2"/>
          <p:cNvSpPr>
            <a:spLocks noGrp="1"/>
          </p:cNvSpPr>
          <p:nvPr>
            <p:ph idx="4294967295"/>
          </p:nvPr>
        </p:nvSpPr>
        <p:spPr>
          <a:xfrm>
            <a:off x="854075" y="1154113"/>
            <a:ext cx="7245350" cy="4530725"/>
          </a:xfrm>
        </p:spPr>
        <p:txBody>
          <a:bodyPr/>
          <a:lstStyle/>
          <a:p>
            <a:r>
              <a:rPr lang="en-US" altLang="ko-KR"/>
              <a:t>Real-time embedded systems most prevalent form of computers</a:t>
            </a:r>
          </a:p>
          <a:p>
            <a:pPr lvl="1"/>
            <a:r>
              <a:rPr lang="en-US" altLang="ko-KR"/>
              <a:t>Vary considerable, special purpose, limited purpose OS,    </a:t>
            </a:r>
            <a:r>
              <a:rPr lang="en-US" altLang="ko-KR" b="1">
                <a:solidFill>
                  <a:srgbClr val="3366FF"/>
                </a:solidFill>
              </a:rPr>
              <a:t>real-time OS</a:t>
            </a:r>
          </a:p>
          <a:p>
            <a:pPr lvl="1"/>
            <a:r>
              <a:rPr lang="en-US" altLang="ko-KR"/>
              <a:t>Use expanding</a:t>
            </a:r>
          </a:p>
          <a:p>
            <a:r>
              <a:rPr lang="en-US" altLang="ko-KR"/>
              <a:t>Many other special computing environments as well</a:t>
            </a:r>
          </a:p>
          <a:p>
            <a:pPr lvl="1"/>
            <a:r>
              <a:rPr lang="en-US" altLang="ko-KR"/>
              <a:t>Some have OSes, some perform tasks without an OS</a:t>
            </a:r>
          </a:p>
          <a:p>
            <a:r>
              <a:rPr lang="en-US" altLang="ko-KR"/>
              <a:t>Real-time OS has well-defined fixed time constraints</a:t>
            </a:r>
          </a:p>
          <a:p>
            <a:pPr lvl="1"/>
            <a:r>
              <a:rPr lang="en-US" altLang="ko-KR"/>
              <a:t>Processing </a:t>
            </a:r>
            <a:r>
              <a:rPr lang="en-US" altLang="ko-KR" b="1" i="1"/>
              <a:t>must</a:t>
            </a:r>
            <a:r>
              <a:rPr lang="en-US" altLang="ko-KR"/>
              <a:t> be done within constraint</a:t>
            </a:r>
          </a:p>
          <a:p>
            <a:pPr lvl="1"/>
            <a:r>
              <a:rPr lang="en-US" altLang="ko-KR"/>
              <a:t>Correct operation only if constraints met</a:t>
            </a:r>
          </a:p>
          <a:p>
            <a:pPr lvl="1"/>
            <a:endParaRPr lang="en-US" altLang="ko-K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63</a:t>
            </a:fld>
            <a:endParaRPr lang="ko-KR" altLang="ko-KR"/>
          </a:p>
        </p:txBody>
      </p:sp>
    </p:spTree>
    <p:extLst>
      <p:ext uri="{BB962C8B-B14F-4D97-AF65-F5344CB8AC3E}">
        <p14:creationId xmlns:p14="http://schemas.microsoft.com/office/powerpoint/2010/main" val="23157087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idx="4294967295"/>
          </p:nvPr>
        </p:nvSpPr>
        <p:spPr>
          <a:xfrm>
            <a:off x="982663" y="127000"/>
            <a:ext cx="7704137" cy="576263"/>
          </a:xfrm>
        </p:spPr>
        <p:txBody>
          <a:bodyPr/>
          <a:lstStyle/>
          <a:p>
            <a:r>
              <a:rPr lang="en-US" altLang="ko-KR" sz="2800"/>
              <a:t>Open-Source Operating Systems</a:t>
            </a:r>
          </a:p>
        </p:txBody>
      </p:sp>
      <p:sp>
        <p:nvSpPr>
          <p:cNvPr id="109571" name="Content Placeholder 2"/>
          <p:cNvSpPr>
            <a:spLocks noGrp="1"/>
          </p:cNvSpPr>
          <p:nvPr>
            <p:ph idx="4294967295"/>
          </p:nvPr>
        </p:nvSpPr>
        <p:spPr>
          <a:xfrm>
            <a:off x="806450" y="1233488"/>
            <a:ext cx="7186613" cy="4530725"/>
          </a:xfrm>
        </p:spPr>
        <p:txBody>
          <a:bodyPr/>
          <a:lstStyle/>
          <a:p>
            <a:r>
              <a:rPr lang="en-US" altLang="ko-KR" sz="2000" dirty="0"/>
              <a:t>Operating systems made available in source-code format rather than just binary </a:t>
            </a:r>
            <a:r>
              <a:rPr lang="en-US" altLang="ko-KR" sz="2000" b="1" dirty="0">
                <a:solidFill>
                  <a:srgbClr val="3366FF"/>
                </a:solidFill>
              </a:rPr>
              <a:t>closed-source</a:t>
            </a:r>
            <a:endParaRPr lang="en-US" altLang="ko-KR" sz="700" b="1" dirty="0">
              <a:solidFill>
                <a:srgbClr val="3366FF"/>
              </a:solidFill>
            </a:endParaRPr>
          </a:p>
          <a:p>
            <a:r>
              <a:rPr lang="en-US" altLang="ko-KR" sz="2000" dirty="0"/>
              <a:t>Counter to the </a:t>
            </a:r>
            <a:r>
              <a:rPr lang="en-US" altLang="ko-KR" sz="2000" b="1" dirty="0">
                <a:solidFill>
                  <a:srgbClr val="3366FF"/>
                </a:solidFill>
              </a:rPr>
              <a:t>copy protection</a:t>
            </a:r>
            <a:r>
              <a:rPr lang="en-US" altLang="ko-KR" sz="2000" dirty="0">
                <a:solidFill>
                  <a:srgbClr val="3366FF"/>
                </a:solidFill>
              </a:rPr>
              <a:t> </a:t>
            </a:r>
            <a:r>
              <a:rPr lang="en-US" altLang="ko-KR" sz="2000" dirty="0">
                <a:solidFill>
                  <a:srgbClr val="000000"/>
                </a:solidFill>
              </a:rPr>
              <a:t>and </a:t>
            </a:r>
            <a:r>
              <a:rPr lang="en-US" altLang="ko-KR" sz="2000" b="1" dirty="0">
                <a:solidFill>
                  <a:srgbClr val="3366FF"/>
                </a:solidFill>
              </a:rPr>
              <a:t>Digital Rights Management (DRM)</a:t>
            </a:r>
            <a:r>
              <a:rPr lang="en-US" altLang="ko-KR" sz="2000" dirty="0">
                <a:solidFill>
                  <a:srgbClr val="3366FF"/>
                </a:solidFill>
              </a:rPr>
              <a:t> </a:t>
            </a:r>
            <a:r>
              <a:rPr lang="en-US" altLang="ko-KR" sz="2000" dirty="0">
                <a:solidFill>
                  <a:srgbClr val="000000"/>
                </a:solidFill>
              </a:rPr>
              <a:t>movement</a:t>
            </a:r>
            <a:endParaRPr lang="en-US" altLang="ko-KR" sz="700" dirty="0">
              <a:solidFill>
                <a:srgbClr val="000000"/>
              </a:solidFill>
            </a:endParaRPr>
          </a:p>
          <a:p>
            <a:r>
              <a:rPr lang="en-US" altLang="ko-KR" sz="2000" dirty="0">
                <a:solidFill>
                  <a:srgbClr val="000000"/>
                </a:solidFill>
              </a:rPr>
              <a:t>Started by </a:t>
            </a:r>
            <a:r>
              <a:rPr lang="en-US" altLang="ko-KR" sz="2000" b="1" dirty="0">
                <a:solidFill>
                  <a:srgbClr val="3366FF"/>
                </a:solidFill>
              </a:rPr>
              <a:t>Free Software Foundation (FSF)</a:t>
            </a:r>
            <a:r>
              <a:rPr lang="en-US" altLang="ko-KR" sz="2000" dirty="0">
                <a:solidFill>
                  <a:srgbClr val="000000"/>
                </a:solidFill>
              </a:rPr>
              <a:t>, which has </a:t>
            </a:r>
            <a:r>
              <a:rPr lang="ja-JP" altLang="en-US" sz="2000" dirty="0">
                <a:solidFill>
                  <a:srgbClr val="000000"/>
                </a:solidFill>
              </a:rPr>
              <a:t>“</a:t>
            </a:r>
            <a:r>
              <a:rPr lang="en-US" altLang="ja-JP" sz="2000" dirty="0" err="1">
                <a:solidFill>
                  <a:srgbClr val="000000"/>
                </a:solidFill>
              </a:rPr>
              <a:t>copyleft</a:t>
            </a:r>
            <a:r>
              <a:rPr lang="ja-JP" altLang="en-US" sz="2000" dirty="0">
                <a:solidFill>
                  <a:srgbClr val="000000"/>
                </a:solidFill>
              </a:rPr>
              <a:t>”</a:t>
            </a:r>
            <a:r>
              <a:rPr lang="en-US" altLang="ja-JP" sz="2000" dirty="0">
                <a:solidFill>
                  <a:srgbClr val="000000"/>
                </a:solidFill>
              </a:rPr>
              <a:t> </a:t>
            </a:r>
            <a:r>
              <a:rPr lang="en-US" altLang="ja-JP" sz="2000" b="1" dirty="0">
                <a:solidFill>
                  <a:srgbClr val="3366FF"/>
                </a:solidFill>
              </a:rPr>
              <a:t>GNU Public License (GPL)</a:t>
            </a:r>
            <a:endParaRPr lang="en-US" altLang="ko-KR" sz="700" b="1" dirty="0">
              <a:solidFill>
                <a:srgbClr val="3366FF"/>
              </a:solidFill>
            </a:endParaRPr>
          </a:p>
          <a:p>
            <a:r>
              <a:rPr lang="en-US" altLang="ko-KR" sz="2000" dirty="0">
                <a:solidFill>
                  <a:srgbClr val="000000"/>
                </a:solidFill>
              </a:rPr>
              <a:t>Examples include </a:t>
            </a:r>
            <a:r>
              <a:rPr lang="en-US" altLang="ko-KR" sz="2000" b="1" dirty="0">
                <a:solidFill>
                  <a:srgbClr val="3366FF"/>
                </a:solidFill>
              </a:rPr>
              <a:t>GNU/Linux</a:t>
            </a:r>
            <a:r>
              <a:rPr lang="en-US" altLang="ko-KR" sz="2000" dirty="0"/>
              <a:t> and </a:t>
            </a:r>
            <a:r>
              <a:rPr lang="en-US" altLang="ko-KR" sz="2000" b="1" dirty="0">
                <a:solidFill>
                  <a:srgbClr val="3366FF"/>
                </a:solidFill>
              </a:rPr>
              <a:t>BSD UNIX</a:t>
            </a:r>
            <a:r>
              <a:rPr lang="en-US" altLang="ko-KR" sz="2000" dirty="0">
                <a:solidFill>
                  <a:srgbClr val="3366FF"/>
                </a:solidFill>
              </a:rPr>
              <a:t> </a:t>
            </a:r>
            <a:r>
              <a:rPr lang="en-US" altLang="ko-KR" sz="2000" dirty="0">
                <a:solidFill>
                  <a:srgbClr val="000000"/>
                </a:solidFill>
              </a:rPr>
              <a:t>(including core of </a:t>
            </a:r>
            <a:r>
              <a:rPr lang="en-US" altLang="ko-KR" sz="2000" b="1" dirty="0">
                <a:solidFill>
                  <a:srgbClr val="3366FF"/>
                </a:solidFill>
              </a:rPr>
              <a:t>Mac OS X</a:t>
            </a:r>
            <a:r>
              <a:rPr lang="en-US" altLang="ko-KR" sz="2000" dirty="0">
                <a:solidFill>
                  <a:srgbClr val="000000"/>
                </a:solidFill>
              </a:rPr>
              <a:t>), and many more</a:t>
            </a:r>
          </a:p>
          <a:p>
            <a:r>
              <a:rPr lang="en-US" altLang="ko-KR" sz="2000" dirty="0">
                <a:solidFill>
                  <a:srgbClr val="000000"/>
                </a:solidFill>
              </a:rPr>
              <a:t>Can use VMM like VMware Player (Free on Windows), </a:t>
            </a:r>
            <a:r>
              <a:rPr lang="en-US" altLang="ko-KR" sz="2000" dirty="0" err="1">
                <a:solidFill>
                  <a:srgbClr val="000000"/>
                </a:solidFill>
              </a:rPr>
              <a:t>Virtualbox</a:t>
            </a:r>
            <a:r>
              <a:rPr lang="en-US" altLang="ko-KR" sz="2000" dirty="0">
                <a:solidFill>
                  <a:srgbClr val="000000"/>
                </a:solidFill>
              </a:rPr>
              <a:t> (open source and free on many platforms - </a:t>
            </a:r>
            <a:r>
              <a:rPr lang="en-US" altLang="ko-KR" sz="2000" dirty="0"/>
              <a:t>http://www.virtualbox.com) </a:t>
            </a:r>
          </a:p>
          <a:p>
            <a:pPr lvl="1"/>
            <a:r>
              <a:rPr lang="en-US" altLang="ko-KR" sz="1800" dirty="0">
                <a:solidFill>
                  <a:srgbClr val="000000"/>
                </a:solidFill>
              </a:rPr>
              <a:t>Use to run guest operating systems for exploration</a:t>
            </a:r>
          </a:p>
        </p:txBody>
      </p:sp>
      <p:sp>
        <p:nvSpPr>
          <p:cNvPr id="2" name="슬라이드 번호 개체 틀 1"/>
          <p:cNvSpPr>
            <a:spLocks noGrp="1"/>
          </p:cNvSpPr>
          <p:nvPr>
            <p:ph type="sldNum" sz="quarter" idx="12"/>
          </p:nvPr>
        </p:nvSpPr>
        <p:spPr/>
        <p:txBody>
          <a:bodyPr/>
          <a:lstStyle/>
          <a:p>
            <a:pPr>
              <a:defRPr/>
            </a:pPr>
            <a:fld id="{3C2A9AA2-7725-4B89-B2D3-5A8420073571}" type="slidenum">
              <a:rPr lang="ko-KR" altLang="ko-KR" smtClean="0"/>
              <a:pPr>
                <a:defRPr/>
              </a:pPr>
              <a:t>64</a:t>
            </a:fld>
            <a:endParaRPr lang="ko-KR" altLang="ko-KR"/>
          </a:p>
        </p:txBody>
      </p:sp>
    </p:spTree>
    <p:extLst>
      <p:ext uri="{BB962C8B-B14F-4D97-AF65-F5344CB8AC3E}">
        <p14:creationId xmlns:p14="http://schemas.microsoft.com/office/powerpoint/2010/main" val="8008537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3"/>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spcBef>
                <a:spcPct val="0"/>
              </a:spcBef>
              <a:buClrTx/>
              <a:buSzTx/>
              <a:buFontTx/>
              <a:buNone/>
            </a:pPr>
            <a:fld id="{2D1646A4-1E7C-484D-9E14-A8EA4C5EFDBE}" type="slidenum">
              <a:rPr lang="en-US" altLang="ko-KR" sz="1000"/>
              <a:pPr>
                <a:spcBef>
                  <a:spcPct val="0"/>
                </a:spcBef>
                <a:buClrTx/>
                <a:buSzTx/>
                <a:buFontTx/>
                <a:buNone/>
              </a:pPr>
              <a:t>65</a:t>
            </a:fld>
            <a:endParaRPr lang="en-US" altLang="ko-KR" sz="1000"/>
          </a:p>
        </p:txBody>
      </p:sp>
      <p:pic>
        <p:nvPicPr>
          <p:cNvPr id="65539" name="Picture 2" descr="인터넷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3" y="0"/>
            <a:ext cx="9128125"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3" descr="설명박스5"/>
          <p:cNvPicPr>
            <a:picLocks noChangeAspect="1" noChangeArrowheads="1"/>
          </p:cNvPicPr>
          <p:nvPr/>
        </p:nvPicPr>
        <p:blipFill>
          <a:blip r:embed="rId4">
            <a:lum bright="54000" contrast="24000"/>
            <a:extLst>
              <a:ext uri="{28A0092B-C50C-407E-A947-70E740481C1C}">
                <a14:useLocalDpi xmlns:a14="http://schemas.microsoft.com/office/drawing/2010/main" val="0"/>
              </a:ext>
            </a:extLst>
          </a:blip>
          <a:srcRect l="22014" r="21893"/>
          <a:stretch>
            <a:fillRect/>
          </a:stretch>
        </p:blipFill>
        <p:spPr bwMode="auto">
          <a:xfrm>
            <a:off x="0" y="3200400"/>
            <a:ext cx="9144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Text Box 4">
            <a:hlinkClick r:id="rId5" action="ppaction://hlinkfile"/>
          </p:cNvPr>
          <p:cNvSpPr txBox="1">
            <a:spLocks noChangeArrowheads="1"/>
          </p:cNvSpPr>
          <p:nvPr/>
        </p:nvSpPr>
        <p:spPr bwMode="auto">
          <a:xfrm>
            <a:off x="2711450" y="3284538"/>
            <a:ext cx="384175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spcBef>
                <a:spcPct val="4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Times New Roman (Hebrew)" charset="0"/>
              </a:defRPr>
            </a:lvl1pPr>
            <a:lvl2pPr marL="742950" indent="-285750">
              <a:spcBef>
                <a:spcPct val="20000"/>
              </a:spcBef>
              <a:buClr>
                <a:schemeClr val="folHlink"/>
              </a:buClr>
              <a:buSzPct val="55000"/>
              <a:buFont typeface="Wingdings" panose="05000000000000000000" pitchFamily="2" charset="2"/>
              <a:buChar char="q"/>
              <a:defRPr sz="2800">
                <a:solidFill>
                  <a:schemeClr val="tx1"/>
                </a:solidFill>
                <a:latin typeface="Tahoma" panose="020B0604030504040204" pitchFamily="34" charset="0"/>
                <a:cs typeface="Times New Roman (Hebrew)"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Times New Roman (Hebrew)"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Times New Roman (Hebrew)"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Times New Roman (Hebrew)" charset="0"/>
              </a:defRPr>
            </a:lvl9pPr>
          </a:lstStyle>
          <a:p>
            <a:pPr algn="ctr" eaLnBrk="1" latinLnBrk="1" hangingPunct="1">
              <a:spcBef>
                <a:spcPct val="0"/>
              </a:spcBef>
              <a:buClrTx/>
              <a:buSzTx/>
              <a:buFontTx/>
              <a:buNone/>
            </a:pPr>
            <a:r>
              <a:rPr kumimoji="1" lang="en-US" altLang="ko-KR" sz="3800" b="1" i="1">
                <a:solidFill>
                  <a:srgbClr val="FF9933"/>
                </a:solidFill>
                <a:latin typeface="Arial" panose="020B0604020202020204" pitchFamily="34" charset="0"/>
                <a:ea typeface="HY견고딕" panose="02030600000101010101" pitchFamily="18" charset="-127"/>
              </a:rPr>
              <a:t>Q&amp;A </a:t>
            </a:r>
          </a:p>
        </p:txBody>
      </p:sp>
    </p:spTree>
  </p:cSld>
  <p:clrMapOvr>
    <a:masterClrMapping/>
  </p:clrMapOvr>
  <p:transition/>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Times New Roman (Hebrew)"/>
      </a:majorFont>
      <a:minorFont>
        <a:latin typeface="Tahoma"/>
        <a:ea typeface=""/>
        <a:cs typeface="Times New Roman (Hebrew)"/>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1"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cs typeface="Times New Roman (Hebrew)" charset="-79"/>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triangle" w="med" len="med"/>
        </a:ln>
        <a:effectLst/>
      </a:spPr>
      <a:bodyPr vert="horz" wrap="none" lIns="91440" tIns="45720" rIns="91440" bIns="45720" numCol="1" anchor="t" anchorCtr="0" compatLnSpc="1">
        <a:prstTxWarp prst="textNoShape">
          <a:avLst/>
        </a:prstTxWarp>
        <a:spAutoFit/>
      </a:bodyPr>
      <a:lstStyle>
        <a:defPPr marL="0" marR="0" indent="0" algn="ctr" defTabSz="914400" rtl="1" eaLnBrk="1" fontAlgn="base" latinLnBrk="0" hangingPunct="1">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Tahoma" pitchFamily="34" charset="0"/>
            <a:cs typeface="Times New Roman (Hebrew)" charset="-79"/>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20320</TotalTime>
  <Words>3846</Words>
  <Application>Microsoft Office PowerPoint</Application>
  <PresentationFormat>화면 슬라이드 쇼(4:3)</PresentationFormat>
  <Paragraphs>618</Paragraphs>
  <Slides>65</Slides>
  <Notes>56</Notes>
  <HiddenSlides>0</HiddenSlides>
  <MMClips>0</MMClips>
  <ScaleCrop>false</ScaleCrop>
  <HeadingPairs>
    <vt:vector size="8" baseType="variant">
      <vt:variant>
        <vt:lpstr>사용한 글꼴</vt:lpstr>
      </vt:variant>
      <vt:variant>
        <vt:i4>19</vt:i4>
      </vt:variant>
      <vt:variant>
        <vt:lpstr>테마</vt:lpstr>
      </vt:variant>
      <vt:variant>
        <vt:i4>1</vt:i4>
      </vt:variant>
      <vt:variant>
        <vt:lpstr>포함된 OLE 서버</vt:lpstr>
      </vt:variant>
      <vt:variant>
        <vt:i4>1</vt:i4>
      </vt:variant>
      <vt:variant>
        <vt:lpstr>슬라이드 제목</vt:lpstr>
      </vt:variant>
      <vt:variant>
        <vt:i4>65</vt:i4>
      </vt:variant>
    </vt:vector>
  </HeadingPairs>
  <TitlesOfParts>
    <vt:vector size="86" baseType="lpstr">
      <vt:lpstr>Arial Unicode MS</vt:lpstr>
      <vt:lpstr>HY견고딕</vt:lpstr>
      <vt:lpstr>Monotype Sorts</vt:lpstr>
      <vt:lpstr>MS PGothic</vt:lpstr>
      <vt:lpstr>MS PGothic</vt:lpstr>
      <vt:lpstr>굴림</vt:lpstr>
      <vt:lpstr>나눔고딕</vt:lpstr>
      <vt:lpstr>맑은 고딕</vt:lpstr>
      <vt:lpstr>Arial</vt:lpstr>
      <vt:lpstr>Arial Narrow</vt:lpstr>
      <vt:lpstr>Courier New</vt:lpstr>
      <vt:lpstr>Helvetica</vt:lpstr>
      <vt:lpstr>Tahoma</vt:lpstr>
      <vt:lpstr>Times New Roman</vt:lpstr>
      <vt:lpstr>Times New Roman (Hebrew)</vt:lpstr>
      <vt:lpstr>Verdana</vt:lpstr>
      <vt:lpstr>Webdings</vt:lpstr>
      <vt:lpstr>Wingdings</vt:lpstr>
      <vt:lpstr>Wingdings 3</vt:lpstr>
      <vt:lpstr>Blends</vt:lpstr>
      <vt:lpstr>Equation</vt:lpstr>
      <vt:lpstr>Operating System - Introduction - </vt:lpstr>
      <vt:lpstr>About this course…</vt:lpstr>
      <vt:lpstr>About this course…</vt:lpstr>
      <vt:lpstr>About this course…</vt:lpstr>
      <vt:lpstr>About this course…</vt:lpstr>
      <vt:lpstr>About this course…</vt:lpstr>
      <vt:lpstr>Chapter 1:  Introduction</vt:lpstr>
      <vt:lpstr>Chapter 1: Introduction</vt:lpstr>
      <vt:lpstr>Objectives</vt:lpstr>
      <vt:lpstr>What is an Operating System?</vt:lpstr>
      <vt:lpstr>Computer System Structure</vt:lpstr>
      <vt:lpstr>Four Components of a Computer System</vt:lpstr>
      <vt:lpstr>What Operating Systems Do</vt:lpstr>
      <vt:lpstr>Operating System Definition</vt:lpstr>
      <vt:lpstr>Operating System Definition (Cont.)</vt:lpstr>
      <vt:lpstr>Computer Startup</vt:lpstr>
      <vt:lpstr>Computer System Organization</vt:lpstr>
      <vt:lpstr>Computer-System Operation</vt:lpstr>
      <vt:lpstr>Common Functions of Interrupts</vt:lpstr>
      <vt:lpstr>Interrupt Handling</vt:lpstr>
      <vt:lpstr>Interrupt Timeline</vt:lpstr>
      <vt:lpstr>I/O Structure</vt:lpstr>
      <vt:lpstr>Storage Definitions and Notation Review</vt:lpstr>
      <vt:lpstr>Storage Structure</vt:lpstr>
      <vt:lpstr>Storage Hierarchy</vt:lpstr>
      <vt:lpstr>Storage-Device Hierarchy</vt:lpstr>
      <vt:lpstr>Caching</vt:lpstr>
      <vt:lpstr>Direct Memory Access Structure</vt:lpstr>
      <vt:lpstr>How a Modern Computer Works</vt:lpstr>
      <vt:lpstr>Computer-System Architecture</vt:lpstr>
      <vt:lpstr>Symmetric Multiprocessing Architecture</vt:lpstr>
      <vt:lpstr>A Dual-Core Design</vt:lpstr>
      <vt:lpstr>Clustered Systems</vt:lpstr>
      <vt:lpstr>Clustered Systems</vt:lpstr>
      <vt:lpstr>Operating System Structure</vt:lpstr>
      <vt:lpstr>Memory Layout for Multiprogrammed System</vt:lpstr>
      <vt:lpstr>Operating-System Operations</vt:lpstr>
      <vt:lpstr>Operating-System Operations (cont.)</vt:lpstr>
      <vt:lpstr>Transition from User to Kernel Mode</vt:lpstr>
      <vt:lpstr>Process Management</vt:lpstr>
      <vt:lpstr>Process Management</vt:lpstr>
      <vt:lpstr>Process Management Activities</vt:lpstr>
      <vt:lpstr>Memory Management</vt:lpstr>
      <vt:lpstr>Storage Management</vt:lpstr>
      <vt:lpstr>Mass-Storage Management</vt:lpstr>
      <vt:lpstr>Performance of Various Levels of Storage</vt:lpstr>
      <vt:lpstr>Migration of data “A” from Disk to Register</vt:lpstr>
      <vt:lpstr>I/O Subsystem</vt:lpstr>
      <vt:lpstr>Protection and Security</vt:lpstr>
      <vt:lpstr>Kernel Data Structures</vt:lpstr>
      <vt:lpstr>Kernel Data Structures</vt:lpstr>
      <vt:lpstr>Kernel Data Structures</vt:lpstr>
      <vt:lpstr>Computing Environments - Traditional</vt:lpstr>
      <vt:lpstr>Computing Environments - Mobile</vt:lpstr>
      <vt:lpstr>Computing Environments – Distributed</vt:lpstr>
      <vt:lpstr>Computing Environments – Client-Server</vt:lpstr>
      <vt:lpstr>Computing Environments - Peer-to-Peer</vt:lpstr>
      <vt:lpstr>Computing Environments - Virtualization</vt:lpstr>
      <vt:lpstr>Computing Environments - Virtualization</vt:lpstr>
      <vt:lpstr>Computing Environments - Virtualization</vt:lpstr>
      <vt:lpstr>Computing Environments – Cloud Computing</vt:lpstr>
      <vt:lpstr>Computing Environments – Cloud Computing</vt:lpstr>
      <vt:lpstr>Computing Environments – Real-Time Embedded Systems</vt:lpstr>
      <vt:lpstr>Open-Source Operating Systems</vt:lpstr>
      <vt:lpstr>PowerPoint 프레젠테이션</vt:lpstr>
    </vt:vector>
  </TitlesOfParts>
  <Company>University of Maryland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HB/HB+</dc:title>
  <dc:creator>Jonathan Katz</dc:creator>
  <cp:lastModifiedBy>Windows 사용자</cp:lastModifiedBy>
  <cp:revision>1218</cp:revision>
  <cp:lastPrinted>2013-03-05T01:48:42Z</cp:lastPrinted>
  <dcterms:created xsi:type="dcterms:W3CDTF">2002-05-06T14:20:59Z</dcterms:created>
  <dcterms:modified xsi:type="dcterms:W3CDTF">2020-03-15T06:01:52Z</dcterms:modified>
</cp:coreProperties>
</file>