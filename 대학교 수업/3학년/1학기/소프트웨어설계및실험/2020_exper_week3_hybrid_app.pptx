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3" r:id="rId1"/>
    <p:sldMasterId id="2147483735" r:id="rId2"/>
  </p:sldMasterIdLst>
  <p:notesMasterIdLst>
    <p:notesMasterId r:id="rId25"/>
  </p:notesMasterIdLst>
  <p:sldIdLst>
    <p:sldId id="256" r:id="rId3"/>
    <p:sldId id="428" r:id="rId4"/>
    <p:sldId id="407" r:id="rId5"/>
    <p:sldId id="409" r:id="rId6"/>
    <p:sldId id="408" r:id="rId7"/>
    <p:sldId id="413" r:id="rId8"/>
    <p:sldId id="410" r:id="rId9"/>
    <p:sldId id="411" r:id="rId10"/>
    <p:sldId id="414" r:id="rId11"/>
    <p:sldId id="415" r:id="rId12"/>
    <p:sldId id="430" r:id="rId13"/>
    <p:sldId id="431" r:id="rId14"/>
    <p:sldId id="432" r:id="rId15"/>
    <p:sldId id="416" r:id="rId16"/>
    <p:sldId id="423" r:id="rId17"/>
    <p:sldId id="424" r:id="rId18"/>
    <p:sldId id="419" r:id="rId19"/>
    <p:sldId id="426" r:id="rId20"/>
    <p:sldId id="425" r:id="rId21"/>
    <p:sldId id="427" r:id="rId22"/>
    <p:sldId id="420" r:id="rId23"/>
    <p:sldId id="412" r:id="rId24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9BDEC"/>
    <a:srgbClr val="D27CC0"/>
    <a:srgbClr val="F1F9A1"/>
    <a:srgbClr val="E8F668"/>
    <a:srgbClr val="CAD355"/>
    <a:srgbClr val="F79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88171" autoAdjust="0"/>
  </p:normalViewPr>
  <p:slideViewPr>
    <p:cSldViewPr>
      <p:cViewPr varScale="1">
        <p:scale>
          <a:sx n="115" d="100"/>
          <a:sy n="115" d="100"/>
        </p:scale>
        <p:origin x="14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FA71F-C233-4DED-9505-1F6F3F0D3F72}" type="datetimeFigureOut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55A3F-3ED5-4BD3-9362-F62B05D1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8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647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07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46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54E7-8C76-453F-874A-8DC57E12D70A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05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5185E-2D09-4348-887F-89083C8297A6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1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F682C-7757-400F-BEF8-E017FC213865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20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5C89-EC8A-4844-888E-9ADA187DB2AD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18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CFC9A-849D-4F68-BB84-2652BD358FC0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86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DE98B-BB2A-4DB3-8EDD-983CE22BC23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31844-7651-45D7-B033-2215FB02D00E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84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D542-0074-40F5-BFB8-F1358D0EA3A6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125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52B08-7EE4-4BDB-8FC9-D76F1F77BC89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7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0FD95-5934-4339-A9B3-72A7C9AA17A0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482E-522B-4B0D-B53D-371B1A1F5A3A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784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586166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90732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311130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824122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171119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348715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86804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842328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056984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254230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556438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096748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510281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616568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790990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2031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A312A-AA5F-4E61-827D-9E16E63F2107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36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63F87-A230-4BE3-B4AE-C7F3D930AEF2}" type="datetime1">
              <a:rPr lang="ko-KR" altLang="en-US" smtClean="0"/>
              <a:t>2020-04-01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564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nodejs.org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ant.apache.org/bindownload.cgi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15480" y="1772816"/>
            <a:ext cx="7766936" cy="2710068"/>
          </a:xfrm>
        </p:spPr>
        <p:txBody>
          <a:bodyPr>
            <a:normAutofit/>
          </a:bodyPr>
          <a:lstStyle/>
          <a:p>
            <a:r>
              <a:rPr lang="en-US" altLang="ko-KR" sz="6000"/>
              <a:t>Hybrid App</a:t>
            </a:r>
            <a:br>
              <a:rPr lang="en-US" altLang="ko-KR" sz="6000"/>
            </a:br>
            <a:endParaRPr lang="ko-KR" altLang="en-US" sz="3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15480" y="4482884"/>
            <a:ext cx="7766936" cy="1096899"/>
          </a:xfrm>
        </p:spPr>
        <p:txBody>
          <a:bodyPr>
            <a:normAutofit/>
          </a:bodyPr>
          <a:lstStyle/>
          <a:p>
            <a:r>
              <a:rPr lang="en-US" altLang="ko-KR" sz="1400" dirty="0" smtClean="0"/>
              <a:t>2020</a:t>
            </a:r>
            <a:r>
              <a:rPr lang="ko-KR" altLang="en-US" sz="1400" dirty="0" smtClean="0"/>
              <a:t>년 </a:t>
            </a:r>
            <a:r>
              <a:rPr lang="en-US" altLang="ko-KR" sz="1400" dirty="0" smtClean="0"/>
              <a:t>1</a:t>
            </a:r>
            <a:r>
              <a:rPr lang="ko-KR" altLang="en-US" sz="1400" dirty="0"/>
              <a:t>학기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15716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8677" y="332656"/>
            <a:ext cx="8596668" cy="1320800"/>
          </a:xfrm>
        </p:spPr>
        <p:txBody>
          <a:bodyPr/>
          <a:lstStyle/>
          <a:p>
            <a:r>
              <a:rPr lang="ko-KR" altLang="en-US" dirty="0"/>
              <a:t>목 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1424" y="1653456"/>
            <a:ext cx="8596668" cy="3880773"/>
          </a:xfrm>
        </p:spPr>
        <p:txBody>
          <a:bodyPr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 err="1">
                <a:solidFill>
                  <a:schemeClr val="tx1"/>
                </a:solidFill>
              </a:rPr>
              <a:t>PhoneGap</a:t>
            </a:r>
            <a:r>
              <a:rPr lang="ko-KR" altLang="en-US" sz="2000" dirty="0">
                <a:solidFill>
                  <a:schemeClr val="tx1"/>
                </a:solidFill>
              </a:rPr>
              <a:t>이란</a:t>
            </a:r>
            <a:r>
              <a:rPr lang="en-US" altLang="ko-KR" sz="2000" dirty="0">
                <a:solidFill>
                  <a:schemeClr val="tx1"/>
                </a:solidFill>
              </a:rPr>
              <a:t>?                                         3 – 8 Page</a:t>
            </a:r>
          </a:p>
          <a:p>
            <a:endParaRPr lang="en-US" altLang="ko-KR" sz="2000" dirty="0">
              <a:solidFill>
                <a:schemeClr val="tx1"/>
              </a:solidFill>
            </a:endParaRPr>
          </a:p>
          <a:p>
            <a:r>
              <a:rPr lang="en-US" altLang="ko-KR" sz="2000" dirty="0" err="1">
                <a:solidFill>
                  <a:schemeClr val="tx1"/>
                </a:solidFill>
              </a:rPr>
              <a:t>PhoneGap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>
                <a:solidFill>
                  <a:schemeClr val="tx1"/>
                </a:solidFill>
              </a:rPr>
              <a:t>환경설정 및 프로젝트 생성        </a:t>
            </a:r>
            <a:r>
              <a:rPr lang="en-US" altLang="ko-KR" sz="2000" dirty="0">
                <a:solidFill>
                  <a:schemeClr val="tx1"/>
                </a:solidFill>
              </a:rPr>
              <a:t>9 – 19 Page</a:t>
            </a:r>
          </a:p>
          <a:p>
            <a:endParaRPr lang="en-US" altLang="ko-KR" sz="2000" dirty="0">
              <a:solidFill>
                <a:schemeClr val="tx1"/>
              </a:solidFill>
            </a:endParaRPr>
          </a:p>
          <a:p>
            <a:r>
              <a:rPr lang="en-US" altLang="ko-KR" sz="2000" dirty="0" err="1">
                <a:solidFill>
                  <a:schemeClr val="tx1"/>
                </a:solidFill>
              </a:rPr>
              <a:t>PhoneGap</a:t>
            </a:r>
            <a:r>
              <a:rPr lang="en-US" altLang="ko-KR" sz="2000" dirty="0">
                <a:solidFill>
                  <a:schemeClr val="tx1"/>
                </a:solidFill>
              </a:rPr>
              <a:t> Plugin notification </a:t>
            </a:r>
            <a:r>
              <a:rPr lang="ko-KR" altLang="en-US" sz="2000" dirty="0">
                <a:solidFill>
                  <a:schemeClr val="tx1"/>
                </a:solidFill>
              </a:rPr>
              <a:t>사용             </a:t>
            </a:r>
            <a:r>
              <a:rPr lang="en-US" altLang="ko-KR" sz="2000" dirty="0">
                <a:solidFill>
                  <a:schemeClr val="tx1"/>
                </a:solidFill>
              </a:rPr>
              <a:t>20 – 23 Page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1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098826"/>
            <a:ext cx="7346777" cy="4628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native</a:t>
            </a:r>
            <a:r>
              <a:rPr lang="ko-KR" altLang="en-US" sz="1600" dirty="0">
                <a:solidFill>
                  <a:schemeClr val="tx1"/>
                </a:solidFill>
              </a:rPr>
              <a:t>와 </a:t>
            </a:r>
            <a:r>
              <a:rPr lang="en-US" altLang="ko-KR" sz="1600" dirty="0">
                <a:solidFill>
                  <a:schemeClr val="tx1"/>
                </a:solidFill>
              </a:rPr>
              <a:t>html5/css3, Sencha touch, </a:t>
            </a:r>
            <a:r>
              <a:rPr lang="en-US" altLang="ko-KR" sz="1600" dirty="0" err="1">
                <a:solidFill>
                  <a:schemeClr val="tx1"/>
                </a:solidFill>
              </a:rPr>
              <a:t>jquery</a:t>
            </a:r>
            <a:r>
              <a:rPr lang="en-US" altLang="ko-KR" sz="1600" dirty="0">
                <a:solidFill>
                  <a:schemeClr val="tx1"/>
                </a:solidFill>
              </a:rPr>
              <a:t> mobile </a:t>
            </a:r>
            <a:r>
              <a:rPr lang="ko-KR" altLang="en-US" sz="1600" dirty="0">
                <a:solidFill>
                  <a:schemeClr val="tx1"/>
                </a:solidFill>
              </a:rPr>
              <a:t>등으로 개발된 </a:t>
            </a:r>
            <a:r>
              <a:rPr lang="en-US" altLang="ko-KR" sz="1600" dirty="0" err="1">
                <a:solidFill>
                  <a:schemeClr val="tx1"/>
                </a:solidFill>
              </a:rPr>
              <a:t>WebApp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en-US" altLang="ko-KR" sz="1600" dirty="0">
                <a:solidFill>
                  <a:schemeClr val="tx1"/>
                </a:solidFill>
              </a:rPr>
              <a:t>App</a:t>
            </a:r>
            <a:r>
              <a:rPr lang="ko-KR" altLang="en-US" sz="1600" dirty="0">
                <a:solidFill>
                  <a:schemeClr val="tx1"/>
                </a:solidFill>
              </a:rPr>
              <a:t>으로 감싸기 위한 </a:t>
            </a:r>
            <a:r>
              <a:rPr lang="en-US" altLang="ko-KR" sz="1600" dirty="0">
                <a:solidFill>
                  <a:schemeClr val="tx1"/>
                </a:solidFill>
              </a:rPr>
              <a:t>Framework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Mobile Cross Platform </a:t>
            </a:r>
            <a:r>
              <a:rPr lang="en-US" altLang="ko-KR" sz="1600" dirty="0" err="1">
                <a:solidFill>
                  <a:schemeClr val="tx1"/>
                </a:solidFill>
              </a:rPr>
              <a:t>OpenSource</a:t>
            </a:r>
            <a:endParaRPr lang="en-US" altLang="ko-KR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2008</a:t>
            </a:r>
            <a:r>
              <a:rPr lang="ko-KR" altLang="en-US" sz="1600" dirty="0">
                <a:solidFill>
                  <a:schemeClr val="tx1"/>
                </a:solidFill>
              </a:rPr>
              <a:t>년 </a:t>
            </a:r>
            <a:r>
              <a:rPr lang="en-US" altLang="ko-KR" sz="1600" dirty="0">
                <a:solidFill>
                  <a:schemeClr val="tx1"/>
                </a:solidFill>
              </a:rPr>
              <a:t>8</a:t>
            </a:r>
            <a:r>
              <a:rPr lang="ko-KR" altLang="en-US" sz="1600" dirty="0">
                <a:solidFill>
                  <a:schemeClr val="tx1"/>
                </a:solidFill>
              </a:rPr>
              <a:t>월 </a:t>
            </a:r>
            <a:r>
              <a:rPr lang="en-US" altLang="ko-KR" sz="1600" dirty="0" err="1">
                <a:solidFill>
                  <a:schemeClr val="tx1"/>
                </a:solidFill>
              </a:rPr>
              <a:t>iPhoneDevCamp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행사에 첫 선을 보인 </a:t>
            </a:r>
            <a:r>
              <a:rPr lang="en-US" altLang="ko-KR" sz="1600" dirty="0">
                <a:solidFill>
                  <a:schemeClr val="tx1"/>
                </a:solidFill>
              </a:rPr>
              <a:t>Hybrid platform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2011</a:t>
            </a:r>
            <a:r>
              <a:rPr lang="ko-KR" altLang="en-US" sz="1600" dirty="0">
                <a:solidFill>
                  <a:schemeClr val="tx1"/>
                </a:solidFill>
              </a:rPr>
              <a:t>년 </a:t>
            </a:r>
            <a:r>
              <a:rPr lang="en-US" altLang="ko-KR" sz="1600" dirty="0">
                <a:solidFill>
                  <a:schemeClr val="tx1"/>
                </a:solidFill>
              </a:rPr>
              <a:t>10</a:t>
            </a:r>
            <a:r>
              <a:rPr lang="ko-KR" altLang="en-US" sz="1600" dirty="0">
                <a:solidFill>
                  <a:schemeClr val="tx1"/>
                </a:solidFill>
              </a:rPr>
              <a:t>월 </a:t>
            </a:r>
            <a:r>
              <a:rPr lang="en-US" altLang="ko-KR" sz="1600" dirty="0" err="1">
                <a:solidFill>
                  <a:schemeClr val="tx1"/>
                </a:solidFill>
              </a:rPr>
              <a:t>Nitobi</a:t>
            </a:r>
            <a:r>
              <a:rPr lang="ko-KR" altLang="en-US" sz="1600" dirty="0">
                <a:solidFill>
                  <a:schemeClr val="tx1"/>
                </a:solidFill>
              </a:rPr>
              <a:t>사에서 </a:t>
            </a:r>
            <a:r>
              <a:rPr lang="en-US" altLang="ko-KR" sz="1600" dirty="0">
                <a:solidFill>
                  <a:schemeClr val="tx1"/>
                </a:solidFill>
              </a:rPr>
              <a:t>Adobe</a:t>
            </a:r>
            <a:r>
              <a:rPr lang="ko-KR" altLang="en-US" sz="1600">
                <a:solidFill>
                  <a:schemeClr val="tx1"/>
                </a:solidFill>
              </a:rPr>
              <a:t>사로 인수</a:t>
            </a:r>
            <a:endParaRPr lang="en-US" altLang="ko-KR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Apache </a:t>
            </a:r>
            <a:r>
              <a:rPr lang="ko-KR" altLang="en-US" sz="1600" dirty="0">
                <a:solidFill>
                  <a:schemeClr val="tx1"/>
                </a:solidFill>
              </a:rPr>
              <a:t>재단의 라이선스 정책을 따름</a:t>
            </a:r>
            <a:endParaRPr lang="en-US" altLang="ko-KR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chemeClr val="tx1"/>
                </a:solidFill>
              </a:rPr>
              <a:t>PhoneGap</a:t>
            </a:r>
            <a:r>
              <a:rPr lang="ko-KR" altLang="en-US" sz="1600" dirty="0">
                <a:solidFill>
                  <a:schemeClr val="tx1"/>
                </a:solidFill>
              </a:rPr>
              <a:t>은 </a:t>
            </a:r>
            <a:r>
              <a:rPr lang="en-US" altLang="ko-KR" sz="1600" dirty="0" err="1">
                <a:solidFill>
                  <a:schemeClr val="tx1"/>
                </a:solidFill>
              </a:rPr>
              <a:t>cordova</a:t>
            </a:r>
            <a:r>
              <a:rPr lang="ko-KR" altLang="en-US" sz="1600" dirty="0">
                <a:solidFill>
                  <a:schemeClr val="tx1"/>
                </a:solidFill>
              </a:rPr>
              <a:t>를 기반으로 </a:t>
            </a:r>
            <a:r>
              <a:rPr lang="ko-KR" altLang="en-US" sz="1600" dirty="0" err="1">
                <a:solidFill>
                  <a:schemeClr val="tx1"/>
                </a:solidFill>
              </a:rPr>
              <a:t>여러가지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 err="1">
                <a:solidFill>
                  <a:schemeClr val="tx1"/>
                </a:solidFill>
              </a:rPr>
              <a:t>PlugIn</a:t>
            </a:r>
            <a:r>
              <a:rPr lang="ko-KR" altLang="en-US" sz="1600" dirty="0">
                <a:solidFill>
                  <a:schemeClr val="tx1"/>
                </a:solidFill>
              </a:rPr>
              <a:t>들을 묶어 </a:t>
            </a:r>
            <a:r>
              <a:rPr lang="en-US" altLang="ko-KR" sz="1600" dirty="0">
                <a:solidFill>
                  <a:schemeClr val="tx1"/>
                </a:solidFill>
              </a:rPr>
              <a:t>Mobile</a:t>
            </a:r>
            <a:r>
              <a:rPr lang="ko-KR" altLang="en-US" sz="1600" dirty="0">
                <a:solidFill>
                  <a:schemeClr val="tx1"/>
                </a:solidFill>
              </a:rPr>
              <a:t> 환경에 개발할 수 있도록 만든 </a:t>
            </a:r>
            <a:r>
              <a:rPr lang="ko-KR" altLang="en-US" sz="1600" dirty="0" err="1">
                <a:solidFill>
                  <a:schemeClr val="tx1"/>
                </a:solidFill>
              </a:rPr>
              <a:t>배포판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136" y="5082262"/>
            <a:ext cx="4141795" cy="129030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309" y="4886746"/>
            <a:ext cx="3347864" cy="1494582"/>
          </a:xfrm>
          <a:prstGeom prst="rect">
            <a:avLst/>
          </a:prstGeom>
        </p:spPr>
      </p:pic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529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49744"/>
            <a:ext cx="8596668" cy="1320800"/>
          </a:xfrm>
        </p:spPr>
        <p:txBody>
          <a:bodyPr/>
          <a:lstStyle/>
          <a:p>
            <a:r>
              <a:rPr lang="en-US" altLang="ko-KR" dirty="0"/>
              <a:t>Hybrid App</a:t>
            </a:r>
            <a:r>
              <a:rPr lang="ko-KR" altLang="en-US" dirty="0"/>
              <a:t>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200581"/>
            <a:ext cx="9451114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chemeClr val="tx1"/>
                </a:solidFill>
              </a:rPr>
              <a:t>스마트폰</a:t>
            </a:r>
            <a:r>
              <a:rPr lang="ko-KR" altLang="en-US" dirty="0">
                <a:solidFill>
                  <a:schemeClr val="tx1"/>
                </a:solidFill>
              </a:rPr>
              <a:t> 시장에는 </a:t>
            </a:r>
            <a:r>
              <a:rPr lang="en-US" altLang="ko-KR" dirty="0">
                <a:solidFill>
                  <a:schemeClr val="tx1"/>
                </a:solidFill>
              </a:rPr>
              <a:t>Android, iPhone, Window, Blackberry </a:t>
            </a:r>
            <a:r>
              <a:rPr lang="ko-KR" altLang="en-US" dirty="0">
                <a:solidFill>
                  <a:schemeClr val="tx1"/>
                </a:solidFill>
              </a:rPr>
              <a:t>등 다양한 </a:t>
            </a:r>
            <a:r>
              <a:rPr lang="en-US" altLang="ko-KR" dirty="0">
                <a:solidFill>
                  <a:schemeClr val="tx1"/>
                </a:solidFill>
              </a:rPr>
              <a:t>OS</a:t>
            </a:r>
            <a:r>
              <a:rPr lang="ko-KR" altLang="en-US" dirty="0">
                <a:solidFill>
                  <a:schemeClr val="tx1"/>
                </a:solidFill>
              </a:rPr>
              <a:t>가 존재하는데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이런 운영체제에 맞게 각각 </a:t>
            </a:r>
            <a:r>
              <a:rPr lang="en-US" altLang="ko-KR" dirty="0">
                <a:solidFill>
                  <a:schemeClr val="tx1"/>
                </a:solidFill>
              </a:rPr>
              <a:t>App</a:t>
            </a:r>
            <a:r>
              <a:rPr lang="ko-KR" altLang="en-US" dirty="0">
                <a:solidFill>
                  <a:schemeClr val="tx1"/>
                </a:solidFill>
              </a:rPr>
              <a:t>을 개발한다는 것은 사실상 힘들다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그렇기 때문에 </a:t>
            </a:r>
            <a:r>
              <a:rPr lang="en-US" altLang="ko-KR" dirty="0">
                <a:solidFill>
                  <a:schemeClr val="tx1"/>
                </a:solidFill>
              </a:rPr>
              <a:t>HTML</a:t>
            </a:r>
            <a:r>
              <a:rPr lang="ko-KR" altLang="en-US" dirty="0">
                <a:solidFill>
                  <a:schemeClr val="tx1"/>
                </a:solidFill>
              </a:rPr>
              <a:t>을 바탕으로 개발하는 개발 도구인 </a:t>
            </a:r>
            <a:r>
              <a:rPr lang="en-US" altLang="ko-KR" dirty="0" err="1">
                <a:solidFill>
                  <a:schemeClr val="tx1"/>
                </a:solidFill>
              </a:rPr>
              <a:t>Phonegap</a:t>
            </a:r>
            <a:r>
              <a:rPr lang="ko-KR" altLang="en-US" dirty="0">
                <a:solidFill>
                  <a:schemeClr val="tx1"/>
                </a:solidFill>
              </a:rPr>
              <a:t>이 주목 받고 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4412" r="5883" b="7001"/>
          <a:stretch/>
        </p:blipFill>
        <p:spPr>
          <a:xfrm>
            <a:off x="4007768" y="3212976"/>
            <a:ext cx="4392488" cy="22322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70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966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ko-KR" altLang="en-US" dirty="0"/>
              <a:t>의 기능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1573366"/>
            <a:ext cx="5810317" cy="45919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07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ko-KR" altLang="en-US" dirty="0"/>
              <a:t>의 지원 범위</a:t>
            </a:r>
          </a:p>
        </p:txBody>
      </p:sp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1533525"/>
            <a:ext cx="113442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6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ko-KR" altLang="en-US" dirty="0"/>
              <a:t>을 이용한 </a:t>
            </a:r>
            <a:r>
              <a:rPr lang="en-US" altLang="ko-KR" dirty="0"/>
              <a:t>App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340768"/>
            <a:ext cx="7632848" cy="468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6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79020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ko-KR" altLang="en-US" dirty="0"/>
              <a:t>의 일반적인 개발 절차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1424" y="1268760"/>
            <a:ext cx="7058745" cy="4628587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개발 </a:t>
            </a:r>
            <a:r>
              <a:rPr lang="en-US" altLang="ko-KR" dirty="0">
                <a:solidFill>
                  <a:schemeClr val="tx1"/>
                </a:solidFill>
              </a:rPr>
              <a:t>Platform</a:t>
            </a:r>
            <a:r>
              <a:rPr lang="ko-KR" altLang="en-US" dirty="0">
                <a:solidFill>
                  <a:schemeClr val="tx1"/>
                </a:solidFill>
              </a:rPr>
              <a:t>에 맞는 환경 설치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>
                <a:solidFill>
                  <a:schemeClr val="tx1"/>
                </a:solidFill>
              </a:rPr>
              <a:t>www </a:t>
            </a:r>
            <a:r>
              <a:rPr lang="ko-KR" altLang="en-US" dirty="0">
                <a:solidFill>
                  <a:schemeClr val="tx1"/>
                </a:solidFill>
              </a:rPr>
              <a:t>폴더 아래에 </a:t>
            </a:r>
            <a:r>
              <a:rPr lang="en-US" altLang="ko-KR" dirty="0">
                <a:solidFill>
                  <a:schemeClr val="tx1"/>
                </a:solidFill>
              </a:rPr>
              <a:t>index.html </a:t>
            </a:r>
            <a:r>
              <a:rPr lang="ko-KR" altLang="en-US" dirty="0">
                <a:solidFill>
                  <a:schemeClr val="tx1"/>
                </a:solidFill>
              </a:rPr>
              <a:t>생성하고</a:t>
            </a:r>
            <a:r>
              <a:rPr lang="en-US" altLang="ko-KR" dirty="0">
                <a:solidFill>
                  <a:schemeClr val="tx1"/>
                </a:solidFill>
              </a:rPr>
              <a:t>, phonegap.js</a:t>
            </a:r>
            <a:r>
              <a:rPr lang="ko-KR" altLang="en-US" dirty="0">
                <a:solidFill>
                  <a:schemeClr val="tx1"/>
                </a:solidFill>
              </a:rPr>
              <a:t>파일 추가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>
                <a:solidFill>
                  <a:schemeClr val="tx1"/>
                </a:solidFill>
              </a:rPr>
              <a:t>Hybrid </a:t>
            </a:r>
            <a:r>
              <a:rPr lang="en-US" altLang="ko-KR" dirty="0">
                <a:solidFill>
                  <a:schemeClr val="tx1"/>
                </a:solidFill>
              </a:rPr>
              <a:t>App</a:t>
            </a:r>
            <a:r>
              <a:rPr lang="ko-KR" altLang="en-US" dirty="0">
                <a:solidFill>
                  <a:schemeClr val="tx1"/>
                </a:solidFill>
              </a:rPr>
              <a:t>의 주요 </a:t>
            </a:r>
            <a:r>
              <a:rPr lang="ko-KR" altLang="en-US" dirty="0" err="1">
                <a:solidFill>
                  <a:schemeClr val="tx1"/>
                </a:solidFill>
              </a:rPr>
              <a:t>로직을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JavaScript Module</a:t>
            </a:r>
            <a:r>
              <a:rPr lang="ko-KR" altLang="en-US" dirty="0">
                <a:solidFill>
                  <a:schemeClr val="tx1"/>
                </a:solidFill>
              </a:rPr>
              <a:t>로 작성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>
                <a:solidFill>
                  <a:schemeClr val="tx1"/>
                </a:solidFill>
              </a:rPr>
              <a:t>HTML</a:t>
            </a:r>
            <a:r>
              <a:rPr lang="en-US" altLang="ko-KR" dirty="0">
                <a:solidFill>
                  <a:schemeClr val="tx1"/>
                </a:solidFill>
              </a:rPr>
              <a:t>, CSS, </a:t>
            </a:r>
            <a:r>
              <a:rPr lang="en-US" altLang="ko-KR" dirty="0" err="1">
                <a:solidFill>
                  <a:schemeClr val="tx1"/>
                </a:solidFill>
              </a:rPr>
              <a:t>Jquery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등 다양한 </a:t>
            </a:r>
            <a:r>
              <a:rPr lang="en-US" altLang="ko-KR" dirty="0">
                <a:solidFill>
                  <a:schemeClr val="tx1"/>
                </a:solidFill>
              </a:rPr>
              <a:t>Web UI </a:t>
            </a:r>
            <a:r>
              <a:rPr lang="ko-KR" altLang="en-US" dirty="0">
                <a:solidFill>
                  <a:schemeClr val="tx1"/>
                </a:solidFill>
              </a:rPr>
              <a:t>기술 사용해 화면 구성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>
                <a:solidFill>
                  <a:schemeClr val="tx1"/>
                </a:solidFill>
              </a:rPr>
              <a:t>Simulater</a:t>
            </a:r>
            <a:r>
              <a:rPr lang="ko-KR" altLang="en-US">
                <a:solidFill>
                  <a:schemeClr val="tx1"/>
                </a:solidFill>
              </a:rPr>
              <a:t>나 </a:t>
            </a:r>
            <a:r>
              <a:rPr lang="en-US" altLang="ko-KR" dirty="0">
                <a:solidFill>
                  <a:schemeClr val="tx1"/>
                </a:solidFill>
              </a:rPr>
              <a:t>Device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Hybrid App</a:t>
            </a:r>
            <a:r>
              <a:rPr lang="ko-KR" altLang="en-US" dirty="0">
                <a:solidFill>
                  <a:schemeClr val="tx1"/>
                </a:solidFill>
              </a:rPr>
              <a:t>을 실행하며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수정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3861048"/>
            <a:ext cx="4455144" cy="17281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53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2" y="2636912"/>
            <a:ext cx="7505278" cy="30460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Node.js </a:t>
            </a:r>
            <a:r>
              <a:rPr lang="ko-KR" altLang="en-US" sz="2000" dirty="0"/>
              <a:t>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1384" y="1124744"/>
            <a:ext cx="8596668" cy="3880773"/>
          </a:xfrm>
        </p:spPr>
        <p:txBody>
          <a:bodyPr>
            <a:normAutofit/>
          </a:bodyPr>
          <a:lstStyle/>
          <a:p>
            <a:r>
              <a:rPr lang="en-US" altLang="ko-KR" sz="1600" dirty="0" err="1">
                <a:solidFill>
                  <a:schemeClr val="tx1"/>
                </a:solidFill>
              </a:rPr>
              <a:t>PhoneGap</a:t>
            </a:r>
            <a:r>
              <a:rPr lang="ko-KR" altLang="en-US" sz="1600" dirty="0">
                <a:solidFill>
                  <a:schemeClr val="tx1"/>
                </a:solidFill>
              </a:rPr>
              <a:t>은 </a:t>
            </a:r>
            <a:r>
              <a:rPr lang="en-US" altLang="ko-KR" sz="1600" dirty="0" err="1">
                <a:solidFill>
                  <a:schemeClr val="tx1"/>
                </a:solidFill>
              </a:rPr>
              <a:t>Nodejs</a:t>
            </a:r>
            <a:r>
              <a:rPr lang="ko-KR" altLang="en-US" sz="1600" dirty="0">
                <a:solidFill>
                  <a:schemeClr val="tx1"/>
                </a:solidFill>
              </a:rPr>
              <a:t>의 다양한 라이브러리 기반으로 작성 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주소 </a:t>
            </a:r>
            <a:r>
              <a:rPr lang="en-US" altLang="ko-KR" sz="1600" dirty="0">
                <a:solidFill>
                  <a:schemeClr val="tx1"/>
                </a:solidFill>
              </a:rPr>
              <a:t>: </a:t>
            </a:r>
            <a:r>
              <a:rPr lang="en-US" altLang="ko-KR" sz="1600" dirty="0">
                <a:solidFill>
                  <a:schemeClr val="tx1"/>
                </a:solidFill>
                <a:hlinkClick r:id="rId3"/>
              </a:rPr>
              <a:t>http://nodejs.org/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tx1"/>
                </a:solidFill>
              </a:rPr>
              <a:t>	* </a:t>
            </a:r>
            <a:r>
              <a:rPr lang="ko-KR" altLang="en-US" sz="1600" dirty="0">
                <a:solidFill>
                  <a:schemeClr val="tx1"/>
                </a:solidFill>
              </a:rPr>
              <a:t>설치 후에는 더 이상의 설정이 필요 없음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503712" y="3861048"/>
            <a:ext cx="2520280" cy="1008112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83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2575" y="247568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</a:t>
            </a:r>
            <a:r>
              <a:rPr lang="en-US" altLang="ko-KR" sz="2000" dirty="0" err="1"/>
              <a:t>PhoneGap</a:t>
            </a:r>
            <a:r>
              <a:rPr lang="en-US" altLang="ko-KR" sz="2000" dirty="0"/>
              <a:t> Download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6904" y="1088701"/>
            <a:ext cx="8596668" cy="388077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cmd</a:t>
            </a:r>
            <a:r>
              <a:rPr lang="en-US" altLang="ko-KR" b="1" dirty="0"/>
              <a:t> </a:t>
            </a:r>
            <a:r>
              <a:rPr lang="ko-KR" altLang="en-US" b="1" dirty="0"/>
              <a:t>를 실행하여 아래의 명령어를 입력하여 설치를 진행</a:t>
            </a:r>
            <a:endParaRPr lang="en-US" altLang="ko-KR" b="1" dirty="0"/>
          </a:p>
          <a:p>
            <a:r>
              <a:rPr lang="en-US" altLang="ko-KR" b="1" u="sng" dirty="0"/>
              <a:t>$</a:t>
            </a:r>
            <a:r>
              <a:rPr lang="en-US" altLang="ko-KR" b="1" u="sng" dirty="0" err="1"/>
              <a:t>npm</a:t>
            </a:r>
            <a:r>
              <a:rPr lang="en-US" altLang="ko-KR" b="1" u="sng" dirty="0"/>
              <a:t> install -g </a:t>
            </a:r>
            <a:r>
              <a:rPr lang="en-US" altLang="ko-KR" b="1" u="sng" dirty="0" err="1"/>
              <a:t>phonegap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82" y="3914743"/>
            <a:ext cx="3886200" cy="15906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3909013"/>
            <a:ext cx="4943475" cy="2247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15235" y="3443444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이미 설치 된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5960" y="3445709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처음 설치하는 경우</a:t>
            </a:r>
          </a:p>
        </p:txBody>
      </p:sp>
      <p:sp>
        <p:nvSpPr>
          <p:cNvPr id="1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b="39359"/>
          <a:stretch/>
        </p:blipFill>
        <p:spPr>
          <a:xfrm>
            <a:off x="4511824" y="1789797"/>
            <a:ext cx="5457825" cy="10801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884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Android Project </a:t>
            </a:r>
            <a:r>
              <a:rPr lang="ko-KR" altLang="en-US" sz="2000" dirty="0"/>
              <a:t>생성 </a:t>
            </a:r>
            <a:r>
              <a:rPr lang="en-US" altLang="ko-KR" sz="2000" dirty="0"/>
              <a:t>&amp; ant </a:t>
            </a:r>
            <a:r>
              <a:rPr lang="ko-KR" altLang="en-US" sz="2000" dirty="0"/>
              <a:t>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1384" y="1124744"/>
            <a:ext cx="9001000" cy="3880773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이전에 생성한 </a:t>
            </a:r>
            <a:r>
              <a:rPr lang="en-US" altLang="ko-KR" dirty="0">
                <a:solidFill>
                  <a:schemeClr val="tx1"/>
                </a:solidFill>
              </a:rPr>
              <a:t>Project</a:t>
            </a:r>
            <a:r>
              <a:rPr lang="ko-KR" altLang="en-US" dirty="0">
                <a:solidFill>
                  <a:schemeClr val="tx1"/>
                </a:solidFill>
              </a:rPr>
              <a:t>에 </a:t>
            </a:r>
            <a:r>
              <a:rPr lang="en-US" altLang="ko-KR" dirty="0">
                <a:solidFill>
                  <a:schemeClr val="tx1"/>
                </a:solidFill>
              </a:rPr>
              <a:t>Android Platform</a:t>
            </a:r>
            <a:r>
              <a:rPr lang="ko-KR" altLang="en-US" dirty="0">
                <a:solidFill>
                  <a:schemeClr val="tx1"/>
                </a:solidFill>
              </a:rPr>
              <a:t>을 생성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먼저 </a:t>
            </a:r>
            <a:r>
              <a:rPr lang="en-US" altLang="ko-KR" dirty="0">
                <a:solidFill>
                  <a:schemeClr val="tx1"/>
                </a:solidFill>
              </a:rPr>
              <a:t>Ant</a:t>
            </a:r>
            <a:r>
              <a:rPr lang="ko-KR" altLang="en-US" dirty="0">
                <a:solidFill>
                  <a:schemeClr val="tx1"/>
                </a:solidFill>
              </a:rPr>
              <a:t>를 설치 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Java</a:t>
            </a:r>
            <a:r>
              <a:rPr lang="ko-KR" altLang="en-US" dirty="0">
                <a:solidFill>
                  <a:schemeClr val="tx1"/>
                </a:solidFill>
              </a:rPr>
              <a:t> 소프트웨어 </a:t>
            </a:r>
            <a:r>
              <a:rPr lang="ko-KR" altLang="en-US" dirty="0" err="1">
                <a:solidFill>
                  <a:schemeClr val="tx1"/>
                </a:solidFill>
              </a:rPr>
              <a:t>빌드</a:t>
            </a:r>
            <a:r>
              <a:rPr lang="ko-KR" altLang="en-US" dirty="0">
                <a:solidFill>
                  <a:schemeClr val="tx1"/>
                </a:solidFill>
              </a:rPr>
              <a:t> 도구로 </a:t>
            </a:r>
            <a:r>
              <a:rPr lang="en-US" altLang="ko-KR" dirty="0" err="1">
                <a:solidFill>
                  <a:schemeClr val="tx1"/>
                </a:solidFill>
              </a:rPr>
              <a:t>linux</a:t>
            </a:r>
            <a:r>
              <a:rPr lang="en-US" altLang="ko-KR" dirty="0">
                <a:solidFill>
                  <a:schemeClr val="tx1"/>
                </a:solidFill>
              </a:rPr>
              <a:t> make</a:t>
            </a:r>
            <a:r>
              <a:rPr lang="ko-KR" altLang="en-US" dirty="0">
                <a:solidFill>
                  <a:schemeClr val="tx1"/>
                </a:solidFill>
              </a:rPr>
              <a:t>와 흡사함</a:t>
            </a:r>
            <a:endParaRPr lang="en-US" altLang="ko-K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r>
              <a:rPr lang="en-US" altLang="ko-KR" dirty="0">
                <a:solidFill>
                  <a:schemeClr val="tx1"/>
                </a:solidFill>
              </a:rPr>
              <a:t>Ant</a:t>
            </a:r>
            <a:r>
              <a:rPr lang="ko-KR" altLang="en-US" dirty="0">
                <a:solidFill>
                  <a:schemeClr val="tx1"/>
                </a:solidFill>
              </a:rPr>
              <a:t>의 설치 두 가지 방법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sz="1800" u="sng" dirty="0">
                <a:solidFill>
                  <a:schemeClr val="tx1"/>
                </a:solidFill>
              </a:rPr>
              <a:t>$</a:t>
            </a:r>
            <a:r>
              <a:rPr lang="en-US" altLang="ko-KR" sz="1800" u="sng" dirty="0" err="1">
                <a:solidFill>
                  <a:schemeClr val="tx1"/>
                </a:solidFill>
              </a:rPr>
              <a:t>npm</a:t>
            </a:r>
            <a:r>
              <a:rPr lang="en-US" altLang="ko-KR" sz="1800" u="sng" dirty="0">
                <a:solidFill>
                  <a:schemeClr val="tx1"/>
                </a:solidFill>
              </a:rPr>
              <a:t> install -g ant </a:t>
            </a:r>
            <a:r>
              <a:rPr lang="ko-KR" altLang="en-US" sz="1800" u="sng" dirty="0">
                <a:solidFill>
                  <a:schemeClr val="tx1"/>
                </a:solidFill>
              </a:rPr>
              <a:t>를 </a:t>
            </a:r>
            <a:r>
              <a:rPr lang="en-US" altLang="ko-KR" sz="1800" u="sng" dirty="0" err="1">
                <a:solidFill>
                  <a:schemeClr val="tx1"/>
                </a:solidFill>
              </a:rPr>
              <a:t>cmd</a:t>
            </a:r>
            <a:r>
              <a:rPr lang="en-US" altLang="ko-KR" sz="1800" u="sng" dirty="0">
                <a:solidFill>
                  <a:schemeClr val="tx1"/>
                </a:solidFill>
              </a:rPr>
              <a:t> </a:t>
            </a:r>
            <a:r>
              <a:rPr lang="ko-KR" altLang="en-US" sz="1800" u="sng" dirty="0">
                <a:solidFill>
                  <a:schemeClr val="tx1"/>
                </a:solidFill>
              </a:rPr>
              <a:t>창에 입력하여 한 번에 설치하는 방식</a:t>
            </a:r>
            <a:endParaRPr lang="en-US" altLang="ko-KR" sz="1800" u="sng" dirty="0">
              <a:solidFill>
                <a:schemeClr val="tx1"/>
              </a:solidFill>
            </a:endParaRPr>
          </a:p>
          <a:p>
            <a:pPr lvl="1"/>
            <a:r>
              <a:rPr lang="en-US" altLang="ko-KR" sz="1800" dirty="0">
                <a:hlinkClick r:id="rId2"/>
              </a:rPr>
              <a:t>http://ant.apache.org/bindownload.cgi</a:t>
            </a:r>
            <a:r>
              <a:rPr lang="en-US" altLang="ko-KR" sz="1800" dirty="0"/>
              <a:t> </a:t>
            </a:r>
            <a:r>
              <a:rPr lang="ko-KR" altLang="en-US" sz="1800" dirty="0">
                <a:solidFill>
                  <a:schemeClr val="tx1"/>
                </a:solidFill>
              </a:rPr>
              <a:t>에서 </a:t>
            </a:r>
            <a:r>
              <a:rPr lang="en-US" altLang="ko-KR" sz="1800" dirty="0">
                <a:solidFill>
                  <a:schemeClr val="tx1"/>
                </a:solidFill>
              </a:rPr>
              <a:t>apache-ant-*-bin.zip</a:t>
            </a:r>
            <a:r>
              <a:rPr lang="ko-KR" altLang="en-US" sz="1800" dirty="0">
                <a:solidFill>
                  <a:schemeClr val="tx1"/>
                </a:solidFill>
              </a:rPr>
              <a:t>을 받아서 압축을 풀어주는 방식</a:t>
            </a: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39" y="4502750"/>
            <a:ext cx="7743825" cy="223837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476979" y="5294838"/>
            <a:ext cx="6480720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77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40529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Android Project </a:t>
            </a:r>
            <a:r>
              <a:rPr lang="ko-KR" altLang="en-US" sz="2000" dirty="0"/>
              <a:t>생성 </a:t>
            </a:r>
            <a:r>
              <a:rPr lang="en-US" altLang="ko-KR" sz="2000" dirty="0"/>
              <a:t>&amp; </a:t>
            </a:r>
            <a:r>
              <a:rPr lang="ko-KR" altLang="en-US" sz="2000" dirty="0"/>
              <a:t>환경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9376" y="1016051"/>
            <a:ext cx="8596668" cy="4480576"/>
          </a:xfrm>
        </p:spPr>
        <p:txBody>
          <a:bodyPr>
            <a:no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JAVA_HOME, ANT_HOME, ANDROID_HOME </a:t>
            </a:r>
            <a:r>
              <a:rPr lang="ko-KR" altLang="en-US" dirty="0">
                <a:solidFill>
                  <a:schemeClr val="tx1"/>
                </a:solidFill>
              </a:rPr>
              <a:t>총 세가지 환경 </a:t>
            </a:r>
            <a:r>
              <a:rPr lang="ko-KR" altLang="en-US" dirty="0" smtClean="0">
                <a:solidFill>
                  <a:schemeClr val="tx1"/>
                </a:solidFill>
              </a:rPr>
              <a:t>변수를 확인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JAVA_HOME</a:t>
            </a:r>
            <a:r>
              <a:rPr lang="ko-KR" altLang="en-US" dirty="0">
                <a:solidFill>
                  <a:schemeClr val="tx1"/>
                </a:solidFill>
              </a:rPr>
              <a:t>은 </a:t>
            </a:r>
            <a:r>
              <a:rPr lang="en-US" altLang="ko-KR" dirty="0" smtClean="0">
                <a:solidFill>
                  <a:schemeClr val="tx1"/>
                </a:solidFill>
              </a:rPr>
              <a:t>JDK </a:t>
            </a:r>
            <a:r>
              <a:rPr lang="ko-KR" altLang="en-US" dirty="0" smtClean="0">
                <a:solidFill>
                  <a:schemeClr val="tx1"/>
                </a:solidFill>
              </a:rPr>
              <a:t>가 </a:t>
            </a:r>
            <a:r>
              <a:rPr lang="ko-KR" altLang="en-US" dirty="0">
                <a:solidFill>
                  <a:schemeClr val="tx1"/>
                </a:solidFill>
              </a:rPr>
              <a:t>설치되어있는 폴더위치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ANT_HOME</a:t>
            </a:r>
            <a:r>
              <a:rPr lang="ko-KR" altLang="en-US" dirty="0">
                <a:solidFill>
                  <a:schemeClr val="tx1"/>
                </a:solidFill>
              </a:rPr>
              <a:t>은 </a:t>
            </a:r>
            <a:r>
              <a:rPr lang="en-US" altLang="ko-KR" dirty="0" smtClean="0">
                <a:solidFill>
                  <a:schemeClr val="tx1"/>
                </a:solidFill>
              </a:rPr>
              <a:t>ANT</a:t>
            </a:r>
            <a:r>
              <a:rPr lang="ko-KR" altLang="en-US" dirty="0" smtClean="0">
                <a:solidFill>
                  <a:schemeClr val="tx1"/>
                </a:solidFill>
              </a:rPr>
              <a:t>가 </a:t>
            </a:r>
            <a:r>
              <a:rPr lang="ko-KR" altLang="en-US" dirty="0">
                <a:solidFill>
                  <a:schemeClr val="tx1"/>
                </a:solidFill>
              </a:rPr>
              <a:t>설치되어있는 폴더위치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ANDROID_HOME</a:t>
            </a:r>
            <a:r>
              <a:rPr lang="ko-KR" altLang="en-US" dirty="0">
                <a:solidFill>
                  <a:schemeClr val="tx1"/>
                </a:solidFill>
              </a:rPr>
              <a:t>은 </a:t>
            </a:r>
            <a:r>
              <a:rPr lang="ko-KR" altLang="en-US" dirty="0" err="1">
                <a:solidFill>
                  <a:schemeClr val="tx1"/>
                </a:solidFill>
              </a:rPr>
              <a:t>안드로이드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SDK</a:t>
            </a:r>
            <a:r>
              <a:rPr lang="ko-KR" altLang="en-US" dirty="0">
                <a:solidFill>
                  <a:schemeClr val="tx1"/>
                </a:solidFill>
              </a:rPr>
              <a:t>안에 </a:t>
            </a:r>
            <a:r>
              <a:rPr lang="en-US" altLang="ko-KR" dirty="0">
                <a:solidFill>
                  <a:schemeClr val="tx1"/>
                </a:solidFill>
              </a:rPr>
              <a:t>Platform-tools</a:t>
            </a:r>
            <a:r>
              <a:rPr lang="ko-KR" altLang="en-US" dirty="0">
                <a:solidFill>
                  <a:schemeClr val="tx1"/>
                </a:solidFill>
              </a:rPr>
              <a:t>와 </a:t>
            </a:r>
            <a:r>
              <a:rPr lang="en-US" altLang="ko-KR" dirty="0">
                <a:solidFill>
                  <a:schemeClr val="tx1"/>
                </a:solidFill>
              </a:rPr>
              <a:t>tools </a:t>
            </a:r>
            <a:r>
              <a:rPr lang="ko-KR" altLang="en-US" dirty="0">
                <a:solidFill>
                  <a:schemeClr val="tx1"/>
                </a:solidFill>
              </a:rPr>
              <a:t>폴더위치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>
                <a:solidFill>
                  <a:schemeClr val="tx1"/>
                </a:solidFill>
              </a:rPr>
              <a:t>JAVA_HOME :</a:t>
            </a:r>
            <a:r>
              <a:rPr lang="ko-KR" altLang="en-US" dirty="0">
                <a:solidFill>
                  <a:schemeClr val="tx1"/>
                </a:solidFill>
              </a:rPr>
              <a:t> 이전의 </a:t>
            </a:r>
            <a:r>
              <a:rPr lang="en-US" altLang="ko-KR" dirty="0">
                <a:solidFill>
                  <a:schemeClr val="tx1"/>
                </a:solidFill>
              </a:rPr>
              <a:t>JNI </a:t>
            </a:r>
            <a:r>
              <a:rPr lang="ko-KR" altLang="en-US" dirty="0">
                <a:solidFill>
                  <a:schemeClr val="tx1"/>
                </a:solidFill>
              </a:rPr>
              <a:t>실험에서 했던 방식과 마찬가지로 </a:t>
            </a:r>
            <a:r>
              <a:rPr lang="en-US" altLang="ko-KR" dirty="0">
                <a:solidFill>
                  <a:schemeClr val="tx1"/>
                </a:solidFill>
              </a:rPr>
              <a:t>JAVA_HOME</a:t>
            </a:r>
            <a:r>
              <a:rPr lang="ko-KR" altLang="en-US" dirty="0">
                <a:solidFill>
                  <a:schemeClr val="tx1"/>
                </a:solidFill>
              </a:rPr>
              <a:t>에 </a:t>
            </a:r>
            <a:r>
              <a:rPr lang="en-US" altLang="ko-KR" dirty="0">
                <a:solidFill>
                  <a:schemeClr val="tx1"/>
                </a:solidFill>
              </a:rPr>
              <a:t>JDK </a:t>
            </a:r>
            <a:r>
              <a:rPr lang="ko-KR" altLang="en-US" dirty="0">
                <a:solidFill>
                  <a:schemeClr val="tx1"/>
                </a:solidFill>
              </a:rPr>
              <a:t>경로를 추가하고 </a:t>
            </a:r>
            <a:r>
              <a:rPr lang="en-US" altLang="ko-KR" dirty="0">
                <a:solidFill>
                  <a:schemeClr val="tx1"/>
                </a:solidFill>
              </a:rPr>
              <a:t>Path</a:t>
            </a:r>
            <a:r>
              <a:rPr lang="ko-KR" altLang="en-US" dirty="0">
                <a:solidFill>
                  <a:schemeClr val="tx1"/>
                </a:solidFill>
              </a:rPr>
              <a:t>에 </a:t>
            </a:r>
            <a:r>
              <a:rPr lang="en-US" altLang="ko-KR" dirty="0">
                <a:solidFill>
                  <a:schemeClr val="tx1"/>
                </a:solidFill>
              </a:rPr>
              <a:t>JDK </a:t>
            </a:r>
            <a:r>
              <a:rPr lang="ko-KR" altLang="en-US" dirty="0">
                <a:solidFill>
                  <a:schemeClr val="tx1"/>
                </a:solidFill>
              </a:rPr>
              <a:t>바이너리 실행파일 폴더를 지정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Path ex : %JAVA_HOME%\bin </a:t>
            </a:r>
            <a:r>
              <a:rPr lang="en-US" altLang="ko-KR" dirty="0">
                <a:solidFill>
                  <a:srgbClr val="C00000"/>
                </a:solidFill>
              </a:rPr>
              <a:t>*</a:t>
            </a:r>
            <a:r>
              <a:rPr lang="ko-KR" altLang="en-US" dirty="0">
                <a:solidFill>
                  <a:srgbClr val="C00000"/>
                </a:solidFill>
              </a:rPr>
              <a:t>이미 입력 된 경로가 있을 경우 </a:t>
            </a:r>
            <a:r>
              <a:rPr lang="en-US" altLang="ko-KR" dirty="0">
                <a:solidFill>
                  <a:srgbClr val="C00000"/>
                </a:solidFill>
              </a:rPr>
              <a:t>‘;’</a:t>
            </a:r>
            <a:r>
              <a:rPr lang="ko-KR" altLang="en-US" dirty="0">
                <a:solidFill>
                  <a:srgbClr val="C00000"/>
                </a:solidFill>
              </a:rPr>
              <a:t>로 구분 함</a:t>
            </a:r>
            <a:endParaRPr lang="en-US" altLang="ko-KR" dirty="0">
              <a:solidFill>
                <a:srgbClr val="C00000"/>
              </a:solidFill>
            </a:endParaRPr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chemeClr val="tx1"/>
                </a:solidFill>
              </a:rPr>
              <a:t>ANT_HOME : ANT</a:t>
            </a:r>
            <a:r>
              <a:rPr lang="ko-KR" altLang="en-US" dirty="0">
                <a:solidFill>
                  <a:schemeClr val="tx1"/>
                </a:solidFill>
              </a:rPr>
              <a:t>가 설치 된 경로를 추가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Path ex : %ANT_HOME%\bin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t="1" r="15682" b="57780"/>
          <a:stretch/>
        </p:blipFill>
        <p:spPr>
          <a:xfrm>
            <a:off x="7117150" y="4870210"/>
            <a:ext cx="4672594" cy="15953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b="31601"/>
          <a:stretch/>
        </p:blipFill>
        <p:spPr>
          <a:xfrm>
            <a:off x="2440735" y="5074564"/>
            <a:ext cx="4191000" cy="1368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229072" y="5442968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ANT</a:t>
            </a:r>
            <a:r>
              <a:rPr lang="ko-KR" altLang="en-US" b="1" dirty="0">
                <a:solidFill>
                  <a:srgbClr val="C00000"/>
                </a:solidFill>
              </a:rPr>
              <a:t>를 </a:t>
            </a:r>
            <a:r>
              <a:rPr lang="en-US" altLang="ko-KR" b="1" dirty="0" err="1">
                <a:solidFill>
                  <a:srgbClr val="C00000"/>
                </a:solidFill>
              </a:rPr>
              <a:t>npm</a:t>
            </a:r>
            <a:r>
              <a:rPr lang="ko-KR" altLang="en-US" b="1" dirty="0">
                <a:solidFill>
                  <a:srgbClr val="C00000"/>
                </a:solidFill>
              </a:rPr>
              <a:t>으로 설치한 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7743" y="4404637"/>
            <a:ext cx="4334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ANT</a:t>
            </a:r>
            <a:r>
              <a:rPr lang="ko-KR" altLang="en-US" b="1" dirty="0">
                <a:solidFill>
                  <a:srgbClr val="C00000"/>
                </a:solidFill>
              </a:rPr>
              <a:t>를 </a:t>
            </a:r>
            <a:r>
              <a:rPr lang="en-US" altLang="ko-KR" b="1" dirty="0">
                <a:solidFill>
                  <a:srgbClr val="C00000"/>
                </a:solidFill>
              </a:rPr>
              <a:t>zip</a:t>
            </a:r>
            <a:r>
              <a:rPr lang="ko-KR" altLang="en-US" b="1" dirty="0">
                <a:solidFill>
                  <a:srgbClr val="C00000"/>
                </a:solidFill>
              </a:rPr>
              <a:t>으로 설치한 경로</a:t>
            </a:r>
            <a:r>
              <a:rPr lang="en-US" altLang="ko-KR" b="1" dirty="0">
                <a:solidFill>
                  <a:srgbClr val="C00000"/>
                </a:solidFill>
              </a:rPr>
              <a:t>(</a:t>
            </a:r>
            <a:r>
              <a:rPr lang="ko-KR" altLang="en-US" b="1" dirty="0">
                <a:solidFill>
                  <a:srgbClr val="C00000"/>
                </a:solidFill>
              </a:rPr>
              <a:t>사용자 임의</a:t>
            </a:r>
            <a:r>
              <a:rPr lang="en-US" altLang="ko-KR" b="1" dirty="0">
                <a:solidFill>
                  <a:srgbClr val="C00000"/>
                </a:solidFill>
              </a:rPr>
              <a:t>)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9" name="슬라이드 번호 개체 틀 3"/>
          <p:cNvSpPr txBox="1">
            <a:spLocks/>
          </p:cNvSpPr>
          <p:nvPr/>
        </p:nvSpPr>
        <p:spPr>
          <a:xfrm>
            <a:off x="11352584" y="6381328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480678-46F8-4C6F-81BB-374C160D1764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29072" y="5758640"/>
            <a:ext cx="6638206" cy="370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C:\</a:t>
            </a:r>
            <a:r>
              <a:rPr lang="ko-KR" altLang="en-US" dirty="0" smtClean="0"/>
              <a:t>Users\사용자\AppData\Roaming\npm\node_modules\ant\ant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393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Android Project </a:t>
            </a:r>
            <a:r>
              <a:rPr lang="ko-KR" altLang="en-US" sz="2000" dirty="0"/>
              <a:t>생성 </a:t>
            </a:r>
            <a:r>
              <a:rPr lang="en-US" altLang="ko-KR" sz="2000" dirty="0"/>
              <a:t>&amp; </a:t>
            </a:r>
            <a:r>
              <a:rPr lang="ko-KR" altLang="en-US" sz="2000" dirty="0"/>
              <a:t>환경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1384" y="980728"/>
            <a:ext cx="9793088" cy="388077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ANDROID_HOME : Android </a:t>
            </a:r>
            <a:r>
              <a:rPr lang="en-US" altLang="ko-KR" dirty="0" err="1">
                <a:solidFill>
                  <a:schemeClr val="tx1"/>
                </a:solidFill>
              </a:rPr>
              <a:t>sdk</a:t>
            </a:r>
            <a:r>
              <a:rPr lang="ko-KR" altLang="en-US" dirty="0">
                <a:solidFill>
                  <a:schemeClr val="tx1"/>
                </a:solidFill>
              </a:rPr>
              <a:t>의 경로에서 </a:t>
            </a:r>
            <a:r>
              <a:rPr lang="en-US" altLang="ko-KR" dirty="0">
                <a:solidFill>
                  <a:srgbClr val="C00000"/>
                </a:solidFill>
              </a:rPr>
              <a:t>Platform-tools</a:t>
            </a:r>
            <a:r>
              <a:rPr lang="ko-KR" altLang="en-US" dirty="0">
                <a:solidFill>
                  <a:srgbClr val="C00000"/>
                </a:solidFill>
              </a:rPr>
              <a:t>와 </a:t>
            </a:r>
            <a:r>
              <a:rPr lang="en-US" altLang="ko-KR" dirty="0">
                <a:solidFill>
                  <a:srgbClr val="C00000"/>
                </a:solidFill>
              </a:rPr>
              <a:t>tools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tx1"/>
                </a:solidFill>
              </a:rPr>
              <a:t>폴더에 대한 경로를 추가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Path ex : %ANDROID_HOME</a:t>
            </a:r>
            <a:r>
              <a:rPr lang="en-US" altLang="ko-KR" dirty="0" smtClean="0">
                <a:solidFill>
                  <a:schemeClr val="tx1"/>
                </a:solidFill>
              </a:rPr>
              <a:t>%\platform-tools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Path ex : %ANDROID_HOME</a:t>
            </a:r>
            <a:r>
              <a:rPr lang="en-US" altLang="ko-KR" dirty="0" smtClean="0">
                <a:solidFill>
                  <a:schemeClr val="tx1"/>
                </a:solidFill>
              </a:rPr>
              <a:t>%\tools</a:t>
            </a:r>
          </a:p>
          <a:p>
            <a:pPr lvl="1"/>
            <a:r>
              <a:rPr lang="en-US" altLang="ko-KR" dirty="0" smtClean="0">
                <a:solidFill>
                  <a:schemeClr val="tx1"/>
                </a:solidFill>
              </a:rPr>
              <a:t>File -&gt; project Structure -&gt; SDK Location </a:t>
            </a:r>
            <a:r>
              <a:rPr lang="ko-KR" altLang="en-US" dirty="0" smtClean="0">
                <a:solidFill>
                  <a:schemeClr val="tx1"/>
                </a:solidFill>
              </a:rPr>
              <a:t>에서 확인</a:t>
            </a:r>
            <a:endParaRPr lang="en-US" altLang="ko-KR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rcRect b="57892"/>
          <a:stretch/>
        </p:blipFill>
        <p:spPr>
          <a:xfrm>
            <a:off x="839416" y="2837337"/>
            <a:ext cx="7200800" cy="2744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직사각형 9"/>
          <p:cNvSpPr/>
          <p:nvPr/>
        </p:nvSpPr>
        <p:spPr>
          <a:xfrm>
            <a:off x="2207568" y="4077072"/>
            <a:ext cx="2520280" cy="254019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85" y="2361208"/>
            <a:ext cx="5040559" cy="429582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023992" y="3836356"/>
            <a:ext cx="2160240" cy="6727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3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84207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Project </a:t>
            </a:r>
            <a:r>
              <a:rPr lang="ko-KR" altLang="en-US" sz="2000" dirty="0"/>
              <a:t>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3392" y="1052736"/>
            <a:ext cx="8596668" cy="3880773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자신이 원하는 경로에 폴더 하나를 생성</a:t>
            </a:r>
            <a:endParaRPr lang="en-US" altLang="ko-K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tx1"/>
                </a:solidFill>
              </a:rPr>
              <a:t>	* </a:t>
            </a:r>
            <a:r>
              <a:rPr lang="ko-KR" altLang="en-US" dirty="0">
                <a:solidFill>
                  <a:schemeClr val="tx1"/>
                </a:solidFill>
              </a:rPr>
              <a:t>예에서는 </a:t>
            </a:r>
            <a:r>
              <a:rPr lang="en-US" altLang="ko-KR" dirty="0" err="1">
                <a:solidFill>
                  <a:schemeClr val="tx1"/>
                </a:solidFill>
              </a:rPr>
              <a:t>andro</a:t>
            </a:r>
            <a:r>
              <a:rPr lang="ko-KR" altLang="en-US" dirty="0">
                <a:solidFill>
                  <a:schemeClr val="tx1"/>
                </a:solidFill>
              </a:rPr>
              <a:t>라는 폴더를 바탕화면에 생성함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cmd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창에서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자신이 생성한 폴더 위치로 이동하여 아래의 명령어를 입력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it-IT" altLang="ko-KR" dirty="0">
                <a:solidFill>
                  <a:schemeClr val="tx1"/>
                </a:solidFill>
              </a:rPr>
              <a:t>$phonegap create [</a:t>
            </a:r>
            <a:r>
              <a:rPr lang="ko-KR" altLang="it-IT" dirty="0" err="1">
                <a:solidFill>
                  <a:schemeClr val="tx1"/>
                </a:solidFill>
              </a:rPr>
              <a:t>폴더명</a:t>
            </a:r>
            <a:r>
              <a:rPr lang="it-IT" altLang="ko-KR" dirty="0">
                <a:solidFill>
                  <a:schemeClr val="tx1"/>
                </a:solidFill>
              </a:rPr>
              <a:t>][</a:t>
            </a:r>
            <a:r>
              <a:rPr lang="ko-KR" altLang="it-IT" dirty="0" err="1">
                <a:solidFill>
                  <a:schemeClr val="tx1"/>
                </a:solidFill>
              </a:rPr>
              <a:t>패키지명</a:t>
            </a:r>
            <a:r>
              <a:rPr lang="it-IT" altLang="ko-KR" dirty="0">
                <a:solidFill>
                  <a:schemeClr val="tx1"/>
                </a:solidFill>
              </a:rPr>
              <a:t>][</a:t>
            </a:r>
            <a:r>
              <a:rPr lang="ko-KR" altLang="it-IT" dirty="0" err="1">
                <a:solidFill>
                  <a:schemeClr val="tx1"/>
                </a:solidFill>
              </a:rPr>
              <a:t>프로젝트명</a:t>
            </a:r>
            <a:r>
              <a:rPr lang="it-IT" altLang="ko-KR" dirty="0">
                <a:solidFill>
                  <a:schemeClr val="tx1"/>
                </a:solidFill>
              </a:rPr>
              <a:t>]</a:t>
            </a:r>
          </a:p>
          <a:p>
            <a:endParaRPr lang="it-IT" altLang="ko-KR" dirty="0">
              <a:solidFill>
                <a:schemeClr val="tx1"/>
              </a:solidFill>
            </a:endParaRPr>
          </a:p>
          <a:p>
            <a:endParaRPr lang="it-IT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자신이 지정한 </a:t>
            </a:r>
            <a:r>
              <a:rPr lang="ko-KR" altLang="en-US">
                <a:solidFill>
                  <a:schemeClr val="tx1"/>
                </a:solidFill>
              </a:rPr>
              <a:t>경로에 </a:t>
            </a:r>
            <a:r>
              <a:rPr lang="en-US" altLang="ko-KR">
                <a:solidFill>
                  <a:schemeClr val="tx1"/>
                </a:solidFill>
              </a:rPr>
              <a:t>Project</a:t>
            </a:r>
            <a:r>
              <a:rPr lang="ko-KR" altLang="en-US">
                <a:solidFill>
                  <a:schemeClr val="tx1"/>
                </a:solidFill>
              </a:rPr>
              <a:t>가 </a:t>
            </a:r>
            <a:r>
              <a:rPr lang="ko-KR" altLang="en-US" dirty="0">
                <a:solidFill>
                  <a:schemeClr val="tx1"/>
                </a:solidFill>
              </a:rPr>
              <a:t>생성 된 것을 확인</a:t>
            </a:r>
            <a:r>
              <a:rPr lang="it-IT" altLang="ko-KR" dirty="0">
                <a:solidFill>
                  <a:schemeClr val="tx1"/>
                </a:solidFill>
              </a:rPr>
              <a:t/>
            </a:r>
            <a:br>
              <a:rPr lang="it-IT" altLang="ko-KR" dirty="0">
                <a:solidFill>
                  <a:schemeClr val="tx1"/>
                </a:solidFill>
              </a:rPr>
            </a:br>
            <a:endParaRPr lang="en-US" altLang="ko-KR" sz="2400" dirty="0">
              <a:solidFill>
                <a:schemeClr val="tx1"/>
              </a:solidFill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5053159" y="5079081"/>
            <a:ext cx="792088" cy="50405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2882267"/>
            <a:ext cx="8894636" cy="3672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016" y="3861048"/>
            <a:ext cx="2529181" cy="26700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460" y="3861048"/>
            <a:ext cx="3374813" cy="267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2341750"/>
            <a:ext cx="8158670" cy="410940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3842" y="232611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Android Project </a:t>
            </a:r>
            <a:r>
              <a:rPr lang="ko-KR" altLang="en-US" sz="2000" dirty="0"/>
              <a:t>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34" y="1020950"/>
            <a:ext cx="8951899" cy="388077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olidFill>
                  <a:schemeClr val="tx1"/>
                </a:solidFill>
              </a:rPr>
              <a:t>cmd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창에서 </a:t>
            </a:r>
            <a:r>
              <a:rPr lang="en-US" altLang="ko-KR" dirty="0" smtClean="0">
                <a:solidFill>
                  <a:schemeClr val="tx1"/>
                </a:solidFill>
              </a:rPr>
              <a:t>14</a:t>
            </a:r>
            <a:r>
              <a:rPr lang="ko-KR" altLang="en-US" dirty="0" smtClean="0">
                <a:solidFill>
                  <a:schemeClr val="tx1"/>
                </a:solidFill>
              </a:rPr>
              <a:t>페이지에서 </a:t>
            </a:r>
            <a:r>
              <a:rPr lang="ko-KR" altLang="en-US" dirty="0">
                <a:solidFill>
                  <a:schemeClr val="tx1"/>
                </a:solidFill>
              </a:rPr>
              <a:t>생성한 </a:t>
            </a:r>
            <a:r>
              <a:rPr lang="en-US" altLang="ko-KR" dirty="0">
                <a:solidFill>
                  <a:schemeClr val="tx1"/>
                </a:solidFill>
              </a:rPr>
              <a:t>Project </a:t>
            </a:r>
            <a:r>
              <a:rPr lang="ko-KR" altLang="en-US" dirty="0">
                <a:solidFill>
                  <a:schemeClr val="tx1"/>
                </a:solidFill>
              </a:rPr>
              <a:t>폴더로 접근하여 아래의 명령어를 </a:t>
            </a:r>
            <a:r>
              <a:rPr lang="ko-KR" altLang="en-US" dirty="0" smtClean="0">
                <a:solidFill>
                  <a:schemeClr val="tx1"/>
                </a:solidFill>
              </a:rPr>
              <a:t>입력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b="1" dirty="0" smtClean="0">
                <a:solidFill>
                  <a:schemeClr val="tx1"/>
                </a:solidFill>
              </a:rPr>
              <a:t>$cd my-app</a:t>
            </a:r>
            <a:endParaRPr lang="en-US" altLang="ko-KR" b="1" dirty="0">
              <a:solidFill>
                <a:schemeClr val="tx1"/>
              </a:solidFill>
            </a:endParaRPr>
          </a:p>
          <a:p>
            <a:r>
              <a:rPr lang="en-US" altLang="ko-KR" b="1" u="sng" dirty="0">
                <a:solidFill>
                  <a:schemeClr val="tx1"/>
                </a:solidFill>
              </a:rPr>
              <a:t>$</a:t>
            </a:r>
            <a:r>
              <a:rPr lang="en-US" altLang="ko-KR" b="1" u="sng" dirty="0" err="1">
                <a:solidFill>
                  <a:schemeClr val="tx1"/>
                </a:solidFill>
              </a:rPr>
              <a:t>phonegap</a:t>
            </a:r>
            <a:r>
              <a:rPr lang="en-US" altLang="ko-KR" b="1" u="sng" dirty="0">
                <a:solidFill>
                  <a:schemeClr val="tx1"/>
                </a:solidFill>
              </a:rPr>
              <a:t> platform add android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240016" y="5464120"/>
            <a:ext cx="219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생성이 완료 된 화면</a:t>
            </a:r>
          </a:p>
        </p:txBody>
      </p:sp>
    </p:spTree>
    <p:extLst>
      <p:ext uri="{BB962C8B-B14F-4D97-AF65-F5344CB8AC3E}">
        <p14:creationId xmlns:p14="http://schemas.microsoft.com/office/powerpoint/2010/main" val="314550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470" y="215918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Android Project </a:t>
            </a:r>
            <a:r>
              <a:rPr lang="ko-KR" altLang="en-US" sz="2000" dirty="0"/>
              <a:t>실행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0501" y="966014"/>
            <a:ext cx="8596668" cy="3880773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Import project(Eclipse ADT, </a:t>
            </a:r>
            <a:r>
              <a:rPr lang="en-US" altLang="ko-KR" dirty="0" err="1">
                <a:solidFill>
                  <a:schemeClr val="tx1"/>
                </a:solidFill>
              </a:rPr>
              <a:t>Gradle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en-US" altLang="ko-KR" dirty="0" err="1">
                <a:solidFill>
                  <a:schemeClr val="tx1"/>
                </a:solidFill>
              </a:rPr>
              <a:t>etc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ko-KR" altLang="en-US" dirty="0">
                <a:solidFill>
                  <a:schemeClr val="tx1"/>
                </a:solidFill>
              </a:rPr>
              <a:t>선택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Project </a:t>
            </a:r>
            <a:r>
              <a:rPr lang="ko-KR" altLang="en-US" dirty="0">
                <a:solidFill>
                  <a:schemeClr val="tx1"/>
                </a:solidFill>
              </a:rPr>
              <a:t>생성 폴더에 </a:t>
            </a:r>
            <a:r>
              <a:rPr lang="en-US" altLang="ko-KR" dirty="0">
                <a:solidFill>
                  <a:schemeClr val="tx1"/>
                </a:solidFill>
              </a:rPr>
              <a:t>android </a:t>
            </a:r>
            <a:r>
              <a:rPr lang="ko-KR" altLang="en-US" dirty="0">
                <a:solidFill>
                  <a:schemeClr val="tx1"/>
                </a:solidFill>
              </a:rPr>
              <a:t>폴더 선택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040" y="2370529"/>
            <a:ext cx="2880320" cy="34760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오른쪽 화살표 6"/>
          <p:cNvSpPr/>
          <p:nvPr/>
        </p:nvSpPr>
        <p:spPr>
          <a:xfrm>
            <a:off x="6993123" y="3840961"/>
            <a:ext cx="560675" cy="37376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669126" y="3699908"/>
            <a:ext cx="1171291" cy="469368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977" y="2370529"/>
            <a:ext cx="4648603" cy="36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5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13703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Android Project </a:t>
            </a:r>
            <a:r>
              <a:rPr lang="ko-KR" altLang="en-US" sz="2000" dirty="0"/>
              <a:t>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7408" y="1340768"/>
            <a:ext cx="9937104" cy="4558793"/>
          </a:xfrm>
        </p:spPr>
        <p:txBody>
          <a:bodyPr>
            <a:normAutofit/>
          </a:bodyPr>
          <a:lstStyle/>
          <a:p>
            <a:r>
              <a:rPr lang="en-US" altLang="ko-KR" sz="2000" dirty="0" smtClean="0"/>
              <a:t>(</a:t>
            </a:r>
            <a:r>
              <a:rPr lang="ko-KR" altLang="en-US" sz="2000" dirty="0" smtClean="0"/>
              <a:t>주의</a:t>
            </a:r>
            <a:r>
              <a:rPr lang="en-US" altLang="ko-KR" sz="2000" dirty="0" smtClean="0"/>
              <a:t>!) Android </a:t>
            </a:r>
            <a:r>
              <a:rPr lang="en-US" altLang="ko-KR" sz="2000" dirty="0" err="1" smtClean="0"/>
              <a:t>Gradle</a:t>
            </a:r>
            <a:r>
              <a:rPr lang="en-US" altLang="ko-KR" sz="2000" dirty="0" smtClean="0"/>
              <a:t> Plugin Update </a:t>
            </a:r>
            <a:r>
              <a:rPr lang="ko-KR" altLang="en-US" sz="2000" dirty="0" smtClean="0"/>
              <a:t>대화상자가 뜰 시 </a:t>
            </a:r>
            <a:r>
              <a:rPr lang="en-US" altLang="ko-KR" sz="2000" dirty="0" smtClean="0"/>
              <a:t>Update </a:t>
            </a:r>
            <a:r>
              <a:rPr lang="ko-KR" altLang="en-US" sz="2000" dirty="0" smtClean="0"/>
              <a:t>하지 말아야함</a:t>
            </a:r>
            <a:r>
              <a:rPr lang="en-US" altLang="ko-KR" sz="2000" dirty="0" smtClean="0"/>
              <a:t>!</a:t>
            </a:r>
          </a:p>
          <a:p>
            <a:r>
              <a:rPr lang="ko-KR" altLang="en-US" sz="2000" dirty="0" smtClean="0"/>
              <a:t>만약 </a:t>
            </a:r>
            <a:r>
              <a:rPr lang="en-US" altLang="ko-KR" sz="2000" dirty="0" smtClean="0"/>
              <a:t>Update</a:t>
            </a:r>
            <a:r>
              <a:rPr lang="ko-KR" altLang="en-US" sz="2000" dirty="0" smtClean="0"/>
              <a:t>할 경우 </a:t>
            </a:r>
            <a:r>
              <a:rPr lang="en-US" altLang="ko-KR" sz="2000" dirty="0" smtClean="0"/>
              <a:t>Android Studio</a:t>
            </a:r>
            <a:r>
              <a:rPr lang="ko-KR" altLang="en-US" sz="2000" dirty="0" smtClean="0"/>
              <a:t>의</a:t>
            </a:r>
            <a:r>
              <a:rPr lang="en-US" altLang="ko-KR" sz="2000" dirty="0"/>
              <a:t> </a:t>
            </a:r>
            <a:r>
              <a:rPr lang="en-US" altLang="ko-KR" sz="2000" dirty="0" err="1" smtClean="0"/>
              <a:t>Gradle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버전과 </a:t>
            </a:r>
            <a:r>
              <a:rPr lang="en-US" altLang="ko-KR" sz="2000" dirty="0" err="1" smtClean="0"/>
              <a:t>PhoneGap</a:t>
            </a:r>
            <a:r>
              <a:rPr lang="en-US" altLang="ko-KR" sz="2000" dirty="0" smtClean="0"/>
              <a:t> Cordova</a:t>
            </a:r>
            <a:r>
              <a:rPr lang="ko-KR" altLang="en-US" sz="2000" dirty="0" smtClean="0"/>
              <a:t>의 </a:t>
            </a:r>
            <a:r>
              <a:rPr lang="en-US" altLang="ko-KR" sz="2000" dirty="0" err="1" smtClean="0"/>
              <a:t>Gradle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버전이 틀려져서 실행이 안됨 </a:t>
            </a:r>
            <a:endParaRPr lang="en-US" altLang="ko-KR" sz="2000" dirty="0"/>
          </a:p>
        </p:txBody>
      </p:sp>
      <p:sp>
        <p:nvSpPr>
          <p:cNvPr id="6" name="슬라이드 번호 개체 틀 3"/>
          <p:cNvSpPr txBox="1">
            <a:spLocks/>
          </p:cNvSpPr>
          <p:nvPr/>
        </p:nvSpPr>
        <p:spPr>
          <a:xfrm>
            <a:off x="11352584" y="6381328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480678-46F8-4C6F-81BB-374C160D1764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167" y="2938835"/>
            <a:ext cx="7971943" cy="315446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663952" y="5340494"/>
            <a:ext cx="4032448" cy="7528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폭발 1 7"/>
          <p:cNvSpPr/>
          <p:nvPr/>
        </p:nvSpPr>
        <p:spPr>
          <a:xfrm>
            <a:off x="4880590" y="4704576"/>
            <a:ext cx="1008112" cy="1049278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76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내용 개체 틀 4"/>
          <p:cNvPicPr>
            <a:picLocks noChangeAspect="1"/>
          </p:cNvPicPr>
          <p:nvPr/>
        </p:nvPicPr>
        <p:blipFill rotWithShape="1">
          <a:blip r:embed="rId2"/>
          <a:srcRect r="40822" b="82891"/>
          <a:stretch/>
        </p:blipFill>
        <p:spPr>
          <a:xfrm>
            <a:off x="1253517" y="2132856"/>
            <a:ext cx="5570701" cy="136805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8583" y="212316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en-US" altLang="ko-KR" dirty="0"/>
              <a:t> </a:t>
            </a:r>
            <a:r>
              <a:rPr lang="en-US" altLang="ko-KR" sz="2000" dirty="0"/>
              <a:t>– Android Project </a:t>
            </a:r>
            <a:r>
              <a:rPr lang="ko-KR" altLang="en-US" sz="2000" dirty="0"/>
              <a:t>실행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0615" y="1052736"/>
            <a:ext cx="8596668" cy="3880773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Run </a:t>
            </a:r>
            <a:r>
              <a:rPr lang="ko-KR" altLang="en-US" dirty="0">
                <a:solidFill>
                  <a:schemeClr val="tx1"/>
                </a:solidFill>
              </a:rPr>
              <a:t>버튼 클릭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PhoneGap</a:t>
            </a:r>
            <a:r>
              <a:rPr lang="en-US" altLang="ko-KR" dirty="0">
                <a:solidFill>
                  <a:schemeClr val="tx1"/>
                </a:solidFill>
              </a:rPr>
              <a:t> index.html </a:t>
            </a:r>
            <a:r>
              <a:rPr lang="ko-KR" altLang="en-US" dirty="0">
                <a:solidFill>
                  <a:schemeClr val="tx1"/>
                </a:solidFill>
              </a:rPr>
              <a:t>화면 출력</a:t>
            </a:r>
          </a:p>
        </p:txBody>
      </p:sp>
      <p:sp>
        <p:nvSpPr>
          <p:cNvPr id="7" name="오른쪽 화살표 6"/>
          <p:cNvSpPr/>
          <p:nvPr/>
        </p:nvSpPr>
        <p:spPr>
          <a:xfrm>
            <a:off x="6629237" y="3736729"/>
            <a:ext cx="564198" cy="48047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720912" y="2532711"/>
            <a:ext cx="418471" cy="254621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357" y="1361287"/>
            <a:ext cx="3125107" cy="5027091"/>
          </a:xfrm>
          <a:prstGeom prst="rect">
            <a:avLst/>
          </a:prstGeom>
        </p:spPr>
      </p:pic>
      <p:sp>
        <p:nvSpPr>
          <p:cNvPr id="9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18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41576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PhoneGap</a:t>
            </a:r>
            <a:r>
              <a:rPr lang="ko-KR" altLang="en-US" dirty="0"/>
              <a:t>응용</a:t>
            </a:r>
            <a:r>
              <a:rPr lang="en-US" altLang="ko-KR" sz="2000" dirty="0"/>
              <a:t>- notification</a:t>
            </a:r>
            <a:endParaRPr lang="ko-KR" altLang="en-US" sz="2000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95400" y="1034650"/>
            <a:ext cx="9577064" cy="4628587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알림 기능을 사용하기 전에 아래와 같이 </a:t>
            </a:r>
            <a:r>
              <a:rPr lang="ko-KR" altLang="en-US" dirty="0" err="1">
                <a:solidFill>
                  <a:schemeClr val="tx1"/>
                </a:solidFill>
              </a:rPr>
              <a:t>세팅을</a:t>
            </a:r>
            <a:r>
              <a:rPr lang="ko-KR" altLang="en-US" dirty="0">
                <a:solidFill>
                  <a:schemeClr val="tx1"/>
                </a:solidFill>
              </a:rPr>
              <a:t> 함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생성한 프로젝트에는 전부 명세 되어 있으므로  생략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만약 없다면 아래와 같이 추가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1844824"/>
            <a:ext cx="6624736" cy="22462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627" y="4165178"/>
            <a:ext cx="5360368" cy="18066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12" y="4811172"/>
            <a:ext cx="4464496" cy="15046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직사각형 9"/>
          <p:cNvSpPr/>
          <p:nvPr/>
        </p:nvSpPr>
        <p:spPr>
          <a:xfrm>
            <a:off x="3759329" y="5068485"/>
            <a:ext cx="689537" cy="232724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069792" y="4384879"/>
            <a:ext cx="2234121" cy="207832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661311" y="4997591"/>
            <a:ext cx="2234121" cy="207832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330278" y="5645826"/>
            <a:ext cx="989859" cy="205592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꺾인 연결선 17"/>
          <p:cNvCxnSpPr>
            <a:endCxn id="9" idx="3"/>
          </p:cNvCxnSpPr>
          <p:nvPr/>
        </p:nvCxnSpPr>
        <p:spPr>
          <a:xfrm>
            <a:off x="7104112" y="3717033"/>
            <a:ext cx="2664296" cy="1846479"/>
          </a:xfrm>
          <a:prstGeom prst="bentConnector3">
            <a:avLst>
              <a:gd name="adj1" fmla="val 10858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endCxn id="8" idx="1"/>
          </p:cNvCxnSpPr>
          <p:nvPr/>
        </p:nvCxnSpPr>
        <p:spPr>
          <a:xfrm rot="5400000">
            <a:off x="1664436" y="3663128"/>
            <a:ext cx="2215549" cy="595164"/>
          </a:xfrm>
          <a:prstGeom prst="bentConnector4">
            <a:avLst>
              <a:gd name="adj1" fmla="val 29614"/>
              <a:gd name="adj2" fmla="val 13841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24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PhoneGap</a:t>
            </a:r>
            <a:r>
              <a:rPr lang="ko-KR" altLang="en-US" dirty="0"/>
              <a:t>응용</a:t>
            </a:r>
            <a:r>
              <a:rPr lang="en-US" altLang="ko-KR" sz="2000" dirty="0"/>
              <a:t>- </a:t>
            </a:r>
            <a:r>
              <a:rPr lang="en-US" altLang="ko-KR" sz="2000" dirty="0" err="1"/>
              <a:t>notification.alert</a:t>
            </a:r>
            <a:endParaRPr lang="ko-KR" altLang="en-US" sz="2000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623392" y="1052736"/>
            <a:ext cx="7202761" cy="4628587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함수 설명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772816"/>
            <a:ext cx="7872609" cy="22507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91" y="3501008"/>
            <a:ext cx="2892843" cy="23762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41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434" y="910878"/>
            <a:ext cx="3038126" cy="570161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6130"/>
            <a:ext cx="8596668" cy="1320800"/>
          </a:xfrm>
        </p:spPr>
        <p:txBody>
          <a:bodyPr/>
          <a:lstStyle/>
          <a:p>
            <a:r>
              <a:rPr lang="en-US" altLang="ko-KR" dirty="0" err="1"/>
              <a:t>PhoneGap</a:t>
            </a:r>
            <a:r>
              <a:rPr lang="ko-KR" altLang="en-US" dirty="0"/>
              <a:t>응용</a:t>
            </a:r>
            <a:r>
              <a:rPr lang="en-US" altLang="ko-KR" sz="2000" dirty="0"/>
              <a:t>- </a:t>
            </a:r>
            <a:r>
              <a:rPr lang="en-US" altLang="ko-KR" sz="2000" dirty="0" err="1"/>
              <a:t>notification.alert</a:t>
            </a:r>
            <a:r>
              <a:rPr lang="en-US" altLang="ko-KR" sz="2000" dirty="0"/>
              <a:t> </a:t>
            </a:r>
            <a:r>
              <a:rPr lang="ko-KR" altLang="en-US" sz="2000" dirty="0"/>
              <a:t>코드 작성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80" y="910878"/>
            <a:ext cx="6500630" cy="57016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직사각형 7"/>
          <p:cNvSpPr/>
          <p:nvPr/>
        </p:nvSpPr>
        <p:spPr>
          <a:xfrm>
            <a:off x="8832304" y="4365104"/>
            <a:ext cx="992495" cy="216024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20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3352" y="260648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PhoneGap</a:t>
            </a:r>
            <a:r>
              <a:rPr lang="ko-KR" altLang="en-US" dirty="0"/>
              <a:t>응용</a:t>
            </a:r>
            <a:r>
              <a:rPr lang="en-US" altLang="ko-KR" sz="2000" dirty="0"/>
              <a:t>- </a:t>
            </a:r>
            <a:r>
              <a:rPr lang="en-US" altLang="ko-KR" sz="2000" dirty="0" err="1"/>
              <a:t>notification.alert</a:t>
            </a:r>
            <a:r>
              <a:rPr lang="en-US" altLang="ko-KR" sz="2000" dirty="0"/>
              <a:t> </a:t>
            </a:r>
            <a:r>
              <a:rPr lang="ko-KR" altLang="en-US" sz="2000" dirty="0"/>
              <a:t>실행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3392" y="1052736"/>
            <a:ext cx="8596668" cy="3880773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알림 실행 결과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628" y="1546579"/>
            <a:ext cx="3033791" cy="488019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88" y="1546579"/>
            <a:ext cx="3065426" cy="4931087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5854351" y="3861048"/>
            <a:ext cx="600565" cy="50084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33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9433</TotalTime>
  <Words>573</Words>
  <Application>Microsoft Office PowerPoint</Application>
  <PresentationFormat>와이드스크린</PresentationFormat>
  <Paragraphs>124</Paragraphs>
  <Slides>22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HY그래픽M</vt:lpstr>
      <vt:lpstr>맑은 고딕</vt:lpstr>
      <vt:lpstr>Arial</vt:lpstr>
      <vt:lpstr>Trebuchet MS</vt:lpstr>
      <vt:lpstr>Wingdings 3</vt:lpstr>
      <vt:lpstr>Custom Design</vt:lpstr>
      <vt:lpstr>패싯</vt:lpstr>
      <vt:lpstr>Hybrid App </vt:lpstr>
      <vt:lpstr>목 차</vt:lpstr>
      <vt:lpstr>PhoneGap 이란?</vt:lpstr>
      <vt:lpstr>Hybrid App의 장점</vt:lpstr>
      <vt:lpstr>PhoneGap의 기능</vt:lpstr>
      <vt:lpstr>PhoneGap의 지원 범위</vt:lpstr>
      <vt:lpstr>PhoneGap을 이용한 App</vt:lpstr>
      <vt:lpstr>PhoneGap의 일반적인 개발 절차</vt:lpstr>
      <vt:lpstr>PhoneGap – Node.js 설치</vt:lpstr>
      <vt:lpstr>PhoneGap – PhoneGap Download</vt:lpstr>
      <vt:lpstr>PhoneGap – Android Project 생성 &amp; ant 설치</vt:lpstr>
      <vt:lpstr>PhoneGap – Android Project 생성 &amp; 환경 설정</vt:lpstr>
      <vt:lpstr>PhoneGap – Android Project 생성 &amp; 환경 설정</vt:lpstr>
      <vt:lpstr>PhoneGap – Project 생성</vt:lpstr>
      <vt:lpstr>PhoneGap – Android Project 생성</vt:lpstr>
      <vt:lpstr>PhoneGap – Android Project 실행</vt:lpstr>
      <vt:lpstr>PhoneGap – Android Project 생성</vt:lpstr>
      <vt:lpstr>PhoneGap – Android Project 실행</vt:lpstr>
      <vt:lpstr>PhoneGap응용- notification</vt:lpstr>
      <vt:lpstr>PhoneGap응용- notification.alert</vt:lpstr>
      <vt:lpstr>PhoneGap응용- notification.alert 코드 작성</vt:lpstr>
      <vt:lpstr>PhoneGap응용- notification.alert 실행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Chris</dc:creator>
  <cp:lastModifiedBy>sanghyeon</cp:lastModifiedBy>
  <cp:revision>623</cp:revision>
  <dcterms:created xsi:type="dcterms:W3CDTF">2011-03-11T08:34:49Z</dcterms:created>
  <dcterms:modified xsi:type="dcterms:W3CDTF">2020-04-01T06:52:53Z</dcterms:modified>
</cp:coreProperties>
</file>