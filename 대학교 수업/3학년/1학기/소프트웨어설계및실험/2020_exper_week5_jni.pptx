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58" r:id="rId11"/>
    <p:sldId id="259" r:id="rId12"/>
    <p:sldId id="261" r:id="rId13"/>
    <p:sldId id="263" r:id="rId14"/>
    <p:sldId id="264" r:id="rId15"/>
    <p:sldId id="265" r:id="rId16"/>
    <p:sldId id="267" r:id="rId17"/>
    <p:sldId id="276" r:id="rId18"/>
    <p:sldId id="277" r:id="rId19"/>
    <p:sldId id="319" r:id="rId20"/>
    <p:sldId id="320" r:id="rId21"/>
    <p:sldId id="322" r:id="rId22"/>
    <p:sldId id="318" r:id="rId23"/>
    <p:sldId id="321" r:id="rId24"/>
    <p:sldId id="323" r:id="rId25"/>
    <p:sldId id="324" r:id="rId26"/>
    <p:sldId id="316" r:id="rId27"/>
    <p:sldId id="278" r:id="rId28"/>
    <p:sldId id="325" r:id="rId29"/>
    <p:sldId id="326" r:id="rId30"/>
    <p:sldId id="327" r:id="rId31"/>
    <p:sldId id="328" r:id="rId32"/>
    <p:sldId id="32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10" r:id="rId52"/>
    <p:sldId id="308" r:id="rId53"/>
    <p:sldId id="311" r:id="rId54"/>
    <p:sldId id="312" r:id="rId55"/>
    <p:sldId id="330" r:id="rId56"/>
    <p:sldId id="313" r:id="rId57"/>
    <p:sldId id="314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4039C23-8473-4FD4-9CB9-3A04F33101AE}">
          <p14:sldIdLst>
            <p14:sldId id="256"/>
            <p14:sldId id="257"/>
            <p14:sldId id="269"/>
            <p14:sldId id="270"/>
            <p14:sldId id="271"/>
            <p14:sldId id="272"/>
            <p14:sldId id="273"/>
            <p14:sldId id="274"/>
            <p14:sldId id="275"/>
            <p14:sldId id="258"/>
            <p14:sldId id="259"/>
            <p14:sldId id="261"/>
            <p14:sldId id="263"/>
            <p14:sldId id="264"/>
            <p14:sldId id="265"/>
            <p14:sldId id="267"/>
            <p14:sldId id="276"/>
            <p14:sldId id="277"/>
            <p14:sldId id="319"/>
            <p14:sldId id="320"/>
            <p14:sldId id="322"/>
            <p14:sldId id="318"/>
            <p14:sldId id="321"/>
            <p14:sldId id="323"/>
            <p14:sldId id="324"/>
            <p14:sldId id="316"/>
            <p14:sldId id="278"/>
            <p14:sldId id="325"/>
            <p14:sldId id="326"/>
            <p14:sldId id="327"/>
            <p14:sldId id="328"/>
            <p14:sldId id="32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10"/>
            <p14:sldId id="308"/>
            <p14:sldId id="311"/>
            <p14:sldId id="312"/>
            <p14:sldId id="330"/>
            <p14:sldId id="313"/>
            <p14:sldId id="31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77880" autoAdjust="0"/>
  </p:normalViewPr>
  <p:slideViewPr>
    <p:cSldViewPr snapToGrid="0">
      <p:cViewPr varScale="1">
        <p:scale>
          <a:sx n="90" d="100"/>
          <a:sy n="90" d="100"/>
        </p:scale>
        <p:origin x="12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BC488-DBE2-4D91-A21A-10F79A23E670}" type="datetimeFigureOut">
              <a:rPr lang="ko-KR" altLang="en-US" smtClean="0"/>
              <a:t>2020-04-14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D866D-0274-481D-B3BF-C14E187CD5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9697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703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595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904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0992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605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580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9968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7061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9913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06967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60677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2530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14818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607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2732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9652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7214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8356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281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51851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98416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527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2201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5914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9430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3715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1788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5643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47166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38430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03548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948792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77393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2200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99674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23822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242262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7194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65702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497285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27070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6783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58145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486574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00647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00371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057629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994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73693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92633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39196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14299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8052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58216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216645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17521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ED866D-0274-481D-B3BF-C14E187CD512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9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2/12/2018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2/12/2018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2/12/2018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2/12/2018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2/12/2018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2/12/2018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2/12/2018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2/12/2018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2/12/2018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2/12/2018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2/12/2018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2/12/2018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2/12/2018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2/12/2018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2/12/2018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2/12/2018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 smtClean="0"/>
              <a:t>2/12/2018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hf hdr="0" ftr="0" dt="0"/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sdk/ndk/index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intl/ko/ndk/downloads/index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JNI &amp; SQLite</a:t>
            </a:r>
            <a:endParaRPr lang="ko-KR" altLang="en-US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mtClean="0"/>
              <a:t>2020 </a:t>
            </a:r>
            <a:r>
              <a:rPr lang="ko-KR" altLang="en-US" dirty="0" smtClean="0"/>
              <a:t>컴퓨터 소프트웨어 설계 및 실험</a:t>
            </a:r>
            <a:endParaRPr lang="en-US" altLang="ko-KR" dirty="0" smtClean="0"/>
          </a:p>
          <a:p>
            <a:r>
              <a:rPr lang="en-US" altLang="ko-KR" dirty="0" smtClean="0"/>
              <a:t>3</a:t>
            </a:r>
            <a:r>
              <a:rPr lang="ko-KR" altLang="en-US" dirty="0" smtClean="0"/>
              <a:t>주차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654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Index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1705"/>
            <a:ext cx="8596668" cy="4629657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JNI</a:t>
            </a:r>
          </a:p>
          <a:p>
            <a:pPr lvl="1">
              <a:lnSpc>
                <a:spcPct val="150000"/>
              </a:lnSpc>
            </a:pPr>
            <a:r>
              <a:rPr lang="en-US" altLang="ko-KR" sz="22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JNI</a:t>
            </a:r>
            <a:r>
              <a:rPr lang="ko-KR" altLang="en-US" sz="22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의 개념 </a:t>
            </a:r>
            <a:endParaRPr lang="en-US" altLang="ko-KR" sz="2200" b="1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200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JNI </a:t>
            </a:r>
            <a:r>
              <a:rPr lang="ko-KR" altLang="en-US" sz="22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환경 구축</a:t>
            </a:r>
            <a:endParaRPr lang="en-US" altLang="ko-KR" sz="2200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200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JNI </a:t>
            </a:r>
            <a:r>
              <a:rPr lang="ko-KR" altLang="en-US" sz="2200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실습</a:t>
            </a:r>
            <a:endParaRPr lang="en-US" altLang="ko-KR" sz="2200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SQLite</a:t>
            </a:r>
            <a:endParaRPr lang="en-US" altLang="ko-KR" sz="2400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2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데이터 베이스</a:t>
            </a:r>
            <a:r>
              <a:rPr lang="en-US" altLang="ko-KR" sz="22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</a:t>
            </a:r>
            <a:r>
              <a:rPr lang="ko-KR" altLang="en-US" sz="22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2200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SQL </a:t>
            </a:r>
            <a:r>
              <a:rPr lang="ko-KR" altLang="en-US" sz="2200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개념</a:t>
            </a:r>
            <a:endParaRPr lang="en-US" altLang="ko-KR" sz="2200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2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SQLite</a:t>
            </a:r>
          </a:p>
          <a:p>
            <a:pPr lvl="1">
              <a:lnSpc>
                <a:spcPct val="150000"/>
              </a:lnSpc>
            </a:pPr>
            <a:r>
              <a:rPr lang="en-US" altLang="ko-KR" sz="22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DB</a:t>
            </a:r>
            <a:r>
              <a:rPr lang="ko-KR" altLang="en-US" sz="22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의 데이터 </a:t>
            </a:r>
            <a:r>
              <a:rPr lang="ko-KR" altLang="en-US" sz="2200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접근 </a:t>
            </a:r>
            <a:r>
              <a:rPr lang="en-US" altLang="ko-KR" sz="2200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ko-KR" altLang="en-US" sz="2200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삽입</a:t>
            </a:r>
            <a:r>
              <a:rPr lang="en-US" altLang="ko-KR" sz="2200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/</a:t>
            </a:r>
            <a:r>
              <a:rPr lang="ko-KR" altLang="en-US" sz="2200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삭제</a:t>
            </a:r>
            <a:r>
              <a:rPr lang="en-US" altLang="ko-KR" sz="2200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/</a:t>
            </a:r>
            <a:r>
              <a:rPr lang="ko-KR" altLang="en-US" sz="2200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갱신</a:t>
            </a:r>
            <a:r>
              <a:rPr lang="en-US" altLang="ko-KR" sz="2200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/</a:t>
            </a:r>
            <a:r>
              <a:rPr lang="ko-KR" altLang="en-US" sz="2200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검색</a:t>
            </a:r>
            <a:r>
              <a:rPr lang="en-US" altLang="ko-KR" sz="2200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endParaRPr lang="en-US" altLang="ko-KR" sz="2200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200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Cursor Class</a:t>
            </a:r>
            <a:endParaRPr lang="en-US" altLang="ko-KR" sz="2200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</a:pPr>
            <a:endParaRPr lang="ko-KR" altLang="en-US" sz="2200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247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2246313" y="2709868"/>
            <a:ext cx="7772400" cy="1362075"/>
          </a:xfrm>
        </p:spPr>
        <p:txBody>
          <a:bodyPr/>
          <a:lstStyle/>
          <a:p>
            <a:r>
              <a:rPr lang="en-US" altLang="ko-KR" b="1" dirty="0" smtClean="0">
                <a:latin typeface="+mj-ea"/>
                <a:cs typeface="함초롬바탕" panose="02030504000101010101" pitchFamily="18" charset="-127"/>
              </a:rPr>
              <a:t>JNI</a:t>
            </a:r>
            <a:r>
              <a:rPr lang="ko-KR" altLang="en-US" b="1" dirty="0" smtClean="0">
                <a:latin typeface="+mj-ea"/>
                <a:cs typeface="함초롬바탕" panose="02030504000101010101" pitchFamily="18" charset="-127"/>
              </a:rPr>
              <a:t>의 개념</a:t>
            </a:r>
            <a:endParaRPr lang="ko-KR" altLang="en-US" b="1" dirty="0">
              <a:latin typeface="+mj-ea"/>
              <a:cs typeface="함초롬바탕" panose="0203050400010101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68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JNI</a:t>
            </a:r>
            <a:r>
              <a:rPr lang="ko-KR" altLang="en-US" b="1" dirty="0" smtClean="0"/>
              <a:t>의 개념 </a:t>
            </a:r>
            <a:r>
              <a:rPr lang="en-US" altLang="ko-KR" b="1" dirty="0" smtClean="0"/>
              <a:t>(1/6)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3" y="1411704"/>
            <a:ext cx="8883761" cy="4347411"/>
          </a:xfrm>
        </p:spPr>
        <p:txBody>
          <a:bodyPr>
            <a:norm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JVM </a:t>
            </a:r>
            <a:r>
              <a:rPr lang="en-US" altLang="ko-KR" sz="16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(Java Virtual Machine)</a:t>
            </a:r>
          </a:p>
          <a:p>
            <a:pPr lvl="1" fontAlgn="auto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Java 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바이트코드를 실행하기 위한 가상 머신</a:t>
            </a: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 fontAlgn="auto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이론적으로는 플랫폼이나 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OS 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및 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CPU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와 독립적으로 동작</a:t>
            </a: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 fontAlgn="auto">
              <a:lnSpc>
                <a:spcPct val="160000"/>
              </a:lnSpc>
              <a:buFont typeface="Wingdings" pitchFamily="2" charset="2"/>
              <a:buChar char="§"/>
            </a:pP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Interpreter 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나 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JIT Compile 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방식의 실행</a:t>
            </a: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 fontAlgn="auto">
              <a:lnSpc>
                <a:spcPct val="160000"/>
              </a:lnSpc>
              <a:buFont typeface="Wingdings" pitchFamily="2" charset="2"/>
              <a:buChar char="§"/>
            </a:pP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Stack 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기반의 구조</a:t>
            </a: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 fontAlgn="auto">
              <a:lnSpc>
                <a:spcPct val="160000"/>
              </a:lnSpc>
              <a:buFont typeface="Wingdings" pitchFamily="2" charset="2"/>
              <a:buChar char="§"/>
            </a:pP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C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에서처럼 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Memory 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주소 값을 임의로 조작하는 포인터 연산은 불가</a:t>
            </a: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713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JNI</a:t>
            </a:r>
            <a:r>
              <a:rPr lang="ko-KR" altLang="en-US" b="1" dirty="0" smtClean="0"/>
              <a:t>의 개념 </a:t>
            </a:r>
            <a:r>
              <a:rPr lang="en-US" altLang="ko-KR" b="1" dirty="0" smtClean="0"/>
              <a:t>(2/6)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3" y="1411705"/>
            <a:ext cx="8883761" cy="2671011"/>
          </a:xfrm>
        </p:spPr>
        <p:txBody>
          <a:bodyPr>
            <a:norm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Java Program </a:t>
            </a:r>
            <a:r>
              <a:rPr lang="ko-KR" altLang="en-US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실행 구조</a:t>
            </a:r>
            <a:endParaRPr lang="en-US" altLang="ko-KR" sz="1600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 fontAlgn="auto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C, C++ 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등 타 프로그램은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운영체제 상에서 실행</a:t>
            </a: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 fontAlgn="auto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Java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의 경우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운영체제가 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JVM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을 실행시킨 후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JVM 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상에서 실행</a:t>
            </a: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 fontAlgn="auto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타 프로그램에 비해 속도 저하가 발생함</a:t>
            </a: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pSp>
        <p:nvGrpSpPr>
          <p:cNvPr id="18" name="그룹 17"/>
          <p:cNvGrpSpPr/>
          <p:nvPr/>
        </p:nvGrpSpPr>
        <p:grpSpPr>
          <a:xfrm>
            <a:off x="2574757" y="4082716"/>
            <a:ext cx="5309938" cy="2393742"/>
            <a:chOff x="2486127" y="3799140"/>
            <a:chExt cx="5688632" cy="2736304"/>
          </a:xfrm>
        </p:grpSpPr>
        <p:grpSp>
          <p:nvGrpSpPr>
            <p:cNvPr id="5" name="그룹 4"/>
            <p:cNvGrpSpPr/>
            <p:nvPr/>
          </p:nvGrpSpPr>
          <p:grpSpPr>
            <a:xfrm>
              <a:off x="2486127" y="3799140"/>
              <a:ext cx="2736304" cy="2736304"/>
              <a:chOff x="1547664" y="3799140"/>
              <a:chExt cx="2736304" cy="2736304"/>
            </a:xfrm>
          </p:grpSpPr>
          <p:sp>
            <p:nvSpPr>
              <p:cNvPr id="6" name="모서리가 둥근 직사각형 5"/>
              <p:cNvSpPr/>
              <p:nvPr/>
            </p:nvSpPr>
            <p:spPr>
              <a:xfrm>
                <a:off x="1547664" y="3799140"/>
                <a:ext cx="2736304" cy="2736304"/>
              </a:xfrm>
              <a:prstGeom prst="roundRect">
                <a:avLst>
                  <a:gd name="adj" fmla="val 8119"/>
                </a:avLst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" name="직사각형 6"/>
              <p:cNvSpPr/>
              <p:nvPr/>
            </p:nvSpPr>
            <p:spPr>
              <a:xfrm>
                <a:off x="1871700" y="5950076"/>
                <a:ext cx="2088232" cy="39277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Hardware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직사각형 7"/>
              <p:cNvSpPr/>
              <p:nvPr/>
            </p:nvSpPr>
            <p:spPr>
              <a:xfrm>
                <a:off x="1871700" y="5439473"/>
                <a:ext cx="2088232" cy="39277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OS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직사각형 8"/>
              <p:cNvSpPr/>
              <p:nvPr/>
            </p:nvSpPr>
            <p:spPr>
              <a:xfrm>
                <a:off x="1871700" y="4928871"/>
                <a:ext cx="2088232" cy="392771"/>
              </a:xfrm>
              <a:prstGeom prst="rect">
                <a:avLst/>
              </a:prstGeom>
              <a:solidFill>
                <a:srgbClr val="FFB9B9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rgbClr val="FF0000"/>
                    </a:solidFill>
                  </a:rPr>
                  <a:t>JVM</a:t>
                </a:r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0" name="직사각형 9"/>
              <p:cNvSpPr/>
              <p:nvPr/>
            </p:nvSpPr>
            <p:spPr>
              <a:xfrm>
                <a:off x="2131356" y="4418269"/>
                <a:ext cx="1568920" cy="39277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Program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2267081" y="3823907"/>
                <a:ext cx="12974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함초롬바탕" panose="02030504000101010101" pitchFamily="18" charset="-127"/>
                  </a:rPr>
                  <a:t>Java</a:t>
                </a:r>
                <a:r>
                  <a:rPr lang="ko-KR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함초롬바탕" panose="02030504000101010101" pitchFamily="18" charset="-127"/>
                  </a:rPr>
                  <a:t> 프로그램</a:t>
                </a:r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>
              <a:off x="5438455" y="3799140"/>
              <a:ext cx="2736304" cy="2736304"/>
              <a:chOff x="4499992" y="3799140"/>
              <a:chExt cx="2736304" cy="2736304"/>
            </a:xfrm>
          </p:grpSpPr>
          <p:sp>
            <p:nvSpPr>
              <p:cNvPr id="13" name="모서리가 둥근 직사각형 12"/>
              <p:cNvSpPr/>
              <p:nvPr/>
            </p:nvSpPr>
            <p:spPr>
              <a:xfrm>
                <a:off x="4499992" y="3799140"/>
                <a:ext cx="2736304" cy="2736304"/>
              </a:xfrm>
              <a:prstGeom prst="roundRect">
                <a:avLst>
                  <a:gd name="adj" fmla="val 8119"/>
                </a:avLst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4824028" y="5950076"/>
                <a:ext cx="2088232" cy="39277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Hardware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직사각형 14"/>
              <p:cNvSpPr/>
              <p:nvPr/>
            </p:nvSpPr>
            <p:spPr>
              <a:xfrm>
                <a:off x="4824028" y="5439473"/>
                <a:ext cx="2088232" cy="39277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OS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5083684" y="4928871"/>
                <a:ext cx="1568920" cy="39277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Program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5205943" y="3839670"/>
                <a:ext cx="13244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함초롬바탕" panose="02030504000101010101" pitchFamily="18" charset="-127"/>
                  </a:rPr>
                  <a:t>일반 프로그램</a:t>
                </a:r>
              </a:p>
            </p:txBody>
          </p:sp>
        </p:grpSp>
      </p:grpSp>
      <p:sp>
        <p:nvSpPr>
          <p:cNvPr id="21" name="슬라이드 번호 개체 틀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589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JNI</a:t>
            </a:r>
            <a:r>
              <a:rPr lang="ko-KR" altLang="en-US" b="1" dirty="0" smtClean="0"/>
              <a:t>의 개념 </a:t>
            </a:r>
            <a:r>
              <a:rPr lang="en-US" altLang="ko-KR" b="1" dirty="0" smtClean="0"/>
              <a:t>(3/6)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3" y="1411705"/>
            <a:ext cx="8883761" cy="4090737"/>
          </a:xfrm>
        </p:spPr>
        <p:txBody>
          <a:bodyPr>
            <a:no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JNI </a:t>
            </a:r>
            <a:r>
              <a:rPr lang="en-US" altLang="ko-KR" sz="16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(Java Native Interface)</a:t>
            </a:r>
          </a:p>
          <a:p>
            <a:pPr lvl="1" fontAlgn="auto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Java 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이외의 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Native Code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로 만들어진 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Module 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및 </a:t>
            </a:r>
            <a:r>
              <a:rPr lang="en-US" altLang="ko-KR" sz="18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Library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를</a:t>
            </a: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457200" lvl="1" indent="0">
              <a:buNone/>
            </a:pP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   JVM 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상의 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Java </a:t>
            </a:r>
            <a:r>
              <a:rPr lang="en-US" altLang="ko-KR" sz="18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Code</a:t>
            </a:r>
            <a:r>
              <a:rPr lang="ko-KR" altLang="en-US" sz="18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에 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상호작용 할 수 있도록 정의된 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Interface</a:t>
            </a:r>
          </a:p>
          <a:p>
            <a:pPr lvl="1" fontAlgn="auto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JVM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이 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OS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상의 입 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· 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출력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Networking, Thread 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등을 작동하기 위해</a:t>
            </a: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457200" lvl="1" indent="0">
              <a:buNone/>
            </a:pP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   Local System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을 호출할 수 있도록 함</a:t>
            </a: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 fontAlgn="auto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JVM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내에 포함되어 있음</a:t>
            </a: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457200" lvl="1" indent="0">
              <a:buNone/>
            </a:pP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266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JNI</a:t>
            </a:r>
            <a:r>
              <a:rPr lang="ko-KR" altLang="en-US" b="1" dirty="0" smtClean="0"/>
              <a:t>의 개념 </a:t>
            </a:r>
            <a:r>
              <a:rPr lang="en-US" altLang="ko-KR" b="1" dirty="0" smtClean="0"/>
              <a:t>(4/6)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3" y="1411705"/>
            <a:ext cx="8883761" cy="673769"/>
          </a:xfrm>
        </p:spPr>
        <p:txBody>
          <a:bodyPr>
            <a:norm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Android</a:t>
            </a:r>
            <a:r>
              <a:rPr lang="ko-KR" altLang="en-US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에서의 </a:t>
            </a: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JNI</a:t>
            </a:r>
            <a:endParaRPr lang="en-US" altLang="ko-KR" sz="1600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2654193" y="2096984"/>
            <a:ext cx="5844282" cy="4273587"/>
            <a:chOff x="1387871" y="2096983"/>
            <a:chExt cx="5844282" cy="4273587"/>
          </a:xfrm>
        </p:grpSpPr>
        <p:grpSp>
          <p:nvGrpSpPr>
            <p:cNvPr id="5" name="Group 61"/>
            <p:cNvGrpSpPr/>
            <p:nvPr/>
          </p:nvGrpSpPr>
          <p:grpSpPr>
            <a:xfrm>
              <a:off x="1387872" y="3933056"/>
              <a:ext cx="5827885" cy="1402364"/>
              <a:chOff x="827584" y="3764198"/>
              <a:chExt cx="6410673" cy="1542600"/>
            </a:xfrm>
          </p:grpSpPr>
          <p:sp>
            <p:nvSpPr>
              <p:cNvPr id="47" name="Rectangle 6"/>
              <p:cNvSpPr/>
              <p:nvPr/>
            </p:nvSpPr>
            <p:spPr>
              <a:xfrm>
                <a:off x="827584" y="3798054"/>
                <a:ext cx="6410673" cy="1508744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grpSp>
            <p:nvGrpSpPr>
              <p:cNvPr id="48" name="Group 56"/>
              <p:cNvGrpSpPr/>
              <p:nvPr/>
            </p:nvGrpSpPr>
            <p:grpSpPr>
              <a:xfrm>
                <a:off x="1043608" y="4022686"/>
                <a:ext cx="3514526" cy="1155976"/>
                <a:chOff x="1043608" y="4022686"/>
                <a:chExt cx="3514526" cy="1155976"/>
              </a:xfrm>
            </p:grpSpPr>
            <p:sp>
              <p:nvSpPr>
                <p:cNvPr id="50" name="Rectangle 26"/>
                <p:cNvSpPr/>
                <p:nvPr/>
              </p:nvSpPr>
              <p:spPr>
                <a:xfrm>
                  <a:off x="1043608" y="4022686"/>
                  <a:ext cx="1001024" cy="337448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100000">
                      <a:schemeClr val="accent6">
                        <a:lumMod val="20000"/>
                        <a:lumOff val="80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Surface Manager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51" name="Rectangle 27"/>
                <p:cNvSpPr/>
                <p:nvPr/>
              </p:nvSpPr>
              <p:spPr>
                <a:xfrm>
                  <a:off x="2300359" y="4022686"/>
                  <a:ext cx="1001024" cy="337448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100000">
                      <a:schemeClr val="accent6">
                        <a:lumMod val="20000"/>
                        <a:lumOff val="80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Media Framework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52" name="Rectangle 28"/>
                <p:cNvSpPr/>
                <p:nvPr/>
              </p:nvSpPr>
              <p:spPr>
                <a:xfrm>
                  <a:off x="3557110" y="4022686"/>
                  <a:ext cx="1001024" cy="337448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100000">
                      <a:schemeClr val="accent6">
                        <a:lumMod val="20000"/>
                        <a:lumOff val="80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SQLite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53" name="Rectangle 29"/>
                <p:cNvSpPr/>
                <p:nvPr/>
              </p:nvSpPr>
              <p:spPr>
                <a:xfrm>
                  <a:off x="1043608" y="4435092"/>
                  <a:ext cx="1001024" cy="337448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100000">
                      <a:schemeClr val="accent6">
                        <a:lumMod val="20000"/>
                        <a:lumOff val="80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OpenGL ES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54" name="Rectangle 30"/>
                <p:cNvSpPr/>
                <p:nvPr/>
              </p:nvSpPr>
              <p:spPr>
                <a:xfrm>
                  <a:off x="2300359" y="4435092"/>
                  <a:ext cx="1001024" cy="337448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100000">
                      <a:schemeClr val="accent6">
                        <a:lumMod val="20000"/>
                        <a:lumOff val="80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FreeType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55" name="Rectangle 31"/>
                <p:cNvSpPr/>
                <p:nvPr/>
              </p:nvSpPr>
              <p:spPr>
                <a:xfrm>
                  <a:off x="3557110" y="4435092"/>
                  <a:ext cx="1001024" cy="337448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100000">
                      <a:schemeClr val="accent6">
                        <a:lumMod val="20000"/>
                        <a:lumOff val="80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Blink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56" name="Rectangle 35"/>
                <p:cNvSpPr/>
                <p:nvPr/>
              </p:nvSpPr>
              <p:spPr>
                <a:xfrm>
                  <a:off x="1043608" y="4841214"/>
                  <a:ext cx="1001024" cy="337448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100000">
                      <a:schemeClr val="accent6">
                        <a:lumMod val="20000"/>
                        <a:lumOff val="80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SGL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57" name="Rectangle 36"/>
                <p:cNvSpPr/>
                <p:nvPr/>
              </p:nvSpPr>
              <p:spPr>
                <a:xfrm>
                  <a:off x="2300359" y="4841214"/>
                  <a:ext cx="1001024" cy="337448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100000">
                      <a:schemeClr val="accent6">
                        <a:lumMod val="20000"/>
                        <a:lumOff val="80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SSL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58" name="Rectangle 37"/>
                <p:cNvSpPr/>
                <p:nvPr/>
              </p:nvSpPr>
              <p:spPr>
                <a:xfrm>
                  <a:off x="3557110" y="4841214"/>
                  <a:ext cx="1001024" cy="337448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100000">
                      <a:schemeClr val="accent6">
                        <a:lumMod val="20000"/>
                        <a:lumOff val="80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libc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sp>
            <p:nvSpPr>
              <p:cNvPr id="49" name="TextBox 48"/>
              <p:cNvSpPr txBox="1"/>
              <p:nvPr/>
            </p:nvSpPr>
            <p:spPr>
              <a:xfrm>
                <a:off x="1257402" y="3764198"/>
                <a:ext cx="3094386" cy="287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1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LIBRARIES</a:t>
                </a:r>
                <a:endPara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6" name="Group 5119"/>
            <p:cNvGrpSpPr/>
            <p:nvPr/>
          </p:nvGrpSpPr>
          <p:grpSpPr>
            <a:xfrm>
              <a:off x="1387872" y="2096983"/>
              <a:ext cx="5827885" cy="722714"/>
              <a:chOff x="827584" y="1841927"/>
              <a:chExt cx="6410673" cy="794985"/>
            </a:xfrm>
          </p:grpSpPr>
          <p:sp>
            <p:nvSpPr>
              <p:cNvPr id="39" name="Rectangle 2"/>
              <p:cNvSpPr/>
              <p:nvPr/>
            </p:nvSpPr>
            <p:spPr>
              <a:xfrm>
                <a:off x="827584" y="1844824"/>
                <a:ext cx="6410673" cy="79208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2808783" y="1841927"/>
                <a:ext cx="2448272" cy="287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1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APPLICATIONS</a:t>
                </a:r>
                <a:endPara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endParaRPr>
              </a:p>
            </p:txBody>
          </p:sp>
          <p:grpSp>
            <p:nvGrpSpPr>
              <p:cNvPr id="41" name="Group 53"/>
              <p:cNvGrpSpPr/>
              <p:nvPr/>
            </p:nvGrpSpPr>
            <p:grpSpPr>
              <a:xfrm>
                <a:off x="1043608" y="2132856"/>
                <a:ext cx="6028026" cy="337448"/>
                <a:chOff x="1043608" y="2132856"/>
                <a:chExt cx="6028026" cy="337448"/>
              </a:xfrm>
              <a:gradFill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16200000" scaled="1"/>
              </a:gradFill>
            </p:grpSpPr>
            <p:sp>
              <p:nvSpPr>
                <p:cNvPr id="42" name="Rectangle 9"/>
                <p:cNvSpPr/>
                <p:nvPr/>
              </p:nvSpPr>
              <p:spPr>
                <a:xfrm>
                  <a:off x="1043608" y="2132856"/>
                  <a:ext cx="1001024" cy="337448"/>
                </a:xfrm>
                <a:prstGeom prst="rect">
                  <a:avLst/>
                </a:prstGeom>
                <a:grp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Home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43" name="Rectangle 11"/>
                <p:cNvSpPr/>
                <p:nvPr/>
              </p:nvSpPr>
              <p:spPr>
                <a:xfrm>
                  <a:off x="2300359" y="2132856"/>
                  <a:ext cx="1001024" cy="337448"/>
                </a:xfrm>
                <a:prstGeom prst="rect">
                  <a:avLst/>
                </a:prstGeom>
                <a:grp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Contacts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44" name="Rectangle 12"/>
                <p:cNvSpPr/>
                <p:nvPr/>
              </p:nvSpPr>
              <p:spPr>
                <a:xfrm>
                  <a:off x="3557110" y="2132856"/>
                  <a:ext cx="1001024" cy="337448"/>
                </a:xfrm>
                <a:prstGeom prst="rect">
                  <a:avLst/>
                </a:prstGeom>
                <a:grp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Phone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45" name="Rectangle 13"/>
                <p:cNvSpPr/>
                <p:nvPr/>
              </p:nvSpPr>
              <p:spPr>
                <a:xfrm>
                  <a:off x="4813861" y="2132856"/>
                  <a:ext cx="1001024" cy="337448"/>
                </a:xfrm>
                <a:prstGeom prst="rect">
                  <a:avLst/>
                </a:prstGeom>
                <a:grp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Browser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46" name="Rectangle 14"/>
                <p:cNvSpPr/>
                <p:nvPr/>
              </p:nvSpPr>
              <p:spPr>
                <a:xfrm>
                  <a:off x="6070610" y="2132856"/>
                  <a:ext cx="1001024" cy="337448"/>
                </a:xfrm>
                <a:prstGeom prst="rect">
                  <a:avLst/>
                </a:prstGeom>
                <a:grp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…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</p:grpSp>
        <p:grpSp>
          <p:nvGrpSpPr>
            <p:cNvPr id="7" name="Group 62"/>
            <p:cNvGrpSpPr/>
            <p:nvPr/>
          </p:nvGrpSpPr>
          <p:grpSpPr>
            <a:xfrm>
              <a:off x="1387872" y="2849452"/>
              <a:ext cx="5827885" cy="1001086"/>
              <a:chOff x="827584" y="2651656"/>
              <a:chExt cx="6410673" cy="1101195"/>
            </a:xfrm>
          </p:grpSpPr>
          <p:sp>
            <p:nvSpPr>
              <p:cNvPr id="27" name="Rectangle 5"/>
              <p:cNvSpPr/>
              <p:nvPr/>
            </p:nvSpPr>
            <p:spPr>
              <a:xfrm>
                <a:off x="827584" y="2676525"/>
                <a:ext cx="6410673" cy="1076326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grpSp>
            <p:nvGrpSpPr>
              <p:cNvPr id="28" name="Group 54"/>
              <p:cNvGrpSpPr/>
              <p:nvPr/>
            </p:nvGrpSpPr>
            <p:grpSpPr>
              <a:xfrm>
                <a:off x="1043608" y="2907314"/>
                <a:ext cx="6038086" cy="755656"/>
                <a:chOff x="1043608" y="2907314"/>
                <a:chExt cx="6038086" cy="755656"/>
              </a:xfrm>
            </p:grpSpPr>
            <p:sp>
              <p:nvSpPr>
                <p:cNvPr id="30" name="Rectangle 15"/>
                <p:cNvSpPr/>
                <p:nvPr/>
              </p:nvSpPr>
              <p:spPr>
                <a:xfrm>
                  <a:off x="1043608" y="3325522"/>
                  <a:ext cx="1001024" cy="337448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Package Manager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31" name="Rectangle 16"/>
                <p:cNvSpPr/>
                <p:nvPr/>
              </p:nvSpPr>
              <p:spPr>
                <a:xfrm>
                  <a:off x="2300359" y="3325522"/>
                  <a:ext cx="1001024" cy="337448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Telephony Manager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32" name="Rectangle 17"/>
                <p:cNvSpPr/>
                <p:nvPr/>
              </p:nvSpPr>
              <p:spPr>
                <a:xfrm>
                  <a:off x="3557110" y="3325522"/>
                  <a:ext cx="1001024" cy="337448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Resource Manager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33" name="Rectangle 18"/>
                <p:cNvSpPr/>
                <p:nvPr/>
              </p:nvSpPr>
              <p:spPr>
                <a:xfrm>
                  <a:off x="4813861" y="3325522"/>
                  <a:ext cx="1001024" cy="337448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Location Manager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34" name="Rectangle 19"/>
                <p:cNvSpPr/>
                <p:nvPr/>
              </p:nvSpPr>
              <p:spPr>
                <a:xfrm>
                  <a:off x="6060550" y="3325522"/>
                  <a:ext cx="1021144" cy="337448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Notification Manager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35" name="Rectangle 20"/>
                <p:cNvSpPr/>
                <p:nvPr/>
              </p:nvSpPr>
              <p:spPr>
                <a:xfrm>
                  <a:off x="1619672" y="2907314"/>
                  <a:ext cx="1001024" cy="337448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Activity Manager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36" name="Rectangle 21"/>
                <p:cNvSpPr/>
                <p:nvPr/>
              </p:nvSpPr>
              <p:spPr>
                <a:xfrm>
                  <a:off x="2876423" y="2907314"/>
                  <a:ext cx="1001024" cy="337448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Window Manager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37" name="Rectangle 22"/>
                <p:cNvSpPr/>
                <p:nvPr/>
              </p:nvSpPr>
              <p:spPr>
                <a:xfrm>
                  <a:off x="4133174" y="2907314"/>
                  <a:ext cx="1001024" cy="337448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spc="-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Content Provider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38" name="Rectangle 23"/>
                <p:cNvSpPr/>
                <p:nvPr/>
              </p:nvSpPr>
              <p:spPr>
                <a:xfrm>
                  <a:off x="5389925" y="2907314"/>
                  <a:ext cx="1001024" cy="337448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View System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sp>
            <p:nvSpPr>
              <p:cNvPr id="29" name="TextBox 28"/>
              <p:cNvSpPr txBox="1"/>
              <p:nvPr/>
            </p:nvSpPr>
            <p:spPr>
              <a:xfrm>
                <a:off x="2485726" y="2651656"/>
                <a:ext cx="3094386" cy="287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1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APPLICATION  FRAMEWORK</a:t>
                </a:r>
                <a:endPara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8" name="Group 60"/>
            <p:cNvGrpSpPr/>
            <p:nvPr/>
          </p:nvGrpSpPr>
          <p:grpSpPr>
            <a:xfrm>
              <a:off x="4907543" y="3943814"/>
              <a:ext cx="2274963" cy="1078441"/>
              <a:chOff x="4752975" y="3764198"/>
              <a:chExt cx="2502459" cy="1186285"/>
            </a:xfrm>
          </p:grpSpPr>
          <p:sp>
            <p:nvSpPr>
              <p:cNvPr id="22" name="Rectangle 40"/>
              <p:cNvSpPr/>
              <p:nvPr/>
            </p:nvSpPr>
            <p:spPr>
              <a:xfrm>
                <a:off x="4752975" y="3779005"/>
                <a:ext cx="2502459" cy="1171478"/>
              </a:xfrm>
              <a:prstGeom prst="rect">
                <a:avLst/>
              </a:prstGeom>
              <a:gradFill>
                <a:gsLst>
                  <a:gs pos="0">
                    <a:srgbClr val="E8F668"/>
                  </a:gs>
                  <a:gs pos="100000">
                    <a:srgbClr val="CAD355"/>
                  </a:gs>
                </a:gsLst>
                <a:lin ang="5400000" scaled="1"/>
              </a:gra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grpSp>
            <p:nvGrpSpPr>
              <p:cNvPr id="23" name="Group 57"/>
              <p:cNvGrpSpPr/>
              <p:nvPr/>
            </p:nvGrpSpPr>
            <p:grpSpPr>
              <a:xfrm>
                <a:off x="5512938" y="4022686"/>
                <a:ext cx="1001024" cy="749854"/>
                <a:chOff x="5512938" y="4022686"/>
                <a:chExt cx="1001024" cy="749854"/>
              </a:xfrm>
              <a:gradFill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16200000" scaled="1"/>
              </a:gradFill>
            </p:grpSpPr>
            <p:sp>
              <p:nvSpPr>
                <p:cNvPr id="25" name="Rectangle 38"/>
                <p:cNvSpPr/>
                <p:nvPr/>
              </p:nvSpPr>
              <p:spPr>
                <a:xfrm>
                  <a:off x="5512938" y="4022686"/>
                  <a:ext cx="1001024" cy="337448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20000"/>
                        <a:lumOff val="80000"/>
                      </a:schemeClr>
                    </a:gs>
                  </a:gsLst>
                  <a:lin ang="16200000" scaled="1"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Core Libraries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26" name="Rectangle 39"/>
                <p:cNvSpPr/>
                <p:nvPr/>
              </p:nvSpPr>
              <p:spPr>
                <a:xfrm>
                  <a:off x="5512938" y="4435092"/>
                  <a:ext cx="1001024" cy="337448"/>
                </a:xfrm>
                <a:prstGeom prst="rect">
                  <a:avLst/>
                </a:prstGeom>
                <a:gradFill>
                  <a:gsLst>
                    <a:gs pos="0">
                      <a:srgbClr val="CAD355"/>
                    </a:gs>
                    <a:gs pos="100000">
                      <a:srgbClr val="F1F9A1"/>
                    </a:gs>
                  </a:gsLst>
                  <a:lin ang="16200000" scaled="1"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ART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sp>
            <p:nvSpPr>
              <p:cNvPr id="24" name="TextBox 23"/>
              <p:cNvSpPr txBox="1"/>
              <p:nvPr/>
            </p:nvSpPr>
            <p:spPr>
              <a:xfrm>
                <a:off x="4874746" y="3764198"/>
                <a:ext cx="2277408" cy="287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1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ANDROID RUNTIME</a:t>
                </a:r>
                <a:endPara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9" name="Group 59"/>
            <p:cNvGrpSpPr/>
            <p:nvPr/>
          </p:nvGrpSpPr>
          <p:grpSpPr>
            <a:xfrm>
              <a:off x="1387871" y="5339185"/>
              <a:ext cx="5827885" cy="1031385"/>
              <a:chOff x="827583" y="5309932"/>
              <a:chExt cx="6410673" cy="1134524"/>
            </a:xfrm>
          </p:grpSpPr>
          <p:sp>
            <p:nvSpPr>
              <p:cNvPr id="11" name="Rectangle 7"/>
              <p:cNvSpPr/>
              <p:nvPr/>
            </p:nvSpPr>
            <p:spPr>
              <a:xfrm>
                <a:off x="827583" y="5352001"/>
                <a:ext cx="6410673" cy="1092455"/>
              </a:xfrm>
              <a:prstGeom prst="rect">
                <a:avLst/>
              </a:prstGeom>
              <a:gradFill>
                <a:gsLst>
                  <a:gs pos="0">
                    <a:srgbClr val="F9BDEC"/>
                  </a:gs>
                  <a:gs pos="100000">
                    <a:srgbClr val="D27CC0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/>
              </a:p>
            </p:txBody>
          </p:sp>
          <p:grpSp>
            <p:nvGrpSpPr>
              <p:cNvPr id="12" name="Group 58"/>
              <p:cNvGrpSpPr/>
              <p:nvPr/>
            </p:nvGrpSpPr>
            <p:grpSpPr>
              <a:xfrm>
                <a:off x="1043608" y="5572083"/>
                <a:ext cx="6022537" cy="757312"/>
                <a:chOff x="1043608" y="5572083"/>
                <a:chExt cx="6022537" cy="757312"/>
              </a:xfrm>
            </p:grpSpPr>
            <p:sp>
              <p:nvSpPr>
                <p:cNvPr id="14" name="Rectangle 41"/>
                <p:cNvSpPr/>
                <p:nvPr/>
              </p:nvSpPr>
              <p:spPr>
                <a:xfrm>
                  <a:off x="1043608" y="5572083"/>
                  <a:ext cx="1001024" cy="337448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D27CC0"/>
                    </a:gs>
                    <a:gs pos="100000">
                      <a:srgbClr val="F9BDEC"/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Display Driver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15" name="Rectangle 42"/>
                <p:cNvSpPr/>
                <p:nvPr/>
              </p:nvSpPr>
              <p:spPr>
                <a:xfrm>
                  <a:off x="2717446" y="5572083"/>
                  <a:ext cx="1001024" cy="337448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D27CC0"/>
                    </a:gs>
                    <a:gs pos="100000">
                      <a:srgbClr val="F9BDEC"/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Camera Driver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16" name="Rectangle 43"/>
                <p:cNvSpPr/>
                <p:nvPr/>
              </p:nvSpPr>
              <p:spPr>
                <a:xfrm>
                  <a:off x="4391284" y="5572083"/>
                  <a:ext cx="1001024" cy="337448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D27CC0"/>
                    </a:gs>
                    <a:gs pos="100000">
                      <a:srgbClr val="F9BDEC"/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spc="-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Flash Memory </a:t>
                  </a:r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Driver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17" name="Rectangle 44"/>
                <p:cNvSpPr/>
                <p:nvPr/>
              </p:nvSpPr>
              <p:spPr>
                <a:xfrm>
                  <a:off x="6065121" y="5572083"/>
                  <a:ext cx="1001024" cy="337448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D27CC0"/>
                    </a:gs>
                    <a:gs pos="100000">
                      <a:srgbClr val="F9BDEC"/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Binder (IPC) Driver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18" name="Rectangle 45"/>
                <p:cNvSpPr/>
                <p:nvPr/>
              </p:nvSpPr>
              <p:spPr>
                <a:xfrm>
                  <a:off x="1043608" y="5991947"/>
                  <a:ext cx="1001024" cy="337448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D27CC0"/>
                    </a:gs>
                    <a:gs pos="100000">
                      <a:srgbClr val="F9BDEC"/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Keypad Driver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19" name="Rectangle 46"/>
                <p:cNvSpPr/>
                <p:nvPr/>
              </p:nvSpPr>
              <p:spPr>
                <a:xfrm>
                  <a:off x="2717446" y="5991947"/>
                  <a:ext cx="1001024" cy="337448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D27CC0"/>
                    </a:gs>
                    <a:gs pos="100000">
                      <a:srgbClr val="F9BDEC"/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 err="1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WiFi</a:t>
                  </a:r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 Driver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20" name="Rectangle 47"/>
                <p:cNvSpPr/>
                <p:nvPr/>
              </p:nvSpPr>
              <p:spPr>
                <a:xfrm>
                  <a:off x="4391284" y="5991947"/>
                  <a:ext cx="1001024" cy="337448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D27CC0"/>
                    </a:gs>
                    <a:gs pos="100000">
                      <a:srgbClr val="F9BDEC"/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spc="-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Audio </a:t>
                  </a:r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Drivers</a:t>
                  </a:r>
                  <a:endParaRPr lang="ko-KR" altLang="en-US" sz="1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21" name="Rectangle 48"/>
                <p:cNvSpPr/>
                <p:nvPr/>
              </p:nvSpPr>
              <p:spPr>
                <a:xfrm>
                  <a:off x="6065121" y="5991947"/>
                  <a:ext cx="1001024" cy="337448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D27CC0"/>
                    </a:gs>
                    <a:gs pos="100000">
                      <a:srgbClr val="F9BDEC"/>
                    </a:gs>
                  </a:gsLst>
                  <a:lin ang="16200000" scaled="1"/>
                  <a:tileRect/>
                </a:gra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Power</a:t>
                  </a:r>
                  <a:br>
                    <a:rPr lang="en-US" altLang="ko-KR" sz="1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</a:br>
                  <a:r>
                    <a:rPr lang="en-US" altLang="ko-KR" sz="1100" spc="-1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rPr>
                    <a:t>Management</a:t>
                  </a:r>
                  <a:endParaRPr lang="ko-KR" altLang="en-US" sz="1100" spc="-1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sp>
            <p:nvSpPr>
              <p:cNvPr id="13" name="TextBox 12"/>
              <p:cNvSpPr txBox="1"/>
              <p:nvPr/>
            </p:nvSpPr>
            <p:spPr>
              <a:xfrm>
                <a:off x="2485726" y="5309932"/>
                <a:ext cx="3094386" cy="287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1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j-ea"/>
                    <a:ea typeface="+mj-ea"/>
                  </a:rPr>
                  <a:t>LINUX KERNEL</a:t>
                </a:r>
                <a:endPara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10" name="Rectangle 5120"/>
            <p:cNvSpPr/>
            <p:nvPr/>
          </p:nvSpPr>
          <p:spPr>
            <a:xfrm>
              <a:off x="1388652" y="2096984"/>
              <a:ext cx="5843501" cy="4273586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2639537" y="2094630"/>
            <a:ext cx="5861004" cy="1767662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/>
          <p:cNvSpPr/>
          <p:nvPr/>
        </p:nvSpPr>
        <p:spPr>
          <a:xfrm>
            <a:off x="2647669" y="3947056"/>
            <a:ext cx="5861004" cy="2430430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1850285" y="2645200"/>
            <a:ext cx="7672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b="1" dirty="0">
                <a:solidFill>
                  <a:schemeClr val="accent2"/>
                </a:solidFill>
                <a:latin typeface="+mj-ea"/>
                <a:ea typeface="+mj-ea"/>
              </a:rPr>
              <a:t>Java</a:t>
            </a:r>
          </a:p>
          <a:p>
            <a:pPr algn="r"/>
            <a:r>
              <a:rPr lang="en-US" altLang="ko-KR" b="1" dirty="0">
                <a:solidFill>
                  <a:schemeClr val="accent2"/>
                </a:solidFill>
                <a:latin typeface="+mj-ea"/>
                <a:ea typeface="+mj-ea"/>
              </a:rPr>
              <a:t>Layer</a:t>
            </a:r>
            <a:endParaRPr lang="ko-KR" altLang="en-US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703513" y="4743332"/>
            <a:ext cx="9140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b="1" dirty="0">
                <a:solidFill>
                  <a:schemeClr val="accent4"/>
                </a:solidFill>
                <a:latin typeface="+mj-ea"/>
                <a:ea typeface="+mj-ea"/>
              </a:rPr>
              <a:t>C/C++</a:t>
            </a:r>
          </a:p>
          <a:p>
            <a:pPr algn="r"/>
            <a:r>
              <a:rPr lang="en-US" altLang="ko-KR" b="1" dirty="0">
                <a:solidFill>
                  <a:schemeClr val="accent4"/>
                </a:solidFill>
                <a:latin typeface="+mj-ea"/>
                <a:ea typeface="+mj-ea"/>
              </a:rPr>
              <a:t>Layer</a:t>
            </a:r>
            <a:endParaRPr lang="ko-KR" altLang="en-US" b="1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63" name="자유형 62"/>
          <p:cNvSpPr/>
          <p:nvPr/>
        </p:nvSpPr>
        <p:spPr>
          <a:xfrm>
            <a:off x="8508538" y="2925094"/>
            <a:ext cx="786173" cy="2016075"/>
          </a:xfrm>
          <a:custGeom>
            <a:avLst/>
            <a:gdLst>
              <a:gd name="connsiteX0" fmla="*/ 0 w 714703"/>
              <a:gd name="connsiteY0" fmla="*/ 0 h 2217683"/>
              <a:gd name="connsiteX1" fmla="*/ 714703 w 714703"/>
              <a:gd name="connsiteY1" fmla="*/ 0 h 2217683"/>
              <a:gd name="connsiteX2" fmla="*/ 714703 w 714703"/>
              <a:gd name="connsiteY2" fmla="*/ 2217683 h 2217683"/>
              <a:gd name="connsiteX3" fmla="*/ 0 w 714703"/>
              <a:gd name="connsiteY3" fmla="*/ 2217683 h 2217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703" h="2217683">
                <a:moveTo>
                  <a:pt x="0" y="0"/>
                </a:moveTo>
                <a:lnTo>
                  <a:pt x="714703" y="0"/>
                </a:lnTo>
                <a:lnTo>
                  <a:pt x="714703" y="2217683"/>
                </a:lnTo>
                <a:lnTo>
                  <a:pt x="0" y="2217683"/>
                </a:lnTo>
              </a:path>
            </a:pathLst>
          </a:custGeom>
          <a:noFill/>
          <a:ln w="571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/>
          <p:cNvSpPr txBox="1"/>
          <p:nvPr/>
        </p:nvSpPr>
        <p:spPr>
          <a:xfrm>
            <a:off x="9019348" y="3748211"/>
            <a:ext cx="540533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FF6161"/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b="1" dirty="0">
                <a:solidFill>
                  <a:srgbClr val="FF6161"/>
                </a:solidFill>
                <a:latin typeface="+mj-ea"/>
                <a:ea typeface="+mj-ea"/>
              </a:rPr>
              <a:t>JNI</a:t>
            </a:r>
            <a:endParaRPr lang="ko-KR" altLang="en-US" b="1" dirty="0">
              <a:solidFill>
                <a:srgbClr val="FF6161"/>
              </a:solidFill>
              <a:latin typeface="+mj-ea"/>
              <a:ea typeface="+mj-ea"/>
            </a:endParaRPr>
          </a:p>
        </p:txBody>
      </p:sp>
      <p:sp>
        <p:nvSpPr>
          <p:cNvPr id="68" name="슬라이드 번호 개체 틀 6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489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0" grpId="0" animBg="1"/>
      <p:bldP spid="61" grpId="0"/>
      <p:bldP spid="62" grpId="0"/>
      <p:bldP spid="63" grpId="0" animBg="1"/>
      <p:bldP spid="6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JNI</a:t>
            </a:r>
            <a:r>
              <a:rPr lang="ko-KR" altLang="en-US" b="1" dirty="0" smtClean="0"/>
              <a:t>의 개념 </a:t>
            </a:r>
            <a:r>
              <a:rPr lang="en-US" altLang="ko-KR" b="1" dirty="0" smtClean="0"/>
              <a:t>(5/6)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3" y="1411704"/>
            <a:ext cx="8883761" cy="2847937"/>
          </a:xfrm>
        </p:spPr>
        <p:txBody>
          <a:bodyPr>
            <a:normAutofit fontScale="92500" lnSpcReduction="20000"/>
          </a:bodyPr>
          <a:lstStyle/>
          <a:p>
            <a:pPr fontAlgn="auto">
              <a:lnSpc>
                <a:spcPct val="150000"/>
              </a:lnSpc>
            </a:pP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JNI </a:t>
            </a:r>
            <a:r>
              <a:rPr lang="ko-KR" altLang="en-US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활용</a:t>
            </a:r>
            <a:endParaRPr lang="en-US" altLang="ko-KR" sz="1600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 fontAlgn="auto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Java Program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에서 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C 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기반의 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Library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를 사용하고 싶은 경우</a:t>
            </a: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 fontAlgn="auto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C Program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에서 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Java Class Library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를 사용하고 싶은 </a:t>
            </a:r>
            <a:r>
              <a:rPr lang="ko-KR" altLang="en-US" sz="18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경우</a:t>
            </a:r>
            <a:endParaRPr lang="en-US" altLang="ko-KR" sz="1800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 fontAlgn="auto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8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빠른 처리 속도를 위한 프로그램</a:t>
            </a:r>
            <a:endParaRPr lang="en-US" altLang="ko-KR" sz="1800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 fontAlgn="auto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8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하드웨어 제어</a:t>
            </a:r>
            <a:endParaRPr lang="en-US" altLang="ko-KR" sz="1800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 fontAlgn="auto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8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기존 </a:t>
            </a:r>
            <a:r>
              <a:rPr lang="en-US" altLang="ko-KR" sz="18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C/C++ </a:t>
            </a:r>
            <a:r>
              <a:rPr lang="ko-KR" altLang="en-US" sz="18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프로그램의 재사용</a:t>
            </a: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457200" lvl="1" indent="0">
              <a:buNone/>
            </a:pP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pSp>
        <p:nvGrpSpPr>
          <p:cNvPr id="65" name="그룹 64"/>
          <p:cNvGrpSpPr/>
          <p:nvPr/>
        </p:nvGrpSpPr>
        <p:grpSpPr>
          <a:xfrm>
            <a:off x="2421126" y="4391324"/>
            <a:ext cx="5109084" cy="2086982"/>
            <a:chOff x="1115616" y="3789040"/>
            <a:chExt cx="6336704" cy="2588446"/>
          </a:xfrm>
        </p:grpSpPr>
        <p:grpSp>
          <p:nvGrpSpPr>
            <p:cNvPr id="66" name="그룹 65"/>
            <p:cNvGrpSpPr/>
            <p:nvPr/>
          </p:nvGrpSpPr>
          <p:grpSpPr>
            <a:xfrm>
              <a:off x="3646205" y="4486073"/>
              <a:ext cx="1275525" cy="1607223"/>
              <a:chOff x="3656515" y="4491226"/>
              <a:chExt cx="1275525" cy="1607223"/>
            </a:xfrm>
          </p:grpSpPr>
          <p:sp>
            <p:nvSpPr>
              <p:cNvPr id="83" name="직사각형 82"/>
              <p:cNvSpPr/>
              <p:nvPr/>
            </p:nvSpPr>
            <p:spPr>
              <a:xfrm>
                <a:off x="3656515" y="4491226"/>
                <a:ext cx="1275525" cy="1607223"/>
              </a:xfrm>
              <a:prstGeom prst="rect">
                <a:avLst/>
              </a:prstGeom>
              <a:solidFill>
                <a:srgbClr val="FFCDCD"/>
              </a:solidFill>
              <a:ln w="38100">
                <a:solidFill>
                  <a:srgbClr val="FF616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4024011" y="5085184"/>
                <a:ext cx="5405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b="1" dirty="0">
                    <a:solidFill>
                      <a:srgbClr val="FF6161"/>
                    </a:solidFill>
                    <a:latin typeface="+mj-ea"/>
                    <a:ea typeface="+mj-ea"/>
                  </a:rPr>
                  <a:t>JNI</a:t>
                </a:r>
              </a:p>
            </p:txBody>
          </p:sp>
        </p:grpSp>
        <p:grpSp>
          <p:nvGrpSpPr>
            <p:cNvPr id="67" name="그룹 66"/>
            <p:cNvGrpSpPr/>
            <p:nvPr/>
          </p:nvGrpSpPr>
          <p:grpSpPr>
            <a:xfrm>
              <a:off x="1115616" y="3789040"/>
              <a:ext cx="2054247" cy="2588446"/>
              <a:chOff x="1115616" y="3789040"/>
              <a:chExt cx="2054247" cy="2588446"/>
            </a:xfrm>
          </p:grpSpPr>
          <p:sp>
            <p:nvSpPr>
              <p:cNvPr id="79" name="직사각형 78"/>
              <p:cNvSpPr/>
              <p:nvPr/>
            </p:nvSpPr>
            <p:spPr>
              <a:xfrm>
                <a:off x="1115616" y="3789040"/>
                <a:ext cx="2054247" cy="2588446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0" name="TextBox 79"/>
              <p:cNvSpPr txBox="1"/>
              <p:nvPr/>
            </p:nvSpPr>
            <p:spPr>
              <a:xfrm>
                <a:off x="1976668" y="3856402"/>
                <a:ext cx="332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b="1" dirty="0">
                    <a:solidFill>
                      <a:schemeClr val="accent4"/>
                    </a:solidFill>
                    <a:latin typeface="+mj-ea"/>
                    <a:ea typeface="+mj-ea"/>
                  </a:rPr>
                  <a:t>C</a:t>
                </a:r>
              </a:p>
            </p:txBody>
          </p:sp>
          <p:sp>
            <p:nvSpPr>
              <p:cNvPr id="81" name="직사각형 80"/>
              <p:cNvSpPr/>
              <p:nvPr/>
            </p:nvSpPr>
            <p:spPr>
              <a:xfrm>
                <a:off x="1293877" y="4725144"/>
                <a:ext cx="1697725" cy="46555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Functions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직사각형 81"/>
              <p:cNvSpPr/>
              <p:nvPr/>
            </p:nvSpPr>
            <p:spPr>
              <a:xfrm>
                <a:off x="1293877" y="5470997"/>
                <a:ext cx="1697725" cy="46555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Libraries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8" name="그룹 67"/>
            <p:cNvGrpSpPr/>
            <p:nvPr/>
          </p:nvGrpSpPr>
          <p:grpSpPr>
            <a:xfrm>
              <a:off x="5398073" y="3789452"/>
              <a:ext cx="2054247" cy="2588034"/>
              <a:chOff x="5398073" y="3789040"/>
              <a:chExt cx="2054247" cy="2588034"/>
            </a:xfrm>
          </p:grpSpPr>
          <p:sp>
            <p:nvSpPr>
              <p:cNvPr id="74" name="직사각형 73"/>
              <p:cNvSpPr/>
              <p:nvPr/>
            </p:nvSpPr>
            <p:spPr>
              <a:xfrm>
                <a:off x="5398073" y="3789040"/>
                <a:ext cx="2054247" cy="258803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" name="TextBox 74"/>
              <p:cNvSpPr txBox="1"/>
              <p:nvPr/>
            </p:nvSpPr>
            <p:spPr>
              <a:xfrm>
                <a:off x="6099691" y="3856402"/>
                <a:ext cx="651011" cy="3693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b="1" dirty="0">
                    <a:solidFill>
                      <a:schemeClr val="accent2"/>
                    </a:solidFill>
                    <a:latin typeface="+mj-ea"/>
                    <a:ea typeface="+mj-ea"/>
                  </a:rPr>
                  <a:t>Java</a:t>
                </a:r>
              </a:p>
            </p:txBody>
          </p:sp>
          <p:sp>
            <p:nvSpPr>
              <p:cNvPr id="76" name="직사각형 75"/>
              <p:cNvSpPr/>
              <p:nvPr/>
            </p:nvSpPr>
            <p:spPr>
              <a:xfrm>
                <a:off x="5576334" y="4446060"/>
                <a:ext cx="1697725" cy="46555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Exceptions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직사각형 76"/>
              <p:cNvSpPr/>
              <p:nvPr/>
            </p:nvSpPr>
            <p:spPr>
              <a:xfrm>
                <a:off x="5576334" y="5646987"/>
                <a:ext cx="1697725" cy="46555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VM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직사각형 77"/>
              <p:cNvSpPr/>
              <p:nvPr/>
            </p:nvSpPr>
            <p:spPr>
              <a:xfrm>
                <a:off x="5576334" y="5056031"/>
                <a:ext cx="1697725" cy="46555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Classes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69" name="직선 화살표 연결선 68"/>
            <p:cNvCxnSpPr>
              <a:stCxn id="81" idx="3"/>
              <a:endCxn id="83" idx="1"/>
            </p:cNvCxnSpPr>
            <p:nvPr/>
          </p:nvCxnSpPr>
          <p:spPr>
            <a:xfrm>
              <a:off x="2991602" y="4957922"/>
              <a:ext cx="654603" cy="331763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화살표 연결선 69"/>
            <p:cNvCxnSpPr>
              <a:endCxn id="83" idx="1"/>
            </p:cNvCxnSpPr>
            <p:nvPr/>
          </p:nvCxnSpPr>
          <p:spPr>
            <a:xfrm flipV="1">
              <a:off x="2991602" y="5289685"/>
              <a:ext cx="654603" cy="414089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화살표 연결선 70"/>
            <p:cNvCxnSpPr>
              <a:stCxn id="83" idx="3"/>
              <a:endCxn id="78" idx="1"/>
            </p:cNvCxnSpPr>
            <p:nvPr/>
          </p:nvCxnSpPr>
          <p:spPr>
            <a:xfrm flipV="1">
              <a:off x="4921730" y="5289221"/>
              <a:ext cx="654604" cy="46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화살표 연결선 71"/>
            <p:cNvCxnSpPr>
              <a:stCxn id="83" idx="3"/>
              <a:endCxn id="77" idx="1"/>
            </p:cNvCxnSpPr>
            <p:nvPr/>
          </p:nvCxnSpPr>
          <p:spPr>
            <a:xfrm>
              <a:off x="4921730" y="5289685"/>
              <a:ext cx="654604" cy="59049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화살표 연결선 72"/>
            <p:cNvCxnSpPr>
              <a:stCxn id="83" idx="3"/>
            </p:cNvCxnSpPr>
            <p:nvPr/>
          </p:nvCxnSpPr>
          <p:spPr>
            <a:xfrm flipV="1">
              <a:off x="4921730" y="4731799"/>
              <a:ext cx="654604" cy="55788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142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JNI</a:t>
            </a:r>
            <a:r>
              <a:rPr lang="ko-KR" altLang="en-US" b="1" dirty="0" smtClean="0"/>
              <a:t>의 개념 </a:t>
            </a:r>
            <a:r>
              <a:rPr lang="en-US" altLang="ko-KR" b="1" dirty="0" smtClean="0"/>
              <a:t>(6/6)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3" y="1411704"/>
            <a:ext cx="8883761" cy="2847937"/>
          </a:xfrm>
        </p:spPr>
        <p:txBody>
          <a:bodyPr>
            <a:norm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ko-KR" sz="2000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JNI</a:t>
            </a:r>
            <a:r>
              <a:rPr lang="ko-KR" altLang="en-US" sz="2000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의 </a:t>
            </a:r>
            <a:r>
              <a:rPr lang="en-US" altLang="ko-KR" sz="2000" b="1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Type</a:t>
            </a: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2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5422831"/>
              </p:ext>
            </p:extLst>
          </p:nvPr>
        </p:nvGraphicFramePr>
        <p:xfrm>
          <a:off x="1917903" y="2189374"/>
          <a:ext cx="6912768" cy="371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 smtClean="0">
                          <a:latin typeface="+mj-ea"/>
                          <a:ea typeface="+mj-ea"/>
                        </a:rPr>
                        <a:t>Java</a:t>
                      </a:r>
                      <a:endParaRPr lang="ko-KR" altLang="en-US" sz="2000" b="1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 smtClean="0">
                          <a:latin typeface="+mj-ea"/>
                          <a:ea typeface="+mj-ea"/>
                        </a:rPr>
                        <a:t>JNI</a:t>
                      </a:r>
                      <a:r>
                        <a:rPr lang="en-US" altLang="ko-KR" sz="1800" b="1" dirty="0" smtClean="0">
                          <a:latin typeface="+mj-ea"/>
                          <a:ea typeface="+mj-ea"/>
                        </a:rPr>
                        <a:t>(C)</a:t>
                      </a:r>
                      <a:endParaRPr lang="ko-KR" altLang="en-US" sz="2000" b="1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 smtClean="0">
                          <a:latin typeface="+mj-ea"/>
                          <a:ea typeface="+mj-ea"/>
                        </a:rPr>
                        <a:t> JNI</a:t>
                      </a:r>
                      <a:r>
                        <a:rPr lang="en-US" altLang="ko-KR" sz="1600" b="1" dirty="0" smtClean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600" b="1" dirty="0" smtClean="0">
                          <a:latin typeface="+mj-ea"/>
                          <a:ea typeface="+mj-ea"/>
                        </a:rPr>
                        <a:t>배열</a:t>
                      </a:r>
                      <a:r>
                        <a:rPr lang="en-US" altLang="ko-KR" sz="1600" b="1" dirty="0" smtClean="0">
                          <a:latin typeface="+mj-ea"/>
                          <a:ea typeface="+mj-ea"/>
                        </a:rPr>
                        <a:t>)</a:t>
                      </a:r>
                      <a:endParaRPr lang="ko-KR" altLang="en-US" sz="2000" b="1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>
                          <a:latin typeface="+mj-ea"/>
                          <a:ea typeface="+mj-ea"/>
                        </a:rPr>
                        <a:t>boolean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>
                          <a:latin typeface="+mj-ea"/>
                          <a:ea typeface="+mj-ea"/>
                        </a:rPr>
                        <a:t>jboolean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>
                          <a:latin typeface="+mj-ea"/>
                          <a:ea typeface="+mj-ea"/>
                        </a:rPr>
                        <a:t>jbooleanArray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j-ea"/>
                          <a:ea typeface="+mj-ea"/>
                        </a:rPr>
                        <a:t>byte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>
                          <a:latin typeface="+mj-ea"/>
                          <a:ea typeface="+mj-ea"/>
                        </a:rPr>
                        <a:t>jbyte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>
                          <a:latin typeface="+mj-ea"/>
                          <a:ea typeface="+mj-ea"/>
                        </a:rPr>
                        <a:t>jbyteArray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j-ea"/>
                          <a:ea typeface="+mj-ea"/>
                        </a:rPr>
                        <a:t>char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>
                          <a:latin typeface="+mj-ea"/>
                          <a:ea typeface="+mj-ea"/>
                        </a:rPr>
                        <a:t>jchar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>
                          <a:latin typeface="+mj-ea"/>
                          <a:ea typeface="+mj-ea"/>
                        </a:rPr>
                        <a:t>jcharArray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j-ea"/>
                          <a:ea typeface="+mj-ea"/>
                        </a:rPr>
                        <a:t>short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>
                          <a:latin typeface="+mj-ea"/>
                          <a:ea typeface="+mj-ea"/>
                        </a:rPr>
                        <a:t>jshort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>
                          <a:latin typeface="+mj-ea"/>
                          <a:ea typeface="+mj-ea"/>
                        </a:rPr>
                        <a:t>jshortArray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>
                          <a:latin typeface="+mj-ea"/>
                          <a:ea typeface="+mj-ea"/>
                        </a:rPr>
                        <a:t>int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>
                          <a:latin typeface="+mj-ea"/>
                          <a:ea typeface="+mj-ea"/>
                        </a:rPr>
                        <a:t>jint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>
                          <a:latin typeface="+mj-ea"/>
                          <a:ea typeface="+mj-ea"/>
                        </a:rPr>
                        <a:t>jintArray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j-ea"/>
                          <a:ea typeface="+mj-ea"/>
                        </a:rPr>
                        <a:t>long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>
                          <a:latin typeface="+mj-ea"/>
                          <a:ea typeface="+mj-ea"/>
                        </a:rPr>
                        <a:t>jlong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>
                          <a:latin typeface="+mj-ea"/>
                          <a:ea typeface="+mj-ea"/>
                        </a:rPr>
                        <a:t>jlongArray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j-ea"/>
                          <a:ea typeface="+mj-ea"/>
                        </a:rPr>
                        <a:t>float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>
                          <a:latin typeface="+mj-ea"/>
                          <a:ea typeface="+mj-ea"/>
                        </a:rPr>
                        <a:t>jfloat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>
                          <a:latin typeface="+mj-ea"/>
                          <a:ea typeface="+mj-ea"/>
                        </a:rPr>
                        <a:t>jfloatArray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j-ea"/>
                          <a:ea typeface="+mj-ea"/>
                        </a:rPr>
                        <a:t>double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>
                          <a:latin typeface="+mj-ea"/>
                          <a:ea typeface="+mj-ea"/>
                        </a:rPr>
                        <a:t>jdouble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>
                          <a:latin typeface="+mj-ea"/>
                          <a:ea typeface="+mj-ea"/>
                        </a:rPr>
                        <a:t>jdoubleArray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+mj-ea"/>
                          <a:ea typeface="+mj-ea"/>
                        </a:rPr>
                        <a:t>object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>
                          <a:latin typeface="+mj-ea"/>
                          <a:ea typeface="+mj-ea"/>
                        </a:rPr>
                        <a:t>jobject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>
                          <a:latin typeface="+mj-ea"/>
                          <a:ea typeface="+mj-ea"/>
                        </a:rPr>
                        <a:t>jObjectArray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655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2246313" y="2709868"/>
            <a:ext cx="7772400" cy="1362075"/>
          </a:xfrm>
        </p:spPr>
        <p:txBody>
          <a:bodyPr/>
          <a:lstStyle/>
          <a:p>
            <a:r>
              <a:rPr lang="en-US" altLang="ko-KR" b="1" dirty="0" smtClean="0">
                <a:latin typeface="+mj-ea"/>
                <a:cs typeface="함초롬바탕" panose="02030504000101010101" pitchFamily="18" charset="-127"/>
              </a:rPr>
              <a:t>JNI </a:t>
            </a:r>
            <a:r>
              <a:rPr lang="ko-KR" altLang="en-US" b="1" dirty="0" smtClean="0">
                <a:latin typeface="+mj-ea"/>
                <a:cs typeface="함초롬바탕" panose="02030504000101010101" pitchFamily="18" charset="-127"/>
              </a:rPr>
              <a:t>환경 구축</a:t>
            </a:r>
            <a:endParaRPr lang="ko-KR" altLang="en-US" b="1" dirty="0">
              <a:latin typeface="+mj-ea"/>
              <a:cs typeface="함초롬바탕" panose="0203050400010101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384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Cygwin (1/2)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3" y="1411705"/>
            <a:ext cx="8883761" cy="2671011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Cygwin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이란</a:t>
            </a:r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?</a:t>
            </a:r>
          </a:p>
          <a:p>
            <a:pPr lvl="1">
              <a:lnSpc>
                <a:spcPct val="170000"/>
              </a:lnSpc>
            </a:pP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마이크로소프트 윈도우에서 유닉스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리눅스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 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시스템과 유사하게 동작하도록 한 에뮬레이터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70000"/>
              </a:lnSpc>
            </a:pP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유닉스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리눅스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사용되는 셸이나 명령어를 윈도우에서 소스 코드로 부터 컴파일 할 수 있도록 환경을 제공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  <a:p>
            <a:pPr lvl="1">
              <a:lnSpc>
                <a:spcPct val="170000"/>
              </a:lnSpc>
            </a:pP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Cygwin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용 으로 컴파일 된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exe 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파일은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cygwin.dll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이라는 파일로 실행가능 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4" name="Picture 2" descr="윈도 XP 상에서의 시그윈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8328" y="4035011"/>
            <a:ext cx="3721769" cy="2684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572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Cygwin (2/2)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1705"/>
            <a:ext cx="8596668" cy="4629657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Cygwin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</a:t>
            </a:r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필요한 이유</a:t>
            </a:r>
            <a:endParaRPr lang="en-US" altLang="ko-KR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70000"/>
              </a:lnSpc>
            </a:pP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안드로이드는 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Linux kernel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기반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  <a:p>
            <a:pPr lvl="1">
              <a:lnSpc>
                <a:spcPct val="170000"/>
              </a:lnSpc>
            </a:pP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안드로이드에서 사용되는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java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기존의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Native Code 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  비해 성능이 떨어져 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Android Application 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개발 시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C, C++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개발 할 수 있게 해주는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Native Development Kit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제공  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70000"/>
              </a:lnSpc>
            </a:pP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윈도우에서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NDK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프로그래밍 하기 위해서는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Cygwin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필요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457200" lvl="1" indent="0">
              <a:lnSpc>
                <a:spcPct val="170000"/>
              </a:lnSpc>
              <a:buNone/>
            </a:pPr>
            <a:r>
              <a:rPr lang="ko-KR" altLang="en-US" b="1" dirty="0" smtClean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그러나</a:t>
            </a:r>
            <a:r>
              <a:rPr lang="en-US" altLang="ko-KR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</a:t>
            </a:r>
            <a:r>
              <a:rPr lang="ko-KR" altLang="en-US" dirty="0" smtClean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hlinkClick r:id="rId3" tooltip="[http://developer.android.com/sdk/ndk/index.html]로 이동합니다."/>
              </a:rPr>
              <a:t>Android NDK,r5</a:t>
            </a:r>
            <a:r>
              <a:rPr lang="en-US" altLang="ko-KR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버전 이후 부터는 안드로이드 스튜디오에서 자체적으로 </a:t>
            </a:r>
            <a:r>
              <a:rPr lang="en-US" altLang="ko-KR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NDK-build </a:t>
            </a:r>
            <a:r>
              <a:rPr lang="ko-KR" altLang="en-US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가능</a:t>
            </a:r>
            <a:r>
              <a:rPr lang="en-US" altLang="ko-KR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en-US" altLang="ko-KR" b="1" u="sng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Cygwin </a:t>
            </a:r>
            <a:r>
              <a:rPr lang="ko-KR" altLang="en-US" b="1" u="sng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설치 </a:t>
            </a:r>
            <a:r>
              <a:rPr lang="en-US" altLang="ko-KR" b="1" u="sng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X</a:t>
            </a:r>
            <a:r>
              <a:rPr lang="en-US" altLang="ko-KR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endParaRPr lang="en-US" altLang="ko-KR" dirty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70000"/>
              </a:lnSpc>
            </a:pP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862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NDK </a:t>
            </a:r>
            <a:r>
              <a:rPr lang="ko-KR" altLang="en-US" b="1" dirty="0" smtClean="0"/>
              <a:t>설치 </a:t>
            </a:r>
            <a:r>
              <a:rPr lang="en-US" altLang="ko-KR" b="1" dirty="0" smtClean="0"/>
              <a:t>(1/4)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1705"/>
            <a:ext cx="8596668" cy="3481137"/>
          </a:xfrm>
        </p:spPr>
        <p:txBody>
          <a:bodyPr>
            <a:normAutofit/>
          </a:bodyPr>
          <a:lstStyle/>
          <a:p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Native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Code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사용하기 위해서는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NDK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설치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JAVA-Native Code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연동하기 위해서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JNI 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사용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Android NDK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이용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/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안드로이드에서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C/C++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된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Native 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코드를 컴파일 해서 수행할 때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/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JNI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이용하여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Java class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사용하고자 할 때 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/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hlinkClick r:id="rId3"/>
              </a:rPr>
              <a:t>http://developer.android.com/intl/ko/ndk/downloads/index.html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자신의 컴퓨터의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window bit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 맞는 파일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다운로드</a:t>
            </a:r>
            <a:endParaRPr lang="en-US" altLang="ko-KR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457200" lvl="1" indent="0">
              <a:buNone/>
            </a:pPr>
            <a:r>
              <a:rPr lang="en-US" altLang="ko-KR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※ 2017</a:t>
            </a:r>
            <a:r>
              <a:rPr lang="ko-KR" altLang="en-US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년 </a:t>
            </a:r>
            <a:r>
              <a:rPr lang="en-US" altLang="ko-KR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03</a:t>
            </a:r>
            <a:r>
              <a:rPr lang="ko-KR" altLang="en-US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월 </a:t>
            </a:r>
            <a:r>
              <a:rPr lang="en-US" altLang="ko-KR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3</a:t>
            </a:r>
            <a:r>
              <a:rPr lang="ko-KR" altLang="en-US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째 주 기준 </a:t>
            </a:r>
            <a:r>
              <a:rPr lang="en-US" altLang="ko-KR" b="1" u="sng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700MB</a:t>
            </a:r>
            <a:r>
              <a:rPr lang="en-US" altLang="ko-KR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정도</a:t>
            </a:r>
            <a:endParaRPr lang="en-US" altLang="ko-KR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2419512" y="4461357"/>
            <a:ext cx="5112312" cy="2122596"/>
            <a:chOff x="2419512" y="4260831"/>
            <a:chExt cx="5112312" cy="2122596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19512" y="4332840"/>
              <a:ext cx="5112312" cy="2050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직사각형 5"/>
            <p:cNvSpPr/>
            <p:nvPr/>
          </p:nvSpPr>
          <p:spPr>
            <a:xfrm>
              <a:off x="2495679" y="4620872"/>
              <a:ext cx="4959978" cy="649679"/>
            </a:xfrm>
            <a:prstGeom prst="rect">
              <a:avLst/>
            </a:prstGeom>
            <a:noFill/>
            <a:ln w="444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tx1"/>
                  </a:solidFill>
                </a:ln>
              </a:endParaRPr>
            </a:p>
          </p:txBody>
        </p:sp>
        <p:cxnSp>
          <p:nvCxnSpPr>
            <p:cNvPr id="7" name="직선 화살표 연결선 6"/>
            <p:cNvCxnSpPr/>
            <p:nvPr/>
          </p:nvCxnSpPr>
          <p:spPr>
            <a:xfrm>
              <a:off x="4828109" y="4260831"/>
              <a:ext cx="0" cy="36004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935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 smtClean="0"/>
              <a:t>NDK </a:t>
            </a:r>
            <a:r>
              <a:rPr lang="ko-KR" altLang="en-US" b="1" dirty="0" smtClean="0"/>
              <a:t>설치 </a:t>
            </a:r>
            <a:r>
              <a:rPr lang="en-US" altLang="ko-KR" b="1" dirty="0" smtClean="0"/>
              <a:t>(2/4)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1705"/>
            <a:ext cx="8596668" cy="3481137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다운로드 한 압출 파일을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[D:\]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안에 압축 해제</a:t>
            </a:r>
            <a:endParaRPr lang="en-US" altLang="ko-KR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/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전산실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PC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경우 시스템 종료 시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[C:\]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내부의 파일이 초기화 되므로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[D:\]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 저장하는 것일 뿐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개인 노트북이나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PC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작업할 시에는 어느 경로에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설치해도 무관함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1645" y="2790230"/>
            <a:ext cx="4113262" cy="3684271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3918629" y="3790129"/>
            <a:ext cx="2808312" cy="216024"/>
          </a:xfrm>
          <a:prstGeom prst="rect">
            <a:avLst/>
          </a:prstGeom>
          <a:noFill/>
          <a:ln w="28575">
            <a:solidFill>
              <a:srgbClr val="FF61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5646821" y="2410115"/>
            <a:ext cx="0" cy="1380015"/>
          </a:xfrm>
          <a:prstGeom prst="straightConnector1">
            <a:avLst/>
          </a:prstGeom>
          <a:ln w="28575">
            <a:solidFill>
              <a:srgbClr val="FF616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3609474" y="3160295"/>
            <a:ext cx="1050758" cy="1925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685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 smtClean="0"/>
              <a:t>NDK </a:t>
            </a:r>
            <a:r>
              <a:rPr lang="ko-KR" altLang="en-US" b="1" dirty="0" smtClean="0"/>
              <a:t>설치 </a:t>
            </a:r>
            <a:r>
              <a:rPr lang="en-US" altLang="ko-KR" b="1" dirty="0" smtClean="0"/>
              <a:t>(3/4)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1705"/>
            <a:ext cx="8596668" cy="3481137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내 컴퓨터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오른쪽 버튼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속성 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en-US" altLang="ko-KR" sz="1200" i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Windows key + Pause Break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endParaRPr lang="en-US" altLang="ko-KR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	  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고급 시스템 설정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고급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환경변수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  <a:sym typeface="Wingdings" panose="05000000000000000000" pitchFamily="2" charset="2"/>
            </a:endParaRPr>
          </a:p>
          <a:p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사용자 변수에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‘Path’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가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있다면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,</a:t>
            </a:r>
          </a:p>
          <a:p>
            <a:pPr lvl="1"/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Path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변수 선택 후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편집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(E)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버튼 클릭</a:t>
            </a:r>
            <a:endParaRPr lang="en-US" altLang="ko-KR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  <a:sym typeface="Wingdings" panose="05000000000000000000" pitchFamily="2" charset="2"/>
            </a:endParaRPr>
          </a:p>
          <a:p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사용자 변수에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‘Path’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가 없다면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,</a:t>
            </a:r>
          </a:p>
          <a:p>
            <a:pPr lvl="1"/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새로 만들기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(N)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클릭</a:t>
            </a:r>
            <a:endParaRPr lang="en-US" altLang="ko-KR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  <a:sym typeface="Wingdings" panose="05000000000000000000" pitchFamily="2" charset="2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2406824" y="3896982"/>
            <a:ext cx="5866176" cy="2460725"/>
            <a:chOff x="2406824" y="3560098"/>
            <a:chExt cx="5866176" cy="2460725"/>
          </a:xfrm>
        </p:grpSpPr>
        <p:pic>
          <p:nvPicPr>
            <p:cNvPr id="12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406824" y="3570232"/>
              <a:ext cx="2722048" cy="2440457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</p:pic>
        <p:sp>
          <p:nvSpPr>
            <p:cNvPr id="13" name="직사각형 12"/>
            <p:cNvSpPr/>
            <p:nvPr/>
          </p:nvSpPr>
          <p:spPr>
            <a:xfrm>
              <a:off x="4073058" y="5517233"/>
              <a:ext cx="854047" cy="2065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tx1"/>
                  </a:solidFill>
                </a:ln>
              </a:endParaRPr>
            </a:p>
          </p:txBody>
        </p:sp>
        <p:pic>
          <p:nvPicPr>
            <p:cNvPr id="14" name="Picture 2" descr="C:\Users\Chris\AppData\Local\Temp\SNAGHTML14e27a99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03169" y="3560098"/>
              <a:ext cx="2769831" cy="24607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직사각형 14"/>
            <p:cNvSpPr/>
            <p:nvPr/>
          </p:nvSpPr>
          <p:spPr>
            <a:xfrm>
              <a:off x="6079232" y="5445224"/>
              <a:ext cx="1440160" cy="22800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tx1"/>
                  </a:solidFill>
                </a:ln>
              </a:endParaRPr>
            </a:p>
          </p:txBody>
        </p:sp>
        <p:cxnSp>
          <p:nvCxnSpPr>
            <p:cNvPr id="16" name="직선 연결선 15"/>
            <p:cNvCxnSpPr/>
            <p:nvPr/>
          </p:nvCxnSpPr>
          <p:spPr>
            <a:xfrm>
              <a:off x="5719193" y="4315956"/>
              <a:ext cx="282403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268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 smtClean="0"/>
              <a:t>NDK </a:t>
            </a:r>
            <a:r>
              <a:rPr lang="ko-KR" altLang="en-US" b="1" dirty="0" smtClean="0"/>
              <a:t>설치 </a:t>
            </a:r>
            <a:r>
              <a:rPr lang="en-US" altLang="ko-KR" b="1" dirty="0" smtClean="0"/>
              <a:t>(4/4)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1705"/>
            <a:ext cx="8596668" cy="3481137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편집 시</a:t>
            </a:r>
            <a:endParaRPr lang="en-US" altLang="ko-KR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  <a:sym typeface="Wingdings" panose="05000000000000000000" pitchFamily="2" charset="2"/>
            </a:endParaRPr>
          </a:p>
          <a:p>
            <a:pPr lvl="1"/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변수 값의 끝에 세미콜론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(;)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이 없다면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세미콜론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(;)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을 입력하고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[</a:t>
            </a:r>
            <a:r>
              <a:rPr lang="en-US" altLang="ko-KR" i="1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ndk</a:t>
            </a:r>
            <a:r>
              <a:rPr lang="en-US" altLang="ko-KR" i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 </a:t>
            </a:r>
            <a:r>
              <a:rPr lang="ko-KR" altLang="en-US" i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경로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]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를 입력</a:t>
            </a:r>
            <a:endParaRPr lang="en-US" altLang="ko-KR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  <a:sym typeface="Wingdings" panose="05000000000000000000" pitchFamily="2" charset="2"/>
            </a:endParaRPr>
          </a:p>
          <a:p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환경변수를 새로 등록 할 시</a:t>
            </a:r>
            <a:endParaRPr lang="en-US" altLang="ko-KR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  <a:sym typeface="Wingdings" panose="05000000000000000000" pitchFamily="2" charset="2"/>
            </a:endParaRPr>
          </a:p>
          <a:p>
            <a:pPr lvl="1"/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변수 이름에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Path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를 입력하고 변수 값에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[</a:t>
            </a:r>
            <a:r>
              <a:rPr lang="en-US" altLang="ko-KR" i="1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ndk</a:t>
            </a:r>
            <a:r>
              <a:rPr lang="ko-KR" altLang="en-US" i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경로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]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 입력</a:t>
            </a:r>
            <a:endParaRPr lang="en-US" altLang="ko-KR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  <a:sym typeface="Wingdings" panose="05000000000000000000" pitchFamily="2" charset="2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1577167" y="3788495"/>
            <a:ext cx="7696835" cy="1656184"/>
            <a:chOff x="1577167" y="4069232"/>
            <a:chExt cx="7696835" cy="1656184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 rotWithShape="1">
            <a:blip r:embed="rId3"/>
            <a:srcRect b="77365"/>
            <a:stretch/>
          </p:blipFill>
          <p:spPr>
            <a:xfrm>
              <a:off x="1577167" y="4069232"/>
              <a:ext cx="7696835" cy="1656184"/>
            </a:xfrm>
            <a:prstGeom prst="rect">
              <a:avLst/>
            </a:prstGeom>
            <a:noFill/>
          </p:spPr>
        </p:pic>
        <p:sp>
          <p:nvSpPr>
            <p:cNvPr id="11" name="직사각형 10"/>
            <p:cNvSpPr/>
            <p:nvPr/>
          </p:nvSpPr>
          <p:spPr>
            <a:xfrm>
              <a:off x="1865198" y="5293368"/>
              <a:ext cx="1944216" cy="43204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676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2246313" y="2709868"/>
            <a:ext cx="7772400" cy="1362075"/>
          </a:xfrm>
        </p:spPr>
        <p:txBody>
          <a:bodyPr/>
          <a:lstStyle/>
          <a:p>
            <a:r>
              <a:rPr lang="en-US" altLang="ko-KR" b="1" dirty="0" smtClean="0">
                <a:latin typeface="+mj-ea"/>
                <a:cs typeface="함초롬바탕" panose="02030504000101010101" pitchFamily="18" charset="-127"/>
              </a:rPr>
              <a:t>JNI</a:t>
            </a:r>
            <a:r>
              <a:rPr lang="ko-KR" altLang="en-US" b="1" dirty="0" smtClean="0">
                <a:latin typeface="+mj-ea"/>
                <a:cs typeface="함초롬바탕" panose="02030504000101010101" pitchFamily="18" charset="-127"/>
              </a:rPr>
              <a:t> 실습</a:t>
            </a:r>
            <a:endParaRPr lang="ko-KR" altLang="en-US" b="1" dirty="0">
              <a:latin typeface="+mj-ea"/>
              <a:cs typeface="함초롬바탕" panose="0203050400010101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885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 smtClean="0"/>
              <a:t>JNI </a:t>
            </a:r>
            <a:r>
              <a:rPr lang="ko-KR" altLang="en-US" b="1" dirty="0" smtClean="0"/>
              <a:t>실습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1705"/>
            <a:ext cx="8596668" cy="1900990"/>
          </a:xfrm>
        </p:spPr>
        <p:txBody>
          <a:bodyPr>
            <a:normAutofit/>
          </a:bodyPr>
          <a:lstStyle/>
          <a:p>
            <a:r>
              <a:rPr lang="ko-KR" altLang="en-US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프로젝트 생성 후</a:t>
            </a:r>
            <a:r>
              <a:rPr lang="en-US" altLang="ko-KR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, File -&gt; Project Structure -&gt; SDK Location</a:t>
            </a:r>
          </a:p>
          <a:p>
            <a:pPr lvl="1"/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Android NDK location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에 방금 전 설치했던 </a:t>
            </a:r>
            <a:r>
              <a:rPr lang="en-US" altLang="ko-KR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ndk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폴더 선택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(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경로는 다를 수 있음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409" y="2233247"/>
            <a:ext cx="7658483" cy="4167554"/>
          </a:xfrm>
          <a:prstGeom prst="rect">
            <a:avLst/>
          </a:prstGeom>
        </p:spPr>
      </p:pic>
      <p:sp>
        <p:nvSpPr>
          <p:cNvPr id="15" name="슬라이드 번호 개체 틀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148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330" y="2936630"/>
            <a:ext cx="2599117" cy="346985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JNI </a:t>
            </a:r>
            <a:r>
              <a:rPr lang="ko-KR" altLang="en-US" b="1" dirty="0"/>
              <a:t>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720974"/>
            <a:ext cx="8596668" cy="3880773"/>
          </a:xfrm>
        </p:spPr>
        <p:txBody>
          <a:bodyPr/>
          <a:lstStyle/>
          <a:p>
            <a:r>
              <a:rPr lang="en-US" altLang="ko-KR" dirty="0" smtClean="0"/>
              <a:t>JNIClass.java </a:t>
            </a:r>
            <a:r>
              <a:rPr lang="ko-KR" altLang="en-US" dirty="0" smtClean="0"/>
              <a:t>만들기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app/java </a:t>
            </a:r>
            <a:r>
              <a:rPr lang="ko-KR" altLang="en-US" dirty="0" smtClean="0"/>
              <a:t>안에 </a:t>
            </a:r>
            <a:r>
              <a:rPr lang="en-US" altLang="ko-KR" dirty="0"/>
              <a:t>JNIClass.java </a:t>
            </a:r>
            <a:r>
              <a:rPr lang="ko-KR" altLang="en-US" dirty="0" smtClean="0"/>
              <a:t>만들기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MainActivity</a:t>
            </a:r>
            <a:r>
              <a:rPr lang="ko-KR" altLang="en-US" dirty="0" smtClean="0"/>
              <a:t>가 있는 폴더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19</a:t>
            </a:fld>
            <a:endParaRPr lang="en-US" dirty="0"/>
          </a:p>
        </p:txBody>
      </p:sp>
      <p:sp>
        <p:nvSpPr>
          <p:cNvPr id="7" name="직사각형 6"/>
          <p:cNvSpPr/>
          <p:nvPr/>
        </p:nvSpPr>
        <p:spPr>
          <a:xfrm>
            <a:off x="843330" y="4410635"/>
            <a:ext cx="2599117" cy="2689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7030" y="3120100"/>
            <a:ext cx="6552358" cy="3118953"/>
          </a:xfrm>
          <a:prstGeom prst="rect">
            <a:avLst/>
          </a:prstGeom>
        </p:spPr>
      </p:pic>
      <p:cxnSp>
        <p:nvCxnSpPr>
          <p:cNvPr id="10" name="직선 연결선 9"/>
          <p:cNvCxnSpPr/>
          <p:nvPr/>
        </p:nvCxnSpPr>
        <p:spPr>
          <a:xfrm>
            <a:off x="4017030" y="2936630"/>
            <a:ext cx="655235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017030" y="2482794"/>
            <a:ext cx="2519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JNIClass</a:t>
            </a:r>
            <a:r>
              <a:rPr lang="en-US" altLang="ko-KR" dirty="0" smtClean="0"/>
              <a:t>.java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0811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JNI </a:t>
            </a:r>
            <a:r>
              <a:rPr lang="ko-KR" altLang="en-US" b="1" dirty="0"/>
              <a:t>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720974"/>
            <a:ext cx="8596668" cy="3880773"/>
          </a:xfrm>
        </p:spPr>
        <p:txBody>
          <a:bodyPr/>
          <a:lstStyle/>
          <a:p>
            <a:r>
              <a:rPr lang="ko-KR" altLang="en-US" dirty="0" smtClean="0"/>
              <a:t>코드 작성 </a:t>
            </a:r>
            <a:r>
              <a:rPr lang="en-US" altLang="ko-KR" dirty="0" smtClean="0"/>
              <a:t>(MainActivity.java, activity_main.xml)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20</a:t>
            </a:fld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2579874"/>
            <a:ext cx="5038165" cy="3995737"/>
          </a:xfrm>
          <a:prstGeom prst="rect">
            <a:avLst/>
          </a:prstGeom>
        </p:spPr>
      </p:pic>
      <p:cxnSp>
        <p:nvCxnSpPr>
          <p:cNvPr id="10" name="직선 연결선 9"/>
          <p:cNvCxnSpPr/>
          <p:nvPr/>
        </p:nvCxnSpPr>
        <p:spPr>
          <a:xfrm>
            <a:off x="677334" y="2447365"/>
            <a:ext cx="505111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7334" y="2078487"/>
            <a:ext cx="2519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MainActivity.java</a:t>
            </a:r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744" y="2579873"/>
            <a:ext cx="4998991" cy="3995738"/>
          </a:xfrm>
          <a:prstGeom prst="rect">
            <a:avLst/>
          </a:prstGeom>
        </p:spPr>
      </p:pic>
      <p:cxnSp>
        <p:nvCxnSpPr>
          <p:cNvPr id="13" name="직선 연결선 12"/>
          <p:cNvCxnSpPr/>
          <p:nvPr/>
        </p:nvCxnSpPr>
        <p:spPr>
          <a:xfrm>
            <a:off x="6215622" y="2447365"/>
            <a:ext cx="505111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22096" y="2062907"/>
            <a:ext cx="2519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activity_main.xml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4160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JNI </a:t>
            </a:r>
            <a:r>
              <a:rPr lang="ko-KR" altLang="en-US" b="1" dirty="0"/>
              <a:t>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720974"/>
            <a:ext cx="8596668" cy="3880773"/>
          </a:xfrm>
        </p:spPr>
        <p:txBody>
          <a:bodyPr/>
          <a:lstStyle/>
          <a:p>
            <a:r>
              <a:rPr lang="en-US" altLang="ko-KR" dirty="0" smtClean="0"/>
              <a:t>.Class</a:t>
            </a:r>
            <a:r>
              <a:rPr lang="ko-KR" altLang="en-US" dirty="0" smtClean="0"/>
              <a:t>파일을 만들기 위한 빌드 실행</a:t>
            </a:r>
            <a:endParaRPr lang="en-US" altLang="ko-KR" dirty="0" smtClean="0"/>
          </a:p>
          <a:p>
            <a:pPr lvl="1"/>
            <a:r>
              <a:rPr lang="ko-KR" altLang="en-US" sz="1400" dirty="0" smtClean="0"/>
              <a:t>빌드 후 </a:t>
            </a:r>
            <a:r>
              <a:rPr lang="en-US" altLang="ko-KR" sz="1400" dirty="0" smtClean="0"/>
              <a:t>class</a:t>
            </a:r>
            <a:r>
              <a:rPr lang="ko-KR" altLang="en-US" sz="1400" dirty="0" smtClean="0"/>
              <a:t>파일 확인 </a:t>
            </a:r>
            <a:endParaRPr lang="en-US" altLang="ko-KR" sz="1400" dirty="0" smtClean="0"/>
          </a:p>
          <a:p>
            <a:pPr lvl="1"/>
            <a:r>
              <a:rPr lang="en-US" altLang="ko-KR" sz="1400" dirty="0" smtClean="0"/>
              <a:t>C -&gt;</a:t>
            </a:r>
            <a:r>
              <a:rPr lang="ko-KR" altLang="en-US" sz="1400" dirty="0" smtClean="0"/>
              <a:t>사용자 </a:t>
            </a:r>
            <a:r>
              <a:rPr lang="en-US" altLang="ko-KR" sz="1400" dirty="0" smtClean="0"/>
              <a:t>-&gt; admin -&gt; </a:t>
            </a:r>
            <a:r>
              <a:rPr lang="en-US" altLang="ko-KR" sz="1400" dirty="0" err="1" smtClean="0"/>
              <a:t>AndroidStudioProjects</a:t>
            </a:r>
            <a:r>
              <a:rPr lang="en-US" altLang="ko-KR" sz="1400" dirty="0" smtClean="0"/>
              <a:t> -&gt; </a:t>
            </a:r>
            <a:r>
              <a:rPr lang="ko-KR" altLang="en-US" sz="1400" dirty="0" smtClean="0"/>
              <a:t>본인 </a:t>
            </a:r>
            <a:r>
              <a:rPr lang="en-US" altLang="ko-KR" sz="1400" dirty="0" err="1" smtClean="0"/>
              <a:t>jni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프로젝트 </a:t>
            </a:r>
            <a:r>
              <a:rPr lang="en-US" altLang="ko-KR" sz="1400" dirty="0" smtClean="0"/>
              <a:t>-&gt; app -&gt; build -&gt; intermediates -&gt; classes -&gt; debug -&gt; </a:t>
            </a:r>
            <a:r>
              <a:rPr lang="ko-KR" altLang="en-US" sz="1400" dirty="0" smtClean="0"/>
              <a:t>본인 </a:t>
            </a:r>
            <a:r>
              <a:rPr lang="en-US" altLang="ko-KR" sz="1400" dirty="0" smtClean="0"/>
              <a:t>company domain -&gt; class</a:t>
            </a:r>
            <a:r>
              <a:rPr lang="ko-KR" altLang="en-US" sz="1400" dirty="0" smtClean="0"/>
              <a:t>파일들 확인</a:t>
            </a:r>
            <a:endParaRPr lang="en-US" altLang="ko-KR" sz="1400" dirty="0" smtClean="0"/>
          </a:p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21</a:t>
            </a:fld>
            <a:endParaRPr 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401" y="2945423"/>
            <a:ext cx="9362991" cy="3631223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558562" y="4271002"/>
            <a:ext cx="5002823" cy="22828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048608" y="3900678"/>
            <a:ext cx="5583116" cy="1582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899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JNI </a:t>
            </a:r>
            <a:r>
              <a:rPr lang="ko-KR" altLang="en-US" b="1" dirty="0"/>
              <a:t>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720974"/>
            <a:ext cx="8596668" cy="3880773"/>
          </a:xfrm>
        </p:spPr>
        <p:txBody>
          <a:bodyPr/>
          <a:lstStyle/>
          <a:p>
            <a:r>
              <a:rPr lang="en-US" altLang="ko-KR" dirty="0" err="1" smtClean="0"/>
              <a:t>jni</a:t>
            </a:r>
            <a:r>
              <a:rPr lang="ko-KR" altLang="en-US" dirty="0" smtClean="0"/>
              <a:t>폴더</a:t>
            </a:r>
            <a:r>
              <a:rPr lang="en-US" altLang="ko-KR" dirty="0" smtClean="0"/>
              <a:t> </a:t>
            </a:r>
            <a:r>
              <a:rPr lang="ko-KR" altLang="en-US" dirty="0" smtClean="0"/>
              <a:t>만들기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상단의 </a:t>
            </a:r>
            <a:r>
              <a:rPr lang="en-US" altLang="ko-KR" dirty="0" smtClean="0"/>
              <a:t>Android -&gt; Project</a:t>
            </a:r>
            <a:r>
              <a:rPr lang="ko-KR" altLang="en-US" dirty="0" smtClean="0"/>
              <a:t>로 선택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app/</a:t>
            </a:r>
            <a:r>
              <a:rPr lang="en-US" altLang="ko-KR" dirty="0" err="1" smtClean="0"/>
              <a:t>src</a:t>
            </a:r>
            <a:r>
              <a:rPr lang="en-US" altLang="ko-KR" dirty="0" smtClean="0"/>
              <a:t>/main </a:t>
            </a:r>
            <a:r>
              <a:rPr lang="ko-KR" altLang="en-US" dirty="0" smtClean="0"/>
              <a:t>안에 마우스 오른쪽 클릭 후 </a:t>
            </a:r>
            <a:r>
              <a:rPr lang="en-US" altLang="ko-KR" dirty="0" err="1" smtClean="0"/>
              <a:t>jni</a:t>
            </a:r>
            <a:r>
              <a:rPr lang="en-US" altLang="ko-KR" dirty="0" smtClean="0"/>
              <a:t> </a:t>
            </a:r>
            <a:r>
              <a:rPr lang="ko-KR" altLang="en-US" dirty="0" smtClean="0"/>
              <a:t>폴더 만들기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22</a:t>
            </a:fld>
            <a:endParaRPr 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4680" y="2936631"/>
            <a:ext cx="6574364" cy="346985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970" y="2936632"/>
            <a:ext cx="2290107" cy="3469856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050970" y="2953851"/>
            <a:ext cx="2290107" cy="2025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7853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JNI </a:t>
            </a:r>
            <a:r>
              <a:rPr lang="ko-KR" altLang="en-US" b="1" dirty="0"/>
              <a:t>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720974"/>
            <a:ext cx="8596668" cy="3880773"/>
          </a:xfrm>
        </p:spPr>
        <p:txBody>
          <a:bodyPr/>
          <a:lstStyle/>
          <a:p>
            <a:r>
              <a:rPr lang="ko-KR" altLang="en-US" dirty="0" smtClean="0"/>
              <a:t>헤더 파일 만들기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File -&gt; Setting -&gt; Tools -&gt; External Tools -&gt; +</a:t>
            </a:r>
            <a:r>
              <a:rPr lang="ko-KR" altLang="en-US" dirty="0" smtClean="0"/>
              <a:t>모양 클릭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23</a:t>
            </a:fld>
            <a:endParaRPr 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047" y="2549233"/>
            <a:ext cx="7763608" cy="4163888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3745523" y="2989385"/>
            <a:ext cx="175846" cy="114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1042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JNI </a:t>
            </a:r>
            <a:r>
              <a:rPr lang="ko-KR" altLang="en-US" b="1" dirty="0"/>
              <a:t>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00426" y="1187595"/>
            <a:ext cx="8596668" cy="3880773"/>
          </a:xfrm>
        </p:spPr>
        <p:txBody>
          <a:bodyPr/>
          <a:lstStyle/>
          <a:p>
            <a:r>
              <a:rPr lang="ko-KR" altLang="en-US" dirty="0" smtClean="0"/>
              <a:t>헤더 파일 만들기 </a:t>
            </a:r>
            <a:r>
              <a:rPr lang="en-US" altLang="ko-KR" dirty="0" smtClean="0"/>
              <a:t>cont..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24</a:t>
            </a:fld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27" y="1635808"/>
            <a:ext cx="6406569" cy="44055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98896" y="1676045"/>
            <a:ext cx="559639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※ Tool </a:t>
            </a:r>
            <a:r>
              <a:rPr lang="en-US" altLang="ko-KR" b="1" dirty="0" smtClean="0"/>
              <a:t>settings</a:t>
            </a:r>
          </a:p>
          <a:p>
            <a:endParaRPr lang="en-US" altLang="ko-KR" dirty="0"/>
          </a:p>
          <a:p>
            <a:r>
              <a:rPr lang="en-US" altLang="ko-KR" b="1" dirty="0"/>
              <a:t> Program :  </a:t>
            </a:r>
            <a:endParaRPr lang="en-US" altLang="ko-KR" b="1" dirty="0" smtClean="0"/>
          </a:p>
          <a:p>
            <a:r>
              <a:rPr lang="en-US" altLang="ko-KR" dirty="0" err="1" smtClean="0"/>
              <a:t>jdk</a:t>
            </a:r>
            <a:r>
              <a:rPr lang="en-US" altLang="ko-KR" dirty="0" smtClean="0"/>
              <a:t> </a:t>
            </a:r>
            <a:r>
              <a:rPr lang="ko-KR" altLang="en-US" dirty="0"/>
              <a:t>폴더내 </a:t>
            </a:r>
            <a:r>
              <a:rPr lang="en-US" altLang="ko-KR" dirty="0"/>
              <a:t>bin</a:t>
            </a:r>
            <a:r>
              <a:rPr lang="ko-KR" altLang="en-US" dirty="0"/>
              <a:t>에 있는 </a:t>
            </a:r>
            <a:r>
              <a:rPr lang="en-US" altLang="ko-KR" dirty="0"/>
              <a:t>javah.exe  </a:t>
            </a:r>
            <a:r>
              <a:rPr lang="en-US" altLang="ko-KR" dirty="0" smtClean="0"/>
              <a:t>Path</a:t>
            </a:r>
          </a:p>
          <a:p>
            <a:r>
              <a:rPr lang="en-US" altLang="ko-KR" dirty="0" smtClean="0">
                <a:solidFill>
                  <a:srgbClr val="FF0000"/>
                </a:solidFill>
              </a:rPr>
              <a:t>(* </a:t>
            </a:r>
            <a:r>
              <a:rPr lang="en-US" altLang="ko-KR" dirty="0" err="1" smtClean="0">
                <a:solidFill>
                  <a:srgbClr val="FF0000"/>
                </a:solidFill>
              </a:rPr>
              <a:t>jdk</a:t>
            </a:r>
            <a:r>
              <a:rPr lang="en-US" altLang="ko-KR" dirty="0" smtClean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폴더는 </a:t>
            </a:r>
            <a:r>
              <a:rPr lang="en-US" altLang="ko-KR" dirty="0">
                <a:solidFill>
                  <a:srgbClr val="FF0000"/>
                </a:solidFill>
              </a:rPr>
              <a:t>c-&gt; </a:t>
            </a:r>
            <a:r>
              <a:rPr lang="en-US" altLang="ko-KR" dirty="0" err="1">
                <a:solidFill>
                  <a:srgbClr val="FF0000"/>
                </a:solidFill>
              </a:rPr>
              <a:t>Programfile</a:t>
            </a:r>
            <a:r>
              <a:rPr lang="en-US" altLang="ko-KR" dirty="0">
                <a:solidFill>
                  <a:srgbClr val="FF0000"/>
                </a:solidFill>
              </a:rPr>
              <a:t> -&gt; java -&gt; </a:t>
            </a:r>
            <a:r>
              <a:rPr lang="en-US" altLang="ko-KR" dirty="0" err="1" smtClean="0">
                <a:solidFill>
                  <a:srgbClr val="FF0000"/>
                </a:solidFill>
              </a:rPr>
              <a:t>jdk</a:t>
            </a:r>
            <a:r>
              <a:rPr lang="en-US" altLang="ko-KR" dirty="0" smtClean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b="1" dirty="0"/>
              <a:t> </a:t>
            </a:r>
            <a:r>
              <a:rPr lang="en-US" altLang="ko-KR" b="1" dirty="0" err="1"/>
              <a:t>Paramaters</a:t>
            </a:r>
            <a:r>
              <a:rPr lang="en-US" altLang="ko-KR" b="1" dirty="0"/>
              <a:t> : </a:t>
            </a:r>
            <a:endParaRPr lang="en-US" altLang="ko-KR" b="1" dirty="0" smtClean="0"/>
          </a:p>
          <a:p>
            <a:r>
              <a:rPr lang="en-US" altLang="ko-KR" b="1" dirty="0"/>
              <a:t> -</a:t>
            </a:r>
            <a:r>
              <a:rPr lang="en-US" altLang="ko-KR" b="1" dirty="0" err="1"/>
              <a:t>classpath</a:t>
            </a:r>
            <a:r>
              <a:rPr lang="en-US" altLang="ko-KR" b="1" dirty="0"/>
              <a:t> "$</a:t>
            </a:r>
            <a:r>
              <a:rPr lang="en-US" altLang="ko-KR" b="1" dirty="0" err="1"/>
              <a:t>Classpath</a:t>
            </a:r>
            <a:r>
              <a:rPr lang="en-US" altLang="ko-KR" b="1" dirty="0"/>
              <a:t>$" -v -</a:t>
            </a:r>
            <a:r>
              <a:rPr lang="en-US" altLang="ko-KR" b="1" dirty="0" err="1"/>
              <a:t>jni</a:t>
            </a:r>
            <a:r>
              <a:rPr lang="en-US" altLang="ko-KR" b="1" dirty="0"/>
              <a:t> $</a:t>
            </a:r>
            <a:r>
              <a:rPr lang="en-US" altLang="ko-KR" b="1" dirty="0" err="1"/>
              <a:t>FileClass</a:t>
            </a:r>
            <a:r>
              <a:rPr lang="en-US" altLang="ko-KR" b="1" dirty="0" smtClean="0"/>
              <a:t>$</a:t>
            </a:r>
          </a:p>
          <a:p>
            <a:endParaRPr lang="en-US" altLang="ko-KR" dirty="0"/>
          </a:p>
          <a:p>
            <a:r>
              <a:rPr lang="en-US" altLang="ko-KR" b="1" dirty="0"/>
              <a:t> </a:t>
            </a:r>
            <a:r>
              <a:rPr lang="en-US" altLang="ko-KR" b="1" dirty="0" smtClean="0"/>
              <a:t>Working directory </a:t>
            </a:r>
            <a:r>
              <a:rPr lang="en-US" altLang="ko-KR" b="1" dirty="0"/>
              <a:t>: </a:t>
            </a:r>
            <a:endParaRPr lang="en-US" altLang="ko-KR" b="1" dirty="0" smtClean="0"/>
          </a:p>
          <a:p>
            <a:r>
              <a:rPr lang="en-US" altLang="ko-KR" dirty="0"/>
              <a:t> </a:t>
            </a:r>
            <a:r>
              <a:rPr lang="en-US" altLang="ko-KR" b="1" dirty="0"/>
              <a:t>$</a:t>
            </a:r>
            <a:r>
              <a:rPr lang="en-US" altLang="ko-KR" b="1" dirty="0" err="1"/>
              <a:t>ProjectFileDir</a:t>
            </a:r>
            <a:r>
              <a:rPr lang="en-US" altLang="ko-KR" b="1" dirty="0"/>
              <a:t>$\</a:t>
            </a:r>
            <a:r>
              <a:rPr lang="en-US" altLang="ko-KR" b="1" dirty="0" smtClean="0"/>
              <a:t>app\</a:t>
            </a:r>
            <a:r>
              <a:rPr lang="en-US" altLang="ko-KR" b="1" dirty="0" err="1" smtClean="0"/>
              <a:t>src</a:t>
            </a:r>
            <a:r>
              <a:rPr lang="en-US" altLang="ko-KR" b="1" dirty="0" smtClean="0"/>
              <a:t>\main\</a:t>
            </a:r>
            <a:r>
              <a:rPr lang="en-US" altLang="ko-KR" b="1" dirty="0" err="1" smtClean="0"/>
              <a:t>jni</a:t>
            </a:r>
            <a:endParaRPr lang="en-US" altLang="ko-KR" b="1" dirty="0" smtClean="0"/>
          </a:p>
          <a:p>
            <a:endParaRPr lang="en-US" altLang="ko-KR" dirty="0"/>
          </a:p>
          <a:p>
            <a:r>
              <a:rPr lang="ko-KR" altLang="en-US" dirty="0"/>
              <a:t>위와 같이 설정한다</a:t>
            </a:r>
            <a:r>
              <a:rPr lang="en-US" altLang="ko-KR" dirty="0" smtClean="0"/>
              <a:t>.</a:t>
            </a:r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i="1" dirty="0"/>
              <a:t>출처</a:t>
            </a:r>
            <a:r>
              <a:rPr lang="en-US" altLang="ko-KR" i="1" dirty="0"/>
              <a:t>: </a:t>
            </a:r>
            <a:r>
              <a:rPr lang="en-US" altLang="ko-KR" i="1" dirty="0">
                <a:solidFill>
                  <a:srgbClr val="FF0000"/>
                </a:solidFill>
              </a:rPr>
              <a:t>http://dwfox.tistory.com/22</a:t>
            </a:r>
            <a:r>
              <a:rPr lang="en-US" altLang="ko-KR" i="1" dirty="0"/>
              <a:t> </a:t>
            </a:r>
            <a:endParaRPr lang="en-US" altLang="ko-KR" i="1" dirty="0" smtClean="0"/>
          </a:p>
          <a:p>
            <a:endParaRPr lang="ko-KR" altLang="en-US" i="1" dirty="0"/>
          </a:p>
        </p:txBody>
      </p:sp>
      <p:sp>
        <p:nvSpPr>
          <p:cNvPr id="7" name="직사각형 6"/>
          <p:cNvSpPr/>
          <p:nvPr/>
        </p:nvSpPr>
        <p:spPr>
          <a:xfrm>
            <a:off x="5468815" y="4544071"/>
            <a:ext cx="184639" cy="2022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5185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JNI </a:t>
            </a:r>
            <a:r>
              <a:rPr lang="ko-KR" altLang="en-US" b="1" dirty="0"/>
              <a:t>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00426" y="1187595"/>
            <a:ext cx="8596668" cy="3880773"/>
          </a:xfrm>
        </p:spPr>
        <p:txBody>
          <a:bodyPr/>
          <a:lstStyle/>
          <a:p>
            <a:r>
              <a:rPr lang="ko-KR" altLang="en-US" dirty="0" smtClean="0"/>
              <a:t>헤더 파일 만들기 </a:t>
            </a:r>
            <a:r>
              <a:rPr lang="en-US" altLang="ko-KR" dirty="0" smtClean="0"/>
              <a:t>cont..</a:t>
            </a:r>
          </a:p>
          <a:p>
            <a:pPr lvl="1"/>
            <a:r>
              <a:rPr lang="en-US" altLang="ko-KR" dirty="0" smtClean="0"/>
              <a:t>JNIClass.java -&gt; </a:t>
            </a:r>
            <a:r>
              <a:rPr lang="ko-KR" altLang="en-US" dirty="0" smtClean="0"/>
              <a:t>마우스 오른쪽 클릭 </a:t>
            </a:r>
            <a:r>
              <a:rPr lang="en-US" altLang="ko-KR" dirty="0" smtClean="0"/>
              <a:t>-&gt; NDK</a:t>
            </a:r>
            <a:r>
              <a:rPr lang="ko-KR" altLang="en-US" dirty="0" smtClean="0"/>
              <a:t> </a:t>
            </a:r>
            <a:r>
              <a:rPr lang="en-US" altLang="ko-KR" dirty="0" smtClean="0"/>
              <a:t>-&gt; </a:t>
            </a:r>
            <a:r>
              <a:rPr lang="en-US" altLang="ko-KR" dirty="0" err="1" smtClean="0"/>
              <a:t>javah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오류 없이 진행되었다면 </a:t>
            </a:r>
            <a:r>
              <a:rPr lang="en-US" altLang="ko-KR" dirty="0" err="1" smtClean="0"/>
              <a:t>jni</a:t>
            </a:r>
            <a:r>
              <a:rPr lang="ko-KR" altLang="en-US" dirty="0" smtClean="0"/>
              <a:t>폴더에 헤더 파일 확인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25</a:t>
            </a:fld>
            <a:endParaRPr 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26" y="2508395"/>
            <a:ext cx="4242221" cy="401136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266" y="2485185"/>
            <a:ext cx="5204899" cy="4034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231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96" y="2957028"/>
            <a:ext cx="10634663" cy="336232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JNI </a:t>
            </a:r>
            <a:r>
              <a:rPr lang="ko-KR" altLang="en-US" b="1" dirty="0"/>
              <a:t>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509959"/>
            <a:ext cx="8596668" cy="3880773"/>
          </a:xfrm>
        </p:spPr>
        <p:txBody>
          <a:bodyPr/>
          <a:lstStyle/>
          <a:p>
            <a:r>
              <a:rPr lang="en-US" altLang="ko-KR" dirty="0" smtClean="0"/>
              <a:t>.</a:t>
            </a:r>
            <a:r>
              <a:rPr lang="en-US" altLang="ko-KR" dirty="0" err="1" smtClean="0"/>
              <a:t>cpp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 작성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앞서 생성한 </a:t>
            </a:r>
            <a:r>
              <a:rPr lang="en-US" altLang="ko-KR" dirty="0" err="1" smtClean="0"/>
              <a:t>jni</a:t>
            </a:r>
            <a:r>
              <a:rPr lang="en-US" altLang="ko-KR" dirty="0" smtClean="0"/>
              <a:t> </a:t>
            </a:r>
            <a:r>
              <a:rPr lang="ko-KR" altLang="en-US" dirty="0" smtClean="0"/>
              <a:t>폴더에 </a:t>
            </a:r>
            <a:r>
              <a:rPr lang="en-US" altLang="ko-KR" dirty="0" smtClean="0"/>
              <a:t>jniMain.cpp </a:t>
            </a:r>
            <a:r>
              <a:rPr lang="ko-KR" altLang="en-US" dirty="0" smtClean="0"/>
              <a:t>작성 </a:t>
            </a:r>
            <a:endParaRPr lang="en-US" altLang="ko-KR" dirty="0"/>
          </a:p>
          <a:p>
            <a:pPr lvl="1"/>
            <a:r>
              <a:rPr lang="en-US" altLang="ko-KR" dirty="0" err="1" smtClean="0"/>
              <a:t>jni</a:t>
            </a:r>
            <a:r>
              <a:rPr lang="en-US" altLang="ko-KR" dirty="0" smtClean="0"/>
              <a:t> </a:t>
            </a:r>
            <a:r>
              <a:rPr lang="ko-KR" altLang="en-US" dirty="0" smtClean="0"/>
              <a:t>폴더 오른쪽 클릭 </a:t>
            </a:r>
            <a:r>
              <a:rPr lang="en-US" altLang="ko-KR" dirty="0" smtClean="0"/>
              <a:t>-&gt; New -&gt; C/</a:t>
            </a:r>
            <a:r>
              <a:rPr lang="en-US" altLang="ko-KR" dirty="0"/>
              <a:t>C</a:t>
            </a:r>
            <a:r>
              <a:rPr lang="en-US" altLang="ko-KR" dirty="0" smtClean="0"/>
              <a:t>++ Source -&gt; jniMain.cpp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26</a:t>
            </a:fld>
            <a:endParaRPr lang="en-US" dirty="0"/>
          </a:p>
        </p:txBody>
      </p:sp>
      <p:sp>
        <p:nvSpPr>
          <p:cNvPr id="8" name="직사각형 7"/>
          <p:cNvSpPr/>
          <p:nvPr/>
        </p:nvSpPr>
        <p:spPr>
          <a:xfrm>
            <a:off x="4477871" y="2957029"/>
            <a:ext cx="2422281" cy="1626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225064" y="3672510"/>
            <a:ext cx="1706395" cy="1867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5992346" y="3377469"/>
            <a:ext cx="2694454" cy="2361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/>
          <p:cNvCxnSpPr>
            <a:stCxn id="8" idx="1"/>
            <a:endCxn id="9" idx="3"/>
          </p:cNvCxnSpPr>
          <p:nvPr/>
        </p:nvCxnSpPr>
        <p:spPr>
          <a:xfrm flipH="1">
            <a:off x="2931459" y="3038374"/>
            <a:ext cx="1546412" cy="72753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>
            <a:stCxn id="10" idx="1"/>
            <a:endCxn id="9" idx="3"/>
          </p:cNvCxnSpPr>
          <p:nvPr/>
        </p:nvCxnSpPr>
        <p:spPr>
          <a:xfrm flipH="1">
            <a:off x="2931459" y="3495521"/>
            <a:ext cx="3060887" cy="2703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77871" y="5125323"/>
            <a:ext cx="2422281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.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_</a:t>
            </a:r>
            <a:r>
              <a:rPr lang="ko-KR" altLang="en-US" dirty="0" smtClean="0"/>
              <a:t>으로 바꿔서 작성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5223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 smtClean="0"/>
              <a:t>JNI </a:t>
            </a:r>
            <a:r>
              <a:rPr lang="ko-KR" altLang="en-US" b="1" dirty="0" smtClean="0"/>
              <a:t>실습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1705"/>
            <a:ext cx="8596668" cy="1900990"/>
          </a:xfrm>
        </p:spPr>
        <p:txBody>
          <a:bodyPr>
            <a:normAutofit/>
          </a:bodyPr>
          <a:lstStyle/>
          <a:p>
            <a:r>
              <a:rPr lang="en-US" altLang="ko-KR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.</a:t>
            </a:r>
            <a:r>
              <a:rPr lang="en-US" altLang="ko-KR" b="1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mk</a:t>
            </a:r>
            <a:r>
              <a:rPr lang="en-US" altLang="ko-KR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 </a:t>
            </a:r>
            <a:r>
              <a:rPr lang="ko-KR" altLang="en-US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파일 생성 및 작성</a:t>
            </a:r>
            <a:endParaRPr lang="en-US" altLang="ko-KR" b="1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  <a:sym typeface="Wingdings" panose="05000000000000000000" pitchFamily="2" charset="2"/>
            </a:endParaRPr>
          </a:p>
          <a:p>
            <a:pPr lvl="1"/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앞서 생성한 </a:t>
            </a:r>
            <a:r>
              <a:rPr lang="en-US" altLang="ko-KR" dirty="0" err="1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jni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 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폴더 내에 다음과 같이 </a:t>
            </a:r>
            <a:r>
              <a:rPr lang="en-US" altLang="ko-KR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[Android.mk]</a:t>
            </a:r>
            <a:r>
              <a:rPr lang="ko-KR" altLang="en-US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파일 생성</a:t>
            </a:r>
            <a:endParaRPr lang="en-US" altLang="ko-KR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  <a:sym typeface="Wingdings" panose="05000000000000000000" pitchFamily="2" charset="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30959" y="2584082"/>
            <a:ext cx="1501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+mj-ea"/>
                <a:ea typeface="+mj-ea"/>
              </a:rPr>
              <a:t>&lt; Android.mk &gt;</a:t>
            </a:r>
            <a:endParaRPr lang="ko-KR" altLang="en-US" sz="1400" dirty="0">
              <a:latin typeface="+mj-ea"/>
              <a:ea typeface="+mj-ea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27</a:t>
            </a:fld>
            <a:endParaRPr 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2584082"/>
            <a:ext cx="5987235" cy="345728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22" y="3080552"/>
            <a:ext cx="4193238" cy="283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437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134" y="2570269"/>
            <a:ext cx="8318407" cy="404568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JNI </a:t>
            </a:r>
            <a:r>
              <a:rPr lang="ko-KR" altLang="en-US" b="1" dirty="0"/>
              <a:t>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720974"/>
            <a:ext cx="8596668" cy="3880773"/>
          </a:xfrm>
        </p:spPr>
        <p:txBody>
          <a:bodyPr/>
          <a:lstStyle/>
          <a:p>
            <a:r>
              <a:rPr lang="en-US" altLang="ko-KR" dirty="0" err="1" smtClean="0"/>
              <a:t>ndk</a:t>
            </a:r>
            <a:r>
              <a:rPr lang="en-US" altLang="ko-KR" dirty="0" smtClean="0"/>
              <a:t>-build </a:t>
            </a:r>
            <a:r>
              <a:rPr lang="ko-KR" altLang="en-US" dirty="0" smtClean="0"/>
              <a:t>만들기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File -&gt; Setting -&gt; Tools -&gt; External Tools -&gt; +</a:t>
            </a:r>
            <a:r>
              <a:rPr lang="ko-KR" altLang="en-US" dirty="0" smtClean="0"/>
              <a:t>모양 클릭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28</a:t>
            </a:fld>
            <a:endParaRPr lang="en-US" dirty="0"/>
          </a:p>
        </p:txBody>
      </p:sp>
      <p:sp>
        <p:nvSpPr>
          <p:cNvPr id="9" name="직사각형 8"/>
          <p:cNvSpPr/>
          <p:nvPr/>
        </p:nvSpPr>
        <p:spPr>
          <a:xfrm>
            <a:off x="3422795" y="2975938"/>
            <a:ext cx="175846" cy="114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0144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JNI </a:t>
            </a:r>
            <a:r>
              <a:rPr lang="ko-KR" altLang="en-US" b="1" dirty="0"/>
              <a:t>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2464"/>
            <a:ext cx="8596668" cy="4095676"/>
          </a:xfrm>
        </p:spPr>
        <p:txBody>
          <a:bodyPr/>
          <a:lstStyle/>
          <a:p>
            <a:r>
              <a:rPr lang="en-US" altLang="ko-KR" dirty="0" err="1" smtClean="0"/>
              <a:t>ndk</a:t>
            </a:r>
            <a:r>
              <a:rPr lang="en-US" altLang="ko-KR" dirty="0" smtClean="0"/>
              <a:t>-build </a:t>
            </a:r>
            <a:r>
              <a:rPr lang="ko-KR" altLang="en-US" dirty="0" smtClean="0"/>
              <a:t>만들기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Cont</a:t>
            </a:r>
            <a:r>
              <a:rPr lang="en-US" altLang="ko-KR" dirty="0" smtClean="0"/>
              <a:t>…)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29</a:t>
            </a:fld>
            <a:endParaRPr 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1930400"/>
            <a:ext cx="5831042" cy="42811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46813" y="1930400"/>
            <a:ext cx="559639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※ Tool </a:t>
            </a:r>
            <a:r>
              <a:rPr lang="en-US" altLang="ko-KR" b="1" dirty="0" smtClean="0"/>
              <a:t>settings</a:t>
            </a:r>
          </a:p>
          <a:p>
            <a:r>
              <a:rPr lang="en-US" altLang="ko-KR" b="1" dirty="0"/>
              <a:t> Program :  </a:t>
            </a:r>
            <a:endParaRPr lang="en-US" altLang="ko-KR" b="1" dirty="0" smtClean="0"/>
          </a:p>
          <a:p>
            <a:r>
              <a:rPr lang="en-US" altLang="ko-KR" dirty="0" smtClean="0"/>
              <a:t>%</a:t>
            </a:r>
            <a:r>
              <a:rPr lang="en-US" altLang="ko-KR" dirty="0"/>
              <a:t>ANDROID_NDK%</a:t>
            </a:r>
            <a:r>
              <a:rPr lang="en-US" altLang="ko-KR" b="1" dirty="0"/>
              <a:t>ndk-build.cmd # </a:t>
            </a:r>
            <a:r>
              <a:rPr lang="en-US" altLang="ko-KR" b="1" dirty="0" err="1"/>
              <a:t>ndk</a:t>
            </a:r>
            <a:r>
              <a:rPr lang="en-US" altLang="ko-KR" b="1" dirty="0"/>
              <a:t> </a:t>
            </a:r>
            <a:r>
              <a:rPr lang="ko-KR" altLang="en-US" b="1" dirty="0"/>
              <a:t>압축 해제 한곳 위치에 </a:t>
            </a:r>
            <a:r>
              <a:rPr lang="en-US" altLang="ko-KR" b="1" dirty="0"/>
              <a:t>ndk-build.cmd </a:t>
            </a:r>
            <a:r>
              <a:rPr lang="ko-KR" altLang="en-US" b="1" dirty="0" smtClean="0"/>
              <a:t>파일</a:t>
            </a:r>
            <a:endParaRPr lang="en-US" altLang="ko-KR" b="1" dirty="0" smtClean="0"/>
          </a:p>
          <a:p>
            <a:endParaRPr lang="ko-KR" altLang="en-US" dirty="0"/>
          </a:p>
          <a:p>
            <a:r>
              <a:rPr lang="ko-KR" altLang="en-US" b="1" dirty="0"/>
              <a:t> </a:t>
            </a:r>
            <a:r>
              <a:rPr lang="en-US" altLang="ko-KR" b="1" dirty="0" err="1"/>
              <a:t>Paramaters</a:t>
            </a:r>
            <a:r>
              <a:rPr lang="en-US" altLang="ko-KR" b="1" dirty="0"/>
              <a:t> :  </a:t>
            </a:r>
            <a:r>
              <a:rPr lang="ko-KR" altLang="en-US" b="1" dirty="0" smtClean="0"/>
              <a:t>없음</a:t>
            </a:r>
            <a:endParaRPr lang="en-US" altLang="ko-KR" b="1" dirty="0" smtClean="0"/>
          </a:p>
          <a:p>
            <a:endParaRPr lang="en-US" altLang="ko-KR" dirty="0"/>
          </a:p>
          <a:p>
            <a:r>
              <a:rPr lang="en-US" altLang="ko-KR" b="1" dirty="0"/>
              <a:t> Working directory : </a:t>
            </a:r>
            <a:endParaRPr lang="en-US" altLang="ko-KR" b="1" dirty="0" smtClean="0"/>
          </a:p>
          <a:p>
            <a:r>
              <a:rPr lang="en-US" altLang="ko-KR" dirty="0"/>
              <a:t> </a:t>
            </a:r>
            <a:r>
              <a:rPr lang="en-US" altLang="ko-KR" b="1" dirty="0"/>
              <a:t>$</a:t>
            </a:r>
            <a:r>
              <a:rPr lang="en-US" altLang="ko-KR" b="1" dirty="0" err="1"/>
              <a:t>ProjectFileDir</a:t>
            </a:r>
            <a:r>
              <a:rPr lang="en-US" altLang="ko-KR" b="1" dirty="0"/>
              <a:t>$\</a:t>
            </a:r>
            <a:r>
              <a:rPr lang="en-US" altLang="ko-KR" b="1" dirty="0" smtClean="0"/>
              <a:t>app\</a:t>
            </a:r>
            <a:r>
              <a:rPr lang="en-US" altLang="ko-KR" b="1" dirty="0" err="1" smtClean="0"/>
              <a:t>src</a:t>
            </a:r>
            <a:r>
              <a:rPr lang="en-US" altLang="ko-KR" b="1" dirty="0" smtClean="0"/>
              <a:t>\main\</a:t>
            </a:r>
            <a:r>
              <a:rPr lang="en-US" altLang="ko-KR" b="1" dirty="0" err="1" smtClean="0"/>
              <a:t>jni</a:t>
            </a:r>
            <a:endParaRPr lang="en-US" altLang="ko-KR" b="1" dirty="0" smtClean="0"/>
          </a:p>
          <a:p>
            <a:endParaRPr lang="en-US" altLang="ko-KR" dirty="0"/>
          </a:p>
          <a:p>
            <a:r>
              <a:rPr lang="ko-KR" altLang="en-US" dirty="0"/>
              <a:t>위와 같이 설정한다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>출처</a:t>
            </a:r>
            <a:r>
              <a:rPr lang="en-US" altLang="ko-KR" dirty="0"/>
              <a:t>: http://</a:t>
            </a:r>
            <a:r>
              <a:rPr lang="en-US" altLang="ko-KR" dirty="0" smtClean="0">
                <a:solidFill>
                  <a:srgbClr val="FF0000"/>
                </a:solidFill>
              </a:rPr>
              <a:t>dwfox.tistory.com/22</a:t>
            </a:r>
            <a:endParaRPr lang="en-US" altLang="ko-KR" i="1" dirty="0" smtClean="0">
              <a:solidFill>
                <a:srgbClr val="FF0000"/>
              </a:solidFill>
            </a:endParaRPr>
          </a:p>
          <a:p>
            <a:endParaRPr lang="ko-KR" altLang="en-US" i="1" dirty="0"/>
          </a:p>
        </p:txBody>
      </p:sp>
    </p:spTree>
    <p:extLst>
      <p:ext uri="{BB962C8B-B14F-4D97-AF65-F5344CB8AC3E}">
        <p14:creationId xmlns:p14="http://schemas.microsoft.com/office/powerpoint/2010/main" val="179928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3205" y="752064"/>
            <a:ext cx="8596668" cy="1320800"/>
          </a:xfrm>
        </p:spPr>
        <p:txBody>
          <a:bodyPr/>
          <a:lstStyle/>
          <a:p>
            <a:r>
              <a:rPr lang="en-US" altLang="ko-KR" b="1" dirty="0"/>
              <a:t>JNI </a:t>
            </a:r>
            <a:r>
              <a:rPr lang="ko-KR" altLang="en-US" b="1" dirty="0"/>
              <a:t>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2464"/>
            <a:ext cx="8596668" cy="4095676"/>
          </a:xfrm>
        </p:spPr>
        <p:txBody>
          <a:bodyPr/>
          <a:lstStyle/>
          <a:p>
            <a:r>
              <a:rPr lang="en-US" altLang="ko-KR" dirty="0" err="1" smtClean="0"/>
              <a:t>ndk</a:t>
            </a:r>
            <a:r>
              <a:rPr lang="en-US" altLang="ko-KR" dirty="0" smtClean="0"/>
              <a:t>-build </a:t>
            </a:r>
            <a:r>
              <a:rPr lang="ko-KR" altLang="en-US" dirty="0" smtClean="0"/>
              <a:t>만들기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Cont</a:t>
            </a:r>
            <a:r>
              <a:rPr lang="en-US" altLang="ko-KR" dirty="0" smtClean="0"/>
              <a:t>…)</a:t>
            </a:r>
          </a:p>
          <a:p>
            <a:pPr lvl="1"/>
            <a:r>
              <a:rPr lang="en-US" altLang="ko-KR" dirty="0" err="1"/>
              <a:t>j</a:t>
            </a:r>
            <a:r>
              <a:rPr lang="en-US" altLang="ko-KR" dirty="0" err="1" smtClean="0"/>
              <a:t>ni</a:t>
            </a:r>
            <a:r>
              <a:rPr lang="ko-KR" altLang="en-US" dirty="0" smtClean="0"/>
              <a:t>폴더 오른쪽 클릭 </a:t>
            </a:r>
            <a:r>
              <a:rPr lang="en-US" altLang="ko-KR" dirty="0" smtClean="0"/>
              <a:t>-&gt; NDK -&gt; </a:t>
            </a:r>
            <a:r>
              <a:rPr lang="en-US" altLang="ko-KR" dirty="0" err="1" smtClean="0"/>
              <a:t>ndk</a:t>
            </a:r>
            <a:r>
              <a:rPr lang="en-US" altLang="ko-KR" dirty="0" smtClean="0"/>
              <a:t>-build</a:t>
            </a:r>
          </a:p>
          <a:p>
            <a:pPr lvl="1"/>
            <a:r>
              <a:rPr lang="en-US" altLang="ko-KR" dirty="0" smtClean="0"/>
              <a:t>app -&gt; </a:t>
            </a:r>
            <a:r>
              <a:rPr lang="en-US" altLang="ko-KR" dirty="0" err="1" smtClean="0"/>
              <a:t>src</a:t>
            </a:r>
            <a:r>
              <a:rPr lang="en-US" altLang="ko-KR" dirty="0" smtClean="0"/>
              <a:t> -&gt; main -&gt; libs </a:t>
            </a:r>
            <a:r>
              <a:rPr lang="ko-KR" altLang="en-US" dirty="0" smtClean="0"/>
              <a:t>폴더 확인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30</a:t>
            </a:fld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660" y="2733264"/>
            <a:ext cx="4737567" cy="397681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1851" y="3574565"/>
            <a:ext cx="2771775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301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3205" y="752064"/>
            <a:ext cx="8596668" cy="1320800"/>
          </a:xfrm>
        </p:spPr>
        <p:txBody>
          <a:bodyPr/>
          <a:lstStyle/>
          <a:p>
            <a:r>
              <a:rPr lang="en-US" altLang="ko-KR" b="1" dirty="0"/>
              <a:t>JNI </a:t>
            </a:r>
            <a:r>
              <a:rPr lang="ko-KR" altLang="en-US" b="1" dirty="0"/>
              <a:t>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2464"/>
            <a:ext cx="8596668" cy="4095676"/>
          </a:xfrm>
        </p:spPr>
        <p:txBody>
          <a:bodyPr/>
          <a:lstStyle/>
          <a:p>
            <a:r>
              <a:rPr lang="en-US" altLang="ko-KR" dirty="0" err="1" smtClean="0"/>
              <a:t>Build.gradle</a:t>
            </a:r>
            <a:r>
              <a:rPr lang="en-US" altLang="ko-KR" dirty="0" smtClean="0"/>
              <a:t> </a:t>
            </a:r>
            <a:r>
              <a:rPr lang="ko-KR" altLang="en-US" dirty="0" smtClean="0"/>
              <a:t>경로 설정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Android.mk </a:t>
            </a:r>
            <a:r>
              <a:rPr lang="ko-KR" altLang="en-US" dirty="0" smtClean="0"/>
              <a:t>경로를 코드로 설정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31</a:t>
            </a:fld>
            <a:endParaRPr 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2498062"/>
            <a:ext cx="3074395" cy="35433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6238" y="2498062"/>
            <a:ext cx="7085874" cy="3670478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677334" y="5795682"/>
            <a:ext cx="3074395" cy="2456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746812" y="3442447"/>
            <a:ext cx="3671047" cy="7933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10663518" y="2498062"/>
            <a:ext cx="608594" cy="1913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/>
          <p:cNvCxnSpPr>
            <a:stCxn id="11" idx="3"/>
            <a:endCxn id="12" idx="1"/>
          </p:cNvCxnSpPr>
          <p:nvPr/>
        </p:nvCxnSpPr>
        <p:spPr>
          <a:xfrm flipV="1">
            <a:off x="8417859" y="2593737"/>
            <a:ext cx="2245659" cy="124539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805752" y="4783521"/>
            <a:ext cx="3805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작성 후 상단의 </a:t>
            </a:r>
            <a:r>
              <a:rPr lang="en-US" altLang="ko-KR" dirty="0" smtClean="0"/>
              <a:t>Sync Now </a:t>
            </a:r>
            <a:r>
              <a:rPr lang="ko-KR" altLang="en-US" dirty="0" smtClean="0"/>
              <a:t>클릭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3934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 smtClean="0"/>
              <a:t>JNI </a:t>
            </a:r>
            <a:r>
              <a:rPr lang="ko-KR" altLang="en-US" b="1" dirty="0" smtClean="0"/>
              <a:t>실습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1704"/>
            <a:ext cx="8596668" cy="4211053"/>
          </a:xfrm>
        </p:spPr>
        <p:txBody>
          <a:bodyPr>
            <a:normAutofit/>
          </a:bodyPr>
          <a:lstStyle/>
          <a:p>
            <a:r>
              <a:rPr lang="ko-KR" altLang="en-US" b="1" dirty="0" smtClean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결과 확인</a:t>
            </a:r>
            <a:endParaRPr lang="en-US" altLang="ko-KR" dirty="0" smtClean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  <a:sym typeface="Wingdings" panose="05000000000000000000" pitchFamily="2" charset="2"/>
            </a:endParaRPr>
          </a:p>
        </p:txBody>
      </p:sp>
      <p:sp>
        <p:nvSpPr>
          <p:cNvPr id="10" name="오른쪽 화살표 9"/>
          <p:cNvSpPr/>
          <p:nvPr/>
        </p:nvSpPr>
        <p:spPr>
          <a:xfrm>
            <a:off x="5581885" y="3870282"/>
            <a:ext cx="360040" cy="692756"/>
          </a:xfrm>
          <a:prstGeom prst="rightArrow">
            <a:avLst/>
          </a:prstGeom>
          <a:solidFill>
            <a:srgbClr val="FF89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506" y="1989802"/>
            <a:ext cx="3780305" cy="466649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999" y="1960100"/>
            <a:ext cx="3590683" cy="469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562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SQLite</a:t>
            </a:r>
            <a:endParaRPr lang="ko-KR" altLang="en-US" b="1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207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 b="1" dirty="0" smtClean="0"/>
              <a:t>데이터베이스</a:t>
            </a:r>
            <a:r>
              <a:rPr lang="en-US" altLang="ko-KR" b="1" dirty="0" smtClean="0"/>
              <a:t>, SQL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1704"/>
            <a:ext cx="8596668" cy="4211053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데이터 베이스 </a:t>
            </a:r>
            <a:r>
              <a:rPr lang="en-US" altLang="ko-KR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(DB : </a:t>
            </a:r>
            <a:r>
              <a:rPr lang="en-US" altLang="ko-KR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DataBase</a:t>
            </a:r>
            <a:r>
              <a:rPr lang="en-US" altLang="ko-KR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endParaRPr lang="en-US" altLang="ko-KR" sz="2400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상호 연관이 있는 자료</a:t>
            </a:r>
            <a:r>
              <a:rPr lang="en-US" altLang="ko-KR" sz="14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(Data)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들을 많이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모아둔 것</a:t>
            </a:r>
            <a:endParaRPr lang="en-US" altLang="ko-KR" sz="20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여러 데이터를 구조화하여 저장함</a:t>
            </a:r>
            <a:endParaRPr lang="en-US" altLang="ko-KR" sz="20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데이터의 중복을 최소화하고 검색 및 공유가 용이하도록 함</a:t>
            </a:r>
            <a:endParaRPr lang="en-US" altLang="ko-KR" sz="20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342900" lvl="1" indent="-342900">
              <a:lnSpc>
                <a:spcPct val="160000"/>
              </a:lnSpc>
            </a:pPr>
            <a:r>
              <a:rPr lang="ko-KR" altLang="en-US" sz="24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데이터베이스 관리 시스템 </a:t>
            </a:r>
            <a:r>
              <a:rPr lang="en-US" altLang="ko-KR" sz="18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(DBMS : </a:t>
            </a:r>
            <a:r>
              <a:rPr lang="en-US" altLang="ko-KR" sz="18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DataBase</a:t>
            </a:r>
            <a:r>
              <a:rPr lang="en-US" altLang="ko-KR" sz="18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Management System)</a:t>
            </a:r>
            <a:endParaRPr lang="en-US" altLang="ko-KR" sz="2000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60000"/>
              </a:lnSpc>
              <a:buFont typeface="Wingdings" pitchFamily="2" charset="2"/>
              <a:buChar char="§"/>
            </a:pP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사용자의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요구에 따라 정보를 생성해주고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DB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를 관리해주는 소프트웨어</a:t>
            </a:r>
            <a:endParaRPr lang="en-US" altLang="ko-KR" sz="20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60000"/>
              </a:lnSpc>
              <a:buFont typeface="Wingdings" pitchFamily="2" charset="2"/>
              <a:buChar char="§"/>
            </a:pP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기존 파일 시스템에서 데이터의 종속성 및 </a:t>
            </a:r>
            <a:r>
              <a:rPr lang="ko-KR" altLang="en-US" sz="20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중복성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문제를 해결</a:t>
            </a:r>
            <a:endParaRPr lang="en-US" altLang="ko-KR" sz="20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608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 b="1" dirty="0" smtClean="0"/>
              <a:t>데이터베이스</a:t>
            </a:r>
            <a:r>
              <a:rPr lang="en-US" altLang="ko-KR" b="1" dirty="0" smtClean="0"/>
              <a:t>, SQL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1704"/>
            <a:ext cx="8596668" cy="421105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SQL</a:t>
            </a:r>
            <a:r>
              <a:rPr lang="ko-KR" altLang="en-US" sz="24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(Structured Query Language)</a:t>
            </a:r>
            <a:endParaRPr lang="en-US" altLang="ko-KR" sz="2400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DB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를 이용 및 접근하기 위한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DBMS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와의 통신 수단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· 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언어</a:t>
            </a:r>
            <a:endParaRPr lang="en-US" altLang="ko-KR" sz="20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데이터 </a:t>
            </a:r>
            <a:r>
              <a:rPr lang="ko-KR" altLang="en-US" sz="2000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정의어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(DDL : Data Definition Language)</a:t>
            </a:r>
            <a:r>
              <a:rPr lang="en-US" altLang="ko-KR" sz="18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8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및</a:t>
            </a:r>
            <a:r>
              <a:rPr lang="en-US" altLang="ko-KR" sz="20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/>
            </a:r>
            <a:br>
              <a:rPr lang="en-US" altLang="ko-KR" sz="20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</a:br>
            <a:r>
              <a:rPr lang="ko-KR" altLang="en-US" sz="20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데이터 </a:t>
            </a:r>
            <a:r>
              <a:rPr lang="ko-KR" altLang="en-US" sz="2000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조작어</a:t>
            </a:r>
            <a:r>
              <a:rPr lang="en-US" altLang="ko-KR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(DML : Data Manipulation Language)</a:t>
            </a:r>
            <a:r>
              <a:rPr lang="ko-KR" altLang="en-US" sz="20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를 포함</a:t>
            </a:r>
            <a:endParaRPr lang="en-US" altLang="ko-KR" sz="2000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DB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에 대한 질의 기능을 갖고 있음</a:t>
            </a:r>
            <a:endParaRPr lang="en-US" altLang="ko-KR" sz="20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20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418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 smtClean="0"/>
              <a:t>SQLite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1704"/>
            <a:ext cx="8596668" cy="421105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특징</a:t>
            </a:r>
            <a:endParaRPr lang="en-US" altLang="ko-KR" sz="2000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DBMS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의 일종</a:t>
            </a: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8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용량은 적지만 </a:t>
            </a:r>
            <a:r>
              <a:rPr lang="ko-KR" altLang="en-US" sz="1800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안정적임</a:t>
            </a: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Server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용이 아닌 응용 프로그램에 </a:t>
            </a:r>
            <a:r>
              <a:rPr lang="ko-KR" altLang="en-US" sz="18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내부적으로 주로 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사용</a:t>
            </a: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데이터를 하나의 파일에 정리하여 저장함</a:t>
            </a: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C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언어로 작성이 되어 처리 속도가 빠름</a:t>
            </a: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안드로이드에 기본 탑재된 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DBMS</a:t>
            </a:r>
          </a:p>
          <a:p>
            <a:pPr>
              <a:lnSpc>
                <a:spcPct val="150000"/>
              </a:lnSpc>
            </a:pP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44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 smtClean="0"/>
              <a:t>SQLite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1704"/>
            <a:ext cx="8596668" cy="456398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Data Types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NULL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INTEGER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Signed Integer, 1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· 2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· 3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· 4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· 6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· 8 Bytes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로 저장</a:t>
            </a:r>
            <a:endParaRPr lang="en-US" altLang="ko-KR" sz="16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REAL</a:t>
            </a: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부동 소수점 값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8 Bytes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로 </a:t>
            </a:r>
            <a:r>
              <a:rPr lang="ko-KR" altLang="en-US" sz="16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저장</a:t>
            </a:r>
            <a:endParaRPr lang="en-US" altLang="ko-KR" sz="1600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TEXT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문자열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Encoding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을 통해 저장됨 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(UTF-8, UTF-16BE, UTR-16LE)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BLOB 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(Binary Large </a:t>
            </a:r>
            <a:r>
              <a:rPr lang="en-US" altLang="ko-KR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OBject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입력된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데이터를 그대로 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Binary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의 형태로 저장</a:t>
            </a:r>
            <a:endParaRPr lang="en-US" altLang="ko-KR" sz="16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16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51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 smtClean="0"/>
              <a:t>SQLite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1704"/>
            <a:ext cx="8596668" cy="456398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SQLiteOpenHelper</a:t>
            </a:r>
            <a:endParaRPr lang="en-US" altLang="ko-KR" sz="2400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DB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관리를 유용하게 하기 위해 안드로이드에서 제공하는 클래스</a:t>
            </a:r>
            <a:endParaRPr lang="en-US" altLang="ko-KR" sz="20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DB 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객체를 생성 및 여는 역할을 함</a:t>
            </a:r>
            <a:endParaRPr lang="en-US" altLang="ko-KR" sz="20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DB 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객체를 생성하는 방법은 본 클래스가 알아서 판단한다</a:t>
            </a:r>
            <a:endParaRPr lang="en-US" altLang="ko-KR" sz="16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onCreate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en-US" altLang="ko-KR" sz="16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onUpgrade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등의 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Method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만 작성하면 더 이상 </a:t>
            </a:r>
            <a:r>
              <a:rPr lang="ko-KR" altLang="en-US" sz="16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신경쓰지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않아도 된다</a:t>
            </a:r>
            <a:endParaRPr lang="en-US" altLang="ko-KR" sz="16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54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 smtClean="0"/>
              <a:t>SQLite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1704"/>
            <a:ext cx="9429192" cy="456398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SQLiteOpenHelper</a:t>
            </a: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관련</a:t>
            </a: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Methods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8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SQLiteOpenHelper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(Context  </a:t>
            </a:r>
            <a:r>
              <a:rPr lang="en-US" altLang="ko-KR" sz="18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context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String name,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8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					   </a:t>
            </a:r>
            <a:r>
              <a:rPr lang="en-US" altLang="ko-KR" sz="1800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SQLiteDatabase.CursorFactory</a:t>
            </a:r>
            <a:r>
              <a:rPr lang="en-US" altLang="ko-KR" sz="18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factory, </a:t>
            </a:r>
            <a:r>
              <a:rPr lang="en-US" altLang="ko-KR" sz="1800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int</a:t>
            </a:r>
            <a:r>
              <a:rPr lang="en-US" altLang="ko-KR" sz="18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version) 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SQLiteOpenHelper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를 생성하기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위한 </a:t>
            </a:r>
            <a:r>
              <a:rPr lang="ko-KR" altLang="en-US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생성자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매개변수</a:t>
            </a:r>
            <a:endParaRPr lang="en-US" altLang="ko-KR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554962"/>
              </p:ext>
            </p:extLst>
          </p:nvPr>
        </p:nvGraphicFramePr>
        <p:xfrm>
          <a:off x="1003760" y="4074466"/>
          <a:ext cx="9102765" cy="1885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0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28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매개변수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설명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7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context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DB</a:t>
                      </a:r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를 생성하는 </a:t>
                      </a:r>
                      <a:r>
                        <a:rPr lang="ko-KR" altLang="en-US" sz="1600" kern="12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위치설정</a:t>
                      </a:r>
                      <a:r>
                        <a:rPr lang="en-US" altLang="ko-KR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. </a:t>
                      </a:r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보통 </a:t>
                      </a:r>
                      <a:r>
                        <a:rPr lang="en-US" altLang="ko-KR" sz="1600" kern="12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MainActivity</a:t>
                      </a:r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를</a:t>
                      </a:r>
                      <a:r>
                        <a:rPr lang="en-US" altLang="ko-KR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전달함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전달하려는</a:t>
                      </a:r>
                      <a:r>
                        <a:rPr lang="en-US" altLang="ko-KR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DB</a:t>
                      </a:r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의 이름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factory</a:t>
                      </a:r>
                      <a:endParaRPr lang="en-US" altLang="ko-KR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Custom Cursor</a:t>
                      </a:r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를 사용하고자 할 때 지정</a:t>
                      </a:r>
                      <a:r>
                        <a:rPr lang="en-US" altLang="ko-KR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.</a:t>
                      </a:r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en-US" altLang="ko-KR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null</a:t>
                      </a:r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을 입력하면 표준 </a:t>
                      </a:r>
                      <a:r>
                        <a:rPr lang="en-US" altLang="ko-KR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Cursor</a:t>
                      </a:r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를 사용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version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전달하려는</a:t>
                      </a:r>
                      <a:r>
                        <a:rPr lang="en-US" altLang="ko-KR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DB</a:t>
                      </a:r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의 버전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78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 smtClean="0"/>
              <a:t>SQLite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1704"/>
            <a:ext cx="9429192" cy="456398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SQLiteOpenHelper</a:t>
            </a:r>
            <a:r>
              <a:rPr lang="en-US" altLang="ko-KR" sz="24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4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관련</a:t>
            </a:r>
            <a:r>
              <a:rPr lang="en-US" altLang="ko-KR" sz="24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Methods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onCreate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 )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DB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가 처음 만들어질 때 호출됨</a:t>
            </a:r>
            <a:endParaRPr lang="en-US" altLang="ko-KR" sz="16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SQL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문의 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CREATE TABLE 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명령을 사용하여  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DB 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테이블을 생성해야 함</a:t>
            </a:r>
            <a:endParaRPr lang="en-US" altLang="ko-KR" sz="16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onUpgrade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 )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DB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를 수정 및 갱신 또는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삭제할 때 호출됨</a:t>
            </a:r>
            <a:endParaRPr lang="en-US" altLang="ko-KR" sz="16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SQL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문의  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ALTER TABLE 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명령을 사용하여 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DB 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테이블의 틀을 수정</a:t>
            </a:r>
            <a:endParaRPr lang="en-US" altLang="ko-KR" sz="16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SQL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문의 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DROP TABLE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명령을 사용하여 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DB 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테이블을 삭제</a:t>
            </a:r>
            <a:endParaRPr lang="en-US" altLang="ko-KR" sz="16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96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 smtClean="0"/>
              <a:t>SQLite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1704"/>
            <a:ext cx="9429192" cy="456398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SQLiteOpenHelper</a:t>
            </a:r>
            <a:r>
              <a:rPr lang="en-US" altLang="ko-KR" sz="24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4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관련</a:t>
            </a:r>
            <a:r>
              <a:rPr lang="en-US" altLang="ko-KR" sz="24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Methods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getReadableDatabase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 )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DB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를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읽기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위해 호출함</a:t>
            </a:r>
            <a:endParaRPr lang="en-US" altLang="ko-KR" sz="16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6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읽고자하는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DB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가 없다면 </a:t>
            </a:r>
            <a:r>
              <a:rPr lang="en-US" altLang="ko-KR" sz="16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onCreate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()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가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버전이 바뀌었다면 </a:t>
            </a:r>
            <a:r>
              <a:rPr lang="en-US" altLang="ko-KR" sz="16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onUpgrade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()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가 호출됨</a:t>
            </a:r>
            <a:endParaRPr lang="en-US" altLang="ko-KR" sz="16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getWritableDatabase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 )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DB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에 쓰기 위해 호출함</a:t>
            </a:r>
            <a:endParaRPr lang="en-US" altLang="ko-KR" sz="16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접근 권한이 없거나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Memory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에 용량이 부족할 경우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호출이 실패함</a:t>
            </a:r>
            <a:endParaRPr lang="en-US" altLang="ko-KR" sz="16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close()</a:t>
            </a: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DB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를 닫기 위해 </a:t>
            </a:r>
            <a:r>
              <a:rPr lang="ko-KR" altLang="en-US" sz="16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호출함</a:t>
            </a:r>
            <a:endParaRPr lang="en-US" altLang="ko-KR" sz="16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894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 smtClean="0"/>
              <a:t>SQLite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1704"/>
            <a:ext cx="9429192" cy="4563980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Clr>
                <a:srgbClr val="5FCBEF"/>
              </a:buClr>
            </a:pPr>
            <a:r>
              <a:rPr lang="en-US" altLang="ko-KR" sz="2400" b="1" dirty="0" err="1">
                <a:solidFill>
                  <a:prstClr val="black">
                    <a:lumMod val="75000"/>
                    <a:lumOff val="25000"/>
                  </a:prstClr>
                </a:solidFill>
                <a:ea typeface="함초롬바탕" panose="02030504000101010101" pitchFamily="18" charset="-127"/>
                <a:cs typeface="함초롬바탕" panose="02030504000101010101" pitchFamily="18" charset="-127"/>
              </a:rPr>
              <a:t>SQLiteOpenHelper</a:t>
            </a:r>
            <a:r>
              <a:rPr lang="en-US" altLang="ko-KR" sz="2400" b="1" dirty="0">
                <a:solidFill>
                  <a:prstClr val="black">
                    <a:lumMod val="75000"/>
                    <a:lumOff val="25000"/>
                  </a:prstClr>
                </a:solidFill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ea typeface="함초롬바탕" panose="02030504000101010101" pitchFamily="18" charset="-127"/>
                <a:cs typeface="함초롬바탕" panose="02030504000101010101" pitchFamily="18" charset="-127"/>
              </a:rPr>
              <a:t>및 </a:t>
            </a:r>
            <a:r>
              <a:rPr lang="en-US" altLang="ko-KR" sz="2400" b="1" dirty="0">
                <a:solidFill>
                  <a:prstClr val="black">
                    <a:lumMod val="75000"/>
                    <a:lumOff val="25000"/>
                  </a:prstClr>
                </a:solidFill>
                <a:ea typeface="함초롬바탕" panose="02030504000101010101" pitchFamily="18" charset="-127"/>
                <a:cs typeface="함초롬바탕" panose="02030504000101010101" pitchFamily="18" charset="-127"/>
              </a:rPr>
              <a:t>DB </a:t>
            </a:r>
            <a:r>
              <a:rPr lang="ko-KR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ea typeface="함초롬바탕" panose="02030504000101010101" pitchFamily="18" charset="-127"/>
                <a:cs typeface="함초롬바탕" panose="02030504000101010101" pitchFamily="18" charset="-127"/>
              </a:rPr>
              <a:t>생성 예시 </a:t>
            </a:r>
            <a:r>
              <a:rPr lang="en-US" altLang="ko-KR" sz="2400" b="1" dirty="0">
                <a:solidFill>
                  <a:prstClr val="black">
                    <a:lumMod val="75000"/>
                    <a:lumOff val="25000"/>
                  </a:prstClr>
                </a:solidFill>
                <a:ea typeface="함초롬바탕" panose="02030504000101010101" pitchFamily="18" charset="-127"/>
                <a:cs typeface="함초롬바탕" panose="02030504000101010101" pitchFamily="18" charset="-127"/>
              </a:rPr>
              <a:t>(DBHelper.java)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rcRect l="35082" t="22307" r="16123" b="33847"/>
          <a:stretch/>
        </p:blipFill>
        <p:spPr>
          <a:xfrm>
            <a:off x="1582615" y="2163077"/>
            <a:ext cx="8229600" cy="44311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370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 smtClean="0"/>
              <a:t>SQLite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1704"/>
            <a:ext cx="9429192" cy="456398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SQLiteOpenHelper</a:t>
            </a:r>
            <a:r>
              <a:rPr lang="en-US" altLang="ko-KR" sz="24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4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및 </a:t>
            </a:r>
            <a:r>
              <a:rPr lang="en-US" altLang="ko-KR" sz="24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DB </a:t>
            </a:r>
            <a:r>
              <a:rPr lang="ko-KR" altLang="en-US" sz="24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생성 예시 </a:t>
            </a:r>
            <a:r>
              <a:rPr lang="en-US" altLang="ko-KR" sz="24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(MainActivity.java)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l="35288" t="20128" r="28659" b="51923"/>
          <a:stretch/>
        </p:blipFill>
        <p:spPr>
          <a:xfrm>
            <a:off x="1721601" y="2329552"/>
            <a:ext cx="6508134" cy="40769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456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 smtClean="0"/>
              <a:t>DB</a:t>
            </a:r>
            <a:r>
              <a:rPr lang="ko-KR" altLang="en-US" b="1" dirty="0" smtClean="0"/>
              <a:t>의 데이터 접근 </a:t>
            </a:r>
            <a:r>
              <a:rPr lang="en-US" altLang="ko-KR" b="1" dirty="0" smtClean="0"/>
              <a:t>(1/4)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데이터 삽입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1704"/>
            <a:ext cx="9429192" cy="456398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long insert </a:t>
            </a: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(String table, String </a:t>
            </a:r>
            <a:r>
              <a:rPr lang="en-US" altLang="ko-KR" sz="20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nullColumnHack</a:t>
            </a: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en-US" altLang="ko-KR" sz="20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ContentValues</a:t>
            </a: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values)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DB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에 데이터를 삽입하기 위한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method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입력한 데이터의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id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를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return 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함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매개변수</a:t>
            </a:r>
            <a:endParaRPr lang="en-US" altLang="ko-KR" sz="20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021804"/>
              </p:ext>
            </p:extLst>
          </p:nvPr>
        </p:nvGraphicFramePr>
        <p:xfrm>
          <a:off x="1538412" y="3954131"/>
          <a:ext cx="8697788" cy="1748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2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28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매개변수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설명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7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table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데이터를 삽입하려는 </a:t>
                      </a:r>
                      <a:r>
                        <a:rPr lang="en-US" altLang="ko-KR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DB</a:t>
                      </a:r>
                      <a:r>
                        <a:rPr lang="ko-KR" altLang="en-US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의 테이블</a:t>
                      </a:r>
                      <a:r>
                        <a:rPr lang="en-US" altLang="ko-KR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ko-KR" altLang="en-US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이름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nullColumnHack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SQLite</a:t>
                      </a:r>
                      <a:r>
                        <a:rPr lang="ko-KR" altLang="en-US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에서는 값이 없는 빈 행을 삽입하는 것을 허용하지 않음</a:t>
                      </a:r>
                      <a:endParaRPr lang="en-US" altLang="ko-KR" sz="1600" kern="12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latinLnBrk="1"/>
                      <a:r>
                        <a:rPr lang="ko-KR" altLang="en-US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따라서</a:t>
                      </a:r>
                      <a:r>
                        <a:rPr lang="en-US" altLang="ko-KR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, </a:t>
                      </a:r>
                      <a:r>
                        <a:rPr lang="ko-KR" altLang="en-US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열에 </a:t>
                      </a:r>
                      <a:r>
                        <a:rPr lang="en-US" altLang="ko-KR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null</a:t>
                      </a:r>
                      <a:r>
                        <a:rPr lang="ko-KR" altLang="en-US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을 넣음으로써 빈 행임을 표현함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values</a:t>
                      </a:r>
                      <a:endParaRPr lang="en-US" altLang="ko-KR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테이블에 삽입하고자 하는 </a:t>
                      </a:r>
                      <a:r>
                        <a:rPr lang="en-US" altLang="ko-KR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map </a:t>
                      </a:r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형태의 데이터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945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 smtClean="0"/>
              <a:t>DB</a:t>
            </a:r>
            <a:r>
              <a:rPr lang="ko-KR" altLang="en-US" b="1" dirty="0" smtClean="0"/>
              <a:t>의 데이터 접근</a:t>
            </a:r>
            <a:r>
              <a:rPr lang="en-US" altLang="ko-KR" b="1" dirty="0"/>
              <a:t> (1/4)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데이터 삽입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1704"/>
            <a:ext cx="9429192" cy="456398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long insert </a:t>
            </a: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(String table, String </a:t>
            </a:r>
            <a:r>
              <a:rPr lang="en-US" altLang="ko-KR" sz="20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nullColumnHack</a:t>
            </a: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en-US" altLang="ko-KR" sz="20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ContentValues</a:t>
            </a: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values)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ContentValues</a:t>
            </a:r>
            <a:endParaRPr lang="en-US" altLang="ko-KR" sz="20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DB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에 기록할 데이터 </a:t>
            </a:r>
            <a:r>
              <a:rPr lang="ko-KR" altLang="en-US" sz="16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맵을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작성하기 위한 클래스</a:t>
            </a:r>
            <a:endParaRPr lang="en-US" altLang="ko-KR" sz="16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put() Method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를 이용하여 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(Key, Value) 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형태의 데이터를 </a:t>
            </a:r>
            <a:r>
              <a:rPr lang="en-US" altLang="ko-KR" sz="16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ContentValues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에 넣음</a:t>
            </a:r>
            <a:endParaRPr lang="en-US" altLang="ko-KR" sz="16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914400" lvl="2" indent="0">
              <a:buNone/>
            </a:pP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   Value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는 </a:t>
            </a:r>
            <a:r>
              <a:rPr lang="en-US" altLang="ko-KR" sz="16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Interger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Float, Double, String, Boolean 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등 다양한 타입을 사용할 수 있음</a:t>
            </a:r>
            <a:endParaRPr lang="en-US" altLang="ko-KR" sz="16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2914650" y="5548502"/>
            <a:ext cx="889000" cy="42718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smtClean="0">
                <a:solidFill>
                  <a:sysClr val="windowText" lastClr="000000"/>
                </a:solidFill>
              </a:rPr>
              <a:t>Data</a:t>
            </a:r>
            <a:endParaRPr lang="ko-KR" altLang="en-US" sz="1600">
              <a:solidFill>
                <a:sysClr val="windowText" lastClr="000000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4443891" y="5350247"/>
            <a:ext cx="1183259" cy="62543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Content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Values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6267391" y="5143227"/>
            <a:ext cx="1574918" cy="83245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smtClean="0">
                <a:solidFill>
                  <a:sysClr val="windowText" lastClr="000000"/>
                </a:solidFill>
              </a:rPr>
              <a:t>DataBase</a:t>
            </a:r>
            <a:endParaRPr lang="ko-KR" altLang="en-US" sz="1600">
              <a:solidFill>
                <a:sysClr val="windowText" lastClr="000000"/>
              </a:solidFill>
            </a:endParaRPr>
          </a:p>
        </p:txBody>
      </p:sp>
      <p:sp>
        <p:nvSpPr>
          <p:cNvPr id="9" name="U자형 화살표 8"/>
          <p:cNvSpPr/>
          <p:nvPr/>
        </p:nvSpPr>
        <p:spPr>
          <a:xfrm>
            <a:off x="3324394" y="4974174"/>
            <a:ext cx="1624708" cy="514073"/>
          </a:xfrm>
          <a:prstGeom prst="uturnArrow">
            <a:avLst>
              <a:gd name="adj1" fmla="val 7271"/>
              <a:gd name="adj2" fmla="val 21007"/>
              <a:gd name="adj3" fmla="val 39641"/>
              <a:gd name="adj4" fmla="val 43750"/>
              <a:gd name="adj5" fmla="val 75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U자형 화살표 9"/>
          <p:cNvSpPr/>
          <p:nvPr/>
        </p:nvSpPr>
        <p:spPr>
          <a:xfrm>
            <a:off x="5262000" y="4647525"/>
            <a:ext cx="1965897" cy="653300"/>
          </a:xfrm>
          <a:prstGeom prst="uturnArrow">
            <a:avLst>
              <a:gd name="adj1" fmla="val 7059"/>
              <a:gd name="adj2" fmla="val 17707"/>
              <a:gd name="adj3" fmla="val 34141"/>
              <a:gd name="adj4" fmla="val 29859"/>
              <a:gd name="adj5" fmla="val 75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45</a:t>
            </a:fld>
            <a:endParaRPr lang="en-US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5764310" y="4149065"/>
            <a:ext cx="889000" cy="42718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Insert()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763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 smtClean="0"/>
              <a:t>DB</a:t>
            </a:r>
            <a:r>
              <a:rPr lang="ko-KR" altLang="en-US" b="1" dirty="0" smtClean="0"/>
              <a:t>의 데이터 접근 </a:t>
            </a:r>
            <a:r>
              <a:rPr lang="en-US" altLang="ko-KR" b="1" dirty="0"/>
              <a:t>(1/4)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데이터 삽입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213584"/>
            <a:ext cx="9429192" cy="456398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long insert </a:t>
            </a: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(String table, String </a:t>
            </a:r>
            <a:r>
              <a:rPr lang="en-US" altLang="ko-KR" sz="20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nullColumnHack</a:t>
            </a: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en-US" altLang="ko-KR" sz="20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ContentValues</a:t>
            </a: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values)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예시</a:t>
            </a:r>
            <a:endParaRPr lang="en-US" altLang="ko-KR" sz="20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46</a:t>
            </a:fld>
            <a:endParaRPr lang="en-US" dirty="0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589" y="2534384"/>
            <a:ext cx="5367839" cy="416553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5683" y="3009799"/>
            <a:ext cx="3886200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03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 smtClean="0"/>
              <a:t>DB</a:t>
            </a:r>
            <a:r>
              <a:rPr lang="ko-KR" altLang="en-US" b="1" dirty="0" smtClean="0"/>
              <a:t>의 데이터 접근 </a:t>
            </a:r>
            <a:r>
              <a:rPr lang="en-US" altLang="ko-KR" b="1" dirty="0" smtClean="0"/>
              <a:t>(2/4)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데이터 삭제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1704"/>
            <a:ext cx="9429192" cy="456398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int</a:t>
            </a:r>
            <a:r>
              <a:rPr lang="en-US" altLang="ko-KR" sz="24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delete </a:t>
            </a: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(String table, String </a:t>
            </a:r>
            <a:r>
              <a:rPr lang="en-US" altLang="ko-KR" sz="20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whereClause</a:t>
            </a: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en-US" altLang="ko-KR" sz="20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Stirng</a:t>
            </a: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[] </a:t>
            </a:r>
            <a:r>
              <a:rPr lang="en-US" altLang="ko-KR" sz="20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whereArgs</a:t>
            </a: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endParaRPr lang="en-US" altLang="ko-KR" sz="2400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DB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에 있는 데이터를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삭제하기 위한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Method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조건에 맞는 데이터만 삭제했다면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0, 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모든 데이터를 삭제했다면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1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을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return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매개변수</a:t>
            </a:r>
            <a:endParaRPr lang="en-US" altLang="ko-KR" sz="20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195817"/>
              </p:ext>
            </p:extLst>
          </p:nvPr>
        </p:nvGraphicFramePr>
        <p:xfrm>
          <a:off x="1538412" y="3938089"/>
          <a:ext cx="8697788" cy="1748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2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28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매개변수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설명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7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table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데이터를 삭제하려는 </a:t>
                      </a:r>
                      <a:r>
                        <a:rPr lang="en-US" altLang="ko-KR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DB</a:t>
                      </a:r>
                      <a:r>
                        <a:rPr lang="ko-KR" altLang="en-US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의 테이블 이름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whereclause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삭제하고자 하는 데이터의 조건</a:t>
                      </a:r>
                      <a:endParaRPr lang="en-US" altLang="ko-KR" sz="16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latinLnBrk="1"/>
                      <a:r>
                        <a:rPr lang="en-US" altLang="ko-KR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null</a:t>
                      </a:r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을 입력하면 모든 데이터를 삭제함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whereArgs</a:t>
                      </a:r>
                      <a:endParaRPr lang="en-US" altLang="ko-KR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조건을 규정하는 데이터 값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07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 smtClean="0"/>
              <a:t>DB</a:t>
            </a:r>
            <a:r>
              <a:rPr lang="ko-KR" altLang="en-US" b="1" dirty="0" smtClean="0"/>
              <a:t>의 데이터 접근</a:t>
            </a:r>
            <a:r>
              <a:rPr lang="ko-KR" altLang="en-US" b="1" dirty="0"/>
              <a:t> </a:t>
            </a:r>
            <a:r>
              <a:rPr lang="en-US" altLang="ko-KR" b="1" dirty="0"/>
              <a:t>(2/4)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데이터 삭제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1704"/>
            <a:ext cx="9429192" cy="456398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int</a:t>
            </a:r>
            <a:r>
              <a:rPr lang="en-US" altLang="ko-KR" sz="24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delete </a:t>
            </a: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(String table, String </a:t>
            </a:r>
            <a:r>
              <a:rPr lang="en-US" altLang="ko-KR" sz="20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whereClause</a:t>
            </a: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en-US" altLang="ko-KR" sz="20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Stirng</a:t>
            </a: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[] </a:t>
            </a:r>
            <a:r>
              <a:rPr lang="en-US" altLang="ko-KR" sz="20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whereArgs</a:t>
            </a: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예시</a:t>
            </a:r>
            <a:endParaRPr lang="en-US" altLang="ko-KR" sz="20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48</a:t>
            </a:fld>
            <a:endParaRPr 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541" y="3210877"/>
            <a:ext cx="1553141" cy="157163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3479439"/>
            <a:ext cx="4444129" cy="178161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541" y="3777478"/>
            <a:ext cx="6697979" cy="166929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6512" y="2916056"/>
            <a:ext cx="3533775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224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 smtClean="0"/>
              <a:t>DB</a:t>
            </a:r>
            <a:r>
              <a:rPr lang="ko-KR" altLang="en-US" b="1" dirty="0" smtClean="0"/>
              <a:t>의 데이터 접근 </a:t>
            </a:r>
            <a:r>
              <a:rPr lang="en-US" altLang="ko-KR" b="1" dirty="0" smtClean="0"/>
              <a:t>(3/4)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데이터 갱신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1704"/>
            <a:ext cx="9429192" cy="456398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int</a:t>
            </a:r>
            <a:r>
              <a:rPr lang="en-US" altLang="ko-KR" sz="24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update </a:t>
            </a: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(String table, </a:t>
            </a:r>
            <a:r>
              <a:rPr lang="en-US" altLang="ko-KR" sz="20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ContentValues</a:t>
            </a: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values, String </a:t>
            </a:r>
            <a:r>
              <a:rPr lang="en-US" altLang="ko-KR" sz="20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whereClause</a:t>
            </a: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String[] where </a:t>
            </a:r>
            <a:r>
              <a:rPr lang="en-US" altLang="ko-KR" sz="20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Args</a:t>
            </a: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DB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에 있는 데이터를 갱신하기 위한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Method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갱신한 열의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개수를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return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매개변수</a:t>
            </a:r>
            <a:endParaRPr lang="en-US" altLang="ko-KR" sz="20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2000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826480"/>
              </p:ext>
            </p:extLst>
          </p:nvPr>
        </p:nvGraphicFramePr>
        <p:xfrm>
          <a:off x="1538412" y="4331120"/>
          <a:ext cx="8697788" cy="2098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2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28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매개변수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설명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7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table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데이터를 갱신하려는 </a:t>
                      </a:r>
                      <a:r>
                        <a:rPr lang="en-US" altLang="ko-KR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DB</a:t>
                      </a:r>
                      <a:r>
                        <a:rPr lang="ko-KR" altLang="en-US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의 테이블 이름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7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values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4572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갱신하고자 하는 새로운 데이터</a:t>
                      </a:r>
                      <a:endParaRPr lang="en-US" altLang="ko-KR" sz="1600" kern="12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whereclause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갱신하고자 하는 데이터의 조건</a:t>
                      </a:r>
                      <a:endParaRPr lang="en-US" altLang="ko-KR" sz="16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  <a:p>
                      <a:pPr latinLnBrk="1"/>
                      <a:r>
                        <a:rPr lang="en-US" altLang="ko-KR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null</a:t>
                      </a:r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을 입력하면 모든 데이터를 갱신함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whereArgs</a:t>
                      </a:r>
                      <a:endParaRPr lang="en-US" altLang="ko-KR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조건을 규정하는 데이터 값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591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 smtClean="0"/>
              <a:t>DB</a:t>
            </a:r>
            <a:r>
              <a:rPr lang="ko-KR" altLang="en-US" b="1" dirty="0" smtClean="0"/>
              <a:t>의 데이터 접근</a:t>
            </a:r>
            <a:r>
              <a:rPr lang="ko-KR" altLang="en-US" b="1" dirty="0"/>
              <a:t> </a:t>
            </a:r>
            <a:r>
              <a:rPr lang="en-US" altLang="ko-KR" b="1" dirty="0"/>
              <a:t>(3/4)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데이터 갱신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1704"/>
            <a:ext cx="9429192" cy="456398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int</a:t>
            </a:r>
            <a:r>
              <a:rPr lang="en-US" altLang="ko-KR" sz="24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update </a:t>
            </a: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(String table, </a:t>
            </a:r>
            <a:r>
              <a:rPr lang="en-US" altLang="ko-KR" sz="20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ContentValues</a:t>
            </a: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values, String </a:t>
            </a:r>
            <a:r>
              <a:rPr lang="en-US" altLang="ko-KR" sz="20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whereClause</a:t>
            </a: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String[] where </a:t>
            </a:r>
            <a:r>
              <a:rPr lang="en-US" altLang="ko-KR" sz="20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Args</a:t>
            </a: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예시</a:t>
            </a:r>
            <a:endParaRPr lang="en-US" altLang="ko-KR" sz="20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2000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50</a:t>
            </a:fld>
            <a:endParaRPr 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595" y="3202461"/>
            <a:ext cx="1543050" cy="18097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595" y="3534565"/>
            <a:ext cx="4143375" cy="17145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4435" y="4008273"/>
            <a:ext cx="7124700" cy="200025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6512" y="2991640"/>
            <a:ext cx="3533775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695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/>
              <a:t>DB</a:t>
            </a:r>
            <a:r>
              <a:rPr lang="ko-KR" altLang="en-US" b="1" dirty="0"/>
              <a:t>의 데이터 접근 </a:t>
            </a:r>
            <a:r>
              <a:rPr lang="en-US" altLang="ko-KR" b="1" dirty="0"/>
              <a:t>(4/4)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ko-KR" altLang="en-US" b="1" dirty="0"/>
              <a:t>데이터 검색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3" y="1411704"/>
            <a:ext cx="10848919" cy="456398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Cursor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DB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의 검색 결과에서 접근할 위치를 가리키기 위한 클래스</a:t>
            </a:r>
            <a:endParaRPr lang="en-US" altLang="ko-KR" sz="20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검색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결과가 매우 많을 경우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   Cursor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를 통해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임의의 </a:t>
            </a:r>
            <a:r>
              <a:rPr lang="ko-KR" altLang="en-US" sz="20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행으로 접근하여 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데이터를 읽을 수 있음</a:t>
            </a:r>
            <a:endParaRPr lang="en-US" altLang="ko-KR" sz="20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744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 smtClean="0"/>
              <a:t>DB</a:t>
            </a:r>
            <a:r>
              <a:rPr lang="ko-KR" altLang="en-US" b="1" dirty="0" smtClean="0"/>
              <a:t>의 데이터 접근 </a:t>
            </a:r>
            <a:r>
              <a:rPr lang="en-US" altLang="ko-KR" b="1" dirty="0" smtClean="0"/>
              <a:t>(4/4)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데이터 검색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3" y="1411704"/>
            <a:ext cx="9934519" cy="456398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Cursor query </a:t>
            </a:r>
            <a:r>
              <a:rPr lang="en-US" altLang="ko-KR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(String table, String[] columns, String selection, String[] </a:t>
            </a:r>
            <a:r>
              <a:rPr lang="en-US" altLang="ko-KR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selectionArgs</a:t>
            </a:r>
            <a:r>
              <a:rPr lang="en-US" altLang="ko-KR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</a:t>
            </a:r>
          </a:p>
          <a:p>
            <a:pPr marL="0" indent="0">
              <a:buNone/>
            </a:pPr>
            <a:r>
              <a:rPr lang="en-US" altLang="ko-KR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					 String </a:t>
            </a:r>
            <a:r>
              <a:rPr lang="en-US" altLang="ko-KR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groupBy</a:t>
            </a:r>
            <a:r>
              <a:rPr lang="en-US" altLang="ko-KR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String having, String </a:t>
            </a:r>
            <a:r>
              <a:rPr lang="en-US" altLang="ko-KR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orderBy</a:t>
            </a:r>
            <a:r>
              <a:rPr lang="en-US" altLang="ko-KR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String limit)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DB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에 있는 데이터를 검색하기 위한 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Method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매개변수</a:t>
            </a: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544702"/>
              </p:ext>
            </p:extLst>
          </p:nvPr>
        </p:nvGraphicFramePr>
        <p:xfrm>
          <a:off x="1487612" y="3496146"/>
          <a:ext cx="8860348" cy="3226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1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28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매개변수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설명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7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smtClean="0"/>
                        <a:t>table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데이터를 검색하려는 </a:t>
                      </a:r>
                      <a:r>
                        <a:rPr lang="en-US" altLang="ko-KR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DB</a:t>
                      </a:r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의 테이블 이름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smtClean="0"/>
                        <a:t>columns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검색하려는 열의 이름</a:t>
                      </a:r>
                      <a:r>
                        <a:rPr lang="en-US" altLang="ko-KR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. null</a:t>
                      </a:r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을 입력하면 모든 열을 보여줌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smtClean="0"/>
                        <a:t>selection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검색하려는</a:t>
                      </a:r>
                      <a:r>
                        <a:rPr lang="en-US" altLang="ko-KR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행의 조건</a:t>
                      </a:r>
                      <a:r>
                        <a:rPr lang="en-US" altLang="ko-KR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. null</a:t>
                      </a:r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을 지정하면 모든 행을 출력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selectionArgs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Selection</a:t>
                      </a:r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의 데이터 값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523628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groupBy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검색 결과에 대해 특정 속성을 기준으로 </a:t>
                      </a:r>
                      <a:r>
                        <a:rPr lang="en-US" altLang="ko-KR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Grouping </a:t>
                      </a:r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하여 출력</a:t>
                      </a:r>
                      <a:r>
                        <a:rPr lang="en-US" altLang="ko-KR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, </a:t>
                      </a:r>
                      <a:r>
                        <a:rPr lang="en-US" altLang="ko-KR" sz="16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column</a:t>
                      </a:r>
                      <a:r>
                        <a:rPr lang="ko-KR" altLang="en-US" sz="16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명 지정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smtClean="0"/>
                        <a:t>having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Grouping</a:t>
                      </a:r>
                      <a:r>
                        <a:rPr lang="ko-KR" altLang="en-US" sz="16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된 데이터를 조건 검색</a:t>
                      </a:r>
                      <a:r>
                        <a:rPr lang="en-US" altLang="ko-KR" sz="16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ex) age &gt;20</a:t>
                      </a:r>
                      <a:endParaRPr lang="ko-KR" altLang="en-US" sz="16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orderBy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검색 결과에 대해 오름차순</a:t>
                      </a:r>
                      <a:r>
                        <a:rPr lang="en-US" altLang="ko-KR" sz="16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ko-KR" altLang="en-US" sz="16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또는 내림차순으로 정렬할지 정함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smtClean="0"/>
                        <a:t>limit 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검색 결과에 대해 최대로 출력할 행의 개수를 정함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272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/>
              <a:t>DB</a:t>
            </a:r>
            <a:r>
              <a:rPr lang="ko-KR" altLang="en-US" b="1" dirty="0"/>
              <a:t>의 데이터 접근 </a:t>
            </a:r>
            <a:r>
              <a:rPr lang="en-US" altLang="ko-KR" b="1" dirty="0"/>
              <a:t>(4/4)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ko-KR" altLang="en-US" b="1" dirty="0"/>
              <a:t>데이터 검색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3" y="1411704"/>
            <a:ext cx="10848919" cy="4563980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150000"/>
              </a:lnSpc>
            </a:pPr>
            <a:r>
              <a:rPr lang="en-US" altLang="ko-KR" sz="24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SimpleCursorAdapter</a:t>
            </a:r>
            <a:endParaRPr lang="en-US" altLang="ko-KR" sz="2000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Cursor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를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Adapter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에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0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연동하여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List View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로 출력하기 위한 클래스</a:t>
            </a:r>
            <a:endParaRPr lang="en-US" altLang="ko-KR" sz="20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SimpleCursorAdapter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(Context </a:t>
            </a:r>
            <a:r>
              <a:rPr lang="en-US" altLang="ko-KR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context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en-US" altLang="ko-KR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int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layout, Cursor c, String[] from, </a:t>
            </a:r>
            <a:r>
              <a:rPr lang="en-US" altLang="ko-KR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int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[] to)</a:t>
            </a: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6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SimpleCursorAdapter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의 </a:t>
            </a:r>
            <a:r>
              <a:rPr lang="ko-KR" altLang="en-US" sz="16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생성자</a:t>
            </a:r>
            <a:endParaRPr lang="en-US" altLang="ko-KR" sz="16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6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매개변수</a:t>
            </a:r>
            <a:endParaRPr lang="en-US" altLang="ko-KR" sz="16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820293"/>
              </p:ext>
            </p:extLst>
          </p:nvPr>
        </p:nvGraphicFramePr>
        <p:xfrm>
          <a:off x="1919412" y="4321095"/>
          <a:ext cx="7389688" cy="2220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2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28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매개변수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설명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7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context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DB</a:t>
                      </a:r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를 생성하는 </a:t>
                      </a:r>
                      <a:r>
                        <a:rPr lang="en-US" altLang="ko-KR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Context. </a:t>
                      </a:r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보통 </a:t>
                      </a:r>
                      <a:r>
                        <a:rPr lang="en-US" altLang="ko-KR" sz="1600" kern="12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MainActivity</a:t>
                      </a:r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를</a:t>
                      </a:r>
                      <a:r>
                        <a:rPr lang="en-US" altLang="ko-KR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전달함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layout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Cursor</a:t>
                      </a:r>
                      <a:r>
                        <a:rPr lang="ko-KR" altLang="en-US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를 출력할 레이아웃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DB</a:t>
                      </a:r>
                      <a:r>
                        <a:rPr lang="ko-KR" altLang="en-US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의 검색 결과를 가리키는 </a:t>
                      </a:r>
                      <a:r>
                        <a:rPr lang="en-US" altLang="ko-KR" sz="1600" kern="12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Cursor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from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DB</a:t>
                      </a:r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의 검색 결과를 각 열 이름</a:t>
                      </a:r>
                      <a:r>
                        <a:rPr lang="ko-KR" altLang="en-US" sz="1600" kern="120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 </a:t>
                      </a:r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배열로 지정함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각 열을 출력할 위젯의 </a:t>
                      </a:r>
                      <a:r>
                        <a:rPr lang="en-US" altLang="ko-KR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id</a:t>
                      </a:r>
                      <a:r>
                        <a:rPr lang="ko-KR" altLang="en-US" sz="16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함초롬바탕" panose="02030504000101010101" pitchFamily="18" charset="-127"/>
                          <a:cs typeface="함초롬바탕" panose="02030504000101010101" pitchFamily="18" charset="-127"/>
                        </a:rPr>
                        <a:t>를 배열로 지정함</a:t>
                      </a:r>
                      <a:endParaRPr lang="ko-KR" altLang="en-US" sz="16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함초롬바탕" panose="02030504000101010101" pitchFamily="18" charset="-127"/>
                        <a:cs typeface="함초롬바탕" panose="0203050400010101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678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/>
              <a:t>DB</a:t>
            </a:r>
            <a:r>
              <a:rPr lang="ko-KR" altLang="en-US" b="1" dirty="0"/>
              <a:t>의 데이터 접근 </a:t>
            </a:r>
            <a:r>
              <a:rPr lang="en-US" altLang="ko-KR" b="1" dirty="0"/>
              <a:t>(4/4)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ko-KR" altLang="en-US" b="1" dirty="0"/>
              <a:t>데이터 검색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3" y="1411704"/>
            <a:ext cx="10848919" cy="4563980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150000"/>
              </a:lnSpc>
            </a:pPr>
            <a:r>
              <a:rPr lang="en-US" altLang="ko-KR" sz="24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SimpleCursorAdapter</a:t>
            </a:r>
            <a:endParaRPr lang="en-US" altLang="ko-KR" sz="2000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예시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1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rcRect l="38989" t="29450" r="18860" b="40953"/>
          <a:stretch/>
        </p:blipFill>
        <p:spPr>
          <a:xfrm>
            <a:off x="910294" y="2844799"/>
            <a:ext cx="5292385" cy="3130885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54</a:t>
            </a:fld>
            <a:endParaRPr 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640" y="3376422"/>
            <a:ext cx="4701715" cy="15042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14160" y="2844799"/>
            <a:ext cx="491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Activity_main.xml layout</a:t>
            </a:r>
            <a:r>
              <a:rPr lang="ko-KR" altLang="en-US" dirty="0" smtClean="0"/>
              <a:t>안에 추가</a:t>
            </a:r>
            <a:endParaRPr lang="ko-KR" altLang="en-US" dirty="0"/>
          </a:p>
        </p:txBody>
      </p:sp>
      <p:cxnSp>
        <p:nvCxnSpPr>
          <p:cNvPr id="14" name="직선 연결선 13"/>
          <p:cNvCxnSpPr/>
          <p:nvPr/>
        </p:nvCxnSpPr>
        <p:spPr>
          <a:xfrm>
            <a:off x="6435640" y="3200934"/>
            <a:ext cx="532357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690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실행 결과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55</a:t>
            </a:fld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163" y="1930400"/>
            <a:ext cx="2757409" cy="437483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904" y="1930400"/>
            <a:ext cx="2826899" cy="4374832"/>
          </a:xfrm>
          <a:prstGeom prst="rect">
            <a:avLst/>
          </a:prstGeom>
        </p:spPr>
      </p:pic>
      <p:sp>
        <p:nvSpPr>
          <p:cNvPr id="7" name="오른쪽 화살표 6"/>
          <p:cNvSpPr/>
          <p:nvPr/>
        </p:nvSpPr>
        <p:spPr>
          <a:xfrm>
            <a:off x="4975668" y="3485355"/>
            <a:ext cx="1752600" cy="12649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0242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/>
              <a:t>DB</a:t>
            </a:r>
            <a:r>
              <a:rPr lang="ko-KR" altLang="en-US" b="1" dirty="0"/>
              <a:t>의 데이터 접근 </a:t>
            </a:r>
            <a:r>
              <a:rPr lang="en-US" altLang="ko-KR" b="1" dirty="0"/>
              <a:t>(4/4)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ko-KR" altLang="en-US" b="1" dirty="0"/>
              <a:t>데이터 검색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3" y="1411704"/>
            <a:ext cx="10848919" cy="4563980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150000"/>
              </a:lnSpc>
            </a:pPr>
            <a:r>
              <a:rPr lang="en-US" altLang="ko-KR" sz="2400" b="1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SimpleCursorAdapter</a:t>
            </a:r>
            <a:endParaRPr lang="en-US" altLang="ko-KR" sz="2000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예시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2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rcRect l="38989" t="29744" r="19334" b="40952"/>
          <a:stretch/>
        </p:blipFill>
        <p:spPr>
          <a:xfrm>
            <a:off x="1078895" y="3336597"/>
            <a:ext cx="5109030" cy="2902857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4"/>
          <a:srcRect l="35200" t="12894" r="25255" b="46959"/>
          <a:stretch/>
        </p:blipFill>
        <p:spPr>
          <a:xfrm>
            <a:off x="6589486" y="2262540"/>
            <a:ext cx="4847773" cy="3976914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1507958" y="4250997"/>
            <a:ext cx="4315326" cy="14198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56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589486" y="1702795"/>
            <a:ext cx="4912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Show_list.xml</a:t>
            </a:r>
            <a:r>
              <a:rPr lang="ko-KR" altLang="en-US" dirty="0" smtClean="0"/>
              <a:t>을</a:t>
            </a:r>
            <a:r>
              <a:rPr lang="en-US" altLang="ko-KR" dirty="0" smtClean="0"/>
              <a:t> </a:t>
            </a:r>
            <a:r>
              <a:rPr lang="ko-KR" altLang="en-US" dirty="0" smtClean="0"/>
              <a:t>추가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/>
        </p:nvCxnSpPr>
        <p:spPr>
          <a:xfrm>
            <a:off x="6410966" y="2058930"/>
            <a:ext cx="532357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816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 b="1" dirty="0" smtClean="0"/>
              <a:t>실행 결과</a:t>
            </a:r>
            <a:endParaRPr lang="ko-KR" altLang="en-US" b="1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57</a:t>
            </a:fld>
            <a:endParaRPr 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1270000"/>
            <a:ext cx="3316106" cy="512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480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패싯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17839</TotalTime>
  <Words>2096</Words>
  <Application>Microsoft Office PowerPoint</Application>
  <PresentationFormat>와이드스크린</PresentationFormat>
  <Paragraphs>558</Paragraphs>
  <Slides>57</Slides>
  <Notes>57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57</vt:i4>
      </vt:variant>
    </vt:vector>
  </HeadingPairs>
  <TitlesOfParts>
    <vt:vector size="65" baseType="lpstr">
      <vt:lpstr>HY그래픽M</vt:lpstr>
      <vt:lpstr>함초롬바탕</vt:lpstr>
      <vt:lpstr>Arial</vt:lpstr>
      <vt:lpstr>Trebuchet MS</vt:lpstr>
      <vt:lpstr>Wingdings</vt:lpstr>
      <vt:lpstr>Wingdings 3</vt:lpstr>
      <vt:lpstr>맑은 고딕</vt:lpstr>
      <vt:lpstr>패싯</vt:lpstr>
      <vt:lpstr>JNI &amp; SQLite</vt:lpstr>
      <vt:lpstr>Index</vt:lpstr>
      <vt:lpstr>JNI의 개념</vt:lpstr>
      <vt:lpstr>JNI의 개념 (1/6)</vt:lpstr>
      <vt:lpstr>JNI의 개념 (2/6)</vt:lpstr>
      <vt:lpstr>JNI의 개념 (3/6)</vt:lpstr>
      <vt:lpstr>JNI의 개념 (4/6)</vt:lpstr>
      <vt:lpstr>JNI의 개념 (5/6)</vt:lpstr>
      <vt:lpstr>JNI의 개념 (6/6)</vt:lpstr>
      <vt:lpstr>JNI 환경 구축</vt:lpstr>
      <vt:lpstr>Cygwin (1/2)</vt:lpstr>
      <vt:lpstr>Cygwin (2/2)</vt:lpstr>
      <vt:lpstr>NDK 설치 (1/4)</vt:lpstr>
      <vt:lpstr>NDK 설치 (2/4)</vt:lpstr>
      <vt:lpstr>NDK 설치 (3/4)</vt:lpstr>
      <vt:lpstr>NDK 설치 (4/4)</vt:lpstr>
      <vt:lpstr>JNI 실습</vt:lpstr>
      <vt:lpstr>JNI 실습</vt:lpstr>
      <vt:lpstr>JNI 실습</vt:lpstr>
      <vt:lpstr>JNI 실습</vt:lpstr>
      <vt:lpstr>JNI 실습</vt:lpstr>
      <vt:lpstr>JNI 실습</vt:lpstr>
      <vt:lpstr>JNI 실습</vt:lpstr>
      <vt:lpstr>JNI 실습</vt:lpstr>
      <vt:lpstr>JNI 실습</vt:lpstr>
      <vt:lpstr>JNI 실습</vt:lpstr>
      <vt:lpstr>JNI 실습</vt:lpstr>
      <vt:lpstr>JNI 실습</vt:lpstr>
      <vt:lpstr>JNI 실습</vt:lpstr>
      <vt:lpstr>JNI 실습</vt:lpstr>
      <vt:lpstr>JNI 실습</vt:lpstr>
      <vt:lpstr>JNI 실습</vt:lpstr>
      <vt:lpstr>SQLite</vt:lpstr>
      <vt:lpstr>데이터베이스, SQL</vt:lpstr>
      <vt:lpstr>데이터베이스, SQL</vt:lpstr>
      <vt:lpstr>SQLite</vt:lpstr>
      <vt:lpstr>SQLite</vt:lpstr>
      <vt:lpstr>SQLite</vt:lpstr>
      <vt:lpstr>SQLite</vt:lpstr>
      <vt:lpstr>SQLite</vt:lpstr>
      <vt:lpstr>SQLite</vt:lpstr>
      <vt:lpstr>SQLite</vt:lpstr>
      <vt:lpstr>SQLite</vt:lpstr>
      <vt:lpstr>DB의 데이터 접근 (1/4) (데이터 삽입)</vt:lpstr>
      <vt:lpstr>DB의 데이터 접근 (1/4) (데이터 삽입)</vt:lpstr>
      <vt:lpstr>DB의 데이터 접근 (1/4) (데이터 삽입)</vt:lpstr>
      <vt:lpstr>DB의 데이터 접근 (2/4) (데이터 삭제)</vt:lpstr>
      <vt:lpstr>DB의 데이터 접근 (2/4) (데이터 삭제)</vt:lpstr>
      <vt:lpstr>DB의 데이터 접근 (3/4) (데이터 갱신)</vt:lpstr>
      <vt:lpstr>DB의 데이터 접근 (3/4) (데이터 갱신)</vt:lpstr>
      <vt:lpstr>DB의 데이터 접근 (4/4) (데이터 검색)</vt:lpstr>
      <vt:lpstr>DB의 데이터 접근 (4/4) (데이터 검색)</vt:lpstr>
      <vt:lpstr>DB의 데이터 접근 (4/4) (데이터 검색)</vt:lpstr>
      <vt:lpstr>DB의 데이터 접근 (4/4) (데이터 검색)</vt:lpstr>
      <vt:lpstr>실행 결과</vt:lpstr>
      <vt:lpstr>DB의 데이터 접근 (4/4) (데이터 검색)</vt:lpstr>
      <vt:lpstr>실행 결과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JNI &amp; SQLite</dc:title>
  <dc:creator>Windows 사용자</dc:creator>
  <cp:lastModifiedBy>sanghyeon</cp:lastModifiedBy>
  <cp:revision>245</cp:revision>
  <dcterms:created xsi:type="dcterms:W3CDTF">2017-03-19T10:30:43Z</dcterms:created>
  <dcterms:modified xsi:type="dcterms:W3CDTF">2020-04-14T09:00:46Z</dcterms:modified>
</cp:coreProperties>
</file>