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57" r:id="rId13"/>
    <p:sldId id="258" r:id="rId14"/>
    <p:sldId id="259" r:id="rId15"/>
    <p:sldId id="271" r:id="rId16"/>
    <p:sldId id="26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99" autoAdjust="0"/>
  </p:normalViewPr>
  <p:slideViewPr>
    <p:cSldViewPr snapToGrid="0">
      <p:cViewPr varScale="1">
        <p:scale>
          <a:sx n="122" d="100"/>
          <a:sy n="122" d="100"/>
        </p:scale>
        <p:origin x="90" y="312"/>
      </p:cViewPr>
      <p:guideLst/>
    </p:cSldViewPr>
  </p:slideViewPr>
  <p:outlineViewPr>
    <p:cViewPr>
      <p:scale>
        <a:sx n="33" d="100"/>
        <a:sy n="33" d="100"/>
      </p:scale>
      <p:origin x="0" y="-43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FDEE6-A54C-4DEF-B858-FF8F8E9A1E42}" type="datetimeFigureOut">
              <a:rPr lang="ko-KR" altLang="en-US" smtClean="0"/>
              <a:t>2018-05-08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F0F87-4442-4EA5-80EC-E762398702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249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F0F87-4442-4EA5-80EC-E7623987022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944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A6C8B-1BBD-4B93-A58C-14C36A4147E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452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jquerymobile.com/download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164.125.36.41:8080/JqueryMobile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jquerymobile/default.as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67326" y="2404534"/>
            <a:ext cx="8006677" cy="1646302"/>
          </a:xfrm>
        </p:spPr>
        <p:txBody>
          <a:bodyPr/>
          <a:lstStyle/>
          <a:p>
            <a:r>
              <a:rPr lang="en-US" altLang="ko-KR" b="1" dirty="0" smtClean="0"/>
              <a:t>jQuery &amp; jQuery Mobile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2018-1 </a:t>
            </a:r>
            <a:r>
              <a:rPr lang="ko-KR" altLang="en-US" dirty="0" err="1" smtClean="0"/>
              <a:t>컴퓨터소프트웨어설계및실험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7789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jQuery</a:t>
            </a:r>
            <a:r>
              <a:rPr lang="ko-KR" altLang="en-US" b="1" dirty="0" smtClean="0"/>
              <a:t>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677919"/>
            <a:ext cx="9768342" cy="481270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jQuery is a fast, small, and feature-rich </a:t>
            </a:r>
            <a:r>
              <a:rPr lang="en-US" altLang="ko-KR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JavaScript library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jQuery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를 이용하면 순수한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JavaScript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로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코딩하는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것 보다 </a:t>
            </a:r>
            <a:r>
              <a:rPr lang="en-US" altLang="ko-KR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10</a:t>
            </a:r>
            <a:r>
              <a:rPr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배 이상 </a:t>
            </a:r>
            <a:r>
              <a:rPr lang="ko-KR" altLang="en-US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생산성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을 높일 수 있다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jQuery UI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jQuery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기반의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GUI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라이브러리이다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이것을 이용해서 </a:t>
            </a:r>
            <a:r>
              <a:rPr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윈도우 애플리케이션과 같은 </a:t>
            </a:r>
            <a:r>
              <a:rPr lang="ko-KR" altLang="en-US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기능성의 </a:t>
            </a:r>
            <a:r>
              <a:rPr lang="en-US" altLang="ko-KR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UI</a:t>
            </a:r>
            <a:r>
              <a:rPr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를 만들 수 있다</a:t>
            </a:r>
            <a:r>
              <a:rPr lang="en-US" altLang="ko-KR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jQuery Mobile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은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모바일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라이브러리로서 </a:t>
            </a:r>
            <a:r>
              <a:rPr lang="ko-KR" altLang="en-US" b="1" u="sng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모바일용</a:t>
            </a:r>
            <a:r>
              <a:rPr lang="ko-KR" altLang="en-US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웹 애플리케이션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을 만드는데 도움을 준다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91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jQuery </a:t>
            </a:r>
            <a:r>
              <a:rPr lang="ko-KR" altLang="en-US" b="1" dirty="0" smtClean="0"/>
              <a:t>라이브러리 추가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677919"/>
            <a:ext cx="9768342" cy="6080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CDN(Content delivery network)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서비스를 이용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b="5589"/>
          <a:stretch/>
        </p:blipFill>
        <p:spPr>
          <a:xfrm>
            <a:off x="1938354" y="4959991"/>
            <a:ext cx="6074627" cy="8748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내용 개체 틀 2"/>
          <p:cNvSpPr txBox="1">
            <a:spLocks/>
          </p:cNvSpPr>
          <p:nvPr/>
        </p:nvSpPr>
        <p:spPr>
          <a:xfrm>
            <a:off x="677333" y="3751620"/>
            <a:ext cx="9768342" cy="2416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jQuery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라이브러리를 다운받아 직접 추가해주는 방법을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이용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  <a:hlinkClick r:id="rId3"/>
              </a:rPr>
              <a:t>http://jquerymobile.com/download/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582" y="2257783"/>
            <a:ext cx="9101032" cy="125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9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246312" y="2709868"/>
            <a:ext cx="7875697" cy="1362075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latin typeface="+mj-ea"/>
                <a:cs typeface="함초롬바탕" panose="02030504000101010101" pitchFamily="18" charset="-127"/>
              </a:rPr>
              <a:t>DOM</a:t>
            </a:r>
            <a:br>
              <a:rPr lang="en-US" altLang="ko-KR" b="1" dirty="0" smtClean="0">
                <a:latin typeface="+mj-ea"/>
                <a:cs typeface="함초롬바탕" panose="02030504000101010101" pitchFamily="18" charset="-127"/>
              </a:rPr>
            </a:br>
            <a:r>
              <a:rPr lang="en-US" altLang="ko-KR" b="1" dirty="0" smtClean="0">
                <a:latin typeface="+mj-ea"/>
                <a:cs typeface="함초롬바탕" panose="02030504000101010101" pitchFamily="18" charset="-127"/>
              </a:rPr>
              <a:t>(</a:t>
            </a:r>
            <a:r>
              <a:rPr lang="en-US" altLang="ko-KR" b="1" dirty="0" smtClean="0">
                <a:solidFill>
                  <a:schemeClr val="accent1">
                    <a:lumMod val="50000"/>
                  </a:schemeClr>
                </a:solidFill>
                <a:latin typeface="+mj-ea"/>
                <a:cs typeface="함초롬바탕" panose="02030504000101010101" pitchFamily="18" charset="-127"/>
              </a:rPr>
              <a:t>D</a:t>
            </a:r>
            <a:r>
              <a:rPr lang="en-US" altLang="ko-KR" b="1" dirty="0" smtClean="0">
                <a:latin typeface="+mj-ea"/>
                <a:cs typeface="함초롬바탕" panose="02030504000101010101" pitchFamily="18" charset="-127"/>
              </a:rPr>
              <a:t>ocument </a:t>
            </a:r>
            <a:r>
              <a:rPr lang="en-US" altLang="ko-KR" b="1" dirty="0" smtClean="0">
                <a:solidFill>
                  <a:schemeClr val="accent1">
                    <a:lumMod val="50000"/>
                  </a:schemeClr>
                </a:solidFill>
                <a:latin typeface="+mj-ea"/>
                <a:cs typeface="함초롬바탕" panose="02030504000101010101" pitchFamily="18" charset="-127"/>
              </a:rPr>
              <a:t>O</a:t>
            </a:r>
            <a:r>
              <a:rPr lang="en-US" altLang="ko-KR" b="1" dirty="0" smtClean="0">
                <a:latin typeface="+mj-ea"/>
                <a:cs typeface="함초롬바탕" panose="02030504000101010101" pitchFamily="18" charset="-127"/>
              </a:rPr>
              <a:t>bject </a:t>
            </a:r>
            <a:r>
              <a:rPr lang="en-US" altLang="ko-KR" b="1" dirty="0" smtClean="0">
                <a:solidFill>
                  <a:schemeClr val="accent1">
                    <a:lumMod val="50000"/>
                  </a:schemeClr>
                </a:solidFill>
                <a:latin typeface="+mj-ea"/>
                <a:cs typeface="함초롬바탕" panose="02030504000101010101" pitchFamily="18" charset="-127"/>
              </a:rPr>
              <a:t>M</a:t>
            </a:r>
            <a:r>
              <a:rPr lang="en-US" altLang="ko-KR" b="1" dirty="0" smtClean="0">
                <a:latin typeface="+mj-ea"/>
                <a:cs typeface="함초롬바탕" panose="02030504000101010101" pitchFamily="18" charset="-127"/>
              </a:rPr>
              <a:t>odel)</a:t>
            </a:r>
            <a:endParaRPr lang="ko-KR" altLang="en-US" b="1" dirty="0">
              <a:latin typeface="+mj-ea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2" name="TextBox 1"/>
          <p:cNvSpPr txBox="1"/>
          <p:nvPr/>
        </p:nvSpPr>
        <p:spPr>
          <a:xfrm>
            <a:off x="9274002" y="6550223"/>
            <a:ext cx="29572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Reference : http://www.json.org/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6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2" y="1677919"/>
            <a:ext cx="9952567" cy="48127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객체 지향 모델로써 구조화된 문서를 표현하는 방식이다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플랫폼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언어 중립적으로 구조화된 문서를 표현하는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W3C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의 공식 표준이다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DOM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은 문서의 기반이 되는 데이터 구조에 제한을 두지 않는다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잘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구조화된 문서는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DOM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을 사용하여 트리 구조를 얻어낼 수 있다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DOM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객체는 텍스트와 이미지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하이퍼링크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폼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엘리먼트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등의 각 문서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엘리먼트를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나타낸다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 JavaScript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코드에서는 동적인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HTML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을 만들어 내기 위해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DOM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객체에 접근해서 조작할 수 있다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DOM </a:t>
            </a:r>
            <a:r>
              <a:rPr lang="ko-KR" altLang="en-US" b="1" dirty="0" smtClean="0"/>
              <a:t>이란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0921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2" y="4752975"/>
            <a:ext cx="9952567" cy="173764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웹 페이지는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DOM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객체로 구성 되어 있다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웹 브라우저는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HTML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웹 페이지를 읽은 후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파싱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단계를 거친다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웹 페이지에 작성된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노드와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1:1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로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매칭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되는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DOM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객체로 변환한 후 화면에 출력한다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DOM</a:t>
            </a:r>
            <a:r>
              <a:rPr lang="ko-KR" altLang="en-US" b="1" dirty="0" smtClean="0"/>
              <a:t>과 </a:t>
            </a:r>
            <a:r>
              <a:rPr lang="en-US" altLang="ko-KR" b="1" dirty="0" smtClean="0"/>
              <a:t>HTML</a:t>
            </a:r>
            <a:r>
              <a:rPr lang="ko-KR" altLang="en-US" b="1" dirty="0"/>
              <a:t> </a:t>
            </a:r>
            <a:r>
              <a:rPr lang="ko-KR" altLang="en-US" b="1" dirty="0" smtClean="0"/>
              <a:t>페이지와의 관계</a:t>
            </a:r>
            <a:endParaRPr lang="ko-KR" altLang="en-US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004" y="1365250"/>
            <a:ext cx="6889328" cy="32403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102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DOM</a:t>
            </a:r>
            <a:r>
              <a:rPr lang="ko-KR" altLang="en-US" b="1" dirty="0" smtClean="0"/>
              <a:t>과 </a:t>
            </a:r>
            <a:r>
              <a:rPr lang="en-US" altLang="ko-KR" b="1" dirty="0" smtClean="0"/>
              <a:t>HTML</a:t>
            </a:r>
            <a:r>
              <a:rPr lang="ko-KR" altLang="en-US" b="1" dirty="0"/>
              <a:t> </a:t>
            </a:r>
            <a:r>
              <a:rPr lang="ko-KR" altLang="en-US" b="1" dirty="0" smtClean="0"/>
              <a:t>페이지와의 관계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694" y="1362075"/>
            <a:ext cx="5001948" cy="18097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186" y="3743083"/>
            <a:ext cx="6164964" cy="2857986"/>
          </a:xfrm>
          <a:prstGeom prst="rect">
            <a:avLst/>
          </a:prstGeom>
        </p:spPr>
      </p:pic>
      <p:sp>
        <p:nvSpPr>
          <p:cNvPr id="12" name="아래쪽 화살표 11"/>
          <p:cNvSpPr/>
          <p:nvPr/>
        </p:nvSpPr>
        <p:spPr>
          <a:xfrm>
            <a:off x="4733352" y="3239712"/>
            <a:ext cx="484632" cy="43548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5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/>
        </p:nvSpPr>
        <p:spPr>
          <a:xfrm>
            <a:off x="200025" y="3609975"/>
            <a:ext cx="5953125" cy="67627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DOM</a:t>
            </a:r>
            <a:r>
              <a:rPr lang="ko-KR" altLang="en-US" b="1" dirty="0" smtClean="0"/>
              <a:t>과 </a:t>
            </a:r>
            <a:r>
              <a:rPr lang="en-US" altLang="ko-KR" b="1" dirty="0" smtClean="0"/>
              <a:t>XML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1498698"/>
            <a:ext cx="3657600" cy="39147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직사각형 5"/>
          <p:cNvSpPr/>
          <p:nvPr/>
        </p:nvSpPr>
        <p:spPr>
          <a:xfrm>
            <a:off x="1805515" y="1708151"/>
            <a:ext cx="1287463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Root element:</a:t>
            </a:r>
          </a:p>
          <a:p>
            <a:pPr algn="ctr"/>
            <a:r>
              <a:rPr lang="en-US" altLang="ko-KR" sz="1400" dirty="0" smtClean="0"/>
              <a:t>&lt;bookstore&gt;</a:t>
            </a:r>
            <a:endParaRPr lang="ko-KR" altLang="en-US" sz="1400" dirty="0"/>
          </a:p>
        </p:txBody>
      </p:sp>
      <p:grpSp>
        <p:nvGrpSpPr>
          <p:cNvPr id="56" name="그룹 55"/>
          <p:cNvGrpSpPr/>
          <p:nvPr/>
        </p:nvGrpSpPr>
        <p:grpSpPr>
          <a:xfrm>
            <a:off x="358243" y="3718984"/>
            <a:ext cx="5629279" cy="431800"/>
            <a:chOff x="101068" y="3568701"/>
            <a:chExt cx="5629279" cy="431800"/>
          </a:xfrm>
        </p:grpSpPr>
        <p:sp>
          <p:nvSpPr>
            <p:cNvPr id="14" name="직사각형 13"/>
            <p:cNvSpPr/>
            <p:nvPr/>
          </p:nvSpPr>
          <p:spPr>
            <a:xfrm>
              <a:off x="101068" y="3568701"/>
              <a:ext cx="128746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Element:</a:t>
              </a:r>
            </a:p>
            <a:p>
              <a:pPr algn="ctr"/>
              <a:r>
                <a:rPr lang="en-US" altLang="ko-KR" sz="1400" dirty="0" smtClean="0"/>
                <a:t>&lt;title&gt;</a:t>
              </a:r>
              <a:endParaRPr lang="ko-KR" altLang="en-US" sz="1400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548340" y="3568701"/>
              <a:ext cx="128746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Element:</a:t>
              </a:r>
            </a:p>
            <a:p>
              <a:pPr algn="ctr"/>
              <a:r>
                <a:rPr lang="en-US" altLang="ko-KR" sz="1400" dirty="0" smtClean="0"/>
                <a:t>&lt;author&gt;</a:t>
              </a:r>
              <a:endParaRPr lang="ko-KR" altLang="en-US" sz="1400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2995612" y="3568701"/>
              <a:ext cx="128746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Element:</a:t>
              </a:r>
            </a:p>
            <a:p>
              <a:pPr algn="ctr"/>
              <a:r>
                <a:rPr lang="en-US" altLang="ko-KR" sz="1400" dirty="0" smtClean="0"/>
                <a:t>&lt;year&gt;</a:t>
              </a:r>
              <a:endParaRPr lang="ko-KR" altLang="en-US" sz="1400" dirty="0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442884" y="3568701"/>
              <a:ext cx="128746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Element:</a:t>
              </a:r>
            </a:p>
            <a:p>
              <a:pPr algn="ctr"/>
              <a:r>
                <a:rPr lang="en-US" altLang="ko-KR" sz="1400" dirty="0" smtClean="0"/>
                <a:t>&lt;price&gt;</a:t>
              </a:r>
              <a:endParaRPr lang="ko-KR" altLang="en-US" sz="1400" dirty="0"/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358242" y="4679951"/>
            <a:ext cx="5629280" cy="466725"/>
            <a:chOff x="101067" y="4251326"/>
            <a:chExt cx="5629280" cy="466725"/>
          </a:xfrm>
        </p:grpSpPr>
        <p:sp>
          <p:nvSpPr>
            <p:cNvPr id="18" name="직사각형 17"/>
            <p:cNvSpPr/>
            <p:nvPr/>
          </p:nvSpPr>
          <p:spPr>
            <a:xfrm>
              <a:off x="101067" y="4286251"/>
              <a:ext cx="128746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Text:</a:t>
              </a:r>
            </a:p>
            <a:p>
              <a:pPr algn="ctr"/>
              <a:r>
                <a:rPr lang="en-US" altLang="ko-KR" sz="1400" dirty="0" smtClean="0"/>
                <a:t>Harry Potter</a:t>
              </a:r>
              <a:endParaRPr lang="ko-KR" altLang="en-US" sz="1400" dirty="0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1548340" y="4251326"/>
              <a:ext cx="128746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Test:</a:t>
              </a:r>
            </a:p>
            <a:p>
              <a:pPr algn="ctr"/>
              <a:r>
                <a:rPr lang="en-US" altLang="ko-KR" sz="1400" dirty="0" smtClean="0"/>
                <a:t>J K. Rowling</a:t>
              </a:r>
              <a:endParaRPr lang="ko-KR" altLang="en-US" sz="1400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995612" y="4251326"/>
              <a:ext cx="128746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Text:</a:t>
              </a:r>
            </a:p>
            <a:p>
              <a:pPr algn="ctr"/>
              <a:r>
                <a:rPr lang="en-US" altLang="ko-KR" sz="1400" dirty="0" smtClean="0"/>
                <a:t>2005</a:t>
              </a:r>
              <a:endParaRPr lang="ko-KR" altLang="en-US" sz="1400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4442884" y="4251326"/>
              <a:ext cx="128746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Text:</a:t>
              </a:r>
            </a:p>
            <a:p>
              <a:pPr algn="ctr"/>
              <a:r>
                <a:rPr lang="en-US" altLang="ko-KR" sz="1400" dirty="0" smtClean="0"/>
                <a:t>30.00</a:t>
              </a:r>
              <a:endParaRPr lang="ko-KR" altLang="en-US" sz="1400" dirty="0"/>
            </a:p>
          </p:txBody>
        </p:sp>
      </p:grpSp>
      <p:cxnSp>
        <p:nvCxnSpPr>
          <p:cNvPr id="22" name="직선 연결선 21"/>
          <p:cNvCxnSpPr>
            <a:stCxn id="14" idx="2"/>
            <a:endCxn id="18" idx="0"/>
          </p:cNvCxnSpPr>
          <p:nvPr/>
        </p:nvCxnSpPr>
        <p:spPr>
          <a:xfrm flipH="1">
            <a:off x="1001974" y="4150784"/>
            <a:ext cx="1" cy="5640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15" idx="2"/>
            <a:endCxn id="19" idx="0"/>
          </p:cNvCxnSpPr>
          <p:nvPr/>
        </p:nvCxnSpPr>
        <p:spPr>
          <a:xfrm>
            <a:off x="2449247" y="4150784"/>
            <a:ext cx="0" cy="5291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16" idx="2"/>
            <a:endCxn id="20" idx="0"/>
          </p:cNvCxnSpPr>
          <p:nvPr/>
        </p:nvCxnSpPr>
        <p:spPr>
          <a:xfrm>
            <a:off x="3896519" y="4150784"/>
            <a:ext cx="0" cy="5291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17" idx="2"/>
            <a:endCxn id="21" idx="0"/>
          </p:cNvCxnSpPr>
          <p:nvPr/>
        </p:nvCxnSpPr>
        <p:spPr>
          <a:xfrm>
            <a:off x="5343791" y="4150784"/>
            <a:ext cx="0" cy="5291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11" idx="2"/>
            <a:endCxn id="14" idx="0"/>
          </p:cNvCxnSpPr>
          <p:nvPr/>
        </p:nvCxnSpPr>
        <p:spPr>
          <a:xfrm rot="5400000">
            <a:off x="1488016" y="2757753"/>
            <a:ext cx="475190" cy="1447272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>
            <a:stCxn id="11" idx="2"/>
            <a:endCxn id="15" idx="0"/>
          </p:cNvCxnSpPr>
          <p:nvPr/>
        </p:nvCxnSpPr>
        <p:spPr>
          <a:xfrm>
            <a:off x="2449247" y="3243794"/>
            <a:ext cx="0" cy="4751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stCxn id="11" idx="2"/>
            <a:endCxn id="16" idx="0"/>
          </p:cNvCxnSpPr>
          <p:nvPr/>
        </p:nvCxnSpPr>
        <p:spPr>
          <a:xfrm rot="16200000" flipH="1">
            <a:off x="2935288" y="2757753"/>
            <a:ext cx="475190" cy="1447272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11" idx="2"/>
            <a:endCxn id="17" idx="0"/>
          </p:cNvCxnSpPr>
          <p:nvPr/>
        </p:nvCxnSpPr>
        <p:spPr>
          <a:xfrm rot="16200000" flipH="1">
            <a:off x="3658924" y="2034117"/>
            <a:ext cx="475190" cy="2894544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/>
          <p:cNvGrpSpPr/>
          <p:nvPr/>
        </p:nvGrpSpPr>
        <p:grpSpPr>
          <a:xfrm>
            <a:off x="358241" y="2811993"/>
            <a:ext cx="4182009" cy="444499"/>
            <a:chOff x="101066" y="2752724"/>
            <a:chExt cx="4182009" cy="444499"/>
          </a:xfrm>
        </p:grpSpPr>
        <p:sp>
          <p:nvSpPr>
            <p:cNvPr id="11" name="직사각형 10"/>
            <p:cNvSpPr/>
            <p:nvPr/>
          </p:nvSpPr>
          <p:spPr>
            <a:xfrm>
              <a:off x="1548340" y="2752725"/>
              <a:ext cx="128746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Element:</a:t>
              </a:r>
            </a:p>
            <a:p>
              <a:pPr algn="ctr"/>
              <a:r>
                <a:rPr lang="en-US" altLang="ko-KR" sz="1400" dirty="0" smtClean="0"/>
                <a:t>&lt;book&gt;</a:t>
              </a:r>
              <a:endParaRPr lang="ko-KR" altLang="en-US" sz="1400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01066" y="2765423"/>
              <a:ext cx="128746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Attribute:</a:t>
              </a:r>
            </a:p>
            <a:p>
              <a:pPr algn="ctr"/>
              <a:r>
                <a:rPr lang="en-US" altLang="ko-KR" sz="1400" dirty="0" smtClean="0"/>
                <a:t>“category”</a:t>
              </a:r>
              <a:endParaRPr lang="ko-KR" altLang="en-US" sz="1400" dirty="0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995612" y="2752724"/>
              <a:ext cx="128746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Attribute:</a:t>
              </a:r>
            </a:p>
            <a:p>
              <a:pPr algn="ctr"/>
              <a:r>
                <a:rPr lang="en-US" altLang="ko-KR" sz="1400" dirty="0" smtClean="0"/>
                <a:t>“category”</a:t>
              </a:r>
              <a:endParaRPr lang="ko-KR" altLang="en-US" sz="1400" dirty="0"/>
            </a:p>
          </p:txBody>
        </p:sp>
      </p:grpSp>
      <p:cxnSp>
        <p:nvCxnSpPr>
          <p:cNvPr id="51" name="직선 연결선 50"/>
          <p:cNvCxnSpPr/>
          <p:nvPr/>
        </p:nvCxnSpPr>
        <p:spPr>
          <a:xfrm>
            <a:off x="685800" y="3256492"/>
            <a:ext cx="0" cy="4624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>
            <a:stCxn id="6" idx="2"/>
            <a:endCxn id="11" idx="0"/>
          </p:cNvCxnSpPr>
          <p:nvPr/>
        </p:nvCxnSpPr>
        <p:spPr>
          <a:xfrm>
            <a:off x="2449247" y="2139951"/>
            <a:ext cx="0" cy="6720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/>
          <p:nvPr/>
        </p:nvCxnSpPr>
        <p:spPr>
          <a:xfrm>
            <a:off x="2057400" y="2139951"/>
            <a:ext cx="0" cy="672042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V="1">
            <a:off x="2809875" y="2139951"/>
            <a:ext cx="0" cy="654579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809875" y="2143797"/>
            <a:ext cx="631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Parent</a:t>
            </a:r>
            <a:endParaRPr lang="ko-KR" altLang="en-US" sz="1200" dirty="0"/>
          </a:p>
        </p:txBody>
      </p:sp>
      <p:sp>
        <p:nvSpPr>
          <p:cNvPr id="64" name="TextBox 63"/>
          <p:cNvSpPr txBox="1"/>
          <p:nvPr/>
        </p:nvSpPr>
        <p:spPr>
          <a:xfrm>
            <a:off x="1520996" y="2553373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Child</a:t>
            </a:r>
            <a:endParaRPr lang="ko-KR" altLang="en-US"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5499724" y="3302198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Sibling</a:t>
            </a:r>
            <a:endParaRPr lang="ko-KR" altLang="en-US" sz="1400" dirty="0"/>
          </a:p>
        </p:txBody>
      </p:sp>
      <p:cxnSp>
        <p:nvCxnSpPr>
          <p:cNvPr id="76" name="직선 연결선 75"/>
          <p:cNvCxnSpPr>
            <a:stCxn id="11" idx="3"/>
            <a:endCxn id="41" idx="1"/>
          </p:cNvCxnSpPr>
          <p:nvPr/>
        </p:nvCxnSpPr>
        <p:spPr>
          <a:xfrm flipV="1">
            <a:off x="3092978" y="3027893"/>
            <a:ext cx="15980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6943725" y="2794530"/>
            <a:ext cx="2800350" cy="9244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25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92836" y="1634030"/>
            <a:ext cx="5639496" cy="146078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&lt;div&gt;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태그 중에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&lt;p&gt;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태그를 모두 찾아 글자 색을 빨간색으로 변경하세요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JavaScript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방식과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jQuery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jQuery DOM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96" y="1562735"/>
            <a:ext cx="2057400" cy="252603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96" y="4759614"/>
            <a:ext cx="3733800" cy="17907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rcRect l="3035"/>
          <a:stretch/>
        </p:blipFill>
        <p:spPr>
          <a:xfrm>
            <a:off x="5782799" y="4759614"/>
            <a:ext cx="3491203" cy="8477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1845090" y="4088765"/>
            <a:ext cx="2184013" cy="670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JavaScript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6436393" y="4088765"/>
            <a:ext cx="2184013" cy="670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jQuery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6864" y="1562735"/>
            <a:ext cx="1977801" cy="26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7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jQuery DOM</a:t>
            </a:r>
            <a:endParaRPr lang="ko-KR" altLang="en-US" b="1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677334" y="1628656"/>
          <a:ext cx="10339427" cy="178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1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56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55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jQuery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순수 </a:t>
                      </a:r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JavaScript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id </a:t>
                      </a:r>
                      <a:r>
                        <a:rPr lang="ko-KR" altLang="en-US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선택자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$(“#foo”)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document.getElementByID</a:t>
                      </a:r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(“foo”);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Document.querySelector</a:t>
                      </a:r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(“#foo”)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tag </a:t>
                      </a:r>
                      <a:r>
                        <a:rPr lang="ko-KR" altLang="en-US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선택자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$(“foo”)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document.getElementByTagName</a:t>
                      </a:r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(“foo”);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Document.querySelectorAll</a:t>
                      </a:r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(“foo”)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Class </a:t>
                      </a:r>
                      <a:r>
                        <a:rPr lang="ko-KR" altLang="en-US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선택자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$(“.foo”)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document.getElementbyClassName</a:t>
                      </a:r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(“foo”);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Document.querySelectorAll</a:t>
                      </a:r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(“.foo”)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속성 </a:t>
                      </a:r>
                      <a:r>
                        <a:rPr lang="ko-KR" altLang="en-US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선택자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$(“[name=foo]”)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document.getElementByName</a:t>
                      </a:r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(“foo”);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Document.querySelectorAll</a:t>
                      </a:r>
                      <a:r>
                        <a:rPr lang="en-US" altLang="ko-KR" sz="1400" dirty="0" smtClean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(“[name=foo]”)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677333" y="3804736"/>
            <a:ext cx="10339427" cy="146078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jQuery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에서는 위 표의 내용처럼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jQuery DOM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객체 생성 함수인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$(…);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을 사용하여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선택자로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간단하게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DOM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 접근한다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JavaScript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에서는  브라우저의 여러 가지 내장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메소드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(Method)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를 통해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DOM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 접근한다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136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 smtClean="0"/>
              <a:t>javascript</a:t>
            </a:r>
            <a:r>
              <a:rPr lang="en-US" altLang="ko-KR" b="1" dirty="0" smtClean="0"/>
              <a:t> vs. jQuery</a:t>
            </a:r>
            <a:endParaRPr lang="ko-KR" altLang="en-US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15" y="1382831"/>
            <a:ext cx="3400879" cy="525860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602" y="1382831"/>
            <a:ext cx="4308966" cy="31159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3385352" y="6272100"/>
            <a:ext cx="17956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Javascript</a:t>
            </a:r>
            <a:r>
              <a:rPr lang="en-US" altLang="ko-KR" dirty="0" smtClean="0"/>
              <a:t> code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855710" y="4129486"/>
            <a:ext cx="144302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jQuery code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66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jQuery Mobile </a:t>
            </a:r>
            <a:r>
              <a:rPr lang="ko-KR" altLang="en-US" b="1" dirty="0" smtClean="0"/>
              <a:t>소개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15316"/>
            <a:ext cx="8596668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jQuery Mobile is a touch-friendly </a:t>
            </a:r>
            <a:r>
              <a:rPr lang="en-US" altLang="ko-KR" sz="1600" b="1" u="sng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UI Framework built on jQuery Core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that works across all popular mobile, tablet and desktop platforms</a:t>
            </a:r>
            <a:r>
              <a:rPr lang="en-US" altLang="ko-KR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브라우저 호환성이 있는 </a:t>
            </a:r>
            <a:r>
              <a:rPr lang="en-US" altLang="ko-KR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HTML</a:t>
            </a:r>
            <a:r>
              <a:rPr lang="ko-KR" altLang="en-US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속 </a:t>
            </a:r>
            <a:r>
              <a:rPr lang="en-US" altLang="ko-KR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JavaScript </a:t>
            </a:r>
            <a:r>
              <a:rPr lang="ko-KR" altLang="en-US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라이브러리이며 클라이언트 사이드 스크립트 언어를 단순화 할 수 있도록 설계 되었다</a:t>
            </a:r>
            <a:r>
              <a:rPr lang="en-US" altLang="ko-KR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Mobile Web Application</a:t>
            </a:r>
            <a:r>
              <a:rPr lang="ko-KR" altLang="en-US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을 쉽게 구현할 수 있도록 도와주는 기술</a:t>
            </a:r>
            <a:endParaRPr lang="en-US" altLang="ko-KR" sz="16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Native app 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수준의 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Mobile Web app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을 개발하기 위해 각종 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UI 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컨트롤과 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Event 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처리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애니메이션 효과 및 자동 </a:t>
            </a:r>
            <a:r>
              <a:rPr lang="ko-KR" altLang="en-US" sz="14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네비게이션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Ajax 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통신 등 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Mobile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 최적화된 기능을 포함한다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sz="14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ko-KR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“ Write less, Do More 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12</a:t>
            </a:fld>
            <a:endParaRPr lang="en-US" dirty="0"/>
          </a:p>
        </p:txBody>
      </p:sp>
      <p:pic>
        <p:nvPicPr>
          <p:cNvPr id="1026" name="Picture 2" descr="http://www.w3schools.com/jquerymobile/jqmsuppor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885" y="5596089"/>
            <a:ext cx="5903566" cy="96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4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Link to jQuery Mobile From a CDN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77334" y="3506016"/>
            <a:ext cx="8596668" cy="21423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Line 2 : Device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 따른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Viewport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설정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Line 5 : jQuery Mobile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에서 사용하는 </a:t>
            </a:r>
            <a:r>
              <a:rPr lang="en-US" altLang="ko-KR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css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Line 8 : jQuery Mobile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은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jQuery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를 기반으로 함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 jQuery Library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Line 11 : jQuery Mobile Library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16" y="1495135"/>
            <a:ext cx="6877050" cy="17049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8148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jQuery Mobile </a:t>
            </a:r>
            <a:r>
              <a:rPr lang="ko-KR" altLang="en-US" b="1" dirty="0" smtClean="0"/>
              <a:t>예제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166" y="1739897"/>
            <a:ext cx="2369085" cy="421951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739897"/>
            <a:ext cx="2369085" cy="421951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705" y="2030380"/>
            <a:ext cx="4067175" cy="3638550"/>
          </a:xfrm>
          <a:prstGeom prst="rect">
            <a:avLst/>
          </a:prstGeom>
        </p:spPr>
      </p:pic>
      <p:cxnSp>
        <p:nvCxnSpPr>
          <p:cNvPr id="30" name="직선 화살표 연결선 29"/>
          <p:cNvCxnSpPr/>
          <p:nvPr/>
        </p:nvCxnSpPr>
        <p:spPr>
          <a:xfrm flipH="1">
            <a:off x="2570009" y="2291301"/>
            <a:ext cx="11761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>
            <a:off x="2570009" y="2895600"/>
            <a:ext cx="11761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H="1">
            <a:off x="2570009" y="3444240"/>
            <a:ext cx="11761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17" name="왼쪽 중괄호 9216"/>
          <p:cNvSpPr/>
          <p:nvPr/>
        </p:nvSpPr>
        <p:spPr>
          <a:xfrm>
            <a:off x="3941125" y="2243925"/>
            <a:ext cx="66332" cy="29254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왼쪽 중괄호 41"/>
          <p:cNvSpPr/>
          <p:nvPr/>
        </p:nvSpPr>
        <p:spPr>
          <a:xfrm>
            <a:off x="3949260" y="2653915"/>
            <a:ext cx="58197" cy="462996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왼쪽 중괄호 43"/>
          <p:cNvSpPr/>
          <p:nvPr/>
        </p:nvSpPr>
        <p:spPr>
          <a:xfrm>
            <a:off x="3941125" y="3256646"/>
            <a:ext cx="66332" cy="29254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왼쪽 중괄호 45"/>
          <p:cNvSpPr/>
          <p:nvPr/>
        </p:nvSpPr>
        <p:spPr>
          <a:xfrm flipH="1">
            <a:off x="5624629" y="4094425"/>
            <a:ext cx="66332" cy="29254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왼쪽 중괄호 47"/>
          <p:cNvSpPr/>
          <p:nvPr/>
        </p:nvSpPr>
        <p:spPr>
          <a:xfrm flipH="1">
            <a:off x="6645924" y="4502820"/>
            <a:ext cx="66332" cy="44886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왼쪽 중괄호 49"/>
          <p:cNvSpPr/>
          <p:nvPr/>
        </p:nvSpPr>
        <p:spPr>
          <a:xfrm flipH="1">
            <a:off x="5690961" y="5041912"/>
            <a:ext cx="66332" cy="38087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26" name="꺾인 연결선 9225"/>
          <p:cNvCxnSpPr/>
          <p:nvPr/>
        </p:nvCxnSpPr>
        <p:spPr>
          <a:xfrm flipV="1">
            <a:off x="5757293" y="2291301"/>
            <a:ext cx="2925531" cy="1949395"/>
          </a:xfrm>
          <a:prstGeom prst="bentConnector3">
            <a:avLst>
              <a:gd name="adj1" fmla="val 7582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9" name="꺾인 연결선 9228"/>
          <p:cNvCxnSpPr/>
          <p:nvPr/>
        </p:nvCxnSpPr>
        <p:spPr>
          <a:xfrm flipV="1">
            <a:off x="6823007" y="2981739"/>
            <a:ext cx="1926149" cy="1745511"/>
          </a:xfrm>
          <a:prstGeom prst="bentConnector3">
            <a:avLst>
              <a:gd name="adj1" fmla="val 7435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2" name="꺾인 연결선 9231"/>
          <p:cNvCxnSpPr/>
          <p:nvPr/>
        </p:nvCxnSpPr>
        <p:spPr>
          <a:xfrm flipV="1">
            <a:off x="5940292" y="3549188"/>
            <a:ext cx="2808864" cy="1683163"/>
          </a:xfrm>
          <a:prstGeom prst="bentConnector3">
            <a:avLst>
              <a:gd name="adj1" fmla="val 9246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1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jQuery Mobile </a:t>
            </a:r>
            <a:r>
              <a:rPr lang="ko-KR" altLang="en-US" b="1" dirty="0" smtClean="0"/>
              <a:t>예제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웹 서버 </a:t>
            </a:r>
            <a:r>
              <a:rPr lang="ko-KR" altLang="en-US" b="1" dirty="0" err="1" smtClean="0"/>
              <a:t>실행과정</a:t>
            </a:r>
            <a:r>
              <a:rPr lang="en-US" altLang="ko-KR" b="1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2160589"/>
            <a:ext cx="10374488" cy="3880773"/>
          </a:xfrm>
        </p:spPr>
        <p:txBody>
          <a:bodyPr/>
          <a:lstStyle/>
          <a:p>
            <a:r>
              <a:rPr lang="en-US" altLang="ko-KR" dirty="0" smtClean="0"/>
              <a:t>C</a:t>
            </a:r>
            <a:r>
              <a:rPr lang="en-US" altLang="ko-KR" dirty="0"/>
              <a:t>:\Program Files\Apache Software Foundation\Tomcat </a:t>
            </a:r>
            <a:r>
              <a:rPr lang="en-US" altLang="ko-KR" dirty="0" smtClean="0"/>
              <a:t>8.0\</a:t>
            </a:r>
            <a:r>
              <a:rPr lang="en-US" altLang="ko-KR" dirty="0" err="1" smtClean="0"/>
              <a:t>webapps</a:t>
            </a:r>
            <a:r>
              <a:rPr lang="en-US" altLang="ko-KR" dirty="0" smtClean="0"/>
              <a:t>\ROOT </a:t>
            </a:r>
            <a:r>
              <a:rPr lang="ko-KR" altLang="en-US" dirty="0" smtClean="0"/>
              <a:t>경로 안에 해당 코드 파일을 추가</a:t>
            </a:r>
            <a:endParaRPr lang="en-US" altLang="ko-KR" dirty="0" smtClean="0"/>
          </a:p>
          <a:p>
            <a:r>
              <a:rPr lang="ko-KR" altLang="en-US" dirty="0" smtClean="0"/>
              <a:t>이클립스 </a:t>
            </a:r>
            <a:r>
              <a:rPr lang="en-US" altLang="ko-KR" dirty="0" smtClean="0"/>
              <a:t>Tomcat</a:t>
            </a:r>
            <a:r>
              <a:rPr lang="ko-KR" altLang="en-US" dirty="0" smtClean="0"/>
              <a:t>서버 </a:t>
            </a:r>
            <a:r>
              <a:rPr lang="en-US" altLang="ko-KR" dirty="0" smtClean="0"/>
              <a:t>Stop</a:t>
            </a:r>
            <a:r>
              <a:rPr lang="ko-KR" altLang="en-US" dirty="0" smtClean="0"/>
              <a:t>후 </a:t>
            </a:r>
            <a:r>
              <a:rPr lang="en-US" altLang="ko-KR" dirty="0" smtClean="0"/>
              <a:t>Configure Tomcat</a:t>
            </a:r>
            <a:r>
              <a:rPr lang="ko-KR" altLang="en-US" dirty="0" smtClean="0"/>
              <a:t>을 통해 웹 서버 </a:t>
            </a:r>
            <a:r>
              <a:rPr lang="en-US" altLang="ko-KR" dirty="0" smtClean="0"/>
              <a:t>Start</a:t>
            </a:r>
          </a:p>
          <a:p>
            <a:r>
              <a:rPr lang="ko-KR" altLang="en-US" dirty="0" smtClean="0"/>
              <a:t>모바일 웹 브라우저 </a:t>
            </a:r>
            <a:r>
              <a:rPr lang="en-US" altLang="ko-KR" dirty="0" smtClean="0"/>
              <a:t>URI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[http://</a:t>
            </a:r>
            <a:r>
              <a:rPr lang="ko-KR" altLang="en-US" dirty="0" smtClean="0"/>
              <a:t>해당 컴퓨터 </a:t>
            </a:r>
            <a:r>
              <a:rPr lang="en-US" altLang="ko-KR" dirty="0" err="1" smtClean="0"/>
              <a:t>ip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주소</a:t>
            </a:r>
            <a:r>
              <a:rPr lang="en-US" altLang="ko-KR" dirty="0" smtClean="0"/>
              <a:t>:8080/</a:t>
            </a:r>
            <a:r>
              <a:rPr lang="ko-KR" altLang="en-US" dirty="0" smtClean="0"/>
              <a:t>작성한 코드 파일명</a:t>
            </a:r>
            <a:r>
              <a:rPr lang="en-US" altLang="ko-KR" dirty="0" smtClean="0"/>
              <a:t>]</a:t>
            </a:r>
            <a:r>
              <a:rPr lang="ko-KR" altLang="en-US" dirty="0" smtClean="0"/>
              <a:t> 입력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ex</a:t>
            </a:r>
            <a:r>
              <a:rPr lang="en-US" altLang="ko-KR" dirty="0"/>
              <a:t>) </a:t>
            </a:r>
            <a:r>
              <a:rPr lang="en-US" altLang="ko-KR" dirty="0">
                <a:hlinkClick r:id="rId3"/>
              </a:rPr>
              <a:t>http://</a:t>
            </a:r>
            <a:r>
              <a:rPr lang="en-US" altLang="ko-KR" dirty="0" smtClean="0">
                <a:hlinkClick r:id="rId3"/>
              </a:rPr>
              <a:t>164.125.36.41:8080/JqueryMobile.html</a:t>
            </a:r>
            <a:r>
              <a:rPr lang="en-US" altLang="ko-KR" dirty="0" smtClean="0"/>
              <a:t> </a:t>
            </a:r>
            <a:r>
              <a:rPr lang="ko-KR" altLang="en-US" dirty="0" smtClean="0"/>
              <a:t>같이 입력</a:t>
            </a:r>
            <a:endParaRPr lang="en-US" altLang="ko-KR" dirty="0"/>
          </a:p>
          <a:p>
            <a:pPr lvl="1"/>
            <a:r>
              <a:rPr lang="en-US" altLang="ko-KR" dirty="0" smtClean="0"/>
              <a:t>*Tomcat</a:t>
            </a:r>
            <a:r>
              <a:rPr lang="ko-KR" altLang="en-US" dirty="0" smtClean="0"/>
              <a:t>포트에</a:t>
            </a:r>
            <a:r>
              <a:rPr lang="en-US" altLang="ko-KR" dirty="0" smtClean="0"/>
              <a:t> </a:t>
            </a:r>
            <a:r>
              <a:rPr lang="ko-KR" altLang="en-US" dirty="0" smtClean="0"/>
              <a:t>대한 외부 방화벽 해제를 해야 다른 기기에서도 접속 가능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079057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jQuery Mobile </a:t>
            </a:r>
            <a:r>
              <a:rPr lang="ko-KR" altLang="en-US" b="1" dirty="0" smtClean="0"/>
              <a:t>예제 </a:t>
            </a:r>
            <a:r>
              <a:rPr lang="en-US" altLang="ko-KR" b="1" dirty="0" smtClean="0"/>
              <a:t>(w3schools.com)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677334" y="1715316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  <a:hlinkClick r:id="rId2"/>
              </a:rPr>
              <a:t>http://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2"/>
              </a:rPr>
              <a:t>www.w3schools.com/jquerymobile/default.asp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Mobile Tutorial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Mobile Lists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Mobile Forms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Mobile Themes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jQ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Mobile Events</a:t>
            </a:r>
          </a:p>
        </p:txBody>
      </p:sp>
    </p:spTree>
    <p:extLst>
      <p:ext uri="{BB962C8B-B14F-4D97-AF65-F5344CB8AC3E}">
        <p14:creationId xmlns:p14="http://schemas.microsoft.com/office/powerpoint/2010/main" val="842049196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</TotalTime>
  <Words>654</Words>
  <Application>Microsoft Office PowerPoint</Application>
  <PresentationFormat>와이드스크린</PresentationFormat>
  <Paragraphs>121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Arial</vt:lpstr>
      <vt:lpstr>HY그래픽M</vt:lpstr>
      <vt:lpstr>Trebuchet MS</vt:lpstr>
      <vt:lpstr>Wingdings 3</vt:lpstr>
      <vt:lpstr>맑은 고딕</vt:lpstr>
      <vt:lpstr>함초롬바탕</vt:lpstr>
      <vt:lpstr>패싯</vt:lpstr>
      <vt:lpstr>jQuery &amp; jQuery Mobile</vt:lpstr>
      <vt:lpstr>jQuery란?</vt:lpstr>
      <vt:lpstr>jQuery 라이브러리 추가</vt:lpstr>
      <vt:lpstr>DOM (Document Object Model)</vt:lpstr>
      <vt:lpstr>DOM 이란?</vt:lpstr>
      <vt:lpstr>DOM과 HTML 페이지와의 관계</vt:lpstr>
      <vt:lpstr>DOM과 HTML 페이지와의 관계</vt:lpstr>
      <vt:lpstr>DOM과 XML</vt:lpstr>
      <vt:lpstr>jQuery DOM</vt:lpstr>
      <vt:lpstr>jQuery DOM</vt:lpstr>
      <vt:lpstr>javascript vs. jQuery</vt:lpstr>
      <vt:lpstr>jQuery Mobile 소개</vt:lpstr>
      <vt:lpstr>Link to jQuery Mobile From a CDN</vt:lpstr>
      <vt:lpstr>jQuery Mobile 예제</vt:lpstr>
      <vt:lpstr>jQuery Mobile 예제(웹 서버 실행과정)</vt:lpstr>
      <vt:lpstr>jQuery Mobile 예제 (w3schools.com)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 &amp; jQuery Mobile</dc:title>
  <dc:creator>Windows 사용자</dc:creator>
  <cp:lastModifiedBy>Windows 사용자</cp:lastModifiedBy>
  <cp:revision>7</cp:revision>
  <dcterms:created xsi:type="dcterms:W3CDTF">2017-05-07T06:55:03Z</dcterms:created>
  <dcterms:modified xsi:type="dcterms:W3CDTF">2018-05-08T03:09:13Z</dcterms:modified>
</cp:coreProperties>
</file>