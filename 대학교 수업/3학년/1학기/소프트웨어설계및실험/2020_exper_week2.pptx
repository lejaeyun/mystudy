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  <p:sldMasterId id="2147483689" r:id="rId2"/>
  </p:sldMasterIdLst>
  <p:notesMasterIdLst>
    <p:notesMasterId r:id="rId63"/>
  </p:notesMasterIdLst>
  <p:sldIdLst>
    <p:sldId id="256" r:id="rId3"/>
    <p:sldId id="257" r:id="rId4"/>
    <p:sldId id="303" r:id="rId5"/>
    <p:sldId id="258" r:id="rId6"/>
    <p:sldId id="259" r:id="rId7"/>
    <p:sldId id="261" r:id="rId8"/>
    <p:sldId id="298" r:id="rId9"/>
    <p:sldId id="263" r:id="rId10"/>
    <p:sldId id="260" r:id="rId11"/>
    <p:sldId id="285" r:id="rId12"/>
    <p:sldId id="286" r:id="rId13"/>
    <p:sldId id="275" r:id="rId14"/>
    <p:sldId id="282" r:id="rId15"/>
    <p:sldId id="280" r:id="rId16"/>
    <p:sldId id="299" r:id="rId17"/>
    <p:sldId id="277" r:id="rId18"/>
    <p:sldId id="264" r:id="rId19"/>
    <p:sldId id="265" r:id="rId20"/>
    <p:sldId id="284" r:id="rId21"/>
    <p:sldId id="267" r:id="rId22"/>
    <p:sldId id="287" r:id="rId23"/>
    <p:sldId id="269" r:id="rId24"/>
    <p:sldId id="270" r:id="rId25"/>
    <p:sldId id="300" r:id="rId26"/>
    <p:sldId id="301" r:id="rId27"/>
    <p:sldId id="302" r:id="rId28"/>
    <p:sldId id="331" r:id="rId29"/>
    <p:sldId id="305" r:id="rId30"/>
    <p:sldId id="306" r:id="rId31"/>
    <p:sldId id="307" r:id="rId32"/>
    <p:sldId id="335" r:id="rId33"/>
    <p:sldId id="336" r:id="rId34"/>
    <p:sldId id="337" r:id="rId35"/>
    <p:sldId id="338" r:id="rId36"/>
    <p:sldId id="309" r:id="rId37"/>
    <p:sldId id="332" r:id="rId38"/>
    <p:sldId id="310" r:id="rId39"/>
    <p:sldId id="311" r:id="rId40"/>
    <p:sldId id="312" r:id="rId41"/>
    <p:sldId id="313" r:id="rId42"/>
    <p:sldId id="315" r:id="rId43"/>
    <p:sldId id="316" r:id="rId44"/>
    <p:sldId id="317" r:id="rId45"/>
    <p:sldId id="320" r:id="rId46"/>
    <p:sldId id="314" r:id="rId47"/>
    <p:sldId id="318" r:id="rId48"/>
    <p:sldId id="340" r:id="rId49"/>
    <p:sldId id="321" r:id="rId50"/>
    <p:sldId id="339" r:id="rId51"/>
    <p:sldId id="333" r:id="rId52"/>
    <p:sldId id="322" r:id="rId53"/>
    <p:sldId id="323" r:id="rId54"/>
    <p:sldId id="324" r:id="rId55"/>
    <p:sldId id="325" r:id="rId56"/>
    <p:sldId id="326" r:id="rId57"/>
    <p:sldId id="328" r:id="rId58"/>
    <p:sldId id="341" r:id="rId59"/>
    <p:sldId id="327" r:id="rId60"/>
    <p:sldId id="334" r:id="rId61"/>
    <p:sldId id="329" r:id="rId6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556" autoAdjust="0"/>
    <p:restoredTop sz="93420" autoAdjust="0"/>
  </p:normalViewPr>
  <p:slideViewPr>
    <p:cSldViewPr>
      <p:cViewPr varScale="1">
        <p:scale>
          <a:sx n="106" d="100"/>
          <a:sy n="106" d="100"/>
        </p:scale>
        <p:origin x="188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61" Type="http://schemas.openxmlformats.org/officeDocument/2006/relationships/slide" Target="slides/slide59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338D05-561D-4189-B12C-6FAEDDBBF38C}" type="datetimeFigureOut">
              <a:rPr lang="ko-KR" altLang="en-US" smtClean="0"/>
              <a:t>2020-03-23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7FD9E3-A0A5-4E83-9AAC-E0CDCB75F0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02713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7FD9E3-A0A5-4E83-9AAC-E0CDCB75F030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53754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71316" cy="6874935"/>
            <a:chOff x="-8466" y="-8468"/>
            <a:chExt cx="9171316" cy="6874935"/>
          </a:xfrm>
        </p:grpSpPr>
        <p:cxnSp>
          <p:nvCxnSpPr>
            <p:cNvPr id="28" name="Straight Connector 2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 2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Freeform 3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Freeform 3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Freeform 3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Freeform 3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Freeform 3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Freeform 3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1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ko-KR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700BC-B9D9-4710-925F-5927D6734DF6}" type="datetime1">
              <a:rPr lang="ko-KR" altLang="en-US" smtClean="0"/>
              <a:t>2020-03-23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D11B-3400-4576-B192-CBE694130FE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91006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609600"/>
            <a:ext cx="8218800" cy="65880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412776"/>
            <a:ext cx="6347714" cy="4628587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405257" y="6041363"/>
            <a:ext cx="1552056" cy="365125"/>
          </a:xfrm>
        </p:spPr>
        <p:txBody>
          <a:bodyPr/>
          <a:lstStyle/>
          <a:p>
            <a:fld id="{551F139E-D662-46F1-8062-6DFC4B6E94F3}" type="datetime1">
              <a:rPr lang="ko-KR" altLang="en-US" smtClean="0"/>
              <a:t>2020-03-23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15760" y="6041362"/>
            <a:ext cx="512638" cy="365125"/>
          </a:xfrm>
        </p:spPr>
        <p:txBody>
          <a:bodyPr/>
          <a:lstStyle/>
          <a:p>
            <a:fld id="{B865D11B-3400-4576-B192-CBE694130FE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4885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7" y="2700868"/>
            <a:ext cx="8218800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7" y="4527448"/>
            <a:ext cx="8218800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2AF0B-7FF3-4BAB-B1CB-742003002BFA}" type="datetime1">
              <a:rPr lang="ko-KR" altLang="en-US" smtClean="0"/>
              <a:t>2020-03-23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15759" y="6041363"/>
            <a:ext cx="512638" cy="365125"/>
          </a:xfrm>
        </p:spPr>
        <p:txBody>
          <a:bodyPr/>
          <a:lstStyle/>
          <a:p>
            <a:fld id="{B865D11B-3400-4576-B192-CBE694130FE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2631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8219454" cy="659160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12776"/>
            <a:ext cx="3088109" cy="462858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1412776"/>
            <a:ext cx="3088110" cy="462858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413259" y="6041361"/>
            <a:ext cx="1544055" cy="365125"/>
          </a:xfrm>
        </p:spPr>
        <p:txBody>
          <a:bodyPr/>
          <a:lstStyle/>
          <a:p>
            <a:fld id="{E29A0A78-339E-496E-8B75-70A890DF5A16}" type="datetime1">
              <a:rPr lang="ko-KR" altLang="en-US" smtClean="0"/>
              <a:t>2020-03-23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8134" y="6041361"/>
            <a:ext cx="4622973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16416" y="6041361"/>
            <a:ext cx="512638" cy="36512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B865D11B-3400-4576-B192-CBE694130FE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8906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609600"/>
            <a:ext cx="8218800" cy="6588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493" y="1426560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002822"/>
            <a:ext cx="3090672" cy="4038541"/>
          </a:xfrm>
        </p:spPr>
        <p:txBody>
          <a:bodyPr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1426560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002822"/>
            <a:ext cx="3090672" cy="4038541"/>
          </a:xfrm>
        </p:spPr>
        <p:txBody>
          <a:bodyPr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D43A3-F205-4977-827A-11A59AEDB145}" type="datetime1">
              <a:rPr lang="ko-KR" altLang="en-US" smtClean="0"/>
              <a:t>2020-03-23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D11B-3400-4576-B192-CBE694130FE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5563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8218800" cy="658800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CB3D6-0636-403E-A82D-A140A5666D4B}" type="datetime1">
              <a:rPr lang="ko-KR" altLang="en-US" smtClean="0"/>
              <a:t>2020-03-23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D11B-3400-4576-B192-CBE694130FE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0985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95273-25DF-4BA5-B097-6BAD25FD7FBE}" type="datetime1">
              <a:rPr lang="ko-KR" altLang="en-US" smtClean="0"/>
              <a:t>2020-03-23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D11B-3400-4576-B192-CBE694130FE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3024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86341-3ABC-47C4-8BF3-8E3401C12AFF}" type="datetime1">
              <a:rPr lang="ko-KR" altLang="en-US" smtClean="0"/>
              <a:t>2020-03-23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D11B-3400-4576-B192-CBE694130FE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77537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altLang="ko-KR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D112D-7B39-4860-9EB8-2FF8E6D548F4}" type="datetime1">
              <a:rPr lang="ko-KR" altLang="en-US" smtClean="0"/>
              <a:t>2020-03-23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D11B-3400-4576-B192-CBE694130FE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9266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1419F-6604-43CC-A6DE-2DA76D76AC7F}" type="datetime1">
              <a:rPr lang="ko-KR" altLang="en-US" smtClean="0"/>
              <a:t>2020-03-23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D11B-3400-4576-B192-CBE694130FE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52829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3F376-2710-49C7-871A-18FDBAE81F73}" type="datetime1">
              <a:rPr lang="ko-KR" altLang="en-US" smtClean="0"/>
              <a:t>2020-03-23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D11B-3400-4576-B192-CBE694130FE7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909916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17A48-EAC3-4B4F-AC07-BCCA826F4C03}" type="datetime1">
              <a:rPr lang="ko-KR" altLang="en-US" smtClean="0"/>
              <a:t>2020-03-23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D11B-3400-4576-B192-CBE694130FE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59474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4ECDA-E4C2-476A-A0E8-5852A04CEBC6}" type="datetime1">
              <a:rPr lang="ko-KR" altLang="en-US" smtClean="0"/>
              <a:t>2020-03-23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D11B-3400-4576-B192-CBE694130FE7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401133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C86B2-E619-4ABA-8611-83547D4CFA83}" type="datetime1">
              <a:rPr lang="ko-KR" altLang="en-US" smtClean="0"/>
              <a:t>2020-03-23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D11B-3400-4576-B192-CBE694130FE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25863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010D4-5469-4915-9D50-9EFB832B8D9E}" type="datetime1">
              <a:rPr lang="ko-KR" altLang="en-US" smtClean="0"/>
              <a:t>2020-03-23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D11B-3400-4576-B192-CBE694130FE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66913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D36C-9922-4019-9FD5-38681454C82C}" type="datetime1">
              <a:rPr lang="ko-KR" altLang="en-US" smtClean="0"/>
              <a:t>2020-03-23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D11B-3400-4576-B192-CBE694130FE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19291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Click to edit Master subtitle style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2DC05-95A9-49D0-A3AD-60217AA54983}" type="datetime1">
              <a:rPr lang="ko-KR" altLang="en-US" smtClean="0"/>
              <a:t>2020-03-23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D6AFA-7AEE-4465-AA12-996C1CB730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56500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D64DB-AD14-485D-BA34-6AF4E6FD434D}" type="datetime1">
              <a:rPr lang="ko-KR" altLang="en-US" smtClean="0"/>
              <a:t>2020-03-23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D6AFA-7AEE-4465-AA12-996C1CB730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10659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07944-2F68-40AC-8348-0933796D5F9D}" type="datetime1">
              <a:rPr lang="ko-KR" altLang="en-US" smtClean="0"/>
              <a:t>2020-03-23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D6AFA-7AEE-4465-AA12-996C1CB730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157384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2B757-951B-4045-9D1A-F19FB5AFD219}" type="datetime1">
              <a:rPr lang="ko-KR" altLang="en-US" smtClean="0"/>
              <a:t>2020-03-23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D6AFA-7AEE-4465-AA12-996C1CB730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57741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8A513-9323-42FD-B085-240D7C8F6A57}" type="datetime1">
              <a:rPr lang="ko-KR" altLang="en-US" smtClean="0"/>
              <a:t>2020-03-23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D6AFA-7AEE-4465-AA12-996C1CB730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93627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1D1E7-A452-4552-88B2-8E96A7108CA3}" type="datetime1">
              <a:rPr lang="ko-KR" altLang="en-US" smtClean="0"/>
              <a:t>2020-03-23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D6AFA-7AEE-4465-AA12-996C1CB730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586882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02E27-BCEC-49FD-B1AC-685F50398B1F}" type="datetime1">
              <a:rPr lang="ko-KR" altLang="en-US" smtClean="0"/>
              <a:t>2020-03-23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D6AFA-7AEE-4465-AA12-996C1CB730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929519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FEE16-E2A9-4FD2-81BC-6EEE3310E220}" type="datetime1">
              <a:rPr lang="ko-KR" altLang="en-US" smtClean="0"/>
              <a:t>2020-03-23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D6AFA-7AEE-4465-AA12-996C1CB730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351023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Click icon to add picture</a:t>
            </a:r>
            <a:endParaRPr lang="ko-KR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37409-12C9-48A2-8DCF-12D882A6F3B2}" type="datetime1">
              <a:rPr lang="ko-KR" altLang="en-US" smtClean="0"/>
              <a:t>2020-03-23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D6AFA-7AEE-4465-AA12-996C1CB730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230728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250A5-A0FF-477E-91F2-FC02588D8E54}" type="datetime1">
              <a:rPr lang="ko-KR" altLang="en-US" smtClean="0"/>
              <a:t>2020-03-23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D6AFA-7AEE-4465-AA12-996C1CB730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505212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2FD23-B283-4F2D-9B13-E8395C646B04}" type="datetime1">
              <a:rPr lang="ko-KR" altLang="en-US" smtClean="0"/>
              <a:t>2020-03-23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D6AFA-7AEE-4465-AA12-996C1CB730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4994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71317" cy="6874935"/>
            <a:chOff x="-8467" y="-8468"/>
            <a:chExt cx="9171317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8" y="609600"/>
            <a:ext cx="8229600" cy="669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1412776"/>
            <a:ext cx="6366962" cy="46285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15713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AEE22B-6735-450C-BA9E-9E9629A42D52}" type="datetime1">
              <a:rPr lang="ko-KR" altLang="en-US" smtClean="0"/>
              <a:t>2020-03-23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26560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bg1"/>
                </a:solidFill>
              </a:defRPr>
            </a:lvl1pPr>
          </a:lstStyle>
          <a:p>
            <a:fld id="{B865D11B-3400-4576-B192-CBE694130FE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0872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hf hdr="0" ftr="0" dt="0"/>
  <p:txStyles>
    <p:titleStyle>
      <a:lvl1pPr algn="l" defTabSz="457200" rtl="0" eaLnBrk="1" latinLnBrk="1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5B70F1-E674-4E3C-8213-19F2789BDF43}" type="datetime1">
              <a:rPr lang="ko-KR" altLang="en-US" smtClean="0"/>
              <a:t>2020-03-23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4D6AFA-7AEE-4465-AA12-996C1CB730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5215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sz="6000"/>
              <a:t>Intent &amp; Service</a:t>
            </a:r>
            <a:endParaRPr lang="ko-KR" altLang="en-US" sz="6000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2020</a:t>
            </a:r>
            <a:r>
              <a:rPr lang="ko-KR" altLang="en-US" dirty="0"/>
              <a:t>년 </a:t>
            </a:r>
            <a:r>
              <a:rPr lang="en-US" altLang="ko-KR" dirty="0"/>
              <a:t>1</a:t>
            </a:r>
            <a:r>
              <a:rPr lang="ko-KR" altLang="en-US" dirty="0"/>
              <a:t>학기</a:t>
            </a:r>
            <a:endParaRPr lang="en-US" altLang="ko-K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353279" y="310829"/>
            <a:ext cx="8218800" cy="658800"/>
          </a:xfrm>
        </p:spPr>
        <p:txBody>
          <a:bodyPr/>
          <a:lstStyle/>
          <a:p>
            <a:r>
              <a:rPr lang="ko-KR" altLang="en-US" b="1" dirty="0"/>
              <a:t>목차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755576" y="1048906"/>
            <a:ext cx="6347714" cy="4992456"/>
          </a:xfrm>
        </p:spPr>
        <p:txBody>
          <a:bodyPr>
            <a:normAutofit/>
          </a:bodyPr>
          <a:lstStyle/>
          <a:p>
            <a:r>
              <a:rPr lang="en-US" altLang="ko-KR" sz="2000" b="1" dirty="0"/>
              <a:t>Intent</a:t>
            </a:r>
          </a:p>
          <a:p>
            <a:pPr lvl="1"/>
            <a:r>
              <a:rPr lang="en-US" altLang="ko-KR" sz="1800" dirty="0"/>
              <a:t>Intent</a:t>
            </a:r>
            <a:r>
              <a:rPr lang="ko-KR" altLang="en-US" sz="1800" dirty="0"/>
              <a:t>를 이용해 </a:t>
            </a:r>
            <a:r>
              <a:rPr lang="en-US" altLang="ko-KR" sz="1800" dirty="0"/>
              <a:t>Activity </a:t>
            </a:r>
            <a:r>
              <a:rPr lang="ko-KR" altLang="en-US" sz="1800" dirty="0"/>
              <a:t>띄우기</a:t>
            </a:r>
            <a:endParaRPr lang="en-US" altLang="ko-KR" sz="1800" dirty="0"/>
          </a:p>
          <a:p>
            <a:pPr lvl="1"/>
            <a:r>
              <a:rPr lang="en-US" altLang="ko-KR" sz="1800" dirty="0"/>
              <a:t>Activity</a:t>
            </a:r>
            <a:r>
              <a:rPr lang="ko-KR" altLang="en-US" sz="1800" dirty="0"/>
              <a:t>간 통신</a:t>
            </a:r>
            <a:endParaRPr lang="en-US" altLang="ko-KR" sz="1800" dirty="0"/>
          </a:p>
          <a:p>
            <a:pPr lvl="1"/>
            <a:r>
              <a:rPr lang="en-US" altLang="ko-KR" sz="1800"/>
              <a:t>Intent Filter</a:t>
            </a:r>
          </a:p>
          <a:p>
            <a:pPr lvl="1"/>
            <a:endParaRPr lang="en-US" altLang="ko-KR" sz="1800"/>
          </a:p>
          <a:p>
            <a:r>
              <a:rPr lang="en-US" altLang="ko-KR" sz="2000" b="1"/>
              <a:t>Notification</a:t>
            </a:r>
          </a:p>
          <a:p>
            <a:endParaRPr lang="en-US" altLang="ko-KR" sz="2000" b="1"/>
          </a:p>
          <a:p>
            <a:r>
              <a:rPr lang="en-US" altLang="ko-KR" sz="2000" b="1"/>
              <a:t>Service</a:t>
            </a:r>
          </a:p>
          <a:p>
            <a:endParaRPr lang="en-US" altLang="ko-KR" sz="2000" b="1"/>
          </a:p>
          <a:p>
            <a:r>
              <a:rPr lang="en-US" altLang="ko-KR" sz="2000" b="1"/>
              <a:t>Alarm</a:t>
            </a:r>
            <a:endParaRPr lang="ko-KR" altLang="en-US" sz="2000" b="1"/>
          </a:p>
          <a:p>
            <a:endParaRPr lang="en-US" altLang="ko-KR" sz="2000" dirty="0"/>
          </a:p>
          <a:p>
            <a:pPr>
              <a:buNone/>
            </a:pPr>
            <a:endParaRPr lang="en-US" altLang="ko-KR" sz="2000" dirty="0"/>
          </a:p>
          <a:p>
            <a:endParaRPr lang="ko-KR" alt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D11B-3400-4576-B192-CBE694130FE7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sz="5400" b="1" dirty="0"/>
              <a:t>Intent</a:t>
            </a:r>
            <a:endParaRPr lang="ko-KR" altLang="en-US" sz="5400" b="1" dirty="0"/>
          </a:p>
        </p:txBody>
      </p:sp>
    </p:spTree>
    <p:extLst>
      <p:ext uri="{BB962C8B-B14F-4D97-AF65-F5344CB8AC3E}">
        <p14:creationId xmlns:p14="http://schemas.microsoft.com/office/powerpoint/2010/main" val="2761462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323528" y="280560"/>
            <a:ext cx="8218800" cy="658800"/>
          </a:xfrm>
        </p:spPr>
        <p:txBody>
          <a:bodyPr/>
          <a:lstStyle/>
          <a:p>
            <a:r>
              <a:rPr lang="en-US" altLang="ko-KR" b="1" dirty="0"/>
              <a:t>Intent</a:t>
            </a:r>
            <a:endParaRPr lang="ko-KR" altLang="en-US" b="1" dirty="0"/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611560" y="1114097"/>
            <a:ext cx="6626697" cy="4628587"/>
          </a:xfrm>
        </p:spPr>
        <p:txBody>
          <a:bodyPr>
            <a:normAutofit/>
          </a:bodyPr>
          <a:lstStyle/>
          <a:p>
            <a:r>
              <a:rPr lang="ko-KR" altLang="en-US" sz="2000" dirty="0"/>
              <a:t>액티비티와 액티비티</a:t>
            </a:r>
            <a:r>
              <a:rPr lang="en-US" altLang="ko-KR" sz="2000" dirty="0"/>
              <a:t>, </a:t>
            </a:r>
            <a:r>
              <a:rPr lang="ko-KR" altLang="en-US" sz="2000" dirty="0"/>
              <a:t>혹은 안드로이드 컴포넌트 간의</a:t>
            </a:r>
            <a:br>
              <a:rPr lang="en-US" altLang="ko-KR" sz="2000" dirty="0"/>
            </a:br>
            <a:r>
              <a:rPr lang="ko-KR" altLang="en-US" sz="2000" dirty="0"/>
              <a:t>호출 및 정보 전달을 위한 객체</a:t>
            </a:r>
            <a:endParaRPr lang="en-US" altLang="ko-KR" sz="2000" dirty="0"/>
          </a:p>
          <a:p>
            <a:endParaRPr lang="ko-KR" altLang="en-US" sz="2000" dirty="0"/>
          </a:p>
        </p:txBody>
      </p:sp>
      <p:sp>
        <p:nvSpPr>
          <p:cNvPr id="4" name="직사각형 34"/>
          <p:cNvSpPr/>
          <p:nvPr/>
        </p:nvSpPr>
        <p:spPr>
          <a:xfrm>
            <a:off x="3205810" y="2158213"/>
            <a:ext cx="2592288" cy="64807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…</a:t>
            </a:r>
          </a:p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do something </a:t>
            </a:r>
            <a:r>
              <a:rPr lang="en-US" altLang="ko-KR" sz="1000" dirty="0" err="1">
                <a:solidFill>
                  <a:schemeClr val="tx1"/>
                </a:solidFill>
              </a:rPr>
              <a:t>YourActivity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…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5" name="직사각형 3"/>
          <p:cNvSpPr/>
          <p:nvPr/>
        </p:nvSpPr>
        <p:spPr>
          <a:xfrm>
            <a:off x="3133802" y="3130321"/>
            <a:ext cx="2736304" cy="648072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Android</a:t>
            </a:r>
            <a:endParaRPr lang="ko-KR" altLang="en-US" dirty="0"/>
          </a:p>
        </p:txBody>
      </p:sp>
      <p:sp>
        <p:nvSpPr>
          <p:cNvPr id="6" name="직사각형 4"/>
          <p:cNvSpPr/>
          <p:nvPr/>
        </p:nvSpPr>
        <p:spPr>
          <a:xfrm>
            <a:off x="1117578" y="5290561"/>
            <a:ext cx="2016224" cy="576064"/>
          </a:xfrm>
          <a:prstGeom prst="rect">
            <a:avLst/>
          </a:prstGeom>
          <a:noFill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MyActivity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직사각형 5"/>
          <p:cNvSpPr/>
          <p:nvPr/>
        </p:nvSpPr>
        <p:spPr>
          <a:xfrm>
            <a:off x="5782311" y="5290561"/>
            <a:ext cx="2016224" cy="576064"/>
          </a:xfrm>
          <a:prstGeom prst="rect">
            <a:avLst/>
          </a:prstGeom>
          <a:noFill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YourActivity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8" name="Shape 16"/>
          <p:cNvCxnSpPr>
            <a:endCxn id="5" idx="1"/>
          </p:cNvCxnSpPr>
          <p:nvPr/>
        </p:nvCxnSpPr>
        <p:spPr>
          <a:xfrm rot="5400000" flipH="1" flipV="1">
            <a:off x="1387608" y="3544367"/>
            <a:ext cx="1836204" cy="1656184"/>
          </a:xfrm>
          <a:prstGeom prst="curvedConnector2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hape 18"/>
          <p:cNvCxnSpPr>
            <a:stCxn id="5" idx="3"/>
          </p:cNvCxnSpPr>
          <p:nvPr/>
        </p:nvCxnSpPr>
        <p:spPr>
          <a:xfrm>
            <a:off x="5870106" y="3454357"/>
            <a:ext cx="1656183" cy="1836204"/>
          </a:xfrm>
          <a:prstGeom prst="curvedConnector2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구부러진 연결선 26"/>
          <p:cNvCxnSpPr/>
          <p:nvPr/>
        </p:nvCxnSpPr>
        <p:spPr>
          <a:xfrm rot="5400000">
            <a:off x="2485730" y="4066425"/>
            <a:ext cx="1512168" cy="936104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  <a:prstDash val="sys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구부러진 연결선 30"/>
          <p:cNvCxnSpPr/>
          <p:nvPr/>
        </p:nvCxnSpPr>
        <p:spPr>
          <a:xfrm rot="16200000" flipV="1">
            <a:off x="5006010" y="3994417"/>
            <a:ext cx="1440160" cy="1008112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  <a:prstDash val="sys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직사각형 21"/>
          <p:cNvSpPr/>
          <p:nvPr/>
        </p:nvSpPr>
        <p:spPr>
          <a:xfrm>
            <a:off x="1117578" y="4066425"/>
            <a:ext cx="1440160" cy="2160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Intent(do something)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3" name="직사각형 24"/>
          <p:cNvSpPr/>
          <p:nvPr/>
        </p:nvSpPr>
        <p:spPr>
          <a:xfrm>
            <a:off x="6518178" y="4066425"/>
            <a:ext cx="1440160" cy="2160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Intent(do something)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4" name="직사각형 32"/>
          <p:cNvSpPr/>
          <p:nvPr/>
        </p:nvSpPr>
        <p:spPr>
          <a:xfrm>
            <a:off x="2269706" y="4714497"/>
            <a:ext cx="1440160" cy="2160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Intent(result)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5" name="직사각형 33"/>
          <p:cNvSpPr/>
          <p:nvPr/>
        </p:nvSpPr>
        <p:spPr>
          <a:xfrm>
            <a:off x="5222034" y="4714497"/>
            <a:ext cx="1440160" cy="2160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Intent(result)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D11B-3400-4576-B192-CBE694130FE7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683568" y="1412775"/>
            <a:ext cx="6347714" cy="4628587"/>
          </a:xfrm>
        </p:spPr>
        <p:txBody>
          <a:bodyPr>
            <a:normAutofit/>
          </a:bodyPr>
          <a:lstStyle/>
          <a:p>
            <a:r>
              <a:rPr lang="ko-KR" altLang="en-US" sz="2000" dirty="0"/>
              <a:t>특정 </a:t>
            </a:r>
            <a:r>
              <a:rPr lang="en-US" altLang="ko-KR" sz="2000" dirty="0"/>
              <a:t>Activity</a:t>
            </a:r>
            <a:r>
              <a:rPr lang="ko-KR" altLang="en-US" sz="2000" dirty="0"/>
              <a:t>를 시작 </a:t>
            </a:r>
            <a:r>
              <a:rPr lang="en-US" altLang="ko-KR" sz="2000" dirty="0"/>
              <a:t>(</a:t>
            </a:r>
            <a:r>
              <a:rPr lang="ko-KR" altLang="en-US" sz="2000" dirty="0"/>
              <a:t>명시적 </a:t>
            </a:r>
            <a:r>
              <a:rPr lang="en-US" altLang="ko-KR" sz="2000" dirty="0"/>
              <a:t>Intent)</a:t>
            </a:r>
          </a:p>
          <a:p>
            <a:r>
              <a:rPr lang="ko-KR" altLang="en-US" sz="2000" dirty="0"/>
              <a:t>특정 기능을 하는 </a:t>
            </a:r>
            <a:r>
              <a:rPr lang="en-US" altLang="ko-KR" sz="2000" dirty="0"/>
              <a:t>Activity</a:t>
            </a:r>
            <a:r>
              <a:rPr lang="ko-KR" altLang="en-US" sz="2000" dirty="0"/>
              <a:t>를 시작 </a:t>
            </a:r>
            <a:r>
              <a:rPr lang="en-US" altLang="ko-KR" sz="2000" dirty="0"/>
              <a:t>(</a:t>
            </a:r>
            <a:r>
              <a:rPr lang="ko-KR" altLang="en-US" sz="2000" dirty="0"/>
              <a:t>암시적 </a:t>
            </a:r>
            <a:r>
              <a:rPr lang="en-US" altLang="ko-KR" sz="2000" dirty="0"/>
              <a:t>Intent)</a:t>
            </a:r>
          </a:p>
          <a:p>
            <a:r>
              <a:rPr lang="en-US" altLang="ko-KR" sz="2000" dirty="0"/>
              <a:t>Activity</a:t>
            </a:r>
            <a:r>
              <a:rPr lang="ko-KR" altLang="en-US" sz="2000" dirty="0"/>
              <a:t>간의 데이터 전달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D11B-3400-4576-B192-CBE694130FE7}" type="slidenum">
              <a:rPr lang="ko-KR" altLang="en-US" smtClean="0"/>
              <a:pPr/>
              <a:t>5</a:t>
            </a:fld>
            <a:endParaRPr lang="ko-KR" altLang="en-US"/>
          </a:p>
        </p:txBody>
      </p:sp>
      <p:sp>
        <p:nvSpPr>
          <p:cNvPr id="6" name="제목 2"/>
          <p:cNvSpPr>
            <a:spLocks noGrp="1"/>
          </p:cNvSpPr>
          <p:nvPr>
            <p:ph type="title"/>
          </p:nvPr>
        </p:nvSpPr>
        <p:spPr>
          <a:xfrm>
            <a:off x="323528" y="280560"/>
            <a:ext cx="8218800" cy="658800"/>
          </a:xfrm>
        </p:spPr>
        <p:txBody>
          <a:bodyPr/>
          <a:lstStyle/>
          <a:p>
            <a:r>
              <a:rPr lang="en-US" altLang="ko-KR" b="1"/>
              <a:t>Intent </a:t>
            </a:r>
            <a:r>
              <a:rPr lang="ko-KR" altLang="en-US" b="1"/>
              <a:t>용도</a:t>
            </a:r>
            <a:endParaRPr lang="ko-KR" altLang="en-US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660" y="1649243"/>
            <a:ext cx="7144992" cy="483613"/>
          </a:xfrm>
          <a:prstGeom prst="rect">
            <a:avLst/>
          </a:prstGeom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345377" y="294227"/>
            <a:ext cx="8218800" cy="658800"/>
          </a:xfrm>
        </p:spPr>
        <p:txBody>
          <a:bodyPr>
            <a:normAutofit/>
          </a:bodyPr>
          <a:lstStyle/>
          <a:p>
            <a:r>
              <a:rPr lang="en-US" altLang="ko-KR" b="1" dirty="0"/>
              <a:t>Intent</a:t>
            </a:r>
            <a:r>
              <a:rPr lang="ko-KR" altLang="en-US" b="1" dirty="0"/>
              <a:t>를 이용해 </a:t>
            </a:r>
            <a:r>
              <a:rPr lang="en-US" altLang="ko-KR" b="1" dirty="0"/>
              <a:t>Activity </a:t>
            </a:r>
            <a:r>
              <a:rPr lang="ko-KR" altLang="en-US" b="1" dirty="0"/>
              <a:t>시작하기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467544" y="1157494"/>
            <a:ext cx="6347714" cy="4628587"/>
          </a:xfrm>
        </p:spPr>
        <p:txBody>
          <a:bodyPr/>
          <a:lstStyle/>
          <a:p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명시적으로 시작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(Explicit intent)</a:t>
            </a:r>
          </a:p>
          <a:p>
            <a:endParaRPr lang="en-US" altLang="ko-KR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en-US" altLang="ko-KR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en-US" altLang="ko-KR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암시적으로 시작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(Implicit intent)</a:t>
            </a:r>
          </a:p>
          <a:p>
            <a:pPr lvl="1"/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안드로이드는 지정된 데이터 타입에 대한 액션 수행에 가장 적합한 클래스로 그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Intent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를 런타임에 해결함</a:t>
            </a:r>
            <a:endParaRPr lang="en-US" altLang="ko-KR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lvl="1"/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빌려 사용하는 기능이 어떤 애플리케이션의 것인지 미리 정확히 알지 않아도 다른 애플리케이션에 있는 기능을 사용하는 프로젝트 작성 가능</a:t>
            </a:r>
            <a:endParaRPr lang="en-US" altLang="ko-KR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en-US" altLang="ko-KR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lvl="1"/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D11B-3400-4576-B192-CBE694130FE7}" type="slidenum">
              <a:rPr lang="ko-KR" altLang="en-US" smtClean="0"/>
              <a:pPr/>
              <a:t>6</a:t>
            </a:fld>
            <a:endParaRPr lang="ko-KR" altLang="en-US"/>
          </a:p>
        </p:txBody>
      </p:sp>
      <p:pic>
        <p:nvPicPr>
          <p:cNvPr id="6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43" y="4685886"/>
            <a:ext cx="7272808" cy="69455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47193" y="1627404"/>
            <a:ext cx="1861111" cy="28942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4211960" y="2046752"/>
            <a:ext cx="44405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b="1" dirty="0" err="1">
                <a:solidFill>
                  <a:schemeClr val="bg2">
                    <a:lumMod val="25000"/>
                  </a:schemeClr>
                </a:solidFill>
              </a:rPr>
              <a:t>SubActivity</a:t>
            </a:r>
            <a:r>
              <a:rPr lang="ko-KR" altLang="en-US" sz="1600" b="1" dirty="0">
                <a:solidFill>
                  <a:schemeClr val="bg2">
                    <a:lumMod val="25000"/>
                  </a:schemeClr>
                </a:solidFill>
              </a:rPr>
              <a:t>를 시작함을 명시적으로 지정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49284" y="4662584"/>
            <a:ext cx="1672548" cy="26069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2843808" y="4979882"/>
            <a:ext cx="38120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>
                <a:solidFill>
                  <a:schemeClr val="bg2">
                    <a:lumMod val="25000"/>
                  </a:schemeClr>
                </a:solidFill>
              </a:rPr>
              <a:t>시작할 액티비티를 </a:t>
            </a:r>
            <a:r>
              <a:rPr lang="ko-KR" altLang="en-US" sz="1600" b="1">
                <a:solidFill>
                  <a:schemeClr val="bg2">
                    <a:lumMod val="25000"/>
                  </a:schemeClr>
                </a:solidFill>
              </a:rPr>
              <a:t>명시하지 않지만 수행 </a:t>
            </a:r>
            <a:r>
              <a:rPr lang="ko-KR" altLang="en-US" sz="1600" b="1" dirty="0">
                <a:solidFill>
                  <a:schemeClr val="bg2">
                    <a:lumMod val="25000"/>
                  </a:schemeClr>
                </a:solidFill>
              </a:rPr>
              <a:t>할 액션을 지정</a:t>
            </a:r>
            <a:r>
              <a:rPr lang="en-US" altLang="ko-KR" sz="1600" b="1" dirty="0">
                <a:solidFill>
                  <a:schemeClr val="bg2">
                    <a:lumMod val="25000"/>
                  </a:schemeClr>
                </a:solidFill>
              </a:rPr>
              <a:t>(ACTION_DIAL)</a:t>
            </a:r>
            <a:endParaRPr lang="ko-KR" altLang="en-US" sz="1600" b="1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353279" y="280740"/>
            <a:ext cx="8218800" cy="658800"/>
          </a:xfrm>
        </p:spPr>
        <p:txBody>
          <a:bodyPr/>
          <a:lstStyle/>
          <a:p>
            <a:r>
              <a:rPr lang="en-US" altLang="ko-KR" b="1" dirty="0"/>
              <a:t>Implicit intent </a:t>
            </a:r>
            <a:r>
              <a:rPr lang="ko-KR" altLang="en-US" b="1" dirty="0"/>
              <a:t>응용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390958" y="1052736"/>
            <a:ext cx="8229600" cy="1875664"/>
          </a:xfrm>
        </p:spPr>
        <p:txBody>
          <a:bodyPr>
            <a:normAutofit fontScale="92500" lnSpcReduction="20000"/>
          </a:bodyPr>
          <a:lstStyle/>
          <a:p>
            <a:r>
              <a:rPr lang="en-US" altLang="ko-KR" sz="2200" dirty="0"/>
              <a:t>Text</a:t>
            </a:r>
            <a:r>
              <a:rPr lang="ko-KR" altLang="en-US" sz="2200" dirty="0"/>
              <a:t>를 전송할 때 </a:t>
            </a:r>
          </a:p>
          <a:p>
            <a:pPr lvl="1"/>
            <a:r>
              <a:rPr lang="en-US" altLang="ko-KR" sz="2000" dirty="0"/>
              <a:t>Intent </a:t>
            </a:r>
            <a:r>
              <a:rPr lang="en-US" altLang="ko-KR" sz="2000" dirty="0" err="1"/>
              <a:t>intent</a:t>
            </a:r>
            <a:r>
              <a:rPr lang="en-US" altLang="ko-KR" sz="2000" dirty="0"/>
              <a:t> = new Intent(</a:t>
            </a:r>
            <a:r>
              <a:rPr lang="en-US" altLang="ko-KR" sz="2000" dirty="0" err="1"/>
              <a:t>Intent.ACTION_SEND</a:t>
            </a:r>
            <a:r>
              <a:rPr lang="en-US" altLang="ko-KR" sz="2000" dirty="0"/>
              <a:t>); </a:t>
            </a:r>
          </a:p>
          <a:p>
            <a:pPr lvl="1"/>
            <a:r>
              <a:rPr lang="en-US" altLang="ko-KR" sz="2000" dirty="0" err="1"/>
              <a:t>intent.putExtra</a:t>
            </a:r>
            <a:r>
              <a:rPr lang="en-US" altLang="ko-KR" sz="2000" dirty="0"/>
              <a:t>(</a:t>
            </a:r>
            <a:r>
              <a:rPr lang="en-US" altLang="ko-KR" sz="2000" dirty="0" err="1"/>
              <a:t>Intent.EXTRA_TEXT</a:t>
            </a:r>
            <a:r>
              <a:rPr lang="en-US" altLang="ko-KR" sz="2000" dirty="0"/>
              <a:t>, "Text");</a:t>
            </a:r>
          </a:p>
          <a:p>
            <a:pPr lvl="1"/>
            <a:r>
              <a:rPr lang="en-US" altLang="ko-KR" sz="2000" dirty="0" err="1"/>
              <a:t>intent.setType</a:t>
            </a:r>
            <a:r>
              <a:rPr lang="en-US" altLang="ko-KR" sz="2000" dirty="0"/>
              <a:t>("text/plain");</a:t>
            </a:r>
          </a:p>
          <a:p>
            <a:pPr lvl="1"/>
            <a:r>
              <a:rPr lang="en-US" altLang="ko-KR" sz="2000" dirty="0" err="1"/>
              <a:t>startActivity</a:t>
            </a:r>
            <a:r>
              <a:rPr lang="en-US" altLang="ko-KR" sz="2000" dirty="0"/>
              <a:t>(intent);</a:t>
            </a:r>
          </a:p>
          <a:p>
            <a:pPr lvl="1"/>
            <a:endParaRPr lang="en-US" altLang="ko-KR" sz="2200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088" y="2436813"/>
            <a:ext cx="2421969" cy="4043367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D11B-3400-4576-B192-CBE694130FE7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79276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323231" y="260648"/>
            <a:ext cx="8218800" cy="658800"/>
          </a:xfrm>
        </p:spPr>
        <p:txBody>
          <a:bodyPr/>
          <a:lstStyle/>
          <a:p>
            <a:r>
              <a:rPr lang="en-US" altLang="ko-KR" b="1" dirty="0"/>
              <a:t>Action</a:t>
            </a:r>
            <a:endParaRPr lang="ko-KR" altLang="en-US" b="1" dirty="0"/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611561" y="1124745"/>
            <a:ext cx="6347714" cy="4628587"/>
          </a:xfrm>
        </p:spPr>
        <p:txBody>
          <a:bodyPr/>
          <a:lstStyle/>
          <a:p>
            <a:r>
              <a:rPr lang="ko-KR" altLang="en-US" dirty="0"/>
              <a:t>실행하고자</a:t>
            </a:r>
            <a:r>
              <a:rPr lang="en-US" altLang="ko-KR" dirty="0"/>
              <a:t> </a:t>
            </a:r>
            <a:r>
              <a:rPr lang="ko-KR" altLang="en-US" dirty="0"/>
              <a:t>하는 동작이며 </a:t>
            </a:r>
            <a:r>
              <a:rPr lang="en-US" altLang="ko-KR" dirty="0"/>
              <a:t>Intent</a:t>
            </a:r>
            <a:r>
              <a:rPr lang="ko-KR" altLang="en-US" dirty="0"/>
              <a:t>를 통해 어떤 작업을 수행할 지를 지정</a:t>
            </a:r>
            <a:endParaRPr lang="en-US" altLang="ko-KR" dirty="0"/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1195976"/>
              </p:ext>
            </p:extLst>
          </p:nvPr>
        </p:nvGraphicFramePr>
        <p:xfrm>
          <a:off x="611560" y="1916832"/>
          <a:ext cx="6410674" cy="3744416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2537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5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604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액션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설명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04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ACTION_CALL</a:t>
                      </a:r>
                      <a:endParaRPr lang="ko-KR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통화를 시작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604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ACTION_EDIT</a:t>
                      </a:r>
                      <a:endParaRPr lang="ko-KR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데이터를 표시하고 편집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808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ACTION_MAIN</a:t>
                      </a:r>
                      <a:endParaRPr lang="ko-KR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메인 액티비티를 실행</a:t>
                      </a:r>
                      <a:br>
                        <a:rPr lang="en-US" altLang="ko-KR" dirty="0"/>
                      </a:br>
                      <a:r>
                        <a:rPr lang="ko-KR" altLang="en-US" dirty="0"/>
                        <a:t>입출력 데이터 없음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011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ACTION_VIEW</a:t>
                      </a:r>
                      <a:endParaRPr lang="ko-KR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가장 일반적인 액션으로</a:t>
                      </a:r>
                      <a:r>
                        <a:rPr lang="en-US" altLang="ko-KR" dirty="0"/>
                        <a:t>,</a:t>
                      </a:r>
                      <a:r>
                        <a:rPr lang="en-US" altLang="ko-KR" baseline="0" dirty="0"/>
                        <a:t> </a:t>
                      </a:r>
                      <a:br>
                        <a:rPr lang="en-US" altLang="ko-KR" baseline="0" dirty="0"/>
                      </a:br>
                      <a:r>
                        <a:rPr lang="en-US" altLang="ko-KR" baseline="0" dirty="0"/>
                        <a:t>Intent</a:t>
                      </a:r>
                      <a:r>
                        <a:rPr lang="ko-KR" altLang="en-US" baseline="0" dirty="0"/>
                        <a:t>의 </a:t>
                      </a:r>
                      <a:r>
                        <a:rPr lang="en-US" altLang="ko-KR" baseline="0" dirty="0"/>
                        <a:t>Uri</a:t>
                      </a:r>
                      <a:r>
                        <a:rPr lang="ko-KR" altLang="en-US" baseline="0" dirty="0"/>
                        <a:t>에 제공된 데이터가 가장 합리적인 방법으로 보여지도록 요청</a:t>
                      </a:r>
                      <a:endParaRPr lang="ko-KR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808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ACTION_DIAL</a:t>
                      </a:r>
                      <a:endParaRPr lang="ko-KR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인텐트의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Uri</a:t>
                      </a:r>
                      <a:r>
                        <a:rPr lang="ko-KR" altLang="en-US" dirty="0"/>
                        <a:t>에 지정된 번호로 전화를 걸 수 있도록 번호를 미리 눌러놓는다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D11B-3400-4576-B192-CBE694130FE7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51520" y="260648"/>
            <a:ext cx="8218800" cy="658800"/>
          </a:xfrm>
        </p:spPr>
        <p:txBody>
          <a:bodyPr>
            <a:normAutofit/>
          </a:bodyPr>
          <a:lstStyle/>
          <a:p>
            <a:r>
              <a:rPr lang="en-US" altLang="ko-KR" sz="3600" b="1" dirty="0" err="1">
                <a:solidFill>
                  <a:schemeClr val="accent1">
                    <a:lumMod val="75000"/>
                  </a:schemeClr>
                </a:solidFill>
              </a:rPr>
              <a:t>StartActivity</a:t>
            </a:r>
            <a:r>
              <a:rPr lang="ko-KR" alt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ko-KR" sz="3600" b="1" dirty="0">
                <a:solidFill>
                  <a:schemeClr val="accent1">
                    <a:lumMod val="75000"/>
                  </a:schemeClr>
                </a:solidFill>
              </a:rPr>
              <a:t>&amp;</a:t>
            </a:r>
            <a:r>
              <a:rPr lang="ko-KR" alt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ko-KR" sz="3600" b="1" dirty="0" err="1">
                <a:solidFill>
                  <a:schemeClr val="accent1">
                    <a:lumMod val="75000"/>
                  </a:schemeClr>
                </a:solidFill>
              </a:rPr>
              <a:t>StartActivityForResult</a:t>
            </a:r>
            <a:endParaRPr lang="ko-KR" altLang="en-U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611560" y="1052736"/>
            <a:ext cx="6347714" cy="4628587"/>
          </a:xfrm>
        </p:spPr>
        <p:txBody>
          <a:bodyPr>
            <a:normAutofit/>
          </a:bodyPr>
          <a:lstStyle/>
          <a:p>
            <a:r>
              <a:rPr lang="en-US" altLang="ko-KR" dirty="0"/>
              <a:t> </a:t>
            </a:r>
            <a:r>
              <a:rPr lang="ko-KR" altLang="en-US" dirty="0"/>
              <a:t>하나의 </a:t>
            </a:r>
            <a:r>
              <a:rPr lang="en-US" altLang="ko-KR" dirty="0"/>
              <a:t>Activity</a:t>
            </a:r>
            <a:r>
              <a:rPr lang="ko-KR" altLang="en-US" dirty="0"/>
              <a:t>에서 다른 </a:t>
            </a:r>
            <a:r>
              <a:rPr lang="en-US" altLang="ko-KR" dirty="0"/>
              <a:t>Activity</a:t>
            </a:r>
            <a:r>
              <a:rPr lang="ko-KR" altLang="en-US" dirty="0"/>
              <a:t>를 호출하고자 할 때</a:t>
            </a:r>
            <a:endParaRPr lang="en-US" altLang="ko-KR" dirty="0"/>
          </a:p>
          <a:p>
            <a:pPr lvl="1"/>
            <a:r>
              <a:rPr lang="en-US" altLang="ko-KR" dirty="0" err="1"/>
              <a:t>startActivity</a:t>
            </a:r>
            <a:r>
              <a:rPr lang="en-US" altLang="ko-KR" dirty="0"/>
              <a:t>(intent)</a:t>
            </a:r>
          </a:p>
          <a:p>
            <a:pPr lvl="2"/>
            <a:r>
              <a:rPr lang="en-US" altLang="ko-KR" dirty="0"/>
              <a:t>intent</a:t>
            </a:r>
          </a:p>
          <a:p>
            <a:pPr lvl="3"/>
            <a:r>
              <a:rPr lang="ko-KR" altLang="en-US" dirty="0"/>
              <a:t>수행할 </a:t>
            </a:r>
            <a:r>
              <a:rPr lang="ko-KR" altLang="en-US" dirty="0" err="1"/>
              <a:t>엑티비티를</a:t>
            </a:r>
            <a:r>
              <a:rPr lang="ko-KR" altLang="en-US" dirty="0"/>
              <a:t> 단순히 시작하기 위한 용도</a:t>
            </a:r>
            <a:endParaRPr lang="en-US" altLang="ko-KR" dirty="0"/>
          </a:p>
          <a:p>
            <a:pPr lvl="3"/>
            <a:r>
              <a:rPr lang="ko-KR" altLang="en-US" dirty="0"/>
              <a:t>혹은 수행되어야 하는 대상인 액션을 포함</a:t>
            </a:r>
            <a:endParaRPr lang="en-US" altLang="ko-KR" dirty="0"/>
          </a:p>
          <a:p>
            <a:pPr lvl="2"/>
            <a:endParaRPr lang="en-US" altLang="ko-KR" dirty="0"/>
          </a:p>
          <a:p>
            <a:pPr lvl="1"/>
            <a:r>
              <a:rPr lang="en-US" altLang="ko-KR" dirty="0" err="1"/>
              <a:t>startActivityForResult</a:t>
            </a:r>
            <a:r>
              <a:rPr lang="en-US" altLang="ko-KR" dirty="0"/>
              <a:t>(intent, </a:t>
            </a:r>
            <a:r>
              <a:rPr lang="en-US" altLang="ko-KR" dirty="0" err="1"/>
              <a:t>requestCode</a:t>
            </a:r>
            <a:r>
              <a:rPr lang="en-US" altLang="ko-KR" dirty="0"/>
              <a:t>)</a:t>
            </a:r>
          </a:p>
          <a:p>
            <a:pPr lvl="2"/>
            <a:r>
              <a:rPr lang="en-US" altLang="ko-KR" dirty="0" err="1"/>
              <a:t>MainActivity</a:t>
            </a:r>
            <a:r>
              <a:rPr lang="ko-KR" altLang="en-US" dirty="0"/>
              <a:t>가 호출 한 </a:t>
            </a:r>
            <a:r>
              <a:rPr lang="en-US" altLang="ko-KR" dirty="0" err="1"/>
              <a:t>SubActivity</a:t>
            </a:r>
            <a:r>
              <a:rPr lang="ko-KR" altLang="en-US" dirty="0"/>
              <a:t>가 종료되었을 때</a:t>
            </a:r>
            <a:br>
              <a:rPr lang="en-US" altLang="ko-KR" dirty="0"/>
            </a:br>
            <a:r>
              <a:rPr lang="ko-KR" altLang="en-US" dirty="0"/>
              <a:t>호출 된 </a:t>
            </a:r>
            <a:r>
              <a:rPr lang="en-US" altLang="ko-KR" dirty="0" err="1"/>
              <a:t>SubActivity</a:t>
            </a:r>
            <a:r>
              <a:rPr lang="ko-KR" altLang="en-US" dirty="0"/>
              <a:t>로부터 결과값을 받고자 할 때 사용</a:t>
            </a:r>
            <a:endParaRPr lang="en-US" altLang="ko-KR" dirty="0"/>
          </a:p>
          <a:p>
            <a:pPr lvl="2"/>
            <a:r>
              <a:rPr lang="ko-KR" altLang="en-US" dirty="0"/>
              <a:t>이때 </a:t>
            </a:r>
            <a:r>
              <a:rPr lang="en-US" altLang="ko-KR" dirty="0" err="1"/>
              <a:t>SubActivity</a:t>
            </a:r>
            <a:r>
              <a:rPr lang="ko-KR" altLang="en-US" dirty="0"/>
              <a:t>는 </a:t>
            </a:r>
            <a:r>
              <a:rPr lang="en-US" altLang="ko-KR" dirty="0" err="1"/>
              <a:t>setResult</a:t>
            </a:r>
            <a:r>
              <a:rPr lang="en-US" altLang="ko-KR" dirty="0"/>
              <a:t>()</a:t>
            </a:r>
            <a:r>
              <a:rPr lang="ko-KR" altLang="en-US" dirty="0"/>
              <a:t>라는 함수를 이용하여 </a:t>
            </a:r>
            <a:br>
              <a:rPr lang="en-US" altLang="ko-KR" dirty="0"/>
            </a:br>
            <a:r>
              <a:rPr lang="ko-KR" altLang="en-US" dirty="0"/>
              <a:t>데이터 전달</a:t>
            </a:r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D11B-3400-4576-B192-CBE694130FE7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51520" y="249920"/>
            <a:ext cx="8218800" cy="658800"/>
          </a:xfrm>
        </p:spPr>
        <p:txBody>
          <a:bodyPr/>
          <a:lstStyle/>
          <a:p>
            <a:r>
              <a:rPr lang="en-US" altLang="ko-KR" b="1" dirty="0" err="1"/>
              <a:t>startActivity</a:t>
            </a:r>
            <a:endParaRPr lang="ko-KR" altLang="en-US" b="1" dirty="0"/>
          </a:p>
        </p:txBody>
      </p:sp>
      <p:sp>
        <p:nvSpPr>
          <p:cNvPr id="28" name="직사각형 27"/>
          <p:cNvSpPr/>
          <p:nvPr/>
        </p:nvSpPr>
        <p:spPr>
          <a:xfrm>
            <a:off x="3131840" y="1412776"/>
            <a:ext cx="2592288" cy="64807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…</a:t>
            </a:r>
          </a:p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do </a:t>
            </a:r>
            <a:r>
              <a:rPr lang="en-US" altLang="ko-KR" sz="1000">
                <a:solidFill>
                  <a:schemeClr val="tx1"/>
                </a:solidFill>
              </a:rPr>
              <a:t>something SubActivity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…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3059832" y="2511078"/>
            <a:ext cx="2736304" cy="648072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Android</a:t>
            </a:r>
            <a:endParaRPr lang="ko-KR" altLang="en-US" dirty="0"/>
          </a:p>
        </p:txBody>
      </p:sp>
      <p:sp>
        <p:nvSpPr>
          <p:cNvPr id="30" name="직사각형 29"/>
          <p:cNvSpPr/>
          <p:nvPr/>
        </p:nvSpPr>
        <p:spPr>
          <a:xfrm>
            <a:off x="1043608" y="4671318"/>
            <a:ext cx="2016224" cy="576064"/>
          </a:xfrm>
          <a:prstGeom prst="rect">
            <a:avLst/>
          </a:prstGeom>
          <a:noFill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MainActivity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5940152" y="4599310"/>
            <a:ext cx="2016224" cy="576064"/>
          </a:xfrm>
          <a:prstGeom prst="rect">
            <a:avLst/>
          </a:prstGeom>
          <a:noFill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SubActivity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32" name="Shape 31"/>
          <p:cNvCxnSpPr>
            <a:stCxn id="30" idx="0"/>
            <a:endCxn id="29" idx="1"/>
          </p:cNvCxnSpPr>
          <p:nvPr/>
        </p:nvCxnSpPr>
        <p:spPr>
          <a:xfrm rot="5400000" flipH="1" flipV="1">
            <a:off x="1637674" y="3249160"/>
            <a:ext cx="1836204" cy="1008112"/>
          </a:xfrm>
          <a:prstGeom prst="curvedConnector2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hape 32"/>
          <p:cNvCxnSpPr>
            <a:stCxn id="29" idx="3"/>
            <a:endCxn id="31" idx="0"/>
          </p:cNvCxnSpPr>
          <p:nvPr/>
        </p:nvCxnSpPr>
        <p:spPr>
          <a:xfrm>
            <a:off x="5796136" y="2835114"/>
            <a:ext cx="1152128" cy="1764196"/>
          </a:xfrm>
          <a:prstGeom prst="curvedConnector2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직사각형 35"/>
          <p:cNvSpPr/>
          <p:nvPr/>
        </p:nvSpPr>
        <p:spPr>
          <a:xfrm>
            <a:off x="1619672" y="3447182"/>
            <a:ext cx="1440160" cy="2160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err="1">
                <a:solidFill>
                  <a:schemeClr val="tx1"/>
                </a:solidFill>
              </a:rPr>
              <a:t>startActivity</a:t>
            </a:r>
            <a:r>
              <a:rPr lang="en-US" altLang="ko-KR" sz="1000" dirty="0">
                <a:solidFill>
                  <a:schemeClr val="tx1"/>
                </a:solidFill>
              </a:rPr>
              <a:t>(intent)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6156176" y="3447182"/>
            <a:ext cx="1440160" cy="2160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err="1">
                <a:solidFill>
                  <a:schemeClr val="tx1"/>
                </a:solidFill>
              </a:rPr>
              <a:t>onCreate</a:t>
            </a:r>
            <a:r>
              <a:rPr lang="en-US" altLang="ko-KR" sz="1000" dirty="0">
                <a:solidFill>
                  <a:schemeClr val="tx1"/>
                </a:solidFill>
              </a:rPr>
              <a:t>(intent)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D11B-3400-4576-B192-CBE694130FE7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직선 연결선 20"/>
          <p:cNvCxnSpPr>
            <a:stCxn id="7" idx="2"/>
            <a:endCxn id="23" idx="0"/>
          </p:cNvCxnSpPr>
          <p:nvPr/>
        </p:nvCxnSpPr>
        <p:spPr>
          <a:xfrm>
            <a:off x="5940152" y="2132856"/>
            <a:ext cx="0" cy="324036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51520" y="249920"/>
            <a:ext cx="8218800" cy="658800"/>
          </a:xfrm>
        </p:spPr>
        <p:txBody>
          <a:bodyPr>
            <a:normAutofit/>
          </a:bodyPr>
          <a:lstStyle/>
          <a:p>
            <a:r>
              <a:rPr lang="en-US" altLang="ko-KR" b="1" dirty="0" err="1">
                <a:solidFill>
                  <a:schemeClr val="accent1">
                    <a:lumMod val="75000"/>
                  </a:schemeClr>
                </a:solidFill>
              </a:rPr>
              <a:t>startActivityForResult</a:t>
            </a:r>
            <a:r>
              <a:rPr lang="en-US" altLang="ko-KR" b="1" dirty="0">
                <a:solidFill>
                  <a:schemeClr val="accent1">
                    <a:lumMod val="75000"/>
                  </a:schemeClr>
                </a:solidFill>
              </a:rPr>
              <a:t> &amp; </a:t>
            </a:r>
            <a:r>
              <a:rPr lang="en-US" altLang="ko-KR" b="1" dirty="0" err="1">
                <a:solidFill>
                  <a:schemeClr val="accent1">
                    <a:lumMod val="75000"/>
                  </a:schemeClr>
                </a:solidFill>
              </a:rPr>
              <a:t>setResult</a:t>
            </a:r>
            <a:endParaRPr lang="ko-KR" alt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043608" y="1556792"/>
            <a:ext cx="2016224" cy="576064"/>
          </a:xfrm>
          <a:prstGeom prst="rect">
            <a:avLst/>
          </a:prstGeom>
          <a:noFill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MainActivity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932040" y="1556792"/>
            <a:ext cx="2016224" cy="576064"/>
          </a:xfrm>
          <a:prstGeom prst="rect">
            <a:avLst/>
          </a:prstGeom>
          <a:noFill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SubActivity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6" name="직선 연결선 15"/>
          <p:cNvCxnSpPr>
            <a:stCxn id="6" idx="2"/>
            <a:endCxn id="17" idx="0"/>
          </p:cNvCxnSpPr>
          <p:nvPr/>
        </p:nvCxnSpPr>
        <p:spPr>
          <a:xfrm>
            <a:off x="2051720" y="2132856"/>
            <a:ext cx="0" cy="324036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/>
          <p:cNvSpPr/>
          <p:nvPr/>
        </p:nvSpPr>
        <p:spPr>
          <a:xfrm>
            <a:off x="1043608" y="5373216"/>
            <a:ext cx="2016224" cy="576064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tx1"/>
                </a:solidFill>
              </a:rPr>
              <a:t>onActivityResult</a:t>
            </a:r>
            <a:r>
              <a:rPr lang="en-US" altLang="ko-KR" sz="1600" dirty="0">
                <a:solidFill>
                  <a:schemeClr val="tx1"/>
                </a:solidFill>
              </a:rPr>
              <a:t>()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cxnSp>
        <p:nvCxnSpPr>
          <p:cNvPr id="20" name="직선 화살표 연결선 19"/>
          <p:cNvCxnSpPr/>
          <p:nvPr/>
        </p:nvCxnSpPr>
        <p:spPr>
          <a:xfrm>
            <a:off x="2051720" y="2780928"/>
            <a:ext cx="3888432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/>
          <p:cNvSpPr/>
          <p:nvPr/>
        </p:nvSpPr>
        <p:spPr>
          <a:xfrm>
            <a:off x="4932040" y="5373216"/>
            <a:ext cx="2016224" cy="576064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Finish()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051719" y="2348880"/>
            <a:ext cx="3888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err="1"/>
              <a:t>startActivityForResult</a:t>
            </a:r>
            <a:endParaRPr lang="ko-KR" altLang="en-US" dirty="0"/>
          </a:p>
        </p:txBody>
      </p:sp>
      <p:cxnSp>
        <p:nvCxnSpPr>
          <p:cNvPr id="30" name="직선 화살표 연결선 29"/>
          <p:cNvCxnSpPr>
            <a:stCxn id="23" idx="1"/>
            <a:endCxn id="17" idx="3"/>
          </p:cNvCxnSpPr>
          <p:nvPr/>
        </p:nvCxnSpPr>
        <p:spPr>
          <a:xfrm flipH="1">
            <a:off x="3059832" y="5661248"/>
            <a:ext cx="1872208" cy="0"/>
          </a:xfrm>
          <a:prstGeom prst="straightConnector1">
            <a:avLst/>
          </a:prstGeom>
          <a:ln w="158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/>
          <p:cNvSpPr/>
          <p:nvPr/>
        </p:nvSpPr>
        <p:spPr>
          <a:xfrm>
            <a:off x="4932040" y="3582307"/>
            <a:ext cx="2016224" cy="576064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SetResult</a:t>
            </a:r>
            <a:r>
              <a:rPr lang="en-US" altLang="ko-KR" dirty="0">
                <a:solidFill>
                  <a:schemeClr val="tx1"/>
                </a:solidFill>
              </a:rPr>
              <a:t>()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D11B-3400-4576-B192-CBE694130FE7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51520" y="260648"/>
            <a:ext cx="8218800" cy="658800"/>
          </a:xfrm>
        </p:spPr>
        <p:txBody>
          <a:bodyPr/>
          <a:lstStyle/>
          <a:p>
            <a:r>
              <a:rPr lang="en-US" altLang="ko-KR" b="1"/>
              <a:t>Activity</a:t>
            </a:r>
            <a:r>
              <a:rPr lang="ko-KR" altLang="en-US" b="1" dirty="0"/>
              <a:t>간의 통신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467544" y="1052736"/>
            <a:ext cx="7200800" cy="4988626"/>
          </a:xfrm>
        </p:spPr>
        <p:txBody>
          <a:bodyPr>
            <a:normAutofit/>
          </a:bodyPr>
          <a:lstStyle/>
          <a:p>
            <a:r>
              <a:rPr lang="en-US" altLang="ko-KR" dirty="0"/>
              <a:t>Intent</a:t>
            </a:r>
            <a:r>
              <a:rPr lang="ko-KR" altLang="en-US" dirty="0"/>
              <a:t>는 액티비티간에 인수와 리턴 값을 전달 가능</a:t>
            </a:r>
            <a:endParaRPr lang="en-US" altLang="ko-KR" dirty="0"/>
          </a:p>
          <a:p>
            <a:r>
              <a:rPr lang="en-US" altLang="ko-KR" dirty="0"/>
              <a:t>Activity</a:t>
            </a:r>
            <a:r>
              <a:rPr lang="ko-KR" altLang="en-US" dirty="0"/>
              <a:t>는 </a:t>
            </a:r>
            <a:r>
              <a:rPr lang="en-US" altLang="ko-KR" dirty="0"/>
              <a:t>Bundle </a:t>
            </a:r>
            <a:r>
              <a:rPr lang="ko-KR" altLang="en-US" dirty="0"/>
              <a:t>타입의 </a:t>
            </a:r>
            <a:r>
              <a:rPr lang="en-US" altLang="ko-KR" dirty="0"/>
              <a:t>Extras</a:t>
            </a:r>
            <a:r>
              <a:rPr lang="ko-KR" altLang="en-US" dirty="0"/>
              <a:t>를 활용하여 이름과 값의 쌍으로 된 임의 타입의 정보를 원하는 개수만큼 만들 수 있음</a:t>
            </a:r>
            <a:endParaRPr lang="en-US" altLang="ko-KR" dirty="0"/>
          </a:p>
          <a:p>
            <a:pPr lvl="1"/>
            <a:r>
              <a:rPr lang="en-US" altLang="ko-KR" dirty="0"/>
              <a:t>Intent </a:t>
            </a:r>
            <a:r>
              <a:rPr lang="en-US" altLang="ko-KR" dirty="0" err="1"/>
              <a:t>putExtra</a:t>
            </a:r>
            <a:r>
              <a:rPr lang="en-US" altLang="ko-KR" dirty="0"/>
              <a:t>(String name, </a:t>
            </a:r>
            <a:r>
              <a:rPr lang="en-US" altLang="ko-KR" dirty="0" err="1"/>
              <a:t>int</a:t>
            </a:r>
            <a:r>
              <a:rPr lang="en-US" altLang="ko-KR" dirty="0"/>
              <a:t> value)</a:t>
            </a:r>
          </a:p>
          <a:p>
            <a:pPr lvl="1"/>
            <a:r>
              <a:rPr lang="en-US" altLang="ko-KR" dirty="0"/>
              <a:t>Intent </a:t>
            </a:r>
            <a:r>
              <a:rPr lang="en-US" altLang="ko-KR" dirty="0" err="1"/>
              <a:t>putExtra</a:t>
            </a:r>
            <a:r>
              <a:rPr lang="en-US" altLang="ko-KR" dirty="0"/>
              <a:t>(String name, String value)</a:t>
            </a:r>
            <a:endParaRPr lang="ko-KR" altLang="en-US" dirty="0"/>
          </a:p>
          <a:p>
            <a:pPr lvl="1"/>
            <a:r>
              <a:rPr lang="en-US" altLang="ko-KR" dirty="0"/>
              <a:t>Intent </a:t>
            </a:r>
            <a:r>
              <a:rPr lang="en-US" altLang="ko-KR" dirty="0" err="1"/>
              <a:t>putExtra</a:t>
            </a:r>
            <a:r>
              <a:rPr lang="en-US" altLang="ko-KR" dirty="0"/>
              <a:t>(String name, Boolean value)</a:t>
            </a:r>
          </a:p>
          <a:p>
            <a:pPr lvl="1"/>
            <a:r>
              <a:rPr lang="en-US" altLang="ko-KR" dirty="0"/>
              <a:t>Key-Value</a:t>
            </a:r>
            <a:r>
              <a:rPr lang="ko-KR" altLang="en-US" dirty="0"/>
              <a:t>형식으로</a:t>
            </a:r>
            <a:r>
              <a:rPr lang="en-US" altLang="ko-KR" dirty="0"/>
              <a:t>, Key</a:t>
            </a:r>
            <a:r>
              <a:rPr lang="ko-KR" altLang="en-US" dirty="0"/>
              <a:t>값</a:t>
            </a:r>
            <a:r>
              <a:rPr lang="en-US" altLang="ko-KR" dirty="0"/>
              <a:t>(String name)</a:t>
            </a:r>
            <a:r>
              <a:rPr lang="ko-KR" altLang="en-US" dirty="0"/>
              <a:t>이 겹치지 않는 한 자유롭게 생성 가능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 err="1"/>
              <a:t>MainActivity</a:t>
            </a:r>
            <a:r>
              <a:rPr lang="ko-KR" altLang="en-US" dirty="0"/>
              <a:t>는 </a:t>
            </a:r>
            <a:r>
              <a:rPr lang="en-US" altLang="ko-KR" dirty="0"/>
              <a:t>Extras</a:t>
            </a:r>
            <a:r>
              <a:rPr lang="ko-KR" altLang="en-US" dirty="0"/>
              <a:t>에 저장된 값들을 </a:t>
            </a:r>
            <a:r>
              <a:rPr lang="en-US" altLang="ko-KR" dirty="0" err="1"/>
              <a:t>onActivityResult</a:t>
            </a:r>
            <a:r>
              <a:rPr lang="en-US" altLang="ko-KR" dirty="0"/>
              <a:t>()</a:t>
            </a:r>
            <a:r>
              <a:rPr lang="ko-KR" altLang="en-US" dirty="0"/>
              <a:t>에 아래의 메서드로 꺼냄</a:t>
            </a:r>
            <a:endParaRPr lang="en-US" altLang="ko-KR" dirty="0"/>
          </a:p>
          <a:p>
            <a:pPr lvl="1"/>
            <a:r>
              <a:rPr lang="en-US" altLang="ko-KR" dirty="0" err="1"/>
              <a:t>Int</a:t>
            </a:r>
            <a:r>
              <a:rPr lang="en-US" altLang="ko-KR" dirty="0"/>
              <a:t> </a:t>
            </a:r>
            <a:r>
              <a:rPr lang="en-US" altLang="ko-KR" dirty="0" err="1"/>
              <a:t>getIntExtra</a:t>
            </a:r>
            <a:r>
              <a:rPr lang="en-US" altLang="ko-KR" dirty="0"/>
              <a:t>(String name, </a:t>
            </a:r>
            <a:r>
              <a:rPr lang="en-US" altLang="ko-KR" dirty="0" err="1"/>
              <a:t>int</a:t>
            </a:r>
            <a:r>
              <a:rPr lang="en-US" altLang="ko-KR" dirty="0"/>
              <a:t> </a:t>
            </a:r>
            <a:r>
              <a:rPr lang="en-US" altLang="ko-KR" dirty="0" err="1"/>
              <a:t>defaultValue</a:t>
            </a:r>
            <a:r>
              <a:rPr lang="en-US" altLang="ko-KR" dirty="0"/>
              <a:t>);</a:t>
            </a:r>
          </a:p>
          <a:p>
            <a:pPr lvl="1"/>
            <a:r>
              <a:rPr lang="en-US" altLang="ko-KR" dirty="0"/>
              <a:t>String </a:t>
            </a:r>
            <a:r>
              <a:rPr lang="en-US" altLang="ko-KR" dirty="0" err="1"/>
              <a:t>getStringExtra</a:t>
            </a:r>
            <a:r>
              <a:rPr lang="en-US" altLang="ko-KR" dirty="0"/>
              <a:t>(String name);</a:t>
            </a:r>
          </a:p>
          <a:p>
            <a:pPr lvl="1"/>
            <a:r>
              <a:rPr lang="en-US" altLang="ko-KR" dirty="0" err="1"/>
              <a:t>boolean</a:t>
            </a:r>
            <a:r>
              <a:rPr lang="en-US" altLang="ko-KR" dirty="0"/>
              <a:t> </a:t>
            </a:r>
            <a:r>
              <a:rPr lang="en-US" altLang="ko-KR" dirty="0" err="1"/>
              <a:t>getBooleanExtra</a:t>
            </a:r>
            <a:r>
              <a:rPr lang="en-US" altLang="ko-KR" dirty="0"/>
              <a:t>(String name, </a:t>
            </a:r>
            <a:r>
              <a:rPr lang="en-US" altLang="ko-KR" dirty="0" err="1"/>
              <a:t>boolean</a:t>
            </a:r>
            <a:r>
              <a:rPr lang="en-US" altLang="ko-KR" dirty="0"/>
              <a:t> </a:t>
            </a:r>
            <a:r>
              <a:rPr lang="en-US" altLang="ko-KR" dirty="0" err="1"/>
              <a:t>defaultValue</a:t>
            </a:r>
            <a:r>
              <a:rPr lang="en-US" altLang="ko-KR" dirty="0"/>
              <a:t>);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D11B-3400-4576-B192-CBE694130FE7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189721" y="167047"/>
            <a:ext cx="8218800" cy="65880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통신 예제</a:t>
            </a:r>
            <a:r>
              <a:rPr lang="en-US" altLang="ko-KR" sz="3600" b="1" dirty="0"/>
              <a:t>(</a:t>
            </a:r>
            <a:r>
              <a:rPr lang="en-US" altLang="ko-KR" b="1" dirty="0" err="1"/>
              <a:t>Main</a:t>
            </a:r>
            <a:r>
              <a:rPr lang="en-US" altLang="ko-KR" sz="3600" b="1" dirty="0" err="1"/>
              <a:t>Activity</a:t>
            </a:r>
            <a:r>
              <a:rPr lang="en-US" altLang="ko-KR" sz="3600" b="1" dirty="0"/>
              <a:t>)</a:t>
            </a:r>
            <a:endParaRPr lang="ko-KR" altLang="en-US" sz="3600" b="1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9610"/>
          <a:stretch/>
        </p:blipFill>
        <p:spPr bwMode="auto">
          <a:xfrm>
            <a:off x="189721" y="1160275"/>
            <a:ext cx="3600400" cy="3371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26995" y="790943"/>
            <a:ext cx="2175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activity_main.xml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917255" y="790943"/>
            <a:ext cx="20681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MainActivity.java</a:t>
            </a:r>
            <a:endParaRPr lang="ko-KR" alt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89721" y="1096691"/>
            <a:ext cx="3697046" cy="0"/>
          </a:xfrm>
          <a:prstGeom prst="line">
            <a:avLst/>
          </a:prstGeom>
          <a:ln w="34925" cmpd="thickThin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979981" y="1096691"/>
            <a:ext cx="4646808" cy="0"/>
          </a:xfrm>
          <a:prstGeom prst="line">
            <a:avLst/>
          </a:prstGeom>
          <a:ln w="34925" cmpd="thickThin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D11B-3400-4576-B192-CBE694130FE7}" type="slidenum">
              <a:rPr lang="ko-KR" altLang="en-US" smtClean="0"/>
              <a:pPr/>
              <a:t>13</a:t>
            </a:fld>
            <a:endParaRPr lang="ko-KR" alt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4"/>
          <a:srcRect b="1791"/>
          <a:stretch/>
        </p:blipFill>
        <p:spPr>
          <a:xfrm>
            <a:off x="3995936" y="1160276"/>
            <a:ext cx="5000625" cy="5210418"/>
          </a:xfrm>
          <a:prstGeom prst="rect">
            <a:avLst/>
          </a:prstGeom>
        </p:spPr>
      </p:pic>
      <p:sp>
        <p:nvSpPr>
          <p:cNvPr id="10" name="Left Bracket 9"/>
          <p:cNvSpPr/>
          <p:nvPr/>
        </p:nvSpPr>
        <p:spPr>
          <a:xfrm>
            <a:off x="4763439" y="3941471"/>
            <a:ext cx="72008" cy="432048"/>
          </a:xfrm>
          <a:prstGeom prst="leftBracket">
            <a:avLst/>
          </a:prstGeom>
          <a:ln w="28575" cmpd="dbl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 flipH="1">
            <a:off x="130117" y="4842860"/>
            <a:ext cx="3437717" cy="600164"/>
          </a:xfrm>
          <a:prstGeom prst="rect">
            <a:avLst/>
          </a:prstGeom>
          <a:solidFill>
            <a:schemeClr val="bg1"/>
          </a:solidFill>
          <a:ln w="285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-</a:t>
            </a:r>
            <a:r>
              <a:rPr lang="en-US" altLang="ko-KR" sz="1100" dirty="0" err="1"/>
              <a:t>MainActivity</a:t>
            </a:r>
            <a:r>
              <a:rPr lang="ko-KR" altLang="en-US" sz="1100" dirty="0"/>
              <a:t>에서 </a:t>
            </a:r>
            <a:r>
              <a:rPr lang="en-US" altLang="ko-KR" sz="1100" dirty="0" err="1"/>
              <a:t>SubActivity</a:t>
            </a:r>
            <a:r>
              <a:rPr lang="ko-KR" altLang="en-US" sz="1100" dirty="0"/>
              <a:t>로 보내는 인텐트 선언</a:t>
            </a:r>
            <a:br>
              <a:rPr lang="en-US" altLang="ko-KR" sz="1100" dirty="0"/>
            </a:br>
            <a:r>
              <a:rPr lang="en-US" altLang="ko-KR" sz="1100" dirty="0"/>
              <a:t>-</a:t>
            </a:r>
            <a:r>
              <a:rPr lang="ko-KR" altLang="en-US" sz="1100" dirty="0"/>
              <a:t>현재 텍스트 정보를 </a:t>
            </a:r>
            <a:r>
              <a:rPr lang="en-US" altLang="ko-KR" sz="1100" dirty="0" err="1"/>
              <a:t>TextIn</a:t>
            </a:r>
            <a:r>
              <a:rPr lang="en-US" altLang="ko-KR" sz="1100" dirty="0"/>
              <a:t> </a:t>
            </a:r>
            <a:r>
              <a:rPr lang="ko-KR" altLang="en-US" sz="1100" dirty="0"/>
              <a:t>으로</a:t>
            </a:r>
            <a:r>
              <a:rPr lang="en-US" altLang="ko-KR" sz="1100" dirty="0"/>
              <a:t> </a:t>
            </a:r>
            <a:r>
              <a:rPr lang="ko-KR" altLang="en-US" sz="1100" dirty="0"/>
              <a:t>인텐트에 저장</a:t>
            </a:r>
            <a:endParaRPr lang="en-US" altLang="ko-KR" sz="1100" dirty="0"/>
          </a:p>
          <a:p>
            <a:r>
              <a:rPr lang="en-US" altLang="ko-KR" sz="1100" dirty="0"/>
              <a:t>-</a:t>
            </a:r>
            <a:r>
              <a:rPr lang="ko-KR" altLang="en-US" sz="1100" dirty="0"/>
              <a:t>요청코드 </a:t>
            </a:r>
            <a:r>
              <a:rPr lang="en-US" altLang="ko-KR" sz="1100" dirty="0"/>
              <a:t>ACT_EDIT</a:t>
            </a:r>
            <a:r>
              <a:rPr lang="ko-KR" altLang="en-US" sz="1100" dirty="0"/>
              <a:t>인텐트에 저장된 액티비티 시작 </a:t>
            </a:r>
          </a:p>
        </p:txBody>
      </p:sp>
      <p:cxnSp>
        <p:nvCxnSpPr>
          <p:cNvPr id="15" name="Elbow Connector 14"/>
          <p:cNvCxnSpPr>
            <a:stCxn id="13" idx="1"/>
            <a:endCxn id="10" idx="1"/>
          </p:cNvCxnSpPr>
          <p:nvPr/>
        </p:nvCxnSpPr>
        <p:spPr>
          <a:xfrm flipV="1">
            <a:off x="3567834" y="4157495"/>
            <a:ext cx="1195605" cy="985447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Left Bracket 20"/>
          <p:cNvSpPr/>
          <p:nvPr/>
        </p:nvSpPr>
        <p:spPr>
          <a:xfrm>
            <a:off x="4064182" y="5227581"/>
            <a:ext cx="110617" cy="855079"/>
          </a:xfrm>
          <a:prstGeom prst="leftBracket">
            <a:avLst/>
          </a:prstGeom>
          <a:ln w="28575" cmpd="dbl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128555" y="5663722"/>
            <a:ext cx="3440840" cy="600164"/>
          </a:xfrm>
          <a:prstGeom prst="rect">
            <a:avLst/>
          </a:prstGeom>
          <a:solidFill>
            <a:schemeClr val="bg1"/>
          </a:solidFill>
          <a:ln w="285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-</a:t>
            </a:r>
            <a:r>
              <a:rPr lang="ko-KR" altLang="en-US" sz="1100" dirty="0"/>
              <a:t>리턴된 인텐트의 요청코드가 </a:t>
            </a:r>
            <a:r>
              <a:rPr lang="en-US" altLang="ko-KR" sz="1100" dirty="0"/>
              <a:t>ACT_EDIT</a:t>
            </a:r>
            <a:r>
              <a:rPr lang="ko-KR" altLang="en-US" sz="1100" dirty="0"/>
              <a:t>이고</a:t>
            </a:r>
            <a:br>
              <a:rPr lang="en-US" altLang="ko-KR" sz="1100" dirty="0"/>
            </a:br>
            <a:r>
              <a:rPr lang="en-US" altLang="ko-KR" sz="1100" dirty="0"/>
              <a:t> </a:t>
            </a:r>
            <a:r>
              <a:rPr lang="ko-KR" altLang="en-US" sz="1100" dirty="0"/>
              <a:t>결과코드가</a:t>
            </a:r>
            <a:r>
              <a:rPr lang="en-US" altLang="ko-KR" sz="1100" dirty="0"/>
              <a:t>RESULT_OK</a:t>
            </a:r>
            <a:r>
              <a:rPr lang="ko-KR" altLang="en-US" sz="1100" dirty="0"/>
              <a:t>라면</a:t>
            </a:r>
            <a:br>
              <a:rPr lang="en-US" altLang="ko-KR" sz="1100" dirty="0"/>
            </a:br>
            <a:r>
              <a:rPr lang="en-US" altLang="ko-KR" sz="1100" dirty="0"/>
              <a:t>-</a:t>
            </a:r>
            <a:r>
              <a:rPr lang="ko-KR" altLang="en-US" sz="1100" dirty="0"/>
              <a:t>리턴된 인텐트에 저장된 텍스트를 표시</a:t>
            </a:r>
          </a:p>
        </p:txBody>
      </p:sp>
      <p:cxnSp>
        <p:nvCxnSpPr>
          <p:cNvPr id="23" name="Elbow Connector 22"/>
          <p:cNvCxnSpPr>
            <a:stCxn id="22" idx="3"/>
            <a:endCxn id="21" idx="1"/>
          </p:cNvCxnSpPr>
          <p:nvPr/>
        </p:nvCxnSpPr>
        <p:spPr>
          <a:xfrm flipV="1">
            <a:off x="3569395" y="5655121"/>
            <a:ext cx="494787" cy="308683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176256" y="169751"/>
            <a:ext cx="8218800" cy="65880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통신 예제</a:t>
            </a:r>
            <a:r>
              <a:rPr lang="en-US" altLang="ko-KR" sz="3600" b="1" dirty="0"/>
              <a:t>(</a:t>
            </a:r>
            <a:r>
              <a:rPr lang="en-US" altLang="ko-KR" b="1" dirty="0" err="1"/>
              <a:t>Sub</a:t>
            </a:r>
            <a:r>
              <a:rPr lang="en-US" altLang="ko-KR" sz="3600" b="1" dirty="0" err="1"/>
              <a:t>Activity</a:t>
            </a:r>
            <a:r>
              <a:rPr lang="en-US" altLang="ko-KR" sz="3600" b="1" dirty="0"/>
              <a:t>)</a:t>
            </a:r>
            <a:endParaRPr lang="ko-KR" altLang="en-US" sz="3600" b="1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D11B-3400-4576-B192-CBE694130FE7}" type="slidenum">
              <a:rPr lang="ko-KR" altLang="en-US" smtClean="0"/>
              <a:pPr/>
              <a:t>14</a:t>
            </a:fld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42717" y="808385"/>
            <a:ext cx="1891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activity_sub.xml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317143" y="808385"/>
            <a:ext cx="1841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SubActivity.java</a:t>
            </a:r>
            <a:endParaRPr lang="ko-KR" alt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205443" y="1114133"/>
            <a:ext cx="3048974" cy="0"/>
          </a:xfrm>
          <a:prstGeom prst="line">
            <a:avLst/>
          </a:prstGeom>
          <a:ln w="34925" cmpd="thickThin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3379869" y="1114133"/>
            <a:ext cx="4646808" cy="0"/>
          </a:xfrm>
          <a:prstGeom prst="line">
            <a:avLst/>
          </a:prstGeom>
          <a:ln w="34925" cmpd="thickThin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717" y="1177277"/>
            <a:ext cx="2990850" cy="363855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0819" y="1195898"/>
            <a:ext cx="4400550" cy="4648200"/>
          </a:xfrm>
          <a:prstGeom prst="rect">
            <a:avLst/>
          </a:prstGeom>
        </p:spPr>
      </p:pic>
      <p:sp>
        <p:nvSpPr>
          <p:cNvPr id="14" name="Left Bracket 13"/>
          <p:cNvSpPr/>
          <p:nvPr/>
        </p:nvSpPr>
        <p:spPr>
          <a:xfrm>
            <a:off x="3686465" y="3723839"/>
            <a:ext cx="72008" cy="288032"/>
          </a:xfrm>
          <a:prstGeom prst="leftBracket">
            <a:avLst/>
          </a:prstGeom>
          <a:ln w="28575" cmpd="dbl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/>
          <p:cNvSpPr txBox="1"/>
          <p:nvPr/>
        </p:nvSpPr>
        <p:spPr>
          <a:xfrm flipH="1">
            <a:off x="145839" y="4860302"/>
            <a:ext cx="3437717" cy="430887"/>
          </a:xfrm>
          <a:prstGeom prst="rect">
            <a:avLst/>
          </a:prstGeom>
          <a:solidFill>
            <a:schemeClr val="bg1"/>
          </a:solidFill>
          <a:ln w="285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-</a:t>
            </a:r>
            <a:r>
              <a:rPr lang="en-US" altLang="ko-KR" sz="1100" dirty="0" err="1"/>
              <a:t>SubActivity</a:t>
            </a:r>
            <a:r>
              <a:rPr lang="ko-KR" altLang="en-US" sz="1100" dirty="0"/>
              <a:t>를 호출한 인텐트 정보를 받아옴</a:t>
            </a:r>
            <a:endParaRPr lang="en-US" altLang="ko-KR" sz="1100" dirty="0"/>
          </a:p>
          <a:p>
            <a:r>
              <a:rPr lang="en-US" altLang="ko-KR" sz="1100" dirty="0"/>
              <a:t>-</a:t>
            </a:r>
            <a:r>
              <a:rPr lang="ko-KR" altLang="en-US" sz="1100" dirty="0"/>
              <a:t>인텐트에 포함된 </a:t>
            </a:r>
            <a:r>
              <a:rPr lang="en-US" altLang="ko-KR" sz="1100" dirty="0" err="1"/>
              <a:t>TextIn</a:t>
            </a:r>
            <a:r>
              <a:rPr lang="en-US" altLang="ko-KR" sz="1100" dirty="0"/>
              <a:t> </a:t>
            </a:r>
            <a:r>
              <a:rPr lang="ko-KR" altLang="en-US" sz="1100" dirty="0"/>
              <a:t>텍스트를 화면에 표시</a:t>
            </a:r>
          </a:p>
        </p:txBody>
      </p:sp>
      <p:cxnSp>
        <p:nvCxnSpPr>
          <p:cNvPr id="16" name="Elbow Connector 15"/>
          <p:cNvCxnSpPr>
            <a:stCxn id="15" idx="1"/>
            <a:endCxn id="14" idx="1"/>
          </p:cNvCxnSpPr>
          <p:nvPr/>
        </p:nvCxnSpPr>
        <p:spPr>
          <a:xfrm flipV="1">
            <a:off x="3583556" y="3867855"/>
            <a:ext cx="102909" cy="1207891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Left Bracket 18"/>
          <p:cNvSpPr/>
          <p:nvPr/>
        </p:nvSpPr>
        <p:spPr>
          <a:xfrm>
            <a:off x="3913717" y="4843303"/>
            <a:ext cx="60780" cy="680735"/>
          </a:xfrm>
          <a:prstGeom prst="leftBracket">
            <a:avLst/>
          </a:prstGeom>
          <a:ln w="28575" cmpd="dbl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/>
          <p:cNvSpPr txBox="1"/>
          <p:nvPr/>
        </p:nvSpPr>
        <p:spPr>
          <a:xfrm flipH="1">
            <a:off x="141554" y="5413211"/>
            <a:ext cx="3437717" cy="769441"/>
          </a:xfrm>
          <a:prstGeom prst="rect">
            <a:avLst/>
          </a:prstGeom>
          <a:solidFill>
            <a:schemeClr val="bg1"/>
          </a:solidFill>
          <a:ln w="285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-</a:t>
            </a:r>
            <a:r>
              <a:rPr lang="en-US" altLang="ko-KR" sz="1100" dirty="0" err="1"/>
              <a:t>SubActivity</a:t>
            </a:r>
            <a:r>
              <a:rPr lang="ko-KR" altLang="en-US" sz="1100" dirty="0"/>
              <a:t>를 호출한 인텐트 정보를 받아옴</a:t>
            </a:r>
            <a:endParaRPr lang="en-US" altLang="ko-KR" sz="1100" dirty="0"/>
          </a:p>
          <a:p>
            <a:r>
              <a:rPr lang="en-US" altLang="ko-KR" sz="1100" dirty="0"/>
              <a:t>-</a:t>
            </a:r>
            <a:r>
              <a:rPr lang="ko-KR" altLang="en-US" sz="1100" dirty="0"/>
              <a:t>현재 텍스트 정보를 </a:t>
            </a:r>
            <a:r>
              <a:rPr lang="en-US" altLang="ko-KR" sz="1100" dirty="0" err="1"/>
              <a:t>TextOut</a:t>
            </a:r>
            <a:r>
              <a:rPr lang="en-US" altLang="ko-KR" sz="1100" dirty="0"/>
              <a:t> </a:t>
            </a:r>
            <a:r>
              <a:rPr lang="ko-KR" altLang="en-US" sz="1100" dirty="0"/>
              <a:t>으로</a:t>
            </a:r>
            <a:r>
              <a:rPr lang="en-US" altLang="ko-KR" sz="1100" dirty="0"/>
              <a:t> </a:t>
            </a:r>
            <a:r>
              <a:rPr lang="ko-KR" altLang="en-US" sz="1100" dirty="0"/>
              <a:t>인텐트에 저장</a:t>
            </a:r>
            <a:endParaRPr lang="en-US" altLang="ko-KR" sz="1100" dirty="0"/>
          </a:p>
          <a:p>
            <a:r>
              <a:rPr lang="en-US" altLang="ko-KR" sz="1100" dirty="0"/>
              <a:t>-</a:t>
            </a:r>
            <a:r>
              <a:rPr lang="ko-KR" altLang="en-US" sz="1100" dirty="0"/>
              <a:t>인텐트의 결과코드를 </a:t>
            </a:r>
            <a:r>
              <a:rPr lang="en-US" altLang="ko-KR" sz="1100" dirty="0"/>
              <a:t>RESULT_OK</a:t>
            </a:r>
            <a:r>
              <a:rPr lang="ko-KR" altLang="en-US" sz="1100" dirty="0"/>
              <a:t>로 설정</a:t>
            </a:r>
            <a:endParaRPr lang="en-US" altLang="ko-KR" sz="1100" dirty="0"/>
          </a:p>
          <a:p>
            <a:r>
              <a:rPr lang="en-US" altLang="ko-KR" sz="1100" dirty="0"/>
              <a:t>-</a:t>
            </a:r>
            <a:r>
              <a:rPr lang="en-US" altLang="ko-KR" sz="1100" dirty="0" err="1"/>
              <a:t>SubActivity</a:t>
            </a:r>
            <a:r>
              <a:rPr lang="en-US" altLang="ko-KR" sz="1100" dirty="0"/>
              <a:t> </a:t>
            </a:r>
            <a:r>
              <a:rPr lang="ko-KR" altLang="en-US" sz="1100" dirty="0"/>
              <a:t>종료</a:t>
            </a:r>
            <a:endParaRPr lang="en-US" altLang="ko-KR" sz="1100" dirty="0"/>
          </a:p>
        </p:txBody>
      </p:sp>
      <p:cxnSp>
        <p:nvCxnSpPr>
          <p:cNvPr id="21" name="Elbow Connector 20"/>
          <p:cNvCxnSpPr>
            <a:stCxn id="20" idx="1"/>
            <a:endCxn id="19" idx="1"/>
          </p:cNvCxnSpPr>
          <p:nvPr/>
        </p:nvCxnSpPr>
        <p:spPr>
          <a:xfrm flipV="1">
            <a:off x="3579271" y="5183671"/>
            <a:ext cx="334446" cy="614261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170724" y="183186"/>
            <a:ext cx="8218800" cy="65880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통신 예제</a:t>
            </a:r>
            <a:r>
              <a:rPr lang="en-US" altLang="ko-KR" sz="3600" b="1" dirty="0"/>
              <a:t>(</a:t>
            </a:r>
            <a:r>
              <a:rPr lang="en-US" altLang="ko-KR" b="1" dirty="0" err="1"/>
              <a:t>Sub</a:t>
            </a:r>
            <a:r>
              <a:rPr lang="en-US" altLang="ko-KR" sz="3600" b="1" dirty="0" err="1"/>
              <a:t>Activity</a:t>
            </a:r>
            <a:r>
              <a:rPr lang="en-US" altLang="ko-KR" sz="3600" b="1" dirty="0"/>
              <a:t>)</a:t>
            </a:r>
            <a:endParaRPr lang="ko-KR" altLang="en-US" sz="3600" b="1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D11B-3400-4576-B192-CBE694130FE7}" type="slidenum">
              <a:rPr lang="ko-KR" altLang="en-US" smtClean="0"/>
              <a:pPr/>
              <a:t>15</a:t>
            </a:fld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260802" y="861830"/>
            <a:ext cx="3408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SubActivity.java   …cont.</a:t>
            </a:r>
            <a:endParaRPr lang="ko-KR" alt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323528" y="1167578"/>
            <a:ext cx="4646808" cy="0"/>
          </a:xfrm>
          <a:prstGeom prst="line">
            <a:avLst/>
          </a:prstGeom>
          <a:ln w="34925" cmpd="thickThin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603" y="1253585"/>
            <a:ext cx="3924300" cy="1819275"/>
          </a:xfrm>
          <a:prstGeom prst="rect">
            <a:avLst/>
          </a:prstGeom>
        </p:spPr>
      </p:pic>
      <p:sp>
        <p:nvSpPr>
          <p:cNvPr id="12" name="Left Bracket 11"/>
          <p:cNvSpPr/>
          <p:nvPr/>
        </p:nvSpPr>
        <p:spPr>
          <a:xfrm flipH="1">
            <a:off x="3669240" y="1796416"/>
            <a:ext cx="60782" cy="565392"/>
          </a:xfrm>
          <a:prstGeom prst="leftBracket">
            <a:avLst/>
          </a:prstGeom>
          <a:ln w="28575" cmpd="dbl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4245305" y="2358725"/>
            <a:ext cx="3437718" cy="600164"/>
          </a:xfrm>
          <a:prstGeom prst="rect">
            <a:avLst/>
          </a:prstGeom>
          <a:solidFill>
            <a:schemeClr val="bg1"/>
          </a:solidFill>
          <a:ln w="285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-</a:t>
            </a:r>
            <a:r>
              <a:rPr lang="en-US" altLang="ko-KR" sz="1100" dirty="0" err="1"/>
              <a:t>SubActivity</a:t>
            </a:r>
            <a:r>
              <a:rPr lang="ko-KR" altLang="en-US" sz="1100" dirty="0"/>
              <a:t>를 호출한 인텐트 정보를 받아옴</a:t>
            </a:r>
            <a:endParaRPr lang="en-US" altLang="ko-KR" sz="1100" dirty="0"/>
          </a:p>
          <a:p>
            <a:r>
              <a:rPr lang="en-US" altLang="ko-KR" sz="1100" dirty="0"/>
              <a:t>-</a:t>
            </a:r>
            <a:r>
              <a:rPr lang="ko-KR" altLang="en-US" sz="1100" dirty="0"/>
              <a:t>인텐트의 결과코드를 </a:t>
            </a:r>
            <a:r>
              <a:rPr lang="en-US" altLang="ko-KR" sz="1100" dirty="0"/>
              <a:t>RESULT_CANCEL</a:t>
            </a:r>
            <a:r>
              <a:rPr lang="ko-KR" altLang="en-US" sz="1100" dirty="0"/>
              <a:t>로 설정</a:t>
            </a:r>
            <a:endParaRPr lang="en-US" altLang="ko-KR" sz="1100" dirty="0"/>
          </a:p>
          <a:p>
            <a:r>
              <a:rPr lang="en-US" altLang="ko-KR" sz="1100" dirty="0"/>
              <a:t>-</a:t>
            </a:r>
            <a:r>
              <a:rPr lang="en-US" altLang="ko-KR" sz="1100" dirty="0" err="1"/>
              <a:t>SubActivity</a:t>
            </a:r>
            <a:r>
              <a:rPr lang="en-US" altLang="ko-KR" sz="1100" dirty="0"/>
              <a:t> </a:t>
            </a:r>
            <a:r>
              <a:rPr lang="ko-KR" altLang="en-US" sz="1100" dirty="0"/>
              <a:t>종료</a:t>
            </a:r>
            <a:endParaRPr lang="en-US" altLang="ko-KR" sz="1100" dirty="0"/>
          </a:p>
        </p:txBody>
      </p:sp>
      <p:cxnSp>
        <p:nvCxnSpPr>
          <p:cNvPr id="14" name="Elbow Connector 13"/>
          <p:cNvCxnSpPr>
            <a:stCxn id="13" idx="1"/>
            <a:endCxn id="12" idx="1"/>
          </p:cNvCxnSpPr>
          <p:nvPr/>
        </p:nvCxnSpPr>
        <p:spPr>
          <a:xfrm rot="10800000">
            <a:off x="3730023" y="2079113"/>
            <a:ext cx="515283" cy="579695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7658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51520" y="199071"/>
            <a:ext cx="8218800" cy="658800"/>
          </a:xfrm>
        </p:spPr>
        <p:txBody>
          <a:bodyPr/>
          <a:lstStyle/>
          <a:p>
            <a:r>
              <a:rPr lang="ko-KR" altLang="en-US" b="1" dirty="0"/>
              <a:t>통신 예제</a:t>
            </a:r>
          </a:p>
        </p:txBody>
      </p:sp>
      <p:sp>
        <p:nvSpPr>
          <p:cNvPr id="2" name="오른쪽 화살표 1"/>
          <p:cNvSpPr/>
          <p:nvPr/>
        </p:nvSpPr>
        <p:spPr>
          <a:xfrm>
            <a:off x="4391979" y="1531176"/>
            <a:ext cx="288032" cy="448072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D11B-3400-4576-B192-CBE694130FE7}" type="slidenum">
              <a:rPr lang="ko-KR" altLang="en-US" smtClean="0"/>
              <a:pPr/>
              <a:t>16</a:t>
            </a:fld>
            <a:endParaRPr lang="ko-KR" alt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" y="1045260"/>
            <a:ext cx="4114800" cy="31718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0032" y="1073637"/>
            <a:ext cx="4133850" cy="26670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60" y="3861571"/>
            <a:ext cx="4162425" cy="18764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/>
          <a:srcRect b="39154"/>
          <a:stretch/>
        </p:blipFill>
        <p:spPr>
          <a:xfrm>
            <a:off x="4879082" y="3861572"/>
            <a:ext cx="4114800" cy="192994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860032" y="2631172"/>
            <a:ext cx="4133850" cy="4240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Rectangle 14"/>
          <p:cNvSpPr/>
          <p:nvPr/>
        </p:nvSpPr>
        <p:spPr>
          <a:xfrm>
            <a:off x="4860032" y="3165049"/>
            <a:ext cx="4133850" cy="4240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Elbow Connector 11"/>
          <p:cNvCxnSpPr>
            <a:stCxn id="9" idx="1"/>
            <a:endCxn id="8" idx="0"/>
          </p:cNvCxnSpPr>
          <p:nvPr/>
        </p:nvCxnSpPr>
        <p:spPr>
          <a:xfrm rot="10800000" flipV="1">
            <a:off x="2178374" y="2843191"/>
            <a:ext cx="2681659" cy="1018380"/>
          </a:xfrm>
          <a:prstGeom prst="bentConnector2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17"/>
          <p:cNvCxnSpPr>
            <a:stCxn id="15" idx="1"/>
            <a:endCxn id="11" idx="1"/>
          </p:cNvCxnSpPr>
          <p:nvPr/>
        </p:nvCxnSpPr>
        <p:spPr>
          <a:xfrm rot="10800000" flipH="1" flipV="1">
            <a:off x="4860032" y="3377067"/>
            <a:ext cx="19050" cy="1449475"/>
          </a:xfrm>
          <a:prstGeom prst="bentConnector3">
            <a:avLst>
              <a:gd name="adj1" fmla="val -2333333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51520" y="188640"/>
            <a:ext cx="8218800" cy="658800"/>
          </a:xfrm>
        </p:spPr>
        <p:txBody>
          <a:bodyPr/>
          <a:lstStyle/>
          <a:p>
            <a:r>
              <a:rPr lang="en-US" altLang="ko-KR" b="1" dirty="0"/>
              <a:t>Data</a:t>
            </a:r>
            <a:endParaRPr lang="ko-KR" altLang="en-US" b="1" dirty="0"/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539552" y="980728"/>
            <a:ext cx="6347714" cy="4628587"/>
          </a:xfrm>
        </p:spPr>
        <p:txBody>
          <a:bodyPr>
            <a:normAutofit/>
          </a:bodyPr>
          <a:lstStyle/>
          <a:p>
            <a:r>
              <a:rPr lang="ko-KR" altLang="en-US" dirty="0"/>
              <a:t>액션 수행에 필요한 정보</a:t>
            </a:r>
            <a:endParaRPr lang="en-US" altLang="ko-KR" dirty="0"/>
          </a:p>
          <a:p>
            <a:pPr lvl="1"/>
            <a:r>
              <a:rPr lang="ko-KR" altLang="en-US" dirty="0"/>
              <a:t>전화걸기 액션의 경우</a:t>
            </a:r>
            <a:endParaRPr lang="en-US" altLang="ko-KR" dirty="0"/>
          </a:p>
          <a:p>
            <a:pPr lvl="2"/>
            <a:r>
              <a:rPr lang="en-US" altLang="ko-KR" dirty="0"/>
              <a:t>‘tel:010xxxxxxx’</a:t>
            </a:r>
          </a:p>
          <a:p>
            <a:pPr lvl="1"/>
            <a:r>
              <a:rPr lang="ko-KR" altLang="en-US" dirty="0"/>
              <a:t>홈페이지 이동 액션의 경우</a:t>
            </a:r>
            <a:endParaRPr lang="en-US" altLang="ko-KR" dirty="0"/>
          </a:p>
          <a:p>
            <a:pPr lvl="2"/>
            <a:r>
              <a:rPr lang="en-US" altLang="ko-KR" dirty="0"/>
              <a:t>‘http://</a:t>
            </a:r>
            <a:r>
              <a:rPr lang="ko-KR" altLang="en-US" dirty="0"/>
              <a:t>주소</a:t>
            </a:r>
            <a:r>
              <a:rPr lang="en-US" altLang="ko-KR" dirty="0"/>
              <a:t>’</a:t>
            </a:r>
          </a:p>
          <a:p>
            <a:r>
              <a:rPr lang="ko-KR" altLang="en-US" dirty="0"/>
              <a:t>단독 액션의 경우 별도의 </a:t>
            </a:r>
            <a:r>
              <a:rPr lang="en-US" altLang="ko-KR" dirty="0"/>
              <a:t>Data</a:t>
            </a:r>
            <a:r>
              <a:rPr lang="ko-KR" altLang="en-US" dirty="0"/>
              <a:t>가 필요없으나 </a:t>
            </a:r>
            <a:br>
              <a:rPr lang="en-US" altLang="ko-KR" dirty="0"/>
            </a:br>
            <a:r>
              <a:rPr lang="ko-KR" altLang="en-US" dirty="0"/>
              <a:t>대부분의 액션은 액션 수행을 위한 </a:t>
            </a:r>
            <a:r>
              <a:rPr lang="en-US" altLang="ko-KR" dirty="0"/>
              <a:t>Data</a:t>
            </a:r>
            <a:r>
              <a:rPr lang="ko-KR" altLang="en-US" dirty="0"/>
              <a:t>가 필요</a:t>
            </a:r>
            <a:endParaRPr lang="en-US" altLang="ko-KR" dirty="0"/>
          </a:p>
          <a:p>
            <a:pPr marL="457200" lvl="1" indent="0">
              <a:buNone/>
            </a:pPr>
            <a:r>
              <a:rPr lang="en-US" altLang="ko-KR" dirty="0"/>
              <a:t>ex) ACTION_CALL</a:t>
            </a:r>
            <a:r>
              <a:rPr lang="ko-KR" altLang="en-US" dirty="0"/>
              <a:t> </a:t>
            </a:r>
            <a:r>
              <a:rPr lang="en-US" altLang="ko-KR" dirty="0"/>
              <a:t>: Data</a:t>
            </a:r>
            <a:r>
              <a:rPr lang="ko-KR" altLang="en-US" dirty="0"/>
              <a:t>로 전화번호가 필요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D11B-3400-4576-B192-CBE694130FE7}" type="slidenum">
              <a:rPr lang="ko-KR" altLang="en-US" smtClean="0"/>
              <a:pPr/>
              <a:t>17</a:t>
            </a:fld>
            <a:endParaRPr lang="ko-KR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51520" y="198839"/>
            <a:ext cx="8218800" cy="658800"/>
          </a:xfrm>
        </p:spPr>
        <p:txBody>
          <a:bodyPr/>
          <a:lstStyle/>
          <a:p>
            <a:r>
              <a:rPr lang="ko-KR" altLang="en-US" b="1" dirty="0"/>
              <a:t>암시적 호출</a:t>
            </a:r>
            <a:r>
              <a:rPr lang="en-US" altLang="ko-KR" b="1" dirty="0"/>
              <a:t>(</a:t>
            </a:r>
            <a:r>
              <a:rPr lang="ko-KR" altLang="en-US" b="1" dirty="0"/>
              <a:t>액션</a:t>
            </a:r>
            <a:r>
              <a:rPr lang="en-US" altLang="ko-KR" b="1" dirty="0"/>
              <a:t>) </a:t>
            </a:r>
            <a:r>
              <a:rPr lang="ko-KR" altLang="en-US" b="1" dirty="0"/>
              <a:t>예제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D11B-3400-4576-B192-CBE694130FE7}" type="slidenum">
              <a:rPr lang="ko-KR" altLang="en-US" smtClean="0"/>
              <a:pPr/>
              <a:t>18</a:t>
            </a:fld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142950" y="834769"/>
            <a:ext cx="2175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activity_main.xml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3933210" y="834769"/>
            <a:ext cx="20681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MainActivity.java</a:t>
            </a:r>
            <a:endParaRPr lang="ko-KR" alt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205676" y="1140517"/>
            <a:ext cx="3697046" cy="0"/>
          </a:xfrm>
          <a:prstGeom prst="line">
            <a:avLst/>
          </a:prstGeom>
          <a:ln w="34925" cmpd="thickThin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995936" y="1140517"/>
            <a:ext cx="4646808" cy="0"/>
          </a:xfrm>
          <a:prstGeom prst="line">
            <a:avLst/>
          </a:prstGeom>
          <a:ln w="34925" cmpd="thickThin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676" y="1229943"/>
            <a:ext cx="3409950" cy="368617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5936" y="1233693"/>
            <a:ext cx="4947346" cy="51054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51520" y="188640"/>
            <a:ext cx="8218800" cy="658800"/>
          </a:xfrm>
        </p:spPr>
        <p:txBody>
          <a:bodyPr/>
          <a:lstStyle/>
          <a:p>
            <a:r>
              <a:rPr lang="ko-KR" altLang="en-US" b="1" dirty="0"/>
              <a:t>액션 예제</a:t>
            </a:r>
            <a:r>
              <a:rPr lang="en-US" altLang="ko-KR" b="1" dirty="0"/>
              <a:t> - </a:t>
            </a:r>
            <a:r>
              <a:rPr lang="ko-KR" altLang="en-US" b="1" dirty="0"/>
              <a:t>실행결과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D11B-3400-4576-B192-CBE694130FE7}" type="slidenum">
              <a:rPr lang="ko-KR" altLang="en-US" smtClean="0"/>
              <a:pPr/>
              <a:t>19</a:t>
            </a:fld>
            <a:endParaRPr lang="ko-KR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379" y="1484783"/>
            <a:ext cx="2006798" cy="331236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3651" y="1484783"/>
            <a:ext cx="2017826" cy="331236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8144" y="1484784"/>
            <a:ext cx="2016224" cy="330551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947185" y="1925540"/>
            <a:ext cx="2014992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Rectangle 13"/>
          <p:cNvSpPr/>
          <p:nvPr/>
        </p:nvSpPr>
        <p:spPr>
          <a:xfrm>
            <a:off x="947185" y="2141564"/>
            <a:ext cx="2014992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Elbow Connector 10"/>
          <p:cNvCxnSpPr>
            <a:stCxn id="9" idx="3"/>
            <a:endCxn id="5" idx="0"/>
          </p:cNvCxnSpPr>
          <p:nvPr/>
        </p:nvCxnSpPr>
        <p:spPr>
          <a:xfrm flipV="1">
            <a:off x="2962177" y="1484783"/>
            <a:ext cx="1450387" cy="548769"/>
          </a:xfrm>
          <a:prstGeom prst="bentConnector4">
            <a:avLst>
              <a:gd name="adj1" fmla="val 15219"/>
              <a:gd name="adj2" fmla="val 141657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Elbow Connector 12"/>
          <p:cNvCxnSpPr>
            <a:stCxn id="14" idx="3"/>
            <a:endCxn id="6" idx="2"/>
          </p:cNvCxnSpPr>
          <p:nvPr/>
        </p:nvCxnSpPr>
        <p:spPr>
          <a:xfrm>
            <a:off x="2962177" y="2249576"/>
            <a:ext cx="3914079" cy="2540718"/>
          </a:xfrm>
          <a:prstGeom prst="bentConnector4">
            <a:avLst>
              <a:gd name="adj1" fmla="val 5528"/>
              <a:gd name="adj2" fmla="val 108997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41632" y="188640"/>
            <a:ext cx="8218800" cy="658800"/>
          </a:xfrm>
        </p:spPr>
        <p:txBody>
          <a:bodyPr/>
          <a:lstStyle/>
          <a:p>
            <a:r>
              <a:rPr lang="en-US" altLang="ko-KR" b="1" dirty="0"/>
              <a:t>Intent Filter</a:t>
            </a:r>
            <a:endParaRPr lang="ko-KR" altLang="en-US" b="1" dirty="0"/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557461" y="1067280"/>
            <a:ext cx="8003232" cy="2044803"/>
          </a:xfrm>
        </p:spPr>
        <p:txBody>
          <a:bodyPr>
            <a:normAutofit/>
          </a:bodyPr>
          <a:lstStyle/>
          <a:p>
            <a:pPr lvl="1"/>
            <a:r>
              <a:rPr lang="ko-KR" altLang="en-US" dirty="0"/>
              <a:t>수 많은 인텐트들 중에 자신에게 필요한 인텐트만을 받기 위한</a:t>
            </a:r>
            <a:br>
              <a:rPr lang="en-US" altLang="ko-KR" dirty="0"/>
            </a:br>
            <a:r>
              <a:rPr lang="ko-KR" altLang="en-US" dirty="0"/>
              <a:t>작업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Manifest</a:t>
            </a:r>
            <a:r>
              <a:rPr lang="ko-KR" altLang="en-US" dirty="0"/>
              <a:t>파일 내부에 </a:t>
            </a:r>
            <a:r>
              <a:rPr lang="en-US" altLang="ko-KR" dirty="0"/>
              <a:t>&lt;intent-filter&gt; </a:t>
            </a:r>
            <a:r>
              <a:rPr lang="ko-KR" altLang="en-US" dirty="0"/>
              <a:t>태그를 이용하여</a:t>
            </a:r>
            <a:r>
              <a:rPr lang="en-US" altLang="ko-KR" dirty="0"/>
              <a:t> </a:t>
            </a:r>
            <a:r>
              <a:rPr lang="ko-KR" altLang="en-US" dirty="0"/>
              <a:t>작성</a:t>
            </a:r>
            <a:endParaRPr lang="en-US" altLang="ko-KR" dirty="0"/>
          </a:p>
          <a:p>
            <a:pPr lvl="1"/>
            <a:endParaRPr lang="en-US" altLang="ko-KR" dirty="0"/>
          </a:p>
        </p:txBody>
      </p:sp>
      <p:pic>
        <p:nvPicPr>
          <p:cNvPr id="6" name="Picture 2" descr="http://cfile23.uf.tistory.com/image/192A74254AD4DFD5103B5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3140968"/>
            <a:ext cx="4438650" cy="2314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D11B-3400-4576-B192-CBE694130FE7}" type="slidenum">
              <a:rPr lang="ko-KR" altLang="en-US" smtClean="0"/>
              <a:pPr/>
              <a:t>20</a:t>
            </a:fld>
            <a:endParaRPr lang="ko-KR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51520" y="233506"/>
            <a:ext cx="8218800" cy="658800"/>
          </a:xfrm>
        </p:spPr>
        <p:txBody>
          <a:bodyPr/>
          <a:lstStyle/>
          <a:p>
            <a:r>
              <a:rPr lang="en-US" altLang="ko-KR" b="1" dirty="0"/>
              <a:t>Intent Filter </a:t>
            </a:r>
            <a:r>
              <a:rPr lang="ko-KR" altLang="en-US" b="1" dirty="0"/>
              <a:t>등록 예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609599" y="1046006"/>
            <a:ext cx="6347714" cy="4628587"/>
          </a:xfrm>
        </p:spPr>
        <p:txBody>
          <a:bodyPr/>
          <a:lstStyle/>
          <a:p>
            <a:r>
              <a:rPr lang="en-US" altLang="ko-KR" dirty="0"/>
              <a:t>AndroidManifest.xml</a:t>
            </a:r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D11B-3400-4576-B192-CBE694130FE7}" type="slidenum">
              <a:rPr lang="ko-KR" altLang="en-US" smtClean="0"/>
              <a:pPr/>
              <a:t>21</a:t>
            </a:fld>
            <a:endParaRPr lang="ko-KR" alt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t="44461" b="9254"/>
          <a:stretch/>
        </p:blipFill>
        <p:spPr>
          <a:xfrm>
            <a:off x="683568" y="1766086"/>
            <a:ext cx="4924425" cy="19442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31640" y="4037649"/>
            <a:ext cx="4396910" cy="769441"/>
          </a:xfrm>
          <a:prstGeom prst="rect">
            <a:avLst/>
          </a:prstGeom>
          <a:solidFill>
            <a:schemeClr val="bg1"/>
          </a:solidFill>
          <a:ln w="285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아래 조건을 만족하는 인텐트를 받는 인텐트 필터</a:t>
            </a:r>
            <a:endParaRPr lang="en-US" altLang="ko-KR" sz="1100" dirty="0"/>
          </a:p>
          <a:p>
            <a:pPr marL="171450" indent="-171450">
              <a:buFontTx/>
              <a:buChar char="-"/>
            </a:pPr>
            <a:r>
              <a:rPr lang="en-US" altLang="ko-KR" sz="1100" dirty="0"/>
              <a:t>Action : </a:t>
            </a:r>
            <a:r>
              <a:rPr lang="en-US" altLang="ja-JP" sz="1100" dirty="0"/>
              <a:t>Main</a:t>
            </a:r>
          </a:p>
          <a:p>
            <a:pPr marL="171450" indent="-171450">
              <a:buFontTx/>
              <a:buChar char="-"/>
            </a:pPr>
            <a:r>
              <a:rPr lang="en-US" altLang="ko-KR" sz="1100" dirty="0"/>
              <a:t>Category : LAUNCHER</a:t>
            </a:r>
          </a:p>
          <a:p>
            <a:r>
              <a:rPr lang="en-US" altLang="ko-KR" sz="1100" dirty="0"/>
              <a:t>※ </a:t>
            </a:r>
            <a:r>
              <a:rPr lang="ko-KR" altLang="en-US" sz="1100" dirty="0"/>
              <a:t>안드로이드 홈 화면에서 아이콘을 터치하여 실행 할 때의 인텐트</a:t>
            </a:r>
            <a:r>
              <a:rPr lang="en-US" altLang="ko-KR" sz="1100" dirty="0"/>
              <a:t>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1640" y="4936789"/>
            <a:ext cx="4396910" cy="938719"/>
          </a:xfrm>
          <a:prstGeom prst="rect">
            <a:avLst/>
          </a:prstGeom>
          <a:solidFill>
            <a:schemeClr val="bg1"/>
          </a:solidFill>
          <a:ln w="285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아래 조건을 만족하는 인텐트를 받는 인텐트 필터</a:t>
            </a:r>
            <a:endParaRPr lang="en-US" altLang="ko-KR" sz="1100" dirty="0"/>
          </a:p>
          <a:p>
            <a:pPr marL="171450" indent="-171450">
              <a:buFontTx/>
              <a:buChar char="-"/>
            </a:pPr>
            <a:r>
              <a:rPr lang="en-US" altLang="ko-KR" sz="1100" dirty="0"/>
              <a:t>Action : View</a:t>
            </a:r>
            <a:endParaRPr lang="en-US" altLang="ja-JP" sz="1100" dirty="0"/>
          </a:p>
          <a:p>
            <a:pPr marL="171450" indent="-171450">
              <a:buFontTx/>
              <a:buChar char="-"/>
            </a:pPr>
            <a:r>
              <a:rPr lang="en-US" altLang="ko-KR" sz="1100" dirty="0"/>
              <a:t>Category : DEFAULT</a:t>
            </a:r>
          </a:p>
          <a:p>
            <a:pPr marL="171450" indent="-171450">
              <a:buFontTx/>
              <a:buChar char="-"/>
            </a:pPr>
            <a:r>
              <a:rPr lang="en-US" altLang="ko-KR" sz="1100" dirty="0"/>
              <a:t>Data : http</a:t>
            </a:r>
          </a:p>
          <a:p>
            <a:r>
              <a:rPr lang="en-US" altLang="ko-KR" sz="1100" dirty="0"/>
              <a:t>※ </a:t>
            </a:r>
            <a:r>
              <a:rPr lang="ko-KR" altLang="en-US" sz="1100" dirty="0"/>
              <a:t>암시적 인텐트 예제에서 </a:t>
            </a:r>
            <a:r>
              <a:rPr lang="en-US" altLang="ko-KR" sz="1100" dirty="0"/>
              <a:t>Web </a:t>
            </a:r>
            <a:r>
              <a:rPr lang="ko-KR" altLang="en-US" sz="1100" dirty="0"/>
              <a:t>버튼을 터치 할 때의 인텐트</a:t>
            </a:r>
            <a:endParaRPr lang="en-US" altLang="ko-KR" sz="1100" dirty="0"/>
          </a:p>
        </p:txBody>
      </p:sp>
      <p:cxnSp>
        <p:nvCxnSpPr>
          <p:cNvPr id="14" name="Elbow Connector 13"/>
          <p:cNvCxnSpPr>
            <a:stCxn id="12" idx="1"/>
            <a:endCxn id="24" idx="1"/>
          </p:cNvCxnSpPr>
          <p:nvPr/>
        </p:nvCxnSpPr>
        <p:spPr>
          <a:xfrm rot="10800000">
            <a:off x="1157470" y="2254004"/>
            <a:ext cx="174171" cy="2168367"/>
          </a:xfrm>
          <a:prstGeom prst="bentConnector3">
            <a:avLst>
              <a:gd name="adj1" fmla="val 231250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Elbow Connector 16"/>
          <p:cNvCxnSpPr>
            <a:stCxn id="13" idx="1"/>
            <a:endCxn id="25" idx="1"/>
          </p:cNvCxnSpPr>
          <p:nvPr/>
        </p:nvCxnSpPr>
        <p:spPr>
          <a:xfrm rot="10800000">
            <a:off x="1157470" y="3087111"/>
            <a:ext cx="174171" cy="2319038"/>
          </a:xfrm>
          <a:prstGeom prst="bentConnector3">
            <a:avLst>
              <a:gd name="adj1" fmla="val 356250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Left Bracket 23"/>
          <p:cNvSpPr/>
          <p:nvPr/>
        </p:nvSpPr>
        <p:spPr>
          <a:xfrm>
            <a:off x="1157469" y="1968845"/>
            <a:ext cx="68749" cy="570316"/>
          </a:xfrm>
          <a:prstGeom prst="leftBracket">
            <a:avLst/>
          </a:prstGeom>
          <a:ln w="28575" cmpd="dbl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Left Bracket 24"/>
          <p:cNvSpPr/>
          <p:nvPr/>
        </p:nvSpPr>
        <p:spPr>
          <a:xfrm>
            <a:off x="1157469" y="2727071"/>
            <a:ext cx="72008" cy="720080"/>
          </a:xfrm>
          <a:prstGeom prst="leftBracket">
            <a:avLst/>
          </a:prstGeom>
          <a:ln w="28575" cmpd="dbl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51520" y="213232"/>
            <a:ext cx="8218800" cy="658800"/>
          </a:xfrm>
        </p:spPr>
        <p:txBody>
          <a:bodyPr/>
          <a:lstStyle/>
          <a:p>
            <a:r>
              <a:rPr lang="en-US" altLang="ko-KR" b="1" dirty="0"/>
              <a:t>Intent Filter</a:t>
            </a:r>
            <a:endParaRPr lang="ko-KR" altLang="en-US" b="1" dirty="0"/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467544" y="952499"/>
            <a:ext cx="7202762" cy="4628587"/>
          </a:xfrm>
        </p:spPr>
        <p:txBody>
          <a:bodyPr/>
          <a:lstStyle/>
          <a:p>
            <a:r>
              <a:rPr lang="en-US" altLang="ko-KR" dirty="0"/>
              <a:t>action - </a:t>
            </a:r>
            <a:r>
              <a:rPr lang="ko-KR" altLang="en-US" dirty="0"/>
              <a:t>수행할 동작의 정보</a:t>
            </a:r>
            <a:br>
              <a:rPr lang="en-US" altLang="ko-KR" dirty="0"/>
            </a:br>
            <a:br>
              <a:rPr lang="en-US" altLang="ko-KR" dirty="0"/>
            </a:br>
            <a:br>
              <a:rPr lang="en-US" altLang="ko-KR" dirty="0"/>
            </a:br>
            <a:br>
              <a:rPr lang="en-US" altLang="ko-KR" dirty="0"/>
            </a:br>
            <a:br>
              <a:rPr lang="en-US" altLang="ko-KR" dirty="0"/>
            </a:br>
            <a:br>
              <a:rPr lang="en-US" altLang="ko-KR" dirty="0"/>
            </a:br>
            <a:endParaRPr lang="en-US" altLang="ko-KR" dirty="0"/>
          </a:p>
          <a:p>
            <a:r>
              <a:rPr lang="en-US" altLang="ko-KR" dirty="0"/>
              <a:t>category – </a:t>
            </a:r>
            <a:r>
              <a:rPr lang="ko-KR" altLang="en-US" dirty="0"/>
              <a:t>인텐트를 처리해야 하는 구성요소에 관한 추가 정보</a:t>
            </a:r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D11B-3400-4576-B192-CBE694130FE7}" type="slidenum">
              <a:rPr lang="ko-KR" altLang="en-US" smtClean="0"/>
              <a:pPr/>
              <a:t>22</a:t>
            </a:fld>
            <a:endParaRPr lang="ko-KR" alt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9950457"/>
              </p:ext>
            </p:extLst>
          </p:nvPr>
        </p:nvGraphicFramePr>
        <p:xfrm>
          <a:off x="840908" y="1356137"/>
          <a:ext cx="6397350" cy="138176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8625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348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Action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설명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ACTION_VIEW</a:t>
                      </a:r>
                      <a:endParaRPr lang="ko-KR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사용자에게 표시될 정보를 가지고 있을 때</a:t>
                      </a:r>
                      <a:endParaRPr lang="en-US" altLang="ko-KR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ACTION_SEND</a:t>
                      </a:r>
                      <a:endParaRPr lang="ko-KR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사용자가 다른 앱을 통해 공유 할 데이터를 갖고 있을 때 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공유 인텐트</a:t>
                      </a:r>
                      <a:r>
                        <a:rPr lang="en-US" altLang="ko-KR" dirty="0"/>
                        <a:t>)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0042745"/>
              </p:ext>
            </p:extLst>
          </p:nvPr>
        </p:nvGraphicFramePr>
        <p:xfrm>
          <a:off x="840908" y="3415855"/>
          <a:ext cx="6397350" cy="283972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7249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24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Category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설명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CATEGORY_BROWSABLE</a:t>
                      </a:r>
                      <a:endParaRPr lang="ko-KR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대상 액티비티 스스로 브라우저의 접근을 허용</a:t>
                      </a:r>
                      <a:endParaRPr lang="en-US" altLang="ko-KR" dirty="0"/>
                    </a:p>
                    <a:p>
                      <a:pPr latinLnBrk="1"/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이미지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이메일 메시지 등</a:t>
                      </a:r>
                      <a:r>
                        <a:rPr lang="en-US" altLang="ko-KR" dirty="0"/>
                        <a:t>)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CATEGORY_LAUNCHER</a:t>
                      </a:r>
                      <a:endParaRPr lang="ko-KR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해당 어플리케이션을 안드로이드 홈 화면에 표시하여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접근할수 있도록 허용</a:t>
                      </a:r>
                      <a:endParaRPr lang="en-US" altLang="ko-KR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CATEGORY_DEFAULT</a:t>
                      </a:r>
                      <a:endParaRPr lang="ko-KR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카테고리를 지정하지 않은 인텐트에</a:t>
                      </a:r>
                      <a:r>
                        <a:rPr lang="ko-KR" altLang="en-US" baseline="0" dirty="0"/>
                        <a:t> 자동으로 설정되는 카테고리</a:t>
                      </a:r>
                      <a:endParaRPr lang="en-US" altLang="ko-KR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51520" y="215495"/>
            <a:ext cx="8218800" cy="658800"/>
          </a:xfrm>
        </p:spPr>
        <p:txBody>
          <a:bodyPr/>
          <a:lstStyle/>
          <a:p>
            <a:r>
              <a:rPr lang="en-US" altLang="ko-KR" b="1" dirty="0"/>
              <a:t>Intent Filter </a:t>
            </a:r>
            <a:r>
              <a:rPr lang="ko-KR" altLang="en-US" b="1" dirty="0"/>
              <a:t>하위 </a:t>
            </a:r>
            <a:r>
              <a:rPr lang="ko-KR" altLang="en-US" b="1" dirty="0" err="1"/>
              <a:t>엘리먼트</a:t>
            </a:r>
            <a:r>
              <a:rPr lang="en-US" altLang="ko-KR" b="1" dirty="0"/>
              <a:t>(2)</a:t>
            </a:r>
            <a:endParaRPr lang="ko-KR" altLang="en-US" b="1" dirty="0"/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539552" y="1052736"/>
            <a:ext cx="6347714" cy="4628587"/>
          </a:xfrm>
        </p:spPr>
        <p:txBody>
          <a:bodyPr/>
          <a:lstStyle/>
          <a:p>
            <a:r>
              <a:rPr lang="en-US" altLang="ko-KR" dirty="0"/>
              <a:t>data – </a:t>
            </a:r>
            <a:r>
              <a:rPr lang="ko-KR" altLang="en-US" dirty="0"/>
              <a:t>컴포넌트가 실행할 수 있는 데이터에 대한 명세</a:t>
            </a:r>
            <a:br>
              <a:rPr lang="en-US" altLang="ko-KR" dirty="0"/>
            </a:br>
            <a:r>
              <a:rPr lang="en-US" altLang="ko-KR" dirty="0"/>
              <a:t>scheme :// host : port / path </a:t>
            </a:r>
            <a:r>
              <a:rPr lang="ko-KR" altLang="en-US" dirty="0"/>
              <a:t>형식</a:t>
            </a:r>
            <a:endParaRPr lang="en-US" altLang="ko-KR" dirty="0"/>
          </a:p>
          <a:p>
            <a:endParaRPr lang="en-US" altLang="ko-KR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2321551"/>
              </p:ext>
            </p:extLst>
          </p:nvPr>
        </p:nvGraphicFramePr>
        <p:xfrm>
          <a:off x="973561" y="1853189"/>
          <a:ext cx="7272152" cy="24892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2923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98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479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속성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설명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android:host</a:t>
                      </a:r>
                      <a:endParaRPr lang="ko-KR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유효한 호스트의 이름을 지정</a:t>
                      </a:r>
                      <a:endParaRPr lang="en-US" altLang="ko-KR" dirty="0"/>
                    </a:p>
                    <a:p>
                      <a:pPr latinLnBrk="1"/>
                      <a:r>
                        <a:rPr lang="en-US" altLang="ko-KR" dirty="0"/>
                        <a:t>ex)</a:t>
                      </a:r>
                      <a:r>
                        <a:rPr lang="en-US" altLang="ko-KR" baseline="0" dirty="0"/>
                        <a:t> google.com</a:t>
                      </a:r>
                      <a:endParaRPr lang="ko-KR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err="1"/>
                        <a:t>android:mimeType</a:t>
                      </a:r>
                      <a:endParaRPr lang="ko-KR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컴포넌트가 다룰 수 있는 데이터의 종류를 지정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err="1"/>
                        <a:t>android:path</a:t>
                      </a:r>
                      <a:endParaRPr lang="ko-KR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URI</a:t>
                      </a:r>
                      <a:r>
                        <a:rPr lang="ko-KR" altLang="en-US" dirty="0"/>
                        <a:t>를 위한 유효한 경로 값을 지정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err="1"/>
                        <a:t>android:port</a:t>
                      </a:r>
                      <a:endParaRPr lang="ko-KR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지정된 호스트를 위한 유효한 포트를 지정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err="1"/>
                        <a:t>android:scheme</a:t>
                      </a:r>
                      <a:endParaRPr lang="ko-KR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ex)</a:t>
                      </a:r>
                      <a:r>
                        <a:rPr lang="en-US" altLang="ko-KR" baseline="0" dirty="0"/>
                        <a:t> content, http</a:t>
                      </a:r>
                      <a:endParaRPr lang="ko-KR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D11B-3400-4576-B192-CBE694130FE7}" type="slidenum">
              <a:rPr lang="ko-KR" altLang="en-US" smtClean="0"/>
              <a:pPr/>
              <a:t>23</a:t>
            </a:fld>
            <a:endParaRPr lang="ko-KR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51520" y="207184"/>
            <a:ext cx="8218800" cy="658800"/>
          </a:xfrm>
        </p:spPr>
        <p:txBody>
          <a:bodyPr/>
          <a:lstStyle/>
          <a:p>
            <a:r>
              <a:rPr lang="en-US" altLang="ko-KR" b="1" dirty="0"/>
              <a:t>Intent Filter </a:t>
            </a:r>
            <a:r>
              <a:rPr lang="ko-KR" altLang="en-US" b="1" dirty="0"/>
              <a:t>예제 </a:t>
            </a:r>
            <a:r>
              <a:rPr lang="en-US" altLang="ko-KR" b="1" dirty="0"/>
              <a:t>(</a:t>
            </a:r>
            <a:r>
              <a:rPr lang="ko-KR" altLang="en-US" b="1" dirty="0"/>
              <a:t>새 프로젝트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sp>
        <p:nvSpPr>
          <p:cNvPr id="6" name="TextBox 5"/>
          <p:cNvSpPr txBox="1"/>
          <p:nvPr/>
        </p:nvSpPr>
        <p:spPr>
          <a:xfrm>
            <a:off x="225574" y="901802"/>
            <a:ext cx="2175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activity_main.xml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015834" y="901802"/>
            <a:ext cx="20681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MainActivity.java</a:t>
            </a:r>
            <a:endParaRPr lang="ko-KR" alt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288300" y="1207550"/>
            <a:ext cx="3697046" cy="0"/>
          </a:xfrm>
          <a:prstGeom prst="line">
            <a:avLst/>
          </a:prstGeom>
          <a:ln w="34925" cmpd="thickThin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078560" y="1207550"/>
            <a:ext cx="4646808" cy="0"/>
          </a:xfrm>
          <a:prstGeom prst="line">
            <a:avLst/>
          </a:prstGeom>
          <a:ln w="34925" cmpd="thickThin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560" y="1284035"/>
            <a:ext cx="4438650" cy="416242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300" y="1271134"/>
            <a:ext cx="2819400" cy="2219325"/>
          </a:xfrm>
          <a:prstGeom prst="rect">
            <a:avLst/>
          </a:prstGeom>
        </p:spPr>
      </p:pic>
      <p:sp>
        <p:nvSpPr>
          <p:cNvPr id="10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315760" y="6041362"/>
            <a:ext cx="512638" cy="365125"/>
          </a:xfrm>
        </p:spPr>
        <p:txBody>
          <a:bodyPr/>
          <a:lstStyle/>
          <a:p>
            <a:fld id="{B865D11B-3400-4576-B192-CBE694130FE7}" type="slidenum">
              <a:rPr lang="ko-KR" altLang="en-US" smtClean="0"/>
              <a:pPr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98422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1375840"/>
            <a:ext cx="6582693" cy="5149504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51520" y="237185"/>
            <a:ext cx="8218800" cy="658800"/>
          </a:xfrm>
        </p:spPr>
        <p:txBody>
          <a:bodyPr/>
          <a:lstStyle/>
          <a:p>
            <a:r>
              <a:rPr lang="en-US" altLang="ko-KR" b="1" dirty="0"/>
              <a:t>Intent Filter </a:t>
            </a:r>
            <a:r>
              <a:rPr lang="ko-KR" altLang="en-US" b="1" dirty="0"/>
              <a:t>예제 </a:t>
            </a:r>
            <a:r>
              <a:rPr lang="en-US" altLang="ko-KR" b="1" dirty="0"/>
              <a:t>(</a:t>
            </a:r>
            <a:r>
              <a:rPr lang="ko-KR" altLang="en-US" b="1" dirty="0"/>
              <a:t>새 프로젝트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D11B-3400-4576-B192-CBE694130FE7}" type="slidenum">
              <a:rPr lang="ko-KR" altLang="en-US" smtClean="0"/>
              <a:pPr/>
              <a:t>25</a:t>
            </a:fld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548834" y="1038860"/>
            <a:ext cx="2316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AndroidManifest.xml</a:t>
            </a:r>
            <a:endParaRPr lang="ko-KR" alt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11560" y="1344608"/>
            <a:ext cx="7274769" cy="0"/>
          </a:xfrm>
          <a:prstGeom prst="line">
            <a:avLst/>
          </a:prstGeom>
          <a:ln w="34925" cmpd="thickThin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Left Bracket 9"/>
          <p:cNvSpPr/>
          <p:nvPr/>
        </p:nvSpPr>
        <p:spPr>
          <a:xfrm>
            <a:off x="1714482" y="5013176"/>
            <a:ext cx="123691" cy="720080"/>
          </a:xfrm>
          <a:prstGeom prst="leftBracket">
            <a:avLst/>
          </a:prstGeom>
          <a:ln w="28575" cmpd="dbl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3707904" y="5839204"/>
            <a:ext cx="3240360" cy="769441"/>
          </a:xfrm>
          <a:prstGeom prst="rect">
            <a:avLst/>
          </a:prstGeom>
          <a:solidFill>
            <a:schemeClr val="bg1"/>
          </a:solidFill>
          <a:ln w="285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아래 조건을 만족하는 </a:t>
            </a:r>
            <a:r>
              <a:rPr lang="ko-KR" altLang="en-US" sz="1100" dirty="0" err="1"/>
              <a:t>인텐트를</a:t>
            </a:r>
            <a:r>
              <a:rPr lang="ko-KR" altLang="en-US" sz="1100" dirty="0"/>
              <a:t> 받는 </a:t>
            </a:r>
            <a:r>
              <a:rPr lang="ko-KR" altLang="en-US" sz="1100" dirty="0" err="1"/>
              <a:t>인텐트</a:t>
            </a:r>
            <a:r>
              <a:rPr lang="ko-KR" altLang="en-US" sz="1100" dirty="0"/>
              <a:t> 필터</a:t>
            </a:r>
            <a:endParaRPr lang="en-US" altLang="ko-KR" sz="1100" dirty="0"/>
          </a:p>
          <a:p>
            <a:r>
              <a:rPr lang="en-US" altLang="ko-KR" sz="1100" dirty="0"/>
              <a:t>Action : View</a:t>
            </a:r>
          </a:p>
          <a:p>
            <a:r>
              <a:rPr lang="en-US" altLang="ko-KR" sz="1100" dirty="0"/>
              <a:t>Category : Default (</a:t>
            </a:r>
            <a:r>
              <a:rPr lang="ko-KR" altLang="en-US" sz="1100" dirty="0"/>
              <a:t>지정안함</a:t>
            </a:r>
            <a:r>
              <a:rPr lang="en-US" altLang="ko-KR" sz="1100" dirty="0"/>
              <a:t>)</a:t>
            </a:r>
          </a:p>
          <a:p>
            <a:r>
              <a:rPr lang="en-US" altLang="ko-KR" sz="1100" dirty="0"/>
              <a:t>Data scheme : http</a:t>
            </a:r>
          </a:p>
        </p:txBody>
      </p:sp>
      <p:cxnSp>
        <p:nvCxnSpPr>
          <p:cNvPr id="12" name="Elbow Connector 11"/>
          <p:cNvCxnSpPr>
            <a:stCxn id="11" idx="1"/>
            <a:endCxn id="10" idx="1"/>
          </p:cNvCxnSpPr>
          <p:nvPr/>
        </p:nvCxnSpPr>
        <p:spPr>
          <a:xfrm rot="10800000">
            <a:off x="1714482" y="5373217"/>
            <a:ext cx="1993422" cy="850709"/>
          </a:xfrm>
          <a:prstGeom prst="bentConnector3">
            <a:avLst>
              <a:gd name="adj1" fmla="val 130875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/>
        </p:nvCxnSpPr>
        <p:spPr>
          <a:xfrm flipV="1">
            <a:off x="1227786" y="2636912"/>
            <a:ext cx="5288430" cy="4267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꺾인 연결선 24"/>
          <p:cNvCxnSpPr>
            <a:endCxn id="36" idx="1"/>
          </p:cNvCxnSpPr>
          <p:nvPr/>
        </p:nvCxnSpPr>
        <p:spPr>
          <a:xfrm rot="16200000" flipH="1">
            <a:off x="5516070" y="2674393"/>
            <a:ext cx="855037" cy="844275"/>
          </a:xfrm>
          <a:prstGeom prst="bentConnector2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365726" y="3397092"/>
            <a:ext cx="2026112" cy="25391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050" dirty="0"/>
              <a:t>인터넷 사용에 대한 권한 요청</a:t>
            </a:r>
          </a:p>
        </p:txBody>
      </p:sp>
    </p:spTree>
    <p:extLst>
      <p:ext uri="{BB962C8B-B14F-4D97-AF65-F5344CB8AC3E}">
        <p14:creationId xmlns:p14="http://schemas.microsoft.com/office/powerpoint/2010/main" val="22678465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51520" y="233175"/>
            <a:ext cx="8218800" cy="658800"/>
          </a:xfrm>
        </p:spPr>
        <p:txBody>
          <a:bodyPr/>
          <a:lstStyle/>
          <a:p>
            <a:r>
              <a:rPr lang="en-US" altLang="ko-KR" b="1" dirty="0"/>
              <a:t>Intent Filter </a:t>
            </a:r>
            <a:r>
              <a:rPr lang="ko-KR" altLang="en-US" b="1" dirty="0"/>
              <a:t>예제 </a:t>
            </a:r>
            <a:r>
              <a:rPr lang="en-US" altLang="ko-KR" b="1" dirty="0"/>
              <a:t>- </a:t>
            </a:r>
            <a:r>
              <a:rPr lang="ko-KR" altLang="en-US" b="1" dirty="0"/>
              <a:t>실행결과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609599" y="1025441"/>
            <a:ext cx="6347714" cy="4628587"/>
          </a:xfrm>
        </p:spPr>
        <p:txBody>
          <a:bodyPr/>
          <a:lstStyle/>
          <a:p>
            <a:r>
              <a:rPr lang="ko-KR" altLang="en-US" dirty="0"/>
              <a:t>액션 예제 앱 실행 </a:t>
            </a:r>
            <a:r>
              <a:rPr lang="en-US" altLang="ko-KR" dirty="0"/>
              <a:t>&gt;&gt; web </a:t>
            </a:r>
            <a:r>
              <a:rPr lang="ko-KR" altLang="en-US" dirty="0"/>
              <a:t>버튼 클릭</a:t>
            </a:r>
            <a:endParaRPr lang="en-US" altLang="ko-KR" dirty="0"/>
          </a:p>
          <a:p>
            <a:r>
              <a:rPr lang="ko-KR" altLang="en-US" dirty="0"/>
              <a:t>인텐트 필터를 추가한 예제 앱과</a:t>
            </a:r>
            <a:r>
              <a:rPr lang="en-US" altLang="ko-KR" dirty="0"/>
              <a:t>, </a:t>
            </a:r>
            <a:r>
              <a:rPr lang="ko-KR" altLang="en-US" dirty="0"/>
              <a:t>기본 브라우저 중 선택</a:t>
            </a:r>
            <a:endParaRPr lang="en-US" altLang="ko-KR" dirty="0"/>
          </a:p>
          <a:p>
            <a:r>
              <a:rPr lang="ko-KR" altLang="en-US" dirty="0"/>
              <a:t>인텐트 필터 예제 앱으로 웹 화면 출력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D11B-3400-4576-B192-CBE694130FE7}" type="slidenum">
              <a:rPr lang="ko-KR" altLang="en-US" smtClean="0"/>
              <a:pPr/>
              <a:t>26</a:t>
            </a:fld>
            <a:endParaRPr lang="ko-KR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423" y="2564904"/>
            <a:ext cx="2006798" cy="3312368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596229" y="3221685"/>
            <a:ext cx="2014992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8201" y="2564904"/>
            <a:ext cx="2026281" cy="331236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1462" y="2564904"/>
            <a:ext cx="2023455" cy="3312368"/>
          </a:xfrm>
          <a:prstGeom prst="rect">
            <a:avLst/>
          </a:prstGeom>
        </p:spPr>
      </p:pic>
      <p:cxnSp>
        <p:nvCxnSpPr>
          <p:cNvPr id="16" name="Elbow Connector 15"/>
          <p:cNvCxnSpPr>
            <a:stCxn id="14" idx="3"/>
            <a:endCxn id="10" idx="1"/>
          </p:cNvCxnSpPr>
          <p:nvPr/>
        </p:nvCxnSpPr>
        <p:spPr>
          <a:xfrm>
            <a:off x="2611221" y="3329697"/>
            <a:ext cx="646980" cy="891391"/>
          </a:xfrm>
          <a:prstGeom prst="bentConnector3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10" idx="3"/>
            <a:endCxn id="12" idx="1"/>
          </p:cNvCxnSpPr>
          <p:nvPr/>
        </p:nvCxnSpPr>
        <p:spPr>
          <a:xfrm>
            <a:off x="5284482" y="4221088"/>
            <a:ext cx="64698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32696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sz="5400" b="1"/>
              <a:t>Notification</a:t>
            </a:r>
            <a:endParaRPr lang="ko-KR" altLang="en-US" sz="5400" b="1" dirty="0"/>
          </a:p>
        </p:txBody>
      </p:sp>
    </p:spTree>
    <p:extLst>
      <p:ext uri="{BB962C8B-B14F-4D97-AF65-F5344CB8AC3E}">
        <p14:creationId xmlns:p14="http://schemas.microsoft.com/office/powerpoint/2010/main" val="30078305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23528" y="370150"/>
            <a:ext cx="6447501" cy="610688"/>
          </a:xfrm>
        </p:spPr>
        <p:txBody>
          <a:bodyPr>
            <a:normAutofit fontScale="90000"/>
          </a:bodyPr>
          <a:lstStyle/>
          <a:p>
            <a:r>
              <a:rPr lang="en-US" altLang="ko-KR" b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Notification</a:t>
            </a:r>
            <a:endParaRPr lang="ko-KR" altLang="en-US" b="1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01948" y="1410403"/>
            <a:ext cx="6447501" cy="299775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b="1">
                <a:ea typeface="함초롬바탕" panose="02030504000101010101" pitchFamily="18" charset="-127"/>
                <a:cs typeface="함초롬바탕" panose="02030504000101010101" pitchFamily="18" charset="-127"/>
              </a:rPr>
              <a:t>사용자에게</a:t>
            </a:r>
            <a:r>
              <a:rPr lang="en-US" altLang="ko-KR" b="1"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b="1">
                <a:ea typeface="함초롬바탕" panose="02030504000101010101" pitchFamily="18" charset="-127"/>
                <a:cs typeface="함초롬바탕" panose="02030504000101010101" pitchFamily="18" charset="-127"/>
              </a:rPr>
              <a:t>어플리케이션에서 발생한</a:t>
            </a:r>
            <a:endParaRPr lang="en-US" altLang="ko-KR" b="1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buNone/>
            </a:pPr>
            <a:r>
              <a:rPr lang="en-US" altLang="ko-KR" b="1">
                <a:ea typeface="함초롬바탕" panose="02030504000101010101" pitchFamily="18" charset="-127"/>
                <a:cs typeface="함초롬바탕" panose="02030504000101010101" pitchFamily="18" charset="-127"/>
              </a:rPr>
              <a:t>	</a:t>
            </a:r>
            <a:r>
              <a:rPr lang="ko-KR" altLang="en-US" b="1">
                <a:ea typeface="함초롬바탕" panose="02030504000101010101" pitchFamily="18" charset="-127"/>
                <a:cs typeface="함초롬바탕" panose="02030504000101010101" pitchFamily="18" charset="-127"/>
              </a:rPr>
              <a:t>이벤트를 알림</a:t>
            </a:r>
            <a:endParaRPr lang="en-US" altLang="ko-KR" sz="150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b="1">
                <a:ea typeface="함초롬바탕" panose="02030504000101010101" pitchFamily="18" charset="-127"/>
                <a:cs typeface="함초롬바탕" panose="02030504000101010101" pitchFamily="18" charset="-127"/>
              </a:rPr>
              <a:t>어플리케이션 </a:t>
            </a:r>
            <a:r>
              <a:rPr lang="en-US" altLang="ko-KR" b="1">
                <a:ea typeface="함초롬바탕" panose="02030504000101010101" pitchFamily="18" charset="-127"/>
                <a:cs typeface="함초롬바탕" panose="02030504000101010101" pitchFamily="18" charset="-127"/>
              </a:rPr>
              <a:t>UI </a:t>
            </a:r>
            <a:r>
              <a:rPr lang="ko-KR" altLang="en-US" b="1">
                <a:ea typeface="함초롬바탕" panose="02030504000101010101" pitchFamily="18" charset="-127"/>
                <a:cs typeface="함초롬바탕" panose="02030504000101010101" pitchFamily="18" charset="-127"/>
              </a:rPr>
              <a:t>외부에서 메시지를 표시함</a:t>
            </a:r>
            <a:endParaRPr lang="en-US" altLang="ko-KR" b="1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b="1">
                <a:ea typeface="함초롬바탕" panose="02030504000101010101" pitchFamily="18" charset="-127"/>
                <a:cs typeface="함초롬바탕" panose="02030504000101010101" pitchFamily="18" charset="-127"/>
              </a:rPr>
              <a:t>NotificationManager </a:t>
            </a:r>
            <a:r>
              <a:rPr lang="ko-KR" altLang="en-US" b="1">
                <a:ea typeface="함초롬바탕" panose="02030504000101010101" pitchFamily="18" charset="-127"/>
                <a:cs typeface="함초롬바탕" panose="02030504000101010101" pitchFamily="18" charset="-127"/>
              </a:rPr>
              <a:t>클래스를 이용하여</a:t>
            </a:r>
            <a:endParaRPr lang="en-US" altLang="ko-KR" b="1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buNone/>
            </a:pPr>
            <a:r>
              <a:rPr lang="en-US" altLang="ko-KR" b="1">
                <a:ea typeface="함초롬바탕" panose="02030504000101010101" pitchFamily="18" charset="-127"/>
                <a:cs typeface="함초롬바탕" panose="02030504000101010101" pitchFamily="18" charset="-127"/>
              </a:rPr>
              <a:t>	</a:t>
            </a:r>
            <a:r>
              <a:rPr lang="ko-KR" altLang="en-US" b="1">
                <a:ea typeface="함초롬바탕" panose="02030504000101010101" pitchFamily="18" charset="-127"/>
                <a:cs typeface="함초롬바탕" panose="02030504000101010101" pitchFamily="18" charset="-127"/>
              </a:rPr>
              <a:t>알림을 발생</a:t>
            </a:r>
            <a:r>
              <a:rPr lang="en-US" altLang="ko-KR" b="1"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b="1">
                <a:ea typeface="함초롬바탕" panose="02030504000101010101" pitchFamily="18" charset="-127"/>
                <a:cs typeface="함초롬바탕" panose="02030504000101010101" pitchFamily="18" charset="-127"/>
              </a:rPr>
              <a:t>및</a:t>
            </a:r>
            <a:r>
              <a:rPr lang="en-US" altLang="ko-KR" b="1"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b="1">
                <a:ea typeface="함초롬바탕" panose="02030504000101010101" pitchFamily="18" charset="-127"/>
                <a:cs typeface="함초롬바탕" panose="02030504000101010101" pitchFamily="18" charset="-127"/>
              </a:rPr>
              <a:t>갱신</a:t>
            </a:r>
            <a:r>
              <a:rPr lang="en-US" altLang="ko-KR" b="1"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  <a:r>
              <a:rPr lang="ko-KR" altLang="en-US" b="1">
                <a:ea typeface="함초롬바탕" panose="02030504000101010101" pitchFamily="18" charset="-127"/>
                <a:cs typeface="함초롬바탕" panose="02030504000101010101" pitchFamily="18" charset="-127"/>
              </a:rPr>
              <a:t>취소할 수 있음 </a:t>
            </a:r>
            <a:endParaRPr lang="en-US" altLang="ko-KR" b="1"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pic>
        <p:nvPicPr>
          <p:cNvPr id="1027" name="Picture 3" descr="C:\Users\Administrator\Desktop\그림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8024" y="1340768"/>
            <a:ext cx="2199773" cy="3909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315760" y="6041362"/>
            <a:ext cx="512638" cy="365125"/>
          </a:xfrm>
        </p:spPr>
        <p:txBody>
          <a:bodyPr/>
          <a:lstStyle/>
          <a:p>
            <a:fld id="{B865D11B-3400-4576-B192-CBE694130FE7}" type="slidenum">
              <a:rPr lang="ko-KR" altLang="en-US" smtClean="0"/>
              <a:pPr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86019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11560" y="1196751"/>
            <a:ext cx="6464300" cy="4844611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lang="en-US" altLang="ko-KR" b="1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NotificationManager</a:t>
            </a:r>
            <a:endParaRPr lang="en-US" altLang="ko-KR" b="1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19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알림을 발생시키거나</a:t>
            </a:r>
            <a:r>
              <a:rPr lang="en-US" altLang="ko-KR" sz="19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sz="19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이미 발생한 알림을 갱신</a:t>
            </a:r>
            <a:r>
              <a:rPr lang="en-US" altLang="ko-KR" sz="19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,</a:t>
            </a:r>
          </a:p>
          <a:p>
            <a:pPr marL="342900" lvl="1" indent="0">
              <a:buNone/>
            </a:pPr>
            <a:r>
              <a:rPr lang="en-US" altLang="ko-KR" sz="19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	</a:t>
            </a:r>
            <a:r>
              <a:rPr lang="ko-KR" altLang="en-US" sz="19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또는 취소할 수 있는 클래스</a:t>
            </a:r>
            <a:endParaRPr lang="en-US" altLang="ko-KR" sz="19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19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관련 주요 </a:t>
            </a:r>
            <a:r>
              <a:rPr lang="en-US" altLang="ko-KR" sz="19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Methods</a:t>
            </a:r>
          </a:p>
          <a:p>
            <a:pPr lvl="2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9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notify(</a:t>
            </a:r>
            <a:r>
              <a:rPr lang="en-US" altLang="ko-KR" sz="1900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int</a:t>
            </a:r>
            <a:r>
              <a:rPr lang="en-US" altLang="ko-KR" sz="19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 id, Notification notification)</a:t>
            </a:r>
          </a:p>
          <a:p>
            <a:pPr marL="685800" lvl="2" indent="0">
              <a:lnSpc>
                <a:spcPct val="150000"/>
              </a:lnSpc>
              <a:buNone/>
            </a:pPr>
            <a:r>
              <a:rPr lang="en-US" altLang="ko-KR" sz="19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	</a:t>
            </a:r>
            <a:r>
              <a:rPr lang="ko-KR" altLang="en-US" sz="19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알림을 발생시키는 </a:t>
            </a:r>
            <a:r>
              <a:rPr lang="en-US" altLang="ko-KR" sz="19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Method, </a:t>
            </a:r>
            <a:r>
              <a:rPr lang="ko-KR" altLang="en-US" sz="19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각 알림을 구분하기 위한 고유의 </a:t>
            </a:r>
            <a:r>
              <a:rPr lang="en-US" altLang="ko-KR" sz="19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id</a:t>
            </a:r>
            <a:r>
              <a:rPr lang="ko-KR" altLang="en-US" sz="19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를 부여함 </a:t>
            </a:r>
            <a:endParaRPr lang="en-US" altLang="ko-KR" sz="19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2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9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cancel(</a:t>
            </a:r>
            <a:r>
              <a:rPr lang="en-US" altLang="ko-KR" sz="1900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int</a:t>
            </a:r>
            <a:r>
              <a:rPr lang="en-US" altLang="ko-KR" sz="19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 id)</a:t>
            </a:r>
          </a:p>
          <a:p>
            <a:pPr marL="685800" lvl="2" indent="0">
              <a:lnSpc>
                <a:spcPct val="150000"/>
              </a:lnSpc>
              <a:buNone/>
            </a:pPr>
            <a:r>
              <a:rPr lang="en-US" altLang="ko-KR" sz="19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	</a:t>
            </a:r>
            <a:r>
              <a:rPr lang="ko-KR" altLang="en-US" sz="1900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입력받은</a:t>
            </a:r>
            <a:r>
              <a:rPr lang="ko-KR" altLang="en-US" sz="19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en-US" altLang="ko-KR" sz="19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id</a:t>
            </a:r>
            <a:r>
              <a:rPr lang="ko-KR" altLang="en-US" sz="19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의 알림을 취소함</a:t>
            </a:r>
            <a:endParaRPr lang="en-US" altLang="ko-KR" sz="19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2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900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cancelAll</a:t>
            </a:r>
            <a:r>
              <a:rPr lang="en-US" altLang="ko-KR" sz="19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( )</a:t>
            </a:r>
          </a:p>
          <a:p>
            <a:pPr marL="685800" lvl="2" indent="0">
              <a:lnSpc>
                <a:spcPct val="160000"/>
              </a:lnSpc>
              <a:buNone/>
            </a:pPr>
            <a:r>
              <a:rPr lang="en-US" altLang="ko-KR" sz="19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	</a:t>
            </a:r>
            <a:r>
              <a:rPr lang="ko-KR" altLang="en-US" sz="19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현재 발생된 모든 알림을 취소함</a:t>
            </a:r>
            <a:endParaRPr lang="en-US" altLang="ko-KR" sz="19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315760" y="6041362"/>
            <a:ext cx="512638" cy="365125"/>
          </a:xfrm>
        </p:spPr>
        <p:txBody>
          <a:bodyPr/>
          <a:lstStyle/>
          <a:p>
            <a:fld id="{B865D11B-3400-4576-B192-CBE694130FE7}" type="slidenum">
              <a:rPr lang="ko-KR" altLang="en-US" smtClean="0"/>
              <a:pPr/>
              <a:t>29</a:t>
            </a:fld>
            <a:endParaRPr lang="ko-KR" altLang="en-US"/>
          </a:p>
        </p:txBody>
      </p:sp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323528" y="370150"/>
            <a:ext cx="6447501" cy="610688"/>
          </a:xfrm>
        </p:spPr>
        <p:txBody>
          <a:bodyPr>
            <a:normAutofit fontScale="90000"/>
          </a:bodyPr>
          <a:lstStyle/>
          <a:p>
            <a:r>
              <a:rPr lang="en-US" altLang="ko-KR" b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Notification</a:t>
            </a:r>
            <a:endParaRPr lang="ko-KR" altLang="en-US" b="1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404620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11560" y="1124744"/>
            <a:ext cx="5654675" cy="3712127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altLang="ko-KR" b="1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Notification.Builder</a:t>
            </a:r>
            <a:endParaRPr lang="en-US" altLang="ko-KR" b="1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15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알림에 대한 </a:t>
            </a:r>
            <a:r>
              <a:rPr lang="en-US" altLang="ko-KR" sz="15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UI </a:t>
            </a:r>
            <a:r>
              <a:rPr lang="ko-KR" altLang="en-US" sz="15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정보와 작업을 지정해주는 클래스</a:t>
            </a:r>
            <a:endParaRPr lang="en-US" altLang="ko-KR" sz="15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15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관련 </a:t>
            </a:r>
            <a:r>
              <a:rPr lang="en-US" altLang="ko-KR" sz="15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Methods</a:t>
            </a:r>
          </a:p>
          <a:p>
            <a:pPr lvl="2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200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setSmallIcon</a:t>
            </a:r>
            <a:r>
              <a:rPr lang="en-US" altLang="ko-KR" sz="12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(</a:t>
            </a:r>
            <a:r>
              <a:rPr lang="en-US" altLang="ko-KR" sz="1200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int</a:t>
            </a:r>
            <a:r>
              <a:rPr lang="en-US" altLang="ko-KR" sz="12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 icon)</a:t>
            </a:r>
          </a:p>
          <a:p>
            <a:pPr marL="685800" lvl="2" indent="0">
              <a:buNone/>
            </a:pPr>
            <a:r>
              <a:rPr lang="en-US" altLang="ko-KR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	</a:t>
            </a:r>
            <a:r>
              <a:rPr lang="ko-KR" altLang="en-US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알림의 아이콘을 지정할</a:t>
            </a:r>
            <a:r>
              <a:rPr lang="en-US" altLang="ko-KR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 Method</a:t>
            </a:r>
          </a:p>
          <a:p>
            <a:pPr marL="685800" lvl="2" indent="0">
              <a:buNone/>
            </a:pPr>
            <a:r>
              <a:rPr lang="en-US" altLang="ko-KR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	</a:t>
            </a:r>
            <a:r>
              <a:rPr lang="ko-KR" altLang="en-US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이미지 파일을 입력하여 그 </a:t>
            </a:r>
            <a:r>
              <a:rPr lang="en-US" altLang="ko-KR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id</a:t>
            </a:r>
            <a:r>
              <a:rPr lang="ko-KR" altLang="en-US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를 전달할 수도 있음</a:t>
            </a:r>
            <a:endParaRPr lang="en-US" altLang="ko-KR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2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200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setContentTitle</a:t>
            </a:r>
            <a:r>
              <a:rPr lang="en-US" altLang="ko-KR" sz="12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(</a:t>
            </a:r>
            <a:r>
              <a:rPr lang="en-US" altLang="ko-KR" sz="1200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CharSequence</a:t>
            </a:r>
            <a:r>
              <a:rPr lang="en-US" altLang="ko-KR" sz="12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 title)</a:t>
            </a:r>
          </a:p>
          <a:p>
            <a:pPr marL="685800" lvl="2" indent="0">
              <a:lnSpc>
                <a:spcPct val="150000"/>
              </a:lnSpc>
              <a:buNone/>
            </a:pPr>
            <a:r>
              <a:rPr lang="en-US" altLang="ko-KR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	</a:t>
            </a:r>
            <a:r>
              <a:rPr lang="ko-KR" altLang="en-US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알림의 제목을 지정할 </a:t>
            </a:r>
            <a:r>
              <a:rPr lang="en-US" altLang="ko-KR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Method</a:t>
            </a:r>
          </a:p>
          <a:p>
            <a:pPr lvl="2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200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SetContentText</a:t>
            </a:r>
            <a:r>
              <a:rPr lang="en-US" altLang="ko-KR" sz="12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(</a:t>
            </a:r>
            <a:r>
              <a:rPr lang="en-US" altLang="ko-KR" sz="1200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CharSquence</a:t>
            </a:r>
            <a:r>
              <a:rPr lang="en-US" altLang="ko-KR" sz="12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 text)</a:t>
            </a:r>
          </a:p>
          <a:p>
            <a:pPr marL="685800" lvl="2" indent="0">
              <a:lnSpc>
                <a:spcPct val="150000"/>
              </a:lnSpc>
              <a:buNone/>
            </a:pPr>
            <a:r>
              <a:rPr lang="en-US" altLang="ko-KR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	</a:t>
            </a:r>
            <a:r>
              <a:rPr lang="ko-KR" altLang="en-US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알림의</a:t>
            </a:r>
            <a:r>
              <a:rPr lang="en-US" altLang="ko-KR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구체적 내용을 지정할 </a:t>
            </a:r>
            <a:r>
              <a:rPr lang="en-US" altLang="ko-KR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Method</a:t>
            </a:r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323528" y="370150"/>
            <a:ext cx="6447501" cy="610688"/>
          </a:xfrm>
        </p:spPr>
        <p:txBody>
          <a:bodyPr>
            <a:normAutofit fontScale="90000"/>
          </a:bodyPr>
          <a:lstStyle/>
          <a:p>
            <a:r>
              <a:rPr lang="en-US" altLang="ko-KR" b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Notification</a:t>
            </a:r>
            <a:endParaRPr lang="ko-KR" altLang="en-US" b="1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315760" y="6041362"/>
            <a:ext cx="512638" cy="365125"/>
          </a:xfrm>
        </p:spPr>
        <p:txBody>
          <a:bodyPr/>
          <a:lstStyle/>
          <a:p>
            <a:fld id="{B865D11B-3400-4576-B192-CBE694130FE7}" type="slidenum">
              <a:rPr lang="ko-KR" altLang="en-US" smtClean="0"/>
              <a:pPr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90905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Notification </a:t>
            </a:r>
            <a:r>
              <a:rPr lang="ko-KR" altLang="en-US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예제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알림 아이콘 만들기</a:t>
            </a:r>
            <a:endParaRPr lang="en-US" altLang="ko-KR" dirty="0"/>
          </a:p>
          <a:p>
            <a:pPr lvl="1"/>
            <a:r>
              <a:rPr lang="en-US" altLang="ko-KR" dirty="0"/>
              <a:t>Project </a:t>
            </a:r>
            <a:r>
              <a:rPr lang="ko-KR" altLang="en-US" dirty="0"/>
              <a:t>마우스 오른쪽 클릭 </a:t>
            </a:r>
            <a:r>
              <a:rPr lang="en-US" altLang="ko-KR" dirty="0"/>
              <a:t>-&gt; New -&gt; Image Asset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D11B-3400-4576-B192-CBE694130FE7}" type="slidenum">
              <a:rPr lang="ko-KR" altLang="en-US" smtClean="0"/>
              <a:pPr/>
              <a:t>31</a:t>
            </a:fld>
            <a:endParaRPr lang="ko-KR" altLang="en-US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2204864"/>
            <a:ext cx="6480720" cy="4392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118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Notification </a:t>
            </a:r>
            <a:r>
              <a:rPr lang="ko-KR" altLang="en-US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예제</a:t>
            </a:r>
            <a:r>
              <a:rPr lang="en-US" altLang="ko-KR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(cont.)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Icon Type</a:t>
            </a:r>
            <a:r>
              <a:rPr lang="ko-KR" altLang="en-US" dirty="0"/>
              <a:t>을 </a:t>
            </a:r>
            <a:r>
              <a:rPr lang="en-US" altLang="ko-KR" dirty="0"/>
              <a:t>Notification Icons</a:t>
            </a:r>
            <a:r>
              <a:rPr lang="ko-KR" altLang="en-US" dirty="0"/>
              <a:t> 변경 후 이름 설정</a:t>
            </a:r>
            <a:endParaRPr lang="en-US" altLang="ko-KR" dirty="0"/>
          </a:p>
          <a:p>
            <a:r>
              <a:rPr lang="ko-KR" altLang="en-US" dirty="0"/>
              <a:t>원하는 디자인으로 변경 후 </a:t>
            </a:r>
            <a:r>
              <a:rPr lang="en-US" altLang="ko-KR" dirty="0"/>
              <a:t>Next -&gt; finish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D11B-3400-4576-B192-CBE694130FE7}" type="slidenum">
              <a:rPr lang="ko-KR" altLang="en-US" smtClean="0"/>
              <a:pPr/>
              <a:t>32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8" y="2246380"/>
            <a:ext cx="3818386" cy="4278964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936204" y="3068960"/>
            <a:ext cx="1115516" cy="10081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3880" y="2246380"/>
            <a:ext cx="3792394" cy="4278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5942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Notification </a:t>
            </a:r>
            <a:r>
              <a:rPr lang="ko-KR" altLang="en-US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예제</a:t>
            </a:r>
            <a:r>
              <a:rPr lang="en-US" altLang="ko-KR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(cont.)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D11B-3400-4576-B192-CBE694130FE7}" type="slidenum">
              <a:rPr lang="ko-KR" altLang="en-US" smtClean="0"/>
              <a:pPr/>
              <a:t>33</a:t>
            </a:fld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430982" y="1244282"/>
            <a:ext cx="2175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activity_main.xml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221242" y="1244282"/>
            <a:ext cx="20681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MainActivity.java</a:t>
            </a:r>
            <a:endParaRPr lang="ko-KR" altLang="en-US" dirty="0"/>
          </a:p>
        </p:txBody>
      </p:sp>
      <p:cxnSp>
        <p:nvCxnSpPr>
          <p:cNvPr id="7" name="Straight Connector 7"/>
          <p:cNvCxnSpPr/>
          <p:nvPr/>
        </p:nvCxnSpPr>
        <p:spPr>
          <a:xfrm>
            <a:off x="493708" y="1550030"/>
            <a:ext cx="3697046" cy="0"/>
          </a:xfrm>
          <a:prstGeom prst="line">
            <a:avLst/>
          </a:prstGeom>
          <a:ln w="34925" cmpd="thickThin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8"/>
          <p:cNvCxnSpPr/>
          <p:nvPr/>
        </p:nvCxnSpPr>
        <p:spPr>
          <a:xfrm>
            <a:off x="4283968" y="1550030"/>
            <a:ext cx="4646808" cy="0"/>
          </a:xfrm>
          <a:prstGeom prst="line">
            <a:avLst/>
          </a:prstGeom>
          <a:ln w="34925" cmpd="thickThin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980" y="1647439"/>
            <a:ext cx="3766261" cy="3437745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3968" y="1648293"/>
            <a:ext cx="4464496" cy="4393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6125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Notification </a:t>
            </a:r>
            <a:r>
              <a:rPr lang="ko-KR" altLang="en-US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예제</a:t>
            </a:r>
            <a:r>
              <a:rPr lang="en-US" altLang="ko-KR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(</a:t>
            </a:r>
            <a:r>
              <a:rPr lang="en-US" altLang="ko-KR" b="1" dirty="0" err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MainActivity</a:t>
            </a:r>
            <a:r>
              <a:rPr lang="en-US" altLang="ko-KR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)</a:t>
            </a:r>
            <a:endParaRPr lang="ko-KR" altLang="en-US" dirty="0"/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7948" y="1711739"/>
            <a:ext cx="7706160" cy="4694748"/>
          </a:xfrm>
          <a:prstGeom prst="rect">
            <a:avLst/>
          </a:prstGeom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D11B-3400-4576-B192-CBE694130FE7}" type="slidenum">
              <a:rPr lang="ko-KR" altLang="en-US" smtClean="0"/>
              <a:pPr/>
              <a:t>34</a:t>
            </a:fld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467544" y="1268400"/>
            <a:ext cx="4608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MainActivity.java  …cont.</a:t>
            </a:r>
            <a:endParaRPr lang="ko-KR" alt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609598" y="1613614"/>
            <a:ext cx="8218800" cy="0"/>
          </a:xfrm>
          <a:prstGeom prst="line">
            <a:avLst/>
          </a:prstGeom>
          <a:ln w="34925" cmpd="thickThin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71064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315760" y="6041362"/>
            <a:ext cx="512638" cy="365125"/>
          </a:xfrm>
        </p:spPr>
        <p:txBody>
          <a:bodyPr/>
          <a:lstStyle/>
          <a:p>
            <a:fld id="{B865D11B-3400-4576-B192-CBE694130FE7}" type="slidenum">
              <a:rPr lang="ko-KR" altLang="en-US" smtClean="0"/>
              <a:pPr/>
              <a:t>35</a:t>
            </a:fld>
            <a:endParaRPr lang="ko-KR" altLang="en-US"/>
          </a:p>
        </p:txBody>
      </p:sp>
      <p:sp>
        <p:nvSpPr>
          <p:cNvPr id="9" name="제목 1"/>
          <p:cNvSpPr>
            <a:spLocks noGrp="1"/>
          </p:cNvSpPr>
          <p:nvPr>
            <p:ph type="title"/>
          </p:nvPr>
        </p:nvSpPr>
        <p:spPr>
          <a:xfrm>
            <a:off x="323528" y="370150"/>
            <a:ext cx="6447501" cy="610688"/>
          </a:xfrm>
        </p:spPr>
        <p:txBody>
          <a:bodyPr>
            <a:normAutofit fontScale="90000"/>
          </a:bodyPr>
          <a:lstStyle/>
          <a:p>
            <a:r>
              <a:rPr lang="en-US" altLang="ko-KR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Notification </a:t>
            </a:r>
            <a:r>
              <a:rPr lang="ko-KR" altLang="en-US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예제 실행 화면</a:t>
            </a:r>
          </a:p>
        </p:txBody>
      </p:sp>
      <p:sp>
        <p:nvSpPr>
          <p:cNvPr id="10" name="화살표: 오른쪽 9"/>
          <p:cNvSpPr/>
          <p:nvPr/>
        </p:nvSpPr>
        <p:spPr>
          <a:xfrm>
            <a:off x="4015937" y="3525004"/>
            <a:ext cx="770973" cy="57606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186" y="1236756"/>
            <a:ext cx="3312368" cy="5169731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0293" y="1219585"/>
            <a:ext cx="3221472" cy="5186902"/>
          </a:xfrm>
          <a:prstGeom prst="rect">
            <a:avLst/>
          </a:prstGeom>
        </p:spPr>
      </p:pic>
      <p:sp>
        <p:nvSpPr>
          <p:cNvPr id="6" name="모서리가 둥근 직사각형 5"/>
          <p:cNvSpPr/>
          <p:nvPr/>
        </p:nvSpPr>
        <p:spPr>
          <a:xfrm>
            <a:off x="5580112" y="2420888"/>
            <a:ext cx="2304256" cy="79208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348740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sz="5400" b="1"/>
              <a:t>Service</a:t>
            </a:r>
            <a:endParaRPr lang="ko-KR" altLang="en-US" sz="5400" b="1" dirty="0"/>
          </a:p>
        </p:txBody>
      </p:sp>
    </p:spTree>
    <p:extLst>
      <p:ext uri="{BB962C8B-B14F-4D97-AF65-F5344CB8AC3E}">
        <p14:creationId xmlns:p14="http://schemas.microsoft.com/office/powerpoint/2010/main" val="40574737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27584" y="1412776"/>
            <a:ext cx="7273925" cy="210240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b="1">
                <a:ea typeface="함초롬바탕" panose="02030504000101010101" pitchFamily="18" charset="-127"/>
                <a:cs typeface="함초롬바탕" panose="02030504000101010101" pitchFamily="18" charset="-127"/>
              </a:rPr>
              <a:t>Background</a:t>
            </a:r>
            <a:r>
              <a:rPr lang="ko-KR" altLang="en-US" b="1">
                <a:ea typeface="함초롬바탕" panose="02030504000101010101" pitchFamily="18" charset="-127"/>
                <a:cs typeface="함초롬바탕" panose="02030504000101010101" pitchFamily="18" charset="-127"/>
              </a:rPr>
              <a:t>에서 실행되는 프로세스</a:t>
            </a:r>
            <a:endParaRPr lang="en-US" altLang="ko-KR" b="1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b="1">
                <a:ea typeface="함초롬바탕" panose="02030504000101010101" pitchFamily="18" charset="-127"/>
                <a:cs typeface="함초롬바탕" panose="02030504000101010101" pitchFamily="18" charset="-127"/>
              </a:rPr>
              <a:t>안드로이드에서는 대체로 </a:t>
            </a:r>
            <a:r>
              <a:rPr lang="en-US" altLang="ko-KR" b="1">
                <a:ea typeface="함초롬바탕" panose="02030504000101010101" pitchFamily="18" charset="-127"/>
                <a:cs typeface="함초롬바탕" panose="02030504000101010101" pitchFamily="18" charset="-127"/>
              </a:rPr>
              <a:t>Background </a:t>
            </a:r>
            <a:r>
              <a:rPr lang="ko-KR" altLang="en-US" b="1">
                <a:ea typeface="함초롬바탕" panose="02030504000101010101" pitchFamily="18" charset="-127"/>
                <a:cs typeface="함초롬바탕" panose="02030504000101010101" pitchFamily="18" charset="-127"/>
              </a:rPr>
              <a:t>동작을 수행하도록 설계됨</a:t>
            </a:r>
            <a:endParaRPr lang="en-US" altLang="ko-KR" b="1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b="1">
                <a:ea typeface="함초롬바탕" panose="02030504000101010101" pitchFamily="18" charset="-127"/>
                <a:cs typeface="함초롬바탕" panose="02030504000101010101" pitchFamily="18" charset="-127"/>
              </a:rPr>
              <a:t>MP3 player, </a:t>
            </a:r>
            <a:r>
              <a:rPr lang="ko-KR" altLang="en-US" b="1">
                <a:ea typeface="함초롬바탕" panose="02030504000101010101" pitchFamily="18" charset="-127"/>
                <a:cs typeface="함초롬바탕" panose="02030504000101010101" pitchFamily="18" charset="-127"/>
              </a:rPr>
              <a:t>다운로드처럼 사용자의 입력과 무관하게</a:t>
            </a:r>
            <a:endParaRPr lang="en-US" altLang="ko-KR" b="1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buNone/>
            </a:pPr>
            <a:r>
              <a:rPr lang="en-US" altLang="ko-KR" b="1">
                <a:ea typeface="함초롬바탕" panose="02030504000101010101" pitchFamily="18" charset="-127"/>
                <a:cs typeface="함초롬바탕" panose="02030504000101010101" pitchFamily="18" charset="-127"/>
              </a:rPr>
              <a:t>   </a:t>
            </a:r>
            <a:r>
              <a:rPr lang="ko-KR" altLang="en-US" b="1">
                <a:ea typeface="함초롬바탕" panose="02030504000101010101" pitchFamily="18" charset="-127"/>
                <a:cs typeface="함초롬바탕" panose="02030504000101010101" pitchFamily="18" charset="-127"/>
              </a:rPr>
              <a:t>지속적인 처리가 필요한 경우에 사용이 용이함 </a:t>
            </a:r>
            <a:endParaRPr lang="en-US" altLang="ko-KR" b="1"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315760" y="6041362"/>
            <a:ext cx="512638" cy="365125"/>
          </a:xfrm>
        </p:spPr>
        <p:txBody>
          <a:bodyPr/>
          <a:lstStyle/>
          <a:p>
            <a:fld id="{B865D11B-3400-4576-B192-CBE694130FE7}" type="slidenum">
              <a:rPr lang="ko-KR" altLang="en-US" smtClean="0"/>
              <a:pPr/>
              <a:t>37</a:t>
            </a:fld>
            <a:endParaRPr lang="ko-KR" altLang="en-US"/>
          </a:p>
        </p:txBody>
      </p:sp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323528" y="370150"/>
            <a:ext cx="6447501" cy="610688"/>
          </a:xfrm>
        </p:spPr>
        <p:txBody>
          <a:bodyPr>
            <a:normAutofit fontScale="90000"/>
          </a:bodyPr>
          <a:lstStyle/>
          <a:p>
            <a:r>
              <a:rPr lang="en-US" altLang="ko-KR" b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Service</a:t>
            </a:r>
            <a:endParaRPr lang="ko-KR" altLang="en-US" b="1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523856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27584" y="1340768"/>
            <a:ext cx="7273925" cy="2848238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en-US" altLang="ko-KR" b="1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StartService</a:t>
            </a:r>
            <a:r>
              <a:rPr lang="en-US" altLang="ko-KR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()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15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Background</a:t>
            </a:r>
            <a:r>
              <a:rPr lang="ko-KR" altLang="en-US" sz="15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에서 실행이 되는 데몬 형태의 서비스</a:t>
            </a:r>
            <a:endParaRPr lang="en-US" altLang="ko-KR" sz="15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15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현재 실행중인 어플리케이션 내에서 동작을 함</a:t>
            </a:r>
            <a:endParaRPr lang="en-US" altLang="ko-KR" sz="15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15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같은 프로세스 내의 다른 컴포넌트들과 유기적으로 통신</a:t>
            </a:r>
            <a:endParaRPr lang="en-US" altLang="ko-KR" sz="15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dirty="0" err="1"/>
              <a:t>startService</a:t>
            </a:r>
            <a:r>
              <a:rPr lang="en-US" altLang="ko-KR" dirty="0"/>
              <a:t>()</a:t>
            </a:r>
            <a:r>
              <a:rPr lang="ko-KR" altLang="en-US" dirty="0"/>
              <a:t>를 호출해서 서비스를 시작했다면 서비스 스스로가 </a:t>
            </a:r>
            <a:br>
              <a:rPr lang="en-US" altLang="ko-KR" dirty="0"/>
            </a:br>
            <a:r>
              <a:rPr lang="en-US" altLang="ko-KR" dirty="0" err="1"/>
              <a:t>stopService</a:t>
            </a:r>
            <a:r>
              <a:rPr lang="en-US" altLang="ko-KR" dirty="0"/>
              <a:t>()</a:t>
            </a:r>
            <a:r>
              <a:rPr lang="ko-KR" altLang="en-US" dirty="0"/>
              <a:t>를 호출하거나 다른 컴포넌트가 </a:t>
            </a:r>
            <a:r>
              <a:rPr lang="en-US" altLang="ko-KR" dirty="0" err="1"/>
              <a:t>stopService</a:t>
            </a:r>
            <a:r>
              <a:rPr lang="en-US" altLang="ko-KR" dirty="0"/>
              <a:t>()</a:t>
            </a:r>
            <a:r>
              <a:rPr lang="ko-KR" altLang="en-US" dirty="0"/>
              <a:t>를 호출할 때까지</a:t>
            </a:r>
            <a:br>
              <a:rPr lang="en-US" altLang="ko-KR" dirty="0"/>
            </a:br>
            <a:r>
              <a:rPr lang="ko-KR" altLang="en-US" dirty="0"/>
              <a:t>서비스가 계속 실행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endParaRPr lang="en-US" altLang="ko-KR" sz="15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4189006"/>
            <a:ext cx="3083393" cy="2044046"/>
          </a:xfrm>
          <a:prstGeom prst="rect">
            <a:avLst/>
          </a:prstGeom>
        </p:spPr>
      </p:pic>
      <p:sp>
        <p:nvSpPr>
          <p:cNvPr id="5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315760" y="6041362"/>
            <a:ext cx="512638" cy="365125"/>
          </a:xfrm>
        </p:spPr>
        <p:txBody>
          <a:bodyPr/>
          <a:lstStyle/>
          <a:p>
            <a:fld id="{B865D11B-3400-4576-B192-CBE694130FE7}" type="slidenum">
              <a:rPr lang="ko-KR" altLang="en-US" smtClean="0"/>
              <a:pPr/>
              <a:t>38</a:t>
            </a:fld>
            <a:endParaRPr lang="ko-KR" altLang="en-US"/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323528" y="370150"/>
            <a:ext cx="6447501" cy="610688"/>
          </a:xfrm>
        </p:spPr>
        <p:txBody>
          <a:bodyPr>
            <a:normAutofit fontScale="90000"/>
          </a:bodyPr>
          <a:lstStyle/>
          <a:p>
            <a:r>
              <a:rPr lang="en-US" altLang="ko-KR" b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Service</a:t>
            </a:r>
            <a:endParaRPr lang="ko-KR" altLang="en-US" b="1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6971002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55576" y="1412776"/>
            <a:ext cx="7273925" cy="237626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BindService</a:t>
            </a:r>
            <a:r>
              <a:rPr lang="en-US" altLang="ko-KR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()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15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Method</a:t>
            </a:r>
            <a:r>
              <a:rPr lang="ko-KR" altLang="en-US" sz="15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를 노출시켜 화면에서 실행할 수 있도록 하는 원격 호출 인터페이스</a:t>
            </a:r>
            <a:endParaRPr lang="en-US" altLang="ko-KR" sz="15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15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다른 어플리케이션과도 공유 및 통신이 가능함</a:t>
            </a:r>
            <a:endParaRPr lang="en-US" altLang="ko-KR" sz="15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dirty="0"/>
              <a:t>하나 이상의 컴포넌트가 </a:t>
            </a:r>
            <a:r>
              <a:rPr lang="en-US" altLang="ko-KR" dirty="0" err="1"/>
              <a:t>bindService</a:t>
            </a:r>
            <a:r>
              <a:rPr lang="en-US" altLang="ko-KR" dirty="0"/>
              <a:t>()</a:t>
            </a:r>
            <a:r>
              <a:rPr lang="ko-KR" altLang="en-US" dirty="0"/>
              <a:t>를 호출해서 서비스를 시작했다면 그 서비스는 모든 연결된 컴포넌트가 연결을 해제될 때까지 지속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endParaRPr lang="en-US" altLang="ko-KR" sz="15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7168" y="3789040"/>
            <a:ext cx="4170739" cy="2044047"/>
          </a:xfrm>
          <a:prstGeom prst="rect">
            <a:avLst/>
          </a:prstGeom>
        </p:spPr>
      </p:pic>
      <p:sp>
        <p:nvSpPr>
          <p:cNvPr id="5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315760" y="6041362"/>
            <a:ext cx="512638" cy="365125"/>
          </a:xfrm>
        </p:spPr>
        <p:txBody>
          <a:bodyPr/>
          <a:lstStyle/>
          <a:p>
            <a:fld id="{B865D11B-3400-4576-B192-CBE694130FE7}" type="slidenum">
              <a:rPr lang="ko-KR" altLang="en-US" smtClean="0"/>
              <a:pPr/>
              <a:t>39</a:t>
            </a:fld>
            <a:endParaRPr lang="ko-KR" altLang="en-US"/>
          </a:p>
        </p:txBody>
      </p:sp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323528" y="370150"/>
            <a:ext cx="6447501" cy="610688"/>
          </a:xfrm>
        </p:spPr>
        <p:txBody>
          <a:bodyPr>
            <a:normAutofit fontScale="90000"/>
          </a:bodyPr>
          <a:lstStyle/>
          <a:p>
            <a:r>
              <a:rPr lang="en-US" altLang="ko-KR" b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Service</a:t>
            </a:r>
            <a:endParaRPr lang="ko-KR" altLang="en-US" b="1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0194148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55576" y="1124744"/>
            <a:ext cx="7273925" cy="53077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b="1">
                <a:ea typeface="함초롬바탕" panose="02030504000101010101" pitchFamily="18" charset="-127"/>
                <a:cs typeface="함초롬바탕" panose="02030504000101010101" pitchFamily="18" charset="-127"/>
              </a:rPr>
              <a:t>서비스의 </a:t>
            </a:r>
            <a:r>
              <a:rPr lang="en-US" altLang="ko-KR" b="1">
                <a:ea typeface="함초롬바탕" panose="02030504000101010101" pitchFamily="18" charset="-127"/>
                <a:cs typeface="함초롬바탕" panose="02030504000101010101" pitchFamily="18" charset="-127"/>
              </a:rPr>
              <a:t>Life Cycle</a:t>
            </a:r>
          </a:p>
        </p:txBody>
      </p:sp>
      <p:pic>
        <p:nvPicPr>
          <p:cNvPr id="4098" name="Picture 2" descr="D:\새 폴더\PNU CSE\석사\조교\강의자료\그림자료\service_lifecycl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1683384"/>
            <a:ext cx="5328592" cy="4841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315760" y="6041362"/>
            <a:ext cx="512638" cy="365125"/>
          </a:xfrm>
        </p:spPr>
        <p:txBody>
          <a:bodyPr/>
          <a:lstStyle/>
          <a:p>
            <a:fld id="{B865D11B-3400-4576-B192-CBE694130FE7}" type="slidenum">
              <a:rPr lang="ko-KR" altLang="en-US" smtClean="0"/>
              <a:pPr/>
              <a:t>40</a:t>
            </a:fld>
            <a:endParaRPr lang="ko-KR" altLang="en-US"/>
          </a:p>
        </p:txBody>
      </p:sp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323528" y="370150"/>
            <a:ext cx="6447501" cy="610688"/>
          </a:xfrm>
        </p:spPr>
        <p:txBody>
          <a:bodyPr>
            <a:normAutofit fontScale="90000"/>
          </a:bodyPr>
          <a:lstStyle/>
          <a:p>
            <a:r>
              <a:rPr lang="en-US" altLang="ko-KR" b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Service</a:t>
            </a:r>
            <a:endParaRPr lang="ko-KR" altLang="en-US" b="1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4716016" y="4437112"/>
            <a:ext cx="1872208" cy="43204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429869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052736"/>
            <a:ext cx="7273925" cy="3874052"/>
          </a:xfrm>
        </p:spPr>
        <p:txBody>
          <a:bodyPr>
            <a:normAutofit/>
          </a:bodyPr>
          <a:lstStyle/>
          <a:p>
            <a:pPr marL="257175" lvl="1" indent="-257175">
              <a:lnSpc>
                <a:spcPct val="150000"/>
              </a:lnSpc>
            </a:pPr>
            <a:r>
              <a:rPr lang="ko-KR" altLang="en-US" sz="1800" b="1">
                <a:ea typeface="함초롬바탕" panose="02030504000101010101" pitchFamily="18" charset="-127"/>
                <a:cs typeface="함초롬바탕" panose="02030504000101010101" pitchFamily="18" charset="-127"/>
              </a:rPr>
              <a:t>서비스 만들기</a:t>
            </a:r>
            <a:endParaRPr lang="en-US" altLang="ko-KR" sz="1800" b="1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1500">
                <a:ea typeface="함초롬바탕" panose="02030504000101010101" pitchFamily="18" charset="-127"/>
                <a:cs typeface="함초롬바탕" panose="02030504000101010101" pitchFamily="18" charset="-127"/>
              </a:rPr>
              <a:t>Service</a:t>
            </a:r>
            <a:r>
              <a:rPr lang="ko-KR" altLang="en-US" sz="1500">
                <a:ea typeface="함초롬바탕" panose="02030504000101010101" pitchFamily="18" charset="-127"/>
                <a:cs typeface="함초롬바탕" panose="02030504000101010101" pitchFamily="18" charset="-127"/>
              </a:rPr>
              <a:t>를 위한 새로운 클래스를 만들고 아래의 </a:t>
            </a:r>
            <a:r>
              <a:rPr lang="en-US" altLang="ko-KR" sz="1500">
                <a:ea typeface="함초롬바탕" panose="02030504000101010101" pitchFamily="18" charset="-127"/>
                <a:cs typeface="함초롬바탕" panose="02030504000101010101" pitchFamily="18" charset="-127"/>
              </a:rPr>
              <a:t>Method</a:t>
            </a:r>
            <a:r>
              <a:rPr lang="ko-KR" altLang="en-US" sz="1500">
                <a:ea typeface="함초롬바탕" panose="02030504000101010101" pitchFamily="18" charset="-127"/>
                <a:cs typeface="함초롬바탕" panose="02030504000101010101" pitchFamily="18" charset="-127"/>
              </a:rPr>
              <a:t>를 작성함</a:t>
            </a:r>
            <a:endParaRPr lang="en-US" altLang="ko-KR" sz="150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1500">
                <a:ea typeface="함초롬바탕" panose="02030504000101010101" pitchFamily="18" charset="-127"/>
                <a:cs typeface="함초롬바탕" panose="02030504000101010101" pitchFamily="18" charset="-127"/>
              </a:rPr>
              <a:t>void onCreate( )</a:t>
            </a:r>
          </a:p>
          <a:p>
            <a:pPr lvl="2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200">
                <a:ea typeface="함초롬바탕" panose="02030504000101010101" pitchFamily="18" charset="-127"/>
                <a:cs typeface="함초롬바탕" panose="02030504000101010101" pitchFamily="18" charset="-127"/>
              </a:rPr>
              <a:t>서비스가</a:t>
            </a:r>
            <a:r>
              <a:rPr lang="en-US" altLang="ko-KR" sz="1200"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sz="1200">
                <a:ea typeface="함초롬바탕" panose="02030504000101010101" pitchFamily="18" charset="-127"/>
                <a:cs typeface="함초롬바탕" panose="02030504000101010101" pitchFamily="18" charset="-127"/>
              </a:rPr>
              <a:t>처음 생성될 때 수행됨</a:t>
            </a:r>
            <a:endParaRPr lang="en-US" altLang="ko-KR" sz="120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1500">
                <a:ea typeface="함초롬바탕" panose="02030504000101010101" pitchFamily="18" charset="-127"/>
                <a:cs typeface="함초롬바탕" panose="02030504000101010101" pitchFamily="18" charset="-127"/>
              </a:rPr>
              <a:t>void onDestroy( )</a:t>
            </a:r>
          </a:p>
          <a:p>
            <a:pPr lvl="2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200">
                <a:ea typeface="함초롬바탕" panose="02030504000101010101" pitchFamily="18" charset="-127"/>
                <a:cs typeface="함초롬바탕" panose="02030504000101010101" pitchFamily="18" charset="-127"/>
              </a:rPr>
              <a:t>stopService()</a:t>
            </a:r>
            <a:r>
              <a:rPr lang="ko-KR" altLang="en-US" sz="1200">
                <a:ea typeface="함초롬바탕" panose="02030504000101010101" pitchFamily="18" charset="-127"/>
                <a:cs typeface="함초롬바탕" panose="02030504000101010101" pitchFamily="18" charset="-127"/>
              </a:rPr>
              <a:t>나</a:t>
            </a:r>
            <a:r>
              <a:rPr lang="en-US" altLang="ko-KR" sz="1200">
                <a:ea typeface="함초롬바탕" panose="02030504000101010101" pitchFamily="18" charset="-127"/>
                <a:cs typeface="함초롬바탕" panose="02030504000101010101" pitchFamily="18" charset="-127"/>
              </a:rPr>
              <a:t> stopSelf()</a:t>
            </a:r>
            <a:r>
              <a:rPr lang="ko-KR" altLang="en-US" sz="1200">
                <a:ea typeface="함초롬바탕" panose="02030504000101010101" pitchFamily="18" charset="-127"/>
                <a:cs typeface="함초롬바탕" panose="02030504000101010101" pitchFamily="18" charset="-127"/>
              </a:rPr>
              <a:t>가 호출되어 서비스가 종료될 때 수행됨</a:t>
            </a:r>
            <a:endParaRPr lang="en-US" altLang="ko-KR" sz="120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2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200">
                <a:ea typeface="함초롬바탕" panose="02030504000101010101" pitchFamily="18" charset="-127"/>
                <a:cs typeface="함초롬바탕" panose="02030504000101010101" pitchFamily="18" charset="-127"/>
              </a:rPr>
              <a:t>사용했던 자원들을 해체함</a:t>
            </a:r>
            <a:endParaRPr lang="en-US" altLang="ko-KR" sz="1500"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315760" y="6041362"/>
            <a:ext cx="512638" cy="365125"/>
          </a:xfrm>
        </p:spPr>
        <p:txBody>
          <a:bodyPr/>
          <a:lstStyle/>
          <a:p>
            <a:fld id="{B865D11B-3400-4576-B192-CBE694130FE7}" type="slidenum">
              <a:rPr lang="ko-KR" altLang="en-US" smtClean="0"/>
              <a:pPr/>
              <a:t>41</a:t>
            </a:fld>
            <a:endParaRPr lang="ko-KR" altLang="en-US"/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323528" y="370150"/>
            <a:ext cx="6447501" cy="610688"/>
          </a:xfrm>
        </p:spPr>
        <p:txBody>
          <a:bodyPr>
            <a:normAutofit fontScale="90000"/>
          </a:bodyPr>
          <a:lstStyle/>
          <a:p>
            <a:r>
              <a:rPr lang="en-US" altLang="ko-KR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Service</a:t>
            </a:r>
            <a:endParaRPr lang="ko-KR" altLang="en-US" b="1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4156613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196752"/>
            <a:ext cx="7273925" cy="3874052"/>
          </a:xfrm>
        </p:spPr>
        <p:txBody>
          <a:bodyPr>
            <a:normAutofit/>
          </a:bodyPr>
          <a:lstStyle/>
          <a:p>
            <a:pPr marL="257175" lvl="1" indent="-257175">
              <a:lnSpc>
                <a:spcPct val="150000"/>
              </a:lnSpc>
            </a:pPr>
            <a:r>
              <a:rPr lang="ko-KR" altLang="en-US" sz="1800" b="1">
                <a:ea typeface="함초롬바탕" panose="02030504000101010101" pitchFamily="18" charset="-127"/>
                <a:cs typeface="함초롬바탕" panose="02030504000101010101" pitchFamily="18" charset="-127"/>
              </a:rPr>
              <a:t>서비스 만들기</a:t>
            </a:r>
            <a:endParaRPr lang="en-US" altLang="ko-KR" sz="1800" b="1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1500">
                <a:ea typeface="함초롬바탕" panose="02030504000101010101" pitchFamily="18" charset="-127"/>
                <a:cs typeface="함초롬바탕" panose="02030504000101010101" pitchFamily="18" charset="-127"/>
              </a:rPr>
              <a:t>Ibinder onBind(Intent intent)</a:t>
            </a:r>
          </a:p>
          <a:p>
            <a:pPr lvl="2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200">
                <a:ea typeface="함초롬바탕" panose="02030504000101010101" pitchFamily="18" charset="-127"/>
                <a:cs typeface="함초롬바탕" panose="02030504000101010101" pitchFamily="18" charset="-127"/>
              </a:rPr>
              <a:t>다른 컴포넌트가 </a:t>
            </a:r>
            <a:r>
              <a:rPr lang="en-US" altLang="ko-KR" sz="1200">
                <a:ea typeface="함초롬바탕" panose="02030504000101010101" pitchFamily="18" charset="-127"/>
                <a:cs typeface="함초롬바탕" panose="02030504000101010101" pitchFamily="18" charset="-127"/>
              </a:rPr>
              <a:t>bindService()</a:t>
            </a:r>
            <a:r>
              <a:rPr lang="ko-KR" altLang="en-US" sz="1200">
                <a:ea typeface="함초롬바탕" panose="02030504000101010101" pitchFamily="18" charset="-127"/>
                <a:cs typeface="함초롬바탕" panose="02030504000101010101" pitchFamily="18" charset="-127"/>
              </a:rPr>
              <a:t>를 호출하여 본 서비스와 연결을 시도할 경우 호출됨</a:t>
            </a:r>
            <a:endParaRPr lang="en-US" altLang="ko-KR" sz="120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1500">
                <a:ea typeface="함초롬바탕" panose="02030504000101010101" pitchFamily="18" charset="-127"/>
                <a:cs typeface="함초롬바탕" panose="02030504000101010101" pitchFamily="18" charset="-127"/>
              </a:rPr>
              <a:t>onStartCommand(Intent intent, int flags, int startId)</a:t>
            </a:r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315760" y="6041362"/>
            <a:ext cx="512638" cy="365125"/>
          </a:xfrm>
        </p:spPr>
        <p:txBody>
          <a:bodyPr/>
          <a:lstStyle/>
          <a:p>
            <a:fld id="{B865D11B-3400-4576-B192-CBE694130FE7}" type="slidenum">
              <a:rPr lang="ko-KR" altLang="en-US" smtClean="0"/>
              <a:pPr/>
              <a:t>42</a:t>
            </a:fld>
            <a:endParaRPr lang="ko-KR" altLang="en-US"/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323528" y="370150"/>
            <a:ext cx="6447501" cy="610688"/>
          </a:xfrm>
        </p:spPr>
        <p:txBody>
          <a:bodyPr>
            <a:normAutofit fontScale="90000"/>
          </a:bodyPr>
          <a:lstStyle/>
          <a:p>
            <a:r>
              <a:rPr lang="en-US" altLang="ko-KR" b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Service</a:t>
            </a:r>
            <a:endParaRPr lang="ko-KR" altLang="en-US" b="1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4087721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124744"/>
            <a:ext cx="7273925" cy="3874052"/>
          </a:xfrm>
        </p:spPr>
        <p:txBody>
          <a:bodyPr>
            <a:normAutofit/>
          </a:bodyPr>
          <a:lstStyle/>
          <a:p>
            <a:pPr marL="257175" lvl="1" indent="-257175">
              <a:lnSpc>
                <a:spcPct val="150000"/>
              </a:lnSpc>
            </a:pPr>
            <a:r>
              <a:rPr lang="ko-KR" altLang="en-US" sz="1800" b="1">
                <a:ea typeface="함초롬바탕" panose="02030504000101010101" pitchFamily="18" charset="-127"/>
                <a:cs typeface="함초롬바탕" panose="02030504000101010101" pitchFamily="18" charset="-127"/>
              </a:rPr>
              <a:t>서비스 관리</a:t>
            </a:r>
            <a:endParaRPr lang="en-US" altLang="ko-KR" sz="1800" b="1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1500">
                <a:ea typeface="함초롬바탕" panose="02030504000101010101" pitchFamily="18" charset="-127"/>
                <a:cs typeface="함초롬바탕" panose="02030504000101010101" pitchFamily="18" charset="-127"/>
              </a:rPr>
              <a:t>MainActivity</a:t>
            </a:r>
            <a:r>
              <a:rPr lang="ko-KR" altLang="en-US" sz="1500">
                <a:ea typeface="함초롬바탕" panose="02030504000101010101" pitchFamily="18" charset="-127"/>
                <a:cs typeface="함초롬바탕" panose="02030504000101010101" pitchFamily="18" charset="-127"/>
              </a:rPr>
              <a:t>에서 서비스를 시작 및 중지함</a:t>
            </a:r>
            <a:endParaRPr lang="en-US" altLang="ko-KR" sz="150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1500">
                <a:ea typeface="함초롬바탕" panose="02030504000101010101" pitchFamily="18" charset="-127"/>
                <a:cs typeface="함초롬바탕" panose="02030504000101010101" pitchFamily="18" charset="-127"/>
              </a:rPr>
              <a:t>서비스 시작하기</a:t>
            </a:r>
            <a:endParaRPr lang="en-US" altLang="ko-KR" sz="150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endParaRPr lang="en-US" altLang="ko-KR" sz="150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1500">
                <a:ea typeface="함초롬바탕" panose="02030504000101010101" pitchFamily="18" charset="-127"/>
                <a:cs typeface="함초롬바탕" panose="02030504000101010101" pitchFamily="18" charset="-127"/>
              </a:rPr>
              <a:t>서비스 중지하기</a:t>
            </a:r>
            <a:endParaRPr lang="en-US" altLang="ko-KR" sz="150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endParaRPr lang="en-US" altLang="ko-KR" sz="150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1500">
                <a:ea typeface="함초롬바탕" panose="02030504000101010101" pitchFamily="18" charset="-127"/>
                <a:cs typeface="함초롬바탕" panose="02030504000101010101" pitchFamily="18" charset="-127"/>
              </a:rPr>
              <a:t>서비스 스스로 종료하기</a:t>
            </a:r>
            <a:endParaRPr lang="en-US" altLang="ko-KR" sz="1500"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3922" y="2518687"/>
            <a:ext cx="4365485" cy="3240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3922" y="3427729"/>
            <a:ext cx="4238741" cy="3240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1055" y="4569182"/>
            <a:ext cx="4264474" cy="432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315760" y="6041362"/>
            <a:ext cx="512638" cy="365125"/>
          </a:xfrm>
        </p:spPr>
        <p:txBody>
          <a:bodyPr/>
          <a:lstStyle/>
          <a:p>
            <a:fld id="{B865D11B-3400-4576-B192-CBE694130FE7}" type="slidenum">
              <a:rPr lang="ko-KR" altLang="en-US" smtClean="0"/>
              <a:pPr/>
              <a:t>43</a:t>
            </a:fld>
            <a:endParaRPr lang="ko-KR" altLang="en-US"/>
          </a:p>
        </p:txBody>
      </p:sp>
      <p:sp>
        <p:nvSpPr>
          <p:cNvPr id="9" name="제목 1"/>
          <p:cNvSpPr>
            <a:spLocks noGrp="1"/>
          </p:cNvSpPr>
          <p:nvPr>
            <p:ph type="title"/>
          </p:nvPr>
        </p:nvSpPr>
        <p:spPr>
          <a:xfrm>
            <a:off x="323528" y="370150"/>
            <a:ext cx="6447501" cy="610688"/>
          </a:xfrm>
        </p:spPr>
        <p:txBody>
          <a:bodyPr>
            <a:normAutofit fontScale="90000"/>
          </a:bodyPr>
          <a:lstStyle/>
          <a:p>
            <a:r>
              <a:rPr lang="en-US" altLang="ko-KR" b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Service</a:t>
            </a:r>
            <a:endParaRPr lang="ko-KR" altLang="en-US" b="1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8953193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315760" y="6041362"/>
            <a:ext cx="512638" cy="365125"/>
          </a:xfrm>
        </p:spPr>
        <p:txBody>
          <a:bodyPr/>
          <a:lstStyle/>
          <a:p>
            <a:fld id="{B865D11B-3400-4576-B192-CBE694130FE7}" type="slidenum">
              <a:rPr lang="ko-KR" altLang="en-US" smtClean="0"/>
              <a:pPr/>
              <a:t>44</a:t>
            </a:fld>
            <a:endParaRPr lang="ko-KR" altLang="en-US"/>
          </a:p>
        </p:txBody>
      </p:sp>
      <p:sp>
        <p:nvSpPr>
          <p:cNvPr id="10" name="제목 1"/>
          <p:cNvSpPr>
            <a:spLocks noGrp="1"/>
          </p:cNvSpPr>
          <p:nvPr>
            <p:ph type="title"/>
          </p:nvPr>
        </p:nvSpPr>
        <p:spPr>
          <a:xfrm>
            <a:off x="323528" y="370150"/>
            <a:ext cx="6447501" cy="610688"/>
          </a:xfrm>
        </p:spPr>
        <p:txBody>
          <a:bodyPr>
            <a:normAutofit fontScale="90000"/>
          </a:bodyPr>
          <a:lstStyle/>
          <a:p>
            <a:r>
              <a:rPr lang="en-US" altLang="ko-KR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Service </a:t>
            </a:r>
            <a:r>
              <a:rPr lang="ko-KR" altLang="en-US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예제</a:t>
            </a: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988840"/>
            <a:ext cx="6984776" cy="4523116"/>
          </a:xfrm>
          <a:prstGeom prst="rect">
            <a:avLst/>
          </a:prstGeom>
        </p:spPr>
      </p:pic>
      <p:sp>
        <p:nvSpPr>
          <p:cNvPr id="15" name="내용 개체 틀 2"/>
          <p:cNvSpPr>
            <a:spLocks noGrp="1"/>
          </p:cNvSpPr>
          <p:nvPr>
            <p:ph idx="1"/>
          </p:nvPr>
        </p:nvSpPr>
        <p:spPr>
          <a:xfrm>
            <a:off x="539552" y="980838"/>
            <a:ext cx="7273925" cy="1152018"/>
          </a:xfrm>
        </p:spPr>
        <p:txBody>
          <a:bodyPr>
            <a:normAutofit/>
          </a:bodyPr>
          <a:lstStyle/>
          <a:p>
            <a:pPr marL="257175" lvl="1" indent="-257175">
              <a:lnSpc>
                <a:spcPct val="150000"/>
              </a:lnSpc>
            </a:pPr>
            <a:r>
              <a:rPr lang="ko-KR" altLang="en-US" sz="1800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예제 코드 </a:t>
            </a:r>
            <a:r>
              <a:rPr lang="en-US" altLang="ko-KR" sz="1350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(ServiceThread.java) </a:t>
            </a:r>
          </a:p>
          <a:p>
            <a:pPr marL="657225" lvl="2" indent="-257175">
              <a:lnSpc>
                <a:spcPct val="150000"/>
              </a:lnSpc>
            </a:pPr>
            <a:r>
              <a:rPr lang="en-US" altLang="ko-KR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Class</a:t>
            </a:r>
            <a:r>
              <a:rPr lang="ko-KR" altLang="en-US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를 따로 생성 </a:t>
            </a:r>
            <a:r>
              <a:rPr lang="en-US" altLang="ko-KR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(</a:t>
            </a:r>
            <a:r>
              <a:rPr lang="ko-KR" altLang="en-US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프로젝트 마우스 오른쪽 클릭 </a:t>
            </a:r>
            <a:r>
              <a:rPr lang="en-US" altLang="ko-KR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-&gt; New -&gt; Java Class)</a:t>
            </a:r>
          </a:p>
        </p:txBody>
      </p:sp>
    </p:spTree>
    <p:extLst>
      <p:ext uri="{BB962C8B-B14F-4D97-AF65-F5344CB8AC3E}">
        <p14:creationId xmlns:p14="http://schemas.microsoft.com/office/powerpoint/2010/main" val="39661881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36655" y="914167"/>
            <a:ext cx="7273925" cy="568877"/>
          </a:xfrm>
        </p:spPr>
        <p:txBody>
          <a:bodyPr>
            <a:normAutofit/>
          </a:bodyPr>
          <a:lstStyle/>
          <a:p>
            <a:pPr marL="257175" lvl="1" indent="-257175">
              <a:lnSpc>
                <a:spcPct val="150000"/>
              </a:lnSpc>
            </a:pPr>
            <a:r>
              <a:rPr lang="ko-KR" altLang="en-US" sz="1800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서비스 만들기</a:t>
            </a:r>
            <a:endParaRPr lang="en-US" altLang="ko-KR" sz="1800" b="1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grpSp>
        <p:nvGrpSpPr>
          <p:cNvPr id="9" name="그룹 8"/>
          <p:cNvGrpSpPr/>
          <p:nvPr/>
        </p:nvGrpSpPr>
        <p:grpSpPr>
          <a:xfrm>
            <a:off x="311623" y="1458600"/>
            <a:ext cx="8707345" cy="5092494"/>
            <a:chOff x="467544" y="1834555"/>
            <a:chExt cx="8182227" cy="4706649"/>
          </a:xfrm>
        </p:grpSpPr>
        <p:pic>
          <p:nvPicPr>
            <p:cNvPr id="10" name="Picture 2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6497" b="15955"/>
            <a:stretch/>
          </p:blipFill>
          <p:spPr bwMode="auto">
            <a:xfrm>
              <a:off x="467544" y="1867694"/>
              <a:ext cx="6043359" cy="3521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1" name="직사각형 10"/>
            <p:cNvSpPr/>
            <p:nvPr/>
          </p:nvSpPr>
          <p:spPr>
            <a:xfrm>
              <a:off x="1172766" y="2161431"/>
              <a:ext cx="1224136" cy="108012"/>
            </a:xfrm>
            <a:prstGeom prst="rect">
              <a:avLst/>
            </a:prstGeom>
            <a:noFill/>
            <a:ln w="29591" cmpd="sng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2574826" y="3484687"/>
              <a:ext cx="1800200" cy="108012"/>
            </a:xfrm>
            <a:prstGeom prst="rect">
              <a:avLst/>
            </a:prstGeom>
            <a:noFill/>
            <a:ln w="29591" cmpd="sng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pic>
          <p:nvPicPr>
            <p:cNvPr id="13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95936" y="3789040"/>
              <a:ext cx="4464496" cy="27521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4" name="오른쪽 화살표 13"/>
            <p:cNvSpPr/>
            <p:nvPr/>
          </p:nvSpPr>
          <p:spPr>
            <a:xfrm>
              <a:off x="3347864" y="4581129"/>
              <a:ext cx="504056" cy="648072"/>
            </a:xfrm>
            <a:prstGeom prst="rightArrow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pic>
          <p:nvPicPr>
            <p:cNvPr id="15" name="Picture 3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884" t="66895" r="29637"/>
            <a:stretch/>
          </p:blipFill>
          <p:spPr bwMode="auto">
            <a:xfrm>
              <a:off x="6732240" y="1834555"/>
              <a:ext cx="1917531" cy="109568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16" name="직선 연결선 15"/>
            <p:cNvCxnSpPr/>
            <p:nvPr/>
          </p:nvCxnSpPr>
          <p:spPr>
            <a:xfrm flipV="1">
              <a:off x="4788024" y="1834555"/>
              <a:ext cx="1944216" cy="2746574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/>
            <p:cNvCxnSpPr/>
            <p:nvPr/>
          </p:nvCxnSpPr>
          <p:spPr>
            <a:xfrm flipV="1">
              <a:off x="4788024" y="2930242"/>
              <a:ext cx="3816424" cy="1650887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315760" y="6041362"/>
            <a:ext cx="512638" cy="365125"/>
          </a:xfrm>
        </p:spPr>
        <p:txBody>
          <a:bodyPr/>
          <a:lstStyle/>
          <a:p>
            <a:fld id="{B865D11B-3400-4576-B192-CBE694130FE7}" type="slidenum">
              <a:rPr lang="ko-KR" altLang="en-US" smtClean="0"/>
              <a:pPr/>
              <a:t>45</a:t>
            </a:fld>
            <a:endParaRPr lang="ko-KR" altLang="en-US"/>
          </a:p>
        </p:txBody>
      </p:sp>
      <p:sp>
        <p:nvSpPr>
          <p:cNvPr id="19" name="제목 1"/>
          <p:cNvSpPr>
            <a:spLocks noGrp="1"/>
          </p:cNvSpPr>
          <p:nvPr>
            <p:ph type="title"/>
          </p:nvPr>
        </p:nvSpPr>
        <p:spPr>
          <a:xfrm>
            <a:off x="323528" y="370150"/>
            <a:ext cx="6447501" cy="610688"/>
          </a:xfrm>
        </p:spPr>
        <p:txBody>
          <a:bodyPr>
            <a:normAutofit fontScale="90000"/>
          </a:bodyPr>
          <a:lstStyle/>
          <a:p>
            <a:r>
              <a:rPr lang="en-US" altLang="ko-KR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Service </a:t>
            </a:r>
            <a:r>
              <a:rPr lang="ko-KR" altLang="en-US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예제</a:t>
            </a:r>
          </a:p>
        </p:txBody>
      </p:sp>
    </p:spTree>
    <p:extLst>
      <p:ext uri="{BB962C8B-B14F-4D97-AF65-F5344CB8AC3E}">
        <p14:creationId xmlns:p14="http://schemas.microsoft.com/office/powerpoint/2010/main" val="36098534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980838"/>
            <a:ext cx="7273925" cy="540302"/>
          </a:xfrm>
        </p:spPr>
        <p:txBody>
          <a:bodyPr>
            <a:normAutofit/>
          </a:bodyPr>
          <a:lstStyle/>
          <a:p>
            <a:pPr marL="257175" lvl="1" indent="-257175">
              <a:lnSpc>
                <a:spcPct val="150000"/>
              </a:lnSpc>
            </a:pPr>
            <a:r>
              <a:rPr lang="ko-KR" altLang="en-US" sz="1800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예제 코드 </a:t>
            </a:r>
            <a:r>
              <a:rPr lang="en-US" altLang="ko-KR" sz="1350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(MyService.java)</a:t>
            </a:r>
          </a:p>
        </p:txBody>
      </p:sp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323528" y="370150"/>
            <a:ext cx="6447501" cy="610688"/>
          </a:xfrm>
        </p:spPr>
        <p:txBody>
          <a:bodyPr>
            <a:normAutofit fontScale="90000"/>
          </a:bodyPr>
          <a:lstStyle/>
          <a:p>
            <a:r>
              <a:rPr lang="en-US" altLang="ko-KR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Service </a:t>
            </a:r>
            <a:r>
              <a:rPr lang="ko-KR" altLang="en-US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예제</a:t>
            </a:r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315760" y="6041362"/>
            <a:ext cx="512638" cy="365125"/>
          </a:xfrm>
        </p:spPr>
        <p:txBody>
          <a:bodyPr/>
          <a:lstStyle/>
          <a:p>
            <a:fld id="{B865D11B-3400-4576-B192-CBE694130FE7}" type="slidenum">
              <a:rPr lang="ko-KR" altLang="en-US" smtClean="0">
                <a:solidFill>
                  <a:schemeClr val="bg2">
                    <a:lumMod val="10000"/>
                  </a:schemeClr>
                </a:solidFill>
              </a:rPr>
              <a:pPr/>
              <a:t>46</a:t>
            </a:fld>
            <a:endParaRPr lang="ko-KR" altLang="en-US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1728123"/>
            <a:ext cx="7416824" cy="4654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38479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315760" y="6041362"/>
            <a:ext cx="512638" cy="365125"/>
          </a:xfrm>
        </p:spPr>
        <p:txBody>
          <a:bodyPr/>
          <a:lstStyle/>
          <a:p>
            <a:fld id="{B865D11B-3400-4576-B192-CBE694130FE7}" type="slidenum">
              <a:rPr lang="ko-KR" altLang="en-US" smtClean="0">
                <a:solidFill>
                  <a:schemeClr val="bg2">
                    <a:lumMod val="10000"/>
                  </a:schemeClr>
                </a:solidFill>
              </a:rPr>
              <a:pPr/>
              <a:t>47</a:t>
            </a:fld>
            <a:endParaRPr lang="ko-KR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5" name="제목 1"/>
          <p:cNvSpPr>
            <a:spLocks noGrp="1"/>
          </p:cNvSpPr>
          <p:nvPr>
            <p:ph type="title"/>
          </p:nvPr>
        </p:nvSpPr>
        <p:spPr>
          <a:xfrm>
            <a:off x="323528" y="370150"/>
            <a:ext cx="6447501" cy="610688"/>
          </a:xfrm>
        </p:spPr>
        <p:txBody>
          <a:bodyPr>
            <a:normAutofit fontScale="90000"/>
          </a:bodyPr>
          <a:lstStyle/>
          <a:p>
            <a:r>
              <a:rPr lang="en-US" altLang="ko-KR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Service </a:t>
            </a:r>
            <a:r>
              <a:rPr lang="ko-KR" altLang="en-US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예제</a:t>
            </a:r>
          </a:p>
        </p:txBody>
      </p:sp>
      <p:sp>
        <p:nvSpPr>
          <p:cNvPr id="16" name="내용 개체 틀 2"/>
          <p:cNvSpPr>
            <a:spLocks noGrp="1"/>
          </p:cNvSpPr>
          <p:nvPr>
            <p:ph idx="1"/>
          </p:nvPr>
        </p:nvSpPr>
        <p:spPr>
          <a:xfrm>
            <a:off x="444500" y="935039"/>
            <a:ext cx="7273925" cy="693762"/>
          </a:xfrm>
        </p:spPr>
        <p:txBody>
          <a:bodyPr>
            <a:normAutofit/>
          </a:bodyPr>
          <a:lstStyle/>
          <a:p>
            <a:pPr marL="257175" lvl="1" indent="-257175">
              <a:lnSpc>
                <a:spcPct val="150000"/>
              </a:lnSpc>
            </a:pPr>
            <a:r>
              <a:rPr lang="ko-KR" altLang="en-US" sz="1800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예제 코드 </a:t>
            </a:r>
            <a:r>
              <a:rPr lang="en-US" altLang="ko-KR" sz="1350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(activity_main.xml)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628801"/>
            <a:ext cx="6552728" cy="4780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27654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315760" y="6041362"/>
            <a:ext cx="512638" cy="365125"/>
          </a:xfrm>
        </p:spPr>
        <p:txBody>
          <a:bodyPr/>
          <a:lstStyle/>
          <a:p>
            <a:fld id="{B865D11B-3400-4576-B192-CBE694130FE7}" type="slidenum">
              <a:rPr lang="ko-KR" altLang="en-US" smtClean="0">
                <a:solidFill>
                  <a:schemeClr val="bg2">
                    <a:lumMod val="10000"/>
                  </a:schemeClr>
                </a:solidFill>
              </a:rPr>
              <a:pPr/>
              <a:t>48</a:t>
            </a:fld>
            <a:endParaRPr lang="ko-KR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5" name="제목 1"/>
          <p:cNvSpPr>
            <a:spLocks noGrp="1"/>
          </p:cNvSpPr>
          <p:nvPr>
            <p:ph type="title"/>
          </p:nvPr>
        </p:nvSpPr>
        <p:spPr>
          <a:xfrm>
            <a:off x="323528" y="370150"/>
            <a:ext cx="6447501" cy="610688"/>
          </a:xfrm>
        </p:spPr>
        <p:txBody>
          <a:bodyPr>
            <a:normAutofit fontScale="90000"/>
          </a:bodyPr>
          <a:lstStyle/>
          <a:p>
            <a:r>
              <a:rPr lang="en-US" altLang="ko-KR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Service </a:t>
            </a:r>
            <a:r>
              <a:rPr lang="ko-KR" altLang="en-US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예제</a:t>
            </a: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1628801"/>
            <a:ext cx="6840760" cy="4938188"/>
          </a:xfrm>
          <a:prstGeom prst="rect">
            <a:avLst/>
          </a:prstGeom>
        </p:spPr>
      </p:pic>
      <p:sp>
        <p:nvSpPr>
          <p:cNvPr id="16" name="내용 개체 틀 2"/>
          <p:cNvSpPr>
            <a:spLocks noGrp="1"/>
          </p:cNvSpPr>
          <p:nvPr>
            <p:ph idx="1"/>
          </p:nvPr>
        </p:nvSpPr>
        <p:spPr>
          <a:xfrm>
            <a:off x="444500" y="935039"/>
            <a:ext cx="7273925" cy="693762"/>
          </a:xfrm>
        </p:spPr>
        <p:txBody>
          <a:bodyPr>
            <a:normAutofit/>
          </a:bodyPr>
          <a:lstStyle/>
          <a:p>
            <a:pPr marL="257175" lvl="1" indent="-257175">
              <a:lnSpc>
                <a:spcPct val="150000"/>
              </a:lnSpc>
            </a:pPr>
            <a:r>
              <a:rPr lang="ko-KR" altLang="en-US" sz="1800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예제 코드 </a:t>
            </a:r>
            <a:r>
              <a:rPr lang="en-US" altLang="ko-KR" sz="1350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(MainActivity.java)</a:t>
            </a:r>
          </a:p>
        </p:txBody>
      </p:sp>
    </p:spTree>
    <p:extLst>
      <p:ext uri="{BB962C8B-B14F-4D97-AF65-F5344CB8AC3E}">
        <p14:creationId xmlns:p14="http://schemas.microsoft.com/office/powerpoint/2010/main" val="222112772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43960" y="935050"/>
            <a:ext cx="7273925" cy="902493"/>
          </a:xfrm>
        </p:spPr>
        <p:txBody>
          <a:bodyPr>
            <a:normAutofit/>
          </a:bodyPr>
          <a:lstStyle/>
          <a:p>
            <a:pPr marL="257175" lvl="1" indent="-257175"/>
            <a:r>
              <a:rPr lang="ko-KR" altLang="en-US" sz="1800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실행 결과</a:t>
            </a:r>
            <a:endParaRPr lang="en-US" altLang="ko-KR" sz="1800" b="1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>
              <a:buClr>
                <a:srgbClr val="5FCBEF"/>
              </a:buClr>
              <a:buFont typeface="Wingdings" pitchFamily="2" charset="2"/>
              <a:buChar char="§"/>
            </a:pPr>
            <a:r>
              <a:rPr lang="ko-KR" altLang="en-US" sz="1500" dirty="0">
                <a:solidFill>
                  <a:prstClr val="black">
                    <a:lumMod val="75000"/>
                    <a:lumOff val="25000"/>
                  </a:prstClr>
                </a:solidFill>
                <a:ea typeface="함초롬바탕" panose="02030504000101010101" pitchFamily="18" charset="-127"/>
                <a:cs typeface="함초롬바탕" panose="02030504000101010101" pitchFamily="18" charset="-127"/>
              </a:rPr>
              <a:t>서비스는 어플리케이션을 종료하더라도 토스트 메시지를 띄움</a:t>
            </a:r>
            <a:endParaRPr lang="en-US" altLang="ko-KR" sz="1500" dirty="0">
              <a:solidFill>
                <a:prstClr val="black">
                  <a:lumMod val="75000"/>
                  <a:lumOff val="25000"/>
                </a:prstClr>
              </a:solidFill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14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315760" y="6041362"/>
            <a:ext cx="512638" cy="365125"/>
          </a:xfrm>
        </p:spPr>
        <p:txBody>
          <a:bodyPr/>
          <a:lstStyle/>
          <a:p>
            <a:fld id="{B865D11B-3400-4576-B192-CBE694130FE7}" type="slidenum">
              <a:rPr lang="ko-KR" altLang="en-US" smtClean="0">
                <a:solidFill>
                  <a:schemeClr val="bg2">
                    <a:lumMod val="10000"/>
                  </a:schemeClr>
                </a:solidFill>
              </a:rPr>
              <a:pPr/>
              <a:t>49</a:t>
            </a:fld>
            <a:endParaRPr lang="ko-KR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5" name="제목 1"/>
          <p:cNvSpPr>
            <a:spLocks noGrp="1"/>
          </p:cNvSpPr>
          <p:nvPr>
            <p:ph type="title"/>
          </p:nvPr>
        </p:nvSpPr>
        <p:spPr>
          <a:xfrm>
            <a:off x="323528" y="370150"/>
            <a:ext cx="6447501" cy="610688"/>
          </a:xfrm>
        </p:spPr>
        <p:txBody>
          <a:bodyPr>
            <a:normAutofit fontScale="90000"/>
          </a:bodyPr>
          <a:lstStyle/>
          <a:p>
            <a:r>
              <a:rPr lang="en-US" altLang="ko-KR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Service </a:t>
            </a:r>
            <a:r>
              <a:rPr lang="ko-KR" altLang="en-US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예제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0252" y="2132855"/>
            <a:ext cx="2355463" cy="375675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2200" y="2132855"/>
            <a:ext cx="2340914" cy="3691617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528" y="2132855"/>
            <a:ext cx="2160240" cy="3704085"/>
          </a:xfrm>
          <a:prstGeom prst="rect">
            <a:avLst/>
          </a:prstGeom>
        </p:spPr>
      </p:pic>
      <p:sp>
        <p:nvSpPr>
          <p:cNvPr id="7" name="오른쪽 화살표 6"/>
          <p:cNvSpPr/>
          <p:nvPr/>
        </p:nvSpPr>
        <p:spPr>
          <a:xfrm>
            <a:off x="2632450" y="3726852"/>
            <a:ext cx="432048" cy="576064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오른쪽 화살표 11"/>
          <p:cNvSpPr/>
          <p:nvPr/>
        </p:nvSpPr>
        <p:spPr>
          <a:xfrm>
            <a:off x="5791469" y="3723201"/>
            <a:ext cx="432048" cy="576064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685049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sz="5400" b="1"/>
              <a:t>Alarm</a:t>
            </a:r>
            <a:endParaRPr lang="ko-KR" altLang="en-US" sz="5400" b="1" dirty="0"/>
          </a:p>
        </p:txBody>
      </p:sp>
    </p:spTree>
    <p:extLst>
      <p:ext uri="{BB962C8B-B14F-4D97-AF65-F5344CB8AC3E}">
        <p14:creationId xmlns:p14="http://schemas.microsoft.com/office/powerpoint/2010/main" val="357877359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67544" y="1196752"/>
            <a:ext cx="8064896" cy="351210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미리 정한 시점에 지정된 시간 간격에 따라 특정 작업을 수행시키는 기능</a:t>
            </a:r>
            <a:endParaRPr lang="en-US" altLang="ko-KR" b="1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일종의 서비스로서 어플리케이션과 독립적으로 동작</a:t>
            </a:r>
            <a:endParaRPr lang="en-US" altLang="ko-KR" b="1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15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어플리케이션이 종료된 후에도 </a:t>
            </a:r>
            <a:r>
              <a:rPr lang="ko-KR" altLang="en-US" sz="1500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알람은</a:t>
            </a:r>
            <a:r>
              <a:rPr lang="ko-KR" altLang="en-US" sz="15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 죽지 않음</a:t>
            </a:r>
            <a:endParaRPr lang="en-US" altLang="ko-KR" sz="15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Device</a:t>
            </a:r>
            <a:r>
              <a:rPr lang="ko-KR" altLang="en-US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가 재부팅 되면 모든 </a:t>
            </a:r>
            <a:r>
              <a:rPr lang="ko-KR" altLang="en-US" b="1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알람은</a:t>
            </a:r>
            <a:r>
              <a:rPr lang="ko-KR" altLang="en-US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 취소됨</a:t>
            </a:r>
            <a:endParaRPr lang="en-US" altLang="ko-KR" b="1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15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315760" y="6041362"/>
            <a:ext cx="512638" cy="365125"/>
          </a:xfrm>
        </p:spPr>
        <p:txBody>
          <a:bodyPr/>
          <a:lstStyle/>
          <a:p>
            <a:fld id="{B865D11B-3400-4576-B192-CBE694130FE7}" type="slidenum">
              <a:rPr lang="ko-KR" altLang="en-US" smtClean="0"/>
              <a:pPr/>
              <a:t>51</a:t>
            </a:fld>
            <a:endParaRPr lang="ko-KR" altLang="en-US"/>
          </a:p>
        </p:txBody>
      </p:sp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323528" y="370150"/>
            <a:ext cx="6447501" cy="610688"/>
          </a:xfrm>
        </p:spPr>
        <p:txBody>
          <a:bodyPr>
            <a:normAutofit fontScale="90000"/>
          </a:bodyPr>
          <a:lstStyle/>
          <a:p>
            <a:r>
              <a:rPr lang="en-US" altLang="ko-KR" b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Alarm</a:t>
            </a:r>
            <a:endParaRPr lang="ko-KR" altLang="en-US" b="1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8781553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124744"/>
            <a:ext cx="7626350" cy="3940727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altLang="ko-KR" b="1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AlarmManager</a:t>
            </a:r>
            <a:endParaRPr lang="en-US" altLang="ko-KR" b="1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1500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알람을</a:t>
            </a:r>
            <a:r>
              <a:rPr lang="ko-KR" altLang="en-US" sz="15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 발생시키거나</a:t>
            </a:r>
            <a:r>
              <a:rPr lang="en-US" altLang="ko-KR" sz="15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sz="15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취소할 수 있는 클래스</a:t>
            </a:r>
            <a:endParaRPr lang="en-US" altLang="ko-KR" sz="15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15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관련 </a:t>
            </a:r>
            <a:r>
              <a:rPr lang="en-US" altLang="ko-KR" sz="15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Methods</a:t>
            </a:r>
          </a:p>
          <a:p>
            <a:pPr lvl="2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35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set </a:t>
            </a:r>
            <a:r>
              <a:rPr lang="en-US" altLang="ko-KR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(</a:t>
            </a:r>
            <a:r>
              <a:rPr lang="en-US" altLang="ko-KR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int</a:t>
            </a:r>
            <a:r>
              <a:rPr lang="en-US" altLang="ko-KR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 type, long </a:t>
            </a:r>
            <a:r>
              <a:rPr lang="en-US" altLang="ko-KR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triggerAtTime</a:t>
            </a:r>
            <a:r>
              <a:rPr lang="en-US" altLang="ko-KR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  <a:r>
              <a:rPr lang="en-US" altLang="ko-KR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PendingIntent</a:t>
            </a:r>
            <a:r>
              <a:rPr lang="en-US" altLang="ko-KR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 operation)</a:t>
            </a:r>
          </a:p>
          <a:p>
            <a:pPr marL="685800" lvl="2" indent="0">
              <a:lnSpc>
                <a:spcPct val="150000"/>
              </a:lnSpc>
              <a:buNone/>
            </a:pPr>
            <a:r>
              <a:rPr lang="en-US" altLang="ko-KR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	</a:t>
            </a:r>
            <a:r>
              <a:rPr lang="ko-KR" altLang="en-US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일회성 </a:t>
            </a:r>
            <a:r>
              <a:rPr lang="ko-KR" altLang="en-US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알람을</a:t>
            </a:r>
            <a:r>
              <a:rPr lang="ko-KR" altLang="en-US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 발생시키는 </a:t>
            </a:r>
            <a:r>
              <a:rPr lang="en-US" altLang="ko-KR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Method</a:t>
            </a:r>
          </a:p>
          <a:p>
            <a:pPr lvl="2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350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setRepeating</a:t>
            </a:r>
            <a:r>
              <a:rPr lang="en-US" altLang="ko-KR" sz="135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en-US" altLang="ko-KR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(</a:t>
            </a:r>
            <a:r>
              <a:rPr lang="en-US" altLang="ko-KR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int</a:t>
            </a:r>
            <a:r>
              <a:rPr lang="en-US" altLang="ko-KR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 type, long </a:t>
            </a:r>
            <a:r>
              <a:rPr lang="en-US" altLang="ko-KR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triggerAtTime</a:t>
            </a:r>
            <a:r>
              <a:rPr lang="en-US" altLang="ko-KR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, long interval, </a:t>
            </a:r>
            <a:r>
              <a:rPr lang="en-US" altLang="ko-KR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PendingIntent</a:t>
            </a:r>
            <a:r>
              <a:rPr lang="en-US" altLang="ko-KR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 operation)</a:t>
            </a:r>
            <a:endParaRPr lang="en-US" altLang="ko-KR" sz="15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685800" lvl="2" indent="0">
              <a:lnSpc>
                <a:spcPct val="150000"/>
              </a:lnSpc>
              <a:buNone/>
            </a:pPr>
            <a:r>
              <a:rPr lang="en-US" altLang="ko-KR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	</a:t>
            </a:r>
            <a:r>
              <a:rPr lang="ko-KR" altLang="en-US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반복적인 </a:t>
            </a:r>
            <a:r>
              <a:rPr lang="ko-KR" altLang="en-US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알람을</a:t>
            </a:r>
            <a:r>
              <a:rPr lang="ko-KR" altLang="en-US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 발생시키는 </a:t>
            </a:r>
            <a:r>
              <a:rPr lang="en-US" altLang="ko-KR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Method</a:t>
            </a:r>
          </a:p>
          <a:p>
            <a:pPr marL="685800" lvl="2" indent="0">
              <a:lnSpc>
                <a:spcPct val="150000"/>
              </a:lnSpc>
              <a:buNone/>
            </a:pPr>
            <a:r>
              <a:rPr lang="en-US" altLang="ko-KR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	long interval</a:t>
            </a:r>
            <a:r>
              <a:rPr lang="ko-KR" altLang="en-US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에 입력된 시간만큼 반복하여 </a:t>
            </a:r>
            <a:r>
              <a:rPr lang="ko-KR" altLang="en-US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알람을</a:t>
            </a:r>
            <a:r>
              <a:rPr lang="ko-KR" altLang="en-US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 수행</a:t>
            </a:r>
            <a:endParaRPr lang="en-US" altLang="ko-KR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315760" y="6041362"/>
            <a:ext cx="512638" cy="365125"/>
          </a:xfrm>
        </p:spPr>
        <p:txBody>
          <a:bodyPr/>
          <a:lstStyle/>
          <a:p>
            <a:fld id="{B865D11B-3400-4576-B192-CBE694130FE7}" type="slidenum">
              <a:rPr lang="ko-KR" altLang="en-US" smtClean="0"/>
              <a:pPr/>
              <a:t>52</a:t>
            </a:fld>
            <a:endParaRPr lang="ko-KR" altLang="en-US"/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323528" y="370150"/>
            <a:ext cx="6447501" cy="610688"/>
          </a:xfrm>
        </p:spPr>
        <p:txBody>
          <a:bodyPr>
            <a:normAutofit fontScale="90000"/>
          </a:bodyPr>
          <a:lstStyle/>
          <a:p>
            <a:r>
              <a:rPr lang="en-US" altLang="ko-KR" b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Alarm</a:t>
            </a:r>
            <a:endParaRPr lang="ko-KR" altLang="en-US" b="1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824143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196752"/>
            <a:ext cx="7626350" cy="3940727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1800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setInexactRepeating</a:t>
            </a:r>
            <a:r>
              <a:rPr lang="en-US" altLang="ko-KR" sz="18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 (</a:t>
            </a:r>
            <a:r>
              <a:rPr lang="en-US" altLang="ko-KR" sz="1800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int</a:t>
            </a:r>
            <a:r>
              <a:rPr lang="en-US" altLang="ko-KR" sz="18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 type, long </a:t>
            </a:r>
            <a:r>
              <a:rPr lang="en-US" altLang="ko-KR" sz="1800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triggerAtTime</a:t>
            </a:r>
            <a:r>
              <a:rPr lang="en-US" altLang="ko-KR" sz="18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, long interval, </a:t>
            </a:r>
            <a:r>
              <a:rPr lang="en-US" altLang="ko-KR" sz="1800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PendingIntent</a:t>
            </a:r>
            <a:r>
              <a:rPr lang="en-US" altLang="ko-KR" sz="18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 operation)</a:t>
            </a:r>
          </a:p>
          <a:p>
            <a:pPr marL="685800" lvl="2" indent="0">
              <a:lnSpc>
                <a:spcPct val="150000"/>
              </a:lnSpc>
              <a:buNone/>
            </a:pPr>
            <a:r>
              <a:rPr lang="en-US" altLang="ko-KR" sz="1500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AlarmManager</a:t>
            </a:r>
            <a:r>
              <a:rPr lang="ko-KR" altLang="en-US" sz="15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에 정의된 상수 중 하나를 사용하여 반복된 </a:t>
            </a:r>
            <a:r>
              <a:rPr lang="ko-KR" altLang="en-US" sz="1500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알람을</a:t>
            </a:r>
            <a:r>
              <a:rPr lang="ko-KR" altLang="en-US" sz="15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 수행</a:t>
            </a:r>
            <a:endParaRPr lang="en-US" altLang="ko-KR" sz="15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685800" lvl="2" indent="0">
              <a:lnSpc>
                <a:spcPct val="150000"/>
              </a:lnSpc>
              <a:buNone/>
            </a:pPr>
            <a:r>
              <a:rPr lang="en-US" altLang="ko-KR" sz="1500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setRepeating</a:t>
            </a:r>
            <a:r>
              <a:rPr lang="en-US" altLang="ko-KR" sz="15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( )</a:t>
            </a:r>
            <a:r>
              <a:rPr lang="ko-KR" altLang="en-US" sz="15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처럼 정확한 간격으로 반복을 </a:t>
            </a:r>
            <a:r>
              <a:rPr lang="ko-KR" altLang="en-US" sz="1500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수행하진</a:t>
            </a:r>
            <a:r>
              <a:rPr lang="ko-KR" altLang="en-US" sz="15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 않음</a:t>
            </a:r>
            <a:endParaRPr lang="en-US" altLang="ko-KR" sz="15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685800" lvl="2" indent="0">
              <a:lnSpc>
                <a:spcPct val="150000"/>
              </a:lnSpc>
              <a:buNone/>
            </a:pPr>
            <a:r>
              <a:rPr lang="ko-KR" altLang="en-US" sz="15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대신 배터리 효율이 뛰어남</a:t>
            </a:r>
            <a:endParaRPr lang="en-US" altLang="ko-KR" sz="15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18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cancel (</a:t>
            </a:r>
            <a:r>
              <a:rPr lang="en-US" altLang="ko-KR" sz="1800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PendingIntent</a:t>
            </a:r>
            <a:r>
              <a:rPr lang="en-US" altLang="ko-KR" sz="18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 operation)</a:t>
            </a:r>
          </a:p>
          <a:p>
            <a:pPr marL="685800" lvl="2" indent="0">
              <a:lnSpc>
                <a:spcPct val="150000"/>
              </a:lnSpc>
              <a:buNone/>
            </a:pPr>
            <a:r>
              <a:rPr lang="ko-KR" altLang="en-US" sz="1500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알람을</a:t>
            </a:r>
            <a:r>
              <a:rPr lang="ko-KR" altLang="en-US" sz="15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 취소하는 </a:t>
            </a:r>
            <a:r>
              <a:rPr lang="en-US" altLang="ko-KR" sz="15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Method</a:t>
            </a:r>
          </a:p>
          <a:p>
            <a:pPr>
              <a:lnSpc>
                <a:spcPct val="150000"/>
              </a:lnSpc>
            </a:pPr>
            <a:endParaRPr lang="en-US" altLang="ko-KR" sz="16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315760" y="6041362"/>
            <a:ext cx="512638" cy="365125"/>
          </a:xfrm>
        </p:spPr>
        <p:txBody>
          <a:bodyPr/>
          <a:lstStyle/>
          <a:p>
            <a:fld id="{B865D11B-3400-4576-B192-CBE694130FE7}" type="slidenum">
              <a:rPr lang="ko-KR" altLang="en-US" smtClean="0"/>
              <a:pPr/>
              <a:t>53</a:t>
            </a:fld>
            <a:endParaRPr lang="ko-KR" altLang="en-US"/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323528" y="370150"/>
            <a:ext cx="6447501" cy="610688"/>
          </a:xfrm>
        </p:spPr>
        <p:txBody>
          <a:bodyPr>
            <a:normAutofit fontScale="90000"/>
          </a:bodyPr>
          <a:lstStyle/>
          <a:p>
            <a:r>
              <a:rPr lang="en-US" altLang="ko-KR" b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Alarm</a:t>
            </a:r>
            <a:endParaRPr lang="ko-KR" altLang="en-US" b="1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5621539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982067"/>
            <a:ext cx="7848872" cy="496721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b="1">
                <a:ea typeface="함초롬바탕" panose="02030504000101010101" pitchFamily="18" charset="-127"/>
                <a:cs typeface="함초롬바탕" panose="02030504000101010101" pitchFamily="18" charset="-127"/>
              </a:rPr>
              <a:t>PendingIntent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1500">
                <a:ea typeface="함초롬바탕" panose="02030504000101010101" pitchFamily="18" charset="-127"/>
                <a:cs typeface="함초롬바탕" panose="02030504000101010101" pitchFamily="18" charset="-127"/>
              </a:rPr>
              <a:t>알림에 대한 정보를 </a:t>
            </a:r>
            <a:r>
              <a:rPr lang="en-US" altLang="ko-KR" sz="1500">
                <a:ea typeface="함초롬바탕" panose="02030504000101010101" pitchFamily="18" charset="-127"/>
                <a:cs typeface="함초롬바탕" panose="02030504000101010101" pitchFamily="18" charset="-127"/>
              </a:rPr>
              <a:t>intent</a:t>
            </a:r>
            <a:r>
              <a:rPr lang="ko-KR" altLang="en-US" sz="1500">
                <a:ea typeface="함초롬바탕" panose="02030504000101010101" pitchFamily="18" charset="-127"/>
                <a:cs typeface="함초롬바탕" panose="02030504000101010101" pitchFamily="18" charset="-127"/>
              </a:rPr>
              <a:t>로 입력받아서 </a:t>
            </a:r>
            <a:r>
              <a:rPr lang="en-US" altLang="ko-KR" sz="1500">
                <a:ea typeface="함초롬바탕" panose="02030504000101010101" pitchFamily="18" charset="-127"/>
                <a:cs typeface="함초롬바탕" panose="02030504000101010101" pitchFamily="18" charset="-127"/>
              </a:rPr>
              <a:t>Broadcast</a:t>
            </a:r>
            <a:r>
              <a:rPr lang="ko-KR" altLang="en-US" sz="1500">
                <a:ea typeface="함초롬바탕" panose="02030504000101010101" pitchFamily="18" charset="-127"/>
                <a:cs typeface="함초롬바탕" panose="02030504000101010101" pitchFamily="18" charset="-127"/>
              </a:rPr>
              <a:t>로 전송하는 클래스</a:t>
            </a:r>
            <a:endParaRPr lang="en-US" altLang="ko-KR" sz="150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1500">
                <a:ea typeface="함초롬바탕" panose="02030504000101010101" pitchFamily="18" charset="-127"/>
                <a:cs typeface="함초롬바탕" panose="02030504000101010101" pitchFamily="18" charset="-127"/>
              </a:rPr>
              <a:t>일회성 알람을 발생시키는 경우</a:t>
            </a:r>
            <a:endParaRPr lang="en-US" altLang="ko-KR" sz="150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endParaRPr lang="en-US" altLang="ko-KR" sz="150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endParaRPr lang="en-US" altLang="ko-KR" sz="150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1500">
                <a:ea typeface="함초롬바탕" panose="02030504000101010101" pitchFamily="18" charset="-127"/>
                <a:cs typeface="함초롬바탕" panose="02030504000101010101" pitchFamily="18" charset="-127"/>
              </a:rPr>
              <a:t>반복적인 알람을 발생시키는 경우</a:t>
            </a:r>
            <a:endParaRPr lang="en-US" altLang="ko-KR" sz="150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endParaRPr lang="en-US" altLang="ko-KR" sz="90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endParaRPr lang="en-US" altLang="ko-KR" sz="90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2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350">
                <a:ea typeface="함초롬바탕" panose="02030504000101010101" pitchFamily="18" charset="-127"/>
                <a:cs typeface="함초롬바탕" panose="02030504000101010101" pitchFamily="18" charset="-127"/>
              </a:rPr>
              <a:t>여러 알람은 </a:t>
            </a:r>
            <a:r>
              <a:rPr lang="en-US" altLang="ko-KR" sz="1350">
                <a:ea typeface="함초롬바탕" panose="02030504000101010101" pitchFamily="18" charset="-127"/>
                <a:cs typeface="함초롬바탕" panose="02030504000101010101" pitchFamily="18" charset="-127"/>
              </a:rPr>
              <a:t>2</a:t>
            </a:r>
            <a:r>
              <a:rPr lang="ko-KR" altLang="en-US" sz="1350">
                <a:ea typeface="함초롬바탕" panose="02030504000101010101" pitchFamily="18" charset="-127"/>
                <a:cs typeface="함초롬바탕" panose="02030504000101010101" pitchFamily="18" charset="-127"/>
              </a:rPr>
              <a:t>번째 매개변수로써 구분자를 두어 구분할 수 있음</a:t>
            </a:r>
            <a:endParaRPr lang="en-US" altLang="ko-KR" sz="1350"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7159" y="2389679"/>
            <a:ext cx="6655201" cy="5245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9844" y="3789040"/>
            <a:ext cx="7701699" cy="3725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315760" y="6041362"/>
            <a:ext cx="512638" cy="365125"/>
          </a:xfrm>
        </p:spPr>
        <p:txBody>
          <a:bodyPr/>
          <a:lstStyle/>
          <a:p>
            <a:fld id="{B865D11B-3400-4576-B192-CBE694130FE7}" type="slidenum">
              <a:rPr lang="ko-KR" altLang="en-US" smtClean="0"/>
              <a:pPr/>
              <a:t>54</a:t>
            </a:fld>
            <a:endParaRPr lang="ko-KR" altLang="en-US"/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323528" y="370150"/>
            <a:ext cx="6447501" cy="610688"/>
          </a:xfrm>
        </p:spPr>
        <p:txBody>
          <a:bodyPr>
            <a:normAutofit fontScale="90000"/>
          </a:bodyPr>
          <a:lstStyle/>
          <a:p>
            <a:r>
              <a:rPr lang="en-US" altLang="ko-KR" b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Alarm</a:t>
            </a:r>
            <a:endParaRPr lang="ko-KR" altLang="en-US" b="1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4307315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980838"/>
            <a:ext cx="7626350" cy="3940727"/>
          </a:xfrm>
        </p:spPr>
        <p:txBody>
          <a:bodyPr>
            <a:normAutofit/>
          </a:bodyPr>
          <a:lstStyle/>
          <a:p>
            <a:r>
              <a:rPr lang="en-US" altLang="ko-KR" b="1">
                <a:ea typeface="함초롬바탕" panose="02030504000101010101" pitchFamily="18" charset="-127"/>
                <a:cs typeface="함초롬바탕" panose="02030504000101010101" pitchFamily="18" charset="-127"/>
              </a:rPr>
              <a:t>AlarmReceiver.java</a:t>
            </a:r>
          </a:p>
          <a:p>
            <a:pPr lvl="1">
              <a:buFont typeface="Wingdings" pitchFamily="2" charset="2"/>
              <a:buChar char="§"/>
            </a:pPr>
            <a:r>
              <a:rPr lang="en-US" altLang="ko-KR" sz="1500">
                <a:ea typeface="함초롬바탕" panose="02030504000101010101" pitchFamily="18" charset="-127"/>
                <a:cs typeface="함초롬바탕" panose="02030504000101010101" pitchFamily="18" charset="-127"/>
              </a:rPr>
              <a:t>PendingIntent</a:t>
            </a:r>
            <a:r>
              <a:rPr lang="ko-KR" altLang="en-US" sz="1500">
                <a:ea typeface="함초롬바탕" panose="02030504000101010101" pitchFamily="18" charset="-127"/>
                <a:cs typeface="함초롬바탕" panose="02030504000101010101" pitchFamily="18" charset="-127"/>
              </a:rPr>
              <a:t>를 통해 </a:t>
            </a:r>
            <a:r>
              <a:rPr lang="en-US" altLang="ko-KR" sz="1500">
                <a:ea typeface="함초롬바탕" panose="02030504000101010101" pitchFamily="18" charset="-127"/>
                <a:cs typeface="함초롬바탕" panose="02030504000101010101" pitchFamily="18" charset="-127"/>
              </a:rPr>
              <a:t>Broadcast</a:t>
            </a:r>
            <a:r>
              <a:rPr lang="ko-KR" altLang="en-US" sz="1500">
                <a:ea typeface="함초롬바탕" panose="02030504000101010101" pitchFamily="18" charset="-127"/>
                <a:cs typeface="함초롬바탕" panose="02030504000101010101" pitchFamily="18" charset="-127"/>
              </a:rPr>
              <a:t>된 알람에 대한 정보를 수신하여 처리함</a:t>
            </a:r>
            <a:endParaRPr lang="en-US" altLang="ko-KR" sz="150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>
              <a:buFont typeface="Wingdings" pitchFamily="2" charset="2"/>
              <a:buChar char="§"/>
            </a:pPr>
            <a:r>
              <a:rPr lang="en-US" altLang="ko-KR" sz="1500">
                <a:ea typeface="함초롬바탕" panose="02030504000101010101" pitchFamily="18" charset="-127"/>
                <a:cs typeface="함초롬바탕" panose="02030504000101010101" pitchFamily="18" charset="-127"/>
              </a:rPr>
              <a:t>onReceive( )</a:t>
            </a:r>
            <a:r>
              <a:rPr lang="ko-KR" altLang="en-US" sz="1500">
                <a:ea typeface="함초롬바탕" panose="02030504000101010101" pitchFamily="18" charset="-127"/>
                <a:cs typeface="함초롬바탕" panose="02030504000101010101" pitchFamily="18" charset="-127"/>
              </a:rPr>
              <a:t>를 구현하여 알람에 대한 처리를 수행</a:t>
            </a:r>
            <a:endParaRPr lang="en-US" altLang="ko-KR" sz="150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>
              <a:buFont typeface="Wingdings" pitchFamily="2" charset="2"/>
              <a:buChar char="§"/>
            </a:pPr>
            <a:r>
              <a:rPr lang="ko-KR" altLang="en-US" sz="1500">
                <a:ea typeface="함초롬바탕" panose="02030504000101010101" pitchFamily="18" charset="-127"/>
                <a:cs typeface="함초롬바탕" panose="02030504000101010101" pitchFamily="18" charset="-127"/>
              </a:rPr>
              <a:t>목적에 따라 여러 개의 </a:t>
            </a:r>
            <a:r>
              <a:rPr lang="en-US" altLang="ko-KR" sz="1500">
                <a:ea typeface="함초롬바탕" panose="02030504000101010101" pitchFamily="18" charset="-127"/>
                <a:cs typeface="함초롬바탕" panose="02030504000101010101" pitchFamily="18" charset="-127"/>
              </a:rPr>
              <a:t>Receiver</a:t>
            </a:r>
            <a:r>
              <a:rPr lang="ko-KR" altLang="en-US" sz="1500">
                <a:ea typeface="함초롬바탕" panose="02030504000101010101" pitchFamily="18" charset="-127"/>
                <a:cs typeface="함초롬바탕" panose="02030504000101010101" pitchFamily="18" charset="-127"/>
              </a:rPr>
              <a:t>를 만들 수도 있음</a:t>
            </a:r>
            <a:endParaRPr lang="en-US" altLang="ko-KR" sz="150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>
              <a:buFont typeface="Wingdings" pitchFamily="2" charset="2"/>
              <a:buChar char="§"/>
            </a:pPr>
            <a:r>
              <a:rPr lang="en-US" altLang="ko-KR" sz="1500">
                <a:ea typeface="함초롬바탕" panose="02030504000101010101" pitchFamily="18" charset="-127"/>
                <a:cs typeface="함초롬바탕" panose="02030504000101010101" pitchFamily="18" charset="-127"/>
              </a:rPr>
              <a:t>Activity</a:t>
            </a:r>
            <a:r>
              <a:rPr lang="ko-KR" altLang="en-US" sz="1500">
                <a:ea typeface="함초롬바탕" panose="02030504000101010101" pitchFamily="18" charset="-127"/>
                <a:cs typeface="함초롬바탕" panose="02030504000101010101" pitchFamily="18" charset="-127"/>
              </a:rPr>
              <a:t>와 같은 방식으로 </a:t>
            </a:r>
            <a:r>
              <a:rPr lang="en-US" altLang="ko-KR" sz="1500">
                <a:ea typeface="함초롬바탕" panose="02030504000101010101" pitchFamily="18" charset="-127"/>
                <a:cs typeface="함초롬바탕" panose="02030504000101010101" pitchFamily="18" charset="-127"/>
              </a:rPr>
              <a:t>AndroidManifest.xml</a:t>
            </a:r>
            <a:r>
              <a:rPr lang="ko-KR" altLang="en-US" sz="1500">
                <a:ea typeface="함초롬바탕" panose="02030504000101010101" pitchFamily="18" charset="-127"/>
                <a:cs typeface="함초롬바탕" panose="02030504000101010101" pitchFamily="18" charset="-127"/>
              </a:rPr>
              <a:t>에 등록하여 사용해야함</a:t>
            </a:r>
            <a:endParaRPr lang="en-US" altLang="ko-KR" sz="1500"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315760" y="6041362"/>
            <a:ext cx="512638" cy="365125"/>
          </a:xfrm>
        </p:spPr>
        <p:txBody>
          <a:bodyPr/>
          <a:lstStyle/>
          <a:p>
            <a:fld id="{B865D11B-3400-4576-B192-CBE694130FE7}" type="slidenum">
              <a:rPr lang="ko-KR" altLang="en-US" smtClean="0"/>
              <a:pPr/>
              <a:t>55</a:t>
            </a:fld>
            <a:endParaRPr lang="ko-KR" altLang="en-US"/>
          </a:p>
        </p:txBody>
      </p:sp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323528" y="370150"/>
            <a:ext cx="6447501" cy="610688"/>
          </a:xfrm>
        </p:spPr>
        <p:txBody>
          <a:bodyPr>
            <a:normAutofit fontScale="90000"/>
          </a:bodyPr>
          <a:lstStyle/>
          <a:p>
            <a:r>
              <a:rPr lang="en-US" altLang="ko-KR" b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Alarm</a:t>
            </a:r>
            <a:endParaRPr lang="ko-KR" altLang="en-US" b="1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730" y="3117050"/>
            <a:ext cx="7462030" cy="3289437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1115616" y="4365104"/>
            <a:ext cx="4510909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894872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67544" y="999822"/>
            <a:ext cx="7626350" cy="113303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예시 </a:t>
            </a:r>
            <a:r>
              <a:rPr lang="en-US" altLang="ko-KR" sz="1425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(AlarmReceiver.java)</a:t>
            </a:r>
          </a:p>
          <a:p>
            <a:pPr lvl="1">
              <a:lnSpc>
                <a:spcPct val="150000"/>
              </a:lnSpc>
            </a:pPr>
            <a:r>
              <a:rPr lang="en-US" altLang="ko-KR" b="1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AlarmReceiver</a:t>
            </a:r>
            <a:r>
              <a:rPr lang="en-US" altLang="ko-KR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 class </a:t>
            </a:r>
            <a:r>
              <a:rPr lang="ko-KR" altLang="en-US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생성 후 </a:t>
            </a:r>
            <a:r>
              <a:rPr lang="en-US" altLang="ko-KR" b="1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AnroidManifest</a:t>
            </a:r>
            <a:r>
              <a:rPr lang="ko-KR" altLang="en-US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에 등록</a:t>
            </a:r>
            <a:endParaRPr lang="en-US" altLang="ko-KR" b="1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315760" y="6041362"/>
            <a:ext cx="512638" cy="365125"/>
          </a:xfrm>
        </p:spPr>
        <p:txBody>
          <a:bodyPr/>
          <a:lstStyle/>
          <a:p>
            <a:fld id="{B865D11B-3400-4576-B192-CBE694130FE7}" type="slidenum">
              <a:rPr lang="ko-KR" altLang="en-US" smtClean="0"/>
              <a:pPr/>
              <a:t>56</a:t>
            </a:fld>
            <a:endParaRPr lang="ko-KR" altLang="en-US"/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323528" y="370150"/>
            <a:ext cx="6447501" cy="610688"/>
          </a:xfrm>
        </p:spPr>
        <p:txBody>
          <a:bodyPr>
            <a:normAutofit fontScale="90000"/>
          </a:bodyPr>
          <a:lstStyle/>
          <a:p>
            <a:r>
              <a:rPr lang="en-US" altLang="ko-KR" b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Alarm</a:t>
            </a:r>
            <a:endParaRPr lang="ko-KR" altLang="en-US" b="1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42" y="2276872"/>
            <a:ext cx="7761767" cy="1638728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9" y="4397502"/>
            <a:ext cx="7920880" cy="217109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2642" y="4003463"/>
            <a:ext cx="27212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AndroidManifest.xml</a:t>
            </a:r>
            <a:endParaRPr lang="ko-KR" altLang="en-US" sz="1400" dirty="0"/>
          </a:p>
        </p:txBody>
      </p:sp>
      <p:cxnSp>
        <p:nvCxnSpPr>
          <p:cNvPr id="10" name="직선 연결선 9"/>
          <p:cNvCxnSpPr/>
          <p:nvPr/>
        </p:nvCxnSpPr>
        <p:spPr>
          <a:xfrm>
            <a:off x="482642" y="4318948"/>
            <a:ext cx="776176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/>
          <p:cNvSpPr/>
          <p:nvPr/>
        </p:nvSpPr>
        <p:spPr>
          <a:xfrm>
            <a:off x="431439" y="4397502"/>
            <a:ext cx="4788633" cy="25563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656981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67544" y="990944"/>
            <a:ext cx="7626350" cy="445052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ko-KR" altLang="en-US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예제 코드 </a:t>
            </a:r>
            <a:r>
              <a:rPr lang="en-US" altLang="ko-KR" sz="1425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(activity_main.xml)</a:t>
            </a:r>
            <a:endParaRPr lang="en-US" altLang="ko-KR" b="1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323528" y="370150"/>
            <a:ext cx="6447501" cy="610688"/>
          </a:xfrm>
        </p:spPr>
        <p:txBody>
          <a:bodyPr>
            <a:normAutofit fontScale="90000"/>
          </a:bodyPr>
          <a:lstStyle/>
          <a:p>
            <a:r>
              <a:rPr lang="en-US" altLang="ko-KR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Alarm </a:t>
            </a:r>
            <a:r>
              <a:rPr lang="ko-KR" altLang="en-US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예제</a:t>
            </a:r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315760" y="6041362"/>
            <a:ext cx="512638" cy="365125"/>
          </a:xfrm>
        </p:spPr>
        <p:txBody>
          <a:bodyPr/>
          <a:lstStyle/>
          <a:p>
            <a:fld id="{B865D11B-3400-4576-B192-CBE694130FE7}" type="slidenum">
              <a:rPr lang="ko-KR" altLang="en-US" smtClean="0">
                <a:solidFill>
                  <a:schemeClr val="tx1"/>
                </a:solidFill>
              </a:rPr>
              <a:pPr/>
              <a:t>57</a:t>
            </a:fld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655178"/>
            <a:ext cx="7560184" cy="4751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20400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9" y="1725967"/>
            <a:ext cx="8208912" cy="4680520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67544" y="990944"/>
            <a:ext cx="7626350" cy="445052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ko-KR" altLang="en-US" b="1">
                <a:ea typeface="함초롬바탕" panose="02030504000101010101" pitchFamily="18" charset="-127"/>
                <a:cs typeface="함초롬바탕" panose="02030504000101010101" pitchFamily="18" charset="-127"/>
              </a:rPr>
              <a:t>예제 코드 </a:t>
            </a:r>
            <a:r>
              <a:rPr lang="en-US" altLang="ko-KR" sz="1425" b="1">
                <a:ea typeface="함초롬바탕" panose="02030504000101010101" pitchFamily="18" charset="-127"/>
                <a:cs typeface="함초롬바탕" panose="02030504000101010101" pitchFamily="18" charset="-127"/>
              </a:rPr>
              <a:t>(MainActivity.java) (1)</a:t>
            </a:r>
            <a:endParaRPr lang="en-US" altLang="ko-KR" b="1"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315760" y="6041362"/>
            <a:ext cx="512638" cy="365125"/>
          </a:xfrm>
        </p:spPr>
        <p:txBody>
          <a:bodyPr/>
          <a:lstStyle/>
          <a:p>
            <a:fld id="{B865D11B-3400-4576-B192-CBE694130FE7}" type="slidenum">
              <a:rPr lang="ko-KR" altLang="en-US" smtClean="0">
                <a:solidFill>
                  <a:schemeClr val="tx1"/>
                </a:solidFill>
              </a:rPr>
              <a:pPr/>
              <a:t>58</a:t>
            </a:fld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323528" y="370150"/>
            <a:ext cx="6447501" cy="610688"/>
          </a:xfrm>
        </p:spPr>
        <p:txBody>
          <a:bodyPr>
            <a:normAutofit fontScale="90000"/>
          </a:bodyPr>
          <a:lstStyle/>
          <a:p>
            <a:r>
              <a:rPr lang="en-US" altLang="ko-KR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Alarm </a:t>
            </a:r>
            <a:r>
              <a:rPr lang="ko-KR" altLang="en-US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예제</a:t>
            </a:r>
          </a:p>
        </p:txBody>
      </p:sp>
    </p:spTree>
    <p:extLst>
      <p:ext uri="{BB962C8B-B14F-4D97-AF65-F5344CB8AC3E}">
        <p14:creationId xmlns:p14="http://schemas.microsoft.com/office/powerpoint/2010/main" val="115937780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67544" y="990944"/>
            <a:ext cx="7626350" cy="445052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ko-KR" altLang="en-US" b="1">
                <a:ea typeface="함초롬바탕" panose="02030504000101010101" pitchFamily="18" charset="-127"/>
                <a:cs typeface="함초롬바탕" panose="02030504000101010101" pitchFamily="18" charset="-127"/>
              </a:rPr>
              <a:t>예제 코드 </a:t>
            </a:r>
            <a:r>
              <a:rPr lang="en-US" altLang="ko-KR" sz="1425" b="1">
                <a:ea typeface="함초롬바탕" panose="02030504000101010101" pitchFamily="18" charset="-127"/>
                <a:cs typeface="함초롬바탕" panose="02030504000101010101" pitchFamily="18" charset="-127"/>
              </a:rPr>
              <a:t>(MainActivity.java) (2)</a:t>
            </a:r>
            <a:endParaRPr lang="en-US" altLang="ko-KR" b="1"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323528" y="370150"/>
            <a:ext cx="6447501" cy="610688"/>
          </a:xfrm>
        </p:spPr>
        <p:txBody>
          <a:bodyPr>
            <a:normAutofit fontScale="90000"/>
          </a:bodyPr>
          <a:lstStyle/>
          <a:p>
            <a:r>
              <a:rPr lang="en-US" altLang="ko-KR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Alarm </a:t>
            </a:r>
            <a:r>
              <a:rPr lang="ko-KR" altLang="en-US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예제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3" y="1908216"/>
            <a:ext cx="7776208" cy="4484570"/>
          </a:xfrm>
          <a:prstGeom prst="rect">
            <a:avLst/>
          </a:prstGeom>
        </p:spPr>
      </p:pic>
      <p:sp>
        <p:nvSpPr>
          <p:cNvPr id="9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315760" y="6041362"/>
            <a:ext cx="512638" cy="365125"/>
          </a:xfrm>
        </p:spPr>
        <p:txBody>
          <a:bodyPr/>
          <a:lstStyle/>
          <a:p>
            <a:fld id="{B865D11B-3400-4576-B192-CBE694130FE7}" type="slidenum">
              <a:rPr lang="ko-KR" altLang="en-US" smtClean="0">
                <a:solidFill>
                  <a:schemeClr val="tx1"/>
                </a:solidFill>
              </a:rPr>
              <a:pPr/>
              <a:t>59</a:t>
            </a:fld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873287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67544" y="980838"/>
            <a:ext cx="7626350" cy="445052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ko-KR" altLang="en-US" b="1">
                <a:ea typeface="함초롬바탕" panose="02030504000101010101" pitchFamily="18" charset="-127"/>
                <a:cs typeface="함초롬바탕" panose="02030504000101010101" pitchFamily="18" charset="-127"/>
              </a:rPr>
              <a:t>실행 결과</a:t>
            </a:r>
            <a:endParaRPr lang="en-US" altLang="ko-KR" b="1"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315760" y="6041362"/>
            <a:ext cx="512638" cy="365125"/>
          </a:xfrm>
        </p:spPr>
        <p:txBody>
          <a:bodyPr/>
          <a:lstStyle/>
          <a:p>
            <a:fld id="{B865D11B-3400-4576-B192-CBE694130FE7}" type="slidenum">
              <a:rPr lang="ko-KR" altLang="en-US" smtClean="0"/>
              <a:pPr/>
              <a:t>60</a:t>
            </a:fld>
            <a:endParaRPr lang="ko-KR" altLang="en-US"/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323528" y="370150"/>
            <a:ext cx="6447501" cy="610688"/>
          </a:xfrm>
        </p:spPr>
        <p:txBody>
          <a:bodyPr>
            <a:normAutofit fontScale="90000"/>
          </a:bodyPr>
          <a:lstStyle/>
          <a:p>
            <a:r>
              <a:rPr lang="en-US" altLang="ko-KR" b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Alarm</a:t>
            </a:r>
            <a:endParaRPr lang="ko-KR" altLang="en-US" b="1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5" name="화살표: 오른쪽 4"/>
          <p:cNvSpPr/>
          <p:nvPr/>
        </p:nvSpPr>
        <p:spPr>
          <a:xfrm>
            <a:off x="4088589" y="3869595"/>
            <a:ext cx="770973" cy="57606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4088589" y="4454787"/>
            <a:ext cx="71526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dirty="0">
                <a:solidFill>
                  <a:schemeClr val="tx1">
                    <a:lumMod val="75000"/>
                    <a:lumOff val="25000"/>
                  </a:schemeClr>
                </a:solidFill>
                <a:ea typeface="함초롬바탕" panose="02030504000101010101" pitchFamily="18" charset="-127"/>
                <a:cs typeface="함초롬바탕" panose="02030504000101010101" pitchFamily="18" charset="-127"/>
              </a:rPr>
              <a:t>5</a:t>
            </a:r>
            <a:r>
              <a:rPr lang="ko-KR" altLang="en-US" sz="1500">
                <a:solidFill>
                  <a:schemeClr val="tx1">
                    <a:lumMod val="75000"/>
                    <a:lumOff val="25000"/>
                  </a:schemeClr>
                </a:solidFill>
                <a:ea typeface="함초롬바탕" panose="02030504000101010101" pitchFamily="18" charset="-127"/>
                <a:cs typeface="함초롬바탕" panose="02030504000101010101" pitchFamily="18" charset="-127"/>
              </a:rPr>
              <a:t>초 후</a:t>
            </a:r>
            <a:endParaRPr lang="ko-KR" altLang="en-US" sz="1500" dirty="0">
              <a:solidFill>
                <a:schemeClr val="tx1">
                  <a:lumMod val="75000"/>
                  <a:lumOff val="25000"/>
                </a:schemeClr>
              </a:solidFill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700808"/>
            <a:ext cx="2845829" cy="4509120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6096" y="1700808"/>
            <a:ext cx="2780612" cy="450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332164"/>
      </p:ext>
    </p:extLst>
  </p:cSld>
  <p:clrMapOvr>
    <a:masterClrMapping/>
  </p:clrMapOvr>
</p:sld>
</file>

<file path=ppt/theme/theme1.xml><?xml version="1.0" encoding="utf-8"?>
<a:theme xmlns:a="http://schemas.openxmlformats.org/drawingml/2006/main" name="Expr3_1_2016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xpr3_1_2016" id="{EFC8FB88-64CD-427C-865D-173C2E8F1976}" vid="{80F88726-BE8D-473F-BC30-202AEF18D940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Expr3_1_2016</Template>
  <TotalTime>20936</TotalTime>
  <Words>1797</Words>
  <Application>Microsoft Office PowerPoint</Application>
  <PresentationFormat>화면 슬라이드 쇼(4:3)</PresentationFormat>
  <Paragraphs>396</Paragraphs>
  <Slides>60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60</vt:i4>
      </vt:variant>
    </vt:vector>
  </HeadingPairs>
  <TitlesOfParts>
    <vt:vector size="68" baseType="lpstr">
      <vt:lpstr>맑은 고딕</vt:lpstr>
      <vt:lpstr>함초롬바탕</vt:lpstr>
      <vt:lpstr>Arial</vt:lpstr>
      <vt:lpstr>Trebuchet MS</vt:lpstr>
      <vt:lpstr>Wingdings</vt:lpstr>
      <vt:lpstr>Wingdings 3</vt:lpstr>
      <vt:lpstr>Expr3_1_2016</vt:lpstr>
      <vt:lpstr>Custom Design</vt:lpstr>
      <vt:lpstr>Intent &amp; Service</vt:lpstr>
      <vt:lpstr>목차</vt:lpstr>
      <vt:lpstr>Intent</vt:lpstr>
      <vt:lpstr>Intent</vt:lpstr>
      <vt:lpstr>Intent 용도</vt:lpstr>
      <vt:lpstr>Intent를 이용해 Activity 시작하기</vt:lpstr>
      <vt:lpstr>Implicit intent 응용</vt:lpstr>
      <vt:lpstr>Action</vt:lpstr>
      <vt:lpstr>StartActivity &amp; StartActivityForResult</vt:lpstr>
      <vt:lpstr>startActivity</vt:lpstr>
      <vt:lpstr>startActivityForResult &amp; setResult</vt:lpstr>
      <vt:lpstr>Activity간의 통신</vt:lpstr>
      <vt:lpstr>통신 예제(MainActivity)</vt:lpstr>
      <vt:lpstr>통신 예제(SubActivity)</vt:lpstr>
      <vt:lpstr>통신 예제(SubActivity)</vt:lpstr>
      <vt:lpstr>통신 예제</vt:lpstr>
      <vt:lpstr>Data</vt:lpstr>
      <vt:lpstr>암시적 호출(액션) 예제</vt:lpstr>
      <vt:lpstr>액션 예제 - 실행결과</vt:lpstr>
      <vt:lpstr>Intent Filter</vt:lpstr>
      <vt:lpstr>Intent Filter 등록 예</vt:lpstr>
      <vt:lpstr>Intent Filter</vt:lpstr>
      <vt:lpstr>Intent Filter 하위 엘리먼트(2)</vt:lpstr>
      <vt:lpstr>Intent Filter 예제 (새 프로젝트)</vt:lpstr>
      <vt:lpstr>Intent Filter 예제 (새 프로젝트)</vt:lpstr>
      <vt:lpstr>Intent Filter 예제 - 실행결과</vt:lpstr>
      <vt:lpstr>Notification</vt:lpstr>
      <vt:lpstr>Notification</vt:lpstr>
      <vt:lpstr>Notification</vt:lpstr>
      <vt:lpstr>Notification</vt:lpstr>
      <vt:lpstr>Notification 예제</vt:lpstr>
      <vt:lpstr>Notification 예제(cont.)</vt:lpstr>
      <vt:lpstr>Notification 예제(cont.)</vt:lpstr>
      <vt:lpstr>Notification 예제(MainActivity)</vt:lpstr>
      <vt:lpstr>Notification 예제 실행 화면</vt:lpstr>
      <vt:lpstr>Service</vt:lpstr>
      <vt:lpstr>Service</vt:lpstr>
      <vt:lpstr>Service</vt:lpstr>
      <vt:lpstr>Service</vt:lpstr>
      <vt:lpstr>Service</vt:lpstr>
      <vt:lpstr>Service</vt:lpstr>
      <vt:lpstr>Service</vt:lpstr>
      <vt:lpstr>Service</vt:lpstr>
      <vt:lpstr>Service 예제</vt:lpstr>
      <vt:lpstr>Service 예제</vt:lpstr>
      <vt:lpstr>Service 예제</vt:lpstr>
      <vt:lpstr>Service 예제</vt:lpstr>
      <vt:lpstr>Service 예제</vt:lpstr>
      <vt:lpstr>Service 예제</vt:lpstr>
      <vt:lpstr>Alarm</vt:lpstr>
      <vt:lpstr>Alarm</vt:lpstr>
      <vt:lpstr>Alarm</vt:lpstr>
      <vt:lpstr>Alarm</vt:lpstr>
      <vt:lpstr>Alarm</vt:lpstr>
      <vt:lpstr>Alarm</vt:lpstr>
      <vt:lpstr>Alarm</vt:lpstr>
      <vt:lpstr>Alarm 예제</vt:lpstr>
      <vt:lpstr>Alarm 예제</vt:lpstr>
      <vt:lpstr>Alarm 예제</vt:lpstr>
      <vt:lpstr>Alarm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luxurypmy</dc:creator>
  <cp:lastModifiedBy>Yu</cp:lastModifiedBy>
  <cp:revision>1010</cp:revision>
  <dcterms:created xsi:type="dcterms:W3CDTF">2012-03-24T12:01:31Z</dcterms:created>
  <dcterms:modified xsi:type="dcterms:W3CDTF">2020-03-23T02:23:44Z</dcterms:modified>
</cp:coreProperties>
</file>