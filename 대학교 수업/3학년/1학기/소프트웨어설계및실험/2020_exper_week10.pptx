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96" r:id="rId3"/>
    <p:sldId id="295" r:id="rId4"/>
    <p:sldId id="282" r:id="rId5"/>
    <p:sldId id="279" r:id="rId6"/>
    <p:sldId id="280" r:id="rId7"/>
    <p:sldId id="283" r:id="rId8"/>
    <p:sldId id="284" r:id="rId9"/>
    <p:sldId id="281" r:id="rId10"/>
    <p:sldId id="297" r:id="rId11"/>
    <p:sldId id="298" r:id="rId12"/>
    <p:sldId id="306" r:id="rId13"/>
    <p:sldId id="301" r:id="rId14"/>
    <p:sldId id="302" r:id="rId15"/>
    <p:sldId id="303" r:id="rId16"/>
    <p:sldId id="304" r:id="rId17"/>
    <p:sldId id="278" r:id="rId18"/>
    <p:sldId id="261" r:id="rId19"/>
    <p:sldId id="262" r:id="rId20"/>
    <p:sldId id="263" r:id="rId21"/>
    <p:sldId id="264" r:id="rId22"/>
    <p:sldId id="265" r:id="rId23"/>
    <p:sldId id="266" r:id="rId24"/>
    <p:sldId id="268" r:id="rId25"/>
    <p:sldId id="269" r:id="rId26"/>
    <p:sldId id="270" r:id="rId27"/>
    <p:sldId id="271" r:id="rId28"/>
    <p:sldId id="272" r:id="rId29"/>
    <p:sldId id="277" r:id="rId30"/>
    <p:sldId id="273" r:id="rId31"/>
    <p:sldId id="274" r:id="rId32"/>
    <p:sldId id="275" r:id="rId33"/>
    <p:sldId id="305" r:id="rId34"/>
  </p:sldIdLst>
  <p:sldSz cx="12192000" cy="6858000"/>
  <p:notesSz cx="6858000" cy="9144000"/>
  <p:embeddedFontLst>
    <p:embeddedFont>
      <p:font typeface="HY그래픽M" panose="020B0600000101010101" charset="-127"/>
      <p:regular r:id="rId37"/>
    </p:embeddedFont>
    <p:embeddedFont>
      <p:font typeface="Trebuchet MS" panose="020B0603020202020204" pitchFamily="34" charset="0"/>
      <p:regular r:id="rId38"/>
      <p:bold r:id="rId39"/>
      <p:italic r:id="rId40"/>
      <p:boldItalic r:id="rId41"/>
    </p:embeddedFont>
    <p:embeddedFont>
      <p:font typeface="Wingdings 3" panose="05040102010807070707" pitchFamily="18" charset="2"/>
      <p:regular r:id="rId42"/>
    </p:embeddedFont>
    <p:embeddedFont>
      <p:font typeface="맑은 고딕" panose="020B0503020000020004" pitchFamily="50" charset="-127"/>
      <p:regular r:id="rId43"/>
      <p:bold r:id="rId44"/>
    </p:embeddedFont>
    <p:embeddedFont>
      <p:font typeface="함초롬바탕" panose="02030604000101010101" pitchFamily="18" charset="-127"/>
      <p:regular r:id="rId45"/>
      <p:bold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2BFB1-86BC-4EFD-AFD5-9E00472ABCD5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596B0-94FB-447C-819A-F75CC43CC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956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F35CC-8965-4B30-A8D5-8692446C5C18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D131E-75DC-4030-8686-659106CB9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0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B1F06-0FB9-4FEF-BEAB-C2D33CDE17D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24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B1F06-0FB9-4FEF-BEAB-C2D33CDE17D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014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B1F06-0FB9-4FEF-BEAB-C2D33CDE17D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96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B1F06-0FB9-4FEF-BEAB-C2D33CDE17D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677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na.daum.net/" TargetMode="External"/><Relationship Id="rId2" Type="http://schemas.openxmlformats.org/officeDocument/2006/relationships/hyperlink" Target="http://dev.naver.com/openap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de.google.com/intl/ko-KR/mor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s.facebook.com/" TargetMode="External"/><Relationship Id="rId2" Type="http://schemas.openxmlformats.org/officeDocument/2006/relationships/hyperlink" Target="https://dev.twitter.com/overview/ap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caniuse.com/#search=web%20storag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0842" y="2404534"/>
            <a:ext cx="8953161" cy="1646302"/>
          </a:xfrm>
        </p:spPr>
        <p:txBody>
          <a:bodyPr/>
          <a:lstStyle/>
          <a:p>
            <a:r>
              <a:rPr lang="en-US" altLang="ko-KR" sz="4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Open API &amp; Web Storage</a:t>
            </a:r>
            <a:endParaRPr lang="ko-KR" altLang="en-US" sz="48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2020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년 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학기</a:t>
            </a:r>
          </a:p>
        </p:txBody>
      </p:sp>
    </p:spTree>
    <p:extLst>
      <p:ext uri="{BB962C8B-B14F-4D97-AF65-F5344CB8AC3E}">
        <p14:creationId xmlns:p14="http://schemas.microsoft.com/office/powerpoint/2010/main" val="106946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  <a:ea typeface="+mj-ea"/>
                <a:cs typeface="함초롬바탕" panose="02030504000101010101" pitchFamily="18" charset="-127"/>
              </a:rPr>
              <a:t>OpenAPI</a:t>
            </a:r>
            <a:endParaRPr lang="en-US" altLang="ko-KR" b="1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/>
          </a:p>
          <a:p>
            <a:r>
              <a:rPr lang="en-US" altLang="ko-KR" b="1" dirty="0">
                <a:latin typeface="+mj-ea"/>
                <a:cs typeface="함초롬바탕" panose="02030504000101010101" pitchFamily="18" charset="-127"/>
              </a:rPr>
              <a:t>Web Storage</a:t>
            </a:r>
          </a:p>
          <a:p>
            <a:endParaRPr lang="en-US" altLang="ko-KR" b="1" dirty="0">
              <a:latin typeface="+mj-ea"/>
              <a:cs typeface="함초롬바탕" panose="02030504000101010101" pitchFamily="18" charset="-127"/>
            </a:endParaRPr>
          </a:p>
          <a:p>
            <a:r>
              <a:rPr lang="en-US" altLang="ko-KR" b="1" dirty="0">
                <a:latin typeface="+mj-ea"/>
                <a:cs typeface="함초롬바탕" panose="02030504000101010101" pitchFamily="18" charset="-127"/>
              </a:rPr>
              <a:t>Web SQL Database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14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Open 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32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OpenAPI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400" dirty="0"/>
              <a:t>Application Programming Interface </a:t>
            </a:r>
          </a:p>
          <a:p>
            <a:pPr lvl="1"/>
            <a:r>
              <a:rPr lang="ko-KR" altLang="en-US" sz="2000" dirty="0"/>
              <a:t>애플리케이션을 개발하기 위한 여러 가지 기능의 집합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 err="1"/>
              <a:t>OpenAPI</a:t>
            </a:r>
            <a:endParaRPr lang="en-US" altLang="ko-KR" sz="2400" dirty="0"/>
          </a:p>
          <a:p>
            <a:pPr lvl="1"/>
            <a:r>
              <a:rPr lang="ko-KR" altLang="en-US" sz="2000" dirty="0"/>
              <a:t>어떤 회사나 단체의 </a:t>
            </a:r>
            <a:r>
              <a:rPr lang="en-US" altLang="ko-KR" sz="2000" dirty="0"/>
              <a:t>API</a:t>
            </a:r>
            <a:r>
              <a:rPr lang="ko-KR" altLang="en-US" sz="2000" dirty="0"/>
              <a:t>를 외부에 공개한 것으로 보통 웹 서비스</a:t>
            </a:r>
            <a:r>
              <a:rPr lang="en-US" altLang="ko-KR" sz="2000" dirty="0"/>
              <a:t>(Web Services) </a:t>
            </a:r>
            <a:r>
              <a:rPr lang="ko-KR" altLang="en-US" sz="2000" dirty="0"/>
              <a:t>형태로 공개한 것을 말함</a:t>
            </a:r>
            <a:endParaRPr lang="en-US" altLang="ko-KR" sz="2000" dirty="0"/>
          </a:p>
          <a:p>
            <a:pPr lvl="1"/>
            <a:r>
              <a:rPr lang="ko-KR" altLang="en-US" sz="2000" dirty="0"/>
              <a:t>전통적인 </a:t>
            </a:r>
            <a:r>
              <a:rPr lang="en-US" altLang="ko-KR" sz="2000" dirty="0"/>
              <a:t>API</a:t>
            </a:r>
            <a:r>
              <a:rPr lang="ko-KR" altLang="en-US" sz="2000" dirty="0"/>
              <a:t>의 개념을 웹으로 확장</a:t>
            </a:r>
            <a:endParaRPr lang="en-US" altLang="ko-KR" sz="2000" dirty="0"/>
          </a:p>
          <a:p>
            <a:pPr lvl="1"/>
            <a:r>
              <a:rPr lang="ko-KR" altLang="en-US" sz="2000" dirty="0"/>
              <a:t>특정한 기능이나 서비스를 제공하는 사이트에 접속해 필요한 데이터를 요청하고 받아오는 행위를 기존 컴퓨터에서 함수를 호출하고 결과를 받는 것처럼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3955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Mashup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인터넷상에서 제공되고 있는 다양한 서로 다른 서비스와 기능을 합쳐서 새로운 서비스 또는 애플리케이션으로 만들어내는 것을 의미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서로 다른 오픈</a:t>
            </a:r>
            <a:r>
              <a:rPr lang="en-US" altLang="ko-KR" dirty="0"/>
              <a:t>API</a:t>
            </a:r>
            <a:r>
              <a:rPr lang="ko-KR" altLang="en-US" dirty="0"/>
              <a:t>를 이용해 시너지를 낼 수 있는 새로운 서비스를 만드는 행위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기존 인터넷 서비스의 개방 소스를 조합해 새 서비스를 만드는 기법으로 개방과 공유를 전제로 하는 웹</a:t>
            </a:r>
            <a:r>
              <a:rPr lang="en-US" altLang="ko-KR" dirty="0"/>
              <a:t>2.0 </a:t>
            </a:r>
            <a:r>
              <a:rPr lang="ko-KR" altLang="en-US" dirty="0"/>
              <a:t>개념의 핵심 기술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425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Mashup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2132014"/>
            <a:ext cx="8596668" cy="3880773"/>
          </a:xfrm>
        </p:spPr>
        <p:txBody>
          <a:bodyPr/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구글 지도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API+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사진 업로드 및 관리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API +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 구독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API</a:t>
            </a:r>
          </a:p>
          <a:p>
            <a:pPr marL="0" indent="0">
              <a:buNone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=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부동산 정보 어플리케이션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pic>
        <p:nvPicPr>
          <p:cNvPr id="4" name="Picture 2" descr="C:\Users\rouzmonsta\Desktop\mashupcrossse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359" y="2939008"/>
            <a:ext cx="36385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0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can use </a:t>
            </a:r>
            <a:r>
              <a:rPr lang="en-US" altLang="ko-KR" dirty="0" err="1"/>
              <a:t>OpenAPI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685925"/>
            <a:ext cx="8596668" cy="4355437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/>
              <a:t>Query </a:t>
            </a:r>
            <a:r>
              <a:rPr lang="ko-KR" altLang="en-US" dirty="0"/>
              <a:t>요청 방법</a:t>
            </a:r>
            <a:endParaRPr lang="en-US" altLang="ko-KR" dirty="0"/>
          </a:p>
          <a:p>
            <a:pPr lvl="1"/>
            <a:r>
              <a:rPr lang="en-US" altLang="ko-KR" dirty="0"/>
              <a:t>GET 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2"/>
            <a:r>
              <a:rPr lang="en-US" altLang="ko-KR" dirty="0"/>
              <a:t>URL</a:t>
            </a:r>
            <a:r>
              <a:rPr lang="ko-KR" altLang="en-US" dirty="0"/>
              <a:t>에 직접 데이터를 적어서 전송</a:t>
            </a:r>
            <a:endParaRPr lang="en-US" altLang="ko-KR" dirty="0"/>
          </a:p>
          <a:p>
            <a:pPr lvl="2"/>
            <a:r>
              <a:rPr lang="en-US" altLang="ko-KR" dirty="0"/>
              <a:t>ex) </a:t>
            </a:r>
            <a:r>
              <a:rPr lang="en-US" altLang="ko-KR" sz="1600" b="1" dirty="0">
                <a:solidFill>
                  <a:srgbClr val="C00000"/>
                </a:solidFill>
              </a:rPr>
              <a:t>http://search.naver.com/</a:t>
            </a:r>
            <a:r>
              <a:rPr lang="en-US" altLang="ko-KR" sz="1600" b="1" dirty="0" err="1">
                <a:solidFill>
                  <a:srgbClr val="C00000"/>
                </a:solidFill>
              </a:rPr>
              <a:t>search.naver?where</a:t>
            </a:r>
            <a:r>
              <a:rPr lang="en-US" altLang="ko-KR" sz="1600" b="1" dirty="0">
                <a:solidFill>
                  <a:srgbClr val="C00000"/>
                </a:solidFill>
              </a:rPr>
              <a:t>=</a:t>
            </a:r>
            <a:r>
              <a:rPr lang="en-US" altLang="ko-KR" sz="1600" b="1" dirty="0" err="1">
                <a:solidFill>
                  <a:srgbClr val="C00000"/>
                </a:solidFill>
              </a:rPr>
              <a:t>nexearch&amp;query</a:t>
            </a:r>
            <a:r>
              <a:rPr lang="en-US" altLang="ko-KR" sz="1600" b="1" dirty="0">
                <a:solidFill>
                  <a:srgbClr val="C00000"/>
                </a:solidFill>
              </a:rPr>
              <a:t>=</a:t>
            </a:r>
            <a:r>
              <a:rPr lang="en-US" altLang="ko-KR" sz="1600" b="1" dirty="0" err="1">
                <a:solidFill>
                  <a:srgbClr val="C00000"/>
                </a:solidFill>
              </a:rPr>
              <a:t>abc</a:t>
            </a:r>
            <a:r>
              <a:rPr lang="en-US" altLang="ko-KR" sz="1600" b="1" dirty="0">
                <a:solidFill>
                  <a:srgbClr val="C00000"/>
                </a:solidFill>
              </a:rPr>
              <a:t>..</a:t>
            </a:r>
          </a:p>
          <a:p>
            <a:pPr lvl="2"/>
            <a:r>
              <a:rPr lang="ko-KR" altLang="en-US" dirty="0"/>
              <a:t>보안에</a:t>
            </a:r>
            <a:r>
              <a:rPr lang="en-US" altLang="ko-KR" dirty="0"/>
              <a:t> </a:t>
            </a:r>
            <a:r>
              <a:rPr lang="ko-KR" altLang="en-US" dirty="0"/>
              <a:t>취약하나 </a:t>
            </a:r>
            <a:r>
              <a:rPr lang="en-US" altLang="ko-KR" dirty="0"/>
              <a:t>form</a:t>
            </a:r>
            <a:r>
              <a:rPr lang="ko-KR" altLang="en-US" dirty="0"/>
              <a:t>을 생성할 필요가 없음</a:t>
            </a:r>
            <a:endParaRPr lang="en-US" altLang="ko-KR" dirty="0"/>
          </a:p>
          <a:p>
            <a:pPr lvl="2"/>
            <a:r>
              <a:rPr lang="en-US" altLang="ko-KR" dirty="0"/>
              <a:t>URL</a:t>
            </a:r>
            <a:r>
              <a:rPr lang="ko-KR" altLang="en-US" dirty="0"/>
              <a:t>에 포함되어 전달되기 때문에 길이의 제한이 있음</a:t>
            </a:r>
            <a:r>
              <a:rPr lang="en-US" altLang="ko-KR" dirty="0"/>
              <a:t>(2048</a:t>
            </a:r>
            <a:r>
              <a:rPr lang="ko-KR" altLang="en-US" dirty="0"/>
              <a:t>문자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POST 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2"/>
            <a:r>
              <a:rPr lang="en-US" altLang="ko-KR" dirty="0"/>
              <a:t>Form</a:t>
            </a:r>
            <a:r>
              <a:rPr lang="ko-KR" altLang="en-US" dirty="0"/>
              <a:t>을 생성하여 전송</a:t>
            </a:r>
            <a:endParaRPr lang="en-US" altLang="ko-KR" dirty="0"/>
          </a:p>
          <a:p>
            <a:pPr lvl="2"/>
            <a:r>
              <a:rPr lang="ko-KR" altLang="en-US" dirty="0"/>
              <a:t>데이터가 숨겨져서 전송이 되기 때문에 </a:t>
            </a:r>
            <a:r>
              <a:rPr lang="ko-KR" altLang="en-US" dirty="0" err="1"/>
              <a:t>보안성이</a:t>
            </a:r>
            <a:r>
              <a:rPr lang="ko-KR" altLang="en-US" dirty="0"/>
              <a:t> 높음</a:t>
            </a:r>
            <a:endParaRPr lang="en-US" altLang="ko-KR" dirty="0"/>
          </a:p>
          <a:p>
            <a:pPr lvl="2"/>
            <a:r>
              <a:rPr lang="ko-KR" altLang="en-US" dirty="0"/>
              <a:t>데이터의 길이 제한이 없음</a:t>
            </a:r>
            <a:endParaRPr lang="en-US" altLang="ko-KR" dirty="0"/>
          </a:p>
          <a:p>
            <a:pPr lvl="2"/>
            <a:endParaRPr lang="en-US" altLang="ko-KR" dirty="0"/>
          </a:p>
          <a:p>
            <a:pPr>
              <a:lnSpc>
                <a:spcPct val="170000"/>
              </a:lnSpc>
            </a:pPr>
            <a:r>
              <a:rPr lang="ko-KR" altLang="en-US" dirty="0"/>
              <a:t>결과 수신 형태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en-US" altLang="ko-KR" dirty="0"/>
              <a:t>RSS(XML) </a:t>
            </a:r>
            <a:r>
              <a:rPr lang="ko-KR" altLang="en-US" dirty="0"/>
              <a:t>형식으로 결과 데이터 수신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en-US" altLang="ko-KR" dirty="0"/>
              <a:t>JSON </a:t>
            </a:r>
            <a:r>
              <a:rPr lang="ko-KR" altLang="en-US" dirty="0"/>
              <a:t>형식으로 결과 </a:t>
            </a:r>
            <a:r>
              <a:rPr lang="ko-KR" altLang="en-US"/>
              <a:t>데이터 수신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30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Various </a:t>
            </a:r>
            <a:r>
              <a:rPr lang="en-US" altLang="ko-KR" b="1" dirty="0" err="1"/>
              <a:t>OpenAPIs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1900" dirty="0" err="1"/>
              <a:t>Naver</a:t>
            </a:r>
            <a:r>
              <a:rPr lang="en-US" altLang="ko-KR" sz="1900" dirty="0"/>
              <a:t> APIs (</a:t>
            </a:r>
            <a:r>
              <a:rPr lang="en-US" altLang="ko-KR" sz="1900" dirty="0">
                <a:hlinkClick r:id="rId2"/>
              </a:rPr>
              <a:t>http://dev.naver.com/openapi/</a:t>
            </a:r>
            <a:r>
              <a:rPr lang="en-US" altLang="ko-KR" sz="1900" dirty="0"/>
              <a:t>)</a:t>
            </a:r>
          </a:p>
          <a:p>
            <a:pPr lvl="1"/>
            <a:r>
              <a:rPr lang="ko-KR" altLang="en-US" dirty="0"/>
              <a:t>실시간 급상승 </a:t>
            </a:r>
            <a:r>
              <a:rPr lang="ko-KR" altLang="en-US" dirty="0" err="1"/>
              <a:t>검색어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  <a:r>
              <a:rPr lang="en-US" altLang="ko-KR" dirty="0" err="1"/>
              <a:t>iN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전문자료</a:t>
            </a:r>
            <a:r>
              <a:rPr lang="en-US" altLang="ko-KR" dirty="0"/>
              <a:t>, </a:t>
            </a:r>
            <a:r>
              <a:rPr lang="ko-KR" altLang="en-US" dirty="0"/>
              <a:t>책</a:t>
            </a:r>
            <a:r>
              <a:rPr lang="en-US" altLang="ko-KR" dirty="0"/>
              <a:t>, </a:t>
            </a:r>
            <a:r>
              <a:rPr lang="ko-KR" altLang="en-US" dirty="0"/>
              <a:t>영화</a:t>
            </a:r>
            <a:r>
              <a:rPr lang="en-US" altLang="ko-KR" dirty="0"/>
              <a:t>, </a:t>
            </a:r>
            <a:r>
              <a:rPr lang="ko-KR" altLang="en-US" dirty="0"/>
              <a:t>영화인</a:t>
            </a:r>
            <a:r>
              <a:rPr lang="en-US" altLang="ko-KR" dirty="0"/>
              <a:t>, </a:t>
            </a:r>
            <a:r>
              <a:rPr lang="ko-KR" altLang="en-US" dirty="0"/>
              <a:t>지역</a:t>
            </a:r>
            <a:r>
              <a:rPr lang="en-US" altLang="ko-KR" dirty="0"/>
              <a:t>, </a:t>
            </a:r>
            <a:r>
              <a:rPr lang="ko-KR" altLang="en-US" dirty="0"/>
              <a:t>쇼핑</a:t>
            </a:r>
            <a:r>
              <a:rPr lang="en-US" altLang="ko-KR" dirty="0"/>
              <a:t>, </a:t>
            </a:r>
            <a:r>
              <a:rPr lang="ko-KR" altLang="en-US" dirty="0"/>
              <a:t>자동차</a:t>
            </a:r>
            <a:r>
              <a:rPr lang="en-US" altLang="ko-KR" dirty="0"/>
              <a:t>, </a:t>
            </a:r>
            <a:r>
              <a:rPr lang="ko-KR" altLang="en-US" dirty="0"/>
              <a:t>자바스크립트 지도</a:t>
            </a:r>
            <a:r>
              <a:rPr lang="en-US" altLang="ko-KR" dirty="0"/>
              <a:t>, </a:t>
            </a:r>
            <a:r>
              <a:rPr lang="ko-KR" altLang="en-US" dirty="0"/>
              <a:t>플래시 지도</a:t>
            </a:r>
            <a:r>
              <a:rPr lang="en-US" altLang="ko-KR" dirty="0"/>
              <a:t>, </a:t>
            </a:r>
            <a:r>
              <a:rPr lang="ko-KR" altLang="en-US" dirty="0"/>
              <a:t>블로그 검색</a:t>
            </a:r>
            <a:r>
              <a:rPr lang="en-US" altLang="ko-KR" dirty="0"/>
              <a:t>, </a:t>
            </a:r>
            <a:r>
              <a:rPr lang="ko-KR" altLang="en-US" dirty="0"/>
              <a:t>카페 검색</a:t>
            </a:r>
            <a:r>
              <a:rPr lang="en-US" altLang="ko-KR" dirty="0"/>
              <a:t>, </a:t>
            </a:r>
            <a:r>
              <a:rPr lang="ko-KR" altLang="en-US" dirty="0" err="1"/>
              <a:t>웹문서</a:t>
            </a:r>
            <a:r>
              <a:rPr lang="ko-KR" altLang="en-US" dirty="0"/>
              <a:t> 검색</a:t>
            </a:r>
            <a:r>
              <a:rPr lang="en-US" altLang="ko-KR" dirty="0"/>
              <a:t>, </a:t>
            </a:r>
            <a:r>
              <a:rPr lang="ko-KR" altLang="en-US" dirty="0"/>
              <a:t>뉴스 검색</a:t>
            </a:r>
            <a:r>
              <a:rPr lang="en-US" altLang="ko-KR" dirty="0"/>
              <a:t>…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sz="1900" dirty="0" err="1"/>
              <a:t>Daum</a:t>
            </a:r>
            <a:r>
              <a:rPr lang="en-US" altLang="ko-KR" sz="1900" dirty="0"/>
              <a:t> APIs ( </a:t>
            </a:r>
            <a:r>
              <a:rPr lang="en-US" altLang="ko-KR" sz="1900" dirty="0">
                <a:hlinkClick r:id="rId3"/>
              </a:rPr>
              <a:t>http://dna.daum.net/</a:t>
            </a:r>
            <a:r>
              <a:rPr lang="en-US" altLang="ko-KR" sz="1900" dirty="0"/>
              <a:t> )</a:t>
            </a:r>
          </a:p>
          <a:p>
            <a:pPr lvl="1"/>
            <a:r>
              <a:rPr lang="ko-KR" altLang="en-US" dirty="0"/>
              <a:t>지도</a:t>
            </a:r>
            <a:r>
              <a:rPr lang="en-US" altLang="ko-KR" dirty="0"/>
              <a:t>, </a:t>
            </a:r>
            <a:r>
              <a:rPr lang="ko-KR" altLang="en-US" dirty="0"/>
              <a:t>실시간 </a:t>
            </a:r>
            <a:r>
              <a:rPr lang="ko-KR" altLang="en-US" dirty="0" err="1"/>
              <a:t>검색어</a:t>
            </a:r>
            <a:r>
              <a:rPr lang="en-US" altLang="ko-KR" dirty="0"/>
              <a:t>, </a:t>
            </a:r>
            <a:r>
              <a:rPr lang="ko-KR" altLang="en-US" dirty="0"/>
              <a:t>영화</a:t>
            </a:r>
            <a:r>
              <a:rPr lang="en-US" altLang="ko-KR" dirty="0"/>
              <a:t>, </a:t>
            </a:r>
            <a:r>
              <a:rPr lang="ko-KR" altLang="en-US" dirty="0"/>
              <a:t>축제</a:t>
            </a:r>
            <a:r>
              <a:rPr lang="en-US" altLang="ko-KR" dirty="0"/>
              <a:t>, </a:t>
            </a:r>
            <a:r>
              <a:rPr lang="ko-KR" altLang="en-US" dirty="0"/>
              <a:t>쇼핑 검색</a:t>
            </a:r>
            <a:r>
              <a:rPr lang="en-US" altLang="ko-KR" dirty="0"/>
              <a:t>, </a:t>
            </a:r>
            <a:r>
              <a:rPr lang="ko-KR" altLang="en-US" dirty="0"/>
              <a:t>쇼핑 상품</a:t>
            </a:r>
            <a:r>
              <a:rPr lang="en-US" altLang="ko-KR" dirty="0"/>
              <a:t>, </a:t>
            </a:r>
            <a:r>
              <a:rPr lang="ko-KR" altLang="en-US" dirty="0"/>
              <a:t>지식 검색</a:t>
            </a:r>
            <a:r>
              <a:rPr lang="en-US" altLang="ko-KR" dirty="0"/>
              <a:t>, </a:t>
            </a:r>
            <a:r>
              <a:rPr lang="ko-KR" altLang="en-US" dirty="0"/>
              <a:t>게시판 검색</a:t>
            </a:r>
            <a:r>
              <a:rPr lang="en-US" altLang="ko-KR" dirty="0"/>
              <a:t>, </a:t>
            </a:r>
            <a:r>
              <a:rPr lang="ko-KR" altLang="en-US" dirty="0"/>
              <a:t>카페 검색</a:t>
            </a:r>
            <a:r>
              <a:rPr lang="en-US" altLang="ko-KR" dirty="0"/>
              <a:t>, </a:t>
            </a:r>
            <a:r>
              <a:rPr lang="ko-KR" altLang="en-US" dirty="0"/>
              <a:t>블로그 검색</a:t>
            </a:r>
            <a:r>
              <a:rPr lang="en-US" altLang="ko-KR" dirty="0"/>
              <a:t>, </a:t>
            </a:r>
            <a:r>
              <a:rPr lang="ko-KR" altLang="en-US" dirty="0"/>
              <a:t>책</a:t>
            </a:r>
            <a:r>
              <a:rPr lang="en-US" altLang="ko-KR" dirty="0"/>
              <a:t>, </a:t>
            </a:r>
            <a:r>
              <a:rPr lang="ko-KR" altLang="en-US" dirty="0"/>
              <a:t>동영상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…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lvl="1"/>
            <a:endParaRPr lang="en-US" altLang="ko-KR" dirty="0"/>
          </a:p>
          <a:p>
            <a:pPr indent="-285750"/>
            <a:r>
              <a:rPr lang="en-US" altLang="ko-KR" dirty="0"/>
              <a:t>Google APIs(</a:t>
            </a:r>
            <a:r>
              <a:rPr lang="en-US" altLang="ko-KR" dirty="0">
                <a:hlinkClick r:id="rId4"/>
              </a:rPr>
              <a:t>https://developers.google.com/?hl=ko/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애드센스</a:t>
            </a:r>
            <a:r>
              <a:rPr lang="en-US" altLang="ko-KR" dirty="0"/>
              <a:t>(</a:t>
            </a:r>
            <a:r>
              <a:rPr lang="ko-KR" altLang="en-US" dirty="0"/>
              <a:t>광고 </a:t>
            </a:r>
            <a:r>
              <a:rPr lang="en-US" altLang="ko-KR" dirty="0"/>
              <a:t>API), </a:t>
            </a:r>
            <a:r>
              <a:rPr lang="ko-KR" altLang="en-US" dirty="0"/>
              <a:t>지도</a:t>
            </a:r>
            <a:r>
              <a:rPr lang="en-US" altLang="ko-KR" dirty="0"/>
              <a:t>, </a:t>
            </a:r>
            <a:r>
              <a:rPr lang="ko-KR" altLang="en-US" dirty="0"/>
              <a:t>도서 검색</a:t>
            </a:r>
            <a:r>
              <a:rPr lang="en-US" altLang="ko-KR" dirty="0"/>
              <a:t>, Picasa(</a:t>
            </a:r>
            <a:r>
              <a:rPr lang="ko-KR" altLang="en-US" dirty="0" err="1"/>
              <a:t>이미지뷰어</a:t>
            </a:r>
            <a:r>
              <a:rPr lang="ko-KR" altLang="en-US" dirty="0"/>
              <a:t> </a:t>
            </a:r>
            <a:r>
              <a:rPr lang="en-US" altLang="ko-KR" dirty="0"/>
              <a:t>API), </a:t>
            </a:r>
            <a:r>
              <a:rPr lang="ko-KR" altLang="en-US" dirty="0"/>
              <a:t>캘린더</a:t>
            </a:r>
            <a:r>
              <a:rPr lang="en-US" altLang="ko-KR" dirty="0"/>
              <a:t>, </a:t>
            </a:r>
            <a:r>
              <a:rPr lang="ko-KR" altLang="en-US" dirty="0"/>
              <a:t>구글 어스</a:t>
            </a:r>
            <a:r>
              <a:rPr lang="en-US" altLang="ko-KR" dirty="0"/>
              <a:t>, </a:t>
            </a:r>
            <a:r>
              <a:rPr lang="ko-KR" altLang="en-US" dirty="0"/>
              <a:t>구글 웨이브</a:t>
            </a:r>
            <a:r>
              <a:rPr lang="en-US" altLang="ko-KR" dirty="0"/>
              <a:t>… </a:t>
            </a:r>
            <a:r>
              <a:rPr lang="en-US" altLang="ko-KR" dirty="0" err="1"/>
              <a:t>etc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33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Various </a:t>
            </a:r>
            <a:r>
              <a:rPr lang="en-US" altLang="ko-KR" b="1" dirty="0" err="1"/>
              <a:t>OpenAPIs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Twitter APIs (</a:t>
            </a:r>
            <a:r>
              <a:rPr lang="en-US" altLang="ko-KR" dirty="0">
                <a:hlinkClick r:id="rId2"/>
              </a:rPr>
              <a:t>https://dev.twitter.com/overview/api</a:t>
            </a:r>
            <a:r>
              <a:rPr lang="en-US" altLang="ko-KR" dirty="0"/>
              <a:t> )</a:t>
            </a:r>
          </a:p>
          <a:p>
            <a:pPr lvl="1"/>
            <a:r>
              <a:rPr lang="en-US" altLang="ko-KR" dirty="0"/>
              <a:t>Tweet, List, Retweet, Favorite, Block, Follow </a:t>
            </a:r>
            <a:r>
              <a:rPr lang="ko-KR" altLang="en-US" dirty="0"/>
              <a:t>등 거의 모든 기능</a:t>
            </a:r>
            <a:r>
              <a:rPr lang="en-US" altLang="ko-KR" dirty="0"/>
              <a:t>, </a:t>
            </a:r>
            <a:r>
              <a:rPr lang="ko-KR" altLang="en-US" dirty="0"/>
              <a:t>실시간 </a:t>
            </a:r>
            <a:r>
              <a:rPr lang="en-US" altLang="ko-KR" dirty="0"/>
              <a:t>Trend </a:t>
            </a:r>
            <a:r>
              <a:rPr lang="ko-KR" altLang="en-US" dirty="0"/>
              <a:t>보기</a:t>
            </a:r>
            <a:r>
              <a:rPr lang="en-US" altLang="ko-KR" dirty="0"/>
              <a:t>, </a:t>
            </a:r>
            <a:r>
              <a:rPr lang="ko-KR" altLang="en-US" dirty="0"/>
              <a:t>예전 </a:t>
            </a:r>
            <a:r>
              <a:rPr lang="en-US" altLang="ko-KR" dirty="0"/>
              <a:t>Trend </a:t>
            </a:r>
            <a:r>
              <a:rPr lang="ko-KR" altLang="en-US" dirty="0"/>
              <a:t>보기</a:t>
            </a:r>
            <a:r>
              <a:rPr lang="en-US" altLang="ko-KR" dirty="0"/>
              <a:t>, </a:t>
            </a:r>
            <a:r>
              <a:rPr lang="ko-KR" altLang="en-US" dirty="0" err="1"/>
              <a:t>사용자별</a:t>
            </a:r>
            <a:r>
              <a:rPr lang="ko-KR" altLang="en-US" dirty="0"/>
              <a:t> 트윗 검색</a:t>
            </a:r>
            <a:r>
              <a:rPr lang="en-US" altLang="ko-KR" dirty="0"/>
              <a:t>, </a:t>
            </a:r>
            <a:r>
              <a:rPr lang="ko-KR" altLang="en-US" dirty="0"/>
              <a:t>공개 트윗 스트리밍</a:t>
            </a:r>
            <a:r>
              <a:rPr lang="en-US" altLang="ko-KR" dirty="0"/>
              <a:t>…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Facebook APIs (</a:t>
            </a:r>
            <a:r>
              <a:rPr lang="en-US" altLang="ko-KR" dirty="0">
                <a:hlinkClick r:id="rId3"/>
              </a:rPr>
              <a:t>http://developers.facebook.com/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로그인 상태</a:t>
            </a:r>
            <a:r>
              <a:rPr lang="en-US" altLang="ko-KR" dirty="0"/>
              <a:t>, ‘</a:t>
            </a:r>
            <a:r>
              <a:rPr lang="ko-KR" altLang="en-US" dirty="0"/>
              <a:t>좋아요</a:t>
            </a:r>
            <a:r>
              <a:rPr lang="en-US" altLang="ko-KR" dirty="0"/>
              <a:t>’</a:t>
            </a:r>
            <a:r>
              <a:rPr lang="ko-KR" altLang="en-US" dirty="0"/>
              <a:t> 기능</a:t>
            </a:r>
            <a:r>
              <a:rPr lang="en-US" altLang="ko-KR" dirty="0"/>
              <a:t>, </a:t>
            </a:r>
            <a:r>
              <a:rPr lang="ko-KR" altLang="en-US" dirty="0"/>
              <a:t>사용자 정보 및 친구 정보</a:t>
            </a:r>
            <a:r>
              <a:rPr lang="en-US" altLang="ko-KR" dirty="0"/>
              <a:t>… </a:t>
            </a:r>
            <a:r>
              <a:rPr lang="en-US" altLang="ko-KR" dirty="0" err="1"/>
              <a:t>etc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16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6" y="2181507"/>
            <a:ext cx="8654877" cy="16287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542552"/>
            <a:ext cx="8596668" cy="3880773"/>
          </a:xfrm>
        </p:spPr>
        <p:txBody>
          <a:bodyPr/>
          <a:lstStyle/>
          <a:p>
            <a:r>
              <a:rPr lang="ko-KR" altLang="en-US" dirty="0"/>
              <a:t>네이버 블로그 검색 실습</a:t>
            </a:r>
            <a:r>
              <a:rPr lang="en-US" altLang="ko-KR" dirty="0"/>
              <a:t>(</a:t>
            </a:r>
            <a:r>
              <a:rPr lang="en-US" altLang="ko-KR" b="1" dirty="0">
                <a:latin typeface="+mn-ea"/>
              </a:rPr>
              <a:t>https://developers.naver.com/main/)</a:t>
            </a:r>
          </a:p>
          <a:p>
            <a:pPr lvl="1"/>
            <a:r>
              <a:rPr lang="ko-KR" altLang="en-US" b="1" dirty="0">
                <a:latin typeface="+mn-ea"/>
              </a:rPr>
              <a:t>로그인 후 네이버 </a:t>
            </a:r>
            <a:r>
              <a:rPr lang="en-US" altLang="ko-KR" b="1" dirty="0">
                <a:latin typeface="+mn-ea"/>
              </a:rPr>
              <a:t>API </a:t>
            </a:r>
            <a:r>
              <a:rPr lang="ko-KR" altLang="en-US" b="1" dirty="0">
                <a:latin typeface="+mn-ea"/>
              </a:rPr>
              <a:t>키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발급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945328" y="2405677"/>
            <a:ext cx="760289" cy="847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314" y="4704520"/>
            <a:ext cx="4457700" cy="94297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183274" y="4839128"/>
            <a:ext cx="2118191" cy="7128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888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99" y="1633591"/>
            <a:ext cx="9038251" cy="48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1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08526"/>
            <a:ext cx="8596668" cy="3880773"/>
          </a:xfrm>
        </p:spPr>
        <p:txBody>
          <a:bodyPr/>
          <a:lstStyle/>
          <a:p>
            <a:pPr marL="342900" lvl="1" indent="-342900"/>
            <a:r>
              <a:rPr lang="ko-KR" altLang="en-US" b="1" dirty="0" err="1">
                <a:latin typeface="+mn-ea"/>
              </a:rPr>
              <a:t>비로그인</a:t>
            </a:r>
            <a:r>
              <a:rPr lang="ko-KR" altLang="en-US" b="1" dirty="0">
                <a:latin typeface="+mn-ea"/>
              </a:rPr>
              <a:t> 오픈 </a:t>
            </a:r>
            <a:r>
              <a:rPr lang="en-US" altLang="ko-KR" b="1" dirty="0">
                <a:latin typeface="+mn-ea"/>
              </a:rPr>
              <a:t>API </a:t>
            </a:r>
            <a:r>
              <a:rPr lang="ko-KR" altLang="en-US" b="1" dirty="0">
                <a:latin typeface="+mn-ea"/>
              </a:rPr>
              <a:t>서비스 환경 설정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등록하기</a:t>
            </a:r>
            <a:endParaRPr lang="en-US" altLang="ko-KR" b="1" dirty="0">
              <a:latin typeface="+mn-ea"/>
              <a:sym typeface="Wingdings" panose="05000000000000000000" pitchFamily="2" charset="2"/>
            </a:endParaRPr>
          </a:p>
          <a:p>
            <a:pPr marL="342900" lvl="1" indent="-342900"/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578" y="2439149"/>
            <a:ext cx="84582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6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572236"/>
            <a:ext cx="8596668" cy="3880773"/>
          </a:xfrm>
        </p:spPr>
        <p:txBody>
          <a:bodyPr/>
          <a:lstStyle/>
          <a:p>
            <a:r>
              <a:rPr lang="ko-KR" altLang="en-US" dirty="0"/>
              <a:t>내 애플리케이션에서 </a:t>
            </a:r>
            <a:r>
              <a:rPr lang="en-US" altLang="ko-KR" dirty="0"/>
              <a:t>Client ID</a:t>
            </a:r>
            <a:r>
              <a:rPr lang="ko-KR" altLang="en-US" dirty="0"/>
              <a:t>클릭</a:t>
            </a:r>
            <a:endParaRPr lang="en-US" altLang="ko-KR" dirty="0"/>
          </a:p>
          <a:p>
            <a:r>
              <a:rPr lang="en-US" altLang="ko-KR" dirty="0"/>
              <a:t>Client ID</a:t>
            </a:r>
            <a:r>
              <a:rPr lang="ko-KR" altLang="en-US" dirty="0"/>
              <a:t>와 </a:t>
            </a:r>
            <a:r>
              <a:rPr lang="en-US" altLang="ko-KR" dirty="0"/>
              <a:t>Client Secret</a:t>
            </a:r>
            <a:r>
              <a:rPr lang="ko-KR" altLang="en-US" dirty="0"/>
              <a:t>정보 확인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52" y="2657261"/>
            <a:ext cx="8591550" cy="127635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664413" y="3616503"/>
            <a:ext cx="15719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003" y="4321568"/>
            <a:ext cx="65151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1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9188" y="2134741"/>
            <a:ext cx="75748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&lt;%@ page language=</a:t>
            </a:r>
            <a:r>
              <a:rPr lang="en-US" altLang="ko-KR" sz="1600" i="1" dirty="0"/>
              <a:t>"java" </a:t>
            </a:r>
            <a:r>
              <a:rPr lang="en-US" altLang="ko-KR" sz="1600" i="1" dirty="0" err="1"/>
              <a:t>contentType</a:t>
            </a:r>
            <a:r>
              <a:rPr lang="en-US" altLang="ko-KR" sz="1600" i="1" dirty="0"/>
              <a:t>="text/html; charset=EUC-KR"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pageEncoding</a:t>
            </a:r>
            <a:r>
              <a:rPr lang="en-US" altLang="ko-KR" sz="1600" dirty="0"/>
              <a:t>=</a:t>
            </a:r>
            <a:r>
              <a:rPr lang="en-US" altLang="ko-KR" sz="1600" i="1" dirty="0"/>
              <a:t>"EUC-KR"%&gt;</a:t>
            </a:r>
          </a:p>
          <a:p>
            <a:r>
              <a:rPr lang="en-US" altLang="ko-KR" sz="1600" dirty="0"/>
              <a:t>&lt;%@page import 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jspTest.TestApi</a:t>
            </a:r>
            <a:r>
              <a:rPr lang="en-US" altLang="ko-KR" sz="1600" i="1" dirty="0"/>
              <a:t>"</a:t>
            </a:r>
          </a:p>
          <a:p>
            <a:r>
              <a:rPr lang="en-US" altLang="ko-KR" sz="1600" dirty="0"/>
              <a:t>import=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java.io.BufferedReader</a:t>
            </a:r>
            <a:r>
              <a:rPr lang="en-US" altLang="ko-KR" sz="1600" i="1" dirty="0"/>
              <a:t>"</a:t>
            </a:r>
          </a:p>
          <a:p>
            <a:r>
              <a:rPr lang="en-US" altLang="ko-KR" sz="1600" dirty="0"/>
              <a:t>import= 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java.io.InputStreamReader</a:t>
            </a:r>
            <a:r>
              <a:rPr lang="en-US" altLang="ko-KR" sz="1600" i="1" dirty="0"/>
              <a:t>"</a:t>
            </a:r>
          </a:p>
          <a:p>
            <a:r>
              <a:rPr lang="en-US" altLang="ko-KR" sz="1600" dirty="0"/>
              <a:t>import= 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java.net.HttpURLConnection</a:t>
            </a:r>
            <a:r>
              <a:rPr lang="en-US" altLang="ko-KR" sz="1600" i="1" dirty="0"/>
              <a:t>"</a:t>
            </a:r>
          </a:p>
          <a:p>
            <a:r>
              <a:rPr lang="en-US" altLang="ko-KR" sz="1600" dirty="0"/>
              <a:t>import= </a:t>
            </a:r>
            <a:r>
              <a:rPr lang="en-US" altLang="ko-KR" sz="1600" i="1" dirty="0"/>
              <a:t>"java.net.URL"</a:t>
            </a:r>
          </a:p>
          <a:p>
            <a:r>
              <a:rPr lang="en-US" altLang="ko-KR" sz="1600" dirty="0"/>
              <a:t>import= 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java.net.URLEncoder</a:t>
            </a:r>
            <a:r>
              <a:rPr lang="en-US" altLang="ko-KR" sz="1600" i="1" dirty="0"/>
              <a:t>"</a:t>
            </a:r>
          </a:p>
          <a:p>
            <a:r>
              <a:rPr lang="en-US" altLang="ko-KR" sz="1600" dirty="0"/>
              <a:t>%&gt;</a:t>
            </a:r>
          </a:p>
          <a:p>
            <a:endParaRPr lang="ko-KR" altLang="en-US" sz="1600" dirty="0"/>
          </a:p>
          <a:p>
            <a:r>
              <a:rPr lang="en-US" altLang="ko-KR" sz="1600" dirty="0"/>
              <a:t>&lt;%!</a:t>
            </a:r>
          </a:p>
          <a:p>
            <a:r>
              <a:rPr lang="en-US" altLang="ko-KR" sz="1600" dirty="0" err="1"/>
              <a:t>StringBuffer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sb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/>
              <a:t>String </a:t>
            </a:r>
            <a:r>
              <a:rPr lang="en-US" altLang="ko-KR" sz="1600" dirty="0" err="1"/>
              <a:t>clientId</a:t>
            </a:r>
            <a:r>
              <a:rPr lang="en-US" altLang="ko-KR" sz="1600" dirty="0"/>
              <a:t> = "";// </a:t>
            </a:r>
            <a:r>
              <a:rPr lang="ko-KR" altLang="en-US" sz="1600" dirty="0"/>
              <a:t>애플리케이션 클라이언트 </a:t>
            </a:r>
            <a:r>
              <a:rPr lang="ko-KR" altLang="en-US" sz="1600" dirty="0" err="1"/>
              <a:t>아이디값</a:t>
            </a:r>
            <a:r>
              <a:rPr lang="en-US" altLang="ko-KR" sz="1600" dirty="0"/>
              <a:t>";</a:t>
            </a:r>
          </a:p>
          <a:p>
            <a:r>
              <a:rPr lang="en-US" altLang="ko-KR" sz="1600" dirty="0"/>
              <a:t>String </a:t>
            </a:r>
            <a:r>
              <a:rPr lang="en-US" altLang="ko-KR" sz="1600" dirty="0" err="1"/>
              <a:t>clientSecret</a:t>
            </a:r>
            <a:r>
              <a:rPr lang="en-US" altLang="ko-KR" sz="1600" dirty="0"/>
              <a:t> = "";// </a:t>
            </a:r>
            <a:r>
              <a:rPr lang="ko-KR" altLang="en-US" sz="1600" dirty="0"/>
              <a:t>애플리케이션 클라이언트 </a:t>
            </a:r>
            <a:r>
              <a:rPr lang="ko-KR" altLang="en-US" sz="1600" dirty="0" err="1"/>
              <a:t>시크릿값</a:t>
            </a:r>
            <a:r>
              <a:rPr lang="en-US" altLang="ko-KR" sz="1600" dirty="0"/>
              <a:t>";\</a:t>
            </a:r>
          </a:p>
          <a:p>
            <a:r>
              <a:rPr lang="en-US" altLang="ko-KR" sz="1600" dirty="0"/>
              <a:t>%&gt;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77334" y="1397285"/>
            <a:ext cx="236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TestApi.jsp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12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4298" y="374054"/>
            <a:ext cx="798302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&lt;!DOCTYPE html PUBLIC "-//W3C//DTD HTML 4.01 Transitional//EN" "http://www.w3.org/TR/html4/loose.dtd"&gt;</a:t>
            </a:r>
          </a:p>
          <a:p>
            <a:r>
              <a:rPr lang="en-US" altLang="ko-KR" sz="1000" dirty="0"/>
              <a:t>&lt;html&gt;</a:t>
            </a:r>
          </a:p>
          <a:p>
            <a:r>
              <a:rPr lang="en-US" altLang="ko-KR" sz="1000" dirty="0"/>
              <a:t>&lt;head&gt;</a:t>
            </a:r>
          </a:p>
          <a:p>
            <a:r>
              <a:rPr lang="fr-FR" altLang="ko-KR" sz="1000" dirty="0"/>
              <a:t>&lt;meta http-equiv=</a:t>
            </a:r>
            <a:r>
              <a:rPr lang="fr-FR" altLang="ko-KR" sz="1000" i="1" dirty="0"/>
              <a:t>"Content-Type" content="text/html; charset=EUC-KR"&gt;</a:t>
            </a:r>
          </a:p>
          <a:p>
            <a:r>
              <a:rPr lang="en-US" altLang="ko-KR" sz="1000" dirty="0"/>
              <a:t>&lt;title&gt;Insert title here&lt;/title&gt;</a:t>
            </a:r>
          </a:p>
          <a:p>
            <a:r>
              <a:rPr lang="en-US" altLang="ko-KR" sz="1000" dirty="0"/>
              <a:t>&lt;/head&gt;</a:t>
            </a:r>
          </a:p>
          <a:p>
            <a:r>
              <a:rPr lang="en-US" altLang="ko-KR" sz="1000" dirty="0"/>
              <a:t>&lt;body&gt;</a:t>
            </a:r>
          </a:p>
          <a:p>
            <a:r>
              <a:rPr lang="en-US" altLang="ko-KR" sz="1000" dirty="0"/>
              <a:t>&lt;%</a:t>
            </a:r>
            <a:r>
              <a:rPr lang="ko-KR" altLang="en-US" sz="1000" dirty="0"/>
              <a:t> </a:t>
            </a:r>
          </a:p>
          <a:p>
            <a:r>
              <a:rPr lang="en-US" altLang="ko-KR" sz="1000" b="1" dirty="0" err="1"/>
              <a:t>int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display = 5; // </a:t>
            </a:r>
            <a:r>
              <a:rPr lang="ko-KR" altLang="en-US" sz="1000" b="1" dirty="0" err="1"/>
              <a:t>검색결과갯수</a:t>
            </a:r>
            <a:r>
              <a:rPr lang="en-US" altLang="ko-KR" sz="1000" b="1" dirty="0"/>
              <a:t>. </a:t>
            </a:r>
            <a:r>
              <a:rPr lang="ko-KR" altLang="en-US" sz="1000" b="1" dirty="0"/>
              <a:t>최대</a:t>
            </a:r>
            <a:r>
              <a:rPr lang="en-US" altLang="ko-KR" sz="1000" b="1" dirty="0"/>
              <a:t>100</a:t>
            </a:r>
            <a:r>
              <a:rPr lang="ko-KR" altLang="en-US" sz="1000" b="1" dirty="0"/>
              <a:t>개</a:t>
            </a:r>
          </a:p>
          <a:p>
            <a:r>
              <a:rPr lang="en-US" altLang="ko-KR" sz="1000" b="1" dirty="0"/>
              <a:t>try {</a:t>
            </a:r>
          </a:p>
          <a:p>
            <a:r>
              <a:rPr lang="en-US" altLang="ko-KR" sz="1000" dirty="0"/>
              <a:t>    String text = </a:t>
            </a:r>
            <a:r>
              <a:rPr lang="en-US" altLang="ko-KR" sz="1000" dirty="0" err="1"/>
              <a:t>URLEncoder.encode</a:t>
            </a:r>
            <a:r>
              <a:rPr lang="en-US" altLang="ko-KR" sz="1000" dirty="0"/>
              <a:t>("</a:t>
            </a:r>
            <a:r>
              <a:rPr lang="ko-KR" altLang="en-US" sz="1000" dirty="0"/>
              <a:t>부산대학교</a:t>
            </a:r>
            <a:r>
              <a:rPr lang="en-US" altLang="ko-KR" sz="1000" dirty="0"/>
              <a:t>", "UTF-8");</a:t>
            </a:r>
          </a:p>
          <a:p>
            <a:r>
              <a:rPr lang="en-US" altLang="ko-KR" sz="1000" dirty="0"/>
              <a:t>    String </a:t>
            </a:r>
            <a:r>
              <a:rPr lang="en-US" altLang="ko-KR" sz="1000" dirty="0" err="1"/>
              <a:t>apiURL</a:t>
            </a:r>
            <a:r>
              <a:rPr lang="en-US" altLang="ko-KR" sz="1000" dirty="0"/>
              <a:t> = "https://openapi.naver.com/v1/search/</a:t>
            </a:r>
            <a:r>
              <a:rPr lang="en-US" altLang="ko-KR" sz="1000" dirty="0" err="1"/>
              <a:t>blog.json?query</a:t>
            </a:r>
            <a:r>
              <a:rPr lang="en-US" altLang="ko-KR" sz="1000" dirty="0"/>
              <a:t>=" + text+"&amp;display="+display;</a:t>
            </a:r>
          </a:p>
          <a:p>
            <a:r>
              <a:rPr lang="en-US" altLang="ko-KR" sz="1000" dirty="0"/>
              <a:t>    URL </a:t>
            </a:r>
            <a:r>
              <a:rPr lang="en-US" altLang="ko-KR" sz="1000" dirty="0" err="1"/>
              <a:t>url</a:t>
            </a:r>
            <a:r>
              <a:rPr lang="en-US" altLang="ko-KR" sz="1000" dirty="0"/>
              <a:t> = </a:t>
            </a:r>
            <a:r>
              <a:rPr lang="en-US" altLang="ko-KR" sz="1000" b="1" dirty="0"/>
              <a:t>new URL(</a:t>
            </a:r>
            <a:r>
              <a:rPr lang="en-US" altLang="ko-KR" sz="1000" b="1" dirty="0" err="1"/>
              <a:t>apiURL</a:t>
            </a:r>
            <a:r>
              <a:rPr lang="en-US" altLang="ko-KR" sz="1000" b="1" dirty="0"/>
              <a:t>);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HttpURLConnection</a:t>
            </a:r>
            <a:r>
              <a:rPr lang="en-US" altLang="ko-KR" sz="1000" dirty="0"/>
              <a:t> con = (</a:t>
            </a:r>
            <a:r>
              <a:rPr lang="en-US" altLang="ko-KR" sz="1000" dirty="0" err="1"/>
              <a:t>HttpURLConnection</a:t>
            </a:r>
            <a:r>
              <a:rPr lang="en-US" altLang="ko-KR" sz="1000" dirty="0"/>
              <a:t>) </a:t>
            </a:r>
            <a:r>
              <a:rPr lang="en-US" altLang="ko-KR" sz="1000" dirty="0" err="1"/>
              <a:t>url.openConnection</a:t>
            </a:r>
            <a:r>
              <a:rPr lang="en-US" altLang="ko-KR" sz="1000" dirty="0"/>
              <a:t>();</a:t>
            </a:r>
          </a:p>
          <a:p>
            <a:r>
              <a:rPr lang="ko-KR" altLang="en-US" sz="1000" dirty="0"/>
              <a:t>    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con.setRequestMethod</a:t>
            </a:r>
            <a:r>
              <a:rPr lang="en-US" altLang="ko-KR" sz="1000" dirty="0"/>
              <a:t>("GET");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con.setRequestProperty</a:t>
            </a:r>
            <a:r>
              <a:rPr lang="en-US" altLang="ko-KR" sz="1000" dirty="0"/>
              <a:t>("X-</a:t>
            </a:r>
            <a:r>
              <a:rPr lang="en-US" altLang="ko-KR" sz="1000" dirty="0" err="1"/>
              <a:t>Naver</a:t>
            </a:r>
            <a:r>
              <a:rPr lang="en-US" altLang="ko-KR" sz="1000" dirty="0"/>
              <a:t>-Client-Id", </a:t>
            </a:r>
            <a:r>
              <a:rPr lang="en-US" altLang="ko-KR" sz="1000" dirty="0" err="1"/>
              <a:t>clientId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con.setRequestProperty</a:t>
            </a:r>
            <a:r>
              <a:rPr lang="en-US" altLang="ko-KR" sz="1000" dirty="0"/>
              <a:t>("X-</a:t>
            </a:r>
            <a:r>
              <a:rPr lang="en-US" altLang="ko-KR" sz="1000" dirty="0" err="1"/>
              <a:t>Naver</a:t>
            </a:r>
            <a:r>
              <a:rPr lang="en-US" altLang="ko-KR" sz="1000" dirty="0"/>
              <a:t>-Client-Secret", </a:t>
            </a:r>
            <a:r>
              <a:rPr lang="en-US" altLang="ko-KR" sz="1000" dirty="0" err="1"/>
              <a:t>clientSecret</a:t>
            </a:r>
            <a:r>
              <a:rPr lang="en-US" altLang="ko-KR" sz="1000" dirty="0"/>
              <a:t>);</a:t>
            </a:r>
          </a:p>
          <a:p>
            <a:r>
              <a:rPr lang="en-US" altLang="ko-KR" sz="1000" dirty="0"/>
              <a:t>    </a:t>
            </a:r>
            <a:r>
              <a:rPr lang="en-US" altLang="ko-KR" sz="1000" b="1" dirty="0" err="1"/>
              <a:t>int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responseCode</a:t>
            </a:r>
            <a:r>
              <a:rPr lang="en-US" altLang="ko-KR" sz="1000" b="1" dirty="0"/>
              <a:t> = </a:t>
            </a:r>
            <a:r>
              <a:rPr lang="en-US" altLang="ko-KR" sz="1000" b="1" dirty="0" err="1"/>
              <a:t>con.getResponseCode</a:t>
            </a:r>
            <a:r>
              <a:rPr lang="en-US" altLang="ko-KR" sz="1000" b="1" dirty="0"/>
              <a:t>();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BufferedReader</a:t>
            </a:r>
            <a:r>
              <a:rPr lang="en-US" altLang="ko-KR" sz="1000" dirty="0"/>
              <a:t> </a:t>
            </a:r>
            <a:r>
              <a:rPr lang="en-US" altLang="ko-KR" sz="1000" dirty="0" err="1"/>
              <a:t>br</a:t>
            </a:r>
            <a:r>
              <a:rPr lang="en-US" altLang="ko-KR" sz="1000" dirty="0"/>
              <a:t>;</a:t>
            </a:r>
          </a:p>
          <a:p>
            <a:r>
              <a:rPr lang="en-US" altLang="ko-KR" sz="1000" dirty="0"/>
              <a:t>    </a:t>
            </a:r>
            <a:r>
              <a:rPr lang="en-US" altLang="ko-KR" sz="1000" b="1" dirty="0"/>
              <a:t>if (</a:t>
            </a:r>
            <a:r>
              <a:rPr lang="en-US" altLang="ko-KR" sz="1000" b="1" dirty="0" err="1"/>
              <a:t>responseCode</a:t>
            </a:r>
            <a:r>
              <a:rPr lang="en-US" altLang="ko-KR" sz="1000" b="1" dirty="0"/>
              <a:t> == 200) { </a:t>
            </a:r>
          </a:p>
          <a:p>
            <a:r>
              <a:rPr lang="en-US" altLang="ko-KR" sz="1000" dirty="0"/>
              <a:t>        </a:t>
            </a:r>
            <a:r>
              <a:rPr lang="en-US" altLang="ko-KR" sz="1000" dirty="0" err="1"/>
              <a:t>br</a:t>
            </a:r>
            <a:r>
              <a:rPr lang="en-US" altLang="ko-KR" sz="1000" dirty="0"/>
              <a:t> = </a:t>
            </a:r>
            <a:r>
              <a:rPr lang="en-US" altLang="ko-KR" sz="1000" b="1" dirty="0"/>
              <a:t>new </a:t>
            </a:r>
            <a:r>
              <a:rPr lang="en-US" altLang="ko-KR" sz="1000" b="1" dirty="0" err="1"/>
              <a:t>BufferedReader</a:t>
            </a:r>
            <a:r>
              <a:rPr lang="en-US" altLang="ko-KR" sz="1000" b="1" dirty="0"/>
              <a:t>(new </a:t>
            </a:r>
            <a:r>
              <a:rPr lang="en-US" altLang="ko-KR" sz="1000" b="1" dirty="0" err="1"/>
              <a:t>InputStreamReader</a:t>
            </a:r>
            <a:r>
              <a:rPr lang="en-US" altLang="ko-KR" sz="1000" b="1" dirty="0"/>
              <a:t>(</a:t>
            </a:r>
            <a:r>
              <a:rPr lang="en-US" altLang="ko-KR" sz="1000" b="1" dirty="0" err="1"/>
              <a:t>con.getInputStream</a:t>
            </a:r>
            <a:r>
              <a:rPr lang="en-US" altLang="ko-KR" sz="1000" b="1" dirty="0"/>
              <a:t>(),"UTF-8"));</a:t>
            </a:r>
          </a:p>
          <a:p>
            <a:r>
              <a:rPr lang="en-US" altLang="ko-KR" sz="1000" dirty="0"/>
              <a:t>    } </a:t>
            </a:r>
            <a:r>
              <a:rPr lang="en-US" altLang="ko-KR" sz="1000" b="1" dirty="0"/>
              <a:t>else { </a:t>
            </a:r>
          </a:p>
          <a:p>
            <a:r>
              <a:rPr lang="en-US" altLang="ko-KR" sz="1000" dirty="0"/>
              <a:t>        </a:t>
            </a:r>
            <a:r>
              <a:rPr lang="en-US" altLang="ko-KR" sz="1000" dirty="0" err="1"/>
              <a:t>br</a:t>
            </a:r>
            <a:r>
              <a:rPr lang="en-US" altLang="ko-KR" sz="1000" dirty="0"/>
              <a:t> = </a:t>
            </a:r>
            <a:r>
              <a:rPr lang="en-US" altLang="ko-KR" sz="1000" b="1" dirty="0"/>
              <a:t>new </a:t>
            </a:r>
            <a:r>
              <a:rPr lang="en-US" altLang="ko-KR" sz="1000" b="1" dirty="0" err="1"/>
              <a:t>BufferedReader</a:t>
            </a:r>
            <a:r>
              <a:rPr lang="en-US" altLang="ko-KR" sz="1000" b="1" dirty="0"/>
              <a:t>(new </a:t>
            </a:r>
            <a:r>
              <a:rPr lang="en-US" altLang="ko-KR" sz="1000" b="1" dirty="0" err="1"/>
              <a:t>InputStreamReader</a:t>
            </a:r>
            <a:r>
              <a:rPr lang="en-US" altLang="ko-KR" sz="1000" b="1" dirty="0"/>
              <a:t>(</a:t>
            </a:r>
            <a:r>
              <a:rPr lang="en-US" altLang="ko-KR" sz="1000" b="1" dirty="0" err="1"/>
              <a:t>con.getErrorStream</a:t>
            </a:r>
            <a:r>
              <a:rPr lang="en-US" altLang="ko-KR" sz="1000" b="1" dirty="0"/>
              <a:t>(),"UTF-8"));</a:t>
            </a:r>
          </a:p>
          <a:p>
            <a:r>
              <a:rPr lang="ko-KR" altLang="en-US" sz="1000" dirty="0"/>
              <a:t>    </a:t>
            </a:r>
            <a:r>
              <a:rPr lang="en-US" altLang="ko-KR" sz="1000" dirty="0"/>
              <a:t>}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sb</a:t>
            </a:r>
            <a:r>
              <a:rPr lang="en-US" altLang="ko-KR" sz="1000" dirty="0"/>
              <a:t> = </a:t>
            </a:r>
            <a:r>
              <a:rPr lang="en-US" altLang="ko-KR" sz="1000" b="1" dirty="0"/>
              <a:t>new </a:t>
            </a:r>
            <a:r>
              <a:rPr lang="en-US" altLang="ko-KR" sz="1000" b="1" dirty="0" err="1"/>
              <a:t>StringBuffer</a:t>
            </a:r>
            <a:r>
              <a:rPr lang="en-US" altLang="ko-KR" sz="1000" b="1" dirty="0"/>
              <a:t>();</a:t>
            </a:r>
          </a:p>
          <a:p>
            <a:r>
              <a:rPr lang="en-US" altLang="ko-KR" sz="1000" dirty="0"/>
              <a:t>    String line;</a:t>
            </a:r>
          </a:p>
          <a:p>
            <a:r>
              <a:rPr lang="en-US" altLang="ko-KR" sz="1000" dirty="0"/>
              <a:t>    </a:t>
            </a:r>
            <a:r>
              <a:rPr lang="en-US" altLang="ko-KR" sz="1000" b="1" dirty="0"/>
              <a:t>while ((line = </a:t>
            </a:r>
            <a:r>
              <a:rPr lang="en-US" altLang="ko-KR" sz="1000" b="1" dirty="0" err="1"/>
              <a:t>br.readLine</a:t>
            </a:r>
            <a:r>
              <a:rPr lang="en-US" altLang="ko-KR" sz="1000" b="1" dirty="0"/>
              <a:t>()) != null) {</a:t>
            </a:r>
          </a:p>
          <a:p>
            <a:r>
              <a:rPr lang="en-US" altLang="ko-KR" sz="1000" dirty="0"/>
              <a:t>        %&gt;&lt;%=line%&gt;&lt;</a:t>
            </a:r>
            <a:r>
              <a:rPr lang="en-US" altLang="ko-KR" sz="1000" dirty="0" err="1"/>
              <a:t>br</a:t>
            </a:r>
            <a:r>
              <a:rPr lang="en-US" altLang="ko-KR" sz="1000" dirty="0"/>
              <a:t>&gt;&lt;%</a:t>
            </a:r>
          </a:p>
          <a:p>
            <a:r>
              <a:rPr lang="en-US" altLang="ko-KR" sz="1000" dirty="0"/>
              <a:t>        </a:t>
            </a:r>
            <a:r>
              <a:rPr lang="en-US" altLang="ko-KR" sz="1000" dirty="0" err="1"/>
              <a:t>sb.append</a:t>
            </a:r>
            <a:r>
              <a:rPr lang="en-US" altLang="ko-KR" sz="1000" dirty="0"/>
              <a:t>(line + "\n");;</a:t>
            </a:r>
          </a:p>
          <a:p>
            <a:r>
              <a:rPr lang="ko-KR" altLang="en-US" sz="1000" dirty="0"/>
              <a:t>    </a:t>
            </a:r>
            <a:r>
              <a:rPr lang="en-US" altLang="ko-KR" sz="1000" dirty="0"/>
              <a:t>}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br.close</a:t>
            </a:r>
            <a:r>
              <a:rPr lang="en-US" altLang="ko-KR" sz="1000" dirty="0"/>
              <a:t>();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con.disconnect</a:t>
            </a:r>
            <a:r>
              <a:rPr lang="en-US" altLang="ko-KR" sz="1000" dirty="0"/>
              <a:t>();</a:t>
            </a:r>
          </a:p>
          <a:p>
            <a:endParaRPr lang="ko-KR" altLang="en-US" sz="1000" dirty="0"/>
          </a:p>
          <a:p>
            <a:r>
              <a:rPr lang="en-US" altLang="ko-KR" sz="1000" dirty="0"/>
              <a:t>} </a:t>
            </a:r>
            <a:r>
              <a:rPr lang="en-US" altLang="ko-KR" sz="1000" b="1" dirty="0"/>
              <a:t>catch (Exception e) {</a:t>
            </a:r>
          </a:p>
          <a:p>
            <a:r>
              <a:rPr lang="en-US" altLang="ko-KR" sz="1000" dirty="0"/>
              <a:t>    </a:t>
            </a:r>
            <a:r>
              <a:rPr lang="en-US" altLang="ko-KR" sz="1000" dirty="0" err="1"/>
              <a:t>System.out.println</a:t>
            </a:r>
            <a:r>
              <a:rPr lang="en-US" altLang="ko-KR" sz="1000" dirty="0"/>
              <a:t>(e);</a:t>
            </a:r>
          </a:p>
          <a:p>
            <a:r>
              <a:rPr lang="ko-KR" altLang="en-US" sz="1000" dirty="0"/>
              <a:t>    </a:t>
            </a:r>
          </a:p>
          <a:p>
            <a:r>
              <a:rPr lang="en-US" altLang="ko-KR" sz="1000" dirty="0"/>
              <a:t>}</a:t>
            </a:r>
          </a:p>
          <a:p>
            <a:r>
              <a:rPr lang="en-US" altLang="ko-KR" sz="1000" dirty="0"/>
              <a:t>%&gt;</a:t>
            </a:r>
          </a:p>
          <a:p>
            <a:r>
              <a:rPr lang="en-US" altLang="ko-KR" sz="1000" dirty="0"/>
              <a:t>&lt;/body&gt;</a:t>
            </a:r>
          </a:p>
          <a:p>
            <a:r>
              <a:rPr lang="en-US" altLang="ko-KR" sz="1000" dirty="0"/>
              <a:t>&lt;/html&gt;</a:t>
            </a:r>
            <a:endParaRPr lang="ko-KR" alt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677333" y="1270000"/>
            <a:ext cx="236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TestApi.jsp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34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결과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0" y="1594704"/>
            <a:ext cx="11261909" cy="477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65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  <a:cs typeface="함초롬바탕" panose="02030504000101010101" pitchFamily="18" charset="-127"/>
              </a:rPr>
              <a:t>Web Storage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5713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HTML 5 </a:t>
            </a:r>
            <a:r>
              <a:rPr lang="ko-KR" altLang="en-US" dirty="0"/>
              <a:t>에는 웹 사이트의 데이터를 클라이언트에 저장할 수 있는 새로운 자료 구조인 </a:t>
            </a:r>
            <a:r>
              <a:rPr lang="en-US" altLang="ko-KR" dirty="0"/>
              <a:t>Web Storage(</a:t>
            </a:r>
            <a:r>
              <a:rPr lang="ko-KR" altLang="en-US" dirty="0"/>
              <a:t>웹 </a:t>
            </a:r>
            <a:r>
              <a:rPr lang="ko-KR" altLang="en-US" dirty="0" err="1"/>
              <a:t>스토로지</a:t>
            </a:r>
            <a:r>
              <a:rPr lang="en-US" altLang="ko-KR" dirty="0"/>
              <a:t>) </a:t>
            </a:r>
            <a:r>
              <a:rPr lang="ko-KR" altLang="en-US" dirty="0"/>
              <a:t>스펙이 포함되었다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u="sng" dirty="0" err="1"/>
              <a:t>localStorage</a:t>
            </a:r>
            <a:r>
              <a:rPr lang="ko-KR" altLang="en-US" u="sng" dirty="0"/>
              <a:t>와 </a:t>
            </a:r>
            <a:r>
              <a:rPr lang="en-US" altLang="ko-KR" u="sng" dirty="0" err="1"/>
              <a:t>SessionStorage</a:t>
            </a:r>
            <a:r>
              <a:rPr lang="ko-KR" altLang="en-US" dirty="0"/>
              <a:t>를 따로 두어 데이터의 지속성을 구분할 수 있어 응용 환경에 맞는 선택이 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97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u="sng" dirty="0"/>
              <a:t>'</a:t>
            </a:r>
            <a:r>
              <a:rPr lang="ko-KR" altLang="en-US" b="1" u="sng" dirty="0"/>
              <a:t>키</a:t>
            </a:r>
            <a:r>
              <a:rPr lang="en-US" altLang="ko-KR" b="1" u="sng" dirty="0"/>
              <a:t>/ </a:t>
            </a:r>
            <a:r>
              <a:rPr lang="ko-KR" altLang="en-US" b="1" u="sng" dirty="0"/>
              <a:t>값</a:t>
            </a:r>
            <a:r>
              <a:rPr lang="en-US" altLang="ko-KR" b="1" u="sng" dirty="0"/>
              <a:t>' </a:t>
            </a:r>
            <a:r>
              <a:rPr lang="ko-KR" altLang="en-US" b="1" u="sng" dirty="0"/>
              <a:t>쌍으로 데이터를 저장하고 키를 기반으로 데이터를 조회</a:t>
            </a:r>
            <a:r>
              <a:rPr lang="ko-KR" altLang="en-US" dirty="0"/>
              <a:t>하는</a:t>
            </a:r>
            <a:r>
              <a:rPr lang="ko-KR" altLang="en-US" b="1" dirty="0"/>
              <a:t> </a:t>
            </a:r>
            <a:r>
              <a:rPr lang="ko-KR" altLang="en-US" dirty="0"/>
              <a:t>패턴이다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7" y="2771604"/>
            <a:ext cx="5405270" cy="326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78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r>
              <a:rPr lang="ko-KR" altLang="en-US" dirty="0"/>
              <a:t>와의 차이점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/>
              <a:t>쿠키는 매번 서버로 전송 된다</a:t>
            </a:r>
            <a:endParaRPr lang="en-US" altLang="ko-KR" b="1" dirty="0"/>
          </a:p>
          <a:p>
            <a:pPr lvl="1"/>
            <a:r>
              <a:rPr lang="ko-KR" altLang="en-US" dirty="0"/>
              <a:t>웹 사이트에서 쿠키를 설정하면 이후 모든 웹 요청은 쿠키 정보를 포함하여 서버로 전송된다</a:t>
            </a:r>
            <a:r>
              <a:rPr lang="en-US" altLang="ko-KR" dirty="0"/>
              <a:t>. Web Storage </a:t>
            </a:r>
            <a:r>
              <a:rPr lang="ko-KR" altLang="en-US" dirty="0"/>
              <a:t>는 저장된 데이터가 클라이언트에 존재할 뿐 서버로 전송은 이루어지지 않는다</a:t>
            </a:r>
            <a:r>
              <a:rPr lang="en-US" altLang="ko-KR" dirty="0"/>
              <a:t>. </a:t>
            </a:r>
            <a:r>
              <a:rPr lang="ko-KR" altLang="en-US" dirty="0"/>
              <a:t>이것은 </a:t>
            </a:r>
            <a:r>
              <a:rPr lang="ko-KR" altLang="en-US" u="sng" dirty="0"/>
              <a:t>네트워크 트래픽 비용을 줄여 준다는 주요한 장점</a:t>
            </a:r>
            <a:r>
              <a:rPr lang="ko-KR" altLang="en-US" dirty="0"/>
              <a:t>이 되겠다</a:t>
            </a:r>
            <a:r>
              <a:rPr lang="en-US" altLang="ko-KR" dirty="0"/>
              <a:t>.</a:t>
            </a:r>
          </a:p>
          <a:p>
            <a:pPr lvl="1"/>
            <a:endParaRPr lang="en-US" altLang="ko-KR" b="1" dirty="0"/>
          </a:p>
          <a:p>
            <a:r>
              <a:rPr lang="ko-KR" altLang="en-US" b="1" dirty="0"/>
              <a:t>용량의 제한이 없다</a:t>
            </a:r>
            <a:endParaRPr lang="en-US" altLang="ko-KR" b="1" dirty="0"/>
          </a:p>
          <a:p>
            <a:pPr lvl="1"/>
            <a:r>
              <a:rPr lang="ko-KR" altLang="en-US" dirty="0"/>
              <a:t>쿠키는 개수와 용량에 있어 제한을 걸어 두고 있다</a:t>
            </a:r>
            <a:r>
              <a:rPr lang="en-US" altLang="ko-KR" dirty="0"/>
              <a:t>. </a:t>
            </a:r>
            <a:r>
              <a:rPr lang="ko-KR" altLang="en-US" dirty="0"/>
              <a:t>하나의 사이트에서 저장할 수 있는 최대 쿠키 크기는 </a:t>
            </a:r>
            <a:r>
              <a:rPr lang="en-US" altLang="ko-KR" dirty="0"/>
              <a:t>4KB </a:t>
            </a:r>
            <a:r>
              <a:rPr lang="ko-KR" altLang="en-US" dirty="0"/>
              <a:t>로 제한되어 있다</a:t>
            </a:r>
            <a:r>
              <a:rPr lang="en-US" altLang="ko-KR" dirty="0"/>
              <a:t>. Web Storage </a:t>
            </a:r>
            <a:r>
              <a:rPr lang="ko-KR" altLang="en-US" dirty="0"/>
              <a:t>는 이러한 제한이 없다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영구 데이터 저장이 가능하다</a:t>
            </a:r>
            <a:endParaRPr lang="en-US" altLang="ko-KR" b="1" dirty="0"/>
          </a:p>
          <a:p>
            <a:pPr lvl="1"/>
            <a:r>
              <a:rPr lang="ko-KR" altLang="en-US" dirty="0"/>
              <a:t>쿠키는 만료 일자를 지정하게 되어 있어 언젠가 제거된다</a:t>
            </a:r>
            <a:r>
              <a:rPr lang="en-US" altLang="ko-KR" dirty="0"/>
              <a:t>. </a:t>
            </a:r>
            <a:r>
              <a:rPr lang="en-US" altLang="ko-KR" dirty="0" err="1"/>
              <a:t>WebStorage</a:t>
            </a:r>
            <a:r>
              <a:rPr lang="en-US" altLang="ko-KR" dirty="0"/>
              <a:t> </a:t>
            </a:r>
            <a:r>
              <a:rPr lang="ko-KR" altLang="en-US" dirty="0"/>
              <a:t>는 만료 기간의 설정이 없다</a:t>
            </a:r>
            <a:r>
              <a:rPr lang="en-US" altLang="ko-KR" dirty="0"/>
              <a:t>. </a:t>
            </a:r>
            <a:r>
              <a:rPr lang="ko-KR" altLang="en-US" dirty="0"/>
              <a:t>즉 한번 저장한 데이터는 영구적으로 존재하는 것이다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2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localStorage</a:t>
            </a:r>
            <a:r>
              <a:rPr lang="ko-KR" altLang="en-US" b="1" dirty="0"/>
              <a:t>와 </a:t>
            </a:r>
            <a:r>
              <a:rPr lang="en-US" altLang="ko-KR" b="1" dirty="0" err="1"/>
              <a:t>SessionStorage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2160589"/>
            <a:ext cx="8846810" cy="388077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localStorage</a:t>
            </a:r>
            <a:r>
              <a:rPr lang="en-US" altLang="ko-KR" b="1" dirty="0"/>
              <a:t> </a:t>
            </a:r>
          </a:p>
          <a:p>
            <a:pPr lvl="1"/>
            <a:r>
              <a:rPr lang="ko-KR" altLang="en-US" dirty="0"/>
              <a:t>저장한 데이터를 </a:t>
            </a:r>
            <a:r>
              <a:rPr lang="en-US" altLang="ko-KR" dirty="0"/>
              <a:t>(</a:t>
            </a:r>
            <a:r>
              <a:rPr lang="ko-KR" altLang="en-US" dirty="0"/>
              <a:t>명시적으로</a:t>
            </a:r>
            <a:r>
              <a:rPr lang="en-US" altLang="ko-KR" dirty="0"/>
              <a:t>) </a:t>
            </a:r>
            <a:r>
              <a:rPr lang="ko-KR" altLang="en-US" dirty="0"/>
              <a:t>지우지 않는 이상 </a:t>
            </a:r>
            <a:r>
              <a:rPr lang="ko-KR" altLang="en-US" u="sng" dirty="0"/>
              <a:t>영구적으로 보관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pPr lvl="1"/>
            <a:endParaRPr lang="en-US" altLang="ko-KR" sz="2000" dirty="0"/>
          </a:p>
          <a:p>
            <a:r>
              <a:rPr lang="en-US" altLang="ko-KR" b="1" dirty="0" err="1"/>
              <a:t>SessionStorage</a:t>
            </a:r>
            <a:endParaRPr lang="en-US" altLang="ko-KR" b="1" dirty="0"/>
          </a:p>
          <a:p>
            <a:pPr lvl="1"/>
            <a:r>
              <a:rPr lang="ko-KR" altLang="en-US" dirty="0"/>
              <a:t>데이터가 지속적으로 보관되지 않는다</a:t>
            </a:r>
            <a:r>
              <a:rPr lang="en-US" altLang="ko-KR" dirty="0"/>
              <a:t>.</a:t>
            </a:r>
            <a:r>
              <a:rPr lang="ko-KR" altLang="en-US" dirty="0"/>
              <a:t>이는 마치 브라우저 기반 세션 쿠키와 그 성질이 비슷한데</a:t>
            </a:r>
            <a:r>
              <a:rPr lang="en-US" altLang="ko-KR" dirty="0"/>
              <a:t>, </a:t>
            </a:r>
            <a:r>
              <a:rPr lang="ko-KR" altLang="en-US" dirty="0"/>
              <a:t>현재 페이지가 </a:t>
            </a:r>
            <a:r>
              <a:rPr lang="ko-KR" altLang="en-US" dirty="0" err="1"/>
              <a:t>브라우징</a:t>
            </a:r>
            <a:r>
              <a:rPr lang="ko-KR" altLang="en-US" dirty="0"/>
              <a:t> 되고 있는 </a:t>
            </a:r>
            <a:r>
              <a:rPr lang="ko-KR" altLang="en-US" u="sng" dirty="0"/>
              <a:t>브라우저 내에서만 데이터가 유지</a:t>
            </a:r>
            <a:r>
              <a:rPr lang="ko-KR" altLang="en-US" dirty="0"/>
              <a:t>된다</a:t>
            </a:r>
            <a:r>
              <a:rPr lang="en-US" altLang="ko-KR" dirty="0"/>
              <a:t>.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localStorage</a:t>
            </a:r>
            <a:r>
              <a:rPr lang="ko-KR" altLang="en-US" dirty="0"/>
              <a:t>는 브라우저를 종료해도 데이터는 보관되어 다음 번 접속에도 그 데이터를 사용할 수 있는 반면</a:t>
            </a:r>
            <a:r>
              <a:rPr lang="en-US" altLang="ko-KR" dirty="0"/>
              <a:t>, </a:t>
            </a:r>
            <a:r>
              <a:rPr lang="en-US" altLang="ko-KR" dirty="0" err="1"/>
              <a:t>SessionStorage</a:t>
            </a:r>
            <a:r>
              <a:rPr lang="ko-KR" altLang="en-US" dirty="0"/>
              <a:t>는 브라우저가 종료되면 데이터도 같이 지워진다</a:t>
            </a:r>
            <a:r>
              <a:rPr lang="en-US" altLang="ko-KR" dirty="0"/>
              <a:t>.</a:t>
            </a:r>
            <a:r>
              <a:rPr lang="ko-KR" altLang="en-US" dirty="0"/>
              <a:t> </a:t>
            </a:r>
            <a:r>
              <a:rPr lang="ko-KR" altLang="en-US" u="sng" dirty="0"/>
              <a:t>브라우저가 종료되면 세션 </a:t>
            </a:r>
            <a:r>
              <a:rPr lang="ko-KR" altLang="en-US" u="sng" dirty="0" err="1"/>
              <a:t>스토로지도</a:t>
            </a:r>
            <a:r>
              <a:rPr lang="ko-KR" altLang="en-US" u="sng" dirty="0"/>
              <a:t> 삭제</a:t>
            </a:r>
            <a:r>
              <a:rPr lang="ko-KR" altLang="en-US" dirty="0"/>
              <a:t>된다는 것이다</a:t>
            </a:r>
            <a:r>
              <a:rPr lang="en-US" altLang="ko-KR" dirty="0"/>
              <a:t>.</a:t>
            </a:r>
            <a:endParaRPr lang="ko-KR" altLang="en-US" sz="2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106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브라우저 지원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http://caniuse.com/#search=web%20storage</a:t>
            </a:r>
            <a:r>
              <a:rPr lang="en-US" altLang="ko-KR" dirty="0"/>
              <a:t> </a:t>
            </a:r>
            <a:r>
              <a:rPr lang="ko-KR" altLang="en-US" dirty="0"/>
              <a:t>에서 제공하는 브라우저</a:t>
            </a:r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</a:t>
            </a:r>
            <a:r>
              <a:rPr lang="ko-KR" altLang="en-US" dirty="0"/>
              <a:t>별 </a:t>
            </a:r>
            <a:r>
              <a:rPr lang="en-US" altLang="ko-KR" dirty="0"/>
              <a:t>Web Storage </a:t>
            </a:r>
            <a:r>
              <a:rPr lang="ko-KR" altLang="en-US" dirty="0"/>
              <a:t>지원 표이다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06" y="2980423"/>
            <a:ext cx="8217775" cy="261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브라우저 지원 여부 체크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27" y="1340768"/>
            <a:ext cx="4860394" cy="23042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997" y="4247660"/>
            <a:ext cx="4572000" cy="2266950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2555775" y="1772816"/>
            <a:ext cx="4662445" cy="115212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4706977" y="3756392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434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 </a:t>
            </a:r>
            <a:r>
              <a:rPr lang="ko-KR" altLang="en-US" dirty="0"/>
              <a:t>예제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957"/>
          <a:stretch/>
        </p:blipFill>
        <p:spPr>
          <a:xfrm>
            <a:off x="2185987" y="1381125"/>
            <a:ext cx="4329113" cy="5340349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2503042" y="1890418"/>
            <a:ext cx="3355057" cy="13766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2483768" y="3267074"/>
            <a:ext cx="3374331" cy="133350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114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40578" b="34471"/>
          <a:stretch/>
        </p:blipFill>
        <p:spPr>
          <a:xfrm>
            <a:off x="1172634" y="2789239"/>
            <a:ext cx="4505325" cy="207223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512" y="3077824"/>
            <a:ext cx="2828925" cy="23145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크롬에서 오른쪽 버튼을 누른 뒤 요소 검사</a:t>
            </a:r>
            <a:r>
              <a:rPr lang="en-US" altLang="ko-KR" dirty="0"/>
              <a:t>(N)</a:t>
            </a:r>
          </a:p>
          <a:p>
            <a:endParaRPr lang="ko-KR" altLang="en-US" dirty="0"/>
          </a:p>
        </p:txBody>
      </p:sp>
      <p:sp>
        <p:nvSpPr>
          <p:cNvPr id="6" name="왼쪽 화살표 5"/>
          <p:cNvSpPr/>
          <p:nvPr/>
        </p:nvSpPr>
        <p:spPr>
          <a:xfrm>
            <a:off x="4102508" y="2914664"/>
            <a:ext cx="288032" cy="2160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화살표 6"/>
          <p:cNvSpPr/>
          <p:nvPr/>
        </p:nvSpPr>
        <p:spPr>
          <a:xfrm>
            <a:off x="4102508" y="3581327"/>
            <a:ext cx="288032" cy="2160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460977" y="5104367"/>
            <a:ext cx="2232248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799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 </a:t>
            </a:r>
            <a:r>
              <a:rPr lang="ko-KR" altLang="en-US" dirty="0"/>
              <a:t>예제</a:t>
            </a:r>
          </a:p>
        </p:txBody>
      </p:sp>
      <p:sp>
        <p:nvSpPr>
          <p:cNvPr id="4" name="아래쪽 화살표 3"/>
          <p:cNvSpPr/>
          <p:nvPr/>
        </p:nvSpPr>
        <p:spPr>
          <a:xfrm>
            <a:off x="4800026" y="3826672"/>
            <a:ext cx="351283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02" y="4378672"/>
            <a:ext cx="6428445" cy="18722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505" y="1363255"/>
            <a:ext cx="4173095" cy="198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90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Value</a:t>
            </a:r>
            <a:r>
              <a:rPr lang="ko-KR" altLang="en-US" dirty="0"/>
              <a:t>에서 오른쪽 마우스 버튼을 누르게 되면 해당 값을 수정</a:t>
            </a:r>
            <a:r>
              <a:rPr lang="en-US" altLang="ko-KR" dirty="0"/>
              <a:t>/</a:t>
            </a:r>
            <a:r>
              <a:rPr lang="ko-KR" altLang="en-US" dirty="0"/>
              <a:t>삭제 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0" y="2749461"/>
            <a:ext cx="8208912" cy="21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7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Storage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브라우저를 종료 후 다시 시작 할 경우 </a:t>
            </a:r>
            <a:r>
              <a:rPr lang="en-US" altLang="ko-KR" dirty="0"/>
              <a:t>Local Storage </a:t>
            </a:r>
            <a:r>
              <a:rPr lang="ko-KR" altLang="en-US" dirty="0"/>
              <a:t>값은 유지 되는 반면</a:t>
            </a:r>
            <a:r>
              <a:rPr lang="en-US" altLang="ko-KR" dirty="0"/>
              <a:t>, Session Storage</a:t>
            </a:r>
            <a:r>
              <a:rPr lang="ko-KR" altLang="en-US" dirty="0"/>
              <a:t>는 값이 삭제 된다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26" y="3024532"/>
            <a:ext cx="81343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12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  <a:cs typeface="함초롬바탕" panose="02030504000101010101" pitchFamily="18" charset="-127"/>
              </a:rPr>
              <a:t>Web SQL Database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5126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SQL Database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HTML5</a:t>
            </a:r>
            <a:r>
              <a:rPr lang="ko-KR" altLang="en-US" dirty="0"/>
              <a:t>에서는 </a:t>
            </a:r>
            <a:r>
              <a:rPr lang="en-US" altLang="ko-KR" dirty="0"/>
              <a:t>Web Storage </a:t>
            </a:r>
            <a:r>
              <a:rPr lang="ko-KR" altLang="en-US" dirty="0"/>
              <a:t>이외에도 관계형 데이타베이스가 추가로 제공된다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Web SQL Database </a:t>
            </a:r>
            <a:r>
              <a:rPr lang="ko-KR" altLang="en-US" dirty="0"/>
              <a:t>를 지원하는 브라우저는 자체적으로 경량의 관계형 </a:t>
            </a:r>
            <a:r>
              <a:rPr lang="en-US" altLang="ko-KR" dirty="0"/>
              <a:t>DB</a:t>
            </a:r>
            <a:r>
              <a:rPr lang="ko-KR" altLang="en-US" dirty="0"/>
              <a:t>를 내장하고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u="sng" dirty="0"/>
              <a:t>Web Storage</a:t>
            </a:r>
            <a:r>
              <a:rPr lang="ko-KR" altLang="en-US" dirty="0"/>
              <a:t>의 경우 비교적 적은 양의 간단한 데이터를 저장하기에 적합한 로컬 저장소인 반면</a:t>
            </a:r>
            <a:br>
              <a:rPr lang="en-US" altLang="ko-KR" dirty="0"/>
            </a:br>
            <a:r>
              <a:rPr lang="en-US" altLang="ko-KR" b="1" u="sng" dirty="0"/>
              <a:t>Web SQL Database</a:t>
            </a:r>
            <a:r>
              <a:rPr lang="ko-KR" altLang="en-US" dirty="0"/>
              <a:t>는 보다 구조적이고 체계화된 관계형 데이터를 대량으로 저장하기에 적합하다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Web SQL Database</a:t>
            </a:r>
            <a:r>
              <a:rPr lang="ko-KR" altLang="en-US" dirty="0"/>
              <a:t>는 모바일 환경에 많이 채용된 경량의 무료 </a:t>
            </a:r>
            <a:r>
              <a:rPr lang="en-US" altLang="ko-KR" dirty="0"/>
              <a:t>DB</a:t>
            </a:r>
            <a:r>
              <a:rPr lang="ko-KR" altLang="en-US" dirty="0"/>
              <a:t>엔진인 </a:t>
            </a:r>
            <a:r>
              <a:rPr lang="en-US" altLang="ko-KR" dirty="0"/>
              <a:t>SQLite</a:t>
            </a:r>
            <a:r>
              <a:rPr lang="ko-KR" altLang="en-US" dirty="0"/>
              <a:t>를 기반으로 하고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330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브라우저 지원 여부 체크</a:t>
            </a:r>
          </a:p>
        </p:txBody>
      </p:sp>
      <p:sp>
        <p:nvSpPr>
          <p:cNvPr id="4" name="아래쪽 화살표 3"/>
          <p:cNvSpPr/>
          <p:nvPr/>
        </p:nvSpPr>
        <p:spPr>
          <a:xfrm>
            <a:off x="4716502" y="4194542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747" y="1477541"/>
            <a:ext cx="4781550" cy="2628900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2633165" y="1889058"/>
            <a:ext cx="4662445" cy="129189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272" y="4886344"/>
            <a:ext cx="40005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45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SQL Database </a:t>
            </a:r>
            <a:r>
              <a:rPr lang="ko-KR" altLang="en-US" dirty="0"/>
              <a:t>예제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563" y="1404238"/>
            <a:ext cx="5715000" cy="5086350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2043783" y="2017832"/>
            <a:ext cx="4608512" cy="72008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2010317" y="2783910"/>
            <a:ext cx="4641977" cy="8180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2010317" y="3602007"/>
            <a:ext cx="5362058" cy="8180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989515" y="2085484"/>
            <a:ext cx="3318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OpenDatabase</a:t>
            </a:r>
            <a:endParaRPr lang="en-US" altLang="ko-KR" sz="1600" dirty="0"/>
          </a:p>
          <a:p>
            <a:r>
              <a:rPr lang="en-US" altLang="ko-KR" sz="1600" dirty="0"/>
              <a:t>(DB</a:t>
            </a:r>
            <a:r>
              <a:rPr lang="ko-KR" altLang="en-US" sz="1600" dirty="0"/>
              <a:t>명</a:t>
            </a:r>
            <a:r>
              <a:rPr lang="en-US" altLang="ko-KR" sz="1600" dirty="0"/>
              <a:t>, DB</a:t>
            </a:r>
            <a:r>
              <a:rPr lang="ko-KR" altLang="en-US" sz="1600" dirty="0"/>
              <a:t>버전</a:t>
            </a:r>
            <a:r>
              <a:rPr lang="en-US" altLang="ko-KR" sz="1600" dirty="0"/>
              <a:t>, DB</a:t>
            </a:r>
            <a:r>
              <a:rPr lang="ko-KR" altLang="en-US" sz="1600" dirty="0"/>
              <a:t>설명</a:t>
            </a:r>
            <a:r>
              <a:rPr lang="en-US" altLang="ko-KR" sz="1600" dirty="0"/>
              <a:t>, DB</a:t>
            </a:r>
            <a:r>
              <a:rPr lang="ko-KR" altLang="en-US" sz="1600" dirty="0"/>
              <a:t>크기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8208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SQL Database </a:t>
            </a:r>
            <a:r>
              <a:rPr lang="ko-KR" altLang="en-US" dirty="0"/>
              <a:t>예제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13" y="2181250"/>
            <a:ext cx="4708769" cy="2389525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1195636" y="2181250"/>
            <a:ext cx="792088" cy="35523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618" y="3637944"/>
            <a:ext cx="5572125" cy="272415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2323618" y="5763802"/>
            <a:ext cx="1220966" cy="59829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2479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3929</TotalTime>
  <Words>1337</Words>
  <Application>Microsoft Office PowerPoint</Application>
  <PresentationFormat>와이드스크린</PresentationFormat>
  <Paragraphs>180</Paragraphs>
  <Slides>33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맑은 고딕</vt:lpstr>
      <vt:lpstr>함초롬바탕</vt:lpstr>
      <vt:lpstr>HY그래픽M</vt:lpstr>
      <vt:lpstr>Wingdings 3</vt:lpstr>
      <vt:lpstr>Trebuchet MS</vt:lpstr>
      <vt:lpstr>Arial</vt:lpstr>
      <vt:lpstr>패싯</vt:lpstr>
      <vt:lpstr>Open API &amp; Web Storage</vt:lpstr>
      <vt:lpstr>목차</vt:lpstr>
      <vt:lpstr>Open API</vt:lpstr>
      <vt:lpstr>OpenAPI</vt:lpstr>
      <vt:lpstr>Mashup</vt:lpstr>
      <vt:lpstr>Mashup</vt:lpstr>
      <vt:lpstr>How can use OpenAPI</vt:lpstr>
      <vt:lpstr>Various OpenAPIs</vt:lpstr>
      <vt:lpstr>Various OpenAPIs</vt:lpstr>
      <vt:lpstr>실습</vt:lpstr>
      <vt:lpstr>실습</vt:lpstr>
      <vt:lpstr>실습</vt:lpstr>
      <vt:lpstr>실습</vt:lpstr>
      <vt:lpstr>실습</vt:lpstr>
      <vt:lpstr>실습</vt:lpstr>
      <vt:lpstr>실습 결과 </vt:lpstr>
      <vt:lpstr>Web Storage</vt:lpstr>
      <vt:lpstr>Web Storage</vt:lpstr>
      <vt:lpstr>Web Storage</vt:lpstr>
      <vt:lpstr>Cookie와의 차이점</vt:lpstr>
      <vt:lpstr>localStorage와 SessionStorage</vt:lpstr>
      <vt:lpstr>브라우저 지원 현황</vt:lpstr>
      <vt:lpstr>브라우저 지원 여부 체크</vt:lpstr>
      <vt:lpstr>Web Storage 예제</vt:lpstr>
      <vt:lpstr>Web Storage 예제</vt:lpstr>
      <vt:lpstr>Web Storage 예제</vt:lpstr>
      <vt:lpstr>Web Storage 예제</vt:lpstr>
      <vt:lpstr>Web Storage 예제</vt:lpstr>
      <vt:lpstr>Web SQL Database</vt:lpstr>
      <vt:lpstr>Web SQL Database</vt:lpstr>
      <vt:lpstr>브라우저 지원 여부 체크</vt:lpstr>
      <vt:lpstr>Web SQL Database 예제</vt:lpstr>
      <vt:lpstr>Web SQL Database 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소개자료</dc:subject>
  <dc:creator>ryu</dc:creator>
  <cp:keywords>Android, Web, 컴퓨터소프트웨어 설계 및 실험</cp:keywords>
  <dc:description>2016년 1학기 컴퓨터소프트웨어 설계 및 실험 소개자료</dc:description>
  <cp:lastModifiedBy>Yu</cp:lastModifiedBy>
  <cp:revision>116</cp:revision>
  <dcterms:created xsi:type="dcterms:W3CDTF">2016-02-15T02:08:52Z</dcterms:created>
  <dcterms:modified xsi:type="dcterms:W3CDTF">2020-05-22T03:30:19Z</dcterms:modified>
  <cp:category>PPT 소개자료</cp:category>
</cp:coreProperties>
</file>