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sw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3" r:id="rId1"/>
    <p:sldMasterId id="2147483735" r:id="rId2"/>
  </p:sldMasterIdLst>
  <p:notesMasterIdLst>
    <p:notesMasterId r:id="rId46"/>
  </p:notesMasterIdLst>
  <p:sldIdLst>
    <p:sldId id="256" r:id="rId3"/>
    <p:sldId id="428" r:id="rId4"/>
    <p:sldId id="430" r:id="rId5"/>
    <p:sldId id="454" r:id="rId6"/>
    <p:sldId id="455" r:id="rId7"/>
    <p:sldId id="452" r:id="rId8"/>
    <p:sldId id="463" r:id="rId9"/>
    <p:sldId id="464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31" r:id="rId18"/>
    <p:sldId id="450" r:id="rId19"/>
    <p:sldId id="407" r:id="rId20"/>
    <p:sldId id="435" r:id="rId21"/>
    <p:sldId id="436" r:id="rId22"/>
    <p:sldId id="434" r:id="rId23"/>
    <p:sldId id="409" r:id="rId24"/>
    <p:sldId id="449" r:id="rId25"/>
    <p:sldId id="467" r:id="rId26"/>
    <p:sldId id="447" r:id="rId27"/>
    <p:sldId id="445" r:id="rId28"/>
    <p:sldId id="446" r:id="rId29"/>
    <p:sldId id="469" r:id="rId30"/>
    <p:sldId id="448" r:id="rId31"/>
    <p:sldId id="465" r:id="rId32"/>
    <p:sldId id="437" r:id="rId33"/>
    <p:sldId id="438" r:id="rId34"/>
    <p:sldId id="439" r:id="rId35"/>
    <p:sldId id="470" r:id="rId36"/>
    <p:sldId id="466" r:id="rId37"/>
    <p:sldId id="440" r:id="rId38"/>
    <p:sldId id="471" r:id="rId39"/>
    <p:sldId id="472" r:id="rId40"/>
    <p:sldId id="443" r:id="rId41"/>
    <p:sldId id="474" r:id="rId42"/>
    <p:sldId id="442" r:id="rId43"/>
    <p:sldId id="473" r:id="rId44"/>
    <p:sldId id="451" r:id="rId45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0F6"/>
    <a:srgbClr val="FFFFFF"/>
    <a:srgbClr val="F9BDEC"/>
    <a:srgbClr val="D27CC0"/>
    <a:srgbClr val="F1F9A1"/>
    <a:srgbClr val="E8F668"/>
    <a:srgbClr val="CAD355"/>
    <a:srgbClr val="F79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88171" autoAdjust="0"/>
  </p:normalViewPr>
  <p:slideViewPr>
    <p:cSldViewPr>
      <p:cViewPr varScale="1">
        <p:scale>
          <a:sx n="116" d="100"/>
          <a:sy n="116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FA71F-C233-4DED-9505-1F6F3F0D3F72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55A3F-3ED5-4BD3-9362-F62B05D1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8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47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머신 러닝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기계 학습이라는 것은 데이터로부터 새로운 지식을 발견해내는 알고리즘을 연구하는 </a:t>
            </a:r>
            <a:r>
              <a:rPr lang="en-US" altLang="ko-KR" baseline="0" dirty="0" err="1" smtClean="0"/>
              <a:t>ai</a:t>
            </a:r>
            <a:r>
              <a:rPr lang="ko-KR" altLang="en-US" baseline="0" dirty="0" smtClean="0"/>
              <a:t>의 한 분야라고 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Ai </a:t>
            </a:r>
            <a:r>
              <a:rPr lang="ko-KR" altLang="en-US" baseline="0" dirty="0" smtClean="0"/>
              <a:t>라는 것은 컴퓨터에 우리가 명시적으로 코드를 하지 않아도 배울 수 있는 능력을 부여해주는 것을 연구하는 분야라고 아서 사무엘이라는 사람이 말을 했습니다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dirty="0" smtClean="0"/>
              <a:t>머신 러닝에 기반을 둔 시스템은 과거의 데이터를 학습을 해서 미래에 더</a:t>
            </a:r>
            <a:r>
              <a:rPr lang="ko-KR" altLang="en-US" baseline="0" dirty="0" smtClean="0"/>
              <a:t> 나은 결과를 제공할 수 있도록 시스템의 지식을 향상 시키거나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특정 시스템의 목표치에 더 근접하도록 결과를 추론해 낼 수 있습니다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흔히 계산만 하던 컴퓨터가 분석을 할 수 있게 되는 분야가 됩니다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974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머신 러닝의 알고리즘에는 두가지의 학습 방법이 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하나는 </a:t>
            </a:r>
            <a:r>
              <a:rPr lang="ko-KR" altLang="en-US" dirty="0" err="1" smtClean="0"/>
              <a:t>지도학습이고</a:t>
            </a:r>
            <a:r>
              <a:rPr lang="ko-KR" altLang="en-US" dirty="0" smtClean="0"/>
              <a:t> 다른 하나는 비지도 학습인데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쉽게 말하면 두 알고리즘의 차이는 우리가 주는 데이터에 대해서 결과가 있냐 </a:t>
            </a:r>
            <a:r>
              <a:rPr lang="ko-KR" altLang="en-US" baseline="0" dirty="0" err="1" smtClean="0"/>
              <a:t>없냐의</a:t>
            </a:r>
            <a:r>
              <a:rPr lang="ko-KR" altLang="en-US" baseline="0" dirty="0" smtClean="0"/>
              <a:t> 차이입니다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측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지도 학습은 원인과 결과가 있는 데이터를 컴퓨터에 학습을 시켜서 새로운 원인에 대해서 결과를 도출할 수 있도록 해주는 알고리즘을 말합니다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 </a:t>
            </a:r>
          </a:p>
          <a:p>
            <a:r>
              <a:rPr lang="ko-KR" altLang="en-US" baseline="0" dirty="0" smtClean="0"/>
              <a:t>대부분 지도 학습 알고리즘은 비용 함수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코스트 값을 </a:t>
            </a:r>
            <a:r>
              <a:rPr lang="ko-KR" altLang="en-US" baseline="0" dirty="0" err="1" smtClean="0"/>
              <a:t>측청해서</a:t>
            </a:r>
            <a:r>
              <a:rPr lang="ko-KR" altLang="en-US" baseline="0" dirty="0" smtClean="0"/>
              <a:t> 예측된 결과 값의 오류를 줄여나가는 방법으로 동작을 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학습이 완료된 이후에는 모델이라고 부르고 이 모델의 정확도를 측정하기 위해서 학습데이터가 아닌 흔히 테스트 데이터로 학습된 모델로 검증을 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이 과정이 지도 학습 알고리즘에 대한 간략한 과정입니다</a:t>
            </a:r>
            <a:r>
              <a:rPr lang="en-US" altLang="ko-KR" baseline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77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54E7-8C76-453F-874A-8DC57E12D70A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05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5185E-2D09-4348-887F-89083C8297A6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F682C-7757-400F-BEF8-E017FC213865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0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5C89-EC8A-4844-888E-9ADA187DB2AD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8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CFC9A-849D-4F68-BB84-2652BD358FC0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6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E98B-BB2A-4DB3-8EDD-983CE22BC23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31844-7651-45D7-B033-2215FB02D00E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84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D542-0074-40F5-BFB8-F1358D0EA3A6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12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52B08-7EE4-4BDB-8FC9-D76F1F77BC89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7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0FD95-5934-4339-A9B3-72A7C9AA17A0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482E-522B-4B0D-B53D-371B1A1F5A3A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784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86166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90732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311130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824122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71119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348715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86804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842328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5698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254230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56438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09674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510281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61656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79099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2031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312A-AA5F-4E61-827D-9E16E63F2107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3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63F87-A230-4BE3-B4AE-C7F3D930AEF2}" type="datetime1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64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continuum.io/downloads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ycharm/download/#section=window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sw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91544" y="1412776"/>
            <a:ext cx="7766936" cy="2710068"/>
          </a:xfrm>
        </p:spPr>
        <p:txBody>
          <a:bodyPr>
            <a:normAutofit/>
          </a:bodyPr>
          <a:lstStyle/>
          <a:p>
            <a:r>
              <a:rPr lang="en-US" altLang="ko-KR" sz="6000"/>
              <a:t>TensorFlow Overview</a:t>
            </a:r>
            <a:endParaRPr lang="ko-KR" altLang="en-US" sz="3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91544" y="4122844"/>
            <a:ext cx="7766936" cy="1096899"/>
          </a:xfrm>
        </p:spPr>
        <p:txBody>
          <a:bodyPr>
            <a:normAutofit/>
          </a:bodyPr>
          <a:lstStyle/>
          <a:p>
            <a:r>
              <a:rPr lang="en-US" altLang="ko-KR" sz="1400" dirty="0" smtClean="0"/>
              <a:t>2018</a:t>
            </a:r>
            <a:r>
              <a:rPr lang="ko-KR" altLang="en-US" sz="1400" dirty="0" smtClean="0"/>
              <a:t>년 </a:t>
            </a:r>
            <a:r>
              <a:rPr lang="en-US" altLang="ko-KR" sz="1400" dirty="0"/>
              <a:t>3</a:t>
            </a:r>
            <a:r>
              <a:rPr lang="ko-KR" altLang="en-US" sz="1400" dirty="0"/>
              <a:t>학년 </a:t>
            </a:r>
            <a:r>
              <a:rPr lang="en-US" altLang="ko-KR" sz="1400" dirty="0"/>
              <a:t>1</a:t>
            </a:r>
            <a:r>
              <a:rPr lang="ko-KR" altLang="en-US" sz="1400" dirty="0"/>
              <a:t>학기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1571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8677" y="332656"/>
            <a:ext cx="8596668" cy="1320800"/>
          </a:xfrm>
        </p:spPr>
        <p:txBody>
          <a:bodyPr/>
          <a:lstStyle/>
          <a:p>
            <a:r>
              <a:rPr lang="ko-KR" altLang="en-US" dirty="0"/>
              <a:t>목 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27448" y="1412776"/>
            <a:ext cx="8596668" cy="3880773"/>
          </a:xfrm>
        </p:spPr>
        <p:txBody>
          <a:bodyPr>
            <a:normAutofit/>
          </a:bodyPr>
          <a:lstStyle/>
          <a:p>
            <a:endParaRPr lang="en-US" altLang="ko-KR" sz="2000" dirty="0"/>
          </a:p>
          <a:p>
            <a:r>
              <a:rPr lang="ko-KR" altLang="en-US" sz="2000">
                <a:solidFill>
                  <a:schemeClr val="tx1"/>
                </a:solidFill>
              </a:rPr>
              <a:t>환경구축</a:t>
            </a:r>
            <a:endParaRPr lang="en-US" altLang="ko-KR" sz="2000" dirty="0">
              <a:solidFill>
                <a:schemeClr val="tx1"/>
              </a:solidFill>
            </a:endParaRPr>
          </a:p>
          <a:p>
            <a:endParaRPr lang="en-US" altLang="ko-KR" sz="2000" dirty="0">
              <a:solidFill>
                <a:schemeClr val="tx1"/>
              </a:solidFill>
            </a:endParaRPr>
          </a:p>
          <a:p>
            <a:r>
              <a:rPr lang="en-US" altLang="ko-KR" sz="2000">
                <a:solidFill>
                  <a:schemeClr val="tx1"/>
                </a:solidFill>
              </a:rPr>
              <a:t>TensorFlow: </a:t>
            </a:r>
            <a:r>
              <a:rPr lang="ko-KR" altLang="en-US" sz="2000">
                <a:solidFill>
                  <a:schemeClr val="tx1"/>
                </a:solidFill>
              </a:rPr>
              <a:t>기초</a:t>
            </a:r>
            <a:endParaRPr lang="en-US" altLang="ko-KR" sz="2000" dirty="0">
              <a:solidFill>
                <a:schemeClr val="tx1"/>
              </a:solidFill>
            </a:endParaRPr>
          </a:p>
          <a:p>
            <a:endParaRPr lang="en-US" altLang="ko-KR" sz="2000" dirty="0">
              <a:solidFill>
                <a:schemeClr val="tx1"/>
              </a:solidFill>
            </a:endParaRPr>
          </a:p>
          <a:p>
            <a:r>
              <a:rPr lang="en-US" altLang="ko-KR" sz="2000">
                <a:solidFill>
                  <a:schemeClr val="tx1"/>
                </a:solidFill>
              </a:rPr>
              <a:t>TensorFlow: </a:t>
            </a:r>
            <a:r>
              <a:rPr lang="ko-KR" altLang="en-US" sz="2000">
                <a:solidFill>
                  <a:schemeClr val="tx1"/>
                </a:solidFill>
              </a:rPr>
              <a:t>연산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1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848698" y="3068960"/>
            <a:ext cx="5904656" cy="1074991"/>
          </a:xfrm>
        </p:spPr>
        <p:txBody>
          <a:bodyPr>
            <a:noAutofit/>
          </a:bodyPr>
          <a:lstStyle/>
          <a:p>
            <a:r>
              <a:rPr lang="ko-KR" altLang="en-US" sz="5400" b="1">
                <a:latin typeface="+mj-ea"/>
                <a:cs typeface="함초롬바탕" panose="02030504000101010101" pitchFamily="18" charset="-127"/>
              </a:rPr>
              <a:t>환경 구축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70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31504" y="3949753"/>
            <a:ext cx="8712968" cy="2071535"/>
          </a:xfrm>
        </p:spPr>
        <p:txBody>
          <a:bodyPr/>
          <a:lstStyle/>
          <a:p>
            <a:r>
              <a:rPr lang="en-US" altLang="ko-KR" b="1"/>
              <a:t>ANACONDA</a:t>
            </a:r>
            <a:r>
              <a:rPr lang="en-US" altLang="ko-KR"/>
              <a:t> </a:t>
            </a:r>
            <a:r>
              <a:rPr lang="en-US" altLang="ko-KR" dirty="0"/>
              <a:t>: Python</a:t>
            </a:r>
            <a:r>
              <a:rPr lang="ko-KR" altLang="en-US" dirty="0"/>
              <a:t>과 </a:t>
            </a:r>
            <a:r>
              <a:rPr lang="ko-KR" altLang="en-US" dirty="0" err="1"/>
              <a:t>수치계산용</a:t>
            </a:r>
            <a:r>
              <a:rPr lang="ko-KR" altLang="en-US" dirty="0"/>
              <a:t> 라이브러리 </a:t>
            </a:r>
            <a:r>
              <a:rPr lang="en-US" altLang="ko-KR" dirty="0"/>
              <a:t>“</a:t>
            </a:r>
            <a:r>
              <a:rPr lang="en-US" altLang="ko-KR" dirty="0" err="1"/>
              <a:t>numpy</a:t>
            </a:r>
            <a:r>
              <a:rPr lang="en-US" altLang="ko-KR" dirty="0"/>
              <a:t>”, </a:t>
            </a:r>
            <a:r>
              <a:rPr lang="ko-KR" altLang="en-US" dirty="0"/>
              <a:t>시각화 라이브러리</a:t>
            </a:r>
            <a:r>
              <a:rPr lang="en-US" altLang="ko-KR" dirty="0"/>
              <a:t> “</a:t>
            </a:r>
            <a:r>
              <a:rPr lang="en-US" altLang="ko-KR" dirty="0" err="1"/>
              <a:t>matplotlib</a:t>
            </a:r>
            <a:r>
              <a:rPr lang="en-US" altLang="ko-KR" dirty="0"/>
              <a:t>” </a:t>
            </a:r>
            <a:r>
              <a:rPr lang="ko-KR" altLang="en-US" dirty="0"/>
              <a:t>등 데이터 분석에 유용한 라이브러리가 </a:t>
            </a:r>
            <a:r>
              <a:rPr lang="ko-KR" altLang="en-US"/>
              <a:t>포함된 번들</a:t>
            </a:r>
            <a:endParaRPr lang="en-US" altLang="ko-KR"/>
          </a:p>
          <a:p>
            <a:r>
              <a:rPr lang="en-US" altLang="ko-KR" b="1"/>
              <a:t>TensorFlow</a:t>
            </a:r>
            <a:r>
              <a:rPr lang="en-US" altLang="ko-KR"/>
              <a:t> : </a:t>
            </a:r>
            <a:r>
              <a:rPr lang="ko-KR" altLang="en-US"/>
              <a:t>기계 학습 엔진</a:t>
            </a:r>
            <a:r>
              <a:rPr lang="en-US" altLang="ko-KR"/>
              <a:t> - </a:t>
            </a:r>
            <a:r>
              <a:rPr lang="ko-KR" altLang="en-US"/>
              <a:t>검색</a:t>
            </a:r>
            <a:r>
              <a:rPr lang="en-US" altLang="ko-KR"/>
              <a:t>, </a:t>
            </a:r>
            <a:r>
              <a:rPr lang="ko-KR" altLang="en-US"/>
              <a:t>음성 인식</a:t>
            </a:r>
            <a:r>
              <a:rPr lang="en-US" altLang="ko-KR"/>
              <a:t>, </a:t>
            </a:r>
            <a:r>
              <a:rPr lang="ko-KR" altLang="en-US"/>
              <a:t>번역 등의 기계 학습용으로 사용</a:t>
            </a:r>
            <a:endParaRPr lang="en-US" altLang="ko-KR" dirty="0"/>
          </a:p>
          <a:p>
            <a:r>
              <a:rPr lang="en-US" altLang="ko-KR" b="1" dirty="0" err="1"/>
              <a:t>PyCharm</a:t>
            </a:r>
            <a:r>
              <a:rPr lang="en-US" altLang="ko-KR" dirty="0"/>
              <a:t> : </a:t>
            </a:r>
            <a:r>
              <a:rPr lang="ko-KR" altLang="en-US" dirty="0"/>
              <a:t>통합개발환경</a:t>
            </a:r>
            <a:r>
              <a:rPr lang="en-US" altLang="ko-KR" dirty="0"/>
              <a:t>(IDE)</a:t>
            </a:r>
            <a:r>
              <a:rPr lang="ko-KR" altLang="en-US" dirty="0"/>
              <a:t>로 코드 분석</a:t>
            </a:r>
            <a:r>
              <a:rPr lang="en-US" altLang="ko-KR" dirty="0"/>
              <a:t>, </a:t>
            </a:r>
            <a:r>
              <a:rPr lang="ko-KR" altLang="en-US" dirty="0"/>
              <a:t>그래픽디버깅</a:t>
            </a:r>
            <a:r>
              <a:rPr lang="en-US" altLang="ko-KR" dirty="0"/>
              <a:t>, </a:t>
            </a:r>
            <a:r>
              <a:rPr lang="ko-KR" altLang="en-US"/>
              <a:t>통합장치테스트 등의 </a:t>
            </a:r>
            <a:r>
              <a:rPr lang="ko-KR" altLang="en-US" dirty="0"/>
              <a:t>목적으로 사용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Python</a:t>
            </a:r>
            <a:r>
              <a:rPr lang="ko-KR" altLang="en-US"/>
              <a:t> 설치</a:t>
            </a:r>
            <a:endParaRPr lang="ko-KR" altLang="en-US" dirty="0"/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412718" y="1764804"/>
            <a:ext cx="1728192" cy="1296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ANACONDA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설치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ko-KR" altLang="en-US" sz="16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742" y="2556892"/>
            <a:ext cx="1296144" cy="23067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995924" y="1772816"/>
            <a:ext cx="1728192" cy="1296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PyCharm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설치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ko-KR" altLang="en-US" sz="16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948" y="2561619"/>
            <a:ext cx="1296144" cy="291633"/>
          </a:xfrm>
          <a:prstGeom prst="rect">
            <a:avLst/>
          </a:prstGeom>
        </p:spPr>
      </p:pic>
      <p:sp>
        <p:nvSpPr>
          <p:cNvPr id="16" name="오른쪽 화살표 9"/>
          <p:cNvSpPr/>
          <p:nvPr/>
        </p:nvSpPr>
        <p:spPr>
          <a:xfrm>
            <a:off x="4500950" y="2232856"/>
            <a:ext cx="365212" cy="360040"/>
          </a:xfrm>
          <a:prstGeom prst="rightArrow">
            <a:avLst>
              <a:gd name="adj1" fmla="val 100000"/>
              <a:gd name="adj2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182440" y="1761020"/>
            <a:ext cx="1728192" cy="12961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TensorFlow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설치</a:t>
            </a:r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ko-KR" altLang="en-US" sz="1600" dirty="0"/>
          </a:p>
        </p:txBody>
      </p:sp>
      <p:sp>
        <p:nvSpPr>
          <p:cNvPr id="18" name="오른쪽 화살표 12"/>
          <p:cNvSpPr/>
          <p:nvPr/>
        </p:nvSpPr>
        <p:spPr>
          <a:xfrm>
            <a:off x="7270672" y="2229072"/>
            <a:ext cx="365212" cy="360040"/>
          </a:xfrm>
          <a:prstGeom prst="rightArrow">
            <a:avLst>
              <a:gd name="adj1" fmla="val 100000"/>
              <a:gd name="adj2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054" y="2569880"/>
            <a:ext cx="1344928" cy="24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4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1384" y="1024980"/>
            <a:ext cx="8596668" cy="3880773"/>
          </a:xfrm>
        </p:spPr>
        <p:txBody>
          <a:bodyPr/>
          <a:lstStyle/>
          <a:p>
            <a:r>
              <a:rPr lang="en-US" altLang="ko-KR" dirty="0"/>
              <a:t>ANACONDA </a:t>
            </a:r>
            <a:r>
              <a:rPr lang="ko-KR" altLang="en-US" dirty="0"/>
              <a:t>다운로드</a:t>
            </a:r>
            <a:endParaRPr lang="en-US" altLang="ko-KR" dirty="0"/>
          </a:p>
          <a:p>
            <a:pPr lvl="1"/>
            <a:r>
              <a:rPr lang="en-US" altLang="ko-KR">
                <a:hlinkClick r:id="rId2"/>
              </a:rPr>
              <a:t>https://www.continuum.io/downloads</a:t>
            </a:r>
            <a:endParaRPr lang="en-US" altLang="ko-KR" dirty="0"/>
          </a:p>
          <a:p>
            <a:pPr lvl="1"/>
            <a:r>
              <a:rPr lang="en-US" altLang="ko-KR" b="1"/>
              <a:t>Anaconda3-</a:t>
            </a:r>
            <a:r>
              <a:rPr lang="en-US" altLang="ko-KR" sz="2000" b="1">
                <a:solidFill>
                  <a:srgbClr val="FF0000"/>
                </a:solidFill>
              </a:rPr>
              <a:t>4.2.0</a:t>
            </a:r>
            <a:r>
              <a:rPr lang="en-US" altLang="ko-KR"/>
              <a:t> </a:t>
            </a:r>
            <a:r>
              <a:rPr lang="ko-KR" altLang="en-US"/>
              <a:t>중에서 자신에게 </a:t>
            </a:r>
            <a:r>
              <a:rPr lang="ko-KR" altLang="en-US" dirty="0"/>
              <a:t>맞는 다운로드 항목을 선택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07" y="2779257"/>
            <a:ext cx="5133976" cy="2214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직사각형 4"/>
          <p:cNvSpPr/>
          <p:nvPr/>
        </p:nvSpPr>
        <p:spPr>
          <a:xfrm>
            <a:off x="829271" y="4291425"/>
            <a:ext cx="1512168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2737483" y="4291425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75" y="4337584"/>
            <a:ext cx="385889" cy="38588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064" y="3796060"/>
            <a:ext cx="5323983" cy="266984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334168" y="5926793"/>
            <a:ext cx="1520518" cy="2423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682" y="6006789"/>
            <a:ext cx="385889" cy="385889"/>
          </a:xfrm>
          <a:prstGeom prst="rect">
            <a:avLst/>
          </a:prstGeom>
        </p:spPr>
      </p:pic>
      <p:sp>
        <p:nvSpPr>
          <p:cNvPr id="14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ANACONDA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1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3024" y="2132856"/>
            <a:ext cx="4644222" cy="2678841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313081" y="4524487"/>
            <a:ext cx="1551186" cy="2872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354" y="4607931"/>
            <a:ext cx="385889" cy="385889"/>
          </a:xfrm>
          <a:prstGeom prst="rect">
            <a:avLst/>
          </a:prstGeom>
        </p:spPr>
      </p:pic>
      <p:sp>
        <p:nvSpPr>
          <p:cNvPr id="18" name="오른쪽 화살표 5"/>
          <p:cNvSpPr/>
          <p:nvPr/>
        </p:nvSpPr>
        <p:spPr>
          <a:xfrm rot="20700000">
            <a:off x="6633019" y="4663882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26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93" y="3992372"/>
            <a:ext cx="2828071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64" y="3987365"/>
            <a:ext cx="2834510" cy="2203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8649" y="1066649"/>
            <a:ext cx="8182686" cy="427739"/>
          </a:xfrm>
        </p:spPr>
        <p:txBody>
          <a:bodyPr/>
          <a:lstStyle/>
          <a:p>
            <a:r>
              <a:rPr lang="ko-KR" altLang="en-US" dirty="0"/>
              <a:t>다음의 순서로 진행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004" y="1546748"/>
            <a:ext cx="2828070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264" y="1546749"/>
            <a:ext cx="2828070" cy="21989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284" y="3992372"/>
            <a:ext cx="2828071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오른쪽 화살표 6"/>
          <p:cNvSpPr/>
          <p:nvPr/>
        </p:nvSpPr>
        <p:spPr>
          <a:xfrm>
            <a:off x="4440331" y="2466218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4448637" y="4911843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826" y="1546748"/>
            <a:ext cx="2828071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791" y="3503856"/>
            <a:ext cx="385889" cy="38588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192" y="5946310"/>
            <a:ext cx="385889" cy="38588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504" y="5923175"/>
            <a:ext cx="385889" cy="38588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086" y="3488773"/>
            <a:ext cx="385889" cy="385889"/>
          </a:xfrm>
          <a:prstGeom prst="rect">
            <a:avLst/>
          </a:prstGeom>
        </p:spPr>
      </p:pic>
      <p:sp>
        <p:nvSpPr>
          <p:cNvPr id="20" name="오른쪽 화살표 8"/>
          <p:cNvSpPr/>
          <p:nvPr/>
        </p:nvSpPr>
        <p:spPr>
          <a:xfrm>
            <a:off x="7942563" y="2466218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화살표 8"/>
          <p:cNvSpPr/>
          <p:nvPr/>
        </p:nvSpPr>
        <p:spPr>
          <a:xfrm>
            <a:off x="941909" y="4909339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화살표 8"/>
          <p:cNvSpPr/>
          <p:nvPr/>
        </p:nvSpPr>
        <p:spPr>
          <a:xfrm>
            <a:off x="7942563" y="4909339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8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1356" y="3552784"/>
            <a:ext cx="385889" cy="385889"/>
          </a:xfrm>
          <a:prstGeom prst="rect">
            <a:avLst/>
          </a:prstGeom>
        </p:spPr>
      </p:pic>
      <p:sp>
        <p:nvSpPr>
          <p:cNvPr id="24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ANACONDA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2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621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4977" y="1074962"/>
            <a:ext cx="8596668" cy="3880773"/>
          </a:xfrm>
        </p:spPr>
        <p:txBody>
          <a:bodyPr/>
          <a:lstStyle/>
          <a:p>
            <a:r>
              <a:rPr lang="ko-KR" altLang="en-US" b="1"/>
              <a:t>주의사항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현재</a:t>
            </a:r>
            <a:r>
              <a:rPr lang="en-US" altLang="ko-KR"/>
              <a:t>(2017, 5)</a:t>
            </a:r>
            <a:r>
              <a:rPr lang="ko-KR" altLang="en-US"/>
              <a:t> </a:t>
            </a:r>
            <a:r>
              <a:rPr lang="en-US" altLang="ko-KR"/>
              <a:t>TensorFlow win</a:t>
            </a:r>
            <a:r>
              <a:rPr lang="ko-KR" altLang="en-US"/>
              <a:t>은 </a:t>
            </a:r>
            <a:r>
              <a:rPr lang="en-US" altLang="ko-KR"/>
              <a:t>Python 3.5.x</a:t>
            </a:r>
            <a:r>
              <a:rPr lang="ko-KR" altLang="en-US"/>
              <a:t>에서만 지원</a:t>
            </a:r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시작</a:t>
            </a:r>
            <a:r>
              <a:rPr lang="en-US" altLang="ko-KR"/>
              <a:t>] </a:t>
            </a:r>
            <a:r>
              <a:rPr lang="ko-KR" altLang="en-US"/>
              <a:t>→ </a:t>
            </a:r>
            <a:r>
              <a:rPr lang="en-US" altLang="ko-KR"/>
              <a:t>[</a:t>
            </a:r>
            <a:r>
              <a:rPr lang="ko-KR" altLang="en-US"/>
              <a:t>모든 프로그램</a:t>
            </a:r>
            <a:r>
              <a:rPr lang="en-US" altLang="ko-KR"/>
              <a:t>] </a:t>
            </a:r>
            <a:r>
              <a:rPr lang="ko-KR" altLang="en-US"/>
              <a:t>→ </a:t>
            </a:r>
            <a:r>
              <a:rPr lang="en-US" altLang="ko-KR"/>
              <a:t>[Anaconda (64-bit)] </a:t>
            </a:r>
            <a:r>
              <a:rPr lang="ko-KR" altLang="en-US"/>
              <a:t>→ </a:t>
            </a:r>
            <a:r>
              <a:rPr lang="en-US" altLang="ko-KR"/>
              <a:t>[Anaconda prompt] </a:t>
            </a:r>
          </a:p>
          <a:p>
            <a:r>
              <a:rPr lang="ko-KR" altLang="en-US"/>
              <a:t>또는 </a:t>
            </a:r>
            <a:r>
              <a:rPr lang="en-US" altLang="ko-KR"/>
              <a:t>[Anaconda prompt] </a:t>
            </a:r>
            <a:r>
              <a:rPr lang="ko-KR" altLang="en-US"/>
              <a:t>검색</a:t>
            </a:r>
            <a:endParaRPr lang="en-US" altLang="ko-KR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TensorFlow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1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270" y="2669373"/>
            <a:ext cx="2026723" cy="320530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12" y="3861048"/>
            <a:ext cx="1746510" cy="25202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2783632" y="4657622"/>
            <a:ext cx="5466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or</a:t>
            </a: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075" y="2987923"/>
            <a:ext cx="4312485" cy="28155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오른쪽 화살표 6"/>
          <p:cNvSpPr/>
          <p:nvPr/>
        </p:nvSpPr>
        <p:spPr>
          <a:xfrm>
            <a:off x="5903095" y="439758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393153" y="3354399"/>
            <a:ext cx="1336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>
                <a:solidFill>
                  <a:srgbClr val="C00000"/>
                </a:solidFill>
              </a:rPr>
              <a:t>관리자 모드로 실행</a:t>
            </a:r>
            <a:r>
              <a:rPr lang="en-US" altLang="ko-KR" sz="1050" b="1">
                <a:solidFill>
                  <a:srgbClr val="C00000"/>
                </a:solidFill>
              </a:rPr>
              <a:t>!</a:t>
            </a:r>
            <a:endParaRPr lang="ko-KR" altLang="en-US" sz="1050" b="1" dirty="0">
              <a:solidFill>
                <a:srgbClr val="C00000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5" y="3355912"/>
            <a:ext cx="385889" cy="38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8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002976"/>
            <a:ext cx="10615768" cy="5352953"/>
          </a:xfrm>
        </p:spPr>
        <p:txBody>
          <a:bodyPr>
            <a:noAutofit/>
          </a:bodyPr>
          <a:lstStyle/>
          <a:p>
            <a:r>
              <a:rPr lang="en-US" altLang="ko-KR"/>
              <a:t>pip </a:t>
            </a:r>
            <a:r>
              <a:rPr lang="ko-KR" altLang="en-US" dirty="0"/>
              <a:t>갱신</a:t>
            </a:r>
            <a:r>
              <a:rPr lang="en-US" altLang="ko-KR" dirty="0"/>
              <a:t> : </a:t>
            </a:r>
            <a:r>
              <a:rPr lang="sv-SE" altLang="ko-KR" dirty="0"/>
              <a:t>python -m pip install --</a:t>
            </a:r>
            <a:r>
              <a:rPr lang="sv-SE" altLang="ko-KR"/>
              <a:t>upgrade pip</a:t>
            </a:r>
          </a:p>
          <a:p>
            <a:endParaRPr lang="sv-SE" altLang="ko-KR" dirty="0"/>
          </a:p>
          <a:p>
            <a:r>
              <a:rPr lang="en-US" altLang="ko-KR"/>
              <a:t>TensorFlow </a:t>
            </a:r>
            <a:r>
              <a:rPr lang="ko-KR" altLang="en-US"/>
              <a:t>설치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CPU </a:t>
            </a:r>
            <a:r>
              <a:rPr lang="ko-KR" altLang="en-US" dirty="0"/>
              <a:t>전용</a:t>
            </a:r>
            <a:endParaRPr lang="en-US" altLang="ko-KR" dirty="0"/>
          </a:p>
          <a:p>
            <a:pPr lvl="2"/>
            <a:r>
              <a:rPr lang="sv-SE" altLang="ko-KR" sz="1200" dirty="0"/>
              <a:t>pip </a:t>
            </a:r>
            <a:r>
              <a:rPr lang="sv-SE" altLang="ko-KR" sz="1200"/>
              <a:t>install –-ignore-installed --</a:t>
            </a:r>
            <a:r>
              <a:rPr lang="sv-SE" altLang="ko-KR" sz="1200" dirty="0"/>
              <a:t>upgrade https://</a:t>
            </a:r>
            <a:r>
              <a:rPr lang="sv-SE" altLang="ko-KR" sz="1200"/>
              <a:t>storage.googleapis.com/tensorflow/windows/cpu/</a:t>
            </a:r>
            <a:r>
              <a:rPr lang="en-US" altLang="ko-KR" sz="1200"/>
              <a:t>tensorflow-1.1.0-cp35-cp35m-win_amd64.whl </a:t>
            </a:r>
            <a:endParaRPr lang="en-US" altLang="ko-KR" sz="1200" dirty="0"/>
          </a:p>
          <a:p>
            <a:pPr lvl="1"/>
            <a:r>
              <a:rPr lang="en-US" altLang="ko-KR" dirty="0"/>
              <a:t>GPU </a:t>
            </a:r>
            <a:r>
              <a:rPr lang="ko-KR" altLang="en-US" dirty="0"/>
              <a:t>전용</a:t>
            </a:r>
            <a:r>
              <a:rPr lang="en-US" altLang="ko-KR" dirty="0"/>
              <a:t> </a:t>
            </a:r>
          </a:p>
          <a:p>
            <a:pPr lvl="2"/>
            <a:r>
              <a:rPr lang="sv-SE" altLang="ko-KR" sz="1200"/>
              <a:t>pip install –-ignore-installed </a:t>
            </a:r>
            <a:r>
              <a:rPr lang="sv-SE" altLang="ko-KR" sz="1200" dirty="0"/>
              <a:t>--upgrade https://</a:t>
            </a:r>
            <a:r>
              <a:rPr lang="sv-SE" altLang="ko-KR" sz="1200"/>
              <a:t>storage.googleapis.com/tensorflow/windows/gpu/</a:t>
            </a:r>
            <a:r>
              <a:rPr lang="en-US" altLang="ko-KR" sz="1200"/>
              <a:t>tensorflow_gpu-1.1.0-cp35-cp35m-win_amd64.whl</a:t>
            </a:r>
            <a:endParaRPr lang="en-US" altLang="ko-KR" sz="1200" dirty="0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TensorFlow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9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5157192"/>
            <a:ext cx="9153525" cy="33337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21" y="4808837"/>
            <a:ext cx="9144000" cy="352425"/>
          </a:xfrm>
          <a:prstGeom prst="rect">
            <a:avLst/>
          </a:prstGeom>
        </p:spPr>
      </p:pic>
      <p:sp>
        <p:nvSpPr>
          <p:cNvPr id="2" name="L 도형 1"/>
          <p:cNvSpPr/>
          <p:nvPr/>
        </p:nvSpPr>
        <p:spPr>
          <a:xfrm rot="19122485">
            <a:off x="2390992" y="2627160"/>
            <a:ext cx="191650" cy="191650"/>
          </a:xfrm>
          <a:prstGeom prst="corner">
            <a:avLst>
              <a:gd name="adj1" fmla="val 27506"/>
              <a:gd name="adj2" fmla="val 261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5652720" y="98072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11" name="타원 10"/>
          <p:cNvSpPr/>
          <p:nvPr/>
        </p:nvSpPr>
        <p:spPr>
          <a:xfrm>
            <a:off x="9624392" y="2750767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026868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36" y="2348880"/>
            <a:ext cx="6701755" cy="381648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1523" y="1020815"/>
            <a:ext cx="8596668" cy="3880773"/>
          </a:xfrm>
        </p:spPr>
        <p:txBody>
          <a:bodyPr/>
          <a:lstStyle/>
          <a:p>
            <a:r>
              <a:rPr lang="en-US" altLang="ko-KR" dirty="0" err="1"/>
              <a:t>PyCharm</a:t>
            </a:r>
            <a:r>
              <a:rPr lang="en-US" altLang="ko-KR" dirty="0"/>
              <a:t> </a:t>
            </a:r>
            <a:r>
              <a:rPr lang="ko-KR" altLang="en-US" dirty="0"/>
              <a:t>다운로드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https://www.jetbrains.com/pycharm/download/#section=windows</a:t>
            </a:r>
            <a:endParaRPr lang="en-US" altLang="ko-KR" dirty="0"/>
          </a:p>
          <a:p>
            <a:pPr lvl="1"/>
            <a:r>
              <a:rPr lang="ko-KR" altLang="en-US" dirty="0"/>
              <a:t>자신에게 맞는 다운로드 항목을 선택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815206" y="3268418"/>
            <a:ext cx="958977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979" y="3363506"/>
            <a:ext cx="385889" cy="38588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472970" y="5175890"/>
            <a:ext cx="936104" cy="3413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050" y="5347106"/>
            <a:ext cx="385889" cy="385889"/>
          </a:xfrm>
          <a:prstGeom prst="rect">
            <a:avLst/>
          </a:prstGeom>
        </p:spPr>
      </p:pic>
      <p:sp>
        <p:nvSpPr>
          <p:cNvPr id="10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PyCharm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12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87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7167" y="1043743"/>
            <a:ext cx="4686745" cy="491686"/>
          </a:xfrm>
        </p:spPr>
        <p:txBody>
          <a:bodyPr/>
          <a:lstStyle/>
          <a:p>
            <a:r>
              <a:rPr lang="ko-KR" altLang="en-US"/>
              <a:t>다음 </a:t>
            </a:r>
            <a:r>
              <a:rPr lang="ko-KR" altLang="en-US" dirty="0"/>
              <a:t>순서로 진행</a:t>
            </a:r>
          </a:p>
        </p:txBody>
      </p:sp>
      <p:sp>
        <p:nvSpPr>
          <p:cNvPr id="9" name="오른쪽 화살표 8"/>
          <p:cNvSpPr/>
          <p:nvPr/>
        </p:nvSpPr>
        <p:spPr>
          <a:xfrm>
            <a:off x="3966073" y="2467791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2402459" y="514866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24" y="1536401"/>
            <a:ext cx="2828071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63" y="1536401"/>
            <a:ext cx="2826819" cy="21980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1535428"/>
            <a:ext cx="2828071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819" y="4229190"/>
            <a:ext cx="2828071" cy="2198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866" y="4226093"/>
            <a:ext cx="2832055" cy="22020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932" y="3466115"/>
            <a:ext cx="385889" cy="38588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695" y="3451032"/>
            <a:ext cx="385889" cy="38588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117" y="3489365"/>
            <a:ext cx="385889" cy="38588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191" y="6159992"/>
            <a:ext cx="385889" cy="385889"/>
          </a:xfrm>
          <a:prstGeom prst="rect">
            <a:avLst/>
          </a:prstGeom>
        </p:spPr>
      </p:pic>
      <p:sp>
        <p:nvSpPr>
          <p:cNvPr id="21" name="오른쪽 화살표 20"/>
          <p:cNvSpPr/>
          <p:nvPr/>
        </p:nvSpPr>
        <p:spPr>
          <a:xfrm>
            <a:off x="5894272" y="514866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PyCharm </a:t>
            </a:r>
            <a:r>
              <a:rPr lang="ko-KR" altLang="en-US"/>
              <a:t>설치</a:t>
            </a:r>
            <a:endParaRPr lang="ko-KR" altLang="en-US" dirty="0"/>
          </a:p>
        </p:txBody>
      </p:sp>
      <p:sp>
        <p:nvSpPr>
          <p:cNvPr id="23" name="오른쪽 화살표 10"/>
          <p:cNvSpPr/>
          <p:nvPr/>
        </p:nvSpPr>
        <p:spPr>
          <a:xfrm>
            <a:off x="7457260" y="2454898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2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1586" y="2113705"/>
            <a:ext cx="3785674" cy="1259337"/>
          </a:xfrm>
        </p:spPr>
        <p:txBody>
          <a:bodyPr/>
          <a:lstStyle/>
          <a:p>
            <a:r>
              <a:rPr lang="ko-KR" altLang="en-US" dirty="0"/>
              <a:t>자신의 코딩 스타일을 지정</a:t>
            </a:r>
            <a:endParaRPr lang="en-US" altLang="ko-KR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232" y="2572822"/>
            <a:ext cx="3441486" cy="23762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734" y="3132641"/>
            <a:ext cx="3419121" cy="25202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64" y="4131149"/>
            <a:ext cx="385889" cy="38588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119" y="5006745"/>
            <a:ext cx="385889" cy="385889"/>
          </a:xfrm>
          <a:prstGeom prst="rect">
            <a:avLst/>
          </a:prstGeom>
        </p:spPr>
      </p:pic>
      <p:sp>
        <p:nvSpPr>
          <p:cNvPr id="27" name="오른쪽 화살표 26"/>
          <p:cNvSpPr/>
          <p:nvPr/>
        </p:nvSpPr>
        <p:spPr>
          <a:xfrm rot="524789">
            <a:off x="3044062" y="3436481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내용 개체 틀 2"/>
          <p:cNvSpPr txBox="1">
            <a:spLocks/>
          </p:cNvSpPr>
          <p:nvPr/>
        </p:nvSpPr>
        <p:spPr>
          <a:xfrm>
            <a:off x="7373031" y="2572822"/>
            <a:ext cx="4353439" cy="1043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[</a:t>
            </a:r>
            <a:r>
              <a:rPr lang="en-US" altLang="ko-KR" dirty="0" err="1"/>
              <a:t>Configue</a:t>
            </a:r>
            <a:r>
              <a:rPr lang="en-US" altLang="ko-KR" dirty="0"/>
              <a:t>] </a:t>
            </a:r>
            <a:r>
              <a:rPr lang="ko-KR" altLang="en-US" dirty="0"/>
              <a:t>→ </a:t>
            </a:r>
            <a:r>
              <a:rPr lang="en-US" altLang="ko-KR" dirty="0"/>
              <a:t>[Settings]</a:t>
            </a:r>
            <a:r>
              <a:rPr lang="ko-KR" altLang="en-US" dirty="0"/>
              <a:t>로 이동</a:t>
            </a:r>
            <a:endParaRPr lang="en-US" altLang="ko-KR" dirty="0"/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Project </a:t>
            </a:r>
            <a:r>
              <a:rPr lang="ko-KR" altLang="en-US"/>
              <a:t>생성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8" y="1700808"/>
            <a:ext cx="2560847" cy="96646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61" y="2638469"/>
            <a:ext cx="2312662" cy="1812753"/>
          </a:xfrm>
          <a:prstGeom prst="rect">
            <a:avLst/>
          </a:prstGeom>
        </p:spPr>
      </p:pic>
      <p:sp>
        <p:nvSpPr>
          <p:cNvPr id="1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15" name="오른쪽 화살표 26"/>
          <p:cNvSpPr/>
          <p:nvPr/>
        </p:nvSpPr>
        <p:spPr>
          <a:xfrm rot="524789">
            <a:off x="7235079" y="4065507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26"/>
          <p:cNvSpPr/>
          <p:nvPr/>
        </p:nvSpPr>
        <p:spPr>
          <a:xfrm rot="524789">
            <a:off x="11321376" y="4623314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617167" y="1043743"/>
            <a:ext cx="4686745" cy="491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다음 순서로 진행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2808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024081"/>
            <a:ext cx="6912768" cy="532711"/>
          </a:xfrm>
        </p:spPr>
        <p:txBody>
          <a:bodyPr/>
          <a:lstStyle/>
          <a:p>
            <a:r>
              <a:rPr lang="en-US" altLang="ko-KR" dirty="0"/>
              <a:t>[Project Interpreter] </a:t>
            </a:r>
            <a:r>
              <a:rPr lang="ko-KR" altLang="en-US"/>
              <a:t>→ </a:t>
            </a:r>
            <a:r>
              <a:rPr lang="en-US" altLang="ko-KR"/>
              <a:t>[xxx\Anaconda3\python.exe] </a:t>
            </a:r>
            <a:r>
              <a:rPr lang="ko-KR" altLang="en-US" dirty="0"/>
              <a:t>선택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0" y="1600145"/>
            <a:ext cx="4349905" cy="2952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오른쪽 화살표 10"/>
          <p:cNvSpPr/>
          <p:nvPr/>
        </p:nvSpPr>
        <p:spPr>
          <a:xfrm rot="900000">
            <a:off x="5347279" y="3686152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95" y="2343304"/>
            <a:ext cx="385889" cy="38588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71" y="2078351"/>
            <a:ext cx="385889" cy="38588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837" y="2420888"/>
            <a:ext cx="5373747" cy="3577321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727" y="5756336"/>
            <a:ext cx="385889" cy="385889"/>
          </a:xfrm>
          <a:prstGeom prst="rect">
            <a:avLst/>
          </a:prstGeom>
        </p:spPr>
      </p:pic>
      <p:sp>
        <p:nvSpPr>
          <p:cNvPr id="18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Project </a:t>
            </a:r>
            <a:r>
              <a:rPr lang="ko-KR" altLang="en-US"/>
              <a:t>생성</a:t>
            </a:r>
            <a:endParaRPr lang="ko-KR" altLang="en-US" dirty="0"/>
          </a:p>
        </p:txBody>
      </p:sp>
      <p:sp>
        <p:nvSpPr>
          <p:cNvPr id="19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5879976" y="1911255"/>
            <a:ext cx="5192442" cy="532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tensorflow</a:t>
            </a:r>
            <a:r>
              <a:rPr lang="ko-KR" altLang="en-US"/>
              <a:t>가 있는지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231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160" y="1790675"/>
            <a:ext cx="3438579" cy="250686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202" y="2300226"/>
            <a:ext cx="5136709" cy="374487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037190"/>
            <a:ext cx="8596668" cy="3880773"/>
          </a:xfrm>
        </p:spPr>
        <p:txBody>
          <a:bodyPr/>
          <a:lstStyle/>
          <a:p>
            <a:r>
              <a:rPr lang="ko-KR" altLang="en-US" dirty="0"/>
              <a:t>프로젝트를 만들기 위해서 </a:t>
            </a:r>
            <a:r>
              <a:rPr lang="en-US" altLang="ko-KR" dirty="0"/>
              <a:t>[Create New Project]</a:t>
            </a:r>
            <a:r>
              <a:rPr lang="ko-KR" altLang="en-US" dirty="0"/>
              <a:t>를 선택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243" y="4462529"/>
            <a:ext cx="3744415" cy="2133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오른쪽 화살표 24"/>
          <p:cNvSpPr/>
          <p:nvPr/>
        </p:nvSpPr>
        <p:spPr>
          <a:xfrm rot="2063962">
            <a:off x="4615527" y="345900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25"/>
          <p:cNvSpPr/>
          <p:nvPr/>
        </p:nvSpPr>
        <p:spPr>
          <a:xfrm rot="8766471">
            <a:off x="5431038" y="4737943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547" y="3034617"/>
            <a:ext cx="385889" cy="385889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8254753" y="2559917"/>
            <a:ext cx="504056" cy="1973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8728952" y="2559917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이름 선택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109" y="5741596"/>
            <a:ext cx="385889" cy="385889"/>
          </a:xfrm>
          <a:prstGeom prst="rect">
            <a:avLst/>
          </a:prstGeom>
        </p:spPr>
      </p:pic>
      <p:sp>
        <p:nvSpPr>
          <p:cNvPr id="15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Project </a:t>
            </a:r>
            <a:r>
              <a:rPr lang="ko-KR" altLang="en-US"/>
              <a:t>생성</a:t>
            </a:r>
            <a:endParaRPr lang="ko-KR" altLang="en-US" dirty="0"/>
          </a:p>
        </p:txBody>
      </p:sp>
      <p:sp>
        <p:nvSpPr>
          <p:cNvPr id="1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73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8393" b="35831"/>
          <a:stretch/>
        </p:blipFill>
        <p:spPr>
          <a:xfrm>
            <a:off x="715592" y="1681754"/>
            <a:ext cx="5096208" cy="380305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5592" y="1178145"/>
            <a:ext cx="8596668" cy="3880773"/>
          </a:xfrm>
        </p:spPr>
        <p:txBody>
          <a:bodyPr/>
          <a:lstStyle/>
          <a:p>
            <a:r>
              <a:rPr lang="ko-KR" altLang="en-US" dirty="0"/>
              <a:t>만들어진 프로젝트를 오른쪽 클릭하여 </a:t>
            </a:r>
            <a:r>
              <a:rPr lang="en-US" altLang="ko-KR" dirty="0"/>
              <a:t>[New] </a:t>
            </a:r>
            <a:r>
              <a:rPr lang="ko-KR" altLang="en-US" dirty="0"/>
              <a:t>→ </a:t>
            </a:r>
            <a:r>
              <a:rPr lang="en-US" altLang="ko-KR" dirty="0"/>
              <a:t>[Python File]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047" y="2275961"/>
            <a:ext cx="3305175" cy="1466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rcRect t="827" r="53624" b="59356"/>
          <a:stretch/>
        </p:blipFill>
        <p:spPr>
          <a:xfrm>
            <a:off x="7896653" y="4077072"/>
            <a:ext cx="3241390" cy="21559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오른쪽 화살표 14"/>
          <p:cNvSpPr/>
          <p:nvPr/>
        </p:nvSpPr>
        <p:spPr>
          <a:xfrm rot="463765">
            <a:off x="4668036" y="2408435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/>
          <p:nvPr/>
        </p:nvSpPr>
        <p:spPr>
          <a:xfrm rot="1483797">
            <a:off x="7328159" y="3908322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536" y="2363109"/>
            <a:ext cx="385889" cy="38588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014" y="2812956"/>
            <a:ext cx="385889" cy="38588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877" y="3433839"/>
            <a:ext cx="385889" cy="385889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8142536" y="4839297"/>
            <a:ext cx="504056" cy="1973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616735" y="4839297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생성</a:t>
            </a: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Project </a:t>
            </a:r>
            <a:r>
              <a:rPr lang="ko-KR" altLang="en-US"/>
              <a:t>생성</a:t>
            </a:r>
            <a:endParaRPr lang="ko-KR" altLang="en-US" dirty="0"/>
          </a:p>
        </p:txBody>
      </p:sp>
      <p:sp>
        <p:nvSpPr>
          <p:cNvPr id="2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770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7466" b="34079"/>
          <a:stretch/>
        </p:blipFill>
        <p:spPr>
          <a:xfrm>
            <a:off x="3431704" y="2276872"/>
            <a:ext cx="4551620" cy="343766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052736"/>
            <a:ext cx="4985141" cy="530245"/>
          </a:xfrm>
        </p:spPr>
        <p:txBody>
          <a:bodyPr/>
          <a:lstStyle/>
          <a:p>
            <a:r>
              <a:rPr lang="ko-KR" altLang="en-US" dirty="0"/>
              <a:t>프로그래밍의 첫 걸음 </a:t>
            </a:r>
            <a:r>
              <a:rPr lang="en-US" altLang="ko-KR" dirty="0"/>
              <a:t>“hello world”</a:t>
            </a:r>
            <a:r>
              <a:rPr lang="ko-KR" altLang="en-US" dirty="0"/>
              <a:t>출력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193" y="1562287"/>
            <a:ext cx="3381723" cy="911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오른쪽 화살표 13"/>
          <p:cNvSpPr/>
          <p:nvPr/>
        </p:nvSpPr>
        <p:spPr>
          <a:xfrm rot="1508890">
            <a:off x="2795291" y="2655689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 rot="1508890">
            <a:off x="5667726" y="323869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171" y="4637601"/>
            <a:ext cx="385889" cy="385889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3959143" y="4616778"/>
            <a:ext cx="504056" cy="1973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708" y="3510616"/>
            <a:ext cx="2809875" cy="1009650"/>
          </a:xfrm>
          <a:prstGeom prst="rect">
            <a:avLst/>
          </a:prstGeom>
        </p:spPr>
      </p:pic>
      <p:sp>
        <p:nvSpPr>
          <p:cNvPr id="13" name="제목 1"/>
          <p:cNvSpPr txBox="1">
            <a:spLocks/>
          </p:cNvSpPr>
          <p:nvPr/>
        </p:nvSpPr>
        <p:spPr>
          <a:xfrm>
            <a:off x="263352" y="260648"/>
            <a:ext cx="8596668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/>
              <a:t>Project </a:t>
            </a:r>
            <a:r>
              <a:rPr lang="ko-KR" altLang="en-US"/>
              <a:t>생성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51244" y="3202839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accent1">
                    <a:lumMod val="75000"/>
                  </a:schemeClr>
                </a:solidFill>
              </a:rPr>
              <a:t>Right Click!</a:t>
            </a:r>
            <a:endParaRPr lang="ko-KR" altLang="en-US" sz="14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254" y="2906935"/>
            <a:ext cx="385889" cy="385889"/>
          </a:xfrm>
          <a:prstGeom prst="rect">
            <a:avLst/>
          </a:prstGeom>
        </p:spPr>
      </p:pic>
      <p:sp>
        <p:nvSpPr>
          <p:cNvPr id="2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520" y="2950703"/>
            <a:ext cx="1675857" cy="444918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636" y="1892734"/>
            <a:ext cx="2838450" cy="942975"/>
          </a:xfrm>
          <a:prstGeom prst="rect">
            <a:avLst/>
          </a:prstGeom>
        </p:spPr>
      </p:pic>
      <p:sp>
        <p:nvSpPr>
          <p:cNvPr id="23" name="내용 개체 틀 2"/>
          <p:cNvSpPr txBox="1">
            <a:spLocks/>
          </p:cNvSpPr>
          <p:nvPr/>
        </p:nvSpPr>
        <p:spPr>
          <a:xfrm>
            <a:off x="8572307" y="1390512"/>
            <a:ext cx="2799277" cy="53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TensorFlow </a:t>
            </a:r>
            <a:r>
              <a:rPr lang="ko-KR" altLang="en-US"/>
              <a:t>설치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869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6" name="제목 6"/>
          <p:cNvSpPr txBox="1">
            <a:spLocks/>
          </p:cNvSpPr>
          <p:nvPr/>
        </p:nvSpPr>
        <p:spPr>
          <a:xfrm>
            <a:off x="2848698" y="3068960"/>
            <a:ext cx="5904656" cy="10749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40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5400" b="1">
                <a:latin typeface="+mj-ea"/>
                <a:cs typeface="함초롬바탕" panose="02030504000101010101" pitchFamily="18" charset="-127"/>
              </a:rPr>
              <a:t>TensorFlow: </a:t>
            </a:r>
            <a:r>
              <a:rPr lang="ko-KR" altLang="en-US" sz="5400" b="1">
                <a:latin typeface="+mj-ea"/>
                <a:cs typeface="함초롬바탕" panose="02030504000101010101" pitchFamily="18" charset="-127"/>
              </a:rPr>
              <a:t>기초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3995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8"/>
          </a:xfrm>
        </p:spPr>
        <p:txBody>
          <a:bodyPr/>
          <a:lstStyle/>
          <a:p>
            <a:r>
              <a:rPr lang="en-US" altLang="ko-KR">
                <a:latin typeface="+mj-ea"/>
                <a:cs typeface="함초롬바탕" panose="02030504000101010101" pitchFamily="18" charset="-127"/>
              </a:rPr>
              <a:t>TensorFlow: </a:t>
            </a:r>
            <a:r>
              <a:rPr lang="ko-KR" altLang="en-US">
                <a:latin typeface="+mj-ea"/>
                <a:cs typeface="함초롬바탕" panose="02030504000101010101" pitchFamily="18" charset="-127"/>
              </a:rPr>
              <a:t>기초 </a:t>
            </a:r>
            <a:r>
              <a:rPr lang="en-US" altLang="ko-KR">
                <a:latin typeface="+mj-ea"/>
                <a:cs typeface="함초롬바탕" panose="02030504000101010101" pitchFamily="18" charset="-127"/>
              </a:rPr>
              <a:t>-</a:t>
            </a:r>
            <a:r>
              <a:rPr lang="ko-KR" altLang="en-US"/>
              <a:t> 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9217024" cy="4628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머신러닝과 딥러닝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TensorFlow Overview</a:t>
            </a: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데이터 플로우 그래프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TensorFlow </a:t>
            </a:r>
            <a:r>
              <a:rPr lang="ko-KR" altLang="en-US">
                <a:solidFill>
                  <a:schemeClr val="tx1"/>
                </a:solidFill>
              </a:rPr>
              <a:t>구조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세션 실습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실행 구조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텐서보드 사용법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55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ko-KR" altLang="en-US"/>
              <a:t>머신 러닝</a:t>
            </a:r>
            <a:r>
              <a:rPr lang="en-US" altLang="ko-KR"/>
              <a:t>(</a:t>
            </a:r>
            <a:r>
              <a:rPr lang="ko-KR" altLang="en-US"/>
              <a:t>기계 학습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10585176" cy="4628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데이터로부터 새로운 지식을 발견해내는 알고리즘을 연구하는 </a:t>
            </a:r>
            <a:r>
              <a:rPr lang="en-US" altLang="ko-KR">
                <a:solidFill>
                  <a:schemeClr val="tx1"/>
                </a:solidFill>
              </a:rPr>
              <a:t>AI</a:t>
            </a:r>
            <a:r>
              <a:rPr lang="ko-KR" altLang="en-US">
                <a:solidFill>
                  <a:schemeClr val="tx1"/>
                </a:solidFill>
              </a:rPr>
              <a:t>의 한 분야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컴퓨터에 명시적인 코드 없이 배울 수 있는 능력을 부여하는 연구 분야</a:t>
            </a:r>
            <a:r>
              <a:rPr lang="en-US" altLang="ko-KR">
                <a:solidFill>
                  <a:schemeClr val="tx1"/>
                </a:solidFill>
              </a:rPr>
              <a:t> (</a:t>
            </a:r>
            <a:r>
              <a:rPr lang="ko-KR" altLang="en-US">
                <a:solidFill>
                  <a:schemeClr val="tx1"/>
                </a:solidFill>
              </a:rPr>
              <a:t>아서 사무엘</a:t>
            </a:r>
            <a:r>
              <a:rPr lang="en-US" altLang="ko-KR">
                <a:solidFill>
                  <a:schemeClr val="tx1"/>
                </a:solidFill>
              </a:rPr>
              <a:t>, 1959)</a:t>
            </a: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머신 러닝에 기반을 둔 시스템은 과거 데이터 학습을 통해 미래에 더 나은 결과를 제공할 수 있도록 지식을 향상시키거나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특정 시스템의 목표치에 더 근접한 결과를 추론해 낼 수 있다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1026" name="Picture 2" descr="This curious machine is learning machine learning, unsupervis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534" y="3624580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머신 러닝에 대한 이미지 검색결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4077072"/>
            <a:ext cx="1584176" cy="183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52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사각형: 둥근 모서리 59"/>
          <p:cNvSpPr/>
          <p:nvPr/>
        </p:nvSpPr>
        <p:spPr>
          <a:xfrm>
            <a:off x="7678877" y="4155791"/>
            <a:ext cx="2664296" cy="2376264"/>
          </a:xfrm>
          <a:prstGeom prst="round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8"/>
          </a:xfrm>
        </p:spPr>
        <p:txBody>
          <a:bodyPr/>
          <a:lstStyle/>
          <a:p>
            <a:r>
              <a:rPr lang="ko-KR" altLang="en-US"/>
              <a:t>머신 러닝</a:t>
            </a:r>
            <a:r>
              <a:rPr lang="en-US" altLang="ko-KR"/>
              <a:t> </a:t>
            </a:r>
            <a:r>
              <a:rPr lang="ko-KR" altLang="en-US"/>
              <a:t>알고리즘 분류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9217024" cy="4628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tx1"/>
                </a:solidFill>
              </a:rPr>
              <a:t>지도 학습</a:t>
            </a:r>
            <a:r>
              <a:rPr lang="en-US" altLang="ko-KR" b="1">
                <a:solidFill>
                  <a:schemeClr val="tx1"/>
                </a:solidFill>
              </a:rPr>
              <a:t>(Supervised Learning)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원하는 결과 값</a:t>
            </a:r>
            <a:r>
              <a:rPr lang="en-US" altLang="ko-KR">
                <a:solidFill>
                  <a:schemeClr val="tx1"/>
                </a:solidFill>
              </a:rPr>
              <a:t>(desired output)</a:t>
            </a:r>
            <a:r>
              <a:rPr lang="ko-KR" altLang="en-US">
                <a:solidFill>
                  <a:schemeClr val="tx1"/>
                </a:solidFill>
              </a:rPr>
              <a:t>이 각각 레이블 되어 있는 훈련 데이터</a:t>
            </a:r>
            <a:r>
              <a:rPr lang="en-US" altLang="ko-KR">
                <a:solidFill>
                  <a:schemeClr val="tx1"/>
                </a:solidFill>
              </a:rPr>
              <a:t>(training set)</a:t>
            </a:r>
            <a:r>
              <a:rPr lang="ko-KR" altLang="en-US">
                <a:solidFill>
                  <a:schemeClr val="tx1"/>
                </a:solidFill>
              </a:rPr>
              <a:t>로부터 함수를 유추해내기 위한 방법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대부분 지도 학습 알고리즘은 비용 함수</a:t>
            </a:r>
            <a:r>
              <a:rPr lang="en-US" altLang="ko-KR">
                <a:solidFill>
                  <a:schemeClr val="tx1"/>
                </a:solidFill>
              </a:rPr>
              <a:t>(Cost Function)</a:t>
            </a:r>
            <a:r>
              <a:rPr lang="ko-KR" altLang="en-US">
                <a:solidFill>
                  <a:schemeClr val="tx1"/>
                </a:solidFill>
              </a:rPr>
              <a:t>의 값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즉 예측된 결과 값의 오류를 줄여나가는 방법으로 동작한다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학습이 완료된 이후에는 모델의 정확도를 측정한다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학습에 사용되지 않은 검증 데이터 집합</a:t>
            </a:r>
            <a:r>
              <a:rPr lang="en-US" altLang="ko-KR">
                <a:solidFill>
                  <a:schemeClr val="tx1"/>
                </a:solidFill>
              </a:rPr>
              <a:t>(Validation Set)</a:t>
            </a:r>
            <a:r>
              <a:rPr lang="ko-KR" altLang="en-US">
                <a:solidFill>
                  <a:schemeClr val="tx1"/>
                </a:solidFill>
              </a:rPr>
              <a:t>에 대해 오류 값을 구한다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endParaRPr lang="en-US" altLang="ko-KR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19</a:t>
            </a:fld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7999569" y="6030058"/>
            <a:ext cx="2016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V="1">
            <a:off x="8215593" y="4517890"/>
            <a:ext cx="0" cy="172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8611637" y="5424591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9600077" y="4674082"/>
            <a:ext cx="144016" cy="14401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V="1">
            <a:off x="9600077" y="4674083"/>
            <a:ext cx="144016" cy="14401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8611637" y="5679540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9600077" y="4929031"/>
            <a:ext cx="144016" cy="14401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9600077" y="4929032"/>
            <a:ext cx="144016" cy="14401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8863665" y="5565138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/>
          <p:nvPr/>
        </p:nvCxnSpPr>
        <p:spPr>
          <a:xfrm>
            <a:off x="9384053" y="5183981"/>
            <a:ext cx="144016" cy="14401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9384053" y="5183982"/>
            <a:ext cx="144016" cy="14401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/>
          <p:cNvSpPr/>
          <p:nvPr/>
        </p:nvSpPr>
        <p:spPr>
          <a:xfrm>
            <a:off x="8371657" y="5513234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9352914" y="4895949"/>
            <a:ext cx="144016" cy="14401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9352914" y="4895950"/>
            <a:ext cx="144016" cy="14401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625744" y="4756060"/>
            <a:ext cx="64807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Raw</a:t>
            </a:r>
          </a:p>
          <a:p>
            <a:pPr algn="ctr">
              <a:lnSpc>
                <a:spcPct val="70000"/>
              </a:lnSpc>
            </a:pPr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614462" y="4756060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교정된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811674" y="4468049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학습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811674" y="5025313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검증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9" name="타원 28"/>
          <p:cNvSpPr/>
          <p:nvPr/>
        </p:nvSpPr>
        <p:spPr>
          <a:xfrm>
            <a:off x="4971648" y="4376075"/>
            <a:ext cx="900100" cy="5827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모델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30" name="순서도: 판단 29"/>
          <p:cNvSpPr/>
          <p:nvPr/>
        </p:nvSpPr>
        <p:spPr>
          <a:xfrm>
            <a:off x="5914244" y="4959173"/>
            <a:ext cx="988440" cy="544773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검증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007652" y="5834761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신규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2344432" y="4947222"/>
            <a:ext cx="234026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3514720" y="4702865"/>
            <a:ext cx="216024" cy="18087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3514720" y="5003857"/>
            <a:ext cx="216024" cy="17050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695126" y="4667460"/>
            <a:ext cx="234026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4695126" y="5225362"/>
            <a:ext cx="1176622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 flipH="1">
            <a:off x="5914244" y="4674082"/>
            <a:ext cx="494220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6412085" y="4674082"/>
            <a:ext cx="0" cy="20966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5843485" y="4894436"/>
            <a:ext cx="234026" cy="18838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5415206" y="5019005"/>
            <a:ext cx="6492" cy="76079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30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/>
          <p:cNvSpPr/>
          <p:nvPr/>
        </p:nvSpPr>
        <p:spPr>
          <a:xfrm>
            <a:off x="7572220" y="3933056"/>
            <a:ext cx="2664296" cy="2376264"/>
          </a:xfrm>
          <a:prstGeom prst="round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8"/>
          </a:xfrm>
        </p:spPr>
        <p:txBody>
          <a:bodyPr/>
          <a:lstStyle/>
          <a:p>
            <a:r>
              <a:rPr lang="ko-KR" altLang="en-US"/>
              <a:t>머신 러닝</a:t>
            </a:r>
            <a:r>
              <a:rPr lang="en-US" altLang="ko-KR"/>
              <a:t> </a:t>
            </a:r>
            <a:r>
              <a:rPr lang="ko-KR" altLang="en-US"/>
              <a:t>알고리즘 분류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9577064" cy="4628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tx1"/>
                </a:solidFill>
              </a:rPr>
              <a:t>비지도 학습</a:t>
            </a:r>
            <a:r>
              <a:rPr lang="en-US" altLang="ko-KR" b="1">
                <a:solidFill>
                  <a:schemeClr val="tx1"/>
                </a:solidFill>
              </a:rPr>
              <a:t>(Unsupervised Learning)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레이블이 없는 데이터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즉 데이터가 어느 카테고리에 속하는지 알 수 없는 데이터를 이용해 학습하는 방법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데이터의 상호 유사성을 판단해 공통된 특징을 찾아내는 과정을 통해 내재된 지식을 찾아낸다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주로 군집화</a:t>
            </a:r>
            <a:r>
              <a:rPr lang="en-US" altLang="ko-KR">
                <a:solidFill>
                  <a:schemeClr val="tx1"/>
                </a:solidFill>
              </a:rPr>
              <a:t>(Clustering) </a:t>
            </a:r>
            <a:r>
              <a:rPr lang="ko-KR" altLang="en-US">
                <a:solidFill>
                  <a:schemeClr val="tx1"/>
                </a:solidFill>
              </a:rPr>
              <a:t>문제를 해결하는 과정에서 사용된다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20</a:t>
            </a:fld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7904153" y="5807323"/>
            <a:ext cx="2016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8120177" y="4295155"/>
            <a:ext cx="0" cy="172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8516221" y="5201856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8516221" y="5456805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8768249" y="5342403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8276241" y="5290499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9292799" y="4481565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9464859" y="4812633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9536867" y="4545975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9158443" y="4682412"/>
            <a:ext cx="144016" cy="144016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9068803" y="4314400"/>
            <a:ext cx="736024" cy="736024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8219833" y="5014461"/>
            <a:ext cx="724420" cy="72442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2108200" y="4147010"/>
            <a:ext cx="64807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Raw</a:t>
            </a:r>
          </a:p>
          <a:p>
            <a:pPr algn="ctr">
              <a:lnSpc>
                <a:spcPct val="70000"/>
              </a:lnSpc>
            </a:pPr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096918" y="4147010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교정된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30" name="타원 29"/>
          <p:cNvSpPr/>
          <p:nvPr/>
        </p:nvSpPr>
        <p:spPr>
          <a:xfrm>
            <a:off x="4265656" y="4046787"/>
            <a:ext cx="900100" cy="5827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모델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31" name="순서도: 판단 30"/>
          <p:cNvSpPr/>
          <p:nvPr/>
        </p:nvSpPr>
        <p:spPr>
          <a:xfrm>
            <a:off x="5208252" y="4629885"/>
            <a:ext cx="988440" cy="544773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검증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5288426" y="5676610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신규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2826888" y="4338172"/>
            <a:ext cx="234026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3977624" y="4338172"/>
            <a:ext cx="257486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H="1">
            <a:off x="5208252" y="4344794"/>
            <a:ext cx="494220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5706093" y="4344794"/>
            <a:ext cx="0" cy="20966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5137493" y="4565148"/>
            <a:ext cx="234026" cy="18838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5702472" y="5249003"/>
            <a:ext cx="0" cy="35326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305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ko-KR" altLang="en-US"/>
              <a:t>딥 러닝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7"/>
            <a:ext cx="9324616" cy="31942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다층구조 형태의 신경망을 기반으로 하는 머신 러닝의 한 분야로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다량의 데이터로부터 높은 수준의 추상화 모델을 구축하고자 하는 기법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사람의 두뇌가 외부 자극에 대한 정보를 처리하고 학습하는 방법을 모방한다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여러 단계의 표현을 통해 더 깊은 단계의 레이어는 이전의 레이어로부터 데이터를 입력받아 더욱 추상화된 데이터를 출력한다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658428" y="4223969"/>
            <a:ext cx="828092" cy="5761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다량의 레이블된데이터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855640" y="4024557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학습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55640" y="4581821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검증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10" name="타원 9"/>
          <p:cNvSpPr/>
          <p:nvPr/>
        </p:nvSpPr>
        <p:spPr>
          <a:xfrm>
            <a:off x="4015614" y="3932583"/>
            <a:ext cx="900100" cy="5827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딥 뉴럴 네트워크</a:t>
            </a:r>
          </a:p>
        </p:txBody>
      </p:sp>
      <p:sp>
        <p:nvSpPr>
          <p:cNvPr id="11" name="순서도: 판단 10"/>
          <p:cNvSpPr/>
          <p:nvPr/>
        </p:nvSpPr>
        <p:spPr>
          <a:xfrm>
            <a:off x="4958210" y="4515681"/>
            <a:ext cx="988440" cy="544773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검증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045126" y="5502116"/>
            <a:ext cx="828092" cy="39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신규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데이터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2558686" y="4259373"/>
            <a:ext cx="216024" cy="18087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558686" y="4560365"/>
            <a:ext cx="216024" cy="17050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3739092" y="4223968"/>
            <a:ext cx="234026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739092" y="4781870"/>
            <a:ext cx="1176622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4958210" y="4230590"/>
            <a:ext cx="494220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456051" y="4230590"/>
            <a:ext cx="0" cy="20966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4887451" y="4450944"/>
            <a:ext cx="234026" cy="18838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4459172" y="4575513"/>
            <a:ext cx="0" cy="87259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딥 러닝에 대한 이미지 검색결과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3795" r="-213"/>
          <a:stretch/>
        </p:blipFill>
        <p:spPr bwMode="auto">
          <a:xfrm>
            <a:off x="6419767" y="4024557"/>
            <a:ext cx="3856817" cy="19893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/>
          <p:cNvSpPr/>
          <p:nvPr/>
        </p:nvSpPr>
        <p:spPr>
          <a:xfrm>
            <a:off x="4523778" y="5131975"/>
            <a:ext cx="597699" cy="1808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모델 적용</a:t>
            </a:r>
          </a:p>
        </p:txBody>
      </p:sp>
    </p:spTree>
    <p:extLst>
      <p:ext uri="{BB962C8B-B14F-4D97-AF65-F5344CB8AC3E}">
        <p14:creationId xmlns:p14="http://schemas.microsoft.com/office/powerpoint/2010/main" val="2238714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49744"/>
            <a:ext cx="8596668" cy="1320800"/>
          </a:xfrm>
        </p:spPr>
        <p:txBody>
          <a:bodyPr/>
          <a:lstStyle/>
          <a:p>
            <a:r>
              <a:rPr lang="en-US" altLang="ko-KR"/>
              <a:t>TensorFlow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95400" y="1124744"/>
            <a:ext cx="8010954" cy="40847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tx1"/>
                </a:solidFill>
              </a:rPr>
              <a:t>머신러닝과 딥러닝을 위해 만들어진 오픈소스 소프트웨어 라이브러리</a:t>
            </a:r>
            <a:endParaRPr lang="en-US" altLang="ko-KR" b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1026" name="Picture 2" descr="tensorflow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176" y="5089465"/>
            <a:ext cx="932725" cy="794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40087" y="1700808"/>
            <a:ext cx="6011582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주요 기능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산술 연산 최적화 기법 적용으로 다양한 수식 처리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다차원 배열</a:t>
            </a:r>
            <a:r>
              <a:rPr lang="en-US" altLang="ko-KR" sz="1600"/>
              <a:t>(</a:t>
            </a:r>
            <a:r>
              <a:rPr lang="ko-KR" altLang="en-US" sz="1600"/>
              <a:t>텐서</a:t>
            </a:r>
            <a:r>
              <a:rPr lang="en-US" altLang="ko-KR" sz="1600"/>
              <a:t>)</a:t>
            </a:r>
            <a:r>
              <a:rPr lang="ko-KR" altLang="en-US" sz="1600"/>
              <a:t>의 정의</a:t>
            </a:r>
            <a:r>
              <a:rPr lang="en-US" altLang="ko-KR" sz="1600"/>
              <a:t>, </a:t>
            </a:r>
            <a:r>
              <a:rPr lang="ko-KR" altLang="en-US" sz="1600"/>
              <a:t>최적화</a:t>
            </a:r>
            <a:r>
              <a:rPr lang="en-US" altLang="ko-KR" sz="1600"/>
              <a:t>, </a:t>
            </a:r>
            <a:r>
              <a:rPr lang="ko-KR" altLang="en-US" sz="1600"/>
              <a:t>효율적 산술 연산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코드 수정 없이 </a:t>
            </a:r>
            <a:r>
              <a:rPr lang="en-US" altLang="ko-KR" sz="1600"/>
              <a:t>CPU/GPU </a:t>
            </a:r>
            <a:r>
              <a:rPr lang="ko-KR" altLang="en-US" sz="1600"/>
              <a:t>모드로 동작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아이디어 테스트에서 서비스 단계까지 이용 가능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/>
              <a:t>빅 데이터 처리를 위한 대규모 병렬 컴퓨팅 지원</a:t>
            </a:r>
            <a:endParaRPr lang="en-US" altLang="ko-KR" sz="160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600"/>
              <a:t>Python/C++</a:t>
            </a:r>
            <a:r>
              <a:rPr lang="ko-KR" altLang="en-US" sz="1600"/>
              <a:t>를 지원하며</a:t>
            </a:r>
            <a:r>
              <a:rPr lang="en-US" altLang="ko-KR" sz="1600"/>
              <a:t>, SWIG</a:t>
            </a:r>
            <a:r>
              <a:rPr lang="ko-KR" altLang="en-US" sz="1600"/>
              <a:t>를 통해 다양한 언어 지원</a:t>
            </a:r>
            <a:endParaRPr lang="en-US" altLang="ko-KR" sz="1600"/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3074" name="Picture 2" descr="google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836" y="5146904"/>
            <a:ext cx="2011833" cy="680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700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데이터 플로우 그래프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7488832" cy="52825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텐서플로의 연산은 데이터 플로우 그래프로 구성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노드는 산술 연산자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덧셈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뺄셈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곱셈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나눗셈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이고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에지는 텐서라고 명명된 다중 다차원 데이터 집합을 의미하며 피연산자가 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노드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각 노드는 명령어에 대한 인스턴스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수학적 계산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데이터 입</a:t>
            </a:r>
            <a:r>
              <a:rPr lang="en-US" altLang="ko-KR">
                <a:solidFill>
                  <a:schemeClr val="tx1"/>
                </a:solidFill>
              </a:rPr>
              <a:t>/</a:t>
            </a:r>
            <a:r>
              <a:rPr lang="ko-KR" altLang="en-US">
                <a:solidFill>
                  <a:schemeClr val="tx1"/>
                </a:solidFill>
              </a:rPr>
              <a:t>출력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그리고 데이터 읽기</a:t>
            </a:r>
            <a:r>
              <a:rPr lang="en-US" altLang="ko-KR">
                <a:solidFill>
                  <a:schemeClr val="tx1"/>
                </a:solidFill>
              </a:rPr>
              <a:t>/</a:t>
            </a:r>
            <a:r>
              <a:rPr lang="ko-KR" altLang="en-US">
                <a:solidFill>
                  <a:schemeClr val="tx1"/>
                </a:solidFill>
              </a:rPr>
              <a:t>저장 등의 작업을 수행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엣지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노드 간 데이터 입출력 관계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동적 사이즈의 다차원 배열</a:t>
            </a:r>
            <a:r>
              <a:rPr lang="en-US" altLang="ko-KR">
                <a:solidFill>
                  <a:schemeClr val="tx1"/>
                </a:solidFill>
              </a:rPr>
              <a:t>(=</a:t>
            </a:r>
            <a:r>
              <a:rPr lang="ko-KR" altLang="en-US">
                <a:solidFill>
                  <a:schemeClr val="tx1"/>
                </a:solidFill>
              </a:rPr>
              <a:t>텐서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r>
              <a:rPr lang="ko-KR" altLang="en-US">
                <a:solidFill>
                  <a:schemeClr val="tx1"/>
                </a:solidFill>
              </a:rPr>
              <a:t>을 실어나르는 역할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107" y="835838"/>
            <a:ext cx="2880320" cy="5120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6772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데이터 플로우 그래프 기능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8092612" cy="52825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명령어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연산을 추상화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하나의 명령어는 여러 개의 텐서를 피연산자로 사용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동일한 명령어에 다른 형식의 텐서를 적용하는 다형성 기법 사용 가능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커널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명령어를 구현한 것을 말하며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디바이스에 따라 별도로 구현된다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예를 들어 행렬 덧셈은 </a:t>
            </a:r>
            <a:r>
              <a:rPr lang="en-US" altLang="ko-KR">
                <a:solidFill>
                  <a:schemeClr val="tx1"/>
                </a:solidFill>
              </a:rPr>
              <a:t>CPU, GPU </a:t>
            </a:r>
            <a:r>
              <a:rPr lang="ko-KR" altLang="en-US">
                <a:solidFill>
                  <a:schemeClr val="tx1"/>
                </a:solidFill>
              </a:rPr>
              <a:t>구현으로 나눌 수 있고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각각을 커널이라 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세션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클라이언트 프로그램이 텐서플로 런타임 시스템과 통신하기 위한 것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클라이언트가 세션과 통신을 시작하는 시점에 빈 내용의 그래프가 생성되며 이 그래프는 </a:t>
            </a:r>
            <a:r>
              <a:rPr lang="en-US" altLang="ko-KR">
                <a:solidFill>
                  <a:schemeClr val="tx1"/>
                </a:solidFill>
              </a:rPr>
              <a:t>session.extend, session.run</a:t>
            </a:r>
            <a:r>
              <a:rPr lang="ko-KR" altLang="en-US">
                <a:solidFill>
                  <a:schemeClr val="tx1"/>
                </a:solidFill>
              </a:rPr>
              <a:t>의 두 가지 메소드를 가진다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50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en-US" altLang="ko-KR"/>
              <a:t>TensorFlow</a:t>
            </a:r>
            <a:r>
              <a:rPr lang="ko-KR" altLang="en-US"/>
              <a:t> 구조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2564904"/>
            <a:ext cx="4314742" cy="3693021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767408" y="1098827"/>
            <a:ext cx="7488832" cy="12500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TensorFlow</a:t>
            </a:r>
            <a:r>
              <a:rPr lang="ko-KR" altLang="en-US">
                <a:solidFill>
                  <a:schemeClr val="tx1"/>
                </a:solidFill>
              </a:rPr>
              <a:t>는 </a:t>
            </a:r>
            <a:r>
              <a:rPr lang="ko-KR" altLang="en-US" b="1">
                <a:solidFill>
                  <a:schemeClr val="tx1"/>
                </a:solidFill>
              </a:rPr>
              <a:t>엣지</a:t>
            </a:r>
            <a:r>
              <a:rPr lang="ko-KR" altLang="en-US">
                <a:solidFill>
                  <a:schemeClr val="tx1"/>
                </a:solidFill>
              </a:rPr>
              <a:t>와 </a:t>
            </a:r>
            <a:r>
              <a:rPr lang="ko-KR" altLang="en-US" b="1">
                <a:solidFill>
                  <a:schemeClr val="tx1"/>
                </a:solidFill>
              </a:rPr>
              <a:t>노드</a:t>
            </a:r>
            <a:r>
              <a:rPr lang="ko-KR" altLang="en-US">
                <a:solidFill>
                  <a:schemeClr val="tx1"/>
                </a:solidFill>
              </a:rPr>
              <a:t>로 구조화된 </a:t>
            </a:r>
            <a:r>
              <a:rPr lang="ko-KR" altLang="en-US" b="1">
                <a:solidFill>
                  <a:schemeClr val="tx1"/>
                </a:solidFill>
              </a:rPr>
              <a:t>그래프</a:t>
            </a:r>
            <a:r>
              <a:rPr lang="ko-KR" altLang="en-US">
                <a:solidFill>
                  <a:schemeClr val="tx1"/>
                </a:solidFill>
              </a:rPr>
              <a:t>로 구성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그래프를 실행하기 위해서는 </a:t>
            </a:r>
            <a:r>
              <a:rPr lang="ko-KR" altLang="en-US" b="1">
                <a:solidFill>
                  <a:schemeClr val="tx1"/>
                </a:solidFill>
              </a:rPr>
              <a:t>세션</a:t>
            </a:r>
            <a:r>
              <a:rPr lang="ko-KR" altLang="en-US">
                <a:solidFill>
                  <a:schemeClr val="tx1"/>
                </a:solidFill>
              </a:rPr>
              <a:t>이 필요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4" name="사각형: 둥근 모서리 3"/>
          <p:cNvSpPr/>
          <p:nvPr/>
        </p:nvSpPr>
        <p:spPr>
          <a:xfrm>
            <a:off x="3575720" y="2564904"/>
            <a:ext cx="4248472" cy="208823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/>
          <p:cNvSpPr/>
          <p:nvPr/>
        </p:nvSpPr>
        <p:spPr>
          <a:xfrm>
            <a:off x="5015880" y="4941167"/>
            <a:ext cx="2016224" cy="32918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>
            <a:stCxn id="4" idx="2"/>
          </p:cNvCxnSpPr>
          <p:nvPr/>
        </p:nvCxnSpPr>
        <p:spPr>
          <a:xfrm>
            <a:off x="5699956" y="4653136"/>
            <a:ext cx="61206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5663952" y="5229200"/>
            <a:ext cx="7200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826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16622"/>
          <a:stretch/>
        </p:blipFill>
        <p:spPr>
          <a:xfrm>
            <a:off x="4605090" y="2416875"/>
            <a:ext cx="3368262" cy="2478950"/>
          </a:xfrm>
          <a:prstGeom prst="rect">
            <a:avLst/>
          </a:prstGeom>
        </p:spPr>
      </p:pic>
      <p:sp>
        <p:nvSpPr>
          <p:cNvPr id="3" name="사각형: 둥근 모서리 2"/>
          <p:cNvSpPr/>
          <p:nvPr/>
        </p:nvSpPr>
        <p:spPr>
          <a:xfrm>
            <a:off x="8040216" y="1964162"/>
            <a:ext cx="3744416" cy="34090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세션 실습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28" y="1844824"/>
            <a:ext cx="3066488" cy="21255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41436" y="2132856"/>
            <a:ext cx="353173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TensorFlow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모듈을 가져와서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호출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라는 상수 값을 만들고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숫자 지정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라는 변수를 만들고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방정식 정의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Global_variables_initializer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로 변수를 초기화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값을 계산하기 위한 세션 생성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에서 만든 모델 실행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변수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만 실행하고 현재 값 출력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" name="오른쪽 화살표 24"/>
          <p:cNvSpPr/>
          <p:nvPr/>
        </p:nvSpPr>
        <p:spPr>
          <a:xfrm rot="2063962">
            <a:off x="3953063" y="3069286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60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실행 구조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27</a:t>
            </a:fld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3298189" y="527238"/>
            <a:ext cx="5591175" cy="2647950"/>
            <a:chOff x="2256296" y="1124744"/>
            <a:chExt cx="5591175" cy="264795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6296" y="1124744"/>
              <a:ext cx="5591175" cy="2647950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5303912" y="1628800"/>
              <a:ext cx="72008" cy="144016"/>
            </a:xfrm>
            <a:prstGeom prst="rect">
              <a:avLst/>
            </a:prstGeom>
            <a:solidFill>
              <a:srgbClr val="EBF0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14" y="3789864"/>
            <a:ext cx="1950941" cy="148441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055" y="3789864"/>
            <a:ext cx="1236990" cy="281339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872" y="3717032"/>
            <a:ext cx="2192499" cy="126838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288" y="3545581"/>
            <a:ext cx="1550715" cy="3101429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/>
          </p:nvPr>
        </p:nvSpPr>
        <p:spPr>
          <a:xfrm>
            <a:off x="556903" y="2823631"/>
            <a:ext cx="3744416" cy="6019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</a:rPr>
              <a:t>Graph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458" y="3649692"/>
            <a:ext cx="2695575" cy="1524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9889" y="5418509"/>
            <a:ext cx="1428750" cy="942975"/>
          </a:xfrm>
          <a:prstGeom prst="rect">
            <a:avLst/>
          </a:prstGeom>
        </p:spPr>
      </p:pic>
      <p:sp>
        <p:nvSpPr>
          <p:cNvPr id="18" name="오른쪽 화살표 24"/>
          <p:cNvSpPr/>
          <p:nvPr/>
        </p:nvSpPr>
        <p:spPr>
          <a:xfrm rot="634756">
            <a:off x="1750651" y="5238487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24"/>
          <p:cNvSpPr/>
          <p:nvPr/>
        </p:nvSpPr>
        <p:spPr>
          <a:xfrm rot="634756">
            <a:off x="5450217" y="4976851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오른쪽 화살표 24"/>
          <p:cNvSpPr/>
          <p:nvPr/>
        </p:nvSpPr>
        <p:spPr>
          <a:xfrm rot="634756">
            <a:off x="9509812" y="5238487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040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실행 구조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14787"/>
          <a:stretch/>
        </p:blipFill>
        <p:spPr>
          <a:xfrm>
            <a:off x="7018734" y="2779786"/>
            <a:ext cx="2808312" cy="1647825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487488" y="1096172"/>
            <a:ext cx="3168352" cy="23301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</a:rPr>
              <a:t>fetch</a:t>
            </a:r>
          </a:p>
          <a:p>
            <a:pPr lvl="1"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텐서에 할당되어야 실제 </a:t>
            </a:r>
            <a:r>
              <a:rPr lang="en-US" altLang="ko-KR">
                <a:solidFill>
                  <a:schemeClr val="tx1"/>
                </a:solidFill>
              </a:rPr>
              <a:t>Session</a:t>
            </a:r>
            <a:r>
              <a:rPr lang="ko-KR" altLang="en-US">
                <a:solidFill>
                  <a:schemeClr val="tx1"/>
                </a:solidFill>
              </a:rPr>
              <a:t>에서 실행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6442670" y="1096171"/>
            <a:ext cx="3744416" cy="1322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</a:rPr>
              <a:t>feed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feed_dict</a:t>
            </a:r>
            <a:r>
              <a:rPr lang="ko-KR" altLang="en-US">
                <a:solidFill>
                  <a:schemeClr val="tx1"/>
                </a:solidFill>
              </a:rPr>
              <a:t>로 처리 값을 할당</a:t>
            </a:r>
            <a:endParaRPr lang="en-US" altLang="ko-KR">
              <a:solidFill>
                <a:schemeClr val="tx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596" y="2779786"/>
            <a:ext cx="1790700" cy="79057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596" y="3930401"/>
            <a:ext cx="23622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27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텐서보드 사용법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5586" y="1020480"/>
            <a:ext cx="11017224" cy="764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데이터 플로우 그래프를 분석하고 머신 러닝 모델을 시각화하여 이해도를 높일 수 있도록 도와주는 도구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50" y="1814352"/>
            <a:ext cx="4962525" cy="23431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74" y="2142906"/>
            <a:ext cx="5540393" cy="34487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97" y="4813332"/>
            <a:ext cx="4484018" cy="1637641"/>
          </a:xfrm>
          <a:prstGeom prst="rect">
            <a:avLst/>
          </a:prstGeom>
        </p:spPr>
      </p:pic>
      <p:sp>
        <p:nvSpPr>
          <p:cNvPr id="8" name="오른쪽 화살표 10"/>
          <p:cNvSpPr/>
          <p:nvPr/>
        </p:nvSpPr>
        <p:spPr>
          <a:xfrm rot="3803009">
            <a:off x="8669438" y="453188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66" y="4549975"/>
            <a:ext cx="3162300" cy="1619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374" y="5018648"/>
            <a:ext cx="3771900" cy="1714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5245" y="1789256"/>
            <a:ext cx="942975" cy="2190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770" y="1800901"/>
            <a:ext cx="12382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60483" y="176029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or</a:t>
            </a:r>
            <a:endParaRPr lang="ko-KR" altLang="en-US" sz="1200"/>
          </a:p>
        </p:txBody>
      </p:sp>
      <p:sp>
        <p:nvSpPr>
          <p:cNvPr id="15" name="타원 14"/>
          <p:cNvSpPr/>
          <p:nvPr/>
        </p:nvSpPr>
        <p:spPr>
          <a:xfrm>
            <a:off x="344871" y="1693457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16" name="타원 15"/>
          <p:cNvSpPr/>
          <p:nvPr/>
        </p:nvSpPr>
        <p:spPr>
          <a:xfrm>
            <a:off x="344871" y="441074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17" name="타원 16"/>
          <p:cNvSpPr/>
          <p:nvPr/>
        </p:nvSpPr>
        <p:spPr>
          <a:xfrm>
            <a:off x="5615938" y="175477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3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69647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텐서보드 노드 심볼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18" name="사각형: 둥근 모서리 17"/>
          <p:cNvSpPr/>
          <p:nvPr/>
        </p:nvSpPr>
        <p:spPr>
          <a:xfrm>
            <a:off x="1374780" y="1418101"/>
            <a:ext cx="673989" cy="3279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359696" y="1412776"/>
            <a:ext cx="6232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네임 스코프를 나타내는 상위 노드</a:t>
            </a:r>
            <a:r>
              <a:rPr lang="en-US" altLang="ko-KR" sz="1600"/>
              <a:t>. </a:t>
            </a:r>
            <a:r>
              <a:rPr lang="ko-KR" altLang="en-US" sz="1600"/>
              <a:t>더블 클릭하면 펼쳐볼 수 있다</a:t>
            </a:r>
            <a:r>
              <a:rPr lang="en-US" altLang="ko-KR" sz="1600"/>
              <a:t>.</a:t>
            </a:r>
            <a:endParaRPr lang="ko-KR" altLang="en-US" sz="1600"/>
          </a:p>
        </p:txBody>
      </p:sp>
      <p:sp>
        <p:nvSpPr>
          <p:cNvPr id="20" name="TextBox 19"/>
          <p:cNvSpPr txBox="1"/>
          <p:nvPr/>
        </p:nvSpPr>
        <p:spPr>
          <a:xfrm>
            <a:off x="3359696" y="1975220"/>
            <a:ext cx="4876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순서가 있는 노드</a:t>
            </a:r>
            <a:r>
              <a:rPr lang="en-US" altLang="ko-KR" sz="1600"/>
              <a:t>. </a:t>
            </a:r>
            <a:r>
              <a:rPr lang="ko-KR" altLang="en-US" sz="1600"/>
              <a:t>다른 노드와 연결되어 있지 않다</a:t>
            </a:r>
            <a:r>
              <a:rPr lang="en-US" altLang="ko-KR" sz="1600"/>
              <a:t>.</a:t>
            </a:r>
            <a:endParaRPr lang="ko-KR" altLang="en-US" sz="1600"/>
          </a:p>
        </p:txBody>
      </p:sp>
      <p:sp>
        <p:nvSpPr>
          <p:cNvPr id="21" name="TextBox 20"/>
          <p:cNvSpPr txBox="1"/>
          <p:nvPr/>
        </p:nvSpPr>
        <p:spPr>
          <a:xfrm>
            <a:off x="3359696" y="2483838"/>
            <a:ext cx="44037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순서가 있는 노드</a:t>
            </a:r>
            <a:r>
              <a:rPr lang="en-US" altLang="ko-KR" sz="1600"/>
              <a:t>. </a:t>
            </a:r>
            <a:r>
              <a:rPr lang="ko-KR" altLang="en-US" sz="1600"/>
              <a:t>다른 노드와 연결되어 있다</a:t>
            </a:r>
            <a:r>
              <a:rPr lang="en-US" altLang="ko-KR" sz="1600"/>
              <a:t>.</a:t>
            </a:r>
            <a:endParaRPr lang="ko-KR" altLang="en-US" sz="1600"/>
          </a:p>
        </p:txBody>
      </p:sp>
      <p:sp>
        <p:nvSpPr>
          <p:cNvPr id="24" name="타원 23"/>
          <p:cNvSpPr/>
          <p:nvPr/>
        </p:nvSpPr>
        <p:spPr>
          <a:xfrm>
            <a:off x="1711775" y="2046573"/>
            <a:ext cx="195849" cy="19584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1619137" y="2612803"/>
            <a:ext cx="195849" cy="19584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1619137" y="2557530"/>
            <a:ext cx="195849" cy="19584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619137" y="2502257"/>
            <a:ext cx="195849" cy="19584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613851" y="2046573"/>
            <a:ext cx="195849" cy="19584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1515927" y="2046573"/>
            <a:ext cx="195849" cy="19584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1445354" y="3138679"/>
            <a:ext cx="532842" cy="21778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1631732" y="3710120"/>
            <a:ext cx="170658" cy="17278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3359696" y="3078293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독립 명령어 노드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9696" y="36272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상수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9696" y="4176173"/>
            <a:ext cx="1067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요약 노드</a:t>
            </a: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12" y="4209962"/>
            <a:ext cx="277498" cy="277498"/>
          </a:xfrm>
          <a:prstGeom prst="rect">
            <a:avLst/>
          </a:prstGeom>
        </p:spPr>
      </p:pic>
      <p:cxnSp>
        <p:nvCxnSpPr>
          <p:cNvPr id="35" name="직선 연결선 34"/>
          <p:cNvCxnSpPr/>
          <p:nvPr/>
        </p:nvCxnSpPr>
        <p:spPr>
          <a:xfrm>
            <a:off x="1423744" y="4925122"/>
            <a:ext cx="5760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1442108" y="5396559"/>
            <a:ext cx="536088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H="1">
            <a:off x="1402132" y="5898305"/>
            <a:ext cx="576064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59695" y="4755845"/>
            <a:ext cx="3985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명령어 간 데이터 플로우가 존재하는 엣지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2896" y="5227282"/>
            <a:ext cx="3985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명령어 간 컨트롤 플로우가 존재하는 엣지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9696" y="5729028"/>
            <a:ext cx="5609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입력 텐서를 복제해 출력할 수 있는 명령어를 참조하는 엣지</a:t>
            </a:r>
          </a:p>
        </p:txBody>
      </p:sp>
    </p:spTree>
    <p:extLst>
      <p:ext uri="{BB962C8B-B14F-4D97-AF65-F5344CB8AC3E}">
        <p14:creationId xmlns:p14="http://schemas.microsoft.com/office/powerpoint/2010/main" val="403701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6" name="제목 6"/>
          <p:cNvSpPr txBox="1">
            <a:spLocks/>
          </p:cNvSpPr>
          <p:nvPr/>
        </p:nvSpPr>
        <p:spPr>
          <a:xfrm>
            <a:off x="2848698" y="3068960"/>
            <a:ext cx="5904656" cy="10749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40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5400" b="1">
                <a:latin typeface="+mj-ea"/>
                <a:cs typeface="함초롬바탕" panose="02030504000101010101" pitchFamily="18" charset="-127"/>
              </a:rPr>
              <a:t>TensorFlow: </a:t>
            </a:r>
            <a:r>
              <a:rPr lang="ko-KR" altLang="en-US" sz="5400" b="1">
                <a:latin typeface="+mj-ea"/>
                <a:cs typeface="함초롬바탕" panose="02030504000101010101" pitchFamily="18" charset="-127"/>
              </a:rPr>
              <a:t>연산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2035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8"/>
          </a:xfrm>
        </p:spPr>
        <p:txBody>
          <a:bodyPr/>
          <a:lstStyle/>
          <a:p>
            <a:r>
              <a:rPr lang="en-US" altLang="ko-KR">
                <a:latin typeface="+mj-ea"/>
                <a:cs typeface="함초롬바탕" panose="02030504000101010101" pitchFamily="18" charset="-127"/>
              </a:rPr>
              <a:t>TensorFlow: </a:t>
            </a:r>
            <a:r>
              <a:rPr lang="ko-KR" altLang="en-US">
                <a:latin typeface="+mj-ea"/>
                <a:cs typeface="함초롬바탕" panose="02030504000101010101" pitchFamily="18" charset="-127"/>
              </a:rPr>
              <a:t>연산 </a:t>
            </a:r>
            <a:r>
              <a:rPr lang="en-US" altLang="ko-KR">
                <a:latin typeface="+mj-ea"/>
                <a:cs typeface="함초롬바탕" panose="02030504000101010101" pitchFamily="18" charset="-127"/>
              </a:rPr>
              <a:t>-</a:t>
            </a:r>
            <a:r>
              <a:rPr lang="ko-KR" altLang="en-US"/>
              <a:t> 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9217024" cy="4628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 자료 구조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 만들기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난수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미분계수 계산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 다루기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97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자료 구조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10441160" cy="54985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텐서는 텐서플로의 기본 자료 구조로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다차원 배열이나 리스트로 구성되어 있는 단순한 구조이다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텐서는 </a:t>
            </a:r>
            <a:r>
              <a:rPr lang="en-US" altLang="ko-KR">
                <a:solidFill>
                  <a:schemeClr val="tx1"/>
                </a:solidFill>
              </a:rPr>
              <a:t>rank, shape, type</a:t>
            </a:r>
            <a:r>
              <a:rPr lang="ko-KR" altLang="en-US">
                <a:solidFill>
                  <a:schemeClr val="tx1"/>
                </a:solidFill>
              </a:rPr>
              <a:t>의 세 가지 매개변수로 구분된다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>
                <a:solidFill>
                  <a:schemeClr val="tx1"/>
                </a:solidFill>
              </a:rPr>
              <a:t>rank : </a:t>
            </a:r>
            <a:r>
              <a:rPr lang="ko-KR" altLang="en-US" sz="1600">
                <a:solidFill>
                  <a:schemeClr val="tx1"/>
                </a:solidFill>
              </a:rPr>
              <a:t>텐서의 </a:t>
            </a:r>
            <a:r>
              <a:rPr lang="ko-KR" altLang="en-US" sz="1600" b="1">
                <a:solidFill>
                  <a:schemeClr val="tx1"/>
                </a:solidFill>
              </a:rPr>
              <a:t>차원</a:t>
            </a:r>
            <a:r>
              <a:rPr lang="en-US" altLang="ko-KR" sz="1600">
                <a:solidFill>
                  <a:schemeClr val="tx1"/>
                </a:solidFill>
              </a:rPr>
              <a:t>. rank</a:t>
            </a:r>
            <a:r>
              <a:rPr lang="ko-KR" altLang="en-US" sz="1600">
                <a:solidFill>
                  <a:schemeClr val="tx1"/>
                </a:solidFill>
              </a:rPr>
              <a:t>가 </a:t>
            </a:r>
            <a:r>
              <a:rPr lang="en-US" altLang="ko-KR" sz="1600">
                <a:solidFill>
                  <a:schemeClr val="tx1"/>
                </a:solidFill>
              </a:rPr>
              <a:t>N</a:t>
            </a:r>
            <a:r>
              <a:rPr lang="ko-KR" altLang="en-US" sz="1600">
                <a:solidFill>
                  <a:schemeClr val="tx1"/>
                </a:solidFill>
              </a:rPr>
              <a:t>인 </a:t>
            </a:r>
            <a:r>
              <a:rPr lang="ko-KR" altLang="en-US">
                <a:solidFill>
                  <a:schemeClr val="tx1"/>
                </a:solidFill>
              </a:rPr>
              <a:t>텐서는 </a:t>
            </a:r>
            <a:r>
              <a:rPr lang="en-US" altLang="ko-KR">
                <a:solidFill>
                  <a:schemeClr val="tx1"/>
                </a:solidFill>
              </a:rPr>
              <a:t>N</a:t>
            </a:r>
            <a:r>
              <a:rPr lang="ko-KR" altLang="en-US">
                <a:solidFill>
                  <a:schemeClr val="tx1"/>
                </a:solidFill>
              </a:rPr>
              <a:t>차원의 행렬을 나타낸다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>
                <a:solidFill>
                  <a:schemeClr val="tx1"/>
                </a:solidFill>
              </a:rPr>
              <a:t>shape : </a:t>
            </a:r>
            <a:r>
              <a:rPr lang="ko-KR" altLang="en-US" sz="1600">
                <a:solidFill>
                  <a:schemeClr val="tx1"/>
                </a:solidFill>
              </a:rPr>
              <a:t>텐서의 행과 </a:t>
            </a:r>
            <a:r>
              <a:rPr lang="ko-KR" altLang="en-US" sz="1600" b="1">
                <a:solidFill>
                  <a:schemeClr val="tx1"/>
                </a:solidFill>
              </a:rPr>
              <a:t>열의 개수</a:t>
            </a:r>
            <a:r>
              <a:rPr lang="ko-KR" altLang="en-US" sz="1600">
                <a:solidFill>
                  <a:schemeClr val="tx1"/>
                </a:solidFill>
              </a:rPr>
              <a:t>를 나타낸다</a:t>
            </a:r>
            <a:r>
              <a:rPr lang="en-US" altLang="ko-KR" sz="1600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type : </a:t>
            </a:r>
            <a:r>
              <a:rPr lang="ko-KR" altLang="en-US">
                <a:solidFill>
                  <a:schemeClr val="tx1"/>
                </a:solidFill>
              </a:rPr>
              <a:t>텐서의 </a:t>
            </a:r>
            <a:r>
              <a:rPr lang="ko-KR" altLang="en-US" b="1">
                <a:solidFill>
                  <a:schemeClr val="tx1"/>
                </a:solidFill>
              </a:rPr>
              <a:t>데이터 형식</a:t>
            </a:r>
            <a:r>
              <a:rPr lang="ko-KR" altLang="en-US">
                <a:solidFill>
                  <a:schemeClr val="tx1"/>
                </a:solidFill>
              </a:rPr>
              <a:t>을 나타낸다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 만들기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NumPy </a:t>
            </a:r>
            <a:r>
              <a:rPr lang="ko-KR" altLang="en-US">
                <a:solidFill>
                  <a:schemeClr val="tx1"/>
                </a:solidFill>
              </a:rPr>
              <a:t>등을 이용한 </a:t>
            </a:r>
            <a:r>
              <a:rPr lang="en-US" altLang="ko-KR">
                <a:solidFill>
                  <a:schemeClr val="tx1"/>
                </a:solidFill>
              </a:rPr>
              <a:t>N</a:t>
            </a:r>
            <a:r>
              <a:rPr lang="ko-KR" altLang="en-US">
                <a:solidFill>
                  <a:schemeClr val="tx1"/>
                </a:solidFill>
              </a:rPr>
              <a:t>차원 배열 만들기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N</a:t>
            </a:r>
            <a:r>
              <a:rPr lang="ko-KR" altLang="en-US">
                <a:solidFill>
                  <a:schemeClr val="tx1"/>
                </a:solidFill>
              </a:rPr>
              <a:t>차원 배열을 텐서플로 텐서로 변환하기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996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자료 구조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5472608" cy="55705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array(s)</a:t>
            </a:r>
            <a:r>
              <a:rPr lang="ko-KR" altLang="en-US">
                <a:solidFill>
                  <a:schemeClr val="tx1"/>
                </a:solidFill>
              </a:rPr>
              <a:t> 명령어</a:t>
            </a:r>
            <a:r>
              <a:rPr lang="en-US" altLang="ko-KR">
                <a:solidFill>
                  <a:schemeClr val="tx1"/>
                </a:solidFill>
              </a:rPr>
              <a:t> – s</a:t>
            </a:r>
            <a:r>
              <a:rPr lang="ko-KR" altLang="en-US">
                <a:solidFill>
                  <a:schemeClr val="tx1"/>
                </a:solidFill>
              </a:rPr>
              <a:t>는 파이썬 리스트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268" y="2344132"/>
            <a:ext cx="2811064" cy="136511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324" y="3851673"/>
            <a:ext cx="3212644" cy="101544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2357694"/>
            <a:ext cx="3744416" cy="2156922"/>
          </a:xfrm>
          <a:prstGeom prst="rect">
            <a:avLst/>
          </a:prstGeom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1670260" y="1842544"/>
            <a:ext cx="2808312" cy="761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1</a:t>
            </a:r>
            <a:r>
              <a:rPr lang="ko-KR" altLang="en-US">
                <a:solidFill>
                  <a:schemeClr val="tx1"/>
                </a:solidFill>
              </a:rPr>
              <a:t>차원 텐서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6168008" y="1814316"/>
            <a:ext cx="324036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2</a:t>
            </a:r>
            <a:r>
              <a:rPr lang="ko-KR" altLang="en-US">
                <a:solidFill>
                  <a:schemeClr val="tx1"/>
                </a:solidFill>
              </a:rPr>
              <a:t>차원 텐서</a:t>
            </a:r>
            <a:endParaRPr lang="en-US" altLang="ko-K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400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자료 구조</a:t>
            </a:r>
            <a:r>
              <a:rPr lang="en-US" altLang="ko-KR"/>
              <a:t>(3)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7"/>
            <a:ext cx="5472608" cy="47784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0</a:t>
            </a:r>
            <a:r>
              <a:rPr lang="ko-KR" altLang="en-US">
                <a:solidFill>
                  <a:schemeClr val="tx1"/>
                </a:solidFill>
              </a:rPr>
              <a:t>차원부터 </a:t>
            </a:r>
            <a:r>
              <a:rPr lang="en-US" altLang="ko-KR">
                <a:solidFill>
                  <a:schemeClr val="tx1"/>
                </a:solidFill>
              </a:rPr>
              <a:t>n</a:t>
            </a:r>
            <a:r>
              <a:rPr lang="ko-KR" altLang="en-US">
                <a:solidFill>
                  <a:schemeClr val="tx1"/>
                </a:solidFill>
              </a:rPr>
              <a:t>차원까지의 차원 이해</a:t>
            </a:r>
            <a:endParaRPr lang="en-US" altLang="ko-KR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0</a:t>
            </a:r>
            <a:r>
              <a:rPr lang="ko-KR" altLang="en-US">
                <a:solidFill>
                  <a:schemeClr val="tx1"/>
                </a:solidFill>
              </a:rPr>
              <a:t>차 텐서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스칼라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벡터가 없음</a:t>
            </a:r>
            <a:r>
              <a:rPr lang="en-US" altLang="ko-KR">
                <a:solidFill>
                  <a:schemeClr val="tx1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1</a:t>
            </a:r>
            <a:r>
              <a:rPr lang="ko-KR" altLang="en-US">
                <a:solidFill>
                  <a:schemeClr val="tx1"/>
                </a:solidFill>
              </a:rPr>
              <a:t>차 텐서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벡터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벡터가 하나</a:t>
            </a:r>
            <a:r>
              <a:rPr lang="en-US" altLang="ko-KR">
                <a:solidFill>
                  <a:schemeClr val="tx1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2</a:t>
            </a:r>
            <a:r>
              <a:rPr lang="ko-KR" altLang="en-US">
                <a:solidFill>
                  <a:schemeClr val="tx1"/>
                </a:solidFill>
              </a:rPr>
              <a:t>차 텐서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행렬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다이애드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벡터 두 개가 일렬</a:t>
            </a:r>
            <a:r>
              <a:rPr lang="en-US" altLang="ko-KR">
                <a:solidFill>
                  <a:schemeClr val="tx1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3</a:t>
            </a:r>
            <a:r>
              <a:rPr lang="ko-KR" altLang="en-US">
                <a:solidFill>
                  <a:schemeClr val="tx1"/>
                </a:solidFill>
              </a:rPr>
              <a:t>차 텐서 </a:t>
            </a:r>
            <a:r>
              <a:rPr lang="en-US" altLang="ko-KR">
                <a:solidFill>
                  <a:schemeClr val="tx1"/>
                </a:solidFill>
              </a:rPr>
              <a:t>: </a:t>
            </a:r>
            <a:r>
              <a:rPr lang="ko-KR" altLang="en-US">
                <a:solidFill>
                  <a:schemeClr val="tx1"/>
                </a:solidFill>
              </a:rPr>
              <a:t>트라이애드</a:t>
            </a:r>
            <a:r>
              <a:rPr lang="en-US" altLang="ko-KR">
                <a:solidFill>
                  <a:schemeClr val="tx1"/>
                </a:solidFill>
              </a:rPr>
              <a:t>(2</a:t>
            </a:r>
            <a:r>
              <a:rPr lang="ko-KR" altLang="en-US">
                <a:solidFill>
                  <a:schemeClr val="tx1"/>
                </a:solidFill>
              </a:rPr>
              <a:t>차 텐서가 일렬</a:t>
            </a:r>
            <a:r>
              <a:rPr lang="en-US" altLang="ko-KR">
                <a:solidFill>
                  <a:schemeClr val="tx1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n</a:t>
            </a:r>
            <a:r>
              <a:rPr lang="ko-KR" altLang="en-US">
                <a:solidFill>
                  <a:schemeClr val="tx1"/>
                </a:solidFill>
              </a:rPr>
              <a:t>차 텐서 </a:t>
            </a:r>
            <a:r>
              <a:rPr lang="en-US" altLang="ko-KR">
                <a:solidFill>
                  <a:schemeClr val="tx1"/>
                </a:solidFill>
              </a:rPr>
              <a:t>: n-1</a:t>
            </a:r>
            <a:r>
              <a:rPr lang="ko-KR" altLang="en-US">
                <a:solidFill>
                  <a:schemeClr val="tx1"/>
                </a:solidFill>
              </a:rPr>
              <a:t>차 텐서가 일렬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35</a:t>
            </a:fld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787" y="811709"/>
            <a:ext cx="4391025" cy="3086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739" y="4268775"/>
            <a:ext cx="800100" cy="74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843" y="4268775"/>
            <a:ext cx="1652017" cy="2101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오른쪽 화살표 24"/>
          <p:cNvSpPr/>
          <p:nvPr/>
        </p:nvSpPr>
        <p:spPr>
          <a:xfrm rot="6638831">
            <a:off x="8444568" y="3668918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464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데이터 타입 및 명령어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1384" y="1278083"/>
            <a:ext cx="2808312" cy="6739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 데이터 타입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36</a:t>
            </a:fld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844824"/>
            <a:ext cx="6636568" cy="3328325"/>
          </a:xfrm>
          <a:prstGeom prst="rect">
            <a:avLst/>
          </a:prstGeom>
        </p:spPr>
      </p:pic>
      <p:sp>
        <p:nvSpPr>
          <p:cNvPr id="13" name="내용 개체 틀 2"/>
          <p:cNvSpPr txBox="1">
            <a:spLocks/>
          </p:cNvSpPr>
          <p:nvPr/>
        </p:nvSpPr>
        <p:spPr>
          <a:xfrm>
            <a:off x="7632554" y="87021"/>
            <a:ext cx="3720030" cy="673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텐서플로 연산 명령어들</a:t>
            </a:r>
            <a:endParaRPr lang="en-US" altLang="ko-KR" sz="1600">
              <a:solidFill>
                <a:schemeClr val="tx1"/>
              </a:solidFill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975927"/>
              </p:ext>
            </p:extLst>
          </p:nvPr>
        </p:nvGraphicFramePr>
        <p:xfrm>
          <a:off x="7660162" y="682838"/>
          <a:ext cx="3981282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641">
                  <a:extLst>
                    <a:ext uri="{9D8B030D-6E8A-4147-A177-3AD203B41FA5}">
                      <a16:colId xmlns:a16="http://schemas.microsoft.com/office/drawing/2014/main" val="887721657"/>
                    </a:ext>
                  </a:extLst>
                </a:gridCol>
                <a:gridCol w="1990641">
                  <a:extLst>
                    <a:ext uri="{9D8B030D-6E8A-4147-A177-3AD203B41FA5}">
                      <a16:colId xmlns:a16="http://schemas.microsoft.com/office/drawing/2014/main" val="2909240875"/>
                    </a:ext>
                  </a:extLst>
                </a:gridCol>
              </a:tblGrid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tf.add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덧셈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657949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tf.sub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뺄셈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337371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tf.multiply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곱셈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02007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tf.divide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나눗셈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442045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tf.mod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나머지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80014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tf.abs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절대값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26317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tf.sign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부호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800674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tf.inv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역수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789194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tf.square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제곱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104152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tf.round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반올림 정수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781496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tf.sqrt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제곱근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873755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tf.pow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거듭제곱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31982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tf.exp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지수 함수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58072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tf.log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로그 함수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59616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tf.maximum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최대값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59911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tf.minimum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최소값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375760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tf.cos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코사인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11130"/>
                  </a:ext>
                </a:extLst>
              </a:tr>
              <a:tr h="2369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tf.sin</a:t>
                      </a:r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chemeClr val="tx1"/>
                          </a:solidFill>
                        </a:rPr>
                        <a:t>사인</a:t>
                      </a:r>
                    </a:p>
                  </a:txBody>
                  <a:tcPr marL="36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858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423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35609" y="1686666"/>
            <a:ext cx="1800200" cy="6019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zeros_like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4799856" y="1686667"/>
            <a:ext cx="1800200" cy="601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ones_like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8256240" y="1686667"/>
            <a:ext cx="1800200" cy="601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fill</a:t>
            </a:r>
            <a:endParaRPr lang="en-US" altLang="ko-KR" sz="1600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09" y="2502610"/>
            <a:ext cx="3286125" cy="126682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036" y="4833912"/>
            <a:ext cx="619125" cy="4000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56" y="2502610"/>
            <a:ext cx="2724150" cy="126682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886" y="4816005"/>
            <a:ext cx="647700" cy="44767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6240" y="2420888"/>
            <a:ext cx="2743200" cy="12954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9795" y="4870846"/>
            <a:ext cx="609600" cy="371475"/>
          </a:xfrm>
          <a:prstGeom prst="rect">
            <a:avLst/>
          </a:prstGeom>
        </p:spPr>
      </p:pic>
      <p:sp>
        <p:nvSpPr>
          <p:cNvPr id="20" name="오른쪽 화살표 24"/>
          <p:cNvSpPr/>
          <p:nvPr/>
        </p:nvSpPr>
        <p:spPr>
          <a:xfrm rot="3455987">
            <a:off x="2493091" y="4236215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화살표 24"/>
          <p:cNvSpPr/>
          <p:nvPr/>
        </p:nvSpPr>
        <p:spPr>
          <a:xfrm rot="3455987">
            <a:off x="5783753" y="4199172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화살표 24"/>
          <p:cNvSpPr/>
          <p:nvPr/>
        </p:nvSpPr>
        <p:spPr>
          <a:xfrm rot="3455987">
            <a:off x="9200467" y="4230201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2935809" y="3769435"/>
            <a:ext cx="8559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6032153" y="3769435"/>
            <a:ext cx="8559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8760296" y="2996952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50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만들기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767408" y="1098827"/>
            <a:ext cx="10153128" cy="529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linspace – </a:t>
            </a:r>
            <a:r>
              <a:rPr lang="ko-KR" altLang="en-US">
                <a:solidFill>
                  <a:schemeClr val="tx1"/>
                </a:solidFill>
              </a:rPr>
              <a:t>시작점과 종료점 그리고 개수를 정해서 생성</a:t>
            </a:r>
            <a:r>
              <a:rPr lang="en-US" altLang="ko-KR">
                <a:solidFill>
                  <a:schemeClr val="tx1"/>
                </a:solidFill>
              </a:rPr>
              <a:t>. </a:t>
            </a:r>
            <a:r>
              <a:rPr lang="ko-KR" altLang="en-US">
                <a:solidFill>
                  <a:schemeClr val="tx1"/>
                </a:solidFill>
              </a:rPr>
              <a:t>마지막은 범위에 포함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763170" y="3717032"/>
            <a:ext cx="10301382" cy="601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range - </a:t>
            </a:r>
            <a:r>
              <a:rPr lang="ko-KR" altLang="en-US" sz="1600">
                <a:solidFill>
                  <a:schemeClr val="tx1"/>
                </a:solidFill>
              </a:rPr>
              <a:t>시작점과 종료점 그리고 차이를 정해서 생성</a:t>
            </a:r>
            <a:r>
              <a:rPr lang="en-US" altLang="ko-KR" sz="1600">
                <a:solidFill>
                  <a:schemeClr val="tx1"/>
                </a:solidFill>
              </a:rPr>
              <a:t>. </a:t>
            </a:r>
            <a:r>
              <a:rPr lang="ko-KR" altLang="en-US" sz="1600">
                <a:solidFill>
                  <a:schemeClr val="tx1"/>
                </a:solidFill>
              </a:rPr>
              <a:t>마지막은 범위에 포함하지 않음</a:t>
            </a:r>
            <a:endParaRPr lang="en-US" altLang="ko-KR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034741"/>
            <a:ext cx="2886075" cy="12763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1" y="2612157"/>
            <a:ext cx="1800225" cy="190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4589698"/>
            <a:ext cx="2762250" cy="16192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992" y="5481621"/>
            <a:ext cx="2143125" cy="342900"/>
          </a:xfrm>
          <a:prstGeom prst="rect">
            <a:avLst/>
          </a:prstGeom>
        </p:spPr>
      </p:pic>
      <p:sp>
        <p:nvSpPr>
          <p:cNvPr id="12" name="오른쪽 화살표 24"/>
          <p:cNvSpPr/>
          <p:nvPr/>
        </p:nvSpPr>
        <p:spPr>
          <a:xfrm>
            <a:off x="4872155" y="2554424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24"/>
          <p:cNvSpPr/>
          <p:nvPr/>
        </p:nvSpPr>
        <p:spPr>
          <a:xfrm>
            <a:off x="4898076" y="5491126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8094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난수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948029"/>
            <a:ext cx="2160240" cy="6019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정규 분포</a:t>
            </a:r>
            <a:endParaRPr lang="en-US" altLang="ko-KR" sz="1600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39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7" y="1386853"/>
            <a:ext cx="2018943" cy="2136064"/>
          </a:xfrm>
          <a:prstGeom prst="rect">
            <a:avLst/>
          </a:prstGeom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767408" y="3611514"/>
            <a:ext cx="2160240" cy="601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>
                <a:solidFill>
                  <a:schemeClr val="tx1"/>
                </a:solidFill>
              </a:rPr>
              <a:t>균일 분포</a:t>
            </a:r>
            <a:endParaRPr lang="en-US" altLang="ko-KR" sz="1600">
              <a:solidFill>
                <a:schemeClr val="tx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550010"/>
            <a:ext cx="2838450" cy="18097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369" y="4318224"/>
            <a:ext cx="2020651" cy="208823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464" y="4365054"/>
            <a:ext cx="4152900" cy="1790700"/>
          </a:xfrm>
          <a:prstGeom prst="rect">
            <a:avLst/>
          </a:prstGeom>
        </p:spPr>
      </p:pic>
      <p:sp>
        <p:nvSpPr>
          <p:cNvPr id="13" name="오른쪽 화살표 24"/>
          <p:cNvSpPr/>
          <p:nvPr/>
        </p:nvSpPr>
        <p:spPr>
          <a:xfrm>
            <a:off x="5342313" y="2205478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24"/>
          <p:cNvSpPr/>
          <p:nvPr/>
        </p:nvSpPr>
        <p:spPr>
          <a:xfrm>
            <a:off x="5342313" y="5292952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334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난수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5360" y="1126423"/>
            <a:ext cx="4680520" cy="12979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tx1"/>
                </a:solidFill>
              </a:rPr>
              <a:t>seed</a:t>
            </a:r>
            <a:r>
              <a:rPr lang="en-US" altLang="ko-KR" sz="1600">
                <a:solidFill>
                  <a:schemeClr val="tx1"/>
                </a:solidFill>
              </a:rPr>
              <a:t> – </a:t>
            </a:r>
            <a:r>
              <a:rPr lang="ko-KR" altLang="en-US" sz="1600">
                <a:solidFill>
                  <a:schemeClr val="tx1"/>
                </a:solidFill>
              </a:rPr>
              <a:t>매번 동일한 난수를 생성되므로 재현이 필요한 프로그램 디버깅 과정에서 유용하게 사용할 수 있다</a:t>
            </a:r>
            <a:r>
              <a:rPr lang="en-US" altLang="ko-KR" sz="16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5231904" y="1126423"/>
            <a:ext cx="4032448" cy="1290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b="1">
                <a:solidFill>
                  <a:schemeClr val="tx1"/>
                </a:solidFill>
              </a:rPr>
              <a:t>몬테카를로</a:t>
            </a:r>
            <a:r>
              <a:rPr lang="ko-KR" altLang="en-US" sz="1600">
                <a:solidFill>
                  <a:schemeClr val="tx1"/>
                </a:solidFill>
              </a:rPr>
              <a:t> </a:t>
            </a:r>
            <a:r>
              <a:rPr lang="en-US" altLang="ko-KR" sz="1600">
                <a:solidFill>
                  <a:schemeClr val="tx1"/>
                </a:solidFill>
              </a:rPr>
              <a:t>– </a:t>
            </a:r>
            <a:r>
              <a:rPr lang="ko-KR" altLang="en-US" sz="1600">
                <a:solidFill>
                  <a:schemeClr val="tx1"/>
                </a:solidFill>
              </a:rPr>
              <a:t>산술 확률적인 기법으로</a:t>
            </a:r>
            <a:r>
              <a:rPr lang="en-US" altLang="ko-KR" sz="1600">
                <a:solidFill>
                  <a:schemeClr val="tx1"/>
                </a:solidFill>
              </a:rPr>
              <a:t>, </a:t>
            </a:r>
            <a:r>
              <a:rPr lang="ko-KR" altLang="en-US" sz="1600">
                <a:solidFill>
                  <a:schemeClr val="tx1"/>
                </a:solidFill>
              </a:rPr>
              <a:t>고성능의 과학 연산에 많이 사용된다</a:t>
            </a:r>
            <a:r>
              <a:rPr lang="en-US" altLang="ko-KR" sz="1600">
                <a:solidFill>
                  <a:schemeClr val="tx1"/>
                </a:solidFill>
              </a:rPr>
              <a:t>.</a:t>
            </a:r>
            <a:endParaRPr lang="en-US" altLang="ko-KR" sz="140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68" y="2780928"/>
            <a:ext cx="2085975" cy="30956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545" y="3742631"/>
            <a:ext cx="847725" cy="18097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083" y="2321888"/>
            <a:ext cx="3524645" cy="33904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9895" y="2440166"/>
            <a:ext cx="2679893" cy="26049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27740" y="5067868"/>
            <a:ext cx="291558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/>
              <a:t>몬테카를로 기법을 통해 원주율로 출력 값이 수렴하는 과정</a:t>
            </a:r>
          </a:p>
        </p:txBody>
      </p:sp>
      <p:sp>
        <p:nvSpPr>
          <p:cNvPr id="11" name="오른쪽 화살표 24"/>
          <p:cNvSpPr/>
          <p:nvPr/>
        </p:nvSpPr>
        <p:spPr>
          <a:xfrm rot="634756">
            <a:off x="2569302" y="4402308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24"/>
          <p:cNvSpPr/>
          <p:nvPr/>
        </p:nvSpPr>
        <p:spPr>
          <a:xfrm rot="634756">
            <a:off x="8737123" y="2955410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533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미분계수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767408" y="1098827"/>
                <a:ext cx="9324616" cy="125005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>
                    <a:solidFill>
                      <a:schemeClr val="tx1"/>
                    </a:solidFill>
                  </a:rPr>
                  <a:t>y</a:t>
                </a:r>
                <a:r>
                  <a:rPr lang="ko-KR" altLang="en-US">
                    <a:solidFill>
                      <a:schemeClr val="tx1"/>
                    </a:solidFill>
                  </a:rPr>
                  <a:t>의 </a:t>
                </a:r>
                <a:r>
                  <a:rPr lang="en-US" altLang="ko-KR">
                    <a:solidFill>
                      <a:schemeClr val="tx1"/>
                    </a:solidFill>
                  </a:rPr>
                  <a:t>x</a:t>
                </a:r>
                <a:r>
                  <a:rPr lang="ko-KR" altLang="en-US">
                    <a:solidFill>
                      <a:schemeClr val="tx1"/>
                    </a:solidFill>
                  </a:rPr>
                  <a:t>에 대한 미분계수 구하는 함수 </a:t>
                </a:r>
                <a:r>
                  <a:rPr lang="en-US" altLang="ko-KR">
                    <a:solidFill>
                      <a:schemeClr val="tx1"/>
                    </a:solidFill>
                  </a:rPr>
                  <a:t>: tf.gradients(y, x)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>
                    <a:solidFill>
                      <a:schemeClr val="tx1"/>
                    </a:solidFill>
                  </a:rPr>
                  <a:t>x</a:t>
                </a:r>
                <a:r>
                  <a:rPr lang="ko-KR" altLang="en-US">
                    <a:solidFill>
                      <a:schemeClr val="tx1"/>
                    </a:solidFill>
                  </a:rPr>
                  <a:t>가 </a:t>
                </a:r>
                <a:r>
                  <a:rPr lang="en-US" altLang="ko-KR">
                    <a:solidFill>
                      <a:schemeClr val="tx1"/>
                    </a:solidFill>
                  </a:rPr>
                  <a:t>1</a:t>
                </a:r>
                <a:r>
                  <a:rPr lang="ko-KR" altLang="en-US">
                    <a:solidFill>
                      <a:schemeClr val="tx1"/>
                    </a:solidFill>
                  </a:rPr>
                  <a:t>일 때 </a:t>
                </a:r>
                <a:r>
                  <a:rPr lang="en-US" altLang="ko-KR">
                    <a:solidFill>
                      <a:schemeClr val="tx1"/>
                    </a:solidFill>
                  </a:rPr>
                  <a:t>y</a:t>
                </a:r>
                <a:r>
                  <a:rPr lang="ko-KR" altLang="en-US">
                    <a:solidFill>
                      <a:schemeClr val="tx1"/>
                    </a:solidFill>
                  </a:rPr>
                  <a:t>의 미분계수 </a:t>
                </a:r>
                <a:r>
                  <a:rPr lang="en-US" altLang="ko-KR">
                    <a:solidFill>
                      <a:schemeClr val="tx1"/>
                    </a:solidFill>
                  </a:rPr>
                  <a:t>di</a:t>
                </a:r>
                <a:r>
                  <a:rPr lang="ko-KR" altLang="en-US">
                    <a:solidFill>
                      <a:schemeClr val="tx1"/>
                    </a:solidFill>
                  </a:rPr>
                  <a:t>를 구하는 예제</a:t>
                </a:r>
                <a:endParaRPr lang="en-US" altLang="ko-KR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408" y="1098827"/>
                <a:ext cx="9324616" cy="1250053"/>
              </a:xfrm>
              <a:blipFill>
                <a:blip r:embed="rId2"/>
                <a:stretch>
                  <a:fillRect l="-1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41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88" y="2636912"/>
            <a:ext cx="4696943" cy="23762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232" y="4581128"/>
            <a:ext cx="489654" cy="288032"/>
          </a:xfrm>
          <a:prstGeom prst="rect">
            <a:avLst/>
          </a:prstGeom>
        </p:spPr>
      </p:pic>
      <p:sp>
        <p:nvSpPr>
          <p:cNvPr id="8" name="오른쪽 화살표 24"/>
          <p:cNvSpPr/>
          <p:nvPr/>
        </p:nvSpPr>
        <p:spPr>
          <a:xfrm rot="634756">
            <a:off x="7462771" y="4401107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004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텐서 다루기</a:t>
            </a:r>
            <a:endParaRPr lang="ko-KR" altLang="en-US" dirty="0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25" y="3903510"/>
            <a:ext cx="3201068" cy="239345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25" y="1593417"/>
            <a:ext cx="3379418" cy="131900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25" y="3251196"/>
            <a:ext cx="1369689" cy="3135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721" y="894503"/>
            <a:ext cx="3563059" cy="262370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7398" y="3541290"/>
            <a:ext cx="2091123" cy="266205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156" y="3663560"/>
            <a:ext cx="771525" cy="2095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2126" y="2048497"/>
            <a:ext cx="2383685" cy="424847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2595" y="206588"/>
            <a:ext cx="2180437" cy="277658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7205" y="3318185"/>
            <a:ext cx="752475" cy="200025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376960" y="2289131"/>
            <a:ext cx="2813188" cy="1518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919979" y="1935569"/>
            <a:ext cx="2034463" cy="1411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24"/>
          <p:cNvSpPr/>
          <p:nvPr/>
        </p:nvSpPr>
        <p:spPr>
          <a:xfrm rot="5994210">
            <a:off x="1883997" y="2901791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오른쪽 화살표 24"/>
          <p:cNvSpPr/>
          <p:nvPr/>
        </p:nvSpPr>
        <p:spPr>
          <a:xfrm rot="5994210">
            <a:off x="5627222" y="3227947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화살표 24"/>
          <p:cNvSpPr/>
          <p:nvPr/>
        </p:nvSpPr>
        <p:spPr>
          <a:xfrm rot="3803959">
            <a:off x="9018194" y="2732404"/>
            <a:ext cx="365212" cy="360040"/>
          </a:xfrm>
          <a:prstGeom prst="rightArrow">
            <a:avLst>
              <a:gd name="adj1" fmla="val 55831"/>
              <a:gd name="adj2" fmla="val 5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852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838179"/>
          </a:xfrm>
        </p:spPr>
        <p:txBody>
          <a:bodyPr/>
          <a:lstStyle/>
          <a:p>
            <a:r>
              <a:rPr lang="ko-KR" altLang="en-US"/>
              <a:t>참고문헌 및 출처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9416" y="1844824"/>
            <a:ext cx="9324616" cy="28803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[Getting Started with TensorFlow] Giancarlo Zaccone</a:t>
            </a:r>
          </a:p>
          <a:p>
            <a:pPr>
              <a:lnSpc>
                <a:spcPct val="150000"/>
              </a:lnSpc>
            </a:pP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</a:rPr>
              <a:t>[TensorFlow, </a:t>
            </a:r>
            <a:r>
              <a:rPr lang="ko-KR" altLang="en-US">
                <a:solidFill>
                  <a:schemeClr val="tx1"/>
                </a:solidFill>
              </a:rPr>
              <a:t>제</a:t>
            </a:r>
            <a:r>
              <a:rPr lang="en-US" altLang="ko-KR">
                <a:solidFill>
                  <a:schemeClr val="tx1"/>
                </a:solidFill>
              </a:rPr>
              <a:t> 1</a:t>
            </a:r>
            <a:r>
              <a:rPr lang="ko-KR" altLang="en-US">
                <a:solidFill>
                  <a:schemeClr val="tx1"/>
                </a:solidFill>
              </a:rPr>
              <a:t>회 딥러닝 컨퍼런스</a:t>
            </a:r>
            <a:r>
              <a:rPr lang="en-US" altLang="ko-KR">
                <a:solidFill>
                  <a:schemeClr val="tx1"/>
                </a:solidFill>
              </a:rPr>
              <a:t>] AI LAB., </a:t>
            </a:r>
            <a:r>
              <a:rPr lang="ko-KR" altLang="en-US">
                <a:solidFill>
                  <a:schemeClr val="tx1"/>
                </a:solidFill>
              </a:rPr>
              <a:t>부산대학교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hlinkClick r:id="rId2"/>
              </a:rPr>
              <a:t>https://www.tensorflow.org/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6501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11395</TotalTime>
  <Words>1562</Words>
  <Application>Microsoft Office PowerPoint</Application>
  <PresentationFormat>와이드스크린</PresentationFormat>
  <Paragraphs>344</Paragraphs>
  <Slides>43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43</vt:i4>
      </vt:variant>
    </vt:vector>
  </HeadingPairs>
  <TitlesOfParts>
    <vt:vector size="52" baseType="lpstr">
      <vt:lpstr>HY그래픽M</vt:lpstr>
      <vt:lpstr>맑은 고딕</vt:lpstr>
      <vt:lpstr>함초롬바탕</vt:lpstr>
      <vt:lpstr>Arial</vt:lpstr>
      <vt:lpstr>Cambria Math</vt:lpstr>
      <vt:lpstr>Trebuchet MS</vt:lpstr>
      <vt:lpstr>Wingdings 3</vt:lpstr>
      <vt:lpstr>Custom Design</vt:lpstr>
      <vt:lpstr>패싯</vt:lpstr>
      <vt:lpstr>TensorFlow Overview</vt:lpstr>
      <vt:lpstr>목 차</vt:lpstr>
      <vt:lpstr>환경 구축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TensorFlow: 기초 - 목차</vt:lpstr>
      <vt:lpstr>머신 러닝(기계 학습)</vt:lpstr>
      <vt:lpstr>머신 러닝 알고리즘 분류(1)</vt:lpstr>
      <vt:lpstr>머신 러닝 알고리즘 분류(2)</vt:lpstr>
      <vt:lpstr>딥 러닝</vt:lpstr>
      <vt:lpstr>TensorFlow</vt:lpstr>
      <vt:lpstr>데이터 플로우 그래프</vt:lpstr>
      <vt:lpstr>데이터 플로우 그래프 기능</vt:lpstr>
      <vt:lpstr>TensorFlow 구조</vt:lpstr>
      <vt:lpstr>세션 실습</vt:lpstr>
      <vt:lpstr>실행 구조(1)</vt:lpstr>
      <vt:lpstr>실행 구조(2)</vt:lpstr>
      <vt:lpstr>텐서보드 사용법</vt:lpstr>
      <vt:lpstr>텐서보드 노드 심볼</vt:lpstr>
      <vt:lpstr>PowerPoint 프레젠테이션</vt:lpstr>
      <vt:lpstr>TensorFlow: 연산 - 목차</vt:lpstr>
      <vt:lpstr>텐서 자료 구조(1)</vt:lpstr>
      <vt:lpstr>텐서 자료 구조(2)</vt:lpstr>
      <vt:lpstr>텐서 자료 구조(3)</vt:lpstr>
      <vt:lpstr>텐서 데이터 타입 및 명령어</vt:lpstr>
      <vt:lpstr>텐서 만들기</vt:lpstr>
      <vt:lpstr>텐서 만들기</vt:lpstr>
      <vt:lpstr>난수(1)</vt:lpstr>
      <vt:lpstr>난수(2)</vt:lpstr>
      <vt:lpstr>미분계수 계산</vt:lpstr>
      <vt:lpstr>텐서 다루기</vt:lpstr>
      <vt:lpstr>참고문헌 및 출처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Chris</dc:creator>
  <cp:lastModifiedBy>Windows 사용자</cp:lastModifiedBy>
  <cp:revision>778</cp:revision>
  <dcterms:created xsi:type="dcterms:W3CDTF">2011-03-11T08:34:49Z</dcterms:created>
  <dcterms:modified xsi:type="dcterms:W3CDTF">2018-05-28T06:09:32Z</dcterms:modified>
</cp:coreProperties>
</file>