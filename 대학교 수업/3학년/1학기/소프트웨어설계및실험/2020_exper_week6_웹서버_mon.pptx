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7" r:id="rId1"/>
  </p:sldMasterIdLst>
  <p:notesMasterIdLst>
    <p:notesMasterId r:id="rId53"/>
  </p:notesMasterIdLst>
  <p:handoutMasterIdLst>
    <p:handoutMasterId r:id="rId54"/>
  </p:handoutMasterIdLst>
  <p:sldIdLst>
    <p:sldId id="257" r:id="rId2"/>
    <p:sldId id="256" r:id="rId3"/>
    <p:sldId id="318" r:id="rId4"/>
    <p:sldId id="319" r:id="rId5"/>
    <p:sldId id="326" r:id="rId6"/>
    <p:sldId id="342" r:id="rId7"/>
    <p:sldId id="370" r:id="rId8"/>
    <p:sldId id="324" r:id="rId9"/>
    <p:sldId id="391" r:id="rId10"/>
    <p:sldId id="401" r:id="rId11"/>
    <p:sldId id="399" r:id="rId12"/>
    <p:sldId id="398" r:id="rId13"/>
    <p:sldId id="404" r:id="rId14"/>
    <p:sldId id="405" r:id="rId15"/>
    <p:sldId id="406" r:id="rId16"/>
    <p:sldId id="325" r:id="rId17"/>
    <p:sldId id="392" r:id="rId18"/>
    <p:sldId id="402" r:id="rId19"/>
    <p:sldId id="400" r:id="rId20"/>
    <p:sldId id="410" r:id="rId21"/>
    <p:sldId id="411" r:id="rId22"/>
    <p:sldId id="413" r:id="rId23"/>
    <p:sldId id="414" r:id="rId24"/>
    <p:sldId id="415" r:id="rId25"/>
    <p:sldId id="416" r:id="rId26"/>
    <p:sldId id="265" r:id="rId27"/>
    <p:sldId id="358" r:id="rId28"/>
    <p:sldId id="351" r:id="rId29"/>
    <p:sldId id="352" r:id="rId30"/>
    <p:sldId id="353" r:id="rId31"/>
    <p:sldId id="389" r:id="rId32"/>
    <p:sldId id="354" r:id="rId33"/>
    <p:sldId id="355" r:id="rId34"/>
    <p:sldId id="356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6" r:id="rId46"/>
    <p:sldId id="381" r:id="rId47"/>
    <p:sldId id="385" r:id="rId48"/>
    <p:sldId id="383" r:id="rId49"/>
    <p:sldId id="384" r:id="rId50"/>
    <p:sldId id="417" r:id="rId51"/>
    <p:sldId id="418" r:id="rId52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b Programming 소개" id="{A9C30ABD-1E76-41DD-907D-3F6542D93ED5}">
          <p14:sldIdLst>
            <p14:sldId id="257"/>
            <p14:sldId id="256"/>
          </p14:sldIdLst>
        </p14:section>
        <p14:section name="웹 개발" id="{57777770-F053-430E-A5C3-3045D7AAEDF2}">
          <p14:sldIdLst>
            <p14:sldId id="318"/>
            <p14:sldId id="319"/>
            <p14:sldId id="326"/>
            <p14:sldId id="342"/>
            <p14:sldId id="370"/>
          </p14:sldIdLst>
        </p14:section>
        <p14:section name="Server Side" id="{05A598DF-E50A-4403-9AA6-FB4DD4C09C19}">
          <p14:sldIdLst>
            <p14:sldId id="324"/>
            <p14:sldId id="391"/>
            <p14:sldId id="401"/>
            <p14:sldId id="399"/>
            <p14:sldId id="398"/>
            <p14:sldId id="404"/>
            <p14:sldId id="405"/>
            <p14:sldId id="406"/>
          </p14:sldIdLst>
        </p14:section>
        <p14:section name="Client Side" id="{F81A75FE-2747-4B33-A0F2-0A4A810EEC29}">
          <p14:sldIdLst>
            <p14:sldId id="325"/>
            <p14:sldId id="392"/>
            <p14:sldId id="402"/>
            <p14:sldId id="400"/>
            <p14:sldId id="410"/>
            <p14:sldId id="411"/>
            <p14:sldId id="413"/>
            <p14:sldId id="414"/>
            <p14:sldId id="415"/>
            <p14:sldId id="416"/>
          </p14:sldIdLst>
        </p14:section>
        <p14:section name="개발환경구축" id="{EF0B4DB8-542A-4B0D-ACA9-FA5EAE5D92D3}">
          <p14:sldIdLst>
            <p14:sldId id="265"/>
            <p14:sldId id="358"/>
            <p14:sldId id="351"/>
            <p14:sldId id="352"/>
            <p14:sldId id="353"/>
            <p14:sldId id="389"/>
            <p14:sldId id="354"/>
            <p14:sldId id="355"/>
            <p14:sldId id="356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6"/>
            <p14:sldId id="381"/>
            <p14:sldId id="385"/>
            <p14:sldId id="383"/>
            <p14:sldId id="384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92177" autoAdjust="0"/>
  </p:normalViewPr>
  <p:slideViewPr>
    <p:cSldViewPr>
      <p:cViewPr varScale="1">
        <p:scale>
          <a:sx n="82" d="100"/>
          <a:sy n="82" d="100"/>
        </p:scale>
        <p:origin x="105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DF1D3-32E3-47ED-BEB6-EA7FDBB65D44}" type="datetimeFigureOut">
              <a:rPr lang="ko-KR" altLang="en-US" smtClean="0"/>
              <a:pPr/>
              <a:t>2018-04-06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D1E53-9763-4D35-83B4-1B5976CED7A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3182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F9D4-55C2-42E4-9566-C578D80EF192}" type="datetimeFigureOut">
              <a:rPr lang="ko-KR" altLang="en-US" smtClean="0"/>
              <a:pPr/>
              <a:t>2018-04-06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02CCB-AAD0-497D-9E8C-471A6D8D68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765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602CCB-AAD0-497D-9E8C-471A6D8D682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23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602CCB-AAD0-497D-9E8C-471A6D8D6827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50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934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24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32A11F-6CFF-49AF-B6EA-40A75D0BCFF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742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1BB1F2-5083-42C6-839A-DE952D76E25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97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946C25-47AA-4B98-B70B-218876935BE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592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AE7523-9B4D-4654-869A-580AB53F57A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091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33FC50-9BE0-40EF-AA8C-E8BFF0E9F3D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295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078DF-BC5D-47B2-BDC5-271EBF25C90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428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93117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4061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75589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27154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637362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9FE844-ABF4-40C0-9B91-D48A52F9B92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770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F4133B-4311-4C06-8021-0EE36F36D82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05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9258CF2-969B-4F0A-BC45-B7D1107A50C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880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  <p:sldLayoutId id="2147483962" r:id="rId15"/>
    <p:sldLayoutId id="2147483963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ko.wikipedia.org/wiki/%EC%95%A1%ED%8B%B0%EB%B8%8C_%EC%84%9C%EB%B2%84_%ED%8E%98%EC%9D%B4%EC%A7%80" TargetMode="External"/><Relationship Id="rId3" Type="http://schemas.openxmlformats.org/officeDocument/2006/relationships/hyperlink" Target="https://en.wikipedia.org/wiki/PHP" TargetMode="External"/><Relationship Id="rId7" Type="http://schemas.openxmlformats.org/officeDocument/2006/relationships/hyperlink" Target="https://en.wikipedia.org/wiki/Node.js" TargetMode="External"/><Relationship Id="rId2" Type="http://schemas.openxmlformats.org/officeDocument/2006/relationships/hyperlink" Target="https://ko.wikipedia.org/wiki/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o.wikipedia.org/wiki/Node.js" TargetMode="External"/><Relationship Id="rId11" Type="http://schemas.openxmlformats.org/officeDocument/2006/relationships/hyperlink" Target="https://en.wikipedia.org/wiki/ASP.NET" TargetMode="External"/><Relationship Id="rId5" Type="http://schemas.openxmlformats.org/officeDocument/2006/relationships/hyperlink" Target="https://en.wikipedia.org/wiki/JavaServer_Pages" TargetMode="External"/><Relationship Id="rId10" Type="http://schemas.openxmlformats.org/officeDocument/2006/relationships/hyperlink" Target="https://ko.wikipedia.org/wiki/ASP.NET" TargetMode="External"/><Relationship Id="rId4" Type="http://schemas.openxmlformats.org/officeDocument/2006/relationships/hyperlink" Target="https://ko.wikipedia.org/wiki/%EC%9E%90%EB%B0%94%EC%84%9C%EB%B2%84_%ED%8E%98%EC%9D%B4%EC%A7%80" TargetMode="External"/><Relationship Id="rId9" Type="http://schemas.openxmlformats.org/officeDocument/2006/relationships/hyperlink" Target="https://en.wikipedia.org/wiki/Active_Server_Page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css.baeugo.com/" TargetMode="External"/><Relationship Id="rId3" Type="http://schemas.openxmlformats.org/officeDocument/2006/relationships/hyperlink" Target="https://velesnet.ml/" TargetMode="External"/><Relationship Id="rId7" Type="http://schemas.openxmlformats.org/officeDocument/2006/relationships/hyperlink" Target="http://htmlcss.kr/" TargetMode="External"/><Relationship Id="rId2" Type="http://schemas.openxmlformats.org/officeDocument/2006/relationships/hyperlink" Target="http://pitch.csspiffle.com/#intr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" TargetMode="External"/><Relationship Id="rId5" Type="http://schemas.openxmlformats.org/officeDocument/2006/relationships/hyperlink" Target="https://opentutorials.org/" TargetMode="External"/><Relationship Id="rId4" Type="http://schemas.openxmlformats.org/officeDocument/2006/relationships/hyperlink" Target="https://www.koreahtml5.kr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tomcat.apache.or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3"/>
          <p:cNvSpPr>
            <a:spLocks noGrp="1"/>
          </p:cNvSpPr>
          <p:nvPr>
            <p:ph type="ctrTitle"/>
          </p:nvPr>
        </p:nvSpPr>
        <p:spPr>
          <a:xfrm>
            <a:off x="179512" y="2404532"/>
            <a:ext cx="7401845" cy="1646302"/>
          </a:xfrm>
        </p:spPr>
        <p:txBody>
          <a:bodyPr/>
          <a:lstStyle/>
          <a:p>
            <a:r>
              <a:rPr lang="en-US" altLang="ko-KR" sz="4800" b="1" dirty="0" smtClean="0"/>
              <a:t>Web Programming &amp; HTML5 </a:t>
            </a:r>
            <a:endParaRPr lang="ko-KR" altLang="en-US" sz="4800" b="1" dirty="0" smtClean="0"/>
          </a:p>
        </p:txBody>
      </p:sp>
      <p:sp>
        <p:nvSpPr>
          <p:cNvPr id="3075" name="부제목 4"/>
          <p:cNvSpPr>
            <a:spLocks noGrp="1"/>
          </p:cNvSpPr>
          <p:nvPr>
            <p:ph type="subTitle" idx="1"/>
          </p:nvPr>
        </p:nvSpPr>
        <p:spPr>
          <a:xfrm>
            <a:off x="1754638" y="4077072"/>
            <a:ext cx="5826719" cy="465192"/>
          </a:xfrm>
        </p:spPr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2018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소프트웨어 설계 및 실험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목차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663904"/>
            <a:ext cx="4464496" cy="4069352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웹 개발이란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</a:p>
          <a:p>
            <a:pPr eaLnBrk="1" hangingPunct="1"/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서버 사이드</a:t>
            </a:r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클라이언트 사이드</a:t>
            </a:r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개발환경 구축</a:t>
            </a:r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722313" y="2709867"/>
            <a:ext cx="7772400" cy="1362075"/>
          </a:xfrm>
        </p:spPr>
        <p:txBody>
          <a:bodyPr/>
          <a:lstStyle/>
          <a:p>
            <a:r>
              <a:rPr lang="ko-KR" altLang="en-US" b="1" dirty="0" smtClean="0">
                <a:latin typeface="+mj-ea"/>
                <a:cs typeface="함초롬바탕" panose="02030504000101010101" pitchFamily="18" charset="-127"/>
              </a:rPr>
              <a:t>웹 개발</a:t>
            </a:r>
            <a:endParaRPr lang="ko-KR" altLang="en-US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924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03176"/>
          </a:xfrm>
        </p:spPr>
        <p:txBody>
          <a:bodyPr/>
          <a:lstStyle/>
          <a:p>
            <a:r>
              <a:rPr lang="ko-KR" altLang="en-US" b="1" dirty="0" smtClean="0"/>
              <a:t>웹 개발이란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13935" y="1497844"/>
            <a:ext cx="6622361" cy="4739468"/>
          </a:xfrm>
        </p:spPr>
        <p:txBody>
          <a:bodyPr anchor="ctr">
            <a:normAutofit/>
          </a:bodyPr>
          <a:lstStyle/>
          <a:p>
            <a:pPr>
              <a:lnSpc>
                <a:spcPct val="17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개발은 인터넷이나 인트라넷을 위한 웹사이트를 개발하는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일을 가리킨다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개발은 가장 단순한 단일 정적 문서의 텍스트에서부터     가장 복잡한 웹 기반 인터넷 애플리케이션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전자 비즈니스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  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소셜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네트워크 서비스에 이르기까지 개발 범위가 다양하다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일반적으로 웹 개발이라 부를 때 더 포괄적인 작업으로는      웹 디자인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콘텐츠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개발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사이드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사이드 스크립트 작업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 및 네트워크 보안 구성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전자 상업    개발을 아우른다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817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위로 구부러진 화살표 12"/>
          <p:cNvSpPr/>
          <p:nvPr/>
        </p:nvSpPr>
        <p:spPr>
          <a:xfrm>
            <a:off x="851597" y="5589240"/>
            <a:ext cx="3024336" cy="73152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아래로 구부러진 화살표 13"/>
          <p:cNvSpPr/>
          <p:nvPr/>
        </p:nvSpPr>
        <p:spPr>
          <a:xfrm flipH="1">
            <a:off x="851597" y="4137640"/>
            <a:ext cx="3024336" cy="731520"/>
          </a:xfrm>
          <a:prstGeom prst="curved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웹 표준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8" y="1556792"/>
            <a:ext cx="6554689" cy="2304255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표준은 월드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와이드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웹의 측면을 서술하고 정의하는 공식 표준이나 다른 기술 규격을 가리키는 일반적인 용어이다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최근에 이 용어는 웹 사이트를 작성하는 데 중요도가 높아지고 있으며 웹 디자인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개발과 관계가 있다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사이트나 웹 페이지가 표준을 준수한다는 것은 일반적으로 올바른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HTML, CSS,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자바스크립트를 사이트나 페이지가 가지고 있다는 것을 뜻한다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grpSp>
        <p:nvGrpSpPr>
          <p:cNvPr id="11" name="그룹 10"/>
          <p:cNvGrpSpPr/>
          <p:nvPr/>
        </p:nvGrpSpPr>
        <p:grpSpPr>
          <a:xfrm>
            <a:off x="1139730" y="4293096"/>
            <a:ext cx="2448070" cy="1667678"/>
            <a:chOff x="4265502" y="3988250"/>
            <a:chExt cx="2704389" cy="1842288"/>
          </a:xfrm>
        </p:grpSpPr>
        <p:pic>
          <p:nvPicPr>
            <p:cNvPr id="1034" name="Picture 10" descr="browser, opera, web, web browser ico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642" y="4986289"/>
              <a:ext cx="844249" cy="84424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browser, chrome, internet, web, web browser ico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0538" y="3988250"/>
              <a:ext cx="844249" cy="84424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browser, explorer, internet, internet explorer, web, web browser ic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0609" y="3988250"/>
              <a:ext cx="844249" cy="84424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rowser, safari, web browser icon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573" y="4986289"/>
              <a:ext cx="844249" cy="84424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browser, firefox, web browser ico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5502" y="4986289"/>
              <a:ext cx="844249" cy="84424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3968" y="3954035"/>
            <a:ext cx="4104456" cy="23667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118399" y="6320760"/>
            <a:ext cx="3318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https://ko.wikipedia.org/wiki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대한민국의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_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_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호환성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_</a:t>
            </a:r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문제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97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웹 </a:t>
            </a:r>
            <a:r>
              <a:rPr lang="ko-KR" altLang="en-US" b="1" dirty="0" err="1" smtClean="0"/>
              <a:t>접근성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628800"/>
            <a:ext cx="6347714" cy="3880773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W3C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정의에 의하면 웹 표준성은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접근성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사생활 보호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국제화의 측면을 고려해야 한다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중에서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접근성을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흔히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‘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접근성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＇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이라고 한다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접근성은 장애를 가진 사람과 장애를 가지지 않은 사람 모두가 웹사이트를 이용할 수 있게 하는 방식을 가리킨다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사이트가 올바르게 설계되어 개발되고 편집되어 있을 때 모든 사용자들은 정보와 기능에 동등하게 접근할 수 있다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Semantic Web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599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반응형</a:t>
            </a:r>
            <a:r>
              <a:rPr lang="ko-KR" altLang="en-US" b="1" dirty="0" smtClean="0"/>
              <a:t> 웹 디자인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853375"/>
            <a:ext cx="6347714" cy="2132506"/>
          </a:xfrm>
        </p:spPr>
        <p:txBody>
          <a:bodyPr/>
          <a:lstStyle/>
          <a:p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Responsive Web Design makes your web page look good on all devices (desktop, tablets, and phones).</a:t>
            </a:r>
          </a:p>
          <a:p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Responsive Web Design is about using CSS and HTML to resize, hide, shrink, enlarge, or move the content to make it look good on any screen: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2050" name="Picture 2" descr="adaptive, browser, design, graphic, responsive, website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165664"/>
            <a:ext cx="2229832" cy="222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8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722313" y="2709867"/>
            <a:ext cx="7772400" cy="1362075"/>
          </a:xfrm>
        </p:spPr>
        <p:txBody>
          <a:bodyPr/>
          <a:lstStyle/>
          <a:p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서버 사이드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b="1" dirty="0">
                <a:latin typeface="맑은 고딕" pitchFamily="50" charset="-127"/>
                <a:ea typeface="맑은 고딕" pitchFamily="50" charset="-127"/>
              </a:rPr>
            </a:b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  : Back-End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35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서버 사이드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556792"/>
            <a:ext cx="7221416" cy="432048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구조의 </a:t>
            </a:r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쪽에서 행해지는 처리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관리자의 입장에서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위조의 가능성을 줄일 수 있다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쪽의 데이터가 확실한 진위이며 클라이언트 쪽에서 위조해서는 안 되는 민감한 데이터의 경우 서버 사이드로 처리해야 한다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marL="457200" lvl="1" indent="0">
              <a:buNone/>
            </a:pP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    ex)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인터넷 </a:t>
            </a:r>
            <a:r>
              <a:rPr lang="ko-KR" altLang="en-US" sz="14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뱅킹의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이체 관련 처리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MMORPG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의 게임 아이템</a:t>
            </a:r>
            <a:endParaRPr lang="en-US" altLang="ko-KR" sz="14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사용자의 입장에서 클라이언트 컴퓨터의 처리 부담이 줄어든다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-285750"/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관리자의 입장에서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처리 부담이 커져 결과적으로 서버 비용이 늘어날 수 있다</a:t>
            </a:r>
            <a:r>
              <a:rPr lang="en-US" altLang="ko-KR" sz="1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945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서버 사이드 스크립트 언어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636459"/>
            <a:ext cx="6347714" cy="3880773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Server Side Script Language</a:t>
            </a: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PHP (wiki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2"/>
              </a:rPr>
              <a:t>ko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3"/>
              </a:rPr>
              <a:t>en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 (wiki 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4"/>
              </a:rPr>
              <a:t>ko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5"/>
              </a:rPr>
              <a:t>en</a:t>
            </a:r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Node.js (wiki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6"/>
              </a:rPr>
              <a:t>ko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7"/>
              </a:rPr>
              <a:t>en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ASP /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ASP.NET (wiki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8"/>
              </a:rPr>
              <a:t>ko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9"/>
              </a:rPr>
              <a:t>en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wiki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10"/>
              </a:rPr>
              <a:t>ko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11"/>
              </a:rPr>
              <a:t>en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394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JSP(Java Server Page)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340768"/>
            <a:ext cx="6347714" cy="424389"/>
          </a:xfrm>
        </p:spPr>
        <p:txBody>
          <a:bodyPr>
            <a:normAutofit/>
          </a:bodyPr>
          <a:lstStyle/>
          <a:p>
            <a:r>
              <a:rPr lang="ko-KR" altLang="en-US" sz="16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정적 페이지</a:t>
            </a:r>
            <a:endParaRPr lang="en-US" altLang="ko-KR" sz="1600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44676" y="6033704"/>
            <a:ext cx="512638" cy="365125"/>
          </a:xfrm>
        </p:spPr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10793" y="1638903"/>
            <a:ext cx="3589390" cy="110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60032" y="2845277"/>
            <a:ext cx="30909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&lt;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사용자들은 같은 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 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입력 시 같은 화면을 봄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내용 개체 틀 5"/>
          <p:cNvSpPr txBox="1">
            <a:spLocks/>
          </p:cNvSpPr>
          <p:nvPr/>
        </p:nvSpPr>
        <p:spPr>
          <a:xfrm>
            <a:off x="683036" y="3212976"/>
            <a:ext cx="6347714" cy="424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kumimoji="0"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단순히 </a:t>
            </a:r>
            <a:r>
              <a:rPr kumimoji="0"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kumimoji="0"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가 </a:t>
            </a:r>
            <a:r>
              <a:rPr kumimoji="0"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kumimoji="0" lang="ko-KR" altLang="en-US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측에 서비스를 요청하는 경우에 이미 만들어져 있는 페이지를 그대로 전송</a:t>
            </a:r>
            <a:endParaRPr kumimoji="0" lang="en-US" altLang="ko-KR" sz="12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내용 개체 틀 5"/>
          <p:cNvSpPr txBox="1">
            <a:spLocks/>
          </p:cNvSpPr>
          <p:nvPr/>
        </p:nvSpPr>
        <p:spPr>
          <a:xfrm>
            <a:off x="609599" y="3868707"/>
            <a:ext cx="6347714" cy="424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kumimoji="0" lang="ko-KR" altLang="en-US" sz="16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동적 페이지</a:t>
            </a:r>
            <a:endParaRPr kumimoji="0" lang="en-US" altLang="ko-KR" sz="1600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8759" y="4290964"/>
            <a:ext cx="3589390" cy="1226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내용 개체 틀 5"/>
          <p:cNvSpPr txBox="1">
            <a:spLocks/>
          </p:cNvSpPr>
          <p:nvPr/>
        </p:nvSpPr>
        <p:spPr>
          <a:xfrm>
            <a:off x="683036" y="5956939"/>
            <a:ext cx="6347714" cy="424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kumimoji="0"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kumimoji="0" lang="ko-KR" altLang="en-US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측에서 실시간으로 작업을 처리해 </a:t>
            </a:r>
            <a:r>
              <a:rPr kumimoji="0"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kumimoji="0"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에게 서비스를 제공</a:t>
            </a:r>
            <a:endParaRPr kumimoji="0" lang="en-US" altLang="ko-KR" sz="12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62845" y="5543654"/>
            <a:ext cx="3041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&lt;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사용자들은 요청에 따라 각각 다른 화면을 봄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7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JSP(Java Server Page)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484784"/>
            <a:ext cx="6347714" cy="4824536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내에 자바 코드를 삽입하여 웹 서버에서 동적으로 웹 페이지를 생성하여 웹 브라우저에 돌려주는 언어이다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실행시에는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자바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서블릿으로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변환된 후 실행되므로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서블릿과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거의 유사하다고 볼 수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하지만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서블릿과는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달리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표준에 따라 작성되므로 웹 디자인하기에 편리하다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중심의 코드구조이므로 디자인 작업에 바로 사용 가능하다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그리고 그 일이 끝나면 바로 프로그램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로직을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고칠 수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설치 과정이 간단하다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로직이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복잡할 경우 자바코드의 논리적 구조를 알아보기가 힘들다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소스코드가 공개되며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프로그래머가 아닌 다른 사람이 소스코드를 만져서 손상시킬 위험성이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프로그램의 복잡한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로직을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구사하는 코드는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서블릿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클래스 안에 기술하고 프로그램의 결과를 보여주는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중심의 코드만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안에 작성하는 것이 좋다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495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JSP</a:t>
            </a:r>
            <a:r>
              <a:rPr lang="ko-KR" altLang="en-US" b="1" dirty="0" smtClean="0"/>
              <a:t>의 동작 원리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400175"/>
            <a:ext cx="6829425" cy="405765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609599" y="3267167"/>
            <a:ext cx="41044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클라이언트로부터 </a:t>
            </a:r>
            <a:r>
              <a:rPr lang="en-US" altLang="ko-KR" dirty="0" err="1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JSP</a:t>
            </a:r>
            <a:r>
              <a:rPr lang="en-US" altLang="ko-KR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페이지의 첫 요청이 </a:t>
            </a:r>
            <a:r>
              <a:rPr lang="ko-KR" altLang="en-US" dirty="0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전달</a:t>
            </a:r>
            <a:endParaRPr lang="en-US" altLang="ko-KR" dirty="0" smtClean="0">
              <a:latin typeface="+mn-lt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dirty="0" smtClean="0">
              <a:latin typeface="+mn-lt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dirty="0" err="1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서블릿</a:t>
            </a:r>
            <a:r>
              <a:rPr lang="ko-KR" altLang="en-US" dirty="0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컨테이너는 </a:t>
            </a:r>
            <a:r>
              <a:rPr lang="en-US" altLang="ko-KR" dirty="0" err="1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JSP</a:t>
            </a:r>
            <a:r>
              <a:rPr lang="en-US" altLang="ko-KR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페이지를 </a:t>
            </a:r>
            <a:r>
              <a:rPr lang="ko-KR" altLang="en-US" dirty="0" err="1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서블릿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 코드 형태의 자바 파일로 변환하게 된다</a:t>
            </a:r>
            <a:r>
              <a:rPr lang="en-US" altLang="ko-KR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endParaRPr lang="en-US" altLang="ko-KR" dirty="0" smtClean="0">
              <a:latin typeface="+mn-lt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dirty="0" smtClean="0">
              <a:latin typeface="+mn-lt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dirty="0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변환된 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자바 파일은 클래스 파일로 컴파일 된 후 생명 주기에 따라 서비스가 </a:t>
            </a:r>
            <a:r>
              <a:rPr lang="ko-KR" altLang="en-US" dirty="0" smtClean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>이루어진다</a:t>
            </a:r>
            <a: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dirty="0">
                <a:latin typeface="+mn-lt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endParaRPr lang="ko-KR" altLang="en-US" dirty="0">
              <a:latin typeface="+mn-lt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62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JSP </a:t>
            </a:r>
            <a:r>
              <a:rPr lang="ko-KR" altLang="en-US" b="1" dirty="0" smtClean="0"/>
              <a:t>기본 문법</a:t>
            </a:r>
            <a:r>
              <a:rPr lang="en-US" altLang="ko-KR" b="1" dirty="0" smtClean="0"/>
              <a:t>(1/2)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73252"/>
            <a:ext cx="7571184" cy="5217443"/>
          </a:xfrm>
        </p:spPr>
        <p:txBody>
          <a:bodyPr>
            <a:normAutofit/>
          </a:bodyPr>
          <a:lstStyle/>
          <a:p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문서 사이에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문법코드가 삽입된 형태로 작성된다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sz="15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선언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(Declarations)</a:t>
            </a: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선언은 자바 변수와 </a:t>
            </a:r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메소드를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내에서 선언하기 위해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사용 된다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변수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선언 예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&lt;%! String name=new String("BOB");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%&gt;</a:t>
            </a:r>
          </a:p>
          <a:p>
            <a:pPr lvl="1"/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메소드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선언 예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&lt;%! public String </a:t>
            </a:r>
            <a:r>
              <a:rPr lang="en-US" altLang="ko-KR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getName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() { return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name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; } %&gt;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</a:p>
          <a:p>
            <a:pPr marL="400050" lvl="1" indent="0">
              <a:buNone/>
            </a:pPr>
            <a:endParaRPr lang="en-US" altLang="ko-KR" sz="15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표현식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(Expressions)</a:t>
            </a:r>
          </a:p>
          <a:p>
            <a:pPr lvl="1"/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표현식은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컨테이너에 의해 결과값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문자열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으로 바뀌는 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JSP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요소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예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Hello &lt;%=</a:t>
            </a:r>
            <a:r>
              <a:rPr lang="en-US" altLang="ko-KR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getName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()%&gt;</a:t>
            </a:r>
          </a:p>
          <a:p>
            <a:pPr lvl="1">
              <a:buFontTx/>
              <a:buChar char="-"/>
            </a:pP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스크립트렛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Scriptlets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ko-KR" altLang="en-US" sz="15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스크립트렛에서는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자바 문장을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자유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롭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게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기술할 수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있다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용법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&lt;% </a:t>
            </a:r>
            <a:r>
              <a:rPr lang="en-US" altLang="ko-KR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scriptlets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source %&gt;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 marL="0" indent="0">
              <a:buNone/>
            </a:pPr>
            <a:endParaRPr lang="en-US" altLang="ko-KR" sz="15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00050" lvl="1" indent="0">
              <a:buNone/>
            </a:pPr>
            <a:endParaRPr lang="en-US" altLang="ko-KR" sz="15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029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JSP </a:t>
            </a:r>
            <a:r>
              <a:rPr lang="ko-KR" altLang="en-US" b="1" dirty="0" smtClean="0"/>
              <a:t>기본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문법</a:t>
            </a:r>
            <a:r>
              <a:rPr lang="en-US" altLang="ko-KR" b="1" dirty="0" smtClean="0"/>
              <a:t>(2/2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8" y="1628800"/>
            <a:ext cx="6698705" cy="4968552"/>
          </a:xfrm>
        </p:spPr>
        <p:txBody>
          <a:bodyPr>
            <a:normAutofit/>
          </a:bodyPr>
          <a:lstStyle/>
          <a:p>
            <a:r>
              <a:rPr lang="en-US" altLang="ko-KR" sz="1600" b="1" dirty="0" smtClean="0"/>
              <a:t>page </a:t>
            </a:r>
            <a:r>
              <a:rPr lang="ko-KR" altLang="en-US" sz="1600" b="1" dirty="0" smtClean="0"/>
              <a:t>지시자  </a:t>
            </a:r>
            <a:r>
              <a:rPr lang="en-US" altLang="ko-KR" sz="1600" b="1" dirty="0" smtClean="0"/>
              <a:t>: </a:t>
            </a:r>
            <a:r>
              <a:rPr lang="en-US" altLang="ko-KR" sz="1600" dirty="0" err="1" smtClean="0"/>
              <a:t>jsp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전체에 적용되는 정보를 기술한다</a:t>
            </a:r>
            <a:r>
              <a:rPr lang="en-US" altLang="ko-KR" sz="1600" dirty="0" smtClean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e</a:t>
            </a:r>
            <a:r>
              <a:rPr lang="en-US" altLang="ko-KR" dirty="0" smtClean="0"/>
              <a:t>x) &lt;%@ page  </a:t>
            </a:r>
            <a:r>
              <a:rPr lang="en-US" altLang="ko-KR" dirty="0" err="1" smtClean="0"/>
              <a:t>contentType</a:t>
            </a:r>
            <a:r>
              <a:rPr lang="en-US" altLang="ko-KR" dirty="0" smtClean="0"/>
              <a:t> = "text/html; charset = </a:t>
            </a:r>
            <a:r>
              <a:rPr lang="en-US" altLang="ko-KR" dirty="0" err="1" smtClean="0"/>
              <a:t>euc-kr</a:t>
            </a:r>
            <a:r>
              <a:rPr lang="en-US" altLang="ko-KR" dirty="0" smtClean="0"/>
              <a:t>"  %&gt;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e</a:t>
            </a:r>
            <a:r>
              <a:rPr lang="en-US" altLang="ko-KR" dirty="0" smtClean="0"/>
              <a:t>x) &lt;%@ page  import = "</a:t>
            </a:r>
            <a:r>
              <a:rPr lang="en-US" altLang="ko-KR" dirty="0" err="1" smtClean="0"/>
              <a:t>java.util</a:t>
            </a:r>
            <a:r>
              <a:rPr lang="en-US" altLang="ko-KR" dirty="0" smtClean="0"/>
              <a:t>.*" %&gt;</a:t>
            </a:r>
          </a:p>
          <a:p>
            <a:endParaRPr lang="en-US" altLang="ko-KR" sz="1600" dirty="0" smtClean="0"/>
          </a:p>
          <a:p>
            <a:r>
              <a:rPr lang="en-US" altLang="ko-KR" sz="1600" b="1" dirty="0" smtClean="0"/>
              <a:t>include </a:t>
            </a:r>
            <a:r>
              <a:rPr lang="ko-KR" altLang="en-US" sz="1600" b="1" dirty="0" smtClean="0"/>
              <a:t>지시자 </a:t>
            </a:r>
            <a:r>
              <a:rPr lang="en-US" altLang="ko-KR" sz="1600" b="1" dirty="0" smtClean="0"/>
              <a:t>: </a:t>
            </a:r>
            <a:r>
              <a:rPr lang="ko-KR" altLang="en-US" sz="1600" dirty="0" smtClean="0"/>
              <a:t>다른 페이지를 불러다 현재 </a:t>
            </a:r>
            <a:r>
              <a:rPr lang="en-US" altLang="ko-KR" sz="1600" dirty="0" err="1" smtClean="0"/>
              <a:t>jsp</a:t>
            </a:r>
            <a:r>
              <a:rPr lang="ko-KR" altLang="en-US" sz="1600" dirty="0" smtClean="0"/>
              <a:t>페이지의 일부로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			 </a:t>
            </a:r>
            <a:r>
              <a:rPr lang="ko-KR" altLang="en-US" sz="1600" dirty="0" smtClean="0"/>
              <a:t>만들기 위해 사용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dirty="0"/>
              <a:t>e</a:t>
            </a:r>
            <a:r>
              <a:rPr lang="en-US" altLang="ko-KR" dirty="0" smtClean="0"/>
              <a:t>x) &lt;%@ include  file = "Today.jsp" %&gt;</a:t>
            </a:r>
          </a:p>
          <a:p>
            <a:endParaRPr lang="en-US" altLang="ko-KR" sz="1600" dirty="0" smtClean="0"/>
          </a:p>
          <a:p>
            <a:r>
              <a:rPr lang="en-US" altLang="ko-KR" sz="1600" b="1" dirty="0" smtClean="0"/>
              <a:t>html </a:t>
            </a:r>
            <a:r>
              <a:rPr lang="ko-KR" altLang="en-US" sz="1600" b="1" dirty="0" smtClean="0"/>
              <a:t>주석</a:t>
            </a:r>
            <a:r>
              <a:rPr lang="ko-KR" altLang="en-US" sz="1600" dirty="0" smtClean="0"/>
              <a:t/>
            </a:r>
            <a:br>
              <a:rPr lang="ko-KR" altLang="en-US" sz="1600" dirty="0" smtClean="0"/>
            </a:br>
            <a:r>
              <a:rPr lang="en-US" altLang="ko-KR" sz="1600" dirty="0" smtClean="0"/>
              <a:t>ex) &lt;!--    </a:t>
            </a:r>
            <a:r>
              <a:rPr lang="ko-KR" altLang="en-US" sz="1600" dirty="0" smtClean="0"/>
              <a:t>주석내용   </a:t>
            </a:r>
            <a:r>
              <a:rPr lang="en-US" altLang="ko-KR" sz="1600" dirty="0" smtClean="0"/>
              <a:t>--&gt;</a:t>
            </a:r>
          </a:p>
          <a:p>
            <a:endParaRPr lang="en-US" altLang="ko-KR" sz="1600" dirty="0" smtClean="0"/>
          </a:p>
          <a:p>
            <a:r>
              <a:rPr lang="en-US" altLang="ko-KR" sz="1600" b="1" dirty="0" err="1" smtClean="0"/>
              <a:t>jsp</a:t>
            </a:r>
            <a:r>
              <a:rPr lang="en-US" altLang="ko-KR" sz="1600" b="1" dirty="0" smtClean="0"/>
              <a:t> </a:t>
            </a:r>
            <a:r>
              <a:rPr lang="ko-KR" altLang="en-US" sz="1600" b="1" dirty="0" smtClean="0"/>
              <a:t>주석</a:t>
            </a:r>
            <a:r>
              <a:rPr lang="ko-KR" altLang="en-US" sz="1600" dirty="0" smtClean="0"/>
              <a:t/>
            </a:r>
            <a:br>
              <a:rPr lang="ko-KR" altLang="en-US" sz="1600" dirty="0" smtClean="0"/>
            </a:br>
            <a:r>
              <a:rPr lang="en-US" altLang="ko-KR" sz="1600" dirty="0" smtClean="0"/>
              <a:t>ex) &lt;%--   </a:t>
            </a:r>
            <a:r>
              <a:rPr lang="ko-KR" altLang="en-US" sz="1600" dirty="0" smtClean="0"/>
              <a:t>주석내용   </a:t>
            </a:r>
            <a:r>
              <a:rPr lang="en-US" altLang="ko-KR" sz="1600" dirty="0" smtClean="0"/>
              <a:t>--%&gt;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51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722313" y="2709867"/>
            <a:ext cx="7772400" cy="1362075"/>
          </a:xfrm>
        </p:spPr>
        <p:txBody>
          <a:bodyPr/>
          <a:lstStyle/>
          <a:p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클라이언트 사이드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</a:b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 : Front-end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83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클라이언트 사이드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8" y="1484784"/>
            <a:ext cx="6347714" cy="482453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구조의 클라이언트 쪽에서 행해지는 처리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관리자의 입장에서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처리 부담을 줄여서 결과적으로 서버 비용을 줄일 수 있다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처리하는 데이터가 보안에 민감한 경우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내에서 처리가 가능한 부분에 대해서는 통신에 대비하여 암호화할 필요가 없으므로 암호화 소요가 줄어든다</a:t>
            </a:r>
            <a:r>
              <a:rPr lang="en-US" altLang="ko-KR" sz="15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r>
              <a:rPr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관리자의 입장에서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사이드에서 처리한 결과를 되받아야 하는 경우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쪽에서 데이터를 위조할 가능성이 있기 때문에 결과의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진위성을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알기 어렵다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따라서 서버 쪽의 데이터가 확실한 진위이며 클라이언트 쪽에서 위조해서는 안 되는 민감한 데이터의 경우 서버 사이드로 처리해야 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/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사용자의 입장에서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컴퓨터의 처리 부담이 많아진다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912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09599" y="609600"/>
            <a:ext cx="7562801" cy="1320800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클라이언트 사이드 스크립트 언</a:t>
            </a:r>
            <a:r>
              <a:rPr lang="ko-KR" altLang="en-US" b="1" dirty="0" smtClean="0">
                <a:solidFill>
                  <a:schemeClr val="accent1">
                    <a:lumMod val="50000"/>
                  </a:schemeClr>
                </a:solidFill>
              </a:rPr>
              <a:t>어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9" y="1636459"/>
            <a:ext cx="6347714" cy="3880773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Client Side Script Language</a:t>
            </a:r>
          </a:p>
          <a:p>
            <a:pPr lvl="1"/>
            <a:r>
              <a:rPr lang="en-US" altLang="ko-KR" b="1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 + HTML + CSS</a:t>
            </a: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VBScript</a:t>
            </a: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Jscript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140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HTML5 </a:t>
            </a:r>
            <a:r>
              <a:rPr lang="ko-KR" altLang="en-US" b="1" dirty="0" smtClean="0"/>
              <a:t>소개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8" y="1636459"/>
            <a:ext cx="7778825" cy="388077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“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웹을 둘러싼 난무한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비표준을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지양하고 지능적이고 실행 가능한 웹 구현을 위해 탄생한 차세대 웹 표준 기술이다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.”</a:t>
            </a:r>
          </a:p>
          <a:p>
            <a:pPr marL="0" indent="0">
              <a:buNone/>
            </a:pP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웹이 더 이상 문서공유나 문서 표현만을 위한 것이 아니라 </a:t>
            </a:r>
            <a:r>
              <a:rPr lang="ko-KR" altLang="en-US" u="sng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하나의 응용프로그램으로 진화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하고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웹에게 더 이상 텍스트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이미지와 하이퍼링크로 이루어진 단순한 문서를 표현하고 공유하기 위한 것이 아니라 하나의 응용 프로그램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즉 애플리케이션으로써의 성격을 강하게 요구하고 있다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비디오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오디오 등 다양한 부가기능과 최신 멀티 미디어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콘텐츠를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액티브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X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없이 브라우저에서 쉽게 볼 수 있게 하는 것을 목적으로 한다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1026" name="Picture 2" descr="https://upload.wikimedia.org/wikipedia/commons/thumb/6/61/HTML5_logo_and_wordmark.svg/220px-HTML5_logo_and_wordmar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320784"/>
            <a:ext cx="1441158" cy="144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9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HTML5</a:t>
            </a:r>
            <a:r>
              <a:rPr lang="ko-KR" altLang="en-US" b="1" dirty="0" smtClean="0"/>
              <a:t>의 특징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1028" name="Picture 4" descr="3D, Graphics &amp; Effe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1911224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 Sock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2380951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yling Effec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2850678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evice Acces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3320405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ideo &amp; Audi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3790132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Offline &amp; Stor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4259859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eo-Locati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5" y="4729586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Semantic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8" y="5198714"/>
            <a:ext cx="400050" cy="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03807" y="1875655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3D, Graphics &amp;</a:t>
            </a:r>
          </a:p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Effects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03807" y="2435135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Connectivity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03807" y="290490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CSS3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03807" y="3374677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Device access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03807" y="3844448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Multimedia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03807" y="4314219"/>
            <a:ext cx="1451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Offline &amp; Storage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03807" y="4694016"/>
            <a:ext cx="1301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Performance &amp;</a:t>
            </a:r>
          </a:p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Integration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3807" y="5261708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Semantics</a:t>
            </a:r>
            <a:endParaRPr lang="ko-KR" altLang="en-US" sz="1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01843" y="1975682"/>
            <a:ext cx="27687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다양한 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차원 및 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차원 그래픽 기능을 지원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01843" y="2442829"/>
            <a:ext cx="36583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서버 측과 직접적인 양방향 통신 기능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01843" y="2912600"/>
            <a:ext cx="36471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글씨체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색상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배경 등 다양한 스타일 및 </a:t>
            </a:r>
            <a:r>
              <a:rPr lang="ko-KR" altLang="en-US" sz="11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이펙트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기능 제공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1843" y="3382371"/>
            <a:ext cx="3828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카메라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동작센서 등의 </a:t>
            </a:r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H/W 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기능을 웹에서 직접적으로 제어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01843" y="3852142"/>
            <a:ext cx="27093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비디오 및 오디오 기능을 자체적으로 지원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01843" y="4321913"/>
            <a:ext cx="3296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</a:t>
            </a:r>
            <a:r>
              <a:rPr lang="ko-KR" altLang="en-US" sz="11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미지원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환경에서도 웹 이용을 가능하게 함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01843" y="4791684"/>
            <a:ext cx="3114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GPS</a:t>
            </a:r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없이도 단말기의 지리적인 위치 정보를 제공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01843" y="5261455"/>
            <a:ext cx="41024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자료에 의미를 부여하여 사용자 의도에 맞는 맞춤형 검색 제공</a:t>
            </a:r>
            <a:endParaRPr lang="ko-KR" altLang="en-US" sz="1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3650" y="1556792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 항목</a:t>
            </a:r>
            <a:endParaRPr lang="ko-KR" altLang="en-US" sz="12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30783" y="1556792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주요 특징</a:t>
            </a:r>
            <a:endParaRPr lang="ko-KR" altLang="en-US" sz="12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683568" y="1844824"/>
            <a:ext cx="6408712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654845" y="1556792"/>
            <a:ext cx="0" cy="3981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73231" y="5694178"/>
            <a:ext cx="40190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https://www.koreahtml5.kr/jsp/definition/character.jsp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984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smtClean="0"/>
              <a:t>HTML5</a:t>
            </a:r>
            <a:r>
              <a:rPr lang="ko-KR" altLang="en-US" b="1" dirty="0" smtClean="0"/>
              <a:t> 사이트</a:t>
            </a:r>
            <a:endParaRPr lang="ko-KR" altLang="en-US" b="1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09598" y="1636459"/>
            <a:ext cx="7778825" cy="4456837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메뉴에 따른 세로 스크롤과 움직임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hlinkClick r:id="rId2"/>
              </a:rPr>
              <a:t>http://pitch.csspiffle.com/#intro</a:t>
            </a:r>
            <a:endParaRPr lang="en-US" altLang="ko-KR" dirty="0"/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3"/>
              </a:rPr>
              <a:t>https://velesnet.ml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3"/>
              </a:rPr>
              <a:t>/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Korea HTML5</a:t>
            </a:r>
          </a:p>
          <a:p>
            <a:pPr lvl="1"/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4"/>
              </a:rPr>
              <a:t>https://www.koreahtml5.kr/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사이트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5"/>
              </a:rPr>
              <a:t>https://opentutorials.org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5"/>
              </a:rPr>
              <a:t>/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6"/>
              </a:rPr>
              <a:t>http://www.w3schools.com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6"/>
              </a:rPr>
              <a:t>/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hlinkClick r:id="rId7"/>
              </a:rPr>
              <a:t>http://htmlcss.kr</a:t>
            </a:r>
            <a:r>
              <a:rPr lang="en-US" altLang="ko-KR" dirty="0" smtClean="0">
                <a:hlinkClick r:id="rId7"/>
              </a:rPr>
              <a:t>/</a:t>
            </a:r>
            <a:endParaRPr lang="en-US" altLang="ko-KR" dirty="0" smtClean="0"/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  <a:hlinkClick r:id="rId8"/>
              </a:rPr>
              <a:t>http://css.baeugo.com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8"/>
              </a:rPr>
              <a:t>/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83A0B-2EB7-4CCA-A652-9C8151087AFE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720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웹앱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41645" y="1636458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웹브라우저에서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작동할 수 있도록 만든 </a:t>
            </a:r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앱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kumimoji="0"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네이티브앱에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비해 개발기간이 짧음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업데이트 및 수정변경이 용이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OS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상관없이 </a:t>
            </a:r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웹브라우저로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접근 가능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kumimoji="0"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인터넷을 통한 접속이므로 구동이 느림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스마트폰의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특정기능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(GPS,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카메라 등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사용 불가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브라우저를 통한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차 접근방식이므로 </a:t>
            </a:r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접근성이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낮음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auto"/>
            <a:endParaRPr kumimoji="0"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424442"/>
            <a:ext cx="2420242" cy="43048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055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네이티브앱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모바일앱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41645" y="1636458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환경에서 구동할 수 있도록 만든 별도의 프로그램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kumimoji="0"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구동속도가 가장 빠름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가장 동적으로 표현 가능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인터넷이 연결되지 않아도 사용 가능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통신 기능 제외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kumimoji="0" lang="en-US" altLang="ko-KR" dirty="0" smtClean="0"/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 기간과 비용이 상대적으로 많이 들어감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앱스토어를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통해 등록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심사하므로 업데이트 및 수정이 어려움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각기 다른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OS,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버전 별로 개발해야 함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424442"/>
            <a:ext cx="2420242" cy="43048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2587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모바일</a:t>
            </a:r>
            <a:r>
              <a:rPr lang="ko-KR" altLang="en-US" b="1" dirty="0" err="1"/>
              <a:t>웹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41644" y="1636458"/>
            <a:ext cx="666665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해상도의 </a:t>
            </a:r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웹브라우저에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최적화 되어 보일 수 있도록 만든 웹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kumimoji="0"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쉽고 간단하게 적용 가능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kumimoji="0"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표준 방식으로 개발하면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OS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상관없이 구현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kumimoji="0" lang="en-US" altLang="ko-KR" dirty="0" smtClean="0"/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인터넷에 접속하므로 상대적으로 느림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이미지나 영상이 많이 포함된 경우 더 느림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웹브라우저로만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이용 가능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239285"/>
            <a:ext cx="2420242" cy="43048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443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하이브리드앱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41644" y="1636458"/>
            <a:ext cx="666665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모바일웹과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모바일앱의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장점을 가져와서 혼합한 형태의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앱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kumimoji="0" lang="en-US" altLang="ko-KR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구동속도가 </a:t>
            </a:r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모바일웹보다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빠름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필수적인 요소만 포함하여 개발 가능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동적인 데이터는 실시간으로 통신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 fontAlgn="auto"/>
            <a:r>
              <a:rPr kumimoji="0" lang="ko-KR" altLang="en-US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kumimoji="0" lang="en-US" altLang="ko-KR" dirty="0" smtClean="0"/>
          </a:p>
          <a:p>
            <a:pPr marL="742950" lvl="2" indent="-342900"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자체 사이트만 지원하므로 타 사이트 </a:t>
            </a:r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브라우징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불가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r>
              <a:rPr kumimoji="0"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네비게이션이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설계 잘못 시 사용자 불편함 증가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2" indent="-342900" fontAlgn="auto"/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0289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722313" y="2709867"/>
            <a:ext cx="7772400" cy="1362075"/>
          </a:xfrm>
        </p:spPr>
        <p:txBody>
          <a:bodyPr/>
          <a:lstStyle/>
          <a:p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개발 환경 구축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개발 환경 구축 순서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700808"/>
            <a:ext cx="6347714" cy="3880773"/>
          </a:xfrm>
        </p:spPr>
        <p:txBody>
          <a:bodyPr>
            <a:normAutofit/>
          </a:bodyPr>
          <a:lstStyle/>
          <a:p>
            <a:r>
              <a:rPr lang="en-US" altLang="ko-KR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1. </a:t>
            </a:r>
            <a:r>
              <a:rPr lang="ko-KR" altLang="en-US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사전 요구사항</a:t>
            </a:r>
            <a:endParaRPr lang="en-US" altLang="ko-KR" sz="24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sz="2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JDK </a:t>
            </a:r>
            <a:r>
              <a:rPr lang="ko-KR" altLang="en-US" sz="2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및 </a:t>
            </a:r>
            <a:r>
              <a:rPr lang="en-US" altLang="ko-KR" sz="2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JRE </a:t>
            </a:r>
            <a:r>
              <a:rPr lang="ko-KR" altLang="en-US" sz="2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설치 필요</a:t>
            </a:r>
            <a:endParaRPr lang="en-US" altLang="ko-KR" sz="22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2. Apache Tomcat </a:t>
            </a:r>
            <a:r>
              <a:rPr lang="ko-KR" altLang="en-US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설치</a:t>
            </a:r>
            <a:endParaRPr lang="en-US" altLang="ko-KR" sz="24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3. Eclipse IDE </a:t>
            </a:r>
            <a:r>
              <a:rPr lang="ko-KR" altLang="en-US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설치</a:t>
            </a:r>
            <a:endParaRPr lang="en-US" altLang="ko-KR" sz="24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4. Eclipse</a:t>
            </a:r>
            <a:r>
              <a:rPr lang="ko-KR" altLang="en-US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en-US" altLang="ko-KR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Tomcat </a:t>
            </a:r>
            <a:r>
              <a:rPr lang="ko-KR" altLang="en-US" sz="24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연동</a:t>
            </a:r>
            <a:endParaRPr lang="en-US" altLang="ko-KR" sz="24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sz="2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059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54689" cy="659160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(1/7)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71216"/>
            <a:ext cx="6347714" cy="1309712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hlinkClick r:id="rId2"/>
              </a:rPr>
              <a:t>http://tomcat.apache.org</a:t>
            </a:r>
            <a:endParaRPr lang="en-US" altLang="ko-KR" dirty="0" smtClean="0"/>
          </a:p>
          <a:p>
            <a:r>
              <a:rPr lang="en-US" altLang="ko-KR" dirty="0" smtClean="0"/>
              <a:t>Tomcat 8.0 Download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grpSp>
        <p:nvGrpSpPr>
          <p:cNvPr id="10" name="그룹 9"/>
          <p:cNvGrpSpPr/>
          <p:nvPr/>
        </p:nvGrpSpPr>
        <p:grpSpPr>
          <a:xfrm>
            <a:off x="1331640" y="2708919"/>
            <a:ext cx="5760640" cy="3332443"/>
            <a:chOff x="899592" y="2036156"/>
            <a:chExt cx="7286625" cy="4215202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t="1876"/>
            <a:stretch/>
          </p:blipFill>
          <p:spPr>
            <a:xfrm>
              <a:off x="899592" y="2036156"/>
              <a:ext cx="7286625" cy="4215202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1043608" y="4941168"/>
              <a:ext cx="792088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17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626697" cy="659160"/>
          </a:xfrm>
        </p:spPr>
        <p:txBody>
          <a:bodyPr>
            <a:noAutofit/>
          </a:bodyPr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(2/7)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4700" y="1412776"/>
            <a:ext cx="8229600" cy="1382710"/>
          </a:xfrm>
        </p:spPr>
        <p:txBody>
          <a:bodyPr/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Which version?</a:t>
            </a:r>
          </a:p>
          <a:p>
            <a:pPr marL="342900" lvl="1" indent="-342900"/>
            <a:r>
              <a:rPr lang="en-US" altLang="ko-KR" dirty="0"/>
              <a:t>Tomcat 9 is </a:t>
            </a:r>
            <a:r>
              <a:rPr lang="en-US" altLang="ko-KR" dirty="0">
                <a:solidFill>
                  <a:srgbClr val="FF0000"/>
                </a:solidFill>
              </a:rPr>
              <a:t>not </a:t>
            </a:r>
            <a:r>
              <a:rPr lang="en-US" altLang="ko-KR" dirty="0"/>
              <a:t>support Eclipse </a:t>
            </a:r>
            <a:r>
              <a:rPr lang="en-US" altLang="ko-KR" dirty="0" smtClean="0"/>
              <a:t>WTP!</a:t>
            </a:r>
            <a:endParaRPr lang="en-US" altLang="ko-KR" dirty="0"/>
          </a:p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Tomcat 8.0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설치 시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Java 7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이상 필요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grpSp>
        <p:nvGrpSpPr>
          <p:cNvPr id="9" name="그룹 8"/>
          <p:cNvGrpSpPr/>
          <p:nvPr/>
        </p:nvGrpSpPr>
        <p:grpSpPr>
          <a:xfrm>
            <a:off x="827584" y="2924944"/>
            <a:ext cx="7198956" cy="2649738"/>
            <a:chOff x="827584" y="2708920"/>
            <a:chExt cx="7198956" cy="264973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r="5162"/>
            <a:stretch/>
          </p:blipFill>
          <p:spPr>
            <a:xfrm>
              <a:off x="827584" y="2708920"/>
              <a:ext cx="7198956" cy="2649738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899592" y="3861048"/>
              <a:ext cx="7056784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819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54689" cy="850024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(3/7)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09599" y="1556792"/>
            <a:ext cx="8229600" cy="360040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Tomcat 8.0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다운로드 후 설치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grpSp>
        <p:nvGrpSpPr>
          <p:cNvPr id="10" name="그룹 9"/>
          <p:cNvGrpSpPr/>
          <p:nvPr/>
        </p:nvGrpSpPr>
        <p:grpSpPr>
          <a:xfrm>
            <a:off x="976468" y="2420888"/>
            <a:ext cx="3002495" cy="3092569"/>
            <a:chOff x="2051720" y="2120335"/>
            <a:chExt cx="4166492" cy="42914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1720" y="2120335"/>
              <a:ext cx="4166492" cy="4291486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2770818" y="4077072"/>
              <a:ext cx="3313349" cy="1890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229" y="2635558"/>
            <a:ext cx="3425131" cy="2663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945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54689" cy="850024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</a:t>
            </a:r>
            <a:r>
              <a:rPr lang="en-US" altLang="ko-KR" b="1" dirty="0"/>
              <a:t>4</a:t>
            </a:r>
            <a:r>
              <a:rPr lang="en-US" altLang="ko-KR" b="1" dirty="0" smtClean="0"/>
              <a:t>/7)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09599" y="1556792"/>
            <a:ext cx="8229600" cy="360040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환경변수 추가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grpSp>
        <p:nvGrpSpPr>
          <p:cNvPr id="13" name="그룹 12"/>
          <p:cNvGrpSpPr/>
          <p:nvPr/>
        </p:nvGrpSpPr>
        <p:grpSpPr>
          <a:xfrm>
            <a:off x="609598" y="2031584"/>
            <a:ext cx="5762601" cy="4454226"/>
            <a:chOff x="609599" y="2014000"/>
            <a:chExt cx="6941866" cy="4454226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" y="2014000"/>
              <a:ext cx="4705490" cy="445422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40" y="3068960"/>
              <a:ext cx="6219825" cy="1571625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331640" y="5013176"/>
              <a:ext cx="1008112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55776" y="3501008"/>
              <a:ext cx="4896544" cy="6480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180" y="1777985"/>
            <a:ext cx="3929308" cy="470782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148064" y="5301208"/>
            <a:ext cx="12966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81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54689" cy="1320800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</a:t>
            </a:r>
            <a:r>
              <a:rPr lang="en-US" altLang="ko-KR" b="1" dirty="0"/>
              <a:t>5</a:t>
            </a:r>
            <a:r>
              <a:rPr lang="en-US" altLang="ko-KR" b="1" dirty="0" smtClean="0"/>
              <a:t>/7)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09599" y="1493393"/>
            <a:ext cx="8229600" cy="949672"/>
          </a:xfrm>
        </p:spPr>
        <p:txBody>
          <a:bodyPr/>
          <a:lstStyle/>
          <a:p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트레이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&gt;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Tomcat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아이콘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우클릭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&gt; Configure</a:t>
            </a:r>
          </a:p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Start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 서버 시작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Stop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으로 서버 종료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t="-1" b="1315"/>
          <a:stretch/>
        </p:blipFill>
        <p:spPr>
          <a:xfrm>
            <a:off x="1115616" y="3387982"/>
            <a:ext cx="2628900" cy="180473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356775"/>
            <a:ext cx="3943350" cy="386715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63688" y="3429000"/>
            <a:ext cx="198082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211960" y="5301208"/>
            <a:ext cx="172819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88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717197" cy="1320800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</a:t>
            </a:r>
            <a:r>
              <a:rPr lang="en-US" altLang="ko-KR" b="1" dirty="0"/>
              <a:t>6</a:t>
            </a:r>
            <a:r>
              <a:rPr lang="en-US" altLang="ko-KR" b="1" dirty="0" smtClean="0"/>
              <a:t>/7)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09599" y="1430189"/>
            <a:ext cx="8229600" cy="829270"/>
          </a:xfrm>
        </p:spPr>
        <p:txBody>
          <a:bodyPr/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  <a:hlinkClick r:id="rId2"/>
              </a:rPr>
              <a:t>http://localhost:8080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아래와 같은 페이지가 뜨면 정상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2348880"/>
            <a:ext cx="5024668" cy="414930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483768" y="2564904"/>
            <a:ext cx="720080" cy="186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32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90693" cy="1320800"/>
          </a:xfrm>
        </p:spPr>
        <p:txBody>
          <a:bodyPr/>
          <a:lstStyle/>
          <a:p>
            <a:r>
              <a:rPr lang="en-US" altLang="ko-KR" b="1" dirty="0" smtClean="0"/>
              <a:t>Apache Tomcat </a:t>
            </a:r>
            <a:r>
              <a:rPr lang="ko-KR" altLang="en-US" b="1" dirty="0" smtClean="0"/>
              <a:t>설치하기 </a:t>
            </a:r>
            <a:r>
              <a:rPr lang="en-US" altLang="ko-KR" b="1" dirty="0" smtClean="0"/>
              <a:t>(7/7)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9512" y="56803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아래쪽 화살표 8"/>
          <p:cNvSpPr/>
          <p:nvPr/>
        </p:nvSpPr>
        <p:spPr>
          <a:xfrm>
            <a:off x="3939964" y="4159014"/>
            <a:ext cx="360040" cy="4412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647825" y="1515863"/>
            <a:ext cx="6552467" cy="1193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마지막으로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[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설치경로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]\Tomcat 8.0\</a:t>
            </a:r>
            <a:r>
              <a:rPr kumimoji="0"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conf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\server.xml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 fontAlgn="auto">
              <a:buFont typeface="Wingdings 3" charset="2"/>
              <a:buNone/>
            </a:pP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아래 내용을 수정하여 나중에 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UTF-8 </a:t>
            </a: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 한글 깨짐 현상이</a:t>
            </a:r>
            <a:endParaRPr kumimoji="0"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 fontAlgn="auto">
              <a:buFont typeface="Wingdings 3" charset="2"/>
              <a:buNone/>
            </a:pPr>
            <a:r>
              <a:rPr kumimoji="0"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    없도록 한다</a:t>
            </a:r>
            <a:r>
              <a:rPr kumimoji="0"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kumimoji="0" lang="ko-KR" altLang="en-US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96" y="4740010"/>
            <a:ext cx="4633776" cy="4893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36" y="3175156"/>
            <a:ext cx="3913696" cy="50434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3819243"/>
            <a:ext cx="5000624" cy="20002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72" y="5369098"/>
            <a:ext cx="6372224" cy="20002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4715688" y="5042360"/>
            <a:ext cx="1407798" cy="173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811531" y="5373216"/>
            <a:ext cx="1305540" cy="173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9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 </a:t>
            </a:r>
            <a:r>
              <a:rPr lang="en-US" altLang="ko-KR" sz="3200" b="1" dirty="0" smtClean="0"/>
              <a:t>EE </a:t>
            </a:r>
            <a:r>
              <a:rPr lang="ko-KR" altLang="en-US" sz="3200" b="1" dirty="0" smtClean="0"/>
              <a:t>설치하기</a:t>
            </a:r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1388662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https://www.eclipse.org/downloads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  <a:p>
            <a:r>
              <a:rPr lang="en-US" altLang="ko-KR" dirty="0" smtClean="0"/>
              <a:t>Eclipse IDE for Java EE Developers </a:t>
            </a:r>
            <a:r>
              <a:rPr lang="ko-KR" altLang="en-US" dirty="0" smtClean="0"/>
              <a:t>다운로드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>
            <a:off x="1881343" y="2297582"/>
            <a:ext cx="4659272" cy="4299136"/>
            <a:chOff x="2519772" y="2506338"/>
            <a:chExt cx="4176464" cy="385364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9772" y="2506338"/>
              <a:ext cx="4176464" cy="3853646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2627784" y="4375286"/>
              <a:ext cx="3960440" cy="6480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961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(1/7)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2324766"/>
          </a:xfrm>
        </p:spPr>
        <p:txBody>
          <a:bodyPr/>
          <a:lstStyle/>
          <a:p>
            <a:r>
              <a:rPr lang="en-US" altLang="ko-KR" dirty="0" smtClean="0"/>
              <a:t>File </a:t>
            </a:r>
            <a:r>
              <a:rPr lang="ko-KR" altLang="en-US" dirty="0"/>
              <a:t>→ </a:t>
            </a:r>
            <a:r>
              <a:rPr lang="en-US" altLang="ko-KR" dirty="0" smtClean="0"/>
              <a:t>New </a:t>
            </a:r>
            <a:r>
              <a:rPr lang="ko-KR" altLang="en-US" dirty="0"/>
              <a:t>→ </a:t>
            </a:r>
            <a:r>
              <a:rPr lang="en-US" altLang="ko-KR" dirty="0" smtClean="0"/>
              <a:t>Other </a:t>
            </a:r>
            <a:r>
              <a:rPr lang="ko-KR" altLang="en-US" dirty="0" smtClean="0"/>
              <a:t>→</a:t>
            </a:r>
            <a:r>
              <a:rPr lang="en-US" altLang="ko-KR" dirty="0" smtClean="0"/>
              <a:t> Server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Server</a:t>
            </a:r>
            <a:r>
              <a:rPr lang="ko-KR" altLang="en-US" dirty="0" smtClean="0"/>
              <a:t>로 프로젝트 생성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grpSp>
        <p:nvGrpSpPr>
          <p:cNvPr id="11" name="그룹 10"/>
          <p:cNvGrpSpPr/>
          <p:nvPr/>
        </p:nvGrpSpPr>
        <p:grpSpPr>
          <a:xfrm>
            <a:off x="910007" y="2060848"/>
            <a:ext cx="6758337" cy="4332343"/>
            <a:chOff x="827584" y="2107105"/>
            <a:chExt cx="7015236" cy="44970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584" y="2107105"/>
              <a:ext cx="4320480" cy="3263802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4388" y="2852936"/>
              <a:ext cx="3888432" cy="3751194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2123728" y="3789040"/>
              <a:ext cx="864096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/>
            <p:cNvCxnSpPr>
              <a:stCxn id="8" idx="3"/>
            </p:cNvCxnSpPr>
            <p:nvPr/>
          </p:nvCxnSpPr>
          <p:spPr>
            <a:xfrm>
              <a:off x="2987824" y="3897052"/>
              <a:ext cx="1296144" cy="7560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직사각형 11"/>
          <p:cNvSpPr/>
          <p:nvPr/>
        </p:nvSpPr>
        <p:spPr>
          <a:xfrm>
            <a:off x="4239818" y="4399547"/>
            <a:ext cx="55122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3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(2/7)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2324766"/>
          </a:xfrm>
        </p:spPr>
        <p:txBody>
          <a:bodyPr/>
          <a:lstStyle/>
          <a:p>
            <a:r>
              <a:rPr lang="en-US" altLang="ko-KR" dirty="0" smtClean="0"/>
              <a:t>Apache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Tomcat v8.0 Server </a:t>
            </a:r>
            <a:r>
              <a:rPr lang="ko-KR" altLang="en-US" dirty="0" smtClean="0"/>
              <a:t>선택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grpSp>
        <p:nvGrpSpPr>
          <p:cNvPr id="16" name="그룹 15"/>
          <p:cNvGrpSpPr/>
          <p:nvPr/>
        </p:nvGrpSpPr>
        <p:grpSpPr>
          <a:xfrm>
            <a:off x="827584" y="2149533"/>
            <a:ext cx="7231296" cy="3891830"/>
            <a:chOff x="755576" y="2276872"/>
            <a:chExt cx="6689360" cy="360016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576" y="2276872"/>
              <a:ext cx="3149470" cy="3587068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3968" y="2276872"/>
              <a:ext cx="3160968" cy="3600164"/>
            </a:xfrm>
            <a:prstGeom prst="rect">
              <a:avLst/>
            </a:prstGeom>
          </p:spPr>
        </p:pic>
        <p:cxnSp>
          <p:nvCxnSpPr>
            <p:cNvPr id="13" name="직선 화살표 연결선 12"/>
            <p:cNvCxnSpPr/>
            <p:nvPr/>
          </p:nvCxnSpPr>
          <p:spPr>
            <a:xfrm>
              <a:off x="1403648" y="3501008"/>
              <a:ext cx="3168352" cy="575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899592" y="3429000"/>
              <a:ext cx="50405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572000" y="4008580"/>
              <a:ext cx="936104" cy="1405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731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(3/7)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2324766"/>
          </a:xfrm>
        </p:spPr>
        <p:txBody>
          <a:bodyPr/>
          <a:lstStyle/>
          <a:p>
            <a:r>
              <a:rPr lang="en-US" altLang="ko-KR" dirty="0" smtClean="0"/>
              <a:t>Tomcat installation directory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JRE</a:t>
            </a:r>
            <a:r>
              <a:rPr lang="ko-KR" altLang="en-US" dirty="0" smtClean="0"/>
              <a:t>설정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060848"/>
            <a:ext cx="3600402" cy="410065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339752" y="3284984"/>
            <a:ext cx="25922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339752" y="3840390"/>
            <a:ext cx="25922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9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(4/7)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167669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Server</a:t>
            </a:r>
            <a:r>
              <a:rPr lang="ko-KR" altLang="en-US" dirty="0" smtClean="0"/>
              <a:t>탭 활성화</a:t>
            </a:r>
            <a:endParaRPr lang="en-US" altLang="ko-KR" dirty="0" smtClean="0"/>
          </a:p>
          <a:p>
            <a:r>
              <a:rPr lang="en-US" altLang="ko-KR" dirty="0" smtClean="0"/>
              <a:t>Window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Show View </a:t>
            </a:r>
            <a:r>
              <a:rPr lang="ko-KR" altLang="en-US" dirty="0"/>
              <a:t>→ </a:t>
            </a:r>
            <a:r>
              <a:rPr lang="en-US" altLang="ko-KR" dirty="0" smtClean="0"/>
              <a:t>Other </a:t>
            </a:r>
            <a:r>
              <a:rPr lang="ko-KR" altLang="en-US" dirty="0" smtClean="0"/>
              <a:t>→</a:t>
            </a:r>
            <a:r>
              <a:rPr lang="en-US" altLang="ko-KR" dirty="0" smtClean="0"/>
              <a:t> Server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Server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OK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794" t="524" r="794" b="524"/>
          <a:stretch/>
        </p:blipFill>
        <p:spPr>
          <a:xfrm>
            <a:off x="683568" y="2729269"/>
            <a:ext cx="4320480" cy="32730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40" y="2663318"/>
            <a:ext cx="2419752" cy="340499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483768" y="4797152"/>
            <a:ext cx="1152128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6" idx="3"/>
          </p:cNvCxnSpPr>
          <p:nvPr/>
        </p:nvCxnSpPr>
        <p:spPr>
          <a:xfrm flipV="1">
            <a:off x="3635896" y="4496314"/>
            <a:ext cx="2232248" cy="3728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5868144" y="4339492"/>
            <a:ext cx="720080" cy="313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16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(5/7)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Tomcat v8.0 Server at localhost </a:t>
            </a:r>
            <a:r>
              <a:rPr lang="ko-KR" altLang="en-US" dirty="0" smtClean="0"/>
              <a:t>더블클릭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grpSp>
        <p:nvGrpSpPr>
          <p:cNvPr id="7" name="그룹 6"/>
          <p:cNvGrpSpPr/>
          <p:nvPr/>
        </p:nvGrpSpPr>
        <p:grpSpPr>
          <a:xfrm>
            <a:off x="1313348" y="1916832"/>
            <a:ext cx="5795262" cy="4366528"/>
            <a:chOff x="1313348" y="1464274"/>
            <a:chExt cx="5795262" cy="436652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3348" y="1464274"/>
              <a:ext cx="5795262" cy="4366528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2610274" y="4853694"/>
              <a:ext cx="1907228" cy="1749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945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(6/7)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Use Tomcat installation </a:t>
            </a:r>
            <a:r>
              <a:rPr lang="ko-KR" altLang="en-US" dirty="0" smtClean="0"/>
              <a:t>선택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>
            <a:off x="1547664" y="1988840"/>
            <a:ext cx="5477796" cy="4127330"/>
            <a:chOff x="1619672" y="1988840"/>
            <a:chExt cx="5477796" cy="41273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1988840"/>
              <a:ext cx="5477796" cy="412733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915816" y="4149080"/>
              <a:ext cx="194421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687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Eclipse</a:t>
            </a:r>
            <a:r>
              <a:rPr lang="ko-KR" altLang="en-US" sz="3200" b="1" dirty="0" smtClean="0"/>
              <a:t>와 </a:t>
            </a:r>
            <a:r>
              <a:rPr lang="en-US" altLang="ko-KR" sz="3200" b="1" dirty="0" smtClean="0"/>
              <a:t>Tomcat </a:t>
            </a:r>
            <a:r>
              <a:rPr lang="ko-KR" altLang="en-US" sz="3200" b="1" dirty="0" smtClean="0"/>
              <a:t>연동하기 </a:t>
            </a:r>
            <a:r>
              <a:rPr lang="en-US" altLang="ko-KR" sz="3200" b="1" dirty="0" smtClean="0"/>
              <a:t>(7/7)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1075064"/>
          </a:xfrm>
        </p:spPr>
        <p:txBody>
          <a:bodyPr/>
          <a:lstStyle/>
          <a:p>
            <a:r>
              <a:rPr lang="en-US" altLang="ko-KR" dirty="0" smtClean="0"/>
              <a:t>Server Start</a:t>
            </a:r>
          </a:p>
          <a:p>
            <a:r>
              <a:rPr lang="ko-KR" altLang="en-US" dirty="0" smtClean="0"/>
              <a:t>오류발생시 </a:t>
            </a:r>
            <a:r>
              <a:rPr lang="en-US" altLang="ko-KR" dirty="0" smtClean="0"/>
              <a:t>Tomcat </a:t>
            </a:r>
            <a:r>
              <a:rPr lang="ko-KR" altLang="en-US" dirty="0" smtClean="0"/>
              <a:t>서버를 종료하고 다시 시작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20606" t="24427" r="29771" b="15260"/>
          <a:stretch/>
        </p:blipFill>
        <p:spPr>
          <a:xfrm>
            <a:off x="589883" y="2731047"/>
            <a:ext cx="3515116" cy="32221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그룹 12"/>
          <p:cNvGrpSpPr/>
          <p:nvPr/>
        </p:nvGrpSpPr>
        <p:grpSpPr>
          <a:xfrm>
            <a:off x="5790549" y="3645024"/>
            <a:ext cx="2768520" cy="2715022"/>
            <a:chOff x="5148064" y="3564988"/>
            <a:chExt cx="2768520" cy="27150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8064" y="3564988"/>
              <a:ext cx="2768520" cy="2715022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5292080" y="5373216"/>
              <a:ext cx="1080120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" name="꺾인 연결선 14"/>
          <p:cNvCxnSpPr>
            <a:stCxn id="8" idx="2"/>
            <a:endCxn id="9" idx="1"/>
          </p:cNvCxnSpPr>
          <p:nvPr/>
        </p:nvCxnSpPr>
        <p:spPr>
          <a:xfrm rot="16200000" flipH="1">
            <a:off x="4998710" y="4210696"/>
            <a:ext cx="1190120" cy="39355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357" y="2403201"/>
            <a:ext cx="2155268" cy="14092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907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(1/7)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New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Other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Web </a:t>
            </a:r>
            <a:r>
              <a:rPr lang="ko-KR" altLang="en-US" dirty="0" smtClean="0"/>
              <a:t>→ </a:t>
            </a:r>
            <a:r>
              <a:rPr lang="en-US" altLang="ko-KR" dirty="0" smtClean="0"/>
              <a:t>Dynamic Web Project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1988840"/>
            <a:ext cx="4318122" cy="416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5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(2/7)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JSP </a:t>
            </a:r>
            <a:r>
              <a:rPr lang="ko-KR" altLang="en-US" dirty="0" smtClean="0"/>
              <a:t>파일 생성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1270" t="17668" r="36522" b="42248"/>
          <a:stretch/>
        </p:blipFill>
        <p:spPr>
          <a:xfrm>
            <a:off x="1115615" y="2060848"/>
            <a:ext cx="5697273" cy="30963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직사각형 6"/>
          <p:cNvSpPr/>
          <p:nvPr/>
        </p:nvSpPr>
        <p:spPr>
          <a:xfrm>
            <a:off x="1331640" y="2996952"/>
            <a:ext cx="1008112" cy="310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(3/7)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JSP</a:t>
            </a:r>
            <a:r>
              <a:rPr lang="ko-KR" altLang="en-US" dirty="0" smtClean="0"/>
              <a:t>파일 작성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1299"/>
          <a:stretch/>
        </p:blipFill>
        <p:spPr>
          <a:xfrm>
            <a:off x="591478" y="2075100"/>
            <a:ext cx="8058150" cy="37417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030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(4/7)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Java </a:t>
            </a:r>
            <a:r>
              <a:rPr lang="ko-KR" altLang="en-US" dirty="0" smtClean="0"/>
              <a:t>파일 생성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86" b="1"/>
          <a:stretch/>
        </p:blipFill>
        <p:spPr>
          <a:xfrm>
            <a:off x="585613" y="2564904"/>
            <a:ext cx="4093540" cy="28922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096" y="1937721"/>
            <a:ext cx="3341798" cy="398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직사각형 9"/>
          <p:cNvSpPr/>
          <p:nvPr/>
        </p:nvSpPr>
        <p:spPr>
          <a:xfrm>
            <a:off x="5724128" y="3284984"/>
            <a:ext cx="20162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endCxn id="10" idx="1"/>
          </p:cNvCxnSpPr>
          <p:nvPr/>
        </p:nvCxnSpPr>
        <p:spPr>
          <a:xfrm flipV="1">
            <a:off x="4283968" y="3392996"/>
            <a:ext cx="1440160" cy="252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6732240" y="3356992"/>
            <a:ext cx="648072" cy="2376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827584" y="3140968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2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(5/7)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560273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Java</a:t>
            </a:r>
            <a:r>
              <a:rPr lang="ko-KR" altLang="en-US" dirty="0" smtClean="0"/>
              <a:t>파일 작성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146"/>
          <a:stretch/>
        </p:blipFill>
        <p:spPr>
          <a:xfrm>
            <a:off x="1691453" y="2780928"/>
            <a:ext cx="526586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0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(6/7)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en-US" altLang="ko-KR" dirty="0" smtClean="0"/>
              <a:t>Run on Server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854492"/>
            <a:ext cx="3597516" cy="32388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469028"/>
            <a:ext cx="3708978" cy="46242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2" name="직선 화살표 연결선 11"/>
          <p:cNvCxnSpPr/>
          <p:nvPr/>
        </p:nvCxnSpPr>
        <p:spPr>
          <a:xfrm flipV="1">
            <a:off x="3275856" y="3356992"/>
            <a:ext cx="1728192" cy="1944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6210465" y="3356992"/>
            <a:ext cx="746849" cy="25202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53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02761" cy="635134"/>
          </a:xfrm>
        </p:spPr>
        <p:txBody>
          <a:bodyPr>
            <a:normAutofit/>
          </a:bodyPr>
          <a:lstStyle/>
          <a:p>
            <a:r>
              <a:rPr lang="en-US" altLang="ko-KR" sz="3200" b="1" dirty="0" smtClean="0"/>
              <a:t>JSP </a:t>
            </a:r>
            <a:r>
              <a:rPr lang="ko-KR" altLang="en-US" sz="3200" b="1" dirty="0" smtClean="0"/>
              <a:t>예제 </a:t>
            </a:r>
            <a:r>
              <a:rPr lang="en-US" altLang="ko-KR" sz="3200" b="1" dirty="0" smtClean="0"/>
              <a:t>(7/7)</a:t>
            </a:r>
            <a:endParaRPr lang="ko-KR" altLang="en-US" sz="3200" b="1" dirty="0" smtClean="0"/>
          </a:p>
        </p:txBody>
      </p:sp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609599" y="1464274"/>
            <a:ext cx="8229600" cy="452558"/>
          </a:xfrm>
        </p:spPr>
        <p:txBody>
          <a:bodyPr/>
          <a:lstStyle/>
          <a:p>
            <a:r>
              <a:rPr lang="ko-KR" altLang="en-US" dirty="0" smtClean="0"/>
              <a:t>결과 출력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B01F7-393E-4304-913B-107D9DC294CA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grpSp>
        <p:nvGrpSpPr>
          <p:cNvPr id="8" name="그룹 7"/>
          <p:cNvGrpSpPr/>
          <p:nvPr/>
        </p:nvGrpSpPr>
        <p:grpSpPr>
          <a:xfrm>
            <a:off x="1548042" y="2187948"/>
            <a:ext cx="5400222" cy="3257276"/>
            <a:chOff x="1835695" y="2276872"/>
            <a:chExt cx="4536505" cy="273630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l="11641" t="7545" r="15103" b="33811"/>
            <a:stretch/>
          </p:blipFill>
          <p:spPr>
            <a:xfrm>
              <a:off x="1835695" y="2276872"/>
              <a:ext cx="4536505" cy="27363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직사각형 2"/>
            <p:cNvSpPr/>
            <p:nvPr/>
          </p:nvSpPr>
          <p:spPr>
            <a:xfrm>
              <a:off x="2699792" y="2852936"/>
              <a:ext cx="1296144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738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이번 주 미션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77"/>
          <a:stretch/>
        </p:blipFill>
        <p:spPr>
          <a:xfrm>
            <a:off x="323528" y="1844824"/>
            <a:ext cx="4972050" cy="1152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18"/>
          <a:stretch/>
        </p:blipFill>
        <p:spPr>
          <a:xfrm>
            <a:off x="323528" y="4509120"/>
            <a:ext cx="4972050" cy="11521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528" y="1475492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Input.jsp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413978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Result.jsp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4574" y="4509120"/>
            <a:ext cx="2195898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dirty="0" smtClean="0"/>
              <a:t>Factorial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24574" y="413978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&lt;Calc.java&gt;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2631282" y="3366284"/>
            <a:ext cx="504056" cy="71078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 rot="16200000">
            <a:off x="5764778" y="4497979"/>
            <a:ext cx="504056" cy="71078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 rot="5400000" flipH="1">
            <a:off x="5611470" y="4981818"/>
            <a:ext cx="504056" cy="71078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143900" y="3501008"/>
            <a:ext cx="1996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+mj-ea"/>
                <a:ea typeface="+mj-ea"/>
              </a:rPr>
              <a:t>1. </a:t>
            </a:r>
            <a:r>
              <a:rPr lang="ko-KR" altLang="en-US" sz="1600" dirty="0" smtClean="0">
                <a:latin typeface="+mj-ea"/>
                <a:ea typeface="+mj-ea"/>
              </a:rPr>
              <a:t>입력 데이터 전달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17953" y="4321904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+mj-ea"/>
                <a:ea typeface="+mj-ea"/>
              </a:rPr>
              <a:t>2. </a:t>
            </a:r>
            <a:r>
              <a:rPr lang="ko-KR" altLang="en-US" sz="1600" dirty="0" smtClean="0">
                <a:latin typeface="+mj-ea"/>
                <a:ea typeface="+mj-ea"/>
              </a:rPr>
              <a:t>계산 수행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62620" y="5509910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+mj-ea"/>
                <a:ea typeface="+mj-ea"/>
              </a:rPr>
              <a:t>3. </a:t>
            </a:r>
            <a:r>
              <a:rPr lang="ko-KR" altLang="en-US" sz="1600" dirty="0" smtClean="0">
                <a:latin typeface="+mj-ea"/>
                <a:ea typeface="+mj-ea"/>
              </a:rPr>
              <a:t>결과 전달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526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이번 주 미션</a:t>
            </a:r>
            <a:r>
              <a:rPr lang="en-US" altLang="ko-KR" dirty="0" smtClean="0"/>
              <a:t>! - </a:t>
            </a:r>
            <a:r>
              <a:rPr lang="ko-KR" altLang="en-US" dirty="0" smtClean="0"/>
              <a:t>참고자료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8738" y="1475492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Sender.jsp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54" y="1938784"/>
            <a:ext cx="3105150" cy="1190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46" y="3252961"/>
            <a:ext cx="2209800" cy="790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923" y="1938784"/>
            <a:ext cx="3819525" cy="1219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722240" y="1480592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Receiver.jsp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29" b="17039"/>
          <a:stretch/>
        </p:blipFill>
        <p:spPr>
          <a:xfrm>
            <a:off x="4799655" y="3286869"/>
            <a:ext cx="2004593" cy="7902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/>
          <p:cNvSpPr/>
          <p:nvPr/>
        </p:nvSpPr>
        <p:spPr>
          <a:xfrm>
            <a:off x="4915846" y="1511657"/>
            <a:ext cx="1613380" cy="294608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808967" y="2386811"/>
            <a:ext cx="687105" cy="152693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789081" y="2242964"/>
            <a:ext cx="910711" cy="182928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655644" y="2272928"/>
            <a:ext cx="687105" cy="152693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3" idx="3"/>
          </p:cNvCxnSpPr>
          <p:nvPr/>
        </p:nvCxnSpPr>
        <p:spPr>
          <a:xfrm flipV="1">
            <a:off x="2699792" y="1658961"/>
            <a:ext cx="2216054" cy="6754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2" idx="3"/>
            <a:endCxn id="24" idx="1"/>
          </p:cNvCxnSpPr>
          <p:nvPr/>
        </p:nvCxnSpPr>
        <p:spPr>
          <a:xfrm flipV="1">
            <a:off x="3496072" y="2349275"/>
            <a:ext cx="4159572" cy="1138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8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7253</TotalTime>
  <Words>1621</Words>
  <Application>Microsoft Office PowerPoint</Application>
  <PresentationFormat>화면 슬라이드 쇼(4:3)</PresentationFormat>
  <Paragraphs>321</Paragraphs>
  <Slides>51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0" baseType="lpstr">
      <vt:lpstr>HY견고딕</vt:lpstr>
      <vt:lpstr>HY그래픽M</vt:lpstr>
      <vt:lpstr>굴림</vt:lpstr>
      <vt:lpstr>맑은 고딕</vt:lpstr>
      <vt:lpstr>함초롬바탕</vt:lpstr>
      <vt:lpstr>Arial</vt:lpstr>
      <vt:lpstr>Trebuchet MS</vt:lpstr>
      <vt:lpstr>Wingdings 3</vt:lpstr>
      <vt:lpstr>패싯</vt:lpstr>
      <vt:lpstr>Web Programming &amp; HTML5 </vt:lpstr>
      <vt:lpstr>목차</vt:lpstr>
      <vt:lpstr>웹 개발</vt:lpstr>
      <vt:lpstr>웹 개발이란?</vt:lpstr>
      <vt:lpstr>웹 표준</vt:lpstr>
      <vt:lpstr>웹 접근성</vt:lpstr>
      <vt:lpstr>반응형 웹 디자인</vt:lpstr>
      <vt:lpstr>서버 사이드   : Back-End</vt:lpstr>
      <vt:lpstr>서버 사이드</vt:lpstr>
      <vt:lpstr>서버 사이드 스크립트 언어</vt:lpstr>
      <vt:lpstr>JSP(Java Server Page)</vt:lpstr>
      <vt:lpstr>JSP(Java Server Page)</vt:lpstr>
      <vt:lpstr>JSP의 동작 원리</vt:lpstr>
      <vt:lpstr>JSP 기본 문법(1/2)</vt:lpstr>
      <vt:lpstr>JSP 기본 문법(2/2)</vt:lpstr>
      <vt:lpstr>클라이언트 사이드   : Front-end</vt:lpstr>
      <vt:lpstr>클라이언트 사이드</vt:lpstr>
      <vt:lpstr>클라이언트 사이드 스크립트 언어</vt:lpstr>
      <vt:lpstr>HTML5 소개</vt:lpstr>
      <vt:lpstr>HTML5의 특징</vt:lpstr>
      <vt:lpstr>HTML5 사이트</vt:lpstr>
      <vt:lpstr>웹앱</vt:lpstr>
      <vt:lpstr>네이티브앱 (모바일앱)</vt:lpstr>
      <vt:lpstr>모바일웹</vt:lpstr>
      <vt:lpstr>하이브리드앱</vt:lpstr>
      <vt:lpstr>개발 환경 구축</vt:lpstr>
      <vt:lpstr>개발 환경 구축 순서</vt:lpstr>
      <vt:lpstr>Apache Tomcat 설치하기 (1/7)</vt:lpstr>
      <vt:lpstr>Apache Tomcat 설치하기 (2/7)</vt:lpstr>
      <vt:lpstr>Apache Tomcat 설치하기 (3/7)</vt:lpstr>
      <vt:lpstr>Apache Tomcat 설치하기 (4/7)</vt:lpstr>
      <vt:lpstr>Apache Tomcat 설치하기 (5/7)</vt:lpstr>
      <vt:lpstr>Apache Tomcat 설치하기 (6/7)</vt:lpstr>
      <vt:lpstr>Apache Tomcat 설치하기 (7/7)</vt:lpstr>
      <vt:lpstr>Eclipse EE 설치하기</vt:lpstr>
      <vt:lpstr>Eclipse와 Tomcat 연동하기 (1/7)</vt:lpstr>
      <vt:lpstr>Eclipse와 Tomcat 연동하기 (2/7)</vt:lpstr>
      <vt:lpstr>Eclipse와 Tomcat 연동하기 (3/7)</vt:lpstr>
      <vt:lpstr>Eclipse와 Tomcat 연동하기 (4/7)</vt:lpstr>
      <vt:lpstr>Eclipse와 Tomcat 연동하기 (5/7)</vt:lpstr>
      <vt:lpstr>Eclipse와 Tomcat 연동하기 (6/7)</vt:lpstr>
      <vt:lpstr>Eclipse와 Tomcat 연동하기 (7/7)</vt:lpstr>
      <vt:lpstr>JSP 예제 (1/7)</vt:lpstr>
      <vt:lpstr>JSP 예제 (2/7)</vt:lpstr>
      <vt:lpstr>JSP 예제 (3/7)</vt:lpstr>
      <vt:lpstr>JSP 예제 (4/7)</vt:lpstr>
      <vt:lpstr>JSP 예제 (5/7)</vt:lpstr>
      <vt:lpstr>JSP 예제 (6/7)</vt:lpstr>
      <vt:lpstr>JSP 예제 (7/7)</vt:lpstr>
      <vt:lpstr>이번 주 미션!</vt:lpstr>
      <vt:lpstr>이번 주 미션! - 참고자료</vt:lpstr>
    </vt:vector>
  </TitlesOfParts>
  <Company>kjwkor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컴퓨터공학실험(I) 강의 소개</dc:title>
  <dc:creator>임경업</dc:creator>
  <cp:lastModifiedBy>Windows 사용자</cp:lastModifiedBy>
  <cp:revision>451</cp:revision>
  <dcterms:created xsi:type="dcterms:W3CDTF">2006-02-28T13:36:48Z</dcterms:created>
  <dcterms:modified xsi:type="dcterms:W3CDTF">2018-04-06T05:16:28Z</dcterms:modified>
</cp:coreProperties>
</file>