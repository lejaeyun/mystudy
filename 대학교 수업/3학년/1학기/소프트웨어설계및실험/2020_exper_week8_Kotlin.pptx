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handoutMasterIdLst>
    <p:handoutMasterId r:id="rId12"/>
  </p:handoutMasterIdLst>
  <p:sldIdLst>
    <p:sldId id="256" r:id="rId2"/>
    <p:sldId id="257" r:id="rId3"/>
    <p:sldId id="258" r:id="rId4"/>
    <p:sldId id="268" r:id="rId5"/>
    <p:sldId id="269" r:id="rId6"/>
    <p:sldId id="271" r:id="rId7"/>
    <p:sldId id="270" r:id="rId8"/>
    <p:sldId id="272" r:id="rId9"/>
    <p:sldId id="273" r:id="rId10"/>
    <p:sldId id="27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25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82BFB1-86BC-4EFD-AFD5-9E00472ABCD5}" type="datetimeFigureOut">
              <a:rPr lang="ko-KR" altLang="en-US" smtClean="0"/>
              <a:t>2020-05-06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B596B0-94FB-447C-819A-F75CC43CC2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29567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5/6/2020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5/6/2020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5/6/2020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5/6/2020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인용문 있는 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참 또는 거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5/6/2020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txStyles>
    <p:titleStyle>
      <a:lvl1pPr algn="l" defTabSz="457200" rtl="0" eaLnBrk="1" latinLnBrk="1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thdev.tech/kotlin/2016/08/04/Kotlin-Null-Safety/" TargetMode="External"/><Relationship Id="rId2" Type="http://schemas.openxmlformats.org/officeDocument/2006/relationships/hyperlink" Target="https://medium.com/@sket8993/android-%ED%94%84%EB%A1%9C%EC%A0%9D%ED%8A%B8%EC%97%90-%EC%BD%94%ED%8B%80%EB%A6%B0%EC%9D%84-%EB%8F%84%EC%9E%85%ED%95%98%EA%B8%B0-%EC%A0%84-%EC%95%8C%EC%95%84%EB%91%90%EB%A9%B4-%EC%A2%8B%EC%9D%84-5%EA%B0%80%EC%A7%80-d8e95076e04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tourspace.tistory.com/64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320842" y="2404534"/>
            <a:ext cx="8953161" cy="1646302"/>
          </a:xfrm>
        </p:spPr>
        <p:txBody>
          <a:bodyPr/>
          <a:lstStyle/>
          <a:p>
            <a:r>
              <a:rPr lang="ko-KR" altLang="en-US" sz="4800" b="1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컴퓨터 소프트웨어</a:t>
            </a:r>
            <a:r>
              <a:rPr lang="en-US" altLang="ko-KR" sz="4800" b="1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/>
            </a:r>
            <a:br>
              <a:rPr lang="en-US" altLang="ko-KR" sz="4800" b="1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</a:br>
            <a:r>
              <a:rPr lang="ko-KR" altLang="en-US" sz="4800" b="1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설계 및 실험</a:t>
            </a:r>
            <a:endParaRPr lang="ko-KR" altLang="en-US" sz="4800" b="1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b="1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2018</a:t>
            </a:r>
            <a:r>
              <a:rPr lang="ko-KR" altLang="en-US" b="1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년 </a:t>
            </a:r>
            <a:r>
              <a:rPr lang="en-US" altLang="ko-KR" b="1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1</a:t>
            </a:r>
            <a:r>
              <a:rPr lang="ko-KR" altLang="en-US" b="1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학기 실험계획</a:t>
            </a:r>
            <a:endParaRPr lang="ko-KR" altLang="en-US" b="1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69464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err="1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Kotlin</a:t>
            </a:r>
            <a:r>
              <a:rPr lang="ko-KR" altLang="en-US" b="1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이란</a:t>
            </a:r>
            <a:r>
              <a:rPr lang="en-US" altLang="ko-KR" b="1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?</a:t>
            </a:r>
            <a:endParaRPr lang="ko-KR" altLang="en-US" b="1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77334" y="1799642"/>
            <a:ext cx="8596668" cy="3880773"/>
          </a:xfrm>
        </p:spPr>
        <p:txBody>
          <a:bodyPr>
            <a:normAutofit/>
          </a:bodyPr>
          <a:lstStyle/>
          <a:p>
            <a:r>
              <a:rPr lang="en-US" altLang="ko-KR" sz="2400" dirty="0" smtClean="0">
                <a:latin typeface="+mj-ea"/>
                <a:ea typeface="+mj-ea"/>
                <a:cs typeface="함초롬바탕" panose="02030504000101010101" pitchFamily="18" charset="-127"/>
              </a:rPr>
              <a:t>2017</a:t>
            </a:r>
            <a:r>
              <a:rPr lang="ko-KR" altLang="en-US" sz="2400" dirty="0" smtClean="0">
                <a:latin typeface="+mj-ea"/>
                <a:ea typeface="+mj-ea"/>
                <a:cs typeface="함초롬바탕" panose="02030504000101010101" pitchFamily="18" charset="-127"/>
              </a:rPr>
              <a:t>년 구글 </a:t>
            </a:r>
            <a:r>
              <a:rPr lang="en-US" altLang="ko-KR" sz="2400" dirty="0" smtClean="0">
                <a:latin typeface="+mj-ea"/>
                <a:ea typeface="+mj-ea"/>
                <a:cs typeface="함초롬바탕" panose="02030504000101010101" pitchFamily="18" charset="-127"/>
              </a:rPr>
              <a:t>I/O</a:t>
            </a:r>
            <a:r>
              <a:rPr lang="ko-KR" altLang="en-US" sz="2400" dirty="0" smtClean="0">
                <a:latin typeface="+mj-ea"/>
                <a:ea typeface="+mj-ea"/>
                <a:cs typeface="함초롬바탕" panose="02030504000101010101" pitchFamily="18" charset="-127"/>
              </a:rPr>
              <a:t>에서 </a:t>
            </a:r>
            <a:r>
              <a:rPr lang="en-US" altLang="ko-KR" sz="2400" dirty="0" err="1" smtClean="0">
                <a:latin typeface="+mj-ea"/>
                <a:ea typeface="+mj-ea"/>
                <a:cs typeface="함초롬바탕" panose="02030504000101010101" pitchFamily="18" charset="-127"/>
              </a:rPr>
              <a:t>Kotlin</a:t>
            </a:r>
            <a:r>
              <a:rPr lang="ko-KR" altLang="en-US" sz="2400" dirty="0" smtClean="0">
                <a:latin typeface="+mj-ea"/>
                <a:ea typeface="+mj-ea"/>
                <a:cs typeface="함초롬바탕" panose="02030504000101010101" pitchFamily="18" charset="-127"/>
              </a:rPr>
              <a:t>을 공식 언어로 지정</a:t>
            </a:r>
            <a:endParaRPr lang="en-US" altLang="ko-KR" sz="2400" dirty="0" smtClean="0">
              <a:latin typeface="+mj-ea"/>
              <a:ea typeface="+mj-ea"/>
              <a:cs typeface="함초롬바탕" panose="02030504000101010101" pitchFamily="18" charset="-127"/>
            </a:endParaRPr>
          </a:p>
          <a:p>
            <a:endParaRPr lang="en-US" altLang="ko-KR" sz="2400" dirty="0">
              <a:latin typeface="+mj-ea"/>
              <a:ea typeface="+mj-ea"/>
              <a:cs typeface="함초롬바탕" panose="02030504000101010101" pitchFamily="18" charset="-127"/>
            </a:endParaRPr>
          </a:p>
          <a:p>
            <a:r>
              <a:rPr lang="en-US" altLang="ko-KR" sz="2400" dirty="0" smtClean="0">
                <a:latin typeface="+mj-ea"/>
                <a:ea typeface="+mj-ea"/>
                <a:cs typeface="함초롬바탕" panose="02030504000101010101" pitchFamily="18" charset="-127"/>
              </a:rPr>
              <a:t>2019</a:t>
            </a:r>
            <a:r>
              <a:rPr lang="ko-KR" altLang="en-US" sz="2400" dirty="0" smtClean="0">
                <a:latin typeface="+mj-ea"/>
                <a:ea typeface="+mj-ea"/>
                <a:cs typeface="함초롬바탕" panose="02030504000101010101" pitchFamily="18" charset="-127"/>
              </a:rPr>
              <a:t>년부터 구글에서 만드는 라이브러리들은 </a:t>
            </a:r>
            <a:r>
              <a:rPr lang="en-US" altLang="ko-KR" sz="2400" dirty="0" err="1" smtClean="0">
                <a:latin typeface="+mj-ea"/>
                <a:ea typeface="+mj-ea"/>
                <a:cs typeface="함초롬바탕" panose="02030504000101010101" pitchFamily="18" charset="-127"/>
              </a:rPr>
              <a:t>Kotlin</a:t>
            </a:r>
            <a:r>
              <a:rPr lang="ko-KR" altLang="en-US" sz="2400" dirty="0" smtClean="0">
                <a:latin typeface="+mj-ea"/>
                <a:ea typeface="+mj-ea"/>
                <a:cs typeface="함초롬바탕" panose="02030504000101010101" pitchFamily="18" charset="-127"/>
              </a:rPr>
              <a:t>으로 배포될 것을 발표</a:t>
            </a:r>
            <a:endParaRPr lang="en-US" altLang="ko-KR" sz="2400" dirty="0" smtClean="0">
              <a:latin typeface="+mj-ea"/>
              <a:ea typeface="+mj-ea"/>
              <a:cs typeface="함초롬바탕" panose="02030504000101010101" pitchFamily="18" charset="-127"/>
            </a:endParaRPr>
          </a:p>
          <a:p>
            <a:endParaRPr lang="en-US" altLang="ko-KR" sz="2400" dirty="0">
              <a:latin typeface="+mj-ea"/>
              <a:ea typeface="+mj-ea"/>
              <a:cs typeface="함초롬바탕" panose="02030504000101010101" pitchFamily="18" charset="-127"/>
            </a:endParaRPr>
          </a:p>
          <a:p>
            <a:r>
              <a:rPr lang="en-US" altLang="ko-KR" sz="2400" dirty="0" smtClean="0">
                <a:latin typeface="+mj-ea"/>
                <a:ea typeface="+mj-ea"/>
                <a:cs typeface="함초롬바탕" panose="02030504000101010101" pitchFamily="18" charset="-127"/>
              </a:rPr>
              <a:t>JVM, Android</a:t>
            </a:r>
            <a:r>
              <a:rPr lang="ko-KR" altLang="en-US" sz="2400" dirty="0" smtClean="0">
                <a:latin typeface="+mj-ea"/>
                <a:ea typeface="+mj-ea"/>
                <a:cs typeface="함초롬바탕" panose="02030504000101010101" pitchFamily="18" charset="-127"/>
              </a:rPr>
              <a:t>를 위한 정적 타입의 프로그래밍 언어</a:t>
            </a:r>
            <a:endParaRPr lang="en-US" altLang="ko-KR" sz="2400" dirty="0" smtClean="0">
              <a:latin typeface="+mj-ea"/>
              <a:ea typeface="+mj-ea"/>
              <a:cs typeface="함초롬바탕" panose="02030504000101010101" pitchFamily="18" charset="-127"/>
            </a:endParaRPr>
          </a:p>
          <a:p>
            <a:endParaRPr lang="en-US" altLang="ko-KR" sz="2400" dirty="0">
              <a:latin typeface="+mj-ea"/>
              <a:ea typeface="+mj-ea"/>
              <a:cs typeface="함초롬바탕" panose="02030504000101010101" pitchFamily="18" charset="-127"/>
            </a:endParaRPr>
          </a:p>
          <a:p>
            <a:endParaRPr lang="ko-KR" altLang="en-US" sz="2400" dirty="0">
              <a:latin typeface="+mj-ea"/>
              <a:ea typeface="+mj-ea"/>
              <a:cs typeface="함초롬바탕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34488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err="1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Kotlin</a:t>
            </a:r>
            <a:r>
              <a:rPr lang="ko-KR" altLang="en-US" b="1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의 장점</a:t>
            </a:r>
            <a:endParaRPr lang="ko-KR" altLang="en-US" b="1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3880773"/>
          </a:xfrm>
        </p:spPr>
        <p:txBody>
          <a:bodyPr>
            <a:normAutofit/>
          </a:bodyPr>
          <a:lstStyle/>
          <a:p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Null </a:t>
            </a:r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안정성 </a:t>
            </a: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– Type System</a:t>
            </a:r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에 </a:t>
            </a: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Null </a:t>
            </a:r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안정성에 대한 기능이 내장되면서 컴파일러가 </a:t>
            </a: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null</a:t>
            </a:r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에</a:t>
            </a: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대한 확인을 강제하도록 함</a:t>
            </a:r>
            <a:endParaRPr lang="en-US" altLang="ko-KR" dirty="0" smtClean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endParaRPr lang="en-US" altLang="ko-KR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기반 코드를 생성해주는 </a:t>
            </a:r>
            <a:r>
              <a:rPr lang="ko-KR" altLang="en-US" dirty="0" err="1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방싱으로</a:t>
            </a: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, </a:t>
            </a:r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함수형 언어 기능</a:t>
            </a:r>
            <a:endParaRPr lang="en-US" altLang="ko-KR" dirty="0" smtClean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endParaRPr lang="en-US" altLang="ko-KR" dirty="0" smtClean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간결하고 간결한 코드 방식으로 </a:t>
            </a:r>
            <a:r>
              <a:rPr lang="ko-KR" altLang="en-US" dirty="0" err="1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가독성이</a:t>
            </a:r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 높음</a:t>
            </a:r>
            <a:endParaRPr lang="en-US" altLang="ko-KR" dirty="0" smtClean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1787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Null </a:t>
            </a:r>
            <a:r>
              <a:rPr lang="ko-KR" altLang="en-US" b="1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안정성</a:t>
            </a:r>
            <a:endParaRPr lang="ko-KR" altLang="en-US" b="1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3880773"/>
          </a:xfrm>
        </p:spPr>
        <p:txBody>
          <a:bodyPr>
            <a:normAutofit/>
          </a:bodyPr>
          <a:lstStyle/>
          <a:p>
            <a:r>
              <a:rPr lang="ko-KR" altLang="en-US" dirty="0" smtClean="0">
                <a:latin typeface="+mj-ea"/>
                <a:ea typeface="+mj-ea"/>
                <a:cs typeface="함초롬바탕" panose="02030504000101010101" pitchFamily="18" charset="-127"/>
              </a:rPr>
              <a:t>변수에 </a:t>
            </a:r>
            <a:r>
              <a:rPr lang="en-US" altLang="ko-KR" dirty="0" smtClean="0">
                <a:latin typeface="+mj-ea"/>
                <a:ea typeface="+mj-ea"/>
                <a:cs typeface="함초롬바탕" panose="02030504000101010101" pitchFamily="18" charset="-127"/>
              </a:rPr>
              <a:t>‘?’</a:t>
            </a:r>
            <a:r>
              <a:rPr lang="ko-KR" altLang="en-US" dirty="0" smtClean="0">
                <a:latin typeface="+mj-ea"/>
                <a:ea typeface="+mj-ea"/>
                <a:cs typeface="함초롬바탕" panose="02030504000101010101" pitchFamily="18" charset="-127"/>
              </a:rPr>
              <a:t>를 붙이면 </a:t>
            </a:r>
            <a:r>
              <a:rPr lang="en-US" altLang="ko-KR" dirty="0" err="1" smtClean="0">
                <a:latin typeface="+mj-ea"/>
                <a:ea typeface="+mj-ea"/>
                <a:cs typeface="함초롬바탕" panose="02030504000101010101" pitchFamily="18" charset="-127"/>
              </a:rPr>
              <a:t>nullable</a:t>
            </a:r>
            <a:r>
              <a:rPr lang="en-US" altLang="ko-KR" dirty="0" smtClean="0">
                <a:latin typeface="+mj-ea"/>
                <a:ea typeface="+mj-ea"/>
                <a:cs typeface="함초롬바탕" panose="02030504000101010101" pitchFamily="18" charset="-127"/>
              </a:rPr>
              <a:t> </a:t>
            </a:r>
            <a:r>
              <a:rPr lang="ko-KR" altLang="en-US" dirty="0" smtClean="0">
                <a:latin typeface="+mj-ea"/>
                <a:ea typeface="+mj-ea"/>
                <a:cs typeface="함초롬바탕" panose="02030504000101010101" pitchFamily="18" charset="-127"/>
              </a:rPr>
              <a:t>변수가 됨</a:t>
            </a:r>
            <a:endParaRPr lang="en-US" altLang="ko-KR" dirty="0" smtClean="0">
              <a:latin typeface="+mj-ea"/>
              <a:ea typeface="+mj-ea"/>
              <a:cs typeface="함초롬바탕" panose="02030504000101010101" pitchFamily="18" charset="-127"/>
            </a:endParaRPr>
          </a:p>
          <a:p>
            <a:endParaRPr lang="en-US" altLang="ko-KR" dirty="0">
              <a:latin typeface="+mj-ea"/>
              <a:ea typeface="+mj-ea"/>
              <a:cs typeface="함초롬바탕" panose="02030504000101010101" pitchFamily="18" charset="-127"/>
            </a:endParaRPr>
          </a:p>
          <a:p>
            <a:r>
              <a:rPr lang="ko-KR" altLang="en-US" dirty="0" smtClean="0">
                <a:latin typeface="+mj-ea"/>
                <a:ea typeface="+mj-ea"/>
                <a:cs typeface="함초롬바탕" panose="02030504000101010101" pitchFamily="18" charset="-127"/>
              </a:rPr>
              <a:t>물음표가 없다면 해당 변수는 </a:t>
            </a:r>
            <a:r>
              <a:rPr lang="en-US" altLang="ko-KR" dirty="0" smtClean="0">
                <a:latin typeface="+mj-ea"/>
                <a:ea typeface="+mj-ea"/>
                <a:cs typeface="함초롬바탕" panose="02030504000101010101" pitchFamily="18" charset="-127"/>
              </a:rPr>
              <a:t>null </a:t>
            </a:r>
            <a:r>
              <a:rPr lang="ko-KR" altLang="en-US" dirty="0" smtClean="0">
                <a:latin typeface="+mj-ea"/>
                <a:ea typeface="+mj-ea"/>
                <a:cs typeface="함초롬바탕" panose="02030504000101010101" pitchFamily="18" charset="-127"/>
              </a:rPr>
              <a:t>값이 될 수 없음</a:t>
            </a:r>
            <a:endParaRPr lang="en-US" altLang="ko-KR" dirty="0" smtClean="0">
              <a:latin typeface="+mj-ea"/>
              <a:ea typeface="+mj-ea"/>
              <a:cs typeface="함초롬바탕" panose="02030504000101010101" pitchFamily="18" charset="-127"/>
            </a:endParaRPr>
          </a:p>
          <a:p>
            <a:endParaRPr lang="en-US" altLang="ko-KR" dirty="0">
              <a:latin typeface="+mj-ea"/>
              <a:ea typeface="+mj-ea"/>
              <a:cs typeface="함초롬바탕" panose="02030504000101010101" pitchFamily="18" charset="-127"/>
            </a:endParaRPr>
          </a:p>
          <a:p>
            <a:r>
              <a:rPr lang="en-US" altLang="ko-KR" dirty="0" smtClean="0">
                <a:latin typeface="+mj-ea"/>
                <a:ea typeface="+mj-ea"/>
                <a:cs typeface="함초롬바탕" panose="02030504000101010101" pitchFamily="18" charset="-127"/>
              </a:rPr>
              <a:t>Null </a:t>
            </a:r>
            <a:r>
              <a:rPr lang="ko-KR" altLang="en-US" dirty="0" smtClean="0">
                <a:latin typeface="+mj-ea"/>
                <a:ea typeface="+mj-ea"/>
                <a:cs typeface="함초롬바탕" panose="02030504000101010101" pitchFamily="18" charset="-127"/>
              </a:rPr>
              <a:t>안정성 </a:t>
            </a:r>
            <a:r>
              <a:rPr lang="en-US" altLang="ko-KR" dirty="0" smtClean="0">
                <a:latin typeface="+mj-ea"/>
                <a:ea typeface="+mj-ea"/>
                <a:cs typeface="함초롬바탕" panose="02030504000101010101" pitchFamily="18" charset="-127"/>
              </a:rPr>
              <a:t>operator</a:t>
            </a:r>
            <a:r>
              <a:rPr lang="ko-KR" altLang="en-US" dirty="0" smtClean="0">
                <a:latin typeface="+mj-ea"/>
                <a:ea typeface="+mj-ea"/>
                <a:cs typeface="함초롬바탕" panose="02030504000101010101" pitchFamily="18" charset="-127"/>
              </a:rPr>
              <a:t>를 이용하여 </a:t>
            </a:r>
            <a:r>
              <a:rPr lang="en-US" altLang="ko-KR" dirty="0" smtClean="0">
                <a:latin typeface="+mj-ea"/>
                <a:ea typeface="+mj-ea"/>
                <a:cs typeface="함초롬바탕" panose="02030504000101010101" pitchFamily="18" charset="-127"/>
              </a:rPr>
              <a:t>null</a:t>
            </a:r>
            <a:r>
              <a:rPr lang="ko-KR" altLang="en-US" dirty="0" smtClean="0">
                <a:latin typeface="+mj-ea"/>
                <a:ea typeface="+mj-ea"/>
                <a:cs typeface="함초롬바탕" panose="02030504000101010101" pitchFamily="18" charset="-127"/>
              </a:rPr>
              <a:t>의 안전 범위를 지정할 수 있음</a:t>
            </a:r>
            <a:endParaRPr lang="en-US" altLang="ko-KR" dirty="0" smtClean="0">
              <a:latin typeface="+mj-ea"/>
              <a:ea typeface="+mj-ea"/>
              <a:cs typeface="함초롬바탕" panose="02030504000101010101" pitchFamily="18" charset="-127"/>
            </a:endParaRPr>
          </a:p>
          <a:p>
            <a:endParaRPr lang="en-US" altLang="ko-KR" dirty="0">
              <a:latin typeface="+mj-ea"/>
              <a:ea typeface="+mj-ea"/>
              <a:cs typeface="함초롬바탕" panose="02030504000101010101" pitchFamily="18" charset="-127"/>
            </a:endParaRPr>
          </a:p>
          <a:p>
            <a:pPr marL="0" indent="0">
              <a:buNone/>
            </a:pPr>
            <a:r>
              <a:rPr lang="en-US" altLang="ko-KR" dirty="0" err="1" smtClean="0">
                <a:latin typeface="+mj-ea"/>
                <a:ea typeface="+mj-ea"/>
                <a:cs typeface="함초롬바탕" panose="02030504000101010101" pitchFamily="18" charset="-127"/>
              </a:rPr>
              <a:t>Var</a:t>
            </a:r>
            <a:r>
              <a:rPr lang="en-US" altLang="ko-KR" dirty="0" smtClean="0">
                <a:latin typeface="+mj-ea"/>
                <a:ea typeface="+mj-ea"/>
                <a:cs typeface="함초롬바탕" panose="02030504000101010101" pitchFamily="18" charset="-127"/>
              </a:rPr>
              <a:t> </a:t>
            </a:r>
            <a:r>
              <a:rPr lang="en-US" altLang="ko-KR" dirty="0" err="1" smtClean="0">
                <a:latin typeface="+mj-ea"/>
                <a:ea typeface="+mj-ea"/>
                <a:cs typeface="함초롬바탕" panose="02030504000101010101" pitchFamily="18" charset="-127"/>
              </a:rPr>
              <a:t>maybeString</a:t>
            </a:r>
            <a:r>
              <a:rPr lang="en-US" altLang="ko-KR" dirty="0" smtClean="0">
                <a:latin typeface="+mj-ea"/>
                <a:ea typeface="+mj-ea"/>
                <a:cs typeface="함초롬바탕" panose="02030504000101010101" pitchFamily="18" charset="-127"/>
              </a:rPr>
              <a:t>: String? = “Hello </a:t>
            </a:r>
            <a:r>
              <a:rPr lang="en-US" altLang="ko-KR" dirty="0" err="1" smtClean="0">
                <a:latin typeface="+mj-ea"/>
                <a:ea typeface="+mj-ea"/>
                <a:cs typeface="함초롬바탕" panose="02030504000101010101" pitchFamily="18" charset="-127"/>
              </a:rPr>
              <a:t>Kotlin</a:t>
            </a:r>
            <a:r>
              <a:rPr lang="en-US" altLang="ko-KR" dirty="0" smtClean="0">
                <a:latin typeface="+mj-ea"/>
                <a:ea typeface="+mj-ea"/>
                <a:cs typeface="함초롬바탕" panose="02030504000101010101" pitchFamily="18" charset="-127"/>
              </a:rPr>
              <a:t>”</a:t>
            </a:r>
          </a:p>
          <a:p>
            <a:pPr marL="0" indent="0">
              <a:buNone/>
            </a:pPr>
            <a:endParaRPr lang="en-US" altLang="ko-KR" dirty="0" smtClean="0">
              <a:latin typeface="+mj-ea"/>
              <a:ea typeface="+mj-ea"/>
              <a:cs typeface="함초롬바탕" panose="02030504000101010101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820487" y="530352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432262" y="5242013"/>
            <a:ext cx="4414058" cy="43083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15235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smtClean="0">
                <a:ln>
                  <a:noFill/>
                </a:ln>
                <a:solidFill>
                  <a:srgbClr val="22B3EB"/>
                </a:solidFill>
                <a:effectLst/>
                <a:latin typeface="Arial Unicode MS"/>
                <a:ea typeface="Courier New" panose="02070309020205020404" pitchFamily="49" charset="0"/>
              </a:rPr>
              <a:t>public</a:t>
            </a:r>
            <a:r>
              <a:rPr kumimoji="0" lang="ko-KR" altLang="ko-KR" sz="1000" b="0" i="0" u="none" strike="noStrike" cap="none" normalizeH="0" baseline="0" smtClean="0">
                <a:ln>
                  <a:noFill/>
                </a:ln>
                <a:solidFill>
                  <a:srgbClr val="606669"/>
                </a:solidFill>
                <a:effectLst/>
                <a:latin typeface="Arial Unicode MS"/>
                <a:ea typeface="Courier New" panose="02070309020205020404" pitchFamily="49" charset="0"/>
              </a:rPr>
              <a:t> </a:t>
            </a:r>
            <a:r>
              <a:rPr kumimoji="0" lang="ko-KR" altLang="ko-KR" sz="1000" b="0" i="0" u="none" strike="noStrike" cap="none" normalizeH="0" baseline="0" smtClean="0">
                <a:ln>
                  <a:noFill/>
                </a:ln>
                <a:solidFill>
                  <a:srgbClr val="DC322F"/>
                </a:solidFill>
                <a:effectLst/>
                <a:latin typeface="Arial Unicode MS"/>
                <a:ea typeface="Courier New" panose="02070309020205020404" pitchFamily="49" charset="0"/>
              </a:rPr>
              <a:t>void</a:t>
            </a:r>
            <a:r>
              <a:rPr kumimoji="0" lang="ko-KR" altLang="ko-KR" sz="1000" b="0" i="0" u="none" strike="noStrike" cap="none" normalizeH="0" baseline="0" smtClean="0">
                <a:ln>
                  <a:noFill/>
                </a:ln>
                <a:solidFill>
                  <a:srgbClr val="606669"/>
                </a:solidFill>
                <a:effectLst/>
                <a:latin typeface="Arial Unicode MS"/>
                <a:ea typeface="Courier New" panose="02070309020205020404" pitchFamily="49" charset="0"/>
              </a:rPr>
              <a:t> </a:t>
            </a:r>
            <a:r>
              <a:rPr kumimoji="0" lang="ko-KR" altLang="ko-KR" sz="1000" b="0" i="0" u="none" strike="noStrike" cap="none" normalizeH="0" baseline="0" smtClean="0">
                <a:ln>
                  <a:noFill/>
                </a:ln>
                <a:solidFill>
                  <a:srgbClr val="22B3EB"/>
                </a:solidFill>
                <a:effectLst/>
                <a:latin typeface="Arial Unicode MS"/>
                <a:ea typeface="Courier New" panose="02070309020205020404" pitchFamily="49" charset="0"/>
              </a:rPr>
              <a:t>set</a:t>
            </a: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rgbClr val="859900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ko-KR" altLang="ko-KR" sz="1000" b="0" i="0" u="none" strike="noStrike" cap="none" normalizeH="0" baseline="0" smtClean="0">
                <a:ln>
                  <a:noFill/>
                </a:ln>
                <a:solidFill>
                  <a:srgbClr val="22B3EB"/>
                </a:solidFill>
                <a:effectLst/>
                <a:latin typeface="Arial Unicode MS"/>
                <a:ea typeface="Courier New" panose="02070309020205020404" pitchFamily="49" charset="0"/>
              </a:rPr>
              <a:t>@NotNull</a:t>
            </a:r>
            <a:r>
              <a:rPr kumimoji="0" lang="ko-KR" altLang="ko-KR" sz="1000" b="0" i="0" u="none" strike="noStrike" cap="none" normalizeH="0" baseline="0" smtClean="0">
                <a:ln>
                  <a:noFill/>
                </a:ln>
                <a:solidFill>
                  <a:srgbClr val="606669"/>
                </a:solidFill>
                <a:effectLst/>
                <a:latin typeface="Arial Unicode MS"/>
                <a:ea typeface="Courier New" panose="02070309020205020404" pitchFamily="49" charset="0"/>
              </a:rPr>
              <a:t> </a:t>
            </a:r>
            <a:r>
              <a:rPr kumimoji="0" lang="ko-KR" altLang="ko-KR" sz="1000" b="0" i="0" u="none" strike="noStrike" cap="none" normalizeH="0" baseline="0" smtClean="0">
                <a:ln>
                  <a:noFill/>
                </a:ln>
                <a:solidFill>
                  <a:srgbClr val="22B3EB"/>
                </a:solidFill>
                <a:effectLst/>
                <a:latin typeface="Arial Unicode MS"/>
                <a:ea typeface="Courier New" panose="02070309020205020404" pitchFamily="49" charset="0"/>
              </a:rPr>
              <a:t>String</a:t>
            </a:r>
            <a:r>
              <a:rPr kumimoji="0" lang="ko-KR" altLang="ko-KR" sz="1000" b="0" i="0" u="none" strike="noStrike" cap="none" normalizeH="0" baseline="0" smtClean="0">
                <a:ln>
                  <a:noFill/>
                </a:ln>
                <a:solidFill>
                  <a:srgbClr val="606669"/>
                </a:solidFill>
                <a:effectLst/>
                <a:latin typeface="Arial Unicode MS"/>
                <a:ea typeface="Courier New" panose="02070309020205020404" pitchFamily="49" charset="0"/>
              </a:rPr>
              <a:t> </a:t>
            </a:r>
            <a:r>
              <a:rPr kumimoji="0" lang="ko-KR" altLang="ko-KR" sz="1200" b="0" i="0" u="none" strike="noStrike" cap="none" normalizeH="0" baseline="0" smtClean="0">
                <a:ln>
                  <a:noFill/>
                </a:ln>
                <a:solidFill>
                  <a:srgbClr val="586E75"/>
                </a:solidFill>
                <a:effectLst/>
                <a:latin typeface="Arial" panose="020B0604020202020204" pitchFamily="34" charset="0"/>
              </a:rPr>
              <a:t>a</a:t>
            </a: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rgbClr val="859900"/>
                </a:solidFill>
                <a:effectLst/>
                <a:latin typeface="Arial" panose="020B0604020202020204" pitchFamily="34" charset="0"/>
              </a:rPr>
              <a:t>,</a:t>
            </a:r>
            <a:r>
              <a:rPr kumimoji="0" lang="ko-KR" altLang="ko-KR" sz="1000" b="0" i="0" u="none" strike="noStrike" cap="none" normalizeH="0" baseline="0" smtClean="0">
                <a:ln>
                  <a:noFill/>
                </a:ln>
                <a:solidFill>
                  <a:srgbClr val="606669"/>
                </a:solidFill>
                <a:effectLst/>
                <a:latin typeface="Arial Unicode MS"/>
                <a:ea typeface="Courier New" panose="02070309020205020404" pitchFamily="49" charset="0"/>
              </a:rPr>
              <a:t> </a:t>
            </a:r>
            <a:r>
              <a:rPr kumimoji="0" lang="ko-KR" altLang="ko-KR" sz="1000" b="0" i="0" u="none" strike="noStrike" cap="none" normalizeH="0" baseline="0" smtClean="0">
                <a:ln>
                  <a:noFill/>
                </a:ln>
                <a:solidFill>
                  <a:srgbClr val="22B3EB"/>
                </a:solidFill>
                <a:effectLst/>
                <a:latin typeface="Arial Unicode MS"/>
                <a:ea typeface="Courier New" panose="02070309020205020404" pitchFamily="49" charset="0"/>
              </a:rPr>
              <a:t>@Nullable</a:t>
            </a:r>
            <a:r>
              <a:rPr kumimoji="0" lang="ko-KR" altLang="ko-KR" sz="1000" b="0" i="0" u="none" strike="noStrike" cap="none" normalizeH="0" baseline="0" smtClean="0">
                <a:ln>
                  <a:noFill/>
                </a:ln>
                <a:solidFill>
                  <a:srgbClr val="606669"/>
                </a:solidFill>
                <a:effectLst/>
                <a:latin typeface="Arial Unicode MS"/>
                <a:ea typeface="Courier New" panose="02070309020205020404" pitchFamily="49" charset="0"/>
              </a:rPr>
              <a:t> </a:t>
            </a:r>
            <a:r>
              <a:rPr kumimoji="0" lang="ko-KR" altLang="ko-KR" sz="1000" b="0" i="0" u="none" strike="noStrike" cap="none" normalizeH="0" baseline="0" smtClean="0">
                <a:ln>
                  <a:noFill/>
                </a:ln>
                <a:solidFill>
                  <a:srgbClr val="22B3EB"/>
                </a:solidFill>
                <a:effectLst/>
                <a:latin typeface="Arial Unicode MS"/>
                <a:ea typeface="Courier New" panose="02070309020205020404" pitchFamily="49" charset="0"/>
              </a:rPr>
              <a:t>String</a:t>
            </a:r>
            <a:r>
              <a:rPr kumimoji="0" lang="ko-KR" altLang="ko-KR" sz="1000" b="0" i="0" u="none" strike="noStrike" cap="none" normalizeH="0" baseline="0" smtClean="0">
                <a:ln>
                  <a:noFill/>
                </a:ln>
                <a:solidFill>
                  <a:srgbClr val="606669"/>
                </a:solidFill>
                <a:effectLst/>
                <a:latin typeface="Arial Unicode MS"/>
                <a:ea typeface="Courier New" panose="02070309020205020404" pitchFamily="49" charset="0"/>
              </a:rPr>
              <a:t> </a:t>
            </a:r>
            <a:r>
              <a:rPr kumimoji="0" lang="ko-KR" altLang="ko-KR" sz="1200" b="0" i="0" u="none" strike="noStrike" cap="none" normalizeH="0" baseline="0" smtClean="0">
                <a:ln>
                  <a:noFill/>
                </a:ln>
                <a:solidFill>
                  <a:srgbClr val="586E75"/>
                </a:solidFill>
                <a:effectLst/>
                <a:latin typeface="Arial" panose="020B0604020202020204" pitchFamily="34" charset="0"/>
              </a:rPr>
              <a:t>b</a:t>
            </a: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rgbClr val="859900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ko-KR" altLang="ko-KR" sz="1000" b="0" i="0" u="none" strike="noStrike" cap="none" normalizeH="0" baseline="0" smtClean="0">
                <a:ln>
                  <a:noFill/>
                </a:ln>
                <a:solidFill>
                  <a:srgbClr val="606669"/>
                </a:solidFill>
                <a:effectLst/>
                <a:latin typeface="Arial Unicode MS"/>
                <a:ea typeface="Courier New" panose="02070309020205020404" pitchFamily="49" charset="0"/>
              </a:rPr>
              <a:t> </a:t>
            </a: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rgbClr val="859900"/>
                </a:solidFill>
                <a:effectLst/>
                <a:latin typeface="Arial" panose="020B0604020202020204" pitchFamily="34" charset="0"/>
              </a:rPr>
              <a:t>{</a:t>
            </a:r>
            <a:r>
              <a:rPr kumimoji="0" lang="ko-KR" altLang="ko-KR" sz="1000" b="0" i="0" u="none" strike="noStrike" cap="none" normalizeH="0" baseline="0" smtClean="0">
                <a:ln>
                  <a:noFill/>
                </a:ln>
                <a:solidFill>
                  <a:srgbClr val="606669"/>
                </a:solidFill>
                <a:effectLst/>
                <a:latin typeface="Arial Unicode MS"/>
                <a:ea typeface="Courier New" panose="02070309020205020404" pitchFamily="49" charset="0"/>
              </a:rPr>
              <a:t> </a:t>
            </a:r>
            <a:r>
              <a:rPr kumimoji="0" lang="ko-KR" altLang="ko-KR" sz="1000" b="0" i="0" u="none" strike="noStrike" cap="none" normalizeH="0" baseline="0" smtClean="0">
                <a:ln>
                  <a:noFill/>
                </a:ln>
                <a:solidFill>
                  <a:srgbClr val="93A1A1"/>
                </a:solidFill>
                <a:effectLst/>
                <a:latin typeface="Arial Unicode MS"/>
                <a:ea typeface="Courier New" panose="02070309020205020404" pitchFamily="49" charset="0"/>
              </a:rPr>
              <a:t>// Do noting</a:t>
            </a:r>
            <a:r>
              <a:rPr kumimoji="0" lang="ko-KR" altLang="ko-KR" sz="1000" b="0" i="0" u="none" strike="noStrike" cap="none" normalizeH="0" baseline="0" smtClean="0">
                <a:ln>
                  <a:noFill/>
                </a:ln>
                <a:solidFill>
                  <a:srgbClr val="606669"/>
                </a:solidFill>
                <a:effectLst/>
                <a:latin typeface="Arial Unicode MS"/>
                <a:ea typeface="Courier New" panose="02070309020205020404" pitchFamily="49" charset="0"/>
              </a:rPr>
              <a:t> </a:t>
            </a: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rgbClr val="859900"/>
                </a:solidFill>
                <a:effectLst/>
                <a:latin typeface="Arial" panose="020B0604020202020204" pitchFamily="34" charset="0"/>
              </a:rPr>
              <a:t>}</a:t>
            </a:r>
            <a:r>
              <a:rPr kumimoji="0" lang="ko-KR" altLang="ko-KR" sz="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507971" y="6159731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  </a:t>
            </a:r>
            <a:endParaRPr lang="ko-KR" altLang="en-US" dirty="0"/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5383646" y="5242012"/>
            <a:ext cx="3890356" cy="43083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15235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smtClean="0">
                <a:ln>
                  <a:noFill/>
                </a:ln>
                <a:solidFill>
                  <a:srgbClr val="586E75"/>
                </a:solidFill>
                <a:effectLst/>
                <a:latin typeface="Arial" panose="020B0604020202020204" pitchFamily="34" charset="0"/>
              </a:rPr>
              <a:t>fun</a:t>
            </a:r>
            <a:r>
              <a:rPr kumimoji="0" lang="ko-KR" altLang="ko-KR" sz="1000" b="0" i="0" u="none" strike="noStrike" cap="none" normalizeH="0" baseline="0" smtClean="0">
                <a:ln>
                  <a:noFill/>
                </a:ln>
                <a:solidFill>
                  <a:srgbClr val="60666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ko-KR" altLang="ko-KR" sz="1000" b="0" i="0" u="none" strike="noStrike" cap="none" normalizeH="0" baseline="0" smtClean="0">
                <a:ln>
                  <a:noFill/>
                </a:ln>
                <a:solidFill>
                  <a:srgbClr val="22B3E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rgbClr val="859900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ko-KR" altLang="ko-KR" sz="1000" b="0" i="0" u="none" strike="noStrike" cap="none" normalizeH="0" baseline="0" smtClean="0">
                <a:ln>
                  <a:noFill/>
                </a:ln>
                <a:solidFill>
                  <a:srgbClr val="586E7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a:</a:t>
            </a:r>
            <a:r>
              <a:rPr kumimoji="0" lang="ko-KR" altLang="ko-KR" sz="1000" b="0" i="0" u="none" strike="noStrike" cap="none" normalizeH="0" baseline="0" smtClean="0">
                <a:ln>
                  <a:noFill/>
                </a:ln>
                <a:solidFill>
                  <a:srgbClr val="60666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ko-KR" altLang="ko-KR" sz="1000" b="0" i="0" u="none" strike="noStrike" cap="none" normalizeH="0" baseline="0" smtClean="0">
                <a:ln>
                  <a:noFill/>
                </a:ln>
                <a:solidFill>
                  <a:srgbClr val="22B3E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rgbClr val="859900"/>
                </a:solidFill>
                <a:effectLst/>
                <a:latin typeface="Arial" panose="020B0604020202020204" pitchFamily="34" charset="0"/>
              </a:rPr>
              <a:t>,</a:t>
            </a:r>
            <a:r>
              <a:rPr kumimoji="0" lang="ko-KR" altLang="ko-KR" sz="1000" b="0" i="0" u="none" strike="noStrike" cap="none" normalizeH="0" baseline="0" smtClean="0">
                <a:ln>
                  <a:noFill/>
                </a:ln>
                <a:solidFill>
                  <a:srgbClr val="60666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ko-KR" altLang="ko-KR" sz="1000" b="0" i="0" u="none" strike="noStrike" cap="none" normalizeH="0" baseline="0" smtClean="0">
                <a:ln>
                  <a:noFill/>
                </a:ln>
                <a:solidFill>
                  <a:srgbClr val="586E7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b:</a:t>
            </a:r>
            <a:r>
              <a:rPr kumimoji="0" lang="ko-KR" altLang="ko-KR" sz="1000" b="0" i="0" u="none" strike="noStrike" cap="none" normalizeH="0" baseline="0" smtClean="0">
                <a:ln>
                  <a:noFill/>
                </a:ln>
                <a:solidFill>
                  <a:srgbClr val="60666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ko-KR" altLang="ko-KR" sz="1000" b="0" i="0" u="none" strike="noStrike" cap="none" normalizeH="0" baseline="0" smtClean="0">
                <a:ln>
                  <a:noFill/>
                </a:ln>
                <a:solidFill>
                  <a:srgbClr val="22B3E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rgbClr val="859900"/>
                </a:solidFill>
                <a:effectLst/>
                <a:latin typeface="Arial" panose="020B0604020202020204" pitchFamily="34" charset="0"/>
              </a:rPr>
              <a:t>?)</a:t>
            </a:r>
            <a:r>
              <a:rPr kumimoji="0" lang="ko-KR" altLang="ko-KR" sz="1000" b="0" i="0" u="none" strike="noStrike" cap="none" normalizeH="0" baseline="0" smtClean="0">
                <a:ln>
                  <a:noFill/>
                </a:ln>
                <a:solidFill>
                  <a:srgbClr val="60666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rgbClr val="859900"/>
                </a:solidFill>
                <a:effectLst/>
                <a:latin typeface="Arial" panose="020B0604020202020204" pitchFamily="34" charset="0"/>
              </a:rPr>
              <a:t>{</a:t>
            </a:r>
            <a:r>
              <a:rPr kumimoji="0" lang="ko-KR" altLang="ko-KR" sz="1000" b="0" i="0" u="none" strike="noStrike" cap="none" normalizeH="0" baseline="0" smtClean="0">
                <a:ln>
                  <a:noFill/>
                </a:ln>
                <a:solidFill>
                  <a:srgbClr val="60666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ko-KR" altLang="ko-KR" sz="1000" b="0" i="0" u="none" strike="noStrike" cap="none" normalizeH="0" baseline="0" smtClean="0">
                <a:ln>
                  <a:noFill/>
                </a:ln>
                <a:solidFill>
                  <a:srgbClr val="93A1A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Do noting</a:t>
            </a:r>
            <a:r>
              <a:rPr kumimoji="0" lang="ko-KR" altLang="ko-KR" sz="1000" b="0" i="0" u="none" strike="noStrike" cap="none" normalizeH="0" baseline="0" smtClean="0">
                <a:ln>
                  <a:noFill/>
                </a:ln>
                <a:solidFill>
                  <a:srgbClr val="60666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rgbClr val="859900"/>
                </a:solidFill>
                <a:effectLst/>
                <a:latin typeface="Arial" panose="020B0604020202020204" pitchFamily="34" charset="0"/>
              </a:rPr>
              <a:t>}</a:t>
            </a:r>
            <a:r>
              <a:rPr kumimoji="0" lang="ko-KR" altLang="ko-KR" sz="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ko-KR" altLang="ko-KR" sz="1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3765665" y="6159731"/>
            <a:ext cx="2701636" cy="3077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15235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smtClean="0">
                <a:ln>
                  <a:noFill/>
                </a:ln>
                <a:solidFill>
                  <a:srgbClr val="60666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@NotNull String a -&gt; a: String</a:t>
            </a:r>
            <a:r>
              <a:rPr kumimoji="0" lang="ko-KR" altLang="ko-KR" sz="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9385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Null </a:t>
            </a:r>
            <a:r>
              <a:rPr lang="ko-KR" altLang="en-US" b="1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안정성</a:t>
            </a:r>
            <a:r>
              <a:rPr lang="en-US" altLang="ko-KR" b="1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2</a:t>
            </a:r>
            <a:endParaRPr lang="ko-KR" altLang="en-US" b="1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5469" y="1887911"/>
            <a:ext cx="3530863" cy="3033559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3296" y="2269446"/>
            <a:ext cx="3419475" cy="204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532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기본 문법 </a:t>
            </a:r>
            <a:r>
              <a:rPr lang="en-US" altLang="ko-KR" b="1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- </a:t>
            </a:r>
            <a:r>
              <a:rPr lang="ko-KR" altLang="en-US" b="1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변수</a:t>
            </a:r>
            <a:endParaRPr lang="ko-KR" altLang="en-US" b="1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4536902"/>
          </a:xfrm>
        </p:spPr>
        <p:txBody>
          <a:bodyPr>
            <a:normAutofit/>
          </a:bodyPr>
          <a:lstStyle/>
          <a:p>
            <a:r>
              <a:rPr lang="en-US" altLang="ko-KR" dirty="0" err="1" smtClean="0">
                <a:latin typeface="+mj-ea"/>
                <a:ea typeface="+mj-ea"/>
                <a:cs typeface="함초롬바탕" panose="02030504000101010101" pitchFamily="18" charset="-127"/>
              </a:rPr>
              <a:t>Kotlin</a:t>
            </a:r>
            <a:r>
              <a:rPr lang="ko-KR" altLang="en-US" dirty="0" smtClean="0">
                <a:latin typeface="+mj-ea"/>
                <a:ea typeface="+mj-ea"/>
                <a:cs typeface="함초롬바탕" panose="02030504000101010101" pitchFamily="18" charset="-127"/>
              </a:rPr>
              <a:t>의 변수는 반드시 </a:t>
            </a:r>
            <a:r>
              <a:rPr lang="en-US" altLang="ko-KR" dirty="0" smtClean="0">
                <a:latin typeface="+mj-ea"/>
                <a:ea typeface="+mj-ea"/>
                <a:cs typeface="함초롬바탕" panose="02030504000101010101" pitchFamily="18" charset="-127"/>
              </a:rPr>
              <a:t>‘</a:t>
            </a:r>
            <a:r>
              <a:rPr lang="en-US" altLang="ko-KR" dirty="0" err="1" smtClean="0">
                <a:latin typeface="+mj-ea"/>
                <a:ea typeface="+mj-ea"/>
                <a:cs typeface="함초롬바탕" panose="02030504000101010101" pitchFamily="18" charset="-127"/>
              </a:rPr>
              <a:t>val</a:t>
            </a:r>
            <a:r>
              <a:rPr lang="en-US" altLang="ko-KR" dirty="0" smtClean="0">
                <a:latin typeface="+mj-ea"/>
                <a:ea typeface="+mj-ea"/>
                <a:cs typeface="함초롬바탕" panose="02030504000101010101" pitchFamily="18" charset="-127"/>
              </a:rPr>
              <a:t>’ </a:t>
            </a:r>
            <a:r>
              <a:rPr lang="ko-KR" altLang="en-US" dirty="0" smtClean="0">
                <a:latin typeface="+mj-ea"/>
                <a:ea typeface="+mj-ea"/>
                <a:cs typeface="함초롬바탕" panose="02030504000101010101" pitchFamily="18" charset="-127"/>
              </a:rPr>
              <a:t>또는 </a:t>
            </a:r>
            <a:r>
              <a:rPr lang="en-US" altLang="ko-KR" dirty="0" smtClean="0">
                <a:latin typeface="+mj-ea"/>
                <a:ea typeface="+mj-ea"/>
                <a:cs typeface="함초롬바탕" panose="02030504000101010101" pitchFamily="18" charset="-127"/>
              </a:rPr>
              <a:t>‘</a:t>
            </a:r>
            <a:r>
              <a:rPr lang="en-US" altLang="ko-KR" dirty="0" err="1" smtClean="0">
                <a:latin typeface="+mj-ea"/>
                <a:ea typeface="+mj-ea"/>
                <a:cs typeface="함초롬바탕" panose="02030504000101010101" pitchFamily="18" charset="-127"/>
              </a:rPr>
              <a:t>var</a:t>
            </a:r>
            <a:r>
              <a:rPr lang="en-US" altLang="ko-KR" dirty="0" smtClean="0">
                <a:latin typeface="+mj-ea"/>
                <a:ea typeface="+mj-ea"/>
                <a:cs typeface="함초롬바탕" panose="02030504000101010101" pitchFamily="18" charset="-127"/>
              </a:rPr>
              <a:t>’</a:t>
            </a:r>
            <a:r>
              <a:rPr lang="ko-KR" altLang="en-US" dirty="0" smtClean="0">
                <a:latin typeface="+mj-ea"/>
                <a:ea typeface="+mj-ea"/>
                <a:cs typeface="함초롬바탕" panose="02030504000101010101" pitchFamily="18" charset="-127"/>
              </a:rPr>
              <a:t>로 시작해야 함</a:t>
            </a:r>
            <a:endParaRPr lang="en-US" altLang="ko-KR" dirty="0" smtClean="0">
              <a:latin typeface="+mj-ea"/>
              <a:ea typeface="+mj-ea"/>
              <a:cs typeface="함초롬바탕" panose="02030504000101010101" pitchFamily="18" charset="-127"/>
            </a:endParaRPr>
          </a:p>
          <a:p>
            <a:endParaRPr lang="en-US" altLang="ko-KR" dirty="0" smtClean="0">
              <a:latin typeface="+mj-ea"/>
              <a:ea typeface="+mj-ea"/>
              <a:cs typeface="함초롬바탕" panose="02030504000101010101" pitchFamily="18" charset="-127"/>
            </a:endParaRPr>
          </a:p>
          <a:p>
            <a:r>
              <a:rPr lang="en-US" altLang="ko-KR" dirty="0" smtClean="0">
                <a:latin typeface="+mj-ea"/>
                <a:ea typeface="+mj-ea"/>
                <a:cs typeface="함초롬바탕" panose="02030504000101010101" pitchFamily="18" charset="-127"/>
              </a:rPr>
              <a:t>Val: immutable type, </a:t>
            </a:r>
            <a:r>
              <a:rPr lang="en-US" altLang="ko-KR" dirty="0" err="1" smtClean="0">
                <a:latin typeface="+mj-ea"/>
                <a:ea typeface="+mj-ea"/>
                <a:cs typeface="함초롬바탕" panose="02030504000101010101" pitchFamily="18" charset="-127"/>
              </a:rPr>
              <a:t>Var</a:t>
            </a:r>
            <a:r>
              <a:rPr lang="en-US" altLang="ko-KR" dirty="0" smtClean="0">
                <a:latin typeface="+mj-ea"/>
                <a:ea typeface="+mj-ea"/>
                <a:cs typeface="함초롬바탕" panose="02030504000101010101" pitchFamily="18" charset="-127"/>
              </a:rPr>
              <a:t>: mutable type</a:t>
            </a:r>
          </a:p>
          <a:p>
            <a:endParaRPr lang="en-US" altLang="ko-KR" dirty="0" smtClean="0">
              <a:latin typeface="+mj-ea"/>
              <a:ea typeface="+mj-ea"/>
              <a:cs typeface="함초롬바탕" panose="02030504000101010101" pitchFamily="18" charset="-127"/>
            </a:endParaRPr>
          </a:p>
          <a:p>
            <a:r>
              <a:rPr lang="en-US" altLang="ko-KR" dirty="0" smtClean="0">
                <a:latin typeface="+mj-ea"/>
                <a:ea typeface="+mj-ea"/>
                <a:cs typeface="함초롬바탕" panose="02030504000101010101" pitchFamily="18" charset="-127"/>
              </a:rPr>
              <a:t>Val</a:t>
            </a:r>
            <a:r>
              <a:rPr lang="ko-KR" altLang="en-US" dirty="0" smtClean="0">
                <a:latin typeface="+mj-ea"/>
                <a:ea typeface="+mj-ea"/>
                <a:cs typeface="함초롬바탕" panose="02030504000101010101" pitchFamily="18" charset="-127"/>
              </a:rPr>
              <a:t>은 </a:t>
            </a:r>
            <a:r>
              <a:rPr lang="en-US" altLang="ko-KR" dirty="0" smtClean="0">
                <a:latin typeface="+mj-ea"/>
                <a:ea typeface="+mj-ea"/>
                <a:cs typeface="함초롬바탕" panose="02030504000101010101" pitchFamily="18" charset="-127"/>
              </a:rPr>
              <a:t>Java</a:t>
            </a:r>
            <a:r>
              <a:rPr lang="ko-KR" altLang="en-US" dirty="0" smtClean="0">
                <a:latin typeface="+mj-ea"/>
                <a:ea typeface="+mj-ea"/>
                <a:cs typeface="함초롬바탕" panose="02030504000101010101" pitchFamily="18" charset="-127"/>
              </a:rPr>
              <a:t>의 </a:t>
            </a:r>
            <a:r>
              <a:rPr lang="en-US" altLang="ko-KR" dirty="0" smtClean="0">
                <a:latin typeface="+mj-ea"/>
                <a:ea typeface="+mj-ea"/>
                <a:cs typeface="함초롬바탕" panose="02030504000101010101" pitchFamily="18" charset="-127"/>
              </a:rPr>
              <a:t>final </a:t>
            </a:r>
            <a:r>
              <a:rPr lang="ko-KR" altLang="en-US" dirty="0" smtClean="0">
                <a:latin typeface="+mj-ea"/>
                <a:ea typeface="+mj-ea"/>
                <a:cs typeface="함초롬바탕" panose="02030504000101010101" pitchFamily="18" charset="-127"/>
              </a:rPr>
              <a:t>키워드와 같음</a:t>
            </a:r>
            <a:endParaRPr lang="en-US" altLang="ko-KR" dirty="0" smtClean="0">
              <a:latin typeface="+mj-ea"/>
              <a:ea typeface="+mj-ea"/>
              <a:cs typeface="함초롬바탕" panose="02030504000101010101" pitchFamily="18" charset="-127"/>
            </a:endParaRPr>
          </a:p>
          <a:p>
            <a:endParaRPr lang="en-US" altLang="ko-KR" dirty="0">
              <a:latin typeface="+mj-ea"/>
              <a:ea typeface="+mj-ea"/>
              <a:cs typeface="함초롬바탕" panose="02030504000101010101" pitchFamily="18" charset="-127"/>
            </a:endParaRPr>
          </a:p>
          <a:p>
            <a:r>
              <a:rPr lang="en-US" altLang="ko-KR" dirty="0" smtClean="0">
                <a:latin typeface="+mj-ea"/>
                <a:ea typeface="+mj-ea"/>
                <a:cs typeface="함초롬바탕" panose="02030504000101010101" pitchFamily="18" charset="-127"/>
              </a:rPr>
              <a:t>$ </a:t>
            </a:r>
            <a:r>
              <a:rPr lang="ko-KR" altLang="en-US" dirty="0" smtClean="0">
                <a:latin typeface="+mj-ea"/>
                <a:ea typeface="+mj-ea"/>
                <a:cs typeface="함초롬바탕" panose="02030504000101010101" pitchFamily="18" charset="-127"/>
              </a:rPr>
              <a:t>기호를</a:t>
            </a:r>
            <a:r>
              <a:rPr lang="en-US" altLang="ko-KR" dirty="0" smtClean="0">
                <a:latin typeface="+mj-ea"/>
                <a:ea typeface="+mj-ea"/>
                <a:cs typeface="함초롬바탕" panose="02030504000101010101" pitchFamily="18" charset="-127"/>
              </a:rPr>
              <a:t> </a:t>
            </a:r>
            <a:r>
              <a:rPr lang="ko-KR" altLang="en-US" dirty="0" smtClean="0">
                <a:latin typeface="+mj-ea"/>
                <a:ea typeface="+mj-ea"/>
                <a:cs typeface="함초롬바탕" panose="02030504000101010101" pitchFamily="18" charset="-127"/>
              </a:rPr>
              <a:t>통해서 문자 조합 가능</a:t>
            </a:r>
            <a:endParaRPr lang="en-US" altLang="ko-KR" dirty="0" smtClean="0">
              <a:latin typeface="+mj-ea"/>
              <a:ea typeface="+mj-ea"/>
              <a:cs typeface="함초롬바탕" panose="02030504000101010101" pitchFamily="18" charset="-127"/>
            </a:endParaRPr>
          </a:p>
          <a:p>
            <a:pPr marL="0" indent="0">
              <a:buNone/>
            </a:pPr>
            <a:endParaRPr lang="en-US" altLang="ko-KR" dirty="0" smtClean="0">
              <a:latin typeface="+mj-ea"/>
              <a:ea typeface="+mj-ea"/>
              <a:cs typeface="함초롬바탕" panose="02030504000101010101" pitchFamily="18" charset="-127"/>
            </a:endParaRPr>
          </a:p>
          <a:p>
            <a:pPr marL="0" indent="0">
              <a:buNone/>
            </a:pPr>
            <a:r>
              <a:rPr lang="en-US" altLang="ko-KR" dirty="0" err="1" smtClean="0">
                <a:latin typeface="+mj-ea"/>
                <a:ea typeface="+mj-ea"/>
                <a:cs typeface="함초롬바탕" panose="02030504000101010101" pitchFamily="18" charset="-127"/>
              </a:rPr>
              <a:t>var</a:t>
            </a:r>
            <a:r>
              <a:rPr lang="en-US" altLang="ko-KR" dirty="0" smtClean="0">
                <a:latin typeface="+mj-ea"/>
                <a:ea typeface="+mj-ea"/>
                <a:cs typeface="함초롬바탕" panose="02030504000101010101" pitchFamily="18" charset="-127"/>
              </a:rPr>
              <a:t> name = ‘</a:t>
            </a:r>
            <a:r>
              <a:rPr lang="en-US" altLang="ko-KR" dirty="0" err="1" smtClean="0">
                <a:latin typeface="+mj-ea"/>
                <a:ea typeface="+mj-ea"/>
                <a:cs typeface="함초롬바탕" panose="02030504000101010101" pitchFamily="18" charset="-127"/>
              </a:rPr>
              <a:t>gil</a:t>
            </a:r>
            <a:r>
              <a:rPr lang="en-US" altLang="ko-KR" dirty="0" smtClean="0">
                <a:latin typeface="+mj-ea"/>
                <a:ea typeface="+mj-ea"/>
                <a:cs typeface="함초롬바탕" panose="02030504000101010101" pitchFamily="18" charset="-127"/>
              </a:rPr>
              <a:t>-dong’ </a:t>
            </a:r>
          </a:p>
          <a:p>
            <a:pPr marL="0" indent="0">
              <a:buNone/>
            </a:pPr>
            <a:r>
              <a:rPr lang="en-US" altLang="ko-KR" dirty="0" err="1" smtClean="0">
                <a:latin typeface="+mj-ea"/>
                <a:ea typeface="+mj-ea"/>
                <a:cs typeface="함초롬바탕" panose="02030504000101010101" pitchFamily="18" charset="-127"/>
              </a:rPr>
              <a:t>println</a:t>
            </a:r>
            <a:r>
              <a:rPr lang="en-US" altLang="ko-KR" dirty="0" smtClean="0">
                <a:latin typeface="+mj-ea"/>
                <a:ea typeface="+mj-ea"/>
                <a:cs typeface="함초롬바탕" panose="02030504000101010101" pitchFamily="18" charset="-127"/>
              </a:rPr>
              <a:t>(“hello $name”)</a:t>
            </a:r>
          </a:p>
          <a:p>
            <a:endParaRPr lang="en-US" altLang="ko-KR" dirty="0" smtClean="0">
              <a:latin typeface="+mj-ea"/>
              <a:ea typeface="+mj-ea"/>
              <a:cs typeface="함초롬바탕" panose="02030504000101010101" pitchFamily="18" charset="-127"/>
            </a:endParaRPr>
          </a:p>
          <a:p>
            <a:endParaRPr lang="en-US" altLang="ko-KR" dirty="0">
              <a:latin typeface="+mj-ea"/>
              <a:ea typeface="+mj-ea"/>
              <a:cs typeface="함초롬바탕" panose="02030504000101010101" pitchFamily="18" charset="-127"/>
            </a:endParaRPr>
          </a:p>
          <a:p>
            <a:endParaRPr lang="en-US" altLang="ko-KR" dirty="0" smtClean="0">
              <a:latin typeface="+mj-ea"/>
              <a:ea typeface="+mj-ea"/>
              <a:cs typeface="함초롬바탕" panose="02030504000101010101" pitchFamily="18" charset="-127"/>
            </a:endParaRPr>
          </a:p>
          <a:p>
            <a:endParaRPr lang="en-US" altLang="ko-KR" dirty="0">
              <a:latin typeface="+mj-ea"/>
              <a:ea typeface="+mj-ea"/>
              <a:cs typeface="함초롬바탕" panose="02030504000101010101" pitchFamily="18" charset="-127"/>
            </a:endParaRPr>
          </a:p>
          <a:p>
            <a:endParaRPr lang="en-US" altLang="ko-KR" dirty="0" smtClean="0">
              <a:latin typeface="+mj-ea"/>
              <a:ea typeface="+mj-ea"/>
              <a:cs typeface="함초롬바탕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71180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기본 문법 </a:t>
            </a:r>
            <a:r>
              <a:rPr lang="en-US" altLang="ko-KR" b="1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-</a:t>
            </a:r>
            <a:r>
              <a:rPr lang="ko-KR" altLang="en-US" b="1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함수</a:t>
            </a:r>
            <a:endParaRPr lang="ko-KR" altLang="en-US" b="1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3880773"/>
          </a:xfrm>
        </p:spPr>
        <p:txBody>
          <a:bodyPr>
            <a:normAutofit/>
          </a:bodyPr>
          <a:lstStyle/>
          <a:p>
            <a:r>
              <a:rPr lang="en-US" altLang="ko-KR" dirty="0" smtClean="0">
                <a:latin typeface="+mj-ea"/>
                <a:ea typeface="+mj-ea"/>
                <a:cs typeface="함초롬바탕" panose="02030504000101010101" pitchFamily="18" charset="-127"/>
              </a:rPr>
              <a:t>fun: </a:t>
            </a:r>
            <a:r>
              <a:rPr lang="ko-KR" altLang="en-US" dirty="0" smtClean="0">
                <a:latin typeface="+mj-ea"/>
                <a:ea typeface="+mj-ea"/>
                <a:cs typeface="함초롬바탕" panose="02030504000101010101" pitchFamily="18" charset="-127"/>
              </a:rPr>
              <a:t>함수</a:t>
            </a:r>
            <a:r>
              <a:rPr lang="en-US" altLang="ko-KR" dirty="0" smtClean="0">
                <a:latin typeface="+mj-ea"/>
                <a:ea typeface="+mj-ea"/>
                <a:cs typeface="함초롬바탕" panose="02030504000101010101" pitchFamily="18" charset="-127"/>
              </a:rPr>
              <a:t>(function)</a:t>
            </a:r>
            <a:r>
              <a:rPr lang="ko-KR" altLang="en-US" dirty="0" smtClean="0">
                <a:latin typeface="+mj-ea"/>
                <a:ea typeface="+mj-ea"/>
                <a:cs typeface="함초롬바탕" panose="02030504000101010101" pitchFamily="18" charset="-127"/>
              </a:rPr>
              <a:t>을 정의하기 위한 키워드</a:t>
            </a:r>
            <a:endParaRPr lang="en-US" altLang="ko-KR" dirty="0" smtClean="0">
              <a:latin typeface="+mj-ea"/>
              <a:ea typeface="+mj-ea"/>
              <a:cs typeface="함초롬바탕" panose="02030504000101010101" pitchFamily="18" charset="-127"/>
            </a:endParaRPr>
          </a:p>
          <a:p>
            <a:r>
              <a:rPr lang="en-US" altLang="ko-KR" dirty="0" smtClean="0">
                <a:latin typeface="+mj-ea"/>
                <a:ea typeface="+mj-ea"/>
                <a:cs typeface="함초롬바탕" panose="02030504000101010101" pitchFamily="18" charset="-127"/>
              </a:rPr>
              <a:t>main: </a:t>
            </a:r>
            <a:r>
              <a:rPr lang="ko-KR" altLang="en-US" dirty="0" err="1" smtClean="0">
                <a:latin typeface="+mj-ea"/>
                <a:ea typeface="+mj-ea"/>
                <a:cs typeface="함초롬바탕" panose="02030504000101010101" pitchFamily="18" charset="-127"/>
              </a:rPr>
              <a:t>함수명</a:t>
            </a:r>
            <a:endParaRPr lang="en-US" altLang="ko-KR" dirty="0" smtClean="0">
              <a:latin typeface="+mj-ea"/>
              <a:ea typeface="+mj-ea"/>
              <a:cs typeface="함초롬바탕" panose="02030504000101010101" pitchFamily="18" charset="-127"/>
            </a:endParaRPr>
          </a:p>
          <a:p>
            <a:r>
              <a:rPr lang="ko-KR" altLang="en-US" dirty="0" err="1" smtClean="0">
                <a:latin typeface="+mj-ea"/>
                <a:ea typeface="+mj-ea"/>
                <a:cs typeface="함초롬바탕" panose="02030504000101010101" pitchFamily="18" charset="-127"/>
              </a:rPr>
              <a:t>매개변수명</a:t>
            </a:r>
            <a:r>
              <a:rPr lang="en-US" altLang="ko-KR" dirty="0" smtClean="0">
                <a:latin typeface="+mj-ea"/>
                <a:ea typeface="+mj-ea"/>
                <a:cs typeface="함초롬바탕" panose="02030504000101010101" pitchFamily="18" charset="-127"/>
              </a:rPr>
              <a:t>: </a:t>
            </a:r>
            <a:r>
              <a:rPr lang="ko-KR" altLang="en-US" dirty="0" smtClean="0">
                <a:latin typeface="+mj-ea"/>
                <a:ea typeface="+mj-ea"/>
                <a:cs typeface="함초롬바탕" panose="02030504000101010101" pitchFamily="18" charset="-127"/>
              </a:rPr>
              <a:t>매개변수 형식</a:t>
            </a:r>
            <a:r>
              <a:rPr lang="en-US" altLang="ko-KR" dirty="0" smtClean="0">
                <a:latin typeface="+mj-ea"/>
                <a:ea typeface="+mj-ea"/>
                <a:cs typeface="함초롬바탕" panose="02030504000101010101" pitchFamily="18" charset="-127"/>
              </a:rPr>
              <a:t>(ex. age: </a:t>
            </a:r>
            <a:r>
              <a:rPr lang="en-US" altLang="ko-KR" dirty="0" err="1" smtClean="0">
                <a:latin typeface="+mj-ea"/>
                <a:ea typeface="+mj-ea"/>
                <a:cs typeface="함초롬바탕" panose="02030504000101010101" pitchFamily="18" charset="-127"/>
              </a:rPr>
              <a:t>int</a:t>
            </a:r>
            <a:r>
              <a:rPr lang="en-US" altLang="ko-KR" dirty="0" smtClean="0">
                <a:latin typeface="+mj-ea"/>
                <a:ea typeface="+mj-ea"/>
                <a:cs typeface="함초롬바탕" panose="02030504000101010101" pitchFamily="18" charset="-127"/>
              </a:rPr>
              <a:t>)</a:t>
            </a:r>
          </a:p>
          <a:p>
            <a:endParaRPr lang="en-US" altLang="ko-KR" dirty="0" smtClean="0">
              <a:latin typeface="+mj-ea"/>
              <a:ea typeface="+mj-ea"/>
              <a:cs typeface="함초롬바탕" panose="02030504000101010101" pitchFamily="18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3914" y="4296698"/>
            <a:ext cx="4467225" cy="151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629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기존 안드로이드 코드와의 차이</a:t>
            </a:r>
            <a:endParaRPr lang="ko-KR" altLang="en-US" b="1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3880773"/>
          </a:xfrm>
        </p:spPr>
        <p:txBody>
          <a:bodyPr>
            <a:normAutofit/>
          </a:bodyPr>
          <a:lstStyle/>
          <a:p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자바의 객체지향성으로 인해 많이 사용되었던 </a:t>
            </a: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get()/set()</a:t>
            </a:r>
            <a:r>
              <a:rPr lang="ko-KR" altLang="en-US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의 사용이 없어짐</a:t>
            </a:r>
            <a:endParaRPr lang="en-US" altLang="ko-KR" dirty="0" smtClean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endParaRPr lang="en-US" altLang="ko-KR" dirty="0" smtClean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091" y="3034990"/>
            <a:ext cx="8653463" cy="748304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540" y="4409298"/>
            <a:ext cx="8272462" cy="470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468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err="1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findViewbyId</a:t>
            </a:r>
            <a:endParaRPr lang="ko-KR" altLang="en-US" b="1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87350" y="3369353"/>
            <a:ext cx="4976633" cy="140442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3374" y="1769214"/>
            <a:ext cx="4184587" cy="1300681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9212" y="5073239"/>
            <a:ext cx="4212908" cy="1396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732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참고 링크</a:t>
            </a:r>
            <a:endParaRPr lang="ko-KR" altLang="en-US" b="1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77334" y="1786467"/>
            <a:ext cx="8596668" cy="3880773"/>
          </a:xfrm>
        </p:spPr>
        <p:txBody>
          <a:bodyPr>
            <a:normAutofit fontScale="92500" lnSpcReduction="20000"/>
          </a:bodyPr>
          <a:lstStyle/>
          <a:p>
            <a:r>
              <a:rPr lang="ko-KR" altLang="en-US" dirty="0" err="1" smtClean="0">
                <a:latin typeface="+mj-ea"/>
                <a:ea typeface="+mj-ea"/>
                <a:hlinkClick r:id="rId2"/>
              </a:rPr>
              <a:t>코틀린에서</a:t>
            </a:r>
            <a:r>
              <a:rPr lang="ko-KR" altLang="en-US" dirty="0" smtClean="0">
                <a:latin typeface="+mj-ea"/>
                <a:ea typeface="+mj-ea"/>
                <a:hlinkClick r:id="rId2"/>
              </a:rPr>
              <a:t> 미리 알아두면 좋을 </a:t>
            </a:r>
            <a:r>
              <a:rPr lang="en-US" altLang="ko-KR" dirty="0" smtClean="0">
                <a:latin typeface="+mj-ea"/>
                <a:ea typeface="+mj-ea"/>
                <a:hlinkClick r:id="rId2"/>
              </a:rPr>
              <a:t>5</a:t>
            </a:r>
            <a:r>
              <a:rPr lang="ko-KR" altLang="en-US" dirty="0" smtClean="0">
                <a:latin typeface="+mj-ea"/>
                <a:ea typeface="+mj-ea"/>
                <a:hlinkClick r:id="rId2"/>
              </a:rPr>
              <a:t>가지</a:t>
            </a:r>
            <a:endParaRPr lang="en-US" altLang="ko-KR" dirty="0" smtClean="0">
              <a:latin typeface="+mj-ea"/>
              <a:ea typeface="+mj-ea"/>
              <a:hlinkClick r:id="rId2"/>
            </a:endParaRPr>
          </a:p>
          <a:p>
            <a:pPr marL="0" indent="0">
              <a:buNone/>
            </a:pPr>
            <a:r>
              <a:rPr lang="en-US" altLang="ko-KR" dirty="0" smtClean="0">
                <a:latin typeface="+mj-ea"/>
                <a:ea typeface="+mj-ea"/>
                <a:hlinkClick r:id="rId2"/>
              </a:rPr>
              <a:t>https</a:t>
            </a:r>
            <a:r>
              <a:rPr lang="en-US" altLang="ko-KR" dirty="0">
                <a:latin typeface="+mj-ea"/>
                <a:ea typeface="+mj-ea"/>
                <a:hlinkClick r:id="rId2"/>
              </a:rPr>
              <a:t>://medium.com/@sket8993/android-%ED%94%84%EB%A1%9C%EC%A0%9D%ED%8A%B8%EC%97%90-%EC%BD%94%ED%8B%80%EB%A6%B0%EC%9D%84-%EB%8F%84%EC%9E%85%ED%95%98%EA%B8%B0-%EC%A0%84-%EC%95%8C%EC%95%84%EB%91%90%EB%A9%B4-%</a:t>
            </a:r>
            <a:r>
              <a:rPr lang="en-US" altLang="ko-KR" dirty="0" smtClean="0">
                <a:latin typeface="+mj-ea"/>
                <a:ea typeface="+mj-ea"/>
                <a:hlinkClick r:id="rId2"/>
              </a:rPr>
              <a:t>EC%A2%8B%EC%9D%84-5%EA%B0%80%EC%A7%80-d8e95076e04</a:t>
            </a:r>
            <a:endParaRPr lang="en-US" altLang="ko-KR" dirty="0" smtClean="0">
              <a:latin typeface="+mj-ea"/>
              <a:ea typeface="+mj-ea"/>
            </a:endParaRPr>
          </a:p>
          <a:p>
            <a:endParaRPr lang="en-US" altLang="ko-KR" dirty="0">
              <a:latin typeface="+mj-ea"/>
              <a:ea typeface="+mj-ea"/>
              <a:cs typeface="함초롬바탕" panose="02030504000101010101" pitchFamily="18" charset="-127"/>
            </a:endParaRPr>
          </a:p>
          <a:p>
            <a:r>
              <a:rPr lang="ko-KR" altLang="en-US" dirty="0" err="1" smtClean="0">
                <a:latin typeface="+mj-ea"/>
                <a:ea typeface="+mj-ea"/>
                <a:hlinkClick r:id="rId3"/>
              </a:rPr>
              <a:t>코틀린</a:t>
            </a:r>
            <a:r>
              <a:rPr lang="ko-KR" altLang="en-US" dirty="0" smtClean="0">
                <a:latin typeface="+mj-ea"/>
                <a:ea typeface="+mj-ea"/>
                <a:hlinkClick r:id="rId3"/>
              </a:rPr>
              <a:t> </a:t>
            </a:r>
            <a:r>
              <a:rPr lang="en-US" altLang="ko-KR" dirty="0" smtClean="0">
                <a:latin typeface="+mj-ea"/>
                <a:ea typeface="+mj-ea"/>
                <a:hlinkClick r:id="rId3"/>
              </a:rPr>
              <a:t>null safety</a:t>
            </a:r>
          </a:p>
          <a:p>
            <a:pPr marL="0" indent="0">
              <a:buNone/>
            </a:pPr>
            <a:r>
              <a:rPr lang="en-US" altLang="ko-KR" dirty="0" smtClean="0">
                <a:latin typeface="+mj-ea"/>
                <a:ea typeface="+mj-ea"/>
                <a:hlinkClick r:id="rId3"/>
              </a:rPr>
              <a:t>https</a:t>
            </a:r>
            <a:r>
              <a:rPr lang="en-US" altLang="ko-KR" dirty="0">
                <a:latin typeface="+mj-ea"/>
                <a:ea typeface="+mj-ea"/>
                <a:hlinkClick r:id="rId3"/>
              </a:rPr>
              <a:t>://thdev.tech/kotlin/2016/08/04/Kotlin-Null-Safety</a:t>
            </a:r>
            <a:r>
              <a:rPr lang="en-US" altLang="ko-KR" dirty="0" smtClean="0">
                <a:latin typeface="+mj-ea"/>
                <a:ea typeface="+mj-ea"/>
                <a:hlinkClick r:id="rId3"/>
              </a:rPr>
              <a:t>/</a:t>
            </a:r>
            <a:endParaRPr lang="en-US" altLang="ko-KR" dirty="0" smtClean="0">
              <a:latin typeface="+mj-ea"/>
              <a:ea typeface="+mj-ea"/>
            </a:endParaRPr>
          </a:p>
          <a:p>
            <a:endParaRPr lang="en-US" altLang="ko-KR" dirty="0">
              <a:latin typeface="+mj-ea"/>
              <a:ea typeface="+mj-ea"/>
              <a:cs typeface="함초롬바탕" panose="02030504000101010101" pitchFamily="18" charset="-127"/>
            </a:endParaRPr>
          </a:p>
          <a:p>
            <a:r>
              <a:rPr lang="ko-KR" altLang="en-US" dirty="0" err="1" smtClean="0">
                <a:latin typeface="+mj-ea"/>
                <a:ea typeface="+mj-ea"/>
                <a:hlinkClick r:id="rId4"/>
              </a:rPr>
              <a:t>코틀린</a:t>
            </a:r>
            <a:r>
              <a:rPr lang="ko-KR" altLang="en-US" dirty="0" smtClean="0">
                <a:latin typeface="+mj-ea"/>
                <a:ea typeface="+mj-ea"/>
                <a:hlinkClick r:id="rId4"/>
              </a:rPr>
              <a:t> 기초 문법</a:t>
            </a:r>
            <a:r>
              <a:rPr lang="en-US" altLang="ko-KR" dirty="0" smtClean="0">
                <a:latin typeface="+mj-ea"/>
                <a:ea typeface="+mj-ea"/>
                <a:hlinkClick r:id="rId4"/>
              </a:rPr>
              <a:t> </a:t>
            </a:r>
          </a:p>
          <a:p>
            <a:pPr marL="0" indent="0">
              <a:buNone/>
            </a:pPr>
            <a:r>
              <a:rPr lang="en-US" altLang="ko-KR" dirty="0" smtClean="0">
                <a:latin typeface="+mj-ea"/>
                <a:ea typeface="+mj-ea"/>
                <a:hlinkClick r:id="rId4"/>
              </a:rPr>
              <a:t>https</a:t>
            </a:r>
            <a:r>
              <a:rPr lang="en-US" altLang="ko-KR" dirty="0">
                <a:latin typeface="+mj-ea"/>
                <a:ea typeface="+mj-ea"/>
                <a:hlinkClick r:id="rId4"/>
              </a:rPr>
              <a:t>://tourspace.tistory.com/64</a:t>
            </a:r>
            <a:endParaRPr lang="en-US" altLang="ko-KR" dirty="0" smtClean="0">
              <a:latin typeface="+mj-ea"/>
              <a:ea typeface="+mj-ea"/>
              <a:cs typeface="함초롬바탕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7208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패싯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744</TotalTime>
  <Words>293</Words>
  <Application>Microsoft Office PowerPoint</Application>
  <PresentationFormat>와이드스크린</PresentationFormat>
  <Paragraphs>57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9" baseType="lpstr">
      <vt:lpstr>Arial Unicode MS</vt:lpstr>
      <vt:lpstr>HY그래픽M</vt:lpstr>
      <vt:lpstr>맑은 고딕</vt:lpstr>
      <vt:lpstr>함초롬바탕</vt:lpstr>
      <vt:lpstr>Arial</vt:lpstr>
      <vt:lpstr>Courier New</vt:lpstr>
      <vt:lpstr>Trebuchet MS</vt:lpstr>
      <vt:lpstr>Wingdings 3</vt:lpstr>
      <vt:lpstr>패싯</vt:lpstr>
      <vt:lpstr>컴퓨터 소프트웨어 설계 및 실험</vt:lpstr>
      <vt:lpstr>Kotlin이란?</vt:lpstr>
      <vt:lpstr>Kotlin의 장점</vt:lpstr>
      <vt:lpstr>Null 안정성</vt:lpstr>
      <vt:lpstr>Null 안정성2</vt:lpstr>
      <vt:lpstr>기본 문법 - 변수</vt:lpstr>
      <vt:lpstr>기본 문법 - 함수</vt:lpstr>
      <vt:lpstr>기존 안드로이드 코드와의 차이</vt:lpstr>
      <vt:lpstr>findViewbyId</vt:lpstr>
      <vt:lpstr>참고 링크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subject>소개자료</dc:subject>
  <dc:creator>ryu</dc:creator>
  <cp:keywords>Android, Web, 컴퓨터소프트웨어 설계 및 실험</cp:keywords>
  <dc:description>2016년 1학기 컴퓨터소프트웨어 설계 및 실험 소개자료</dc:description>
  <cp:lastModifiedBy>sanghyeon</cp:lastModifiedBy>
  <cp:revision>58</cp:revision>
  <dcterms:created xsi:type="dcterms:W3CDTF">2016-02-15T02:08:52Z</dcterms:created>
  <dcterms:modified xsi:type="dcterms:W3CDTF">2020-05-06T09:53:27Z</dcterms:modified>
  <cp:category>PPT 소개자료</cp:category>
</cp:coreProperties>
</file>