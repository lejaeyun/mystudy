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3" r:id="rId1"/>
    <p:sldMasterId id="2147483735" r:id="rId2"/>
  </p:sldMasterIdLst>
  <p:notesMasterIdLst>
    <p:notesMasterId r:id="rId37"/>
  </p:notesMasterIdLst>
  <p:sldIdLst>
    <p:sldId id="256" r:id="rId3"/>
    <p:sldId id="451" r:id="rId4"/>
    <p:sldId id="429" r:id="rId5"/>
    <p:sldId id="430" r:id="rId6"/>
    <p:sldId id="431" r:id="rId7"/>
    <p:sldId id="432" r:id="rId8"/>
    <p:sldId id="452" r:id="rId9"/>
    <p:sldId id="433" r:id="rId10"/>
    <p:sldId id="435" r:id="rId11"/>
    <p:sldId id="436" r:id="rId12"/>
    <p:sldId id="437" r:id="rId13"/>
    <p:sldId id="438" r:id="rId14"/>
    <p:sldId id="439" r:id="rId15"/>
    <p:sldId id="440" r:id="rId16"/>
    <p:sldId id="441" r:id="rId17"/>
    <p:sldId id="455" r:id="rId18"/>
    <p:sldId id="463" r:id="rId19"/>
    <p:sldId id="456" r:id="rId20"/>
    <p:sldId id="457" r:id="rId21"/>
    <p:sldId id="453" r:id="rId22"/>
    <p:sldId id="443" r:id="rId23"/>
    <p:sldId id="444" r:id="rId24"/>
    <p:sldId id="445" r:id="rId25"/>
    <p:sldId id="447" r:id="rId26"/>
    <p:sldId id="449" r:id="rId27"/>
    <p:sldId id="450" r:id="rId28"/>
    <p:sldId id="464" r:id="rId29"/>
    <p:sldId id="465" r:id="rId30"/>
    <p:sldId id="466" r:id="rId31"/>
    <p:sldId id="462" r:id="rId32"/>
    <p:sldId id="458" r:id="rId33"/>
    <p:sldId id="459" r:id="rId34"/>
    <p:sldId id="460" r:id="rId35"/>
    <p:sldId id="461" r:id="rId36"/>
  </p:sldIdLst>
  <p:sldSz cx="12192000" cy="6858000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9BDEC"/>
    <a:srgbClr val="D27CC0"/>
    <a:srgbClr val="F1F9A1"/>
    <a:srgbClr val="E8F668"/>
    <a:srgbClr val="CAD355"/>
    <a:srgbClr val="F79F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88171" autoAdjust="0"/>
  </p:normalViewPr>
  <p:slideViewPr>
    <p:cSldViewPr>
      <p:cViewPr varScale="1">
        <p:scale>
          <a:sx n="116" d="100"/>
          <a:sy n="116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BFA71F-C233-4DED-9505-1F6F3F0D3F72}" type="datetimeFigureOut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255A3F-3ED5-4BD3-9362-F62B05D159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081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안녕하세요 오늘은 </a:t>
            </a:r>
            <a:r>
              <a:rPr lang="en-US" altLang="ko-KR" dirty="0" err="1" smtClean="0"/>
              <a:t>json</a:t>
            </a:r>
            <a:r>
              <a:rPr lang="ko-KR" altLang="en-US" dirty="0" smtClean="0"/>
              <a:t>이랑 </a:t>
            </a:r>
            <a:r>
              <a:rPr lang="en-US" altLang="ko-KR" dirty="0" smtClean="0"/>
              <a:t>xml ajax</a:t>
            </a:r>
            <a:r>
              <a:rPr lang="ko-KR" altLang="en-US" dirty="0" smtClean="0"/>
              <a:t>에 대해서 실습해보도록 하겠습니다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47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목차는</a:t>
            </a:r>
            <a:r>
              <a:rPr lang="ko-KR" altLang="en-US" baseline="0" dirty="0" smtClean="0"/>
              <a:t> </a:t>
            </a:r>
            <a:r>
              <a:rPr lang="en-US" altLang="ko-KR" baseline="0" dirty="0" err="1" smtClean="0"/>
              <a:t>json</a:t>
            </a:r>
            <a:r>
              <a:rPr lang="en-US" altLang="ko-KR" baseline="0" dirty="0" smtClean="0"/>
              <a:t> xml ajax</a:t>
            </a:r>
            <a:r>
              <a:rPr lang="ko-KR" altLang="en-US" baseline="0" dirty="0" smtClean="0"/>
              <a:t>순으로 해보고 그리고 </a:t>
            </a:r>
            <a:r>
              <a:rPr lang="ko-KR" altLang="en-US" baseline="0" dirty="0" err="1" smtClean="0"/>
              <a:t>웹언어에</a:t>
            </a:r>
            <a:r>
              <a:rPr lang="ko-KR" altLang="en-US" baseline="0" dirty="0" smtClean="0"/>
              <a:t> 대해서 참고 하시라고 부록을 추가했습니다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345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우선 </a:t>
            </a:r>
            <a:r>
              <a:rPr lang="en-US" altLang="ko-KR" dirty="0" err="1" smtClean="0"/>
              <a:t>json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40905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smtClean="0"/>
              <a:t>우선 </a:t>
            </a:r>
            <a:r>
              <a:rPr lang="en-US" altLang="ko-KR" dirty="0" err="1" smtClean="0"/>
              <a:t>json</a:t>
            </a:r>
            <a:r>
              <a:rPr lang="ko-KR" altLang="en-US" dirty="0" smtClean="0"/>
              <a:t>입니다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r>
              <a:rPr lang="en-US" altLang="ko-KR" dirty="0" err="1" smtClean="0"/>
              <a:t>Json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javaScript</a:t>
            </a:r>
            <a:r>
              <a:rPr lang="en-US" altLang="ko-KR" baseline="0" dirty="0" smtClean="0"/>
              <a:t> object notation</a:t>
            </a:r>
            <a:r>
              <a:rPr lang="ko-KR" altLang="en-US" baseline="0" dirty="0" smtClean="0"/>
              <a:t>의 </a:t>
            </a:r>
            <a:r>
              <a:rPr lang="ko-KR" altLang="en-US" baseline="0" dirty="0" err="1" smtClean="0"/>
              <a:t>줄임말로서</a:t>
            </a:r>
            <a:r>
              <a:rPr lang="ko-KR" altLang="en-US" baseline="0" dirty="0" smtClean="0"/>
              <a:t> 인터넷에서 주고 받는 자료의 표현 방법입니다</a:t>
            </a:r>
            <a:r>
              <a:rPr lang="en-US" altLang="ko-KR" baseline="0" dirty="0" smtClean="0"/>
              <a:t>. 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이 표현 방법은 인간이 읽고 쓰기에 </a:t>
            </a:r>
            <a:r>
              <a:rPr lang="ko-KR" altLang="en-US" baseline="0" dirty="0" err="1" smtClean="0"/>
              <a:t>용이할뿐더러</a:t>
            </a:r>
            <a:r>
              <a:rPr lang="ko-KR" altLang="en-US" baseline="0" dirty="0" smtClean="0"/>
              <a:t> 기계가 분석하고 생성하기에 용이하기 때문에 많이 사용합니다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en-US" altLang="ko-KR" baseline="0" dirty="0" err="1" smtClean="0"/>
              <a:t>Json</a:t>
            </a:r>
            <a:r>
              <a:rPr lang="ko-KR" altLang="en-US" baseline="0" dirty="0" smtClean="0"/>
              <a:t>은 자료의 표현 방법이기 때문에 어느 언어에 속해있지 않아 언어로 부터 독립적입니다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흔히 </a:t>
            </a:r>
            <a:r>
              <a:rPr lang="en-US" altLang="ko-KR" baseline="0" dirty="0" smtClean="0"/>
              <a:t>c-family</a:t>
            </a:r>
            <a:r>
              <a:rPr lang="ko-KR" altLang="en-US" baseline="0" dirty="0" smtClean="0"/>
              <a:t>언어라고 해서 </a:t>
            </a:r>
            <a:r>
              <a:rPr lang="en-US" altLang="ko-KR" baseline="0" dirty="0" smtClean="0"/>
              <a:t>c/</a:t>
            </a:r>
            <a:r>
              <a:rPr lang="en-US" altLang="ko-KR" baseline="0" dirty="0" err="1" smtClean="0"/>
              <a:t>c++</a:t>
            </a:r>
            <a:r>
              <a:rPr lang="en-US" altLang="ko-KR" baseline="0" dirty="0" smtClean="0"/>
              <a:t>,</a:t>
            </a:r>
            <a:r>
              <a:rPr lang="en-US" altLang="ko-KR" baseline="0" dirty="0" err="1" smtClean="0"/>
              <a:t>c#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자바 </a:t>
            </a:r>
            <a:r>
              <a:rPr lang="en-US" altLang="ko-KR" baseline="0" dirty="0" smtClean="0"/>
              <a:t>python</a:t>
            </a:r>
            <a:r>
              <a:rPr lang="ko-KR" altLang="en-US" baseline="0" dirty="0" smtClean="0"/>
              <a:t> 등을 사용하는 프로그래머들에게는 친숙한 관습으로 사용하는 텍스트 형식입니다</a:t>
            </a:r>
            <a:r>
              <a:rPr lang="en-US" altLang="ko-KR" baseline="0" dirty="0" smtClean="0"/>
              <a:t>.</a:t>
            </a:r>
          </a:p>
          <a:p>
            <a:endParaRPr lang="en-US" altLang="ko-KR" baseline="0" dirty="0" smtClean="0"/>
          </a:p>
          <a:p>
            <a:r>
              <a:rPr lang="ko-KR" altLang="en-US" baseline="0" dirty="0" smtClean="0"/>
              <a:t>기본 </a:t>
            </a:r>
            <a:r>
              <a:rPr lang="ko-KR" altLang="en-US" baseline="0" dirty="0" err="1" smtClean="0"/>
              <a:t>자료형은</a:t>
            </a:r>
            <a:r>
              <a:rPr lang="ko-KR" altLang="en-US" baseline="0" dirty="0" smtClean="0"/>
              <a:t> 숫자를 표현하는 </a:t>
            </a:r>
            <a:r>
              <a:rPr lang="en-US" altLang="ko-KR" baseline="0" dirty="0" smtClean="0"/>
              <a:t>number, </a:t>
            </a:r>
            <a:r>
              <a:rPr lang="ko-KR" altLang="en-US" baseline="0" dirty="0" smtClean="0"/>
              <a:t>문자열인 </a:t>
            </a:r>
            <a:r>
              <a:rPr lang="en-US" altLang="ko-KR" baseline="0" dirty="0" smtClean="0"/>
              <a:t>string, </a:t>
            </a:r>
            <a:r>
              <a:rPr lang="ko-KR" altLang="en-US" baseline="0" dirty="0" smtClean="0"/>
              <a:t>참과 거짓으로 구분하는 </a:t>
            </a:r>
            <a:r>
              <a:rPr lang="en-US" altLang="ko-KR" baseline="0" dirty="0" smtClean="0"/>
              <a:t>Boolean, </a:t>
            </a:r>
            <a:r>
              <a:rPr lang="ko-KR" altLang="en-US" baseline="0" dirty="0" smtClean="0"/>
              <a:t>배열인 </a:t>
            </a:r>
            <a:r>
              <a:rPr lang="en-US" altLang="ko-KR" baseline="0" dirty="0" smtClean="0"/>
              <a:t>array, </a:t>
            </a:r>
            <a:r>
              <a:rPr lang="ko-KR" altLang="en-US" baseline="0" dirty="0" smtClean="0"/>
              <a:t>어떤 형태든 담을 수 있는 객체인 </a:t>
            </a:r>
            <a:r>
              <a:rPr lang="en-US" altLang="ko-KR" baseline="0" dirty="0" smtClean="0"/>
              <a:t>object</a:t>
            </a:r>
            <a:r>
              <a:rPr lang="ko-KR" altLang="en-US" baseline="0" dirty="0" smtClean="0"/>
              <a:t>와 </a:t>
            </a:r>
            <a:r>
              <a:rPr lang="en-US" altLang="ko-KR" baseline="0" dirty="0" smtClean="0"/>
              <a:t>null</a:t>
            </a:r>
            <a:r>
              <a:rPr lang="ko-KR" altLang="en-US" baseline="0" dirty="0" smtClean="0"/>
              <a:t>값이 있습니다</a:t>
            </a:r>
            <a:r>
              <a:rPr lang="en-US" altLang="ko-KR" baseline="0" dirty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6604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Json</a:t>
            </a:r>
            <a:r>
              <a:rPr lang="en-US" altLang="ko-KR" dirty="0" smtClean="0"/>
              <a:t> </a:t>
            </a:r>
            <a:r>
              <a:rPr lang="ko-KR" altLang="en-US" dirty="0" smtClean="0"/>
              <a:t>구조를 살펴보면 </a:t>
            </a:r>
            <a:r>
              <a:rPr lang="en-US" altLang="ko-KR" dirty="0" smtClean="0"/>
              <a:t>name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값이 쌍으로 존재하는 구조입니다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다양한 언어들에서 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object, record, </a:t>
            </a:r>
            <a:r>
              <a:rPr lang="en-US" altLang="ko-KR" sz="12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struct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dictionary, hash table, keyed list, or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2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associateive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array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로서 실현되는데 쉽게 말하면 자신이 선택한 언어의 데이터 </a:t>
            </a:r>
            <a:r>
              <a:rPr lang="ko-KR" altLang="en-US" sz="12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자료형에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맞춰서 </a:t>
            </a:r>
            <a:r>
              <a:rPr lang="ko-KR" altLang="en-US" sz="1200" dirty="0" err="1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만들수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 있다는 얘기입니다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endParaRPr lang="en-US" altLang="ko-KR" sz="1200" dirty="0" smtClean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대부분의 언어들에서는 배열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벡터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리스트</a:t>
            </a:r>
            <a:r>
              <a:rPr lang="en-US" altLang="ko-KR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200" dirty="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시퀀스 형태로서 사용합니다</a:t>
            </a:r>
            <a:r>
              <a:rPr lang="en-US" altLang="ko-KR" sz="1200" smtClean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407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873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255A3F-3ED5-4BD3-9362-F62B05D159FE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784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B54E7-8C76-453F-874A-8DC57E12D70A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2058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5185E-2D09-4348-887F-89083C8297A6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F682C-7757-400F-BEF8-E017FC213865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204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562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5625"/>
            <a:ext cx="51562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D5C89-EC8A-4844-888E-9ADA187DB2AD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189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CFC9A-849D-4F68-BB84-2652BD358FC0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386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DE98B-BB2A-4DB3-8EDD-983CE22BC23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9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31844-7651-45D7-B033-2215FB02D00E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3847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9FD542-0074-40F5-BFB8-F1358D0EA3A6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2125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52B08-7EE4-4BDB-8FC9-D76F1F77BC89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075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0FD95-5934-4339-A9B3-72A7C9AA17A0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935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6835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C482E-522B-4B0D-B53D-371B1A1F5A3A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2784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586166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790732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311130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824122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71119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43487150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86804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8423286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056984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254230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556438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509674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510281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9616568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7790990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20317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A312A-AA5F-4E61-827D-9E16E63F2107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4D6AFA-7AEE-4465-AA12-996C1CB730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93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63F87-A230-4BE3-B4AE-C7F3D930AEF2}" type="datetime1">
              <a:rPr lang="ko-KR" altLang="en-US" smtClean="0"/>
              <a:t>2018-04-30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6480678-46F8-4C6F-81BB-374C160D17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5640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</p:sldLayoutIdLst>
  <p:hf hdr="0" ftr="0" dt="0"/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://dna.daum.net/include/tools/playground/openapi/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://json.parser.online.fr/" TargetMode="Externa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xml/xsl_examples.asp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845871" y="1628800"/>
            <a:ext cx="8352928" cy="3070108"/>
          </a:xfrm>
        </p:spPr>
        <p:txBody>
          <a:bodyPr>
            <a:noAutofit/>
          </a:bodyPr>
          <a:lstStyle/>
          <a:p>
            <a:r>
              <a:rPr lang="en-US" altLang="ko-KR" sz="7200" b="1"/>
              <a:t>JSON &amp; XML &amp; Ajax</a:t>
            </a:r>
            <a:br>
              <a:rPr lang="en-US" altLang="ko-KR" sz="7200" b="1"/>
            </a:br>
            <a:endParaRPr lang="ko-KR" altLang="en-US" sz="4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431863" y="4150458"/>
            <a:ext cx="7766936" cy="1096899"/>
          </a:xfrm>
        </p:spPr>
        <p:txBody>
          <a:bodyPr>
            <a:normAutofit/>
          </a:bodyPr>
          <a:lstStyle/>
          <a:p>
            <a:r>
              <a:rPr lang="en-US" altLang="ko-KR" sz="1400" dirty="0" smtClean="0"/>
              <a:t>2018</a:t>
            </a:r>
            <a:r>
              <a:rPr lang="ko-KR" altLang="en-US" sz="1400" dirty="0" smtClean="0"/>
              <a:t>년 </a:t>
            </a:r>
            <a:r>
              <a:rPr lang="en-US" altLang="ko-KR" sz="1400" dirty="0"/>
              <a:t>1</a:t>
            </a:r>
            <a:r>
              <a:rPr lang="ko-KR" altLang="en-US" sz="1400" dirty="0"/>
              <a:t>학기 </a:t>
            </a:r>
            <a:r>
              <a:rPr lang="ko-KR" altLang="en-US" sz="1400" dirty="0" err="1"/>
              <a:t>컴퓨터소프트웨어설계및실험</a:t>
            </a:r>
            <a:endParaRPr lang="en-US" altLang="ko-KR" sz="1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" y="6395478"/>
            <a:ext cx="3521461" cy="39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16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목차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559496" y="1772816"/>
            <a:ext cx="4464496" cy="406935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ko-KR" sz="2800">
                <a:latin typeface="Trebuchet MS" panose="020B0603020202020204" pitchFamily="34" charset="0"/>
                <a:ea typeface="함초롬바탕" panose="02030504000101010101" pitchFamily="18" charset="-127"/>
                <a:cs typeface="함초롬바탕" panose="02030504000101010101" pitchFamily="18" charset="-127"/>
              </a:rPr>
              <a:t>JSON</a:t>
            </a:r>
            <a:endParaRPr lang="en-US" altLang="ko-KR" sz="2800" dirty="0">
              <a:latin typeface="Trebuchet MS" panose="020B0603020202020204" pitchFamily="34" charset="0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r>
              <a:rPr lang="ko-KR" altLang="en-US" sz="2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800">
                <a:ea typeface="함초롬바탕" panose="02030504000101010101" pitchFamily="18" charset="-127"/>
                <a:cs typeface="함초롬바탕" panose="02030504000101010101" pitchFamily="18" charset="-127"/>
              </a:rPr>
              <a:t>XML</a:t>
            </a:r>
          </a:p>
          <a:p>
            <a:pPr eaLnBrk="1" hangingPunct="1"/>
            <a:endParaRPr lang="en-US" altLang="ko-KR" sz="2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r>
              <a:rPr lang="en-US" altLang="ko-KR" sz="2800">
                <a:ea typeface="함초롬바탕" panose="02030504000101010101" pitchFamily="18" charset="-127"/>
                <a:cs typeface="함초롬바탕" panose="02030504000101010101" pitchFamily="18" charset="-127"/>
              </a:rPr>
              <a:t>Ajax</a:t>
            </a:r>
          </a:p>
          <a:p>
            <a:pPr eaLnBrk="1" hangingPunct="1"/>
            <a:endParaRPr lang="en-US" altLang="ko-KR" sz="2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r>
              <a:rPr lang="en-US" altLang="ko-KR" sz="2800">
                <a:ea typeface="함초롬바탕" panose="02030504000101010101" pitchFamily="18" charset="-127"/>
                <a:cs typeface="함초롬바탕" panose="02030504000101010101" pitchFamily="18" charset="-127"/>
              </a:rPr>
              <a:t>Appendix</a:t>
            </a:r>
            <a:r>
              <a:rPr lang="ko-KR" altLang="en-US" sz="2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eaLnBrk="1" hangingPunct="1"/>
            <a:endParaRPr lang="en-US" altLang="ko-KR" sz="2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48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351584" y="2060848"/>
            <a:ext cx="8280920" cy="2659167"/>
          </a:xfrm>
        </p:spPr>
        <p:txBody>
          <a:bodyPr>
            <a:noAutofit/>
          </a:bodyPr>
          <a:lstStyle/>
          <a:p>
            <a:r>
              <a:rPr lang="en-US" altLang="ko-KR" sz="7200" b="1" dirty="0">
                <a:latin typeface="+mj-ea"/>
                <a:cs typeface="함초롬바탕" panose="02030504000101010101" pitchFamily="18" charset="-127"/>
              </a:rPr>
              <a:t>JSON</a:t>
            </a: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/>
            </a:r>
            <a:br>
              <a:rPr lang="en-US" altLang="ko-KR" sz="4800" b="1" dirty="0">
                <a:latin typeface="+mj-ea"/>
                <a:cs typeface="함초롬바탕" panose="02030504000101010101" pitchFamily="18" charset="-127"/>
              </a:rPr>
            </a:b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>(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J</a:t>
            </a: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>ava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S</a:t>
            </a: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>cript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O</a:t>
            </a: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>bject </a:t>
            </a:r>
            <a:r>
              <a:rPr lang="en-US" altLang="ko-KR" sz="4800" b="1" dirty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N</a:t>
            </a: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>otation)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753354" y="6410001"/>
            <a:ext cx="29572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Reference : http://www.json.org/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7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184"/>
          </a:xfrm>
        </p:spPr>
        <p:txBody>
          <a:bodyPr/>
          <a:lstStyle/>
          <a:p>
            <a:r>
              <a:rPr lang="en-US" altLang="ko-KR" b="1" dirty="0"/>
              <a:t>JSON </a:t>
            </a:r>
            <a:r>
              <a:rPr lang="ko-KR" altLang="en-US" b="1" dirty="0"/>
              <a:t>소개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2776"/>
            <a:ext cx="8956460" cy="336698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JSON(JavaScript Object 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Notation) ~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인터넷에서 주고 받는 </a:t>
            </a:r>
            <a:r>
              <a:rPr lang="ko-KR" altLang="en-US" sz="2000" b="1">
                <a:solidFill>
                  <a:schemeClr val="accent2">
                    <a:lumMod val="75000"/>
                  </a:scheme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자료의 표현 방법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인간이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읽고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쓰기에 용이함 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&amp;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기계가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분석하고 생성함에 용이함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프로그래밍 언어로부터 완전히 독립적</a:t>
            </a:r>
            <a:endParaRPr lang="en-US" altLang="ko-KR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C-family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언어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(C, C++, C#, Java, JavaScript, Perl, Python, </a:t>
            </a:r>
            <a:r>
              <a:rPr lang="en-US" altLang="ko-KR" err="1">
                <a:ea typeface="함초롬바탕" panose="02030504000101010101" pitchFamily="18" charset="-127"/>
                <a:cs typeface="함초롬바탕" panose="02030504000101010101" pitchFamily="18" charset="-127"/>
              </a:rPr>
              <a:t>etc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…)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프로그래머들에게 친숙한 관습을 사용하는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텍스트 형식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기본 자료형 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~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Number, String, Boolean, Array, Object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, NULL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3"/>
          <p:cNvSpPr txBox="1">
            <a:spLocks/>
          </p:cNvSpPr>
          <p:nvPr/>
        </p:nvSpPr>
        <p:spPr>
          <a:xfrm>
            <a:off x="11352584" y="6381328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480678-46F8-4C6F-81BB-374C160D1764}" type="slidenum">
              <a:rPr lang="ko-KR" altLang="en-US" smtClean="0"/>
              <a:pPr/>
              <a:t>4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19" y="5085184"/>
            <a:ext cx="1192875" cy="120999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063" y="5304419"/>
            <a:ext cx="232410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8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3" y="1484784"/>
            <a:ext cx="7801795" cy="32797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 collection of name/value pairs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다양한 언어들에서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object, record, 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struct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dictionary, hash table, keyed list, or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associateive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array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로서 실현됨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An ordered list of values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대부분의 언어들에서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array, vector, list, or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sequence</a:t>
            </a:r>
            <a:r>
              <a:rPr lang="ko-KR" altLang="en-US" sz="18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로서 실현됨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184"/>
          </a:xfrm>
        </p:spPr>
        <p:txBody>
          <a:bodyPr/>
          <a:lstStyle/>
          <a:p>
            <a:r>
              <a:rPr lang="en-US" altLang="ko-KR" b="1" dirty="0"/>
              <a:t>JSON </a:t>
            </a:r>
            <a:r>
              <a:rPr lang="ko-KR" altLang="en-US" b="1" dirty="0"/>
              <a:t>구조</a:t>
            </a: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사각형: 둥근 모서리 2"/>
          <p:cNvSpPr/>
          <p:nvPr/>
        </p:nvSpPr>
        <p:spPr>
          <a:xfrm>
            <a:off x="8800148" y="2565088"/>
            <a:ext cx="2380208" cy="277558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9048328" y="2708920"/>
            <a:ext cx="1811009" cy="25160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{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“name”: “</a:t>
            </a:r>
            <a:r>
              <a:rPr lang="ko-KR" altLang="en-US" sz="1400">
                <a:latin typeface="+mj-ea"/>
                <a:ea typeface="+mj-ea"/>
              </a:rPr>
              <a:t>히동이</a:t>
            </a:r>
            <a:r>
              <a:rPr lang="en-US" altLang="ko-KR" sz="1400">
                <a:latin typeface="+mj-ea"/>
                <a:ea typeface="+mj-ea"/>
              </a:rPr>
              <a:t>”,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“age”: 5,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“family”: {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  “#”: 2,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  “brother”: “</a:t>
            </a:r>
            <a:r>
              <a:rPr lang="ko-KR" altLang="en-US" sz="1400">
                <a:latin typeface="+mj-ea"/>
                <a:ea typeface="+mj-ea"/>
              </a:rPr>
              <a:t>둘리</a:t>
            </a:r>
            <a:r>
              <a:rPr lang="en-US" altLang="ko-KR" sz="1400">
                <a:latin typeface="+mj-ea"/>
                <a:ea typeface="+mj-ea"/>
              </a:rPr>
              <a:t>”,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  “uncle”: “</a:t>
            </a:r>
            <a:r>
              <a:rPr lang="ko-KR" altLang="en-US" sz="1400">
                <a:latin typeface="+mj-ea"/>
                <a:ea typeface="+mj-ea"/>
              </a:rPr>
              <a:t>고길동</a:t>
            </a:r>
            <a:r>
              <a:rPr lang="en-US" altLang="ko-KR" sz="1400">
                <a:latin typeface="+mj-ea"/>
                <a:ea typeface="+mj-ea"/>
              </a:rPr>
              <a:t>”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  }</a:t>
            </a:r>
          </a:p>
          <a:p>
            <a:pPr>
              <a:lnSpc>
                <a:spcPct val="125000"/>
              </a:lnSpc>
            </a:pPr>
            <a:r>
              <a:rPr lang="en-US" altLang="ko-KR" sz="1400">
                <a:latin typeface="+mj-ea"/>
                <a:ea typeface="+mj-ea"/>
              </a:rPr>
              <a:t>}</a:t>
            </a:r>
            <a:endParaRPr lang="ko-KR" altLang="en-US" sz="140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56263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4" y="1373411"/>
            <a:ext cx="9451114" cy="2284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Name/Value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쌍들의 비 순서화된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SET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{ (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좌 중괄호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시작하고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}(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우 중괄호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끝내어 표현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각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Name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뒤에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:(colon)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을 붙이고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,(comma)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name/value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쌍들 </a:t>
            </a: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간을 구분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3811"/>
          </a:xfrm>
        </p:spPr>
        <p:txBody>
          <a:bodyPr/>
          <a:lstStyle/>
          <a:p>
            <a:r>
              <a:rPr lang="en-US" altLang="ko-KR" b="1"/>
              <a:t>JSON &gt;&gt; Object</a:t>
            </a:r>
            <a:endParaRPr lang="ko-KR" altLang="en-US" b="1" dirty="0"/>
          </a:p>
        </p:txBody>
      </p:sp>
      <p:pic>
        <p:nvPicPr>
          <p:cNvPr id="2056" name="Picture 8" descr="http://www.json.org/objec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4221088"/>
            <a:ext cx="7942487" cy="1500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814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4" y="1373411"/>
            <a:ext cx="8596668" cy="2284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string,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number, true, false, null, object</a:t>
            </a: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, array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19200"/>
          </a:xfrm>
        </p:spPr>
        <p:txBody>
          <a:bodyPr/>
          <a:lstStyle/>
          <a:p>
            <a:r>
              <a:rPr lang="en-US" altLang="ko-KR" b="1"/>
              <a:t>JSON &gt;&gt; Value</a:t>
            </a:r>
            <a:endParaRPr lang="ko-KR" altLang="en-US" b="1" dirty="0"/>
          </a:p>
        </p:txBody>
      </p:sp>
      <p:pic>
        <p:nvPicPr>
          <p:cNvPr id="6" name="Picture 6" descr="http://www.json.org/valu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2643200"/>
            <a:ext cx="5695950" cy="2647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0216" y="2874175"/>
            <a:ext cx="2314575" cy="106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660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4" y="1373411"/>
            <a:ext cx="8596668" cy="2284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순서화된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collection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[ (left bracket)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시작해서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] (right bracket)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끝내어 표현한다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,(comma)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array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값들을 구분한다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184"/>
          </a:xfrm>
        </p:spPr>
        <p:txBody>
          <a:bodyPr/>
          <a:lstStyle/>
          <a:p>
            <a:r>
              <a:rPr lang="en-US" altLang="ko-KR" b="1"/>
              <a:t>JSON &gt;&gt; Array</a:t>
            </a:r>
            <a:endParaRPr lang="ko-KR" altLang="en-US" b="1" dirty="0"/>
          </a:p>
        </p:txBody>
      </p:sp>
      <p:pic>
        <p:nvPicPr>
          <p:cNvPr id="6146" name="Picture 2" descr="http://www.json.org/array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4221088"/>
            <a:ext cx="7891508" cy="1491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55" y="3140968"/>
            <a:ext cx="4840660" cy="3736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19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4" y="1373411"/>
            <a:ext cx="8596668" cy="277566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큰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따옴표 안에 둘러싸인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zero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이상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Unicode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문자들의 조합이며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쌍 따옴표 안에 감싸지며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backslash escape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가 적용된다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하나의 문자도 하나의 문자열로서 표현된다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String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은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 / Java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문자열과 매우 비슷하다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184"/>
          </a:xfrm>
        </p:spPr>
        <p:txBody>
          <a:bodyPr/>
          <a:lstStyle/>
          <a:p>
            <a:r>
              <a:rPr lang="en-US" altLang="ko-KR" b="1"/>
              <a:t>JSON &gt;&gt; String</a:t>
            </a:r>
            <a:endParaRPr lang="ko-KR" altLang="en-US" b="1" dirty="0"/>
          </a:p>
        </p:txBody>
      </p:sp>
      <p:pic>
        <p:nvPicPr>
          <p:cNvPr id="7170" name="Picture 2" descr="http://www.json.org/string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7971" y="2708920"/>
            <a:ext cx="4824613" cy="3332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77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4" y="1373411"/>
            <a:ext cx="8596668" cy="2284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8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진수와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16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진수 형식을 사용하지 않는 것을 제외하면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 / Java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number</a:t>
            </a:r>
            <a:r>
              <a:rPr lang="ko-KR" altLang="en-US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와 매우 비슷하다</a:t>
            </a:r>
            <a:r>
              <a:rPr lang="en-US" altLang="ko-KR" sz="20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47192"/>
          </a:xfrm>
        </p:spPr>
        <p:txBody>
          <a:bodyPr/>
          <a:lstStyle/>
          <a:p>
            <a:r>
              <a:rPr lang="en-US" altLang="ko-KR" b="1"/>
              <a:t>JSON &gt;&gt; Number</a:t>
            </a:r>
            <a:endParaRPr lang="ko-KR" altLang="en-US" b="1" dirty="0"/>
          </a:p>
        </p:txBody>
      </p:sp>
      <p:pic>
        <p:nvPicPr>
          <p:cNvPr id="6" name="Picture 2" descr="http://www.json.org/numbe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262" y="2996952"/>
            <a:ext cx="6343480" cy="2821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179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JSON </a:t>
            </a:r>
            <a:r>
              <a:rPr lang="ko-KR" altLang="en-US" b="1" dirty="0"/>
              <a:t>구조 예제 </a:t>
            </a:r>
            <a:r>
              <a:rPr lang="en-US" altLang="ko-KR" b="1" dirty="0"/>
              <a:t>(1/3)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577643"/>
            <a:ext cx="8596668" cy="383828"/>
          </a:xfrm>
        </p:spPr>
        <p:txBody>
          <a:bodyPr/>
          <a:lstStyle/>
          <a:p>
            <a:r>
              <a:rPr lang="en-US" altLang="ko-KR" dirty="0"/>
              <a:t>ex) </a:t>
            </a:r>
            <a:r>
              <a:rPr lang="ko-KR" altLang="en-US" dirty="0"/>
              <a:t>한 사람에 관한 정보를 갖는 </a:t>
            </a:r>
            <a:r>
              <a:rPr lang="en-US" altLang="ko-KR" dirty="0"/>
              <a:t>JSON </a:t>
            </a:r>
            <a:r>
              <a:rPr lang="ko-KR" altLang="en-US" dirty="0"/>
              <a:t>객체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1124744"/>
            <a:ext cx="3833658" cy="49123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134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JSON </a:t>
            </a:r>
            <a:r>
              <a:rPr lang="ko-KR" altLang="en-US" b="1" dirty="0"/>
              <a:t>구조 예제 </a:t>
            </a:r>
            <a:r>
              <a:rPr lang="en-US" altLang="ko-KR" b="1" dirty="0"/>
              <a:t>(2/3)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523800"/>
            <a:ext cx="8596668" cy="125712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err="1"/>
              <a:t>Daum</a:t>
            </a:r>
            <a:r>
              <a:rPr lang="en-US" altLang="ko-KR" dirty="0"/>
              <a:t> </a:t>
            </a:r>
            <a:r>
              <a:rPr lang="ko-KR" altLang="en-US" dirty="0"/>
              <a:t>검색 </a:t>
            </a:r>
            <a:r>
              <a:rPr lang="en-US" altLang="ko-KR" dirty="0"/>
              <a:t>API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hlinkClick r:id="rId2"/>
              </a:rPr>
              <a:t>http://</a:t>
            </a:r>
            <a:r>
              <a:rPr lang="en-US" altLang="ko-KR" sz="1400">
                <a:hlinkClick r:id="rId2"/>
              </a:rPr>
              <a:t>dna.daum.net/include/tools/playground/openapi/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163" y="1052736"/>
            <a:ext cx="4501421" cy="5069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5639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JSON </a:t>
            </a:r>
            <a:r>
              <a:rPr lang="ko-KR" altLang="en-US" b="1" dirty="0"/>
              <a:t>구조 예제 </a:t>
            </a:r>
            <a:r>
              <a:rPr lang="en-US" altLang="ko-KR" b="1" dirty="0"/>
              <a:t>(3/3)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52924"/>
            <a:ext cx="8596668" cy="781394"/>
          </a:xfrm>
        </p:spPr>
        <p:txBody>
          <a:bodyPr/>
          <a:lstStyle/>
          <a:p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JSON Data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정리해서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보여주는 웹사이트  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&gt;&gt; </a:t>
            </a:r>
            <a:r>
              <a:rPr lang="en-US" altLang="ko-KR" sz="1600">
                <a:ea typeface="함초롬바탕" panose="02030504000101010101" pitchFamily="18" charset="-127"/>
                <a:cs typeface="함초롬바탕" panose="02030504000101010101" pitchFamily="18" charset="-127"/>
                <a:hlinkClick r:id="rId2" tooltip="[http://json.parser.online.fr/]로 이동합니다."/>
              </a:rPr>
              <a:t>http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  <a:hlinkClick r:id="rId2" tooltip="[http://json.parser.online.fr/]로 이동합니다."/>
              </a:rPr>
              <a:t>://json.parser.online.fr/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528" y="1912417"/>
            <a:ext cx="8624533" cy="4685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296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JavaScript</a:t>
            </a:r>
            <a:r>
              <a:rPr lang="ko-KR" altLang="en-US" b="1" dirty="0"/>
              <a:t>에서 </a:t>
            </a:r>
            <a:r>
              <a:rPr lang="en-US" altLang="ko-KR" b="1" dirty="0"/>
              <a:t>JSON </a:t>
            </a:r>
            <a:r>
              <a:rPr lang="ko-KR" altLang="en-US" b="1" dirty="0"/>
              <a:t>만들기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0387" y="3062287"/>
            <a:ext cx="3724275" cy="1628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오른쪽 화살표 12"/>
          <p:cNvSpPr/>
          <p:nvPr/>
        </p:nvSpPr>
        <p:spPr>
          <a:xfrm>
            <a:off x="6227041" y="3562350"/>
            <a:ext cx="545592" cy="4423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323" y="1769093"/>
            <a:ext cx="4954106" cy="4028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420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15</a:t>
            </a:fld>
            <a:endParaRPr lang="ko-KR" altLang="en-US"/>
          </a:p>
        </p:txBody>
      </p:sp>
      <p:sp>
        <p:nvSpPr>
          <p:cNvPr id="6" name="제목 6"/>
          <p:cNvSpPr txBox="1">
            <a:spLocks/>
          </p:cNvSpPr>
          <p:nvPr/>
        </p:nvSpPr>
        <p:spPr>
          <a:xfrm>
            <a:off x="2639616" y="1916832"/>
            <a:ext cx="8064896" cy="27311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4000" b="0" kern="1200" cap="none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7200" b="1">
                <a:latin typeface="+mj-ea"/>
                <a:cs typeface="함초롬바탕" panose="02030504000101010101" pitchFamily="18" charset="-127"/>
              </a:rPr>
              <a:t>XML</a:t>
            </a:r>
            <a:r>
              <a:rPr lang="en-US" altLang="ko-KR" sz="4800" b="1">
                <a:latin typeface="+mj-ea"/>
                <a:cs typeface="함초롬바탕" panose="02030504000101010101" pitchFamily="18" charset="-127"/>
              </a:rPr>
              <a:t/>
            </a:r>
            <a:br>
              <a:rPr lang="en-US" altLang="ko-KR" sz="4800" b="1">
                <a:latin typeface="+mj-ea"/>
                <a:cs typeface="함초롬바탕" panose="02030504000101010101" pitchFamily="18" charset="-127"/>
              </a:rPr>
            </a:br>
            <a:r>
              <a:rPr lang="en-US" altLang="ko-KR" sz="3600" b="1">
                <a:latin typeface="+mj-ea"/>
                <a:cs typeface="함초롬바탕" panose="02030504000101010101" pitchFamily="18" charset="-127"/>
              </a:rPr>
              <a:t>(</a:t>
            </a:r>
            <a:r>
              <a:rPr lang="en-US" altLang="ko-KR" sz="3600">
                <a:ea typeface="함초롬바탕" panose="02030504000101010101" pitchFamily="18" charset="-127"/>
                <a:cs typeface="함초롬바탕" panose="02030504000101010101" pitchFamily="18" charset="-127"/>
              </a:rPr>
              <a:t>e</a:t>
            </a:r>
            <a:r>
              <a:rPr lang="en-US" altLang="ko-KR" sz="3600">
                <a:solidFill>
                  <a:schemeClr val="accent2">
                    <a:lumMod val="75000"/>
                  </a:scheme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X</a:t>
            </a:r>
            <a:r>
              <a:rPr lang="en-US" altLang="ko-KR" sz="3600">
                <a:ea typeface="함초롬바탕" panose="02030504000101010101" pitchFamily="18" charset="-127"/>
                <a:cs typeface="함초롬바탕" panose="02030504000101010101" pitchFamily="18" charset="-127"/>
              </a:rPr>
              <a:t>tensible </a:t>
            </a:r>
            <a:r>
              <a:rPr lang="en-US" altLang="ko-KR" sz="3600">
                <a:solidFill>
                  <a:schemeClr val="accent2">
                    <a:lumMod val="75000"/>
                  </a:scheme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M</a:t>
            </a:r>
            <a:r>
              <a:rPr lang="en-US" altLang="ko-KR" sz="3600">
                <a:ea typeface="함초롬바탕" panose="02030504000101010101" pitchFamily="18" charset="-127"/>
                <a:cs typeface="함초롬바탕" panose="02030504000101010101" pitchFamily="18" charset="-127"/>
              </a:rPr>
              <a:t>arkup </a:t>
            </a:r>
            <a:r>
              <a:rPr lang="en-US" altLang="ko-KR" sz="3600">
                <a:solidFill>
                  <a:schemeClr val="accent2">
                    <a:lumMod val="75000"/>
                  </a:schemeClr>
                </a:solidFill>
                <a:ea typeface="함초롬바탕" panose="02030504000101010101" pitchFamily="18" charset="-127"/>
                <a:cs typeface="함초롬바탕" panose="02030504000101010101" pitchFamily="18" charset="-127"/>
              </a:rPr>
              <a:t>L</a:t>
            </a:r>
            <a:r>
              <a:rPr lang="en-US" altLang="ko-KR" sz="3600">
                <a:ea typeface="함초롬바탕" panose="02030504000101010101" pitchFamily="18" charset="-127"/>
                <a:cs typeface="함초롬바탕" panose="02030504000101010101" pitchFamily="18" charset="-127"/>
              </a:rPr>
              <a:t>anguage</a:t>
            </a:r>
            <a:r>
              <a:rPr lang="en-US" altLang="ko-KR" sz="3600" b="1">
                <a:latin typeface="+mj-ea"/>
                <a:cs typeface="함초롬바탕" panose="02030504000101010101" pitchFamily="18" charset="-127"/>
              </a:rPr>
              <a:t>)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151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1619"/>
          </a:xfrm>
        </p:spPr>
        <p:txBody>
          <a:bodyPr/>
          <a:lstStyle/>
          <a:p>
            <a:r>
              <a:rPr lang="en-US" altLang="ko-KR" b="1"/>
              <a:t>XML </a:t>
            </a:r>
            <a:r>
              <a:rPr lang="ko-KR" altLang="en-US" b="1"/>
              <a:t>소개</a:t>
            </a:r>
            <a:endParaRPr lang="ko-KR" altLang="en-US" b="1" dirty="0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16</a:t>
            </a:fld>
            <a:endParaRPr lang="ko-KR" altLang="en-US"/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677333" y="1411219"/>
            <a:ext cx="9955171" cy="4812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XML(eXtensible Markup Language)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데이터에 의미를 부여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하는 다목적 마크업 언어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다른 많은 종류의 시스템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특히 인터넷에 연결된 시스템끼리 데이터를 쉽게 주고 받을 수 있게 하여 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의 한계를 극복할 목적으로 만들어짐</a:t>
            </a:r>
            <a:endParaRPr lang="en-US" altLang="ko-KR" sz="1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확장 가능 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대부분의 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XML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응용 프로그램은 새 데이터가 추가되거나 제거되어도 예상대로 동작함</a:t>
            </a:r>
            <a:endParaRPr lang="en-US" altLang="ko-KR" sz="1800"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데이터 공유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데이터 전송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플랫폼 변경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데이터 가용성을 </a:t>
            </a: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단순화</a:t>
            </a:r>
            <a:endParaRPr lang="en-US" altLang="ko-KR" sz="1800" b="1"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ko-KR" sz="1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256" y="4509120"/>
            <a:ext cx="3366005" cy="1322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3154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1619"/>
          </a:xfrm>
        </p:spPr>
        <p:txBody>
          <a:bodyPr/>
          <a:lstStyle/>
          <a:p>
            <a:r>
              <a:rPr lang="en-US" altLang="ko-KR" b="1"/>
              <a:t>XML Parser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219"/>
            <a:ext cx="10603243" cy="4812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Pars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er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 : </a:t>
            </a: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컴파일러의 일부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로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원시 프로그램의 명령문이나 온라인 명령문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마크업 태그 등을 </a:t>
            </a: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입력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으로 받아들여서 다른 프로그램에 의해 처리될 수 있도록 </a:t>
            </a:r>
            <a:r>
              <a:rPr lang="ko-KR" altLang="en-US" sz="1800" b="1">
                <a:ea typeface="함초롬바탕" panose="02030504000101010101" pitchFamily="18" charset="-127"/>
                <a:cs typeface="함초롬바탕" panose="02030504000101010101" pitchFamily="18" charset="-127"/>
              </a:rPr>
              <a:t>여러 부분으로 나누는 작업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을 수행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endParaRPr lang="en-US" altLang="ko-KR" b="1"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</a:pPr>
            <a:endParaRPr lang="en-US" altLang="ko-KR" sz="1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17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137" y="2636912"/>
            <a:ext cx="4248472" cy="37525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직사각형 6"/>
          <p:cNvSpPr/>
          <p:nvPr/>
        </p:nvSpPr>
        <p:spPr>
          <a:xfrm>
            <a:off x="664409" y="2636912"/>
            <a:ext cx="55626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맑은 고딕" panose="020B0503020000020004" pitchFamily="50" charset="-127"/>
              <a:buChar char="▶"/>
            </a:pPr>
            <a:r>
              <a:rPr lang="ko-KR" altLang="en-US" sz="1400">
                <a:ea typeface="함초롬바탕" panose="02030504000101010101" pitchFamily="18" charset="-127"/>
                <a:cs typeface="함초롬바탕" panose="02030504000101010101" pitchFamily="18" charset="-127"/>
              </a:rPr>
              <a:t>모든 주요 브라우저에는 </a:t>
            </a:r>
            <a:r>
              <a:rPr lang="en-US" altLang="ko-KR" sz="1400">
                <a:ea typeface="함초롬바탕" panose="02030504000101010101" pitchFamily="18" charset="-127"/>
                <a:cs typeface="함초롬바탕" panose="02030504000101010101" pitchFamily="18" charset="-127"/>
              </a:rPr>
              <a:t>XML</a:t>
            </a:r>
            <a:r>
              <a:rPr lang="ko-KR" altLang="en-US" sz="1400">
                <a:ea typeface="함초롬바탕" panose="02030504000101010101" pitchFamily="18" charset="-127"/>
                <a:cs typeface="함초롬바탕" panose="02030504000101010101" pitchFamily="18" charset="-127"/>
              </a:rPr>
              <a:t>을 액세스하고 조작하기 위한 </a:t>
            </a:r>
            <a:r>
              <a:rPr lang="en-US" altLang="ko-KR" sz="1400">
                <a:ea typeface="함초롬바탕" panose="02030504000101010101" pitchFamily="18" charset="-127"/>
                <a:cs typeface="함초롬바탕" panose="02030504000101010101" pitchFamily="18" charset="-127"/>
              </a:rPr>
              <a:t>XML </a:t>
            </a:r>
            <a:r>
              <a:rPr lang="ko-KR" altLang="en-US" sz="1400">
                <a:ea typeface="함초롬바탕" panose="02030504000101010101" pitchFamily="18" charset="-127"/>
                <a:cs typeface="함초롬바탕" panose="02030504000101010101" pitchFamily="18" charset="-127"/>
              </a:rPr>
              <a:t>파서가 내장되어 있음</a:t>
            </a:r>
            <a:endParaRPr lang="en-US" altLang="ko-KR" sz="14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맑은 고딕" panose="020B0503020000020004" pitchFamily="50" charset="-127"/>
              <a:buChar char="▶"/>
            </a:pPr>
            <a:endParaRPr lang="en-US" altLang="ko-KR" sz="14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742950" lvl="1" indent="-285750">
              <a:lnSpc>
                <a:spcPct val="150000"/>
              </a:lnSpc>
              <a:buClr>
                <a:schemeClr val="accent1">
                  <a:lumMod val="75000"/>
                </a:schemeClr>
              </a:buClr>
              <a:buFont typeface="맑은 고딕" panose="020B0503020000020004" pitchFamily="50" charset="-127"/>
              <a:buChar char="▶"/>
            </a:pPr>
            <a:r>
              <a:rPr lang="en-US" altLang="ko-KR" sz="1400" b="1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DOM</a:t>
            </a:r>
            <a:r>
              <a:rPr lang="en-US" altLang="ko-KR" sz="14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(Document Object Model) : </a:t>
            </a:r>
            <a:r>
              <a:rPr lang="ko-KR" altLang="en-US" sz="14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프로그램 및 스크립트가 문서의 내용</a:t>
            </a:r>
            <a:r>
              <a:rPr lang="en-US" altLang="ko-KR" sz="14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, </a:t>
            </a:r>
            <a:r>
              <a:rPr lang="ko-KR" altLang="en-US" sz="1400">
                <a:ea typeface="함초롬바탕" panose="02030504000101010101" pitchFamily="18" charset="-127"/>
                <a:cs typeface="함초롬바탕" panose="02030504000101010101" pitchFamily="18" charset="-127"/>
                <a:sym typeface="Wingdings" panose="05000000000000000000" pitchFamily="2" charset="2"/>
              </a:rPr>
              <a:t>구조 및 스타일을 동적으로 액세스하고 업데이트 할 수 있게 해주는 플랫폼 및 언어 중립적 인터페이스</a:t>
            </a:r>
            <a:endParaRPr lang="en-US" altLang="ko-KR" sz="1400">
              <a:ea typeface="함초롬바탕" panose="02030504000101010101" pitchFamily="18" charset="-127"/>
              <a:cs typeface="함초롬바탕" panose="02030504000101010101" pitchFamily="18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041356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5184"/>
          </a:xfrm>
        </p:spPr>
        <p:txBody>
          <a:bodyPr/>
          <a:lstStyle/>
          <a:p>
            <a:r>
              <a:rPr lang="en-US" altLang="ko-KR" b="1"/>
              <a:t>XSL &amp; XSLT</a:t>
            </a:r>
            <a:endParaRPr lang="ko-KR" altLang="en-US" b="1" dirty="0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677333" y="1411219"/>
            <a:ext cx="9955171" cy="481270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XSL(eXtensible Stylesheet Language)</a:t>
            </a:r>
            <a:endParaRPr lang="en-US" altLang="ko-KR" sz="20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XML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을 위한 </a:t>
            </a: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Stylesheet </a:t>
            </a:r>
            <a:r>
              <a:rPr lang="ko-KR" altLang="en-US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언어</a:t>
            </a:r>
            <a:endParaRPr lang="en-US" altLang="ko-KR" sz="1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>
                <a:ea typeface="함초롬바탕" panose="02030504000101010101" pitchFamily="18" charset="-127"/>
                <a:cs typeface="함초롬바탕" panose="02030504000101010101" pitchFamily="18" charset="-127"/>
              </a:rPr>
              <a:t>(CSS = HTML Style Sheets)</a:t>
            </a:r>
            <a:endParaRPr lang="en-US" altLang="ko-KR" sz="18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XSLT : XML </a:t>
            </a: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문서를 </a:t>
            </a: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XSL</a:t>
            </a: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로 변환</a:t>
            </a:r>
            <a:endParaRPr lang="en-US" altLang="ko-KR" sz="20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XSLT </a:t>
            </a:r>
            <a:r>
              <a:rPr lang="ko-KR" altLang="en-US" sz="2000">
                <a:ea typeface="함초롬바탕" panose="02030504000101010101" pitchFamily="18" charset="-127"/>
                <a:cs typeface="함초롬바탕" panose="02030504000101010101" pitchFamily="18" charset="-127"/>
              </a:rPr>
              <a:t>예시</a:t>
            </a:r>
            <a:endParaRPr lang="en-US" altLang="ko-KR" sz="20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endParaRPr lang="en-US" altLang="ko-KR" sz="18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160" y="1219679"/>
            <a:ext cx="3952453" cy="49000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직사각형 10"/>
          <p:cNvSpPr/>
          <p:nvPr/>
        </p:nvSpPr>
        <p:spPr>
          <a:xfrm>
            <a:off x="1067165" y="4221088"/>
            <a:ext cx="5583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>
                <a:hlinkClick r:id="rId3"/>
              </a:rPr>
              <a:t>https://www.w3schools.com/xml/xsl_examples.asp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23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279576" y="1916832"/>
            <a:ext cx="8064896" cy="2731175"/>
          </a:xfrm>
        </p:spPr>
        <p:txBody>
          <a:bodyPr>
            <a:noAutofit/>
          </a:bodyPr>
          <a:lstStyle/>
          <a:p>
            <a:r>
              <a:rPr lang="en-US" altLang="ko-KR" sz="7200" b="1" dirty="0">
                <a:latin typeface="+mj-ea"/>
                <a:cs typeface="함초롬바탕" panose="02030504000101010101" pitchFamily="18" charset="-127"/>
              </a:rPr>
              <a:t>Ajax</a:t>
            </a:r>
            <a:r>
              <a:rPr lang="en-US" altLang="ko-KR" sz="4800" b="1" dirty="0">
                <a:latin typeface="+mj-ea"/>
                <a:cs typeface="함초롬바탕" panose="02030504000101010101" pitchFamily="18" charset="-127"/>
              </a:rPr>
              <a:t/>
            </a:r>
            <a:br>
              <a:rPr lang="en-US" altLang="ko-KR" sz="4800" b="1" dirty="0">
                <a:latin typeface="+mj-ea"/>
                <a:cs typeface="함초롬바탕" panose="02030504000101010101" pitchFamily="18" charset="-127"/>
              </a:rPr>
            </a:br>
            <a:r>
              <a:rPr lang="en-US" altLang="ko-KR" sz="3600" b="1">
                <a:latin typeface="+mj-ea"/>
                <a:cs typeface="함초롬바탕" panose="02030504000101010101" pitchFamily="18" charset="-127"/>
              </a:rPr>
              <a:t>(</a:t>
            </a:r>
            <a:r>
              <a:rPr lang="en-US" altLang="ko-KR" sz="360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A</a:t>
            </a:r>
            <a:r>
              <a:rPr lang="en-US" altLang="ko-KR" sz="3600">
                <a:latin typeface="+mj-ea"/>
                <a:cs typeface="함초롬바탕" panose="02030504000101010101" pitchFamily="18" charset="-127"/>
              </a:rPr>
              <a:t>synchronous </a:t>
            </a:r>
            <a:r>
              <a:rPr lang="en-US" altLang="ko-KR" sz="360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J</a:t>
            </a:r>
            <a:r>
              <a:rPr lang="en-US" altLang="ko-KR" sz="3600">
                <a:latin typeface="+mj-ea"/>
                <a:cs typeface="함초롬바탕" panose="02030504000101010101" pitchFamily="18" charset="-127"/>
              </a:rPr>
              <a:t>avaScript </a:t>
            </a:r>
            <a:r>
              <a:rPr lang="en-US" altLang="ko-KR" sz="3600" dirty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a</a:t>
            </a:r>
            <a:r>
              <a:rPr lang="en-US" altLang="ko-KR" sz="3600" dirty="0">
                <a:latin typeface="+mj-ea"/>
                <a:cs typeface="함초롬바탕" panose="02030504000101010101" pitchFamily="18" charset="-127"/>
              </a:rPr>
              <a:t>nd </a:t>
            </a:r>
            <a:r>
              <a:rPr lang="en-US" altLang="ko-KR" sz="3600" dirty="0">
                <a:solidFill>
                  <a:schemeClr val="accent1">
                    <a:lumMod val="50000"/>
                  </a:schemeClr>
                </a:solidFill>
                <a:latin typeface="+mj-ea"/>
                <a:cs typeface="함초롬바탕" panose="02030504000101010101" pitchFamily="18" charset="-127"/>
              </a:rPr>
              <a:t>X</a:t>
            </a:r>
            <a:r>
              <a:rPr lang="en-US" altLang="ko-KR" sz="3600" dirty="0">
                <a:latin typeface="+mj-ea"/>
                <a:cs typeface="함초롬바탕" panose="02030504000101010101" pitchFamily="18" charset="-127"/>
              </a:rPr>
              <a:t>ML</a:t>
            </a:r>
            <a:r>
              <a:rPr lang="en-US" altLang="ko-KR" sz="3600" b="1" dirty="0">
                <a:latin typeface="+mj-ea"/>
                <a:cs typeface="함초롬바탕" panose="02030504000101010101" pitchFamily="18" charset="-127"/>
              </a:rPr>
              <a:t>)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820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1619"/>
          </a:xfrm>
        </p:spPr>
        <p:txBody>
          <a:bodyPr/>
          <a:lstStyle/>
          <a:p>
            <a:r>
              <a:rPr lang="en-US" altLang="ko-KR" b="1"/>
              <a:t>Ajax </a:t>
            </a:r>
            <a:r>
              <a:rPr lang="ko-KR" altLang="en-US" b="1"/>
              <a:t>소개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3" y="1411219"/>
            <a:ext cx="9955171" cy="518613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Ajax(Asynchronous JavaScript and XML)</a:t>
            </a:r>
          </a:p>
          <a:p>
            <a:pPr lvl="1">
              <a:lnSpc>
                <a:spcPct val="150000"/>
              </a:lnSpc>
            </a:pPr>
            <a:r>
              <a:rPr lang="ko-KR" altLang="en-US" b="1">
                <a:ea typeface="함초롬바탕" panose="02030504000101010101" pitchFamily="18" charset="-127"/>
                <a:cs typeface="함초롬바탕" panose="02030504000101010101" pitchFamily="18" charset="-127"/>
              </a:rPr>
              <a:t>비동기적 데이터 교환 기법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클라이언트와 서버간 데이터를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주고받는 기술</a:t>
            </a:r>
            <a:endParaRPr lang="en-US" altLang="ko-KR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Javascript, XML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 외에도 </a:t>
            </a:r>
            <a:r>
              <a:rPr lang="en-US" altLang="ko-KR">
                <a:ea typeface="함초롬바탕" panose="02030504000101010101" pitchFamily="18" charset="-127"/>
                <a:cs typeface="함초롬바탕" panose="02030504000101010101" pitchFamily="18" charset="-127"/>
              </a:rPr>
              <a:t>JSON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이나 일반 텍스트 파일과 같은 다른 데이터 오브젝트들로도 사용 가능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대화식 웹 애플리케이션의 제작을 위해 다음과 같은 조합을 이용하는 웹 개발 기법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2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표현 정보를 위한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HTML(or XHTML)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과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CSS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동적인 화면 출력 및 표시 정보와의 상호작용을 위한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DOM, JavaScript</a:t>
            </a:r>
          </a:p>
          <a:p>
            <a:pPr lvl="2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서버와 비동기적으로 데이터를 교환하고 조작하기 위한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XML, XSLT, </a:t>
            </a:r>
            <a:r>
              <a:rPr lang="en-US" altLang="ko-KR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XMLHttpRequest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필요한 데이터만을 웹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서버에 요청해서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받은 후 클라이언트에서 </a:t>
            </a:r>
            <a:r>
              <a:rPr lang="ko-KR" altLang="en-US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데이터에 대해 처리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서버에서 전적으로 처리되던 데이터 처리의 일부분이 클라이언트 쪽에서 처리 되므로 웹 브라우저와 웹 서버 사이에 교환되는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데이터양과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웹 서버의 데이터 처리량도 줄어들기 때문에 애플리케이션의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응답성이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좋아진다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593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Ajax </a:t>
            </a:r>
            <a:r>
              <a:rPr lang="ko-KR" altLang="en-US" b="1"/>
              <a:t>소개</a:t>
            </a:r>
            <a:r>
              <a:rPr lang="en-US" altLang="ko-KR" b="1"/>
              <a:t>(2)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rcRect t="2253"/>
          <a:stretch/>
        </p:blipFill>
        <p:spPr>
          <a:xfrm>
            <a:off x="1679537" y="2895841"/>
            <a:ext cx="7639050" cy="1843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77333" y="1411219"/>
            <a:ext cx="9643459" cy="481270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Google Suggest(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추천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검색어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에 의해 유명해짐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Google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검색창에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글자 입력 시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JavaScript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는 서버로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text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보내게 되고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결과를 전달하여 출력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445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/>
              <a:t>Ajax</a:t>
            </a:r>
            <a:r>
              <a:rPr lang="ko-KR" altLang="en-US" b="1"/>
              <a:t> 특징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77334" y="1411219"/>
            <a:ext cx="9643459" cy="51804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장점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페이지 이동 없이 고속으로 화면을 전환할 수 있다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 처리를 기다리지 않고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비동기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요청이 가능하다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수신하는 데이터 양을 줄일 수 있고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클라이언트에게 처리를 위임할 수도 있다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단점</a:t>
            </a:r>
            <a:endParaRPr lang="en-US" altLang="ko-KR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Ajax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를 쓸 수 없는 브라우저에 대한 문제가 있다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Http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클라이언트의 기능이 한정되어 있다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페이지 </a:t>
            </a:r>
            <a:r>
              <a:rPr lang="ko-KR" altLang="en-US" dirty="0" err="1">
                <a:ea typeface="함초롬바탕" panose="02030504000101010101" pitchFamily="18" charset="-127"/>
                <a:cs typeface="함초롬바탕" panose="02030504000101010101" pitchFamily="18" charset="-127"/>
              </a:rPr>
              <a:t>이동없는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 통신으로 인한 보안상의 문제</a:t>
            </a:r>
            <a:endParaRPr lang="en-US" altLang="ko-KR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지원하는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Charset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 한정되어 있다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스크립트로 작성되므로 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Debugging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 용이하지 않다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요청을 남발하면 역으로 서버 부하가 늘 수 있다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동일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출처 정책으로 인해 다른 도메인과는 통신이 불가능하다</a:t>
            </a:r>
            <a:r>
              <a:rPr lang="en-US" altLang="ko-KR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776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동기식 </a:t>
            </a:r>
            <a:r>
              <a:rPr lang="en-US" altLang="ko-KR" b="1"/>
              <a:t>vs </a:t>
            </a:r>
            <a:r>
              <a:rPr lang="ko-KR" altLang="en-US" b="1"/>
              <a:t>비동기식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899" y="1930400"/>
            <a:ext cx="4243442" cy="2188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77334" y="4293096"/>
            <a:ext cx="4626578" cy="22322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서버로 데이터를 요청하고 응답이 오는 시간 동안 작업을 멈추고 기다린다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ex) 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웹에서 로그인 할 때 아이디와 패스워드를 서버로 전송하고 로그인 성공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/</a:t>
            </a:r>
            <a:r>
              <a:rPr lang="ko-KR" altLang="en-US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실패 웹 페이지로 이동한다</a:t>
            </a:r>
            <a:r>
              <a:rPr lang="en-US" altLang="ko-KR" sz="16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</a:p>
        </p:txBody>
      </p:sp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7784" y="1930400"/>
            <a:ext cx="4251493" cy="21880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내용 개체 틀 2"/>
          <p:cNvSpPr txBox="1">
            <a:spLocks/>
          </p:cNvSpPr>
          <p:nvPr/>
        </p:nvSpPr>
        <p:spPr>
          <a:xfrm>
            <a:off x="5698207" y="4293096"/>
            <a:ext cx="5438353" cy="1872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서버로 데이터를 요청하고 응답을 기다리는 동안 웹 자신의 다른 업무를 진행하고 응답이 오면 작업 진행</a:t>
            </a:r>
            <a:endParaRPr lang="en-US" altLang="ko-KR" sz="16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사용자 입장에서는 화면 갱신도 없고</a:t>
            </a:r>
            <a:r>
              <a:rPr lang="en-US" altLang="ko-KR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요청</a:t>
            </a:r>
            <a:r>
              <a:rPr lang="en-US" altLang="ko-KR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응답 사이 시간에도 다른 일을 진행 할 수 있다</a:t>
            </a:r>
            <a:r>
              <a:rPr lang="en-US" altLang="ko-KR" sz="1600">
                <a:ea typeface="함초롬바탕" panose="02030504000101010101" pitchFamily="18" charset="-127"/>
                <a:cs typeface="함초롬바탕" panose="02030504000101010101" pitchFamily="18" charset="-127"/>
              </a:rPr>
              <a:t>.</a:t>
            </a:r>
            <a:endParaRPr lang="en-US" altLang="ko-KR" sz="16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1" name="내용 개체 틀 2"/>
          <p:cNvSpPr txBox="1">
            <a:spLocks/>
          </p:cNvSpPr>
          <p:nvPr/>
        </p:nvSpPr>
        <p:spPr>
          <a:xfrm>
            <a:off x="677334" y="1405072"/>
            <a:ext cx="1440159" cy="52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b="1">
                <a:ea typeface="함초롬바탕" panose="02030504000101010101" pitchFamily="18" charset="-127"/>
                <a:cs typeface="함초롬바탕" panose="02030504000101010101" pitchFamily="18" charset="-127"/>
              </a:rPr>
              <a:t>동기식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2" name="내용 개체 틀 2"/>
          <p:cNvSpPr txBox="1">
            <a:spLocks/>
          </p:cNvSpPr>
          <p:nvPr/>
        </p:nvSpPr>
        <p:spPr>
          <a:xfrm>
            <a:off x="5692899" y="1405072"/>
            <a:ext cx="1440159" cy="52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b="1">
                <a:ea typeface="함초롬바탕" panose="02030504000101010101" pitchFamily="18" charset="-127"/>
                <a:cs typeface="함초롬바탕" panose="02030504000101010101" pitchFamily="18" charset="-127"/>
              </a:rPr>
              <a:t>비동기식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09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/>
              <a:t>기존 방식 </a:t>
            </a:r>
            <a:r>
              <a:rPr lang="en-US" altLang="ko-KR" b="1"/>
              <a:t>vs Ajax </a:t>
            </a:r>
            <a:r>
              <a:rPr lang="ko-KR" altLang="en-US" b="1"/>
              <a:t>방식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3392" y="4473497"/>
            <a:ext cx="5328592" cy="20733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웹 브라우저가 웹 서버에 요청 전송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서버는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JSP, PHP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등의 서버 애플리케이션을 사용해 요청 처리 후 결과를 </a:t>
            </a:r>
            <a:r>
              <a:rPr lang="en-US" altLang="ko-KR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HTML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로 생성해서 웹 브라우저에 전송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사용자 입장에서 </a:t>
            </a:r>
            <a:r>
              <a:rPr lang="ko-KR" altLang="en-US" sz="1500" b="1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페이지 이동</a:t>
            </a:r>
            <a:r>
              <a:rPr lang="ko-KR" altLang="en-US" sz="1500" dirty="0">
                <a:ea typeface="함초롬바탕" panose="02030504000101010101" pitchFamily="18" charset="-127"/>
                <a:cs typeface="함초롬바탕" panose="02030504000101010101" pitchFamily="18" charset="-127"/>
              </a:rPr>
              <a:t>이 발생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pic>
        <p:nvPicPr>
          <p:cNvPr id="5" name="내용 개체 틀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14" y="1930400"/>
            <a:ext cx="4709110" cy="2259100"/>
          </a:xfrm>
          <a:prstGeom prst="rect">
            <a:avLst/>
          </a:prstGeom>
        </p:spPr>
      </p:pic>
      <p:sp>
        <p:nvSpPr>
          <p:cNvPr id="6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7" name="내용 개체 틀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045" y="1670324"/>
            <a:ext cx="4328171" cy="2603562"/>
          </a:xfrm>
          <a:prstGeom prst="rect">
            <a:avLst/>
          </a:prstGeom>
        </p:spPr>
      </p:pic>
      <p:sp>
        <p:nvSpPr>
          <p:cNvPr id="8" name="내용 개체 틀 2"/>
          <p:cNvSpPr txBox="1">
            <a:spLocks/>
          </p:cNvSpPr>
          <p:nvPr/>
        </p:nvSpPr>
        <p:spPr>
          <a:xfrm>
            <a:off x="6205045" y="4509120"/>
            <a:ext cx="5479261" cy="20020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사용자가 이벤트를 발생시키면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JavaScript(jQuery)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DOM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을 사용해서 필요한 정보를 구한 뒤 웹 서버에 요청을 전달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웹 서버는 요청을 알맞게 처리 후 결과를 생성해서 전송</a:t>
            </a:r>
            <a:endParaRPr lang="en-US" altLang="ko-KR" sz="1500"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사용자 입장에서 </a:t>
            </a:r>
            <a:r>
              <a:rPr lang="ko-KR" altLang="en-US" sz="1500" b="1">
                <a:ea typeface="함초롬바탕" panose="02030504000101010101" pitchFamily="18" charset="-127"/>
                <a:cs typeface="함초롬바탕" panose="02030504000101010101" pitchFamily="18" charset="-127"/>
              </a:rPr>
              <a:t>페이지 이동 없이 </a:t>
            </a:r>
            <a:r>
              <a:rPr lang="ko-KR" altLang="en-US" sz="1500">
                <a:ea typeface="함초롬바탕" panose="02030504000101010101" pitchFamily="18" charset="-127"/>
                <a:cs typeface="함초롬바탕" panose="02030504000101010101" pitchFamily="18" charset="-127"/>
              </a:rPr>
              <a:t>내부 변화만 일어남</a:t>
            </a:r>
            <a:endParaRPr lang="en-US" altLang="ko-KR" sz="1500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623392" y="1324964"/>
            <a:ext cx="1440159" cy="52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600" b="1">
                <a:ea typeface="함초롬바탕" panose="02030504000101010101" pitchFamily="18" charset="-127"/>
                <a:cs typeface="함초롬바탕" panose="02030504000101010101" pitchFamily="18" charset="-127"/>
              </a:rPr>
              <a:t>기존 방식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" name="내용 개체 틀 2"/>
          <p:cNvSpPr txBox="1">
            <a:spLocks/>
          </p:cNvSpPr>
          <p:nvPr/>
        </p:nvSpPr>
        <p:spPr>
          <a:xfrm>
            <a:off x="6205045" y="1142408"/>
            <a:ext cx="1440159" cy="52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600" b="1">
                <a:ea typeface="함초롬바탕" panose="02030504000101010101" pitchFamily="18" charset="-127"/>
                <a:cs typeface="함초롬바탕" panose="02030504000101010101" pitchFamily="18" charset="-127"/>
              </a:rPr>
              <a:t>Ajax </a:t>
            </a:r>
            <a:r>
              <a:rPr lang="ko-KR" altLang="en-US" sz="1600" b="1">
                <a:ea typeface="함초롬바탕" panose="02030504000101010101" pitchFamily="18" charset="-127"/>
                <a:cs typeface="함초롬바탕" panose="02030504000101010101" pitchFamily="18" charset="-127"/>
              </a:rPr>
              <a:t>방식</a:t>
            </a:r>
            <a:endParaRPr lang="en-US" altLang="ko-KR" sz="1600" b="1" dirty="0"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25990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628800"/>
            <a:ext cx="4813678" cy="49435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1444" y="1628800"/>
            <a:ext cx="5804057" cy="1512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7408" y="1233377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&lt;jquery_01.html&gt;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01444" y="1233377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&lt;jquery_01.jsp&gt;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/>
              <a:t>예제</a:t>
            </a:r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652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6040" y="2276872"/>
            <a:ext cx="4393412" cy="290554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r="303" b="2834"/>
          <a:stretch/>
        </p:blipFill>
        <p:spPr>
          <a:xfrm>
            <a:off x="1258440" y="2283952"/>
            <a:ext cx="4380045" cy="289138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3448462" y="3100904"/>
            <a:ext cx="972544" cy="5038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4420870" y="2983496"/>
            <a:ext cx="101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2" name="직선 화살표 연결선 11"/>
          <p:cNvCxnSpPr>
            <a:stCxn id="8" idx="3"/>
            <a:endCxn id="7" idx="1"/>
          </p:cNvCxnSpPr>
          <p:nvPr/>
        </p:nvCxnSpPr>
        <p:spPr>
          <a:xfrm>
            <a:off x="5638485" y="3729646"/>
            <a:ext cx="81755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6488820" y="3703201"/>
            <a:ext cx="2692741" cy="3488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/>
              <a:t>예제</a:t>
            </a:r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3450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67408" y="1233377"/>
            <a:ext cx="202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en-US" altLang="ko-KR" dirty="0" smtClean="0"/>
              <a:t>jquery_02.html</a:t>
            </a:r>
            <a:r>
              <a:rPr lang="en-US" altLang="ko-KR" dirty="0"/>
              <a:t>&gt;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(2/2)</a:t>
            </a:r>
            <a:endParaRPr lang="ko-KR" altLang="en-US" b="1" dirty="0"/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27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12" y="1700808"/>
            <a:ext cx="7334912" cy="496855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632" y="3573015"/>
            <a:ext cx="5451140" cy="309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707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439816" y="1270000"/>
            <a:ext cx="1343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en-US" altLang="ko-KR" dirty="0" smtClean="0"/>
              <a:t>test2</a:t>
            </a:r>
            <a:r>
              <a:rPr lang="en-US" altLang="ko-KR" dirty="0" smtClean="0"/>
              <a:t>.jsp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(2/2)</a:t>
            </a:r>
            <a:endParaRPr lang="ko-KR" altLang="en-US" b="1" dirty="0"/>
          </a:p>
        </p:txBody>
      </p:sp>
      <p:sp>
        <p:nvSpPr>
          <p:cNvPr id="10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7608" y="1700807"/>
            <a:ext cx="6912768" cy="504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747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820" y="1714282"/>
            <a:ext cx="3993962" cy="37201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464" y="1451023"/>
            <a:ext cx="4895229" cy="3803610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6445388" y="3712380"/>
            <a:ext cx="972544" cy="50384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578995" y="3720801"/>
            <a:ext cx="1011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Click!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488820" y="4342322"/>
            <a:ext cx="2692741" cy="997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altLang="ko-KR" b="1" dirty="0"/>
              <a:t>AJAX </a:t>
            </a:r>
            <a:r>
              <a:rPr lang="ko-KR" altLang="en-US" b="1" dirty="0" smtClean="0"/>
              <a:t>예제</a:t>
            </a:r>
            <a:r>
              <a:rPr lang="en-US" altLang="ko-KR" b="1" dirty="0" smtClean="0"/>
              <a:t>(2/2 </a:t>
            </a:r>
            <a:r>
              <a:rPr lang="ko-KR" altLang="en-US" b="1" dirty="0" smtClean="0"/>
              <a:t>결과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4946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title"/>
          </p:nvPr>
        </p:nvSpPr>
        <p:spPr>
          <a:xfrm>
            <a:off x="2567608" y="1556792"/>
            <a:ext cx="8064896" cy="2731175"/>
          </a:xfrm>
        </p:spPr>
        <p:txBody>
          <a:bodyPr>
            <a:noAutofit/>
          </a:bodyPr>
          <a:lstStyle/>
          <a:p>
            <a:r>
              <a:rPr lang="en-US" altLang="ko-KR" sz="4800" b="1">
                <a:latin typeface="+mj-ea"/>
                <a:cs typeface="함초롬바탕" panose="02030504000101010101" pitchFamily="18" charset="-127"/>
              </a:rPr>
              <a:t>Appendix</a:t>
            </a:r>
            <a:endParaRPr lang="ko-KR" altLang="en-US" sz="4800" b="1" dirty="0">
              <a:latin typeface="+mj-ea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288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03042" cy="826687"/>
          </a:xfrm>
        </p:spPr>
        <p:txBody>
          <a:bodyPr/>
          <a:lstStyle/>
          <a:p>
            <a:r>
              <a:rPr lang="ko-KR" altLang="en-US" b="1"/>
              <a:t>부록 </a:t>
            </a:r>
            <a:r>
              <a:rPr lang="en-US" altLang="ko-KR" b="1"/>
              <a:t>: </a:t>
            </a:r>
            <a:r>
              <a:rPr lang="ko-KR" altLang="en-US" b="1"/>
              <a:t>일반적인 웹서비스시스템 구성</a:t>
            </a:r>
            <a:endParaRPr lang="ko-KR" altLang="en-US" b="1" dirty="0"/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31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305237" y="2537229"/>
            <a:ext cx="1136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ko-KR" sz="2000" dirty="0">
                <a:latin typeface="+mj-ea"/>
                <a:ea typeface="+mj-ea"/>
              </a:rPr>
              <a:t>Client</a:t>
            </a:r>
            <a:endParaRPr lang="ko-KR" altLang="en-US" sz="2000" dirty="0">
              <a:latin typeface="+mj-ea"/>
              <a:ea typeface="+mj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89235" y="2534789"/>
            <a:ext cx="13928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ko-KR" sz="2000">
                <a:latin typeface="+mj-ea"/>
                <a:ea typeface="+mj-ea"/>
              </a:rPr>
              <a:t>Browser</a:t>
            </a:r>
            <a:endParaRPr lang="ko-KR" altLang="en-US" sz="2000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532489" y="2534789"/>
            <a:ext cx="1205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ko-KR" sz="2000">
                <a:latin typeface="+mj-ea"/>
                <a:ea typeface="+mj-ea"/>
              </a:rPr>
              <a:t>Server</a:t>
            </a:r>
            <a:endParaRPr lang="ko-KR" altLang="en-US" sz="2000">
              <a:latin typeface="+mj-ea"/>
              <a:ea typeface="+mj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94400" y="2537229"/>
            <a:ext cx="15462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ko-KR" sz="2000">
                <a:latin typeface="+mj-ea"/>
                <a:ea typeface="+mj-ea"/>
              </a:rPr>
              <a:t>Datebase</a:t>
            </a:r>
            <a:endParaRPr lang="ko-KR" altLang="en-US" sz="2000">
              <a:latin typeface="+mj-ea"/>
              <a:ea typeface="+mj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13456" y="2534789"/>
            <a:ext cx="14582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altLang="ko-KR" sz="2000">
                <a:latin typeface="+mj-ea"/>
                <a:ea typeface="+mj-ea"/>
              </a:rPr>
              <a:t>Network</a:t>
            </a:r>
            <a:endParaRPr lang="ko-KR" altLang="en-US" sz="2000">
              <a:latin typeface="+mj-ea"/>
              <a:ea typeface="+mj-ea"/>
            </a:endParaRPr>
          </a:p>
        </p:txBody>
      </p:sp>
      <p:pic>
        <p:nvPicPr>
          <p:cNvPr id="2050" name="Picture 2" descr="user icon에 대한 이미지 검색결과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09" y="3501008"/>
            <a:ext cx="1574304" cy="157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b icon에 대한 이미지 검색결과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9772" y="3501008"/>
            <a:ext cx="1574304" cy="1574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erver icon에 대한 이미지 검색결과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175" y="3392336"/>
            <a:ext cx="1791642" cy="179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관련 이미지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479" y="3788039"/>
            <a:ext cx="1000235" cy="100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rowser icon에 대한 이미지 검색결과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869" y="3641081"/>
            <a:ext cx="1294149" cy="1294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39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03042" cy="826687"/>
          </a:xfrm>
        </p:spPr>
        <p:txBody>
          <a:bodyPr/>
          <a:lstStyle/>
          <a:p>
            <a:r>
              <a:rPr lang="ko-KR" altLang="en-US" b="1"/>
              <a:t>부록 </a:t>
            </a:r>
            <a:r>
              <a:rPr lang="en-US" altLang="ko-KR" b="1"/>
              <a:t>: </a:t>
            </a:r>
            <a:r>
              <a:rPr lang="ko-KR" altLang="en-US" b="1"/>
              <a:t>웹언어 </a:t>
            </a:r>
            <a:r>
              <a:rPr lang="en-US" altLang="ko-KR" b="1"/>
              <a:t>(</a:t>
            </a:r>
            <a:r>
              <a:rPr lang="ko-KR" altLang="en-US" b="1"/>
              <a:t>클라이언트</a:t>
            </a:r>
            <a:r>
              <a:rPr lang="en-US" altLang="ko-KR" b="1"/>
              <a:t>)</a:t>
            </a:r>
            <a:endParaRPr lang="ko-KR" altLang="en-US" b="1" dirty="0"/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32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2703096"/>
            <a:ext cx="2172427" cy="2304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288" y="2852341"/>
            <a:ext cx="2533031" cy="248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513" y="2703096"/>
            <a:ext cx="4010632" cy="29112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1199456" y="233376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&lt;HTML&gt;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8288" y="2483009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&lt;CSS&gt;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25513" y="2333764"/>
            <a:ext cx="1526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&lt;JavaScript&gt;</a:t>
            </a:r>
            <a:endParaRPr lang="ko-KR" altLang="en-US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896740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03042" cy="826687"/>
          </a:xfrm>
        </p:spPr>
        <p:txBody>
          <a:bodyPr/>
          <a:lstStyle/>
          <a:p>
            <a:r>
              <a:rPr lang="ko-KR" altLang="en-US" b="1"/>
              <a:t>부록 </a:t>
            </a:r>
            <a:r>
              <a:rPr lang="en-US" altLang="ko-KR" b="1"/>
              <a:t>: </a:t>
            </a:r>
            <a:r>
              <a:rPr lang="ko-KR" altLang="en-US" b="1"/>
              <a:t>웹언어 </a:t>
            </a:r>
            <a:r>
              <a:rPr lang="en-US" altLang="ko-KR" b="1"/>
              <a:t>(</a:t>
            </a:r>
            <a:r>
              <a:rPr lang="ko-KR" altLang="en-US" b="1"/>
              <a:t>서버</a:t>
            </a:r>
            <a:r>
              <a:rPr lang="en-US" altLang="ko-KR" b="1"/>
              <a:t>)</a:t>
            </a:r>
            <a:endParaRPr lang="ko-KR" altLang="en-US" b="1" dirty="0"/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33</a:t>
            </a:fld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037135" y="2166496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&lt;JSP&gt;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1518" y="2166496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&lt;ASP&gt;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5927" y="216649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&lt;PHP&gt;</a:t>
            </a:r>
            <a:endParaRPr lang="ko-KR" altLang="en-US">
              <a:latin typeface="+mj-ea"/>
              <a:ea typeface="+mj-ea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926" y="2708920"/>
            <a:ext cx="2628900" cy="21526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518" y="2858397"/>
            <a:ext cx="3343275" cy="1714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135" y="2711202"/>
            <a:ext cx="3143250" cy="2295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7825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803042" cy="826687"/>
          </a:xfrm>
        </p:spPr>
        <p:txBody>
          <a:bodyPr/>
          <a:lstStyle/>
          <a:p>
            <a:r>
              <a:rPr lang="ko-KR" altLang="en-US" b="1"/>
              <a:t>부록 </a:t>
            </a:r>
            <a:r>
              <a:rPr lang="en-US" altLang="ko-KR" b="1"/>
              <a:t>: </a:t>
            </a:r>
            <a:r>
              <a:rPr lang="ko-KR" altLang="en-US" b="1"/>
              <a:t>웹 데이터 교환 형식</a:t>
            </a:r>
            <a:endParaRPr lang="ko-KR" altLang="en-US" b="1" dirty="0"/>
          </a:p>
        </p:txBody>
      </p:sp>
      <p:sp>
        <p:nvSpPr>
          <p:cNvPr id="11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11352584" y="6381328"/>
            <a:ext cx="683339" cy="365125"/>
          </a:xfrm>
        </p:spPr>
        <p:txBody>
          <a:bodyPr/>
          <a:lstStyle/>
          <a:p>
            <a:fld id="{66480678-46F8-4C6F-81BB-374C160D1764}" type="slidenum">
              <a:rPr lang="ko-KR" altLang="en-US" smtClean="0"/>
              <a:pPr/>
              <a:t>34</a:t>
            </a:fld>
            <a:endParaRPr lang="ko-KR" altLang="en-US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927" y="2040746"/>
            <a:ext cx="3562075" cy="1407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TextBox 17"/>
          <p:cNvSpPr txBox="1"/>
          <p:nvPr/>
        </p:nvSpPr>
        <p:spPr>
          <a:xfrm>
            <a:off x="1627927" y="1671414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&lt;XML&gt;</a:t>
            </a:r>
            <a:endParaRPr lang="ko-KR" altLang="en-US">
              <a:latin typeface="+mj-ea"/>
              <a:ea typeface="+mj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439" y="1772816"/>
            <a:ext cx="4105275" cy="19431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6236439" y="130208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>
                <a:latin typeface="+mj-ea"/>
                <a:ea typeface="+mj-ea"/>
              </a:rPr>
              <a:t>&lt;JSON&gt;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0309" y="4076223"/>
            <a:ext cx="56653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공통점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/>
              <a:t>사람이 읽을 수 있도록 자체적으로 설명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/>
              <a:t>계층적인 구조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/>
              <a:t>다양한 프로그래밍 언어에서 파싱 및 사용가능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XMLHttpRequest </a:t>
            </a:r>
            <a:r>
              <a:rPr lang="ko-KR" altLang="en-US"/>
              <a:t>사용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9372" y="4052853"/>
            <a:ext cx="508184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/>
              <a:t>차이점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End Tag</a:t>
            </a:r>
            <a:r>
              <a:rPr lang="ko-KR" altLang="en-US"/>
              <a:t>가 </a:t>
            </a:r>
            <a:r>
              <a:rPr lang="en-US" altLang="ko-KR"/>
              <a:t>XML</a:t>
            </a:r>
            <a:r>
              <a:rPr lang="ko-KR" altLang="en-US"/>
              <a:t>에만 있음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JSON</a:t>
            </a:r>
            <a:r>
              <a:rPr lang="ko-KR" altLang="en-US"/>
              <a:t>이 비교적 짧음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ko-KR" altLang="en-US"/>
              <a:t>데이터 </a:t>
            </a:r>
            <a:r>
              <a:rPr lang="en-US" altLang="ko-KR"/>
              <a:t>R/W</a:t>
            </a:r>
            <a:r>
              <a:rPr lang="ko-KR" altLang="en-US"/>
              <a:t> 속도는 </a:t>
            </a:r>
            <a:r>
              <a:rPr lang="en-US" altLang="ko-KR"/>
              <a:t>JSON</a:t>
            </a:r>
            <a:r>
              <a:rPr lang="ko-KR" altLang="en-US"/>
              <a:t>이 비교적 빠름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JSON</a:t>
            </a:r>
            <a:r>
              <a:rPr lang="ko-KR" altLang="en-US"/>
              <a:t>은 배열사용 가능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XML</a:t>
            </a:r>
            <a:r>
              <a:rPr lang="ko-KR" altLang="en-US"/>
              <a:t>은 </a:t>
            </a:r>
            <a:r>
              <a:rPr lang="en-US" altLang="ko-KR"/>
              <a:t>XML</a:t>
            </a:r>
            <a:r>
              <a:rPr lang="ko-KR" altLang="en-US"/>
              <a:t>구문 분석기로 구문분석</a:t>
            </a:r>
            <a:endParaRPr lang="en-US" altLang="ko-KR"/>
          </a:p>
          <a:p>
            <a:pPr lvl="1"/>
            <a:r>
              <a:rPr lang="en-US" altLang="ko-KR"/>
              <a:t>/ JSON</a:t>
            </a:r>
            <a:r>
              <a:rPr lang="ko-KR" altLang="en-US"/>
              <a:t>은 표준 </a:t>
            </a:r>
            <a:r>
              <a:rPr lang="en-US" altLang="ko-KR"/>
              <a:t>JavaScript </a:t>
            </a:r>
            <a:r>
              <a:rPr lang="ko-KR" altLang="en-US"/>
              <a:t>함수로 파싱 가능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0181777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15209</TotalTime>
  <Words>1263</Words>
  <Application>Microsoft Office PowerPoint</Application>
  <PresentationFormat>와이드스크린</PresentationFormat>
  <Paragraphs>217</Paragraphs>
  <Slides>34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34</vt:i4>
      </vt:variant>
    </vt:vector>
  </HeadingPairs>
  <TitlesOfParts>
    <vt:vector size="43" baseType="lpstr">
      <vt:lpstr>Arial</vt:lpstr>
      <vt:lpstr>HY그래픽M</vt:lpstr>
      <vt:lpstr>Trebuchet MS</vt:lpstr>
      <vt:lpstr>Wingdings</vt:lpstr>
      <vt:lpstr>Wingdings 3</vt:lpstr>
      <vt:lpstr>맑은 고딕</vt:lpstr>
      <vt:lpstr>함초롬바탕</vt:lpstr>
      <vt:lpstr>Custom Design</vt:lpstr>
      <vt:lpstr>패싯</vt:lpstr>
      <vt:lpstr>JSON &amp; XML &amp; Ajax </vt:lpstr>
      <vt:lpstr>목차</vt:lpstr>
      <vt:lpstr>JSON (JavaScript Object Notation)</vt:lpstr>
      <vt:lpstr>JSON 소개</vt:lpstr>
      <vt:lpstr>JSON 구조</vt:lpstr>
      <vt:lpstr>JSON &gt;&gt; Object</vt:lpstr>
      <vt:lpstr>JSON &gt;&gt; Value</vt:lpstr>
      <vt:lpstr>JSON &gt;&gt; Array</vt:lpstr>
      <vt:lpstr>JSON &gt;&gt; String</vt:lpstr>
      <vt:lpstr>JSON &gt;&gt; Number</vt:lpstr>
      <vt:lpstr>JSON 구조 예제 (1/3)</vt:lpstr>
      <vt:lpstr>JSON 구조 예제 (2/3)</vt:lpstr>
      <vt:lpstr>JSON 구조 예제 (3/3)</vt:lpstr>
      <vt:lpstr>JavaScript에서 JSON 만들기</vt:lpstr>
      <vt:lpstr>PowerPoint 프레젠테이션</vt:lpstr>
      <vt:lpstr>XML 소개</vt:lpstr>
      <vt:lpstr>XML Parser</vt:lpstr>
      <vt:lpstr>XSL &amp; XSLT</vt:lpstr>
      <vt:lpstr>Ajax (Asynchronous JavaScript and XML)</vt:lpstr>
      <vt:lpstr>Ajax 소개</vt:lpstr>
      <vt:lpstr>Ajax 소개(2)</vt:lpstr>
      <vt:lpstr>Ajax 특징</vt:lpstr>
      <vt:lpstr>동기식 vs 비동기식</vt:lpstr>
      <vt:lpstr>기존 방식 vs Ajax 방식</vt:lpstr>
      <vt:lpstr>AJAX 예제</vt:lpstr>
      <vt:lpstr>AJAX 예제</vt:lpstr>
      <vt:lpstr>AJAX 예제(2/2)</vt:lpstr>
      <vt:lpstr>AJAX 예제(2/2)</vt:lpstr>
      <vt:lpstr>AJAX 예제(2/2 결과)</vt:lpstr>
      <vt:lpstr>Appendix</vt:lpstr>
      <vt:lpstr>부록 : 일반적인 웹서비스시스템 구성</vt:lpstr>
      <vt:lpstr>부록 : 웹언어 (클라이언트)</vt:lpstr>
      <vt:lpstr>부록 : 웹언어 (서버)</vt:lpstr>
      <vt:lpstr>부록 : 웹 데이터 교환 형식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Chris</dc:creator>
  <cp:lastModifiedBy>Windows 사용자</cp:lastModifiedBy>
  <cp:revision>717</cp:revision>
  <dcterms:created xsi:type="dcterms:W3CDTF">2011-03-11T08:34:49Z</dcterms:created>
  <dcterms:modified xsi:type="dcterms:W3CDTF">2018-04-30T04:24:28Z</dcterms:modified>
</cp:coreProperties>
</file>