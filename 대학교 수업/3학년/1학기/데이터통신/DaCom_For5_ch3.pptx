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8" r:id="rId1"/>
  </p:sldMasterIdLst>
  <p:notesMasterIdLst>
    <p:notesMasterId r:id="rId54"/>
  </p:notesMasterIdLst>
  <p:handoutMasterIdLst>
    <p:handoutMasterId r:id="rId55"/>
  </p:handoutMasterIdLst>
  <p:sldIdLst>
    <p:sldId id="256" r:id="rId2"/>
    <p:sldId id="429" r:id="rId3"/>
    <p:sldId id="448" r:id="rId4"/>
    <p:sldId id="496" r:id="rId5"/>
    <p:sldId id="478" r:id="rId6"/>
    <p:sldId id="449" r:id="rId7"/>
    <p:sldId id="504" r:id="rId8"/>
    <p:sldId id="505" r:id="rId9"/>
    <p:sldId id="507" r:id="rId10"/>
    <p:sldId id="499" r:id="rId11"/>
    <p:sldId id="500" r:id="rId12"/>
    <p:sldId id="501" r:id="rId13"/>
    <p:sldId id="502" r:id="rId14"/>
    <p:sldId id="551" r:id="rId15"/>
    <p:sldId id="508" r:id="rId16"/>
    <p:sldId id="509" r:id="rId17"/>
    <p:sldId id="510" r:id="rId18"/>
    <p:sldId id="511" r:id="rId19"/>
    <p:sldId id="512" r:id="rId20"/>
    <p:sldId id="552" r:id="rId21"/>
    <p:sldId id="513" r:id="rId22"/>
    <p:sldId id="515" r:id="rId23"/>
    <p:sldId id="516" r:id="rId24"/>
    <p:sldId id="517" r:id="rId25"/>
    <p:sldId id="518" r:id="rId26"/>
    <p:sldId id="519" r:id="rId27"/>
    <p:sldId id="521" r:id="rId28"/>
    <p:sldId id="525" r:id="rId29"/>
    <p:sldId id="522" r:id="rId30"/>
    <p:sldId id="526" r:id="rId31"/>
    <p:sldId id="527" r:id="rId32"/>
    <p:sldId id="528" r:id="rId33"/>
    <p:sldId id="529" r:id="rId34"/>
    <p:sldId id="530" r:id="rId35"/>
    <p:sldId id="531" r:id="rId36"/>
    <p:sldId id="532" r:id="rId37"/>
    <p:sldId id="533" r:id="rId38"/>
    <p:sldId id="534" r:id="rId39"/>
    <p:sldId id="535" r:id="rId40"/>
    <p:sldId id="536" r:id="rId41"/>
    <p:sldId id="537" r:id="rId42"/>
    <p:sldId id="538" r:id="rId43"/>
    <p:sldId id="539" r:id="rId44"/>
    <p:sldId id="540" r:id="rId45"/>
    <p:sldId id="541" r:id="rId46"/>
    <p:sldId id="542" r:id="rId47"/>
    <p:sldId id="543" r:id="rId48"/>
    <p:sldId id="544" r:id="rId49"/>
    <p:sldId id="545" r:id="rId50"/>
    <p:sldId id="547" r:id="rId51"/>
    <p:sldId id="548" r:id="rId52"/>
    <p:sldId id="550" r:id="rId53"/>
  </p:sldIdLst>
  <p:sldSz cx="9144000" cy="6858000" type="screen4x3"/>
  <p:notesSz cx="7099300" cy="10234613"/>
  <p:defaultTextStyle>
    <a:defPPr>
      <a:defRPr lang="en-US"/>
    </a:defPPr>
    <a:lvl1pPr algn="l" rtl="0" eaLnBrk="0" fontAlgn="base" hangingPunct="0">
      <a:spcBef>
        <a:spcPct val="0"/>
      </a:spcBef>
      <a:spcAft>
        <a:spcPct val="0"/>
      </a:spcAft>
      <a:defRPr sz="2000" i="1" kern="1200">
        <a:solidFill>
          <a:schemeClr val="tx1"/>
        </a:solidFill>
        <a:latin typeface="Arial" pitchFamily="34" charset="0"/>
        <a:ea typeface="굴림" pitchFamily="50" charset="-127"/>
        <a:cs typeface="+mn-cs"/>
      </a:defRPr>
    </a:lvl1pPr>
    <a:lvl2pPr marL="457200" algn="l" rtl="0" eaLnBrk="0" fontAlgn="base" hangingPunct="0">
      <a:spcBef>
        <a:spcPct val="0"/>
      </a:spcBef>
      <a:spcAft>
        <a:spcPct val="0"/>
      </a:spcAft>
      <a:defRPr sz="2000" i="1" kern="1200">
        <a:solidFill>
          <a:schemeClr val="tx1"/>
        </a:solidFill>
        <a:latin typeface="Arial" pitchFamily="34" charset="0"/>
        <a:ea typeface="굴림" pitchFamily="50" charset="-127"/>
        <a:cs typeface="+mn-cs"/>
      </a:defRPr>
    </a:lvl2pPr>
    <a:lvl3pPr marL="914400" algn="l" rtl="0" eaLnBrk="0" fontAlgn="base" hangingPunct="0">
      <a:spcBef>
        <a:spcPct val="0"/>
      </a:spcBef>
      <a:spcAft>
        <a:spcPct val="0"/>
      </a:spcAft>
      <a:defRPr sz="2000" i="1" kern="1200">
        <a:solidFill>
          <a:schemeClr val="tx1"/>
        </a:solidFill>
        <a:latin typeface="Arial" pitchFamily="34" charset="0"/>
        <a:ea typeface="굴림" pitchFamily="50" charset="-127"/>
        <a:cs typeface="+mn-cs"/>
      </a:defRPr>
    </a:lvl3pPr>
    <a:lvl4pPr marL="1371600" algn="l" rtl="0" eaLnBrk="0" fontAlgn="base" hangingPunct="0">
      <a:spcBef>
        <a:spcPct val="0"/>
      </a:spcBef>
      <a:spcAft>
        <a:spcPct val="0"/>
      </a:spcAft>
      <a:defRPr sz="2000" i="1" kern="1200">
        <a:solidFill>
          <a:schemeClr val="tx1"/>
        </a:solidFill>
        <a:latin typeface="Arial" pitchFamily="34" charset="0"/>
        <a:ea typeface="굴림" pitchFamily="50" charset="-127"/>
        <a:cs typeface="+mn-cs"/>
      </a:defRPr>
    </a:lvl4pPr>
    <a:lvl5pPr marL="1828800" algn="l" rtl="0" eaLnBrk="0" fontAlgn="base" hangingPunct="0">
      <a:spcBef>
        <a:spcPct val="0"/>
      </a:spcBef>
      <a:spcAft>
        <a:spcPct val="0"/>
      </a:spcAft>
      <a:defRPr sz="2000" i="1" kern="1200">
        <a:solidFill>
          <a:schemeClr val="tx1"/>
        </a:solidFill>
        <a:latin typeface="Arial" pitchFamily="34" charset="0"/>
        <a:ea typeface="굴림" pitchFamily="50" charset="-127"/>
        <a:cs typeface="+mn-cs"/>
      </a:defRPr>
    </a:lvl5pPr>
    <a:lvl6pPr marL="2286000" algn="l" defTabSz="914400" rtl="0" eaLnBrk="1" latinLnBrk="1" hangingPunct="1">
      <a:defRPr sz="2000" i="1" kern="1200">
        <a:solidFill>
          <a:schemeClr val="tx1"/>
        </a:solidFill>
        <a:latin typeface="Arial" pitchFamily="34" charset="0"/>
        <a:ea typeface="굴림" pitchFamily="50" charset="-127"/>
        <a:cs typeface="+mn-cs"/>
      </a:defRPr>
    </a:lvl6pPr>
    <a:lvl7pPr marL="2743200" algn="l" defTabSz="914400" rtl="0" eaLnBrk="1" latinLnBrk="1" hangingPunct="1">
      <a:defRPr sz="2000" i="1" kern="1200">
        <a:solidFill>
          <a:schemeClr val="tx1"/>
        </a:solidFill>
        <a:latin typeface="Arial" pitchFamily="34" charset="0"/>
        <a:ea typeface="굴림" pitchFamily="50" charset="-127"/>
        <a:cs typeface="+mn-cs"/>
      </a:defRPr>
    </a:lvl7pPr>
    <a:lvl8pPr marL="3200400" algn="l" defTabSz="914400" rtl="0" eaLnBrk="1" latinLnBrk="1" hangingPunct="1">
      <a:defRPr sz="2000" i="1" kern="1200">
        <a:solidFill>
          <a:schemeClr val="tx1"/>
        </a:solidFill>
        <a:latin typeface="Arial" pitchFamily="34" charset="0"/>
        <a:ea typeface="굴림" pitchFamily="50" charset="-127"/>
        <a:cs typeface="+mn-cs"/>
      </a:defRPr>
    </a:lvl8pPr>
    <a:lvl9pPr marL="3657600" algn="l" defTabSz="914400" rtl="0" eaLnBrk="1" latinLnBrk="1" hangingPunct="1">
      <a:defRPr sz="2000" i="1" kern="1200">
        <a:solidFill>
          <a:schemeClr val="tx1"/>
        </a:solidFill>
        <a:latin typeface="Arial" pitchFamily="34" charset="0"/>
        <a:ea typeface="굴림" pitchFamily="50" charset="-127"/>
        <a:cs typeface="+mn-cs"/>
      </a:defRPr>
    </a:lvl9pPr>
  </p:defaultTextStyle>
  <p:extLst>
    <p:ext uri="{EFAFB233-063F-42B5-8137-9DF3F51BA10A}">
      <p15:sldGuideLst xmlns:p15="http://schemas.microsoft.com/office/powerpoint/2012/main">
        <p15:guide id="1" orient="horz" pos="1536">
          <p15:clr>
            <a:srgbClr val="A4A3A4"/>
          </p15:clr>
        </p15:guide>
        <p15:guide id="2" pos="397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0000"/>
    <a:srgbClr val="7B84C6"/>
    <a:srgbClr val="FF8C3C"/>
    <a:srgbClr val="C66B5A"/>
    <a:srgbClr val="315263"/>
    <a:srgbClr val="001E4A"/>
    <a:srgbClr val="CC00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0018" autoAdjust="0"/>
    <p:restoredTop sz="94591" autoAdjust="0"/>
  </p:normalViewPr>
  <p:slideViewPr>
    <p:cSldViewPr snapToGrid="0">
      <p:cViewPr varScale="1">
        <p:scale>
          <a:sx n="109" d="100"/>
          <a:sy n="109" d="100"/>
        </p:scale>
        <p:origin x="1296" y="84"/>
      </p:cViewPr>
      <p:guideLst>
        <p:guide orient="horz" pos="1536"/>
        <p:guide pos="39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3111500" cy="508000"/>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lvl1pPr defTabSz="998538">
              <a:defRPr sz="1400" i="0">
                <a:latin typeface="Times New Roman" pitchFamily="18" charset="0"/>
                <a:ea typeface="굴림" pitchFamily="50" charset="-127"/>
              </a:defRPr>
            </a:lvl1pPr>
          </a:lstStyle>
          <a:p>
            <a:pPr>
              <a:defRPr/>
            </a:pPr>
            <a:r>
              <a:rPr lang="ko-KR" altLang="en-US" dirty="0"/>
              <a:t>EE141</a:t>
            </a:r>
            <a:endParaRPr lang="en-US" altLang="ko-KR" dirty="0"/>
          </a:p>
        </p:txBody>
      </p:sp>
      <p:sp>
        <p:nvSpPr>
          <p:cNvPr id="45059" name="Rectangle 3"/>
          <p:cNvSpPr>
            <a:spLocks noGrp="1" noChangeArrowheads="1"/>
          </p:cNvSpPr>
          <p:nvPr>
            <p:ph type="dt" sz="quarter" idx="1"/>
          </p:nvPr>
        </p:nvSpPr>
        <p:spPr bwMode="auto">
          <a:xfrm>
            <a:off x="4051300" y="0"/>
            <a:ext cx="3035300" cy="508000"/>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lvl1pPr algn="r" defTabSz="998538">
              <a:defRPr sz="1400" i="0">
                <a:latin typeface="Times New Roman" pitchFamily="18" charset="0"/>
                <a:ea typeface="굴림" pitchFamily="50" charset="-127"/>
              </a:defRPr>
            </a:lvl1pPr>
          </a:lstStyle>
          <a:p>
            <a:pPr>
              <a:defRPr/>
            </a:pPr>
            <a:endParaRPr lang="en-US" altLang="ko-KR" dirty="0"/>
          </a:p>
        </p:txBody>
      </p:sp>
      <p:sp>
        <p:nvSpPr>
          <p:cNvPr id="45060" name="Rectangle 4"/>
          <p:cNvSpPr>
            <a:spLocks noGrp="1" noChangeArrowheads="1"/>
          </p:cNvSpPr>
          <p:nvPr>
            <p:ph type="ftr" sz="quarter" idx="2"/>
          </p:nvPr>
        </p:nvSpPr>
        <p:spPr bwMode="auto">
          <a:xfrm>
            <a:off x="0" y="9712325"/>
            <a:ext cx="3111500" cy="509588"/>
          </a:xfrm>
          <a:prstGeom prst="rect">
            <a:avLst/>
          </a:prstGeom>
          <a:noFill/>
          <a:ln w="12700">
            <a:noFill/>
            <a:miter lim="800000"/>
            <a:headEnd/>
            <a:tailEnd/>
          </a:ln>
          <a:effectLst/>
        </p:spPr>
        <p:txBody>
          <a:bodyPr vert="horz" wrap="square" lIns="99734" tIns="49865" rIns="99734" bIns="49865" numCol="1" anchor="b" anchorCtr="0" compatLnSpc="1">
            <a:prstTxWarp prst="textNoShape">
              <a:avLst/>
            </a:prstTxWarp>
          </a:bodyPr>
          <a:lstStyle>
            <a:lvl1pPr defTabSz="998538">
              <a:defRPr sz="1400" i="0">
                <a:latin typeface="Times New Roman" pitchFamily="18" charset="0"/>
                <a:ea typeface="굴림" pitchFamily="50" charset="-127"/>
              </a:defRPr>
            </a:lvl1pPr>
          </a:lstStyle>
          <a:p>
            <a:pPr>
              <a:defRPr/>
            </a:pPr>
            <a:endParaRPr lang="en-US" altLang="ko-KR" dirty="0"/>
          </a:p>
        </p:txBody>
      </p:sp>
      <p:sp>
        <p:nvSpPr>
          <p:cNvPr id="45061" name="Rectangle 5"/>
          <p:cNvSpPr>
            <a:spLocks noGrp="1" noChangeArrowheads="1"/>
          </p:cNvSpPr>
          <p:nvPr>
            <p:ph type="sldNum" sz="quarter" idx="3"/>
          </p:nvPr>
        </p:nvSpPr>
        <p:spPr bwMode="auto">
          <a:xfrm>
            <a:off x="4051300" y="9712325"/>
            <a:ext cx="3035300" cy="509588"/>
          </a:xfrm>
          <a:prstGeom prst="rect">
            <a:avLst/>
          </a:prstGeom>
          <a:noFill/>
          <a:ln w="12700">
            <a:noFill/>
            <a:miter lim="800000"/>
            <a:headEnd/>
            <a:tailEnd/>
          </a:ln>
          <a:effectLst/>
        </p:spPr>
        <p:txBody>
          <a:bodyPr vert="horz" wrap="square" lIns="99734" tIns="49865" rIns="99734" bIns="49865" numCol="1" anchor="b" anchorCtr="0" compatLnSpc="1">
            <a:prstTxWarp prst="textNoShape">
              <a:avLst/>
            </a:prstTxWarp>
          </a:bodyPr>
          <a:lstStyle>
            <a:lvl1pPr algn="r" defTabSz="998538">
              <a:defRPr sz="1400" i="0">
                <a:latin typeface="Times New Roman" pitchFamily="18" charset="0"/>
                <a:ea typeface="굴림" pitchFamily="50" charset="-127"/>
              </a:defRPr>
            </a:lvl1pPr>
          </a:lstStyle>
          <a:p>
            <a:pPr>
              <a:defRPr/>
            </a:pPr>
            <a:fld id="{3CCB1160-95BA-43F5-8A38-970867445629}" type="slidenum">
              <a:rPr lang="ko-KR" altLang="en-US"/>
              <a:pPr>
                <a:defRPr/>
              </a:pPr>
              <a:t>‹#›</a:t>
            </a:fld>
            <a:endParaRPr lang="en-US" altLang="ko-KR" dirty="0"/>
          </a:p>
        </p:txBody>
      </p:sp>
    </p:spTree>
    <p:extLst>
      <p:ext uri="{BB962C8B-B14F-4D97-AF65-F5344CB8AC3E}">
        <p14:creationId xmlns:p14="http://schemas.microsoft.com/office/powerpoint/2010/main" val="2495534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111500" cy="508000"/>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lvl1pPr defTabSz="998538">
              <a:defRPr sz="1400" i="0">
                <a:latin typeface="Times New Roman" pitchFamily="18" charset="0"/>
                <a:ea typeface="굴림" pitchFamily="50" charset="-127"/>
              </a:defRPr>
            </a:lvl1pPr>
          </a:lstStyle>
          <a:p>
            <a:pPr>
              <a:defRPr/>
            </a:pPr>
            <a:r>
              <a:rPr lang="ko-KR" altLang="en-US" dirty="0"/>
              <a:t>EE141</a:t>
            </a:r>
            <a:endParaRPr lang="en-US" altLang="ko-KR" dirty="0"/>
          </a:p>
        </p:txBody>
      </p:sp>
      <p:sp>
        <p:nvSpPr>
          <p:cNvPr id="44035" name="Rectangle 3"/>
          <p:cNvSpPr>
            <a:spLocks noGrp="1" noChangeArrowheads="1"/>
          </p:cNvSpPr>
          <p:nvPr>
            <p:ph type="dt" idx="1"/>
          </p:nvPr>
        </p:nvSpPr>
        <p:spPr bwMode="auto">
          <a:xfrm>
            <a:off x="4051300" y="0"/>
            <a:ext cx="3035300" cy="508000"/>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lvl1pPr algn="r" defTabSz="998538">
              <a:defRPr sz="1400" i="0">
                <a:latin typeface="Times New Roman" pitchFamily="18" charset="0"/>
                <a:ea typeface="굴림" pitchFamily="50" charset="-127"/>
              </a:defRPr>
            </a:lvl1pPr>
          </a:lstStyle>
          <a:p>
            <a:pPr>
              <a:defRPr/>
            </a:pPr>
            <a:endParaRPr lang="en-US" altLang="ko-KR" dirty="0"/>
          </a:p>
        </p:txBody>
      </p:sp>
      <p:sp>
        <p:nvSpPr>
          <p:cNvPr id="47108" name="Rectangle 4"/>
          <p:cNvSpPr>
            <a:spLocks noGrp="1" noRot="1" noChangeAspect="1" noChangeArrowheads="1" noTextEdit="1"/>
          </p:cNvSpPr>
          <p:nvPr>
            <p:ph type="sldImg" idx="2"/>
          </p:nvPr>
        </p:nvSpPr>
        <p:spPr bwMode="auto">
          <a:xfrm>
            <a:off x="954088" y="760413"/>
            <a:ext cx="5181600" cy="3886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7" name="Rectangle 5"/>
          <p:cNvSpPr>
            <a:spLocks noGrp="1" noChangeArrowheads="1"/>
          </p:cNvSpPr>
          <p:nvPr>
            <p:ph type="body" sz="quarter" idx="3"/>
          </p:nvPr>
        </p:nvSpPr>
        <p:spPr bwMode="auto">
          <a:xfrm>
            <a:off x="936625" y="4899025"/>
            <a:ext cx="5214938" cy="4560888"/>
          </a:xfrm>
          <a:prstGeom prst="rect">
            <a:avLst/>
          </a:prstGeom>
          <a:noFill/>
          <a:ln w="12700">
            <a:noFill/>
            <a:miter lim="800000"/>
            <a:headEnd/>
            <a:tailEnd/>
          </a:ln>
          <a:effectLst/>
        </p:spPr>
        <p:txBody>
          <a:bodyPr vert="horz" wrap="square" lIns="99734" tIns="49865" rIns="99734" bIns="49865" numCol="1" anchor="t" anchorCtr="0" compatLnSpc="1">
            <a:prstTxWarp prst="textNoShape">
              <a:avLst/>
            </a:prstTxWarp>
          </a:bodyPr>
          <a:lstStyle/>
          <a:p>
            <a:pPr lvl="0"/>
            <a:r>
              <a:rPr lang="en-US" altLang="ko-KR" noProof="0" smtClean="0"/>
              <a:t>Click to edit Master text styles</a:t>
            </a:r>
          </a:p>
          <a:p>
            <a:pPr lvl="1"/>
            <a:r>
              <a:rPr lang="en-US" altLang="ko-KR" noProof="0" smtClean="0"/>
              <a:t>Second level</a:t>
            </a:r>
          </a:p>
          <a:p>
            <a:pPr lvl="2"/>
            <a:r>
              <a:rPr lang="en-US" altLang="ko-KR" noProof="0" smtClean="0"/>
              <a:t>Third level</a:t>
            </a:r>
          </a:p>
          <a:p>
            <a:pPr lvl="3"/>
            <a:r>
              <a:rPr lang="en-US" altLang="ko-KR" noProof="0" smtClean="0"/>
              <a:t>Fourth level</a:t>
            </a:r>
          </a:p>
          <a:p>
            <a:pPr lvl="4"/>
            <a:r>
              <a:rPr lang="en-US" altLang="ko-KR" noProof="0" smtClean="0"/>
              <a:t>Fifth level</a:t>
            </a:r>
          </a:p>
        </p:txBody>
      </p:sp>
      <p:sp>
        <p:nvSpPr>
          <p:cNvPr id="44038" name="Rectangle 6"/>
          <p:cNvSpPr>
            <a:spLocks noGrp="1" noChangeArrowheads="1"/>
          </p:cNvSpPr>
          <p:nvPr>
            <p:ph type="ftr" sz="quarter" idx="4"/>
          </p:nvPr>
        </p:nvSpPr>
        <p:spPr bwMode="auto">
          <a:xfrm>
            <a:off x="0" y="9712325"/>
            <a:ext cx="3111500" cy="509588"/>
          </a:xfrm>
          <a:prstGeom prst="rect">
            <a:avLst/>
          </a:prstGeom>
          <a:noFill/>
          <a:ln w="12700">
            <a:noFill/>
            <a:miter lim="800000"/>
            <a:headEnd/>
            <a:tailEnd/>
          </a:ln>
          <a:effectLst/>
        </p:spPr>
        <p:txBody>
          <a:bodyPr vert="horz" wrap="square" lIns="99734" tIns="49865" rIns="99734" bIns="49865" numCol="1" anchor="b" anchorCtr="0" compatLnSpc="1">
            <a:prstTxWarp prst="textNoShape">
              <a:avLst/>
            </a:prstTxWarp>
          </a:bodyPr>
          <a:lstStyle>
            <a:lvl1pPr defTabSz="998538">
              <a:defRPr sz="1400" i="0">
                <a:latin typeface="Times New Roman" pitchFamily="18" charset="0"/>
                <a:ea typeface="굴림" pitchFamily="50" charset="-127"/>
              </a:defRPr>
            </a:lvl1pPr>
          </a:lstStyle>
          <a:p>
            <a:pPr>
              <a:defRPr/>
            </a:pPr>
            <a:endParaRPr lang="en-US" altLang="ko-KR" dirty="0"/>
          </a:p>
        </p:txBody>
      </p:sp>
      <p:sp>
        <p:nvSpPr>
          <p:cNvPr id="44039" name="Rectangle 7"/>
          <p:cNvSpPr>
            <a:spLocks noGrp="1" noChangeArrowheads="1"/>
          </p:cNvSpPr>
          <p:nvPr>
            <p:ph type="sldNum" sz="quarter" idx="5"/>
          </p:nvPr>
        </p:nvSpPr>
        <p:spPr bwMode="auto">
          <a:xfrm>
            <a:off x="4051300" y="9712325"/>
            <a:ext cx="3035300" cy="509588"/>
          </a:xfrm>
          <a:prstGeom prst="rect">
            <a:avLst/>
          </a:prstGeom>
          <a:noFill/>
          <a:ln w="12700">
            <a:noFill/>
            <a:miter lim="800000"/>
            <a:headEnd/>
            <a:tailEnd/>
          </a:ln>
          <a:effectLst/>
        </p:spPr>
        <p:txBody>
          <a:bodyPr vert="horz" wrap="square" lIns="99734" tIns="49865" rIns="99734" bIns="49865" numCol="1" anchor="b" anchorCtr="0" compatLnSpc="1">
            <a:prstTxWarp prst="textNoShape">
              <a:avLst/>
            </a:prstTxWarp>
          </a:bodyPr>
          <a:lstStyle>
            <a:lvl1pPr algn="r" defTabSz="998538">
              <a:defRPr sz="1400" i="0">
                <a:latin typeface="Times New Roman" pitchFamily="18" charset="0"/>
                <a:ea typeface="굴림" pitchFamily="50" charset="-127"/>
              </a:defRPr>
            </a:lvl1pPr>
          </a:lstStyle>
          <a:p>
            <a:pPr>
              <a:defRPr/>
            </a:pPr>
            <a:fld id="{403C42A9-E316-4AA1-B844-5021B4B92E18}" type="slidenum">
              <a:rPr lang="ko-KR" altLang="en-US"/>
              <a:pPr>
                <a:defRPr/>
              </a:pPr>
              <a:t>‹#›</a:t>
            </a:fld>
            <a:endParaRPr lang="en-US" altLang="ko-KR" dirty="0"/>
          </a:p>
        </p:txBody>
      </p:sp>
    </p:spTree>
    <p:extLst>
      <p:ext uri="{BB962C8B-B14F-4D97-AF65-F5344CB8AC3E}">
        <p14:creationId xmlns:p14="http://schemas.microsoft.com/office/powerpoint/2010/main" val="1314334970"/>
      </p:ext>
    </p:extLst>
  </p:cSld>
  <p:clrMap bg1="lt1" tx1="dk1" bg2="lt2" tx2="dk2" accent1="accent1" accent2="accent2" accent3="accent3" accent4="accent4" accent5="accent5" accent6="accent6" hlink="hlink" folHlink="folHlink"/>
  <p:hf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98538">
              <a:defRPr sz="2000" i="1">
                <a:solidFill>
                  <a:schemeClr val="tx1"/>
                </a:solidFill>
                <a:latin typeface="Arial" pitchFamily="34" charset="0"/>
                <a:ea typeface="굴림" pitchFamily="50" charset="-127"/>
              </a:defRPr>
            </a:lvl1pPr>
            <a:lvl2pPr marL="742950" indent="-285750" defTabSz="998538">
              <a:defRPr sz="2000" i="1">
                <a:solidFill>
                  <a:schemeClr val="tx1"/>
                </a:solidFill>
                <a:latin typeface="Arial" pitchFamily="34" charset="0"/>
                <a:ea typeface="굴림" pitchFamily="50" charset="-127"/>
              </a:defRPr>
            </a:lvl2pPr>
            <a:lvl3pPr marL="1143000" indent="-228600" defTabSz="998538">
              <a:defRPr sz="2000" i="1">
                <a:solidFill>
                  <a:schemeClr val="tx1"/>
                </a:solidFill>
                <a:latin typeface="Arial" pitchFamily="34" charset="0"/>
                <a:ea typeface="굴림" pitchFamily="50" charset="-127"/>
              </a:defRPr>
            </a:lvl3pPr>
            <a:lvl4pPr marL="1600200" indent="-228600" defTabSz="998538">
              <a:defRPr sz="2000" i="1">
                <a:solidFill>
                  <a:schemeClr val="tx1"/>
                </a:solidFill>
                <a:latin typeface="Arial" pitchFamily="34" charset="0"/>
                <a:ea typeface="굴림" pitchFamily="50" charset="-127"/>
              </a:defRPr>
            </a:lvl4pPr>
            <a:lvl5pPr marL="2057400" indent="-228600" defTabSz="998538">
              <a:defRPr sz="2000" i="1">
                <a:solidFill>
                  <a:schemeClr val="tx1"/>
                </a:solidFill>
                <a:latin typeface="Arial" pitchFamily="34" charset="0"/>
                <a:ea typeface="굴림" pitchFamily="50" charset="-127"/>
              </a:defRPr>
            </a:lvl5pPr>
            <a:lvl6pPr marL="2514600" indent="-228600" defTabSz="998538"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defTabSz="998538"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defTabSz="998538"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defTabSz="998538" eaLnBrk="0" fontAlgn="base" hangingPunct="0">
              <a:spcBef>
                <a:spcPct val="0"/>
              </a:spcBef>
              <a:spcAft>
                <a:spcPct val="0"/>
              </a:spcAft>
              <a:defRPr sz="2000" i="1">
                <a:solidFill>
                  <a:schemeClr val="tx1"/>
                </a:solidFill>
                <a:latin typeface="Arial" pitchFamily="34" charset="0"/>
                <a:ea typeface="굴림" pitchFamily="50" charset="-127"/>
              </a:defRPr>
            </a:lvl9pPr>
          </a:lstStyle>
          <a:p>
            <a:r>
              <a:rPr lang="ko-KR" altLang="en-US" sz="1400" i="0" dirty="0" smtClean="0">
                <a:latin typeface="Times New Roman" pitchFamily="18" charset="0"/>
              </a:rPr>
              <a:t>EE141</a:t>
            </a:r>
            <a:endParaRPr lang="en-US" altLang="ko-KR" sz="1400" i="0" dirty="0" smtClean="0">
              <a:latin typeface="Times New Roman" pitchFamily="18" charset="0"/>
            </a:endParaRPr>
          </a:p>
        </p:txBody>
      </p:sp>
      <p:sp>
        <p:nvSpPr>
          <p:cNvPr id="48131"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98538">
              <a:defRPr sz="2000" i="1">
                <a:solidFill>
                  <a:schemeClr val="tx1"/>
                </a:solidFill>
                <a:latin typeface="Arial" pitchFamily="34" charset="0"/>
                <a:ea typeface="굴림" pitchFamily="50" charset="-127"/>
              </a:defRPr>
            </a:lvl1pPr>
            <a:lvl2pPr marL="742950" indent="-285750" defTabSz="998538">
              <a:defRPr sz="2000" i="1">
                <a:solidFill>
                  <a:schemeClr val="tx1"/>
                </a:solidFill>
                <a:latin typeface="Arial" pitchFamily="34" charset="0"/>
                <a:ea typeface="굴림" pitchFamily="50" charset="-127"/>
              </a:defRPr>
            </a:lvl2pPr>
            <a:lvl3pPr marL="1143000" indent="-228600" defTabSz="998538">
              <a:defRPr sz="2000" i="1">
                <a:solidFill>
                  <a:schemeClr val="tx1"/>
                </a:solidFill>
                <a:latin typeface="Arial" pitchFamily="34" charset="0"/>
                <a:ea typeface="굴림" pitchFamily="50" charset="-127"/>
              </a:defRPr>
            </a:lvl3pPr>
            <a:lvl4pPr marL="1600200" indent="-228600" defTabSz="998538">
              <a:defRPr sz="2000" i="1">
                <a:solidFill>
                  <a:schemeClr val="tx1"/>
                </a:solidFill>
                <a:latin typeface="Arial" pitchFamily="34" charset="0"/>
                <a:ea typeface="굴림" pitchFamily="50" charset="-127"/>
              </a:defRPr>
            </a:lvl4pPr>
            <a:lvl5pPr marL="2057400" indent="-228600" defTabSz="998538">
              <a:defRPr sz="2000" i="1">
                <a:solidFill>
                  <a:schemeClr val="tx1"/>
                </a:solidFill>
                <a:latin typeface="Arial" pitchFamily="34" charset="0"/>
                <a:ea typeface="굴림" pitchFamily="50" charset="-127"/>
              </a:defRPr>
            </a:lvl5pPr>
            <a:lvl6pPr marL="2514600" indent="-228600" defTabSz="998538"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defTabSz="998538"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defTabSz="998538"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defTabSz="998538" eaLnBrk="0" fontAlgn="base" hangingPunct="0">
              <a:spcBef>
                <a:spcPct val="0"/>
              </a:spcBef>
              <a:spcAft>
                <a:spcPct val="0"/>
              </a:spcAft>
              <a:defRPr sz="2000" i="1">
                <a:solidFill>
                  <a:schemeClr val="tx1"/>
                </a:solidFill>
                <a:latin typeface="Arial" pitchFamily="34" charset="0"/>
                <a:ea typeface="굴림" pitchFamily="50" charset="-127"/>
              </a:defRPr>
            </a:lvl9pPr>
          </a:lstStyle>
          <a:p>
            <a:fld id="{0DD09AAB-6945-4B2F-AFC4-B1FD614E8BDE}" type="slidenum">
              <a:rPr lang="ko-KR" altLang="en-US" sz="1400" i="0" smtClean="0">
                <a:latin typeface="Times New Roman" pitchFamily="18" charset="0"/>
              </a:rPr>
              <a:pPr/>
              <a:t>1</a:t>
            </a:fld>
            <a:endParaRPr lang="en-US" altLang="ko-KR" sz="1400" i="0" dirty="0" smtClean="0">
              <a:latin typeface="Times New Roman" pitchFamily="18" charset="0"/>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머리글 개체 틀 3"/>
          <p:cNvSpPr>
            <a:spLocks noGrp="1"/>
          </p:cNvSpPr>
          <p:nvPr>
            <p:ph type="hdr" sz="quarter" idx="10"/>
          </p:nvPr>
        </p:nvSpPr>
        <p:spPr/>
        <p:txBody>
          <a:bodyPr/>
          <a:lstStyle/>
          <a:p>
            <a:pPr>
              <a:defRPr/>
            </a:pPr>
            <a:r>
              <a:rPr lang="ko-KR" altLang="en-US" smtClean="0"/>
              <a:t>EE141</a:t>
            </a:r>
            <a:endParaRPr lang="en-US" altLang="ko-KR" dirty="0"/>
          </a:p>
        </p:txBody>
      </p:sp>
      <p:sp>
        <p:nvSpPr>
          <p:cNvPr id="5" name="슬라이드 번호 개체 틀 4"/>
          <p:cNvSpPr>
            <a:spLocks noGrp="1"/>
          </p:cNvSpPr>
          <p:nvPr>
            <p:ph type="sldNum" sz="quarter" idx="11"/>
          </p:nvPr>
        </p:nvSpPr>
        <p:spPr/>
        <p:txBody>
          <a:bodyPr/>
          <a:lstStyle/>
          <a:p>
            <a:pPr>
              <a:defRPr/>
            </a:pPr>
            <a:fld id="{403C42A9-E316-4AA1-B844-5021B4B92E18}" type="slidenum">
              <a:rPr lang="ko-KR" altLang="en-US" smtClean="0"/>
              <a:pPr>
                <a:defRPr/>
              </a:pPr>
              <a:t>27</a:t>
            </a:fld>
            <a:endParaRPr lang="en-US" altLang="ko-KR" dirty="0"/>
          </a:p>
        </p:txBody>
      </p:sp>
    </p:spTree>
    <p:extLst>
      <p:ext uri="{BB962C8B-B14F-4D97-AF65-F5344CB8AC3E}">
        <p14:creationId xmlns:p14="http://schemas.microsoft.com/office/powerpoint/2010/main" val="39309875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4" name="Rectangle 4"/>
          <p:cNvSpPr>
            <a:spLocks noChangeArrowheads="1"/>
          </p:cNvSpPr>
          <p:nvPr/>
        </p:nvSpPr>
        <p:spPr bwMode="ltGray">
          <a:xfrm>
            <a:off x="0" y="6597650"/>
            <a:ext cx="9144000" cy="260350"/>
          </a:xfrm>
          <a:prstGeom prst="rect">
            <a:avLst/>
          </a:pr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latinLnBrk="1" hangingPunct="1"/>
            <a:endParaRPr kumimoji="1" lang="ko-KR" altLang="en-US" sz="1800" b="1" i="0" dirty="0">
              <a:solidFill>
                <a:schemeClr val="bg1"/>
              </a:solidFill>
              <a:ea typeface="HY헤드라인M" pitchFamily="18" charset="-127"/>
              <a:sym typeface="Wingdings 2" pitchFamily="18" charset="2"/>
            </a:endParaRPr>
          </a:p>
        </p:txBody>
      </p:sp>
      <p:sp>
        <p:nvSpPr>
          <p:cNvPr id="5" name="Line 5"/>
          <p:cNvSpPr>
            <a:spLocks noChangeShapeType="1"/>
          </p:cNvSpPr>
          <p:nvPr/>
        </p:nvSpPr>
        <p:spPr bwMode="ltGray">
          <a:xfrm>
            <a:off x="0" y="6742113"/>
            <a:ext cx="9144000"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6" name="Line 6"/>
          <p:cNvSpPr>
            <a:spLocks noChangeShapeType="1"/>
          </p:cNvSpPr>
          <p:nvPr/>
        </p:nvSpPr>
        <p:spPr bwMode="auto">
          <a:xfrm>
            <a:off x="2020888" y="1352550"/>
            <a:ext cx="0" cy="63500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7" name="Line 7"/>
          <p:cNvSpPr>
            <a:spLocks noChangeShapeType="1"/>
          </p:cNvSpPr>
          <p:nvPr/>
        </p:nvSpPr>
        <p:spPr bwMode="auto">
          <a:xfrm>
            <a:off x="2020888" y="1700213"/>
            <a:ext cx="5645150" cy="0"/>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8" name="Line 8"/>
          <p:cNvSpPr>
            <a:spLocks noChangeShapeType="1"/>
          </p:cNvSpPr>
          <p:nvPr/>
        </p:nvSpPr>
        <p:spPr bwMode="auto">
          <a:xfrm>
            <a:off x="7666038" y="1352550"/>
            <a:ext cx="0" cy="63500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9" name="Rectangle 9"/>
          <p:cNvSpPr>
            <a:spLocks noChangeArrowheads="1"/>
          </p:cNvSpPr>
          <p:nvPr/>
        </p:nvSpPr>
        <p:spPr bwMode="ltGray">
          <a:xfrm>
            <a:off x="22225" y="0"/>
            <a:ext cx="9144000" cy="534988"/>
          </a:xfrm>
          <a:prstGeom prst="rect">
            <a:avLst/>
          </a:pr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eaLnBrk="1" latinLnBrk="1" hangingPunct="1"/>
            <a:r>
              <a:rPr kumimoji="1" lang="en-US" altLang="ko-KR" sz="1600" b="1" dirty="0">
                <a:solidFill>
                  <a:schemeClr val="bg1"/>
                </a:solidFill>
                <a:ea typeface="돋움" pitchFamily="50" charset="-127"/>
              </a:rPr>
              <a:t>Pusan National University </a:t>
            </a:r>
            <a:endParaRPr kumimoji="1" lang="en-US" altLang="ko-KR" sz="1000" b="1" i="0" dirty="0">
              <a:solidFill>
                <a:schemeClr val="bg1"/>
              </a:solidFill>
              <a:ea typeface="돋움" pitchFamily="50" charset="-127"/>
            </a:endParaRPr>
          </a:p>
        </p:txBody>
      </p:sp>
      <p:grpSp>
        <p:nvGrpSpPr>
          <p:cNvPr id="10" name="Group 10"/>
          <p:cNvGrpSpPr>
            <a:grpSpLocks/>
          </p:cNvGrpSpPr>
          <p:nvPr/>
        </p:nvGrpSpPr>
        <p:grpSpPr bwMode="auto">
          <a:xfrm>
            <a:off x="0" y="84138"/>
            <a:ext cx="6565900" cy="357187"/>
            <a:chOff x="0" y="53"/>
            <a:chExt cx="5569" cy="225"/>
          </a:xfrm>
        </p:grpSpPr>
        <p:sp>
          <p:nvSpPr>
            <p:cNvPr id="11" name="Line 11"/>
            <p:cNvSpPr>
              <a:spLocks noChangeShapeType="1"/>
            </p:cNvSpPr>
            <p:nvPr userDrawn="1"/>
          </p:nvSpPr>
          <p:spPr bwMode="ltGray">
            <a:xfrm>
              <a:off x="0" y="27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2" name="Line 12"/>
            <p:cNvSpPr>
              <a:spLocks noChangeShapeType="1"/>
            </p:cNvSpPr>
            <p:nvPr userDrawn="1"/>
          </p:nvSpPr>
          <p:spPr bwMode="ltGray">
            <a:xfrm>
              <a:off x="0" y="23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3" name="Line 13"/>
            <p:cNvSpPr>
              <a:spLocks noChangeShapeType="1"/>
            </p:cNvSpPr>
            <p:nvPr userDrawn="1"/>
          </p:nvSpPr>
          <p:spPr bwMode="ltGray">
            <a:xfrm>
              <a:off x="0" y="18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4" name="Line 14"/>
            <p:cNvSpPr>
              <a:spLocks noChangeShapeType="1"/>
            </p:cNvSpPr>
            <p:nvPr userDrawn="1"/>
          </p:nvSpPr>
          <p:spPr bwMode="ltGray">
            <a:xfrm>
              <a:off x="0" y="14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5" name="Line 15"/>
            <p:cNvSpPr>
              <a:spLocks noChangeShapeType="1"/>
            </p:cNvSpPr>
            <p:nvPr userDrawn="1"/>
          </p:nvSpPr>
          <p:spPr bwMode="ltGray">
            <a:xfrm>
              <a:off x="0" y="9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6" name="Line 16"/>
            <p:cNvSpPr>
              <a:spLocks noChangeShapeType="1"/>
            </p:cNvSpPr>
            <p:nvPr userDrawn="1"/>
          </p:nvSpPr>
          <p:spPr bwMode="ltGray">
            <a:xfrm>
              <a:off x="0" y="5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grpSp>
      <p:sp>
        <p:nvSpPr>
          <p:cNvPr id="17" name="Rectangle 17"/>
          <p:cNvSpPr>
            <a:spLocks noChangeArrowheads="1"/>
          </p:cNvSpPr>
          <p:nvPr/>
        </p:nvSpPr>
        <p:spPr bwMode="auto">
          <a:xfrm>
            <a:off x="2066925" y="1700213"/>
            <a:ext cx="265747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latinLnBrk="1" hangingPunct="1"/>
            <a:endParaRPr kumimoji="1" lang="ko-KR" altLang="en-US" sz="1600" b="1" dirty="0">
              <a:solidFill>
                <a:srgbClr val="777777"/>
              </a:solidFill>
              <a:ea typeface="돋움" pitchFamily="50" charset="-127"/>
            </a:endParaRPr>
          </a:p>
        </p:txBody>
      </p:sp>
      <p:pic>
        <p:nvPicPr>
          <p:cNvPr id="18" name="Picture 18" descr="sub06_img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63" y="1036638"/>
            <a:ext cx="885825" cy="167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9"/>
          <p:cNvSpPr txBox="1">
            <a:spLocks noChangeArrowheads="1"/>
          </p:cNvSpPr>
          <p:nvPr/>
        </p:nvSpPr>
        <p:spPr bwMode="auto">
          <a:xfrm>
            <a:off x="2076450" y="1092200"/>
            <a:ext cx="58166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i="1">
                <a:solidFill>
                  <a:schemeClr val="tx1"/>
                </a:solidFill>
                <a:latin typeface="Arial" pitchFamily="34" charset="0"/>
                <a:ea typeface="굴림" pitchFamily="50" charset="-127"/>
              </a:defRPr>
            </a:lvl1pPr>
            <a:lvl2pPr marL="742950" indent="-285750">
              <a:defRPr sz="2000" i="1">
                <a:solidFill>
                  <a:schemeClr val="tx1"/>
                </a:solidFill>
                <a:latin typeface="Arial" pitchFamily="34" charset="0"/>
                <a:ea typeface="굴림" pitchFamily="50" charset="-127"/>
              </a:defRPr>
            </a:lvl2pPr>
            <a:lvl3pPr marL="1143000" indent="-228600">
              <a:defRPr sz="2000" i="1">
                <a:solidFill>
                  <a:schemeClr val="tx1"/>
                </a:solidFill>
                <a:latin typeface="Arial" pitchFamily="34" charset="0"/>
                <a:ea typeface="굴림" pitchFamily="50" charset="-127"/>
              </a:defRPr>
            </a:lvl3pPr>
            <a:lvl4pPr marL="1600200" indent="-228600">
              <a:defRPr sz="2000" i="1">
                <a:solidFill>
                  <a:schemeClr val="tx1"/>
                </a:solidFill>
                <a:latin typeface="Arial" pitchFamily="34" charset="0"/>
                <a:ea typeface="굴림" pitchFamily="50" charset="-127"/>
              </a:defRPr>
            </a:lvl4pPr>
            <a:lvl5pPr marL="2057400" indent="-228600">
              <a:defRPr sz="2000" i="1">
                <a:solidFill>
                  <a:schemeClr val="tx1"/>
                </a:solidFill>
                <a:latin typeface="Arial" pitchFamily="34" charset="0"/>
                <a:ea typeface="굴림" pitchFamily="50" charset="-127"/>
              </a:defRPr>
            </a:lvl5pPr>
            <a:lvl6pPr marL="2514600" indent="-228600"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eaLnBrk="0" fontAlgn="base" hangingPunct="0">
              <a:spcBef>
                <a:spcPct val="0"/>
              </a:spcBef>
              <a:spcAft>
                <a:spcPct val="0"/>
              </a:spcAft>
              <a:defRPr sz="2000" i="1">
                <a:solidFill>
                  <a:schemeClr val="tx1"/>
                </a:solidFill>
                <a:latin typeface="Arial" pitchFamily="34" charset="0"/>
                <a:ea typeface="굴림" pitchFamily="50" charset="-127"/>
              </a:defRPr>
            </a:lvl9pPr>
          </a:lstStyle>
          <a:p>
            <a:pPr eaLnBrk="1" latinLnBrk="1" hangingPunct="1">
              <a:defRPr/>
            </a:pPr>
            <a:r>
              <a:rPr kumimoji="1" lang="en-US" altLang="ko-KR" sz="3400" b="1" dirty="0" smtClean="0">
                <a:solidFill>
                  <a:srgbClr val="C00000"/>
                </a:solidFill>
                <a:latin typeface="Arial Black" pitchFamily="34" charset="0"/>
                <a:ea typeface="돋움" pitchFamily="50" charset="-127"/>
              </a:rPr>
              <a:t>Data Communications</a:t>
            </a:r>
          </a:p>
        </p:txBody>
      </p:sp>
      <p:sp>
        <p:nvSpPr>
          <p:cNvPr id="481282" name="Rectangle 2"/>
          <p:cNvSpPr>
            <a:spLocks noGrp="1" noChangeArrowheads="1"/>
          </p:cNvSpPr>
          <p:nvPr>
            <p:ph type="ctrTitle"/>
          </p:nvPr>
        </p:nvSpPr>
        <p:spPr bwMode="auto">
          <a:xfrm>
            <a:off x="2066303" y="1916084"/>
            <a:ext cx="5599113" cy="661988"/>
          </a:xfrm>
        </p:spPr>
        <p:txBody>
          <a:bodyPr rIns="90000"/>
          <a:lstStyle>
            <a:lvl1pPr algn="l">
              <a:defRPr sz="2400">
                <a:solidFill>
                  <a:schemeClr val="tx1"/>
                </a:solidFill>
              </a:defRPr>
            </a:lvl1pPr>
          </a:lstStyle>
          <a:p>
            <a:endParaRPr lang="ko-KR" altLang="en-US" dirty="0"/>
          </a:p>
        </p:txBody>
      </p:sp>
      <p:sp>
        <p:nvSpPr>
          <p:cNvPr id="481283" name="Rectangle 3"/>
          <p:cNvSpPr>
            <a:spLocks noGrp="1" noChangeArrowheads="1"/>
          </p:cNvSpPr>
          <p:nvPr>
            <p:ph type="subTitle" idx="1"/>
          </p:nvPr>
        </p:nvSpPr>
        <p:spPr>
          <a:xfrm>
            <a:off x="1371600" y="3886200"/>
            <a:ext cx="6400800" cy="1752600"/>
          </a:xfrm>
        </p:spPr>
        <p:txBody>
          <a:bodyPr/>
          <a:lstStyle>
            <a:lvl1pPr marL="0" indent="0" algn="ctr">
              <a:buFontTx/>
              <a:buNone/>
              <a:defRPr b="1"/>
            </a:lvl1pPr>
          </a:lstStyle>
          <a:p>
            <a:endParaRPr lang="ko-KR" altLang="en-US"/>
          </a:p>
        </p:txBody>
      </p:sp>
    </p:spTree>
    <p:extLst>
      <p:ext uri="{BB962C8B-B14F-4D97-AF65-F5344CB8AC3E}">
        <p14:creationId xmlns:p14="http://schemas.microsoft.com/office/powerpoint/2010/main" val="1370014929"/>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sz="1800">
                <a:latin typeface="Microsoft Sans Serif" pitchFamily="34" charset="0"/>
                <a:cs typeface="Microsoft Sans Serif" pitchFamily="34" charset="0"/>
              </a:defRPr>
            </a:lvl1pPr>
          </a:lstStyle>
          <a:p>
            <a:r>
              <a:rPr lang="ko-KR" altLang="en-US" dirty="0" smtClean="0"/>
              <a:t>마스터 제목 스타일 편집</a:t>
            </a:r>
            <a:endParaRPr lang="ko-KR" altLang="en-US" dirty="0"/>
          </a:p>
        </p:txBody>
      </p:sp>
      <p:sp>
        <p:nvSpPr>
          <p:cNvPr id="3" name="내용 개체 틀 2"/>
          <p:cNvSpPr>
            <a:spLocks noGrp="1"/>
          </p:cNvSpPr>
          <p:nvPr>
            <p:ph idx="1"/>
          </p:nvPr>
        </p:nvSpPr>
        <p:spPr/>
        <p:txBody>
          <a:bodyPr/>
          <a:lstStyle>
            <a:lvl1pPr>
              <a:defRPr>
                <a:latin typeface="Microsoft Sans Serif" pitchFamily="34" charset="0"/>
                <a:cs typeface="Microsoft Sans Serif" pitchFamily="34" charset="0"/>
              </a:defRPr>
            </a:lvl1pPr>
            <a:lvl2pPr>
              <a:defRPr>
                <a:latin typeface="Microsoft Sans Serif" pitchFamily="34" charset="0"/>
                <a:cs typeface="Microsoft Sans Serif" pitchFamily="34" charset="0"/>
              </a:defRPr>
            </a:lvl2pPr>
            <a:lvl3pPr>
              <a:defRPr>
                <a:latin typeface="Microsoft Sans Serif" pitchFamily="34" charset="0"/>
                <a:cs typeface="Microsoft Sans Serif" pitchFamily="34" charset="0"/>
              </a:defRPr>
            </a:lvl3pPr>
            <a:lvl4pPr>
              <a:defRPr>
                <a:latin typeface="Microsoft Sans Serif" pitchFamily="34" charset="0"/>
                <a:cs typeface="Microsoft Sans Serif" pitchFamily="34" charset="0"/>
              </a:defRPr>
            </a:lvl4pPr>
            <a:lvl5pPr>
              <a:defRPr>
                <a:latin typeface="Microsoft Sans Serif" pitchFamily="34" charset="0"/>
                <a:cs typeface="Microsoft Sans Serif" pitchFamily="34" charset="0"/>
              </a:defRPr>
            </a:lvl5p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dirty="0"/>
          </a:p>
        </p:txBody>
      </p:sp>
    </p:spTree>
    <p:extLst>
      <p:ext uri="{BB962C8B-B14F-4D97-AF65-F5344CB8AC3E}">
        <p14:creationId xmlns:p14="http://schemas.microsoft.com/office/powerpoint/2010/main" val="224521421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Tree>
    <p:extLst>
      <p:ext uri="{BB962C8B-B14F-4D97-AF65-F5344CB8AC3E}">
        <p14:creationId xmlns:p14="http://schemas.microsoft.com/office/powerpoint/2010/main" val="317004943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sz="1800"/>
            </a:lvl1pPr>
          </a:lstStyle>
          <a:p>
            <a:r>
              <a:rPr lang="ko-KR" altLang="en-US" dirty="0" smtClean="0"/>
              <a:t>마스터 제목 스타일 편집</a:t>
            </a:r>
            <a:endParaRPr lang="ko-KR" altLang="en-US" dirty="0"/>
          </a:p>
        </p:txBody>
      </p:sp>
      <p:sp>
        <p:nvSpPr>
          <p:cNvPr id="3" name="내용 개체 틀 2"/>
          <p:cNvSpPr>
            <a:spLocks noGrp="1"/>
          </p:cNvSpPr>
          <p:nvPr>
            <p:ph sz="half" idx="1"/>
          </p:nvPr>
        </p:nvSpPr>
        <p:spPr>
          <a:xfrm>
            <a:off x="384175" y="765175"/>
            <a:ext cx="4202113" cy="5616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738688" y="765175"/>
            <a:ext cx="4202112" cy="5616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332647876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331294810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Tree>
    <p:extLst>
      <p:ext uri="{BB962C8B-B14F-4D97-AF65-F5344CB8AC3E}">
        <p14:creationId xmlns:p14="http://schemas.microsoft.com/office/powerpoint/2010/main" val="41371329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201416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Tree>
    <p:extLst>
      <p:ext uri="{BB962C8B-B14F-4D97-AF65-F5344CB8AC3E}">
        <p14:creationId xmlns:p14="http://schemas.microsoft.com/office/powerpoint/2010/main" val="690032066"/>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dirty="0" smtClean="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Tree>
    <p:extLst>
      <p:ext uri="{BB962C8B-B14F-4D97-AF65-F5344CB8AC3E}">
        <p14:creationId xmlns:p14="http://schemas.microsoft.com/office/powerpoint/2010/main" val="507126227"/>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3614049930"/>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858000" y="-11113"/>
            <a:ext cx="2286000" cy="6392863"/>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0" y="-11113"/>
            <a:ext cx="6705600" cy="6392863"/>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76785575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제목, 텍스트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0" y="-11113"/>
            <a:ext cx="9144000" cy="549276"/>
          </a:xfrm>
        </p:spPr>
        <p:txBody>
          <a:bodyPr/>
          <a:lstStyle/>
          <a:p>
            <a:r>
              <a:rPr lang="ko-KR" altLang="en-US" smtClean="0"/>
              <a:t>마스터 제목 스타일 편집</a:t>
            </a:r>
            <a:endParaRPr lang="ko-KR" altLang="en-US"/>
          </a:p>
        </p:txBody>
      </p:sp>
      <p:sp>
        <p:nvSpPr>
          <p:cNvPr id="3" name="텍스트 개체 틀 2"/>
          <p:cNvSpPr>
            <a:spLocks noGrp="1"/>
          </p:cNvSpPr>
          <p:nvPr>
            <p:ph type="body" sz="half" idx="1"/>
          </p:nvPr>
        </p:nvSpPr>
        <p:spPr>
          <a:xfrm>
            <a:off x="384175" y="765175"/>
            <a:ext cx="4202113" cy="5616575"/>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738688" y="765175"/>
            <a:ext cx="4202112" cy="5616575"/>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191636167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제목, 내용 및 내용 2개">
    <p:spTree>
      <p:nvGrpSpPr>
        <p:cNvPr id="1" name=""/>
        <p:cNvGrpSpPr/>
        <p:nvPr/>
      </p:nvGrpSpPr>
      <p:grpSpPr>
        <a:xfrm>
          <a:off x="0" y="0"/>
          <a:ext cx="0" cy="0"/>
          <a:chOff x="0" y="0"/>
          <a:chExt cx="0" cy="0"/>
        </a:xfrm>
      </p:grpSpPr>
      <p:sp>
        <p:nvSpPr>
          <p:cNvPr id="2" name="제목 1"/>
          <p:cNvSpPr>
            <a:spLocks noGrp="1"/>
          </p:cNvSpPr>
          <p:nvPr>
            <p:ph type="title"/>
          </p:nvPr>
        </p:nvSpPr>
        <p:spPr>
          <a:xfrm>
            <a:off x="0" y="-11113"/>
            <a:ext cx="9144000" cy="549276"/>
          </a:xfrm>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384175" y="765175"/>
            <a:ext cx="4202113" cy="5616575"/>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quarter" idx="2"/>
          </p:nvPr>
        </p:nvSpPr>
        <p:spPr>
          <a:xfrm>
            <a:off x="4738688" y="765175"/>
            <a:ext cx="4202112" cy="27320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내용 개체 틀 4"/>
          <p:cNvSpPr>
            <a:spLocks noGrp="1"/>
          </p:cNvSpPr>
          <p:nvPr>
            <p:ph sz="quarter" idx="3"/>
          </p:nvPr>
        </p:nvSpPr>
        <p:spPr>
          <a:xfrm>
            <a:off x="4738688" y="3649663"/>
            <a:ext cx="4202112" cy="2732087"/>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286666847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0" y="0"/>
            <a:ext cx="9144000" cy="549275"/>
          </a:xfrm>
          <a:prstGeom prst="rect">
            <a:avLst/>
          </a:pr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latinLnBrk="1" hangingPunct="1"/>
            <a:endParaRPr kumimoji="1" lang="ko-KR" altLang="en-US" sz="1800" b="1" i="0" dirty="0">
              <a:solidFill>
                <a:schemeClr val="bg1"/>
              </a:solidFill>
              <a:ea typeface="돋움" pitchFamily="50" charset="-127"/>
            </a:endParaRPr>
          </a:p>
        </p:txBody>
      </p:sp>
      <p:sp>
        <p:nvSpPr>
          <p:cNvPr id="1027" name="Rectangle 3"/>
          <p:cNvSpPr>
            <a:spLocks noGrp="1" noChangeArrowheads="1"/>
          </p:cNvSpPr>
          <p:nvPr>
            <p:ph type="title"/>
          </p:nvPr>
        </p:nvSpPr>
        <p:spPr bwMode="ltGray">
          <a:xfrm>
            <a:off x="0" y="-11113"/>
            <a:ext cx="9144000" cy="549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360000" bIns="45720" numCol="1" anchor="ctr" anchorCtr="0" compatLnSpc="1">
            <a:prstTxWarp prst="textNoShape">
              <a:avLst/>
            </a:prstTxWarp>
          </a:bodyPr>
          <a:lstStyle/>
          <a:p>
            <a:pPr lvl="0"/>
            <a:r>
              <a:rPr lang="en-US" altLang="ko-KR" smtClean="0"/>
              <a:t>Master</a:t>
            </a:r>
            <a:endParaRPr lang="ko-KR" altLang="en-US" smtClean="0"/>
          </a:p>
        </p:txBody>
      </p:sp>
      <p:sp>
        <p:nvSpPr>
          <p:cNvPr id="1028" name="Rectangle 4"/>
          <p:cNvSpPr>
            <a:spLocks noGrp="1" noChangeArrowheads="1"/>
          </p:cNvSpPr>
          <p:nvPr>
            <p:ph type="body" idx="1"/>
          </p:nvPr>
        </p:nvSpPr>
        <p:spPr bwMode="auto">
          <a:xfrm>
            <a:off x="384175" y="765175"/>
            <a:ext cx="8556625"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smtClean="0"/>
              <a:t>First</a:t>
            </a:r>
            <a:endParaRPr lang="ko-KR" altLang="en-US" smtClean="0"/>
          </a:p>
          <a:p>
            <a:pPr lvl="1"/>
            <a:r>
              <a:rPr lang="en-US" altLang="ko-KR" smtClean="0"/>
              <a:t>Second</a:t>
            </a:r>
            <a:endParaRPr lang="ko-KR" altLang="en-US" smtClean="0"/>
          </a:p>
          <a:p>
            <a:pPr lvl="2"/>
            <a:r>
              <a:rPr lang="en-US" altLang="ko-KR" smtClean="0"/>
              <a:t>Third</a:t>
            </a:r>
            <a:endParaRPr lang="ko-KR" altLang="en-US" smtClean="0"/>
          </a:p>
          <a:p>
            <a:pPr lvl="3"/>
            <a:r>
              <a:rPr lang="en-US" altLang="ko-KR" smtClean="0"/>
              <a:t>Fourth</a:t>
            </a:r>
            <a:endParaRPr lang="ko-KR" altLang="en-US" smtClean="0"/>
          </a:p>
          <a:p>
            <a:pPr lvl="4"/>
            <a:r>
              <a:rPr lang="en-US" altLang="ko-KR" smtClean="0"/>
              <a:t>Fifth</a:t>
            </a:r>
            <a:endParaRPr lang="ko-KR" altLang="en-US" smtClean="0"/>
          </a:p>
        </p:txBody>
      </p:sp>
      <p:sp>
        <p:nvSpPr>
          <p:cNvPr id="1029" name="Rectangle 5"/>
          <p:cNvSpPr>
            <a:spLocks noChangeArrowheads="1"/>
          </p:cNvSpPr>
          <p:nvPr/>
        </p:nvSpPr>
        <p:spPr bwMode="ltGray">
          <a:xfrm>
            <a:off x="0" y="6624638"/>
            <a:ext cx="9144000" cy="260350"/>
          </a:xfrm>
          <a:prstGeom prst="rect">
            <a:avLst/>
          </a:pr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latinLnBrk="1" hangingPunct="1"/>
            <a:r>
              <a:rPr kumimoji="1" lang="ko-KR" altLang="en-US" sz="1200" b="1" i="0" dirty="0">
                <a:solidFill>
                  <a:schemeClr val="bg1"/>
                </a:solidFill>
                <a:latin typeface="HY목판L" pitchFamily="18" charset="-127"/>
                <a:ea typeface="HY목판L" pitchFamily="18" charset="-127"/>
              </a:rPr>
              <a:t>     </a:t>
            </a:r>
            <a:r>
              <a:rPr kumimoji="1" lang="en-US" altLang="ko-KR" sz="1200" b="1" i="0" dirty="0">
                <a:solidFill>
                  <a:schemeClr val="bg1"/>
                </a:solidFill>
                <a:latin typeface="HY목판L" pitchFamily="18" charset="-127"/>
                <a:ea typeface="HY목판L" pitchFamily="18" charset="-127"/>
              </a:rPr>
              <a:t>Advanced Broadcasting &amp; Communications  Lab.</a:t>
            </a:r>
            <a:endParaRPr kumimoji="1" lang="en-US" altLang="ko-KR" sz="1800" b="1" i="0" dirty="0">
              <a:solidFill>
                <a:schemeClr val="bg1"/>
              </a:solidFill>
              <a:latin typeface="HY목판L" pitchFamily="18" charset="-127"/>
              <a:ea typeface="HY목판L" pitchFamily="18" charset="-127"/>
              <a:sym typeface="Wingdings 2" pitchFamily="18" charset="2"/>
            </a:endParaRPr>
          </a:p>
        </p:txBody>
      </p:sp>
      <p:sp>
        <p:nvSpPr>
          <p:cNvPr id="1030" name="Oval 6"/>
          <p:cNvSpPr>
            <a:spLocks noChangeArrowheads="1"/>
          </p:cNvSpPr>
          <p:nvPr/>
        </p:nvSpPr>
        <p:spPr bwMode="ltGray">
          <a:xfrm>
            <a:off x="8228013" y="6616700"/>
            <a:ext cx="431800" cy="21907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pPr algn="r" eaLnBrk="1" latinLnBrk="1" hangingPunct="1"/>
            <a:fld id="{CEE226F8-AF74-4623-8521-365EFC50DC76}" type="slidenum">
              <a:rPr kumimoji="1" lang="ko-KR" altLang="en-US" sz="1200" b="1" i="0">
                <a:solidFill>
                  <a:schemeClr val="bg1"/>
                </a:solidFill>
                <a:latin typeface="Verdana" pitchFamily="34" charset="0"/>
                <a:ea typeface="HY각헤드라인M" pitchFamily="18" charset="-127"/>
              </a:rPr>
              <a:pPr algn="r" eaLnBrk="1" latinLnBrk="1" hangingPunct="1"/>
              <a:t>‹#›</a:t>
            </a:fld>
            <a:endParaRPr kumimoji="1" lang="en-US" altLang="ko-KR" sz="1200" b="1" i="0" dirty="0">
              <a:solidFill>
                <a:schemeClr val="bg1"/>
              </a:solidFill>
              <a:latin typeface="Verdana" pitchFamily="34" charset="0"/>
              <a:ea typeface="HY각헤드라인M" pitchFamily="18" charset="-127"/>
            </a:endParaRPr>
          </a:p>
        </p:txBody>
      </p:sp>
      <p:sp>
        <p:nvSpPr>
          <p:cNvPr id="1031" name="Line 7"/>
          <p:cNvSpPr>
            <a:spLocks noChangeShapeType="1"/>
          </p:cNvSpPr>
          <p:nvPr/>
        </p:nvSpPr>
        <p:spPr bwMode="ltGray">
          <a:xfrm>
            <a:off x="4238625" y="6742113"/>
            <a:ext cx="3806825"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grpSp>
        <p:nvGrpSpPr>
          <p:cNvPr id="1032" name="Group 8"/>
          <p:cNvGrpSpPr>
            <a:grpSpLocks/>
          </p:cNvGrpSpPr>
          <p:nvPr/>
        </p:nvGrpSpPr>
        <p:grpSpPr bwMode="auto">
          <a:xfrm>
            <a:off x="0" y="84138"/>
            <a:ext cx="5969000" cy="357187"/>
            <a:chOff x="0" y="53"/>
            <a:chExt cx="5569" cy="225"/>
          </a:xfrm>
        </p:grpSpPr>
        <p:sp>
          <p:nvSpPr>
            <p:cNvPr id="1037" name="Line 9"/>
            <p:cNvSpPr>
              <a:spLocks noChangeShapeType="1"/>
            </p:cNvSpPr>
            <p:nvPr userDrawn="1"/>
          </p:nvSpPr>
          <p:spPr bwMode="ltGray">
            <a:xfrm>
              <a:off x="0" y="27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038" name="Line 10"/>
            <p:cNvSpPr>
              <a:spLocks noChangeShapeType="1"/>
            </p:cNvSpPr>
            <p:nvPr userDrawn="1"/>
          </p:nvSpPr>
          <p:spPr bwMode="ltGray">
            <a:xfrm>
              <a:off x="0" y="23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039" name="Line 11"/>
            <p:cNvSpPr>
              <a:spLocks noChangeShapeType="1"/>
            </p:cNvSpPr>
            <p:nvPr userDrawn="1"/>
          </p:nvSpPr>
          <p:spPr bwMode="ltGray">
            <a:xfrm>
              <a:off x="0" y="18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040" name="Line 12"/>
            <p:cNvSpPr>
              <a:spLocks noChangeShapeType="1"/>
            </p:cNvSpPr>
            <p:nvPr userDrawn="1"/>
          </p:nvSpPr>
          <p:spPr bwMode="ltGray">
            <a:xfrm>
              <a:off x="0" y="14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041" name="Line 13"/>
            <p:cNvSpPr>
              <a:spLocks noChangeShapeType="1"/>
            </p:cNvSpPr>
            <p:nvPr userDrawn="1"/>
          </p:nvSpPr>
          <p:spPr bwMode="ltGray">
            <a:xfrm>
              <a:off x="0" y="98"/>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sp>
          <p:nvSpPr>
            <p:cNvPr id="1042" name="Line 14"/>
            <p:cNvSpPr>
              <a:spLocks noChangeShapeType="1"/>
            </p:cNvSpPr>
            <p:nvPr userDrawn="1"/>
          </p:nvSpPr>
          <p:spPr bwMode="ltGray">
            <a:xfrm>
              <a:off x="0" y="53"/>
              <a:ext cx="5569" cy="0"/>
            </a:xfrm>
            <a:prstGeom prst="line">
              <a:avLst/>
            </a:prstGeom>
            <a:noFill/>
            <a:ln w="38100">
              <a:solidFill>
                <a:srgbClr val="777777"/>
              </a:solidFill>
              <a:prstDash val="sysDot"/>
              <a:round/>
              <a:headEnd/>
              <a:tailEnd/>
            </a:ln>
            <a:extLst>
              <a:ext uri="{909E8E84-426E-40DD-AFC4-6F175D3DCCD1}">
                <a14:hiddenFill xmlns:a14="http://schemas.microsoft.com/office/drawing/2010/main">
                  <a:noFill/>
                </a14:hiddenFill>
              </a:ext>
            </a:extLst>
          </p:spPr>
          <p:txBody>
            <a:bodyPr/>
            <a:lstStyle/>
            <a:p>
              <a:endParaRPr lang="ko-KR" altLang="en-US" dirty="0"/>
            </a:p>
          </p:txBody>
        </p:sp>
      </p:grpSp>
      <p:grpSp>
        <p:nvGrpSpPr>
          <p:cNvPr id="1033" name="Group 15"/>
          <p:cNvGrpSpPr>
            <a:grpSpLocks/>
          </p:cNvGrpSpPr>
          <p:nvPr/>
        </p:nvGrpSpPr>
        <p:grpSpPr bwMode="auto">
          <a:xfrm>
            <a:off x="166688" y="84138"/>
            <a:ext cx="1776412" cy="427037"/>
            <a:chOff x="135" y="621"/>
            <a:chExt cx="1035" cy="269"/>
          </a:xfrm>
        </p:grpSpPr>
        <p:sp>
          <p:nvSpPr>
            <p:cNvPr id="1034" name="Text Box 16"/>
            <p:cNvSpPr txBox="1">
              <a:spLocks noChangeArrowheads="1"/>
            </p:cNvSpPr>
            <p:nvPr userDrawn="1"/>
          </p:nvSpPr>
          <p:spPr bwMode="auto">
            <a:xfrm>
              <a:off x="135" y="656"/>
              <a:ext cx="56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i="1">
                  <a:solidFill>
                    <a:schemeClr val="tx1"/>
                  </a:solidFill>
                  <a:latin typeface="Arial" pitchFamily="34" charset="0"/>
                  <a:ea typeface="굴림" pitchFamily="50" charset="-127"/>
                </a:defRPr>
              </a:lvl1pPr>
              <a:lvl2pPr marL="742950" indent="-285750">
                <a:defRPr sz="2000" i="1">
                  <a:solidFill>
                    <a:schemeClr val="tx1"/>
                  </a:solidFill>
                  <a:latin typeface="Arial" pitchFamily="34" charset="0"/>
                  <a:ea typeface="굴림" pitchFamily="50" charset="-127"/>
                </a:defRPr>
              </a:lvl2pPr>
              <a:lvl3pPr marL="1143000" indent="-228600">
                <a:defRPr sz="2000" i="1">
                  <a:solidFill>
                    <a:schemeClr val="tx1"/>
                  </a:solidFill>
                  <a:latin typeface="Arial" pitchFamily="34" charset="0"/>
                  <a:ea typeface="굴림" pitchFamily="50" charset="-127"/>
                </a:defRPr>
              </a:lvl3pPr>
              <a:lvl4pPr marL="1600200" indent="-228600">
                <a:defRPr sz="2000" i="1">
                  <a:solidFill>
                    <a:schemeClr val="tx1"/>
                  </a:solidFill>
                  <a:latin typeface="Arial" pitchFamily="34" charset="0"/>
                  <a:ea typeface="굴림" pitchFamily="50" charset="-127"/>
                </a:defRPr>
              </a:lvl4pPr>
              <a:lvl5pPr marL="2057400" indent="-228600">
                <a:defRPr sz="2000" i="1">
                  <a:solidFill>
                    <a:schemeClr val="tx1"/>
                  </a:solidFill>
                  <a:latin typeface="Arial" pitchFamily="34" charset="0"/>
                  <a:ea typeface="굴림" pitchFamily="50" charset="-127"/>
                </a:defRPr>
              </a:lvl5pPr>
              <a:lvl6pPr marL="2514600" indent="-228600"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eaLnBrk="0" fontAlgn="base" hangingPunct="0">
                <a:spcBef>
                  <a:spcPct val="0"/>
                </a:spcBef>
                <a:spcAft>
                  <a:spcPct val="0"/>
                </a:spcAft>
                <a:defRPr sz="2000" i="1">
                  <a:solidFill>
                    <a:schemeClr val="tx1"/>
                  </a:solidFill>
                  <a:latin typeface="Arial" pitchFamily="34" charset="0"/>
                  <a:ea typeface="굴림" pitchFamily="50" charset="-127"/>
                </a:defRPr>
              </a:lvl9pPr>
            </a:lstStyle>
            <a:p>
              <a:pPr eaLnBrk="1" latinLnBrk="1" hangingPunct="1">
                <a:defRPr/>
              </a:pPr>
              <a:r>
                <a:rPr kumimoji="1" lang="en-US" altLang="ko-KR" sz="1600" b="1" dirty="0" smtClean="0">
                  <a:solidFill>
                    <a:srgbClr val="99CC00"/>
                  </a:solidFill>
                  <a:latin typeface="Arial Black" pitchFamily="34" charset="0"/>
                  <a:ea typeface="돋움" pitchFamily="50" charset="-127"/>
                </a:rPr>
                <a:t>power</a:t>
              </a:r>
            </a:p>
          </p:txBody>
        </p:sp>
        <p:sp>
          <p:nvSpPr>
            <p:cNvPr id="1035" name="Text Box 17"/>
            <p:cNvSpPr txBox="1">
              <a:spLocks noChangeArrowheads="1"/>
            </p:cNvSpPr>
            <p:nvPr userDrawn="1"/>
          </p:nvSpPr>
          <p:spPr bwMode="auto">
            <a:xfrm>
              <a:off x="632" y="621"/>
              <a:ext cx="53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i="1">
                  <a:solidFill>
                    <a:schemeClr val="tx1"/>
                  </a:solidFill>
                  <a:latin typeface="Arial" pitchFamily="34" charset="0"/>
                  <a:ea typeface="굴림" pitchFamily="50" charset="-127"/>
                </a:defRPr>
              </a:lvl1pPr>
              <a:lvl2pPr marL="742950" indent="-285750">
                <a:defRPr sz="2000" i="1">
                  <a:solidFill>
                    <a:schemeClr val="tx1"/>
                  </a:solidFill>
                  <a:latin typeface="Arial" pitchFamily="34" charset="0"/>
                  <a:ea typeface="굴림" pitchFamily="50" charset="-127"/>
                </a:defRPr>
              </a:lvl2pPr>
              <a:lvl3pPr marL="1143000" indent="-228600">
                <a:defRPr sz="2000" i="1">
                  <a:solidFill>
                    <a:schemeClr val="tx1"/>
                  </a:solidFill>
                  <a:latin typeface="Arial" pitchFamily="34" charset="0"/>
                  <a:ea typeface="굴림" pitchFamily="50" charset="-127"/>
                </a:defRPr>
              </a:lvl3pPr>
              <a:lvl4pPr marL="1600200" indent="-228600">
                <a:defRPr sz="2000" i="1">
                  <a:solidFill>
                    <a:schemeClr val="tx1"/>
                  </a:solidFill>
                  <a:latin typeface="Arial" pitchFamily="34" charset="0"/>
                  <a:ea typeface="굴림" pitchFamily="50" charset="-127"/>
                </a:defRPr>
              </a:lvl4pPr>
              <a:lvl5pPr marL="2057400" indent="-228600">
                <a:defRPr sz="2000" i="1">
                  <a:solidFill>
                    <a:schemeClr val="tx1"/>
                  </a:solidFill>
                  <a:latin typeface="Arial" pitchFamily="34" charset="0"/>
                  <a:ea typeface="굴림" pitchFamily="50" charset="-127"/>
                </a:defRPr>
              </a:lvl5pPr>
              <a:lvl6pPr marL="2514600" indent="-228600"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eaLnBrk="0" fontAlgn="base" hangingPunct="0">
                <a:spcBef>
                  <a:spcPct val="0"/>
                </a:spcBef>
                <a:spcAft>
                  <a:spcPct val="0"/>
                </a:spcAft>
                <a:defRPr sz="2000" i="1">
                  <a:solidFill>
                    <a:schemeClr val="tx1"/>
                  </a:solidFill>
                  <a:latin typeface="Arial" pitchFamily="34" charset="0"/>
                  <a:ea typeface="굴림" pitchFamily="50" charset="-127"/>
                </a:defRPr>
              </a:lvl9pPr>
            </a:lstStyle>
            <a:p>
              <a:pPr eaLnBrk="1" latinLnBrk="1" hangingPunct="1">
                <a:defRPr/>
              </a:pPr>
              <a:r>
                <a:rPr kumimoji="1" lang="en-US" altLang="ko-KR" sz="2200" b="1" dirty="0" smtClean="0">
                  <a:solidFill>
                    <a:schemeClr val="bg1"/>
                  </a:solidFill>
                  <a:latin typeface="Arial Black" pitchFamily="34" charset="0"/>
                  <a:ea typeface="돋움" pitchFamily="50" charset="-127"/>
                </a:rPr>
                <a:t>PNU</a:t>
              </a:r>
            </a:p>
          </p:txBody>
        </p:sp>
        <p:sp>
          <p:nvSpPr>
            <p:cNvPr id="1036" name="Text Box 18"/>
            <p:cNvSpPr txBox="1">
              <a:spLocks noChangeArrowheads="1"/>
            </p:cNvSpPr>
            <p:nvPr userDrawn="1"/>
          </p:nvSpPr>
          <p:spPr bwMode="auto">
            <a:xfrm>
              <a:off x="152" y="623"/>
              <a:ext cx="62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i="1">
                  <a:solidFill>
                    <a:schemeClr val="tx1"/>
                  </a:solidFill>
                  <a:latin typeface="Arial" pitchFamily="34" charset="0"/>
                  <a:ea typeface="굴림" pitchFamily="50" charset="-127"/>
                </a:defRPr>
              </a:lvl1pPr>
              <a:lvl2pPr marL="742950" indent="-285750">
                <a:defRPr sz="2000" i="1">
                  <a:solidFill>
                    <a:schemeClr val="tx1"/>
                  </a:solidFill>
                  <a:latin typeface="Arial" pitchFamily="34" charset="0"/>
                  <a:ea typeface="굴림" pitchFamily="50" charset="-127"/>
                </a:defRPr>
              </a:lvl2pPr>
              <a:lvl3pPr marL="1143000" indent="-228600">
                <a:defRPr sz="2000" i="1">
                  <a:solidFill>
                    <a:schemeClr val="tx1"/>
                  </a:solidFill>
                  <a:latin typeface="Arial" pitchFamily="34" charset="0"/>
                  <a:ea typeface="굴림" pitchFamily="50" charset="-127"/>
                </a:defRPr>
              </a:lvl3pPr>
              <a:lvl4pPr marL="1600200" indent="-228600">
                <a:defRPr sz="2000" i="1">
                  <a:solidFill>
                    <a:schemeClr val="tx1"/>
                  </a:solidFill>
                  <a:latin typeface="Arial" pitchFamily="34" charset="0"/>
                  <a:ea typeface="굴림" pitchFamily="50" charset="-127"/>
                </a:defRPr>
              </a:lvl4pPr>
              <a:lvl5pPr marL="2057400" indent="-228600">
                <a:defRPr sz="2000" i="1">
                  <a:solidFill>
                    <a:schemeClr val="tx1"/>
                  </a:solidFill>
                  <a:latin typeface="Arial" pitchFamily="34" charset="0"/>
                  <a:ea typeface="굴림" pitchFamily="50" charset="-127"/>
                </a:defRPr>
              </a:lvl5pPr>
              <a:lvl6pPr marL="2514600" indent="-228600" eaLnBrk="0" fontAlgn="base" hangingPunct="0">
                <a:spcBef>
                  <a:spcPct val="0"/>
                </a:spcBef>
                <a:spcAft>
                  <a:spcPct val="0"/>
                </a:spcAft>
                <a:defRPr sz="2000" i="1">
                  <a:solidFill>
                    <a:schemeClr val="tx1"/>
                  </a:solidFill>
                  <a:latin typeface="Arial" pitchFamily="34" charset="0"/>
                  <a:ea typeface="굴림" pitchFamily="50" charset="-127"/>
                </a:defRPr>
              </a:lvl6pPr>
              <a:lvl7pPr marL="2971800" indent="-228600" eaLnBrk="0" fontAlgn="base" hangingPunct="0">
                <a:spcBef>
                  <a:spcPct val="0"/>
                </a:spcBef>
                <a:spcAft>
                  <a:spcPct val="0"/>
                </a:spcAft>
                <a:defRPr sz="2000" i="1">
                  <a:solidFill>
                    <a:schemeClr val="tx1"/>
                  </a:solidFill>
                  <a:latin typeface="Arial" pitchFamily="34" charset="0"/>
                  <a:ea typeface="굴림" pitchFamily="50" charset="-127"/>
                </a:defRPr>
              </a:lvl7pPr>
              <a:lvl8pPr marL="3429000" indent="-228600" eaLnBrk="0" fontAlgn="base" hangingPunct="0">
                <a:spcBef>
                  <a:spcPct val="0"/>
                </a:spcBef>
                <a:spcAft>
                  <a:spcPct val="0"/>
                </a:spcAft>
                <a:defRPr sz="2000" i="1">
                  <a:solidFill>
                    <a:schemeClr val="tx1"/>
                  </a:solidFill>
                  <a:latin typeface="Arial" pitchFamily="34" charset="0"/>
                  <a:ea typeface="굴림" pitchFamily="50" charset="-127"/>
                </a:defRPr>
              </a:lvl8pPr>
              <a:lvl9pPr marL="3886200" indent="-228600" eaLnBrk="0" fontAlgn="base" hangingPunct="0">
                <a:spcBef>
                  <a:spcPct val="0"/>
                </a:spcBef>
                <a:spcAft>
                  <a:spcPct val="0"/>
                </a:spcAft>
                <a:defRPr sz="2000" i="1">
                  <a:solidFill>
                    <a:schemeClr val="tx1"/>
                  </a:solidFill>
                  <a:latin typeface="Arial" pitchFamily="34" charset="0"/>
                  <a:ea typeface="굴림" pitchFamily="50" charset="-127"/>
                </a:defRPr>
              </a:lvl9pPr>
            </a:lstStyle>
            <a:p>
              <a:pPr eaLnBrk="1" latinLnBrk="1" hangingPunct="1">
                <a:defRPr/>
              </a:pPr>
              <a:r>
                <a:rPr kumimoji="1" lang="ko-KR" altLang="en-US" sz="900" b="1" dirty="0" smtClean="0">
                  <a:solidFill>
                    <a:schemeClr val="bg1"/>
                  </a:solidFill>
                  <a:latin typeface="Arial Black" pitchFamily="34" charset="0"/>
                  <a:ea typeface="돋움" pitchFamily="50" charset="-127"/>
                </a:rPr>
                <a:t>세계로</a:t>
              </a:r>
              <a:r>
                <a:rPr kumimoji="1" lang="ko-KR" altLang="en-US" sz="900" b="1" dirty="0" smtClean="0">
                  <a:solidFill>
                    <a:schemeClr val="bg2"/>
                  </a:solidFill>
                  <a:latin typeface="Arial Black" pitchFamily="34" charset="0"/>
                  <a:ea typeface="돋움" pitchFamily="50" charset="-127"/>
                </a:rPr>
                <a:t> </a:t>
              </a:r>
              <a:r>
                <a:rPr kumimoji="1" lang="ko-KR" altLang="en-US" sz="900" b="1" dirty="0" smtClean="0">
                  <a:solidFill>
                    <a:schemeClr val="bg1"/>
                  </a:solidFill>
                  <a:latin typeface="Arial Black" pitchFamily="34" charset="0"/>
                  <a:ea typeface="돋움" pitchFamily="50" charset="-127"/>
                </a:rPr>
                <a:t>미래로</a:t>
              </a:r>
            </a:p>
          </p:txBody>
        </p:sp>
      </p:grpSp>
    </p:spTree>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 id="2147483892" r:id="rId12"/>
    <p:sldLayoutId id="2147483893" r:id="rId13"/>
  </p:sldLayoutIdLst>
  <p:transition spd="med"/>
  <p:txStyles>
    <p:titleStyle>
      <a:lvl1pPr algn="r" rtl="0" eaLnBrk="0" fontAlgn="base" latinLnBrk="1" hangingPunct="0">
        <a:spcBef>
          <a:spcPct val="0"/>
        </a:spcBef>
        <a:spcAft>
          <a:spcPct val="0"/>
        </a:spcAft>
        <a:defRPr kumimoji="1" sz="4400" b="1">
          <a:solidFill>
            <a:schemeClr val="bg1"/>
          </a:solidFill>
          <a:latin typeface="Microsoft Sans Serif" pitchFamily="34" charset="0"/>
          <a:ea typeface="+mj-ea"/>
          <a:cs typeface="Microsoft Sans Serif" pitchFamily="34" charset="0"/>
        </a:defRPr>
      </a:lvl1pPr>
      <a:lvl2pPr algn="r" rtl="0" eaLnBrk="0" fontAlgn="base" latinLnBrk="1" hangingPunct="0">
        <a:spcBef>
          <a:spcPct val="0"/>
        </a:spcBef>
        <a:spcAft>
          <a:spcPct val="0"/>
        </a:spcAft>
        <a:defRPr kumimoji="1" sz="4400" b="1">
          <a:solidFill>
            <a:schemeClr val="bg1"/>
          </a:solidFill>
          <a:latin typeface="Microsoft Sans Serif" pitchFamily="34" charset="0"/>
          <a:ea typeface="굴림" pitchFamily="50" charset="-127"/>
          <a:cs typeface="Microsoft Sans Serif" pitchFamily="34" charset="0"/>
        </a:defRPr>
      </a:lvl2pPr>
      <a:lvl3pPr algn="r" rtl="0" eaLnBrk="0" fontAlgn="base" latinLnBrk="1" hangingPunct="0">
        <a:spcBef>
          <a:spcPct val="0"/>
        </a:spcBef>
        <a:spcAft>
          <a:spcPct val="0"/>
        </a:spcAft>
        <a:defRPr kumimoji="1" sz="4400" b="1">
          <a:solidFill>
            <a:schemeClr val="bg1"/>
          </a:solidFill>
          <a:latin typeface="Microsoft Sans Serif" pitchFamily="34" charset="0"/>
          <a:ea typeface="굴림" pitchFamily="50" charset="-127"/>
          <a:cs typeface="Microsoft Sans Serif" pitchFamily="34" charset="0"/>
        </a:defRPr>
      </a:lvl3pPr>
      <a:lvl4pPr algn="r" rtl="0" eaLnBrk="0" fontAlgn="base" latinLnBrk="1" hangingPunct="0">
        <a:spcBef>
          <a:spcPct val="0"/>
        </a:spcBef>
        <a:spcAft>
          <a:spcPct val="0"/>
        </a:spcAft>
        <a:defRPr kumimoji="1" sz="4400" b="1">
          <a:solidFill>
            <a:schemeClr val="bg1"/>
          </a:solidFill>
          <a:latin typeface="Microsoft Sans Serif" pitchFamily="34" charset="0"/>
          <a:ea typeface="굴림" pitchFamily="50" charset="-127"/>
          <a:cs typeface="Microsoft Sans Serif" pitchFamily="34" charset="0"/>
        </a:defRPr>
      </a:lvl4pPr>
      <a:lvl5pPr algn="r" rtl="0" eaLnBrk="0" fontAlgn="base" latinLnBrk="1" hangingPunct="0">
        <a:spcBef>
          <a:spcPct val="0"/>
        </a:spcBef>
        <a:spcAft>
          <a:spcPct val="0"/>
        </a:spcAft>
        <a:defRPr kumimoji="1" sz="4400" b="1">
          <a:solidFill>
            <a:schemeClr val="bg1"/>
          </a:solidFill>
          <a:latin typeface="Microsoft Sans Serif" pitchFamily="34" charset="0"/>
          <a:ea typeface="굴림" pitchFamily="50" charset="-127"/>
          <a:cs typeface="Microsoft Sans Serif" pitchFamily="34" charset="0"/>
        </a:defRPr>
      </a:lvl5pPr>
      <a:lvl6pPr marL="457200" algn="r" rtl="0" fontAlgn="base" latinLnBrk="1">
        <a:spcBef>
          <a:spcPct val="0"/>
        </a:spcBef>
        <a:spcAft>
          <a:spcPct val="0"/>
        </a:spcAft>
        <a:defRPr kumimoji="1" b="1">
          <a:solidFill>
            <a:schemeClr val="bg1"/>
          </a:solidFill>
          <a:latin typeface="Times New Roman" pitchFamily="18" charset="0"/>
          <a:ea typeface="굴림" pitchFamily="50" charset="-127"/>
        </a:defRPr>
      </a:lvl6pPr>
      <a:lvl7pPr marL="914400" algn="r" rtl="0" fontAlgn="base" latinLnBrk="1">
        <a:spcBef>
          <a:spcPct val="0"/>
        </a:spcBef>
        <a:spcAft>
          <a:spcPct val="0"/>
        </a:spcAft>
        <a:defRPr kumimoji="1" b="1">
          <a:solidFill>
            <a:schemeClr val="bg1"/>
          </a:solidFill>
          <a:latin typeface="Times New Roman" pitchFamily="18" charset="0"/>
          <a:ea typeface="굴림" pitchFamily="50" charset="-127"/>
        </a:defRPr>
      </a:lvl7pPr>
      <a:lvl8pPr marL="1371600" algn="r" rtl="0" fontAlgn="base" latinLnBrk="1">
        <a:spcBef>
          <a:spcPct val="0"/>
        </a:spcBef>
        <a:spcAft>
          <a:spcPct val="0"/>
        </a:spcAft>
        <a:defRPr kumimoji="1" b="1">
          <a:solidFill>
            <a:schemeClr val="bg1"/>
          </a:solidFill>
          <a:latin typeface="Times New Roman" pitchFamily="18" charset="0"/>
          <a:ea typeface="굴림" pitchFamily="50" charset="-127"/>
        </a:defRPr>
      </a:lvl8pPr>
      <a:lvl9pPr marL="1828800" algn="r" rtl="0" fontAlgn="base" latinLnBrk="1">
        <a:spcBef>
          <a:spcPct val="0"/>
        </a:spcBef>
        <a:spcAft>
          <a:spcPct val="0"/>
        </a:spcAft>
        <a:defRPr kumimoji="1" b="1">
          <a:solidFill>
            <a:schemeClr val="bg1"/>
          </a:solidFill>
          <a:latin typeface="Times New Roman" pitchFamily="18" charset="0"/>
          <a:ea typeface="굴림" pitchFamily="50" charset="-127"/>
        </a:defRPr>
      </a:lvl9pPr>
    </p:titleStyle>
    <p:bodyStyle>
      <a:lvl1pPr marL="342900" indent="-342900" algn="l" rtl="0" eaLnBrk="0" fontAlgn="base" latinLnBrk="1" hangingPunct="0">
        <a:spcBef>
          <a:spcPct val="20000"/>
        </a:spcBef>
        <a:spcAft>
          <a:spcPct val="0"/>
        </a:spcAft>
        <a:buBlip>
          <a:blip r:embed="rId15"/>
        </a:buBlip>
        <a:defRPr kumimoji="1" sz="2400">
          <a:solidFill>
            <a:schemeClr val="tx1"/>
          </a:solidFill>
          <a:latin typeface="Microsoft Sans Serif" pitchFamily="34" charset="0"/>
          <a:ea typeface="+mn-ea"/>
          <a:cs typeface="Microsoft Sans Serif" pitchFamily="34" charset="0"/>
        </a:defRPr>
      </a:lvl1pPr>
      <a:lvl2pPr marL="742950" indent="-285750" algn="l" rtl="0" eaLnBrk="0" fontAlgn="base" latinLnBrk="1" hangingPunct="0">
        <a:spcBef>
          <a:spcPct val="20000"/>
        </a:spcBef>
        <a:spcAft>
          <a:spcPct val="0"/>
        </a:spcAft>
        <a:buBlip>
          <a:blip r:embed="rId16"/>
        </a:buBlip>
        <a:defRPr kumimoji="1" sz="2000">
          <a:solidFill>
            <a:schemeClr val="tx1"/>
          </a:solidFill>
          <a:latin typeface="Microsoft Sans Serif" pitchFamily="34" charset="0"/>
          <a:ea typeface="+mn-ea"/>
          <a:cs typeface="Microsoft Sans Serif" pitchFamily="34" charset="0"/>
        </a:defRPr>
      </a:lvl2pPr>
      <a:lvl3pPr marL="1143000" indent="-228600" algn="l" rtl="0" eaLnBrk="0" fontAlgn="base" latinLnBrk="1" hangingPunct="0">
        <a:spcBef>
          <a:spcPct val="20000"/>
        </a:spcBef>
        <a:spcAft>
          <a:spcPct val="0"/>
        </a:spcAft>
        <a:buChar char="•"/>
        <a:defRPr kumimoji="1">
          <a:solidFill>
            <a:schemeClr val="tx1"/>
          </a:solidFill>
          <a:latin typeface="Microsoft Sans Serif" pitchFamily="34" charset="0"/>
          <a:ea typeface="+mn-ea"/>
          <a:cs typeface="Microsoft Sans Serif" pitchFamily="34" charset="0"/>
        </a:defRPr>
      </a:lvl3pPr>
      <a:lvl4pPr marL="1600200" indent="-228600" algn="l" rtl="0" eaLnBrk="0" fontAlgn="base" latinLnBrk="1" hangingPunct="0">
        <a:spcBef>
          <a:spcPct val="20000"/>
        </a:spcBef>
        <a:spcAft>
          <a:spcPct val="0"/>
        </a:spcAft>
        <a:buChar char="–"/>
        <a:defRPr kumimoji="1" sz="1600">
          <a:solidFill>
            <a:schemeClr val="tx1"/>
          </a:solidFill>
          <a:latin typeface="Microsoft Sans Serif" pitchFamily="34" charset="0"/>
          <a:ea typeface="+mn-ea"/>
          <a:cs typeface="Microsoft Sans Serif" pitchFamily="34" charset="0"/>
        </a:defRPr>
      </a:lvl4pPr>
      <a:lvl5pPr marL="2057400" indent="-228600" algn="l" rtl="0" eaLnBrk="0" fontAlgn="base" latinLnBrk="1" hangingPunct="0">
        <a:spcBef>
          <a:spcPct val="20000"/>
        </a:spcBef>
        <a:spcAft>
          <a:spcPct val="0"/>
        </a:spcAft>
        <a:buChar char="»"/>
        <a:defRPr kumimoji="1" sz="1600">
          <a:solidFill>
            <a:schemeClr val="tx1"/>
          </a:solidFill>
          <a:latin typeface="Microsoft Sans Serif" pitchFamily="34" charset="0"/>
          <a:ea typeface="+mn-ea"/>
          <a:cs typeface="Microsoft Sans Serif" pitchFamily="34" charset="0"/>
        </a:defRPr>
      </a:lvl5pPr>
      <a:lvl6pPr marL="2514600" indent="-228600" algn="l" rtl="0" fontAlgn="base" latinLnBrk="1">
        <a:spcBef>
          <a:spcPct val="20000"/>
        </a:spcBef>
        <a:spcAft>
          <a:spcPct val="0"/>
        </a:spcAft>
        <a:buChar char="»"/>
        <a:defRPr kumimoji="1" sz="1600">
          <a:solidFill>
            <a:schemeClr val="tx1"/>
          </a:solidFill>
          <a:latin typeface="+mn-lt"/>
          <a:ea typeface="+mn-ea"/>
        </a:defRPr>
      </a:lvl6pPr>
      <a:lvl7pPr marL="2971800" indent="-228600" algn="l" rtl="0" fontAlgn="base" latinLnBrk="1">
        <a:spcBef>
          <a:spcPct val="20000"/>
        </a:spcBef>
        <a:spcAft>
          <a:spcPct val="0"/>
        </a:spcAft>
        <a:buChar char="»"/>
        <a:defRPr kumimoji="1" sz="1600">
          <a:solidFill>
            <a:schemeClr val="tx1"/>
          </a:solidFill>
          <a:latin typeface="+mn-lt"/>
          <a:ea typeface="+mn-ea"/>
        </a:defRPr>
      </a:lvl7pPr>
      <a:lvl8pPr marL="3429000" indent="-228600" algn="l" rtl="0" fontAlgn="base" latinLnBrk="1">
        <a:spcBef>
          <a:spcPct val="20000"/>
        </a:spcBef>
        <a:spcAft>
          <a:spcPct val="0"/>
        </a:spcAft>
        <a:buChar char="»"/>
        <a:defRPr kumimoji="1" sz="1600">
          <a:solidFill>
            <a:schemeClr val="tx1"/>
          </a:solidFill>
          <a:latin typeface="+mn-lt"/>
          <a:ea typeface="+mn-ea"/>
        </a:defRPr>
      </a:lvl8pPr>
      <a:lvl9pPr marL="3886200" indent="-228600" algn="l" rtl="0" fontAlgn="base" latinLnBrk="1">
        <a:spcBef>
          <a:spcPct val="20000"/>
        </a:spcBef>
        <a:spcAft>
          <a:spcPct val="0"/>
        </a:spcAft>
        <a:buChar char="»"/>
        <a:defRPr kumimoji="1" sz="16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9.emf"/><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emf"/><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emf"/><Relationship Id="rId5" Type="http://schemas.openxmlformats.org/officeDocument/2006/relationships/image" Target="../media/image37.emf"/><Relationship Id="rId4" Type="http://schemas.openxmlformats.org/officeDocument/2006/relationships/image" Target="../media/image36.emf"/></Relationships>
</file>

<file path=ppt/slides/_rels/slide20.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3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4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4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4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4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5"/>
          <p:cNvSpPr>
            <a:spLocks noGrp="1" noChangeArrowheads="1"/>
          </p:cNvSpPr>
          <p:nvPr>
            <p:ph type="subTitle" idx="1"/>
          </p:nvPr>
        </p:nvSpPr>
        <p:spPr>
          <a:xfrm>
            <a:off x="795338" y="4865688"/>
            <a:ext cx="4111625" cy="1298575"/>
          </a:xfrm>
          <a:noFill/>
        </p:spPr>
        <p:txBody>
          <a:bodyPr/>
          <a:lstStyle/>
          <a:p>
            <a:pPr eaLnBrk="1" hangingPunct="1">
              <a:lnSpc>
                <a:spcPct val="90000"/>
              </a:lnSpc>
            </a:pPr>
            <a:r>
              <a:rPr lang="en-US" altLang="ko-KR" sz="1600" dirty="0" smtClean="0">
                <a:latin typeface="Times New Roman" pitchFamily="18" charset="0"/>
              </a:rPr>
              <a:t>School of Computer Science and Engineering</a:t>
            </a:r>
          </a:p>
          <a:p>
            <a:pPr eaLnBrk="1" hangingPunct="1">
              <a:lnSpc>
                <a:spcPct val="90000"/>
              </a:lnSpc>
            </a:pPr>
            <a:r>
              <a:rPr lang="en-US" altLang="ko-KR" sz="1600" dirty="0" smtClean="0">
                <a:latin typeface="Times New Roman" pitchFamily="18" charset="0"/>
              </a:rPr>
              <a:t>Pusan National University</a:t>
            </a:r>
          </a:p>
          <a:p>
            <a:pPr eaLnBrk="1" hangingPunct="1">
              <a:lnSpc>
                <a:spcPct val="90000"/>
              </a:lnSpc>
            </a:pPr>
            <a:endParaRPr lang="en-US" altLang="ko-KR" sz="1600" dirty="0" smtClean="0">
              <a:latin typeface="Times New Roman" pitchFamily="18" charset="0"/>
            </a:endParaRPr>
          </a:p>
          <a:p>
            <a:pPr eaLnBrk="1" hangingPunct="1">
              <a:lnSpc>
                <a:spcPct val="90000"/>
              </a:lnSpc>
            </a:pPr>
            <a:r>
              <a:rPr lang="en-US" altLang="ko-KR" sz="1600" dirty="0" smtClean="0">
                <a:latin typeface="Times New Roman" pitchFamily="18" charset="0"/>
              </a:rPr>
              <a:t>Jeong Goo Kim</a:t>
            </a:r>
          </a:p>
          <a:p>
            <a:pPr eaLnBrk="1" hangingPunct="1">
              <a:lnSpc>
                <a:spcPct val="90000"/>
              </a:lnSpc>
            </a:pPr>
            <a:endParaRPr lang="ko-KR" altLang="en-US" dirty="0" smtClean="0">
              <a:latin typeface="Times New Roman" pitchFamily="18" charset="0"/>
            </a:endParaRPr>
          </a:p>
        </p:txBody>
      </p:sp>
      <p:sp>
        <p:nvSpPr>
          <p:cNvPr id="18435" name="Rectangle 16"/>
          <p:cNvSpPr>
            <a:spLocks noGrp="1" noChangeArrowheads="1"/>
          </p:cNvSpPr>
          <p:nvPr>
            <p:ph type="ctrTitle"/>
          </p:nvPr>
        </p:nvSpPr>
        <p:spPr>
          <a:xfrm>
            <a:off x="461963" y="2747963"/>
            <a:ext cx="4630737" cy="1381125"/>
          </a:xfrm>
        </p:spPr>
        <p:txBody>
          <a:bodyPr/>
          <a:lstStyle/>
          <a:p>
            <a:pPr algn="ctr" eaLnBrk="1" hangingPunct="1">
              <a:defRPr/>
            </a:pPr>
            <a:r>
              <a:rPr lang="en-US" altLang="ko-KR" sz="3200" i="1" dirty="0" smtClean="0">
                <a:solidFill>
                  <a:srgbClr val="C00000"/>
                </a:solidFill>
                <a:latin typeface="+mj-lt"/>
              </a:rPr>
              <a:t>Chapter  3</a:t>
            </a:r>
            <a:r>
              <a:rPr lang="en-US" altLang="ko-KR" sz="3200" b="0" dirty="0" smtClean="0">
                <a:solidFill>
                  <a:srgbClr val="0070C0"/>
                </a:solidFill>
              </a:rPr>
              <a:t> </a:t>
            </a:r>
            <a:br>
              <a:rPr lang="en-US" altLang="ko-KR" sz="3200" b="0" dirty="0" smtClean="0">
                <a:solidFill>
                  <a:srgbClr val="0070C0"/>
                </a:solidFill>
              </a:rPr>
            </a:br>
            <a:r>
              <a:rPr lang="en-US" altLang="ko-KR" sz="3200" dirty="0" smtClean="0">
                <a:latin typeface="Times" pitchFamily="18" charset="0"/>
              </a:rPr>
              <a:t>Introduction To</a:t>
            </a:r>
            <a:r>
              <a:rPr lang="en-US" altLang="ko-KR" sz="3200" dirty="0">
                <a:latin typeface="Times" pitchFamily="18" charset="0"/>
              </a:rPr>
              <a:t/>
            </a:r>
            <a:br>
              <a:rPr lang="en-US" altLang="ko-KR" sz="3200" dirty="0">
                <a:latin typeface="Times" pitchFamily="18" charset="0"/>
              </a:rPr>
            </a:br>
            <a:r>
              <a:rPr lang="en-US" altLang="ko-KR" sz="3200" dirty="0" smtClean="0">
                <a:latin typeface="Times" pitchFamily="18" charset="0"/>
              </a:rPr>
              <a:t>Physical Layer</a:t>
            </a:r>
            <a:endParaRPr lang="en-US" altLang="ko-KR" sz="3200" dirty="0">
              <a:latin typeface="Times" pitchFamily="18" charset="0"/>
            </a:endParaRPr>
          </a:p>
        </p:txBody>
      </p:sp>
      <p:pic>
        <p:nvPicPr>
          <p:cNvPr id="1536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13350" y="2165350"/>
            <a:ext cx="3494088" cy="438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제목 1"/>
          <p:cNvSpPr>
            <a:spLocks noGrp="1"/>
          </p:cNvSpPr>
          <p:nvPr>
            <p:ph type="title"/>
          </p:nvPr>
        </p:nvSpPr>
        <p:spPr/>
        <p:txBody>
          <a:bodyPr/>
          <a:lstStyle/>
          <a:p>
            <a:pPr>
              <a:defRPr/>
            </a:pPr>
            <a:r>
              <a:rPr lang="en-US" altLang="ko-KR" sz="2000" dirty="0" smtClean="0">
                <a:effectLst>
                  <a:outerShdw blurRad="38100" dist="38100" dir="2700000" algn="tl">
                    <a:srgbClr val="000000">
                      <a:alpha val="43137"/>
                    </a:srgbClr>
                  </a:outerShdw>
                </a:effectLst>
                <a:latin typeface="Times" pitchFamily="18" charset="0"/>
                <a:cs typeface="Times" pitchFamily="18" charset="0"/>
              </a:rPr>
              <a:t>Ch. 3:  Outline</a:t>
            </a:r>
            <a:endParaRPr lang="ko-KR" altLang="en-US" sz="2000" dirty="0" smtClean="0">
              <a:effectLst>
                <a:outerShdw blurRad="38100" dist="38100" dir="2700000" algn="tl">
                  <a:srgbClr val="000000">
                    <a:alpha val="43137"/>
                  </a:srgbClr>
                </a:outerShdw>
              </a:effectLst>
              <a:latin typeface="Times" pitchFamily="18" charset="0"/>
              <a:cs typeface="Times" pitchFamily="18" charset="0"/>
            </a:endParaRPr>
          </a:p>
        </p:txBody>
      </p:sp>
      <p:sp>
        <p:nvSpPr>
          <p:cNvPr id="3" name="내용 개체 틀 2"/>
          <p:cNvSpPr>
            <a:spLocks noGrp="1"/>
          </p:cNvSpPr>
          <p:nvPr>
            <p:ph idx="1"/>
          </p:nvPr>
        </p:nvSpPr>
        <p:spPr/>
        <p:txBody>
          <a:bodyPr/>
          <a:lstStyle/>
          <a:p>
            <a:pPr marL="0" lvl="2" indent="0" algn="just">
              <a:spcBef>
                <a:spcPts val="0"/>
              </a:spcBef>
              <a:buFontTx/>
              <a:buNone/>
              <a:defRPr/>
            </a:pPr>
            <a:r>
              <a:rPr lang="en-US" altLang="ko-KR" sz="3600" b="1" dirty="0" smtClean="0">
                <a:solidFill>
                  <a:srgbClr val="C00000"/>
                </a:solidFill>
                <a:latin typeface="Times New Roman" pitchFamily="18" charset="0"/>
                <a:cs typeface="Times New Roman" pitchFamily="18" charset="0"/>
              </a:rPr>
              <a:t>Outline</a:t>
            </a:r>
            <a:endParaRPr lang="en-US" altLang="ko-KR" sz="3600" b="1" dirty="0">
              <a:solidFill>
                <a:srgbClr val="C00000"/>
              </a:solidFill>
              <a:latin typeface="Times New Roman" pitchFamily="18" charset="0"/>
              <a:cs typeface="Times New Roman" pitchFamily="18" charset="0"/>
            </a:endParaRPr>
          </a:p>
          <a:p>
            <a:pPr marL="0" indent="0" algn="just">
              <a:spcBef>
                <a:spcPts val="0"/>
              </a:spcBef>
              <a:buFontTx/>
              <a:buNone/>
              <a:defRPr/>
            </a:pPr>
            <a:endParaRPr lang="en-US" altLang="ko-KR" sz="3600" dirty="0">
              <a:solidFill>
                <a:srgbClr val="C00000"/>
              </a:solidFill>
              <a:effectLst>
                <a:outerShdw blurRad="38100" dist="38100" dir="2700000" algn="tl">
                  <a:srgbClr val="000000">
                    <a:alpha val="43137"/>
                  </a:srgbClr>
                </a:outerShdw>
              </a:effectLst>
              <a:latin typeface="Times"/>
            </a:endParaRPr>
          </a:p>
          <a:p>
            <a:pPr marL="0" indent="0" algn="just">
              <a:spcBef>
                <a:spcPts val="0"/>
              </a:spcBef>
              <a:buFontTx/>
              <a:buNone/>
              <a:defRPr/>
            </a:pPr>
            <a:r>
              <a:rPr lang="en-US" altLang="ko-KR" sz="3200" b="1" dirty="0" smtClean="0">
                <a:solidFill>
                  <a:srgbClr val="C00000"/>
                </a:solidFill>
                <a:latin typeface="Times"/>
              </a:rPr>
              <a:t>3.1  </a:t>
            </a:r>
            <a:r>
              <a:rPr lang="en-US" altLang="ko-KR" sz="3200" b="1" dirty="0" smtClean="0">
                <a:latin typeface="Times New Roman" pitchFamily="18" charset="0"/>
                <a:cs typeface="Times New Roman" pitchFamily="18" charset="0"/>
              </a:rPr>
              <a:t>Data and Signals</a:t>
            </a:r>
            <a:endParaRPr lang="en-US" altLang="ko-KR" sz="3200" b="1" dirty="0">
              <a:latin typeface="Times New Roman" pitchFamily="18" charset="0"/>
              <a:cs typeface="Times New Roman" pitchFamily="18" charset="0"/>
            </a:endParaRPr>
          </a:p>
          <a:p>
            <a:pPr marL="0" indent="0" algn="just">
              <a:buFontTx/>
              <a:buNone/>
              <a:defRPr/>
            </a:pPr>
            <a:r>
              <a:rPr lang="en-US" altLang="ko-KR" sz="3200" b="1" dirty="0" smtClean="0">
                <a:solidFill>
                  <a:srgbClr val="C00000"/>
                </a:solidFill>
                <a:latin typeface="Times"/>
              </a:rPr>
              <a:t>3.2  </a:t>
            </a:r>
            <a:r>
              <a:rPr lang="en-US" altLang="ko-KR" sz="3200" b="1" dirty="0" smtClean="0">
                <a:latin typeface="Times New Roman" pitchFamily="18" charset="0"/>
                <a:cs typeface="Times New Roman" pitchFamily="18" charset="0"/>
              </a:rPr>
              <a:t>Periodic Analog Signals</a:t>
            </a:r>
            <a:endParaRPr lang="en-US" altLang="ko-KR" sz="3200" b="1" dirty="0">
              <a:latin typeface="Times New Roman" pitchFamily="18" charset="0"/>
              <a:cs typeface="Times New Roman" pitchFamily="18" charset="0"/>
            </a:endParaRPr>
          </a:p>
          <a:p>
            <a:pPr marL="0" indent="0" algn="just">
              <a:buFontTx/>
              <a:buNone/>
              <a:defRPr/>
            </a:pPr>
            <a:r>
              <a:rPr lang="en-US" altLang="ko-KR" sz="3200" b="1" dirty="0" smtClean="0">
                <a:solidFill>
                  <a:srgbClr val="C00000"/>
                </a:solidFill>
                <a:latin typeface="Times"/>
              </a:rPr>
              <a:t>3.3  </a:t>
            </a:r>
            <a:r>
              <a:rPr lang="en-US" altLang="ko-KR" sz="3200" b="1" dirty="0" smtClean="0">
                <a:latin typeface="Times New Roman" pitchFamily="18" charset="0"/>
                <a:cs typeface="Times New Roman" pitchFamily="18" charset="0"/>
              </a:rPr>
              <a:t>Digital Signals</a:t>
            </a:r>
            <a:endParaRPr lang="en-US" altLang="ko-KR" sz="3200" b="1" dirty="0">
              <a:latin typeface="Times New Roman" pitchFamily="18" charset="0"/>
              <a:cs typeface="Times New Roman" pitchFamily="18" charset="0"/>
            </a:endParaRPr>
          </a:p>
          <a:p>
            <a:pPr marL="0" indent="0" algn="just">
              <a:buFontTx/>
              <a:buNone/>
              <a:defRPr/>
            </a:pPr>
            <a:r>
              <a:rPr lang="en-US" altLang="ko-KR" sz="3200" b="1" dirty="0" smtClean="0">
                <a:solidFill>
                  <a:srgbClr val="C00000"/>
                </a:solidFill>
                <a:latin typeface="Times"/>
              </a:rPr>
              <a:t>3.4  </a:t>
            </a:r>
            <a:r>
              <a:rPr lang="en-US" altLang="ko-KR" sz="3200" b="1" dirty="0" smtClean="0">
                <a:latin typeface="Times New Roman" pitchFamily="18" charset="0"/>
                <a:cs typeface="Times New Roman" pitchFamily="18" charset="0"/>
              </a:rPr>
              <a:t>Transmission Impairment</a:t>
            </a:r>
            <a:endParaRPr lang="en-US" altLang="ko-KR" sz="3200" b="1" dirty="0">
              <a:latin typeface="Times New Roman" pitchFamily="18" charset="0"/>
              <a:cs typeface="Times New Roman" pitchFamily="18" charset="0"/>
            </a:endParaRPr>
          </a:p>
          <a:p>
            <a:pPr marL="0" indent="0" algn="just">
              <a:buFontTx/>
              <a:buNone/>
              <a:defRPr/>
            </a:pPr>
            <a:r>
              <a:rPr lang="en-US" altLang="ko-KR" sz="3200" b="1" dirty="0" smtClean="0">
                <a:solidFill>
                  <a:srgbClr val="C00000"/>
                </a:solidFill>
                <a:latin typeface="Times"/>
              </a:rPr>
              <a:t>3.5  </a:t>
            </a:r>
            <a:r>
              <a:rPr lang="en-US" altLang="ko-KR" sz="3200" b="1" dirty="0" smtClean="0">
                <a:latin typeface="Times New Roman" pitchFamily="18" charset="0"/>
                <a:cs typeface="Times New Roman" pitchFamily="18" charset="0"/>
              </a:rPr>
              <a:t>Data Rate Limits</a:t>
            </a:r>
            <a:endParaRPr lang="en-US" altLang="ko-KR" sz="3200" b="1" dirty="0">
              <a:latin typeface="Times New Roman" pitchFamily="18" charset="0"/>
              <a:cs typeface="Times New Roman" pitchFamily="18" charset="0"/>
            </a:endParaRPr>
          </a:p>
          <a:p>
            <a:pPr marL="0" indent="0" algn="just">
              <a:buFontTx/>
              <a:buNone/>
              <a:defRPr/>
            </a:pPr>
            <a:r>
              <a:rPr lang="en-US" altLang="ko-KR" sz="3200" b="1" dirty="0" smtClean="0">
                <a:solidFill>
                  <a:srgbClr val="C00000"/>
                </a:solidFill>
                <a:latin typeface="Times"/>
              </a:rPr>
              <a:t>3.6  </a:t>
            </a:r>
            <a:r>
              <a:rPr lang="en-US" altLang="ko-KR" sz="3200" b="1" dirty="0" smtClean="0">
                <a:latin typeface="Times New Roman" pitchFamily="18" charset="0"/>
                <a:cs typeface="Times New Roman" pitchFamily="18" charset="0"/>
              </a:rPr>
              <a:t>Performance</a:t>
            </a:r>
            <a:endParaRPr lang="en-US" altLang="ko-KR" sz="3200" b="1" i="1" dirty="0">
              <a:latin typeface="Times"/>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lvl="2">
              <a:defRPr/>
            </a:pPr>
            <a:r>
              <a:rPr lang="en-US" altLang="ko-KR" sz="2000" dirty="0" smtClean="0">
                <a:latin typeface="Times" pitchFamily="18" charset="0"/>
              </a:rPr>
              <a:t>Ch. 3 : Objective</a:t>
            </a:r>
            <a:endParaRPr lang="en-US" altLang="ko-KR" sz="2000" dirty="0">
              <a:latin typeface="Times" pitchFamily="18" charset="0"/>
            </a:endParaRPr>
          </a:p>
        </p:txBody>
      </p:sp>
      <p:sp>
        <p:nvSpPr>
          <p:cNvPr id="17411" name="내용 개체 틀 2"/>
          <p:cNvSpPr>
            <a:spLocks noGrp="1"/>
          </p:cNvSpPr>
          <p:nvPr>
            <p:ph idx="1"/>
          </p:nvPr>
        </p:nvSpPr>
        <p:spPr>
          <a:xfrm>
            <a:off x="344488" y="392113"/>
            <a:ext cx="8429625" cy="6196012"/>
          </a:xfrm>
        </p:spPr>
        <p:txBody>
          <a:bodyPr/>
          <a:lstStyle/>
          <a:p>
            <a:pPr marL="342900" lvl="2" indent="-342900">
              <a:lnSpc>
                <a:spcPct val="150000"/>
              </a:lnSpc>
              <a:buFontTx/>
              <a:buNone/>
            </a:pPr>
            <a:r>
              <a:rPr lang="en-US" altLang="ko-KR" sz="3600" b="1" dirty="0" smtClean="0">
                <a:solidFill>
                  <a:srgbClr val="C00000"/>
                </a:solidFill>
                <a:latin typeface="Times New Roman" pitchFamily="18" charset="0"/>
                <a:cs typeface="Times New Roman" pitchFamily="18" charset="0"/>
              </a:rPr>
              <a:t>Objective</a:t>
            </a:r>
          </a:p>
          <a:p>
            <a:pPr>
              <a:spcAft>
                <a:spcPts val="600"/>
              </a:spcAft>
            </a:pPr>
            <a:r>
              <a:rPr lang="en-US" altLang="ko-KR" dirty="0" smtClean="0">
                <a:latin typeface="Times New Roman" pitchFamily="18" charset="0"/>
              </a:rPr>
              <a:t>Data and signals can be either analog or digital. </a:t>
            </a:r>
          </a:p>
          <a:p>
            <a:pPr lvl="1">
              <a:spcAft>
                <a:spcPts val="600"/>
              </a:spcAft>
            </a:pPr>
            <a:r>
              <a:rPr lang="en-US" altLang="ko-KR" dirty="0" smtClean="0">
                <a:latin typeface="Times New Roman" pitchFamily="18" charset="0"/>
              </a:rPr>
              <a:t>Analog refers to an entity that is continuous; </a:t>
            </a:r>
          </a:p>
          <a:p>
            <a:pPr lvl="1">
              <a:spcAft>
                <a:spcPts val="600"/>
              </a:spcAft>
            </a:pPr>
            <a:r>
              <a:rPr lang="en-US" altLang="ko-KR" dirty="0" smtClean="0">
                <a:latin typeface="Times New Roman" pitchFamily="18" charset="0"/>
              </a:rPr>
              <a:t>digital refers to an entity that is discrete</a:t>
            </a:r>
          </a:p>
          <a:p>
            <a:pPr>
              <a:spcAft>
                <a:spcPts val="600"/>
              </a:spcAft>
            </a:pPr>
            <a:r>
              <a:rPr lang="en-US" altLang="ko-KR" dirty="0" smtClean="0">
                <a:latin typeface="Times New Roman" pitchFamily="18" charset="0"/>
              </a:rPr>
              <a:t>Periodic analog signals </a:t>
            </a:r>
          </a:p>
          <a:p>
            <a:pPr lvl="1">
              <a:spcAft>
                <a:spcPts val="600"/>
              </a:spcAft>
            </a:pPr>
            <a:r>
              <a:rPr lang="en-US" altLang="ko-KR" dirty="0" smtClean="0">
                <a:latin typeface="Times New Roman" pitchFamily="18" charset="0"/>
              </a:rPr>
              <a:t>simple and composite signals, </a:t>
            </a:r>
          </a:p>
          <a:p>
            <a:pPr lvl="1">
              <a:spcAft>
                <a:spcPts val="600"/>
              </a:spcAft>
            </a:pPr>
            <a:r>
              <a:rPr lang="en-US" altLang="ko-KR" dirty="0" smtClean="0">
                <a:latin typeface="Times New Roman" pitchFamily="18" charset="0"/>
              </a:rPr>
              <a:t>period, frequency, and phase.</a:t>
            </a:r>
          </a:p>
          <a:p>
            <a:pPr>
              <a:spcAft>
                <a:spcPts val="600"/>
              </a:spcAft>
            </a:pPr>
            <a:r>
              <a:rPr lang="en-US" altLang="ko-KR" dirty="0" smtClean="0">
                <a:latin typeface="Times New Roman" pitchFamily="18" charset="0"/>
              </a:rPr>
              <a:t>Non-periodic digital signals </a:t>
            </a:r>
          </a:p>
          <a:p>
            <a:pPr lvl="1">
              <a:spcAft>
                <a:spcPts val="600"/>
              </a:spcAft>
            </a:pPr>
            <a:r>
              <a:rPr lang="en-US" altLang="ko-KR" dirty="0" smtClean="0">
                <a:latin typeface="Times New Roman" pitchFamily="18" charset="0"/>
              </a:rPr>
              <a:t>bit rate and bit length are discussed. </a:t>
            </a:r>
          </a:p>
          <a:p>
            <a:pPr lvl="1">
              <a:spcAft>
                <a:spcPts val="600"/>
              </a:spcAft>
            </a:pPr>
            <a:r>
              <a:rPr lang="en-US" altLang="ko-KR" dirty="0" smtClean="0">
                <a:latin typeface="Times New Roman" pitchFamily="18" charset="0"/>
              </a:rPr>
              <a:t>how digital data can be sent using analog signals. </a:t>
            </a:r>
          </a:p>
          <a:p>
            <a:pPr lvl="1">
              <a:spcAft>
                <a:spcPts val="600"/>
              </a:spcAft>
            </a:pPr>
            <a:r>
              <a:rPr lang="en-US" altLang="ko-KR" dirty="0" smtClean="0">
                <a:latin typeface="Times New Roman" pitchFamily="18" charset="0"/>
              </a:rPr>
              <a:t>baseband and broadband transmission. </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lvl="2">
              <a:defRPr/>
            </a:pPr>
            <a:r>
              <a:rPr lang="en-US" altLang="ko-KR" sz="2000" dirty="0" smtClean="0">
                <a:latin typeface="Times" pitchFamily="18" charset="0"/>
              </a:rPr>
              <a:t>Ch. 3 : Objective</a:t>
            </a:r>
            <a:endParaRPr lang="en-US" altLang="ko-KR" sz="2000" dirty="0">
              <a:latin typeface="Times" pitchFamily="18" charset="0"/>
            </a:endParaRPr>
          </a:p>
        </p:txBody>
      </p:sp>
      <p:sp>
        <p:nvSpPr>
          <p:cNvPr id="18435" name="내용 개체 틀 2"/>
          <p:cNvSpPr>
            <a:spLocks noGrp="1"/>
          </p:cNvSpPr>
          <p:nvPr>
            <p:ph idx="1"/>
          </p:nvPr>
        </p:nvSpPr>
        <p:spPr>
          <a:xfrm>
            <a:off x="266700" y="598488"/>
            <a:ext cx="8429625" cy="5772150"/>
          </a:xfrm>
        </p:spPr>
        <p:txBody>
          <a:bodyPr/>
          <a:lstStyle/>
          <a:p>
            <a:pPr marL="342900" lvl="2" indent="-342900">
              <a:lnSpc>
                <a:spcPct val="150000"/>
              </a:lnSpc>
              <a:buFontTx/>
              <a:buNone/>
            </a:pPr>
            <a:r>
              <a:rPr lang="en-US" altLang="ko-KR" sz="3600" b="1" dirty="0" smtClean="0">
                <a:solidFill>
                  <a:srgbClr val="C00000"/>
                </a:solidFill>
                <a:latin typeface="Times New Roman" pitchFamily="18" charset="0"/>
                <a:cs typeface="Times New Roman" pitchFamily="18" charset="0"/>
              </a:rPr>
              <a:t>Objective (continued)</a:t>
            </a:r>
          </a:p>
          <a:p>
            <a:pPr>
              <a:spcAft>
                <a:spcPts val="600"/>
              </a:spcAft>
            </a:pPr>
            <a:r>
              <a:rPr lang="en-US" altLang="ko-KR" dirty="0" smtClean="0">
                <a:latin typeface="Times New Roman" pitchFamily="18" charset="0"/>
              </a:rPr>
              <a:t>Transmission impairment.</a:t>
            </a:r>
          </a:p>
          <a:p>
            <a:pPr lvl="1">
              <a:spcAft>
                <a:spcPts val="600"/>
              </a:spcAft>
            </a:pPr>
            <a:r>
              <a:rPr lang="en-US" altLang="ko-KR" dirty="0" smtClean="0">
                <a:latin typeface="Times New Roman" pitchFamily="18" charset="0"/>
              </a:rPr>
              <a:t>attenuation, distortion, and noise.</a:t>
            </a:r>
          </a:p>
          <a:p>
            <a:pPr>
              <a:spcAft>
                <a:spcPts val="600"/>
              </a:spcAft>
            </a:pPr>
            <a:r>
              <a:rPr lang="en-US" altLang="ko-KR" dirty="0" smtClean="0">
                <a:latin typeface="Times New Roman" pitchFamily="18" charset="0"/>
              </a:rPr>
              <a:t>Data rate limit</a:t>
            </a:r>
          </a:p>
          <a:p>
            <a:pPr lvl="1">
              <a:spcAft>
                <a:spcPts val="600"/>
              </a:spcAft>
            </a:pPr>
            <a:r>
              <a:rPr lang="en-US" altLang="ko-KR" dirty="0" smtClean="0">
                <a:latin typeface="Times New Roman" pitchFamily="18" charset="0"/>
              </a:rPr>
              <a:t>data rates of noiseless and noisy channels.</a:t>
            </a:r>
          </a:p>
          <a:p>
            <a:pPr>
              <a:spcAft>
                <a:spcPts val="600"/>
              </a:spcAft>
            </a:pPr>
            <a:r>
              <a:rPr lang="en-US" altLang="ko-KR" dirty="0" smtClean="0">
                <a:latin typeface="Times New Roman" pitchFamily="18" charset="0"/>
              </a:rPr>
              <a:t>Performance of data transmission</a:t>
            </a:r>
          </a:p>
          <a:p>
            <a:pPr lvl="1">
              <a:spcAft>
                <a:spcPts val="600"/>
              </a:spcAft>
            </a:pPr>
            <a:r>
              <a:rPr lang="en-US" altLang="ko-KR" dirty="0" smtClean="0">
                <a:latin typeface="Times New Roman" pitchFamily="18" charset="0"/>
              </a:rPr>
              <a:t>bandwidth, throughput, latency, and jitter. </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latin typeface="Times New Roman" pitchFamily="18" charset="0"/>
                <a:cs typeface="Times New Roman" pitchFamily="18" charset="0"/>
              </a:rPr>
              <a:t>3-1 Data and Signals </a:t>
            </a:r>
            <a:endParaRPr lang="en-US" altLang="ko-KR" sz="2400" dirty="0">
              <a:latin typeface="Times New Roman" pitchFamily="18" charset="0"/>
              <a:cs typeface="Times New Roman" pitchFamily="18" charset="0"/>
            </a:endParaRPr>
          </a:p>
        </p:txBody>
      </p:sp>
      <p:sp>
        <p:nvSpPr>
          <p:cNvPr id="19459" name="내용 개체 틀 2"/>
          <p:cNvSpPr>
            <a:spLocks noGrp="1"/>
          </p:cNvSpPr>
          <p:nvPr>
            <p:ph idx="1"/>
          </p:nvPr>
        </p:nvSpPr>
        <p:spPr>
          <a:xfrm>
            <a:off x="1998663" y="6164263"/>
            <a:ext cx="5738812" cy="522287"/>
          </a:xfrm>
        </p:spPr>
        <p:txBody>
          <a:bodyPr/>
          <a:lstStyle/>
          <a:p>
            <a:pPr marL="342900" lvl="2" indent="-342900" algn="ctr">
              <a:lnSpc>
                <a:spcPct val="150000"/>
              </a:lnSpc>
              <a:buFontTx/>
              <a:buNone/>
            </a:pPr>
            <a:r>
              <a:rPr lang="en-US" altLang="ko-KR" b="1" dirty="0" smtClean="0">
                <a:solidFill>
                  <a:srgbClr val="C00000"/>
                </a:solidFill>
                <a:latin typeface="Times New Roman" pitchFamily="18" charset="0"/>
                <a:cs typeface="Times New Roman" pitchFamily="18" charset="0"/>
              </a:rPr>
              <a:t>Fig. 3.1</a:t>
            </a:r>
            <a:r>
              <a:rPr lang="en-US" altLang="ko-KR" dirty="0" smtClean="0">
                <a:solidFill>
                  <a:srgbClr val="000000"/>
                </a:solidFill>
                <a:latin typeface="Times New Roman" pitchFamily="18" charset="0"/>
                <a:cs typeface="Times New Roman" pitchFamily="18" charset="0"/>
              </a:rPr>
              <a:t> Communication at the physical layer</a:t>
            </a:r>
          </a:p>
        </p:txBody>
      </p:sp>
      <p:pic>
        <p:nvPicPr>
          <p:cNvPr id="194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8663" y="611188"/>
            <a:ext cx="5146675" cy="548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1"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5613" y="1419225"/>
            <a:ext cx="2193925"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latin typeface="Times New Roman" pitchFamily="18" charset="0"/>
                <a:cs typeface="Times New Roman" pitchFamily="18" charset="0"/>
              </a:rPr>
              <a:t>3.1.1  Analog and Digital Data</a:t>
            </a:r>
            <a:endParaRPr lang="en-US" altLang="ko-KR" sz="240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3.1.1 </a:t>
            </a:r>
            <a:r>
              <a:rPr lang="en-US" altLang="ko-KR" sz="2800" b="1" dirty="0">
                <a:solidFill>
                  <a:srgbClr val="C00000"/>
                </a:solidFill>
                <a:latin typeface="Times New Roman" pitchFamily="18" charset="0"/>
                <a:cs typeface="Times New Roman" pitchFamily="18" charset="0"/>
              </a:rPr>
              <a:t>Analog and Digital Data </a:t>
            </a:r>
            <a:endParaRPr lang="en-US" altLang="ko-KR" sz="2800" b="1" dirty="0" smtClean="0">
              <a:solidFill>
                <a:srgbClr val="C00000"/>
              </a:solidFill>
              <a:latin typeface="Times New Roman" pitchFamily="18" charset="0"/>
              <a:cs typeface="Times New Roman" pitchFamily="18" charset="0"/>
            </a:endParaRPr>
          </a:p>
          <a:p>
            <a:pPr algn="just">
              <a:defRPr/>
            </a:pPr>
            <a:r>
              <a:rPr lang="en-US" altLang="ko-KR" b="1" i="1" dirty="0" smtClean="0">
                <a:solidFill>
                  <a:srgbClr val="C00000"/>
                </a:solidFill>
                <a:latin typeface="Times New Roman" pitchFamily="18" charset="0"/>
              </a:rPr>
              <a:t>Analog </a:t>
            </a:r>
            <a:r>
              <a:rPr lang="en-US" altLang="ko-KR" b="1" i="1" dirty="0">
                <a:solidFill>
                  <a:srgbClr val="C00000"/>
                </a:solidFill>
                <a:latin typeface="Times New Roman" pitchFamily="18" charset="0"/>
              </a:rPr>
              <a:t>data </a:t>
            </a:r>
            <a:r>
              <a:rPr lang="en-US" altLang="ko-KR" dirty="0">
                <a:latin typeface="Times New Roman" pitchFamily="18" charset="0"/>
              </a:rPr>
              <a:t>refers to information that is </a:t>
            </a:r>
            <a:r>
              <a:rPr lang="en-US" altLang="ko-KR" dirty="0" smtClean="0">
                <a:latin typeface="Times New Roman" pitchFamily="18" charset="0"/>
              </a:rPr>
              <a:t>continuous</a:t>
            </a:r>
          </a:p>
          <a:p>
            <a:pPr lvl="1" algn="just">
              <a:defRPr/>
            </a:pPr>
            <a:r>
              <a:rPr lang="en-US" altLang="ko-KR" dirty="0" smtClean="0">
                <a:latin typeface="Times New Roman" pitchFamily="18" charset="0"/>
              </a:rPr>
              <a:t>Analog clock</a:t>
            </a:r>
          </a:p>
          <a:p>
            <a:pPr lvl="1" algn="just">
              <a:defRPr/>
            </a:pPr>
            <a:r>
              <a:rPr lang="en-US" altLang="ko-KR" dirty="0" smtClean="0">
                <a:latin typeface="Times New Roman" pitchFamily="18" charset="0"/>
              </a:rPr>
              <a:t>Human voice</a:t>
            </a:r>
          </a:p>
          <a:p>
            <a:pPr algn="just">
              <a:defRPr/>
            </a:pPr>
            <a:r>
              <a:rPr lang="en-US" altLang="ko-KR" b="1" i="1" dirty="0" smtClean="0">
                <a:solidFill>
                  <a:srgbClr val="C00000"/>
                </a:solidFill>
                <a:latin typeface="Times New Roman" pitchFamily="18" charset="0"/>
              </a:rPr>
              <a:t>Digital </a:t>
            </a:r>
            <a:r>
              <a:rPr lang="en-US" altLang="ko-KR" b="1" i="1" dirty="0">
                <a:solidFill>
                  <a:srgbClr val="C00000"/>
                </a:solidFill>
                <a:latin typeface="Times New Roman" pitchFamily="18" charset="0"/>
              </a:rPr>
              <a:t>data </a:t>
            </a:r>
            <a:r>
              <a:rPr lang="en-US" altLang="ko-KR" dirty="0">
                <a:latin typeface="Times New Roman" pitchFamily="18" charset="0"/>
              </a:rPr>
              <a:t>refers to information that has discrete </a:t>
            </a:r>
            <a:r>
              <a:rPr lang="en-US" altLang="ko-KR" dirty="0" smtClean="0">
                <a:latin typeface="Times New Roman" pitchFamily="18" charset="0"/>
              </a:rPr>
              <a:t>states</a:t>
            </a:r>
          </a:p>
          <a:p>
            <a:pPr lvl="1" algn="just">
              <a:defRPr/>
            </a:pPr>
            <a:r>
              <a:rPr lang="en-US" altLang="ko-KR" dirty="0" smtClean="0">
                <a:latin typeface="Times New Roman" pitchFamily="18" charset="0"/>
              </a:rPr>
              <a:t>Digital clock</a:t>
            </a:r>
          </a:p>
          <a:p>
            <a:pPr lvl="1" algn="just">
              <a:defRPr/>
            </a:pPr>
            <a:r>
              <a:rPr lang="en-US" altLang="ko-KR" dirty="0" smtClean="0">
                <a:latin typeface="Times New Roman" pitchFamily="18" charset="0"/>
              </a:rPr>
              <a:t>Data  are stored in computer memory</a:t>
            </a: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3.1.2  Analog and Digital Signals</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3.1.2 </a:t>
            </a:r>
            <a:r>
              <a:rPr lang="en-US" altLang="ko-KR" sz="2800" b="1" dirty="0">
                <a:solidFill>
                  <a:srgbClr val="C00000"/>
                </a:solidFill>
                <a:latin typeface="Times New Roman" pitchFamily="18" charset="0"/>
                <a:cs typeface="Times New Roman" pitchFamily="18" charset="0"/>
              </a:rPr>
              <a:t>Analog and Digital </a:t>
            </a:r>
            <a:r>
              <a:rPr lang="en-US" altLang="ko-KR" sz="2800" b="1" dirty="0" smtClean="0">
                <a:solidFill>
                  <a:srgbClr val="C00000"/>
                </a:solidFill>
                <a:latin typeface="Times New Roman" pitchFamily="18" charset="0"/>
                <a:cs typeface="Times New Roman" pitchFamily="18" charset="0"/>
              </a:rPr>
              <a:t>Signals</a:t>
            </a:r>
          </a:p>
          <a:p>
            <a:pPr algn="just">
              <a:defRPr/>
            </a:pPr>
            <a:r>
              <a:rPr lang="en-US" altLang="ko-KR" b="1" i="1" dirty="0" smtClean="0">
                <a:solidFill>
                  <a:srgbClr val="C00000"/>
                </a:solidFill>
                <a:latin typeface="Times New Roman" pitchFamily="18" charset="0"/>
              </a:rPr>
              <a:t>Analog signal </a:t>
            </a:r>
            <a:r>
              <a:rPr lang="en-US" altLang="ko-KR" dirty="0" smtClean="0">
                <a:latin typeface="Times New Roman" pitchFamily="18" charset="0"/>
              </a:rPr>
              <a:t>has infinitely many levels of intensity over a period of time. </a:t>
            </a:r>
          </a:p>
          <a:p>
            <a:pPr algn="just">
              <a:defRPr/>
            </a:pPr>
            <a:r>
              <a:rPr lang="en-US" altLang="ko-KR" b="1" i="1" dirty="0" smtClean="0">
                <a:solidFill>
                  <a:srgbClr val="C00000"/>
                </a:solidFill>
                <a:latin typeface="Times New Roman" pitchFamily="18" charset="0"/>
              </a:rPr>
              <a:t>Digital signal </a:t>
            </a:r>
            <a:r>
              <a:rPr lang="en-US" altLang="ko-KR" dirty="0" smtClean="0">
                <a:latin typeface="Times New Roman" pitchFamily="18" charset="0"/>
              </a:rPr>
              <a:t>have only a limited number of defined values. </a:t>
            </a:r>
          </a:p>
          <a:p>
            <a:pPr algn="just">
              <a:defRPr/>
            </a:pPr>
            <a:endParaRPr lang="en-US" altLang="ko-KR" dirty="0" smtClean="0">
              <a:latin typeface="Times New Roman" pitchFamily="18" charset="0"/>
            </a:endParaRPr>
          </a:p>
          <a:p>
            <a:pPr algn="just">
              <a:defRPr/>
            </a:pPr>
            <a:endParaRPr lang="en-US" altLang="ko-KR" dirty="0">
              <a:latin typeface="Times New Roman" pitchFamily="18" charset="0"/>
            </a:endParaRPr>
          </a:p>
          <a:p>
            <a:pPr algn="just">
              <a:defRPr/>
            </a:pPr>
            <a:endParaRPr lang="en-US" altLang="ko-KR" dirty="0" smtClean="0">
              <a:latin typeface="Times New Roman" pitchFamily="18" charset="0"/>
            </a:endParaRPr>
          </a:p>
          <a:p>
            <a:pPr algn="just">
              <a:defRPr/>
            </a:pPr>
            <a:endParaRPr lang="en-US" altLang="ko-KR" dirty="0">
              <a:latin typeface="Times New Roman" pitchFamily="18" charset="0"/>
            </a:endParaRPr>
          </a:p>
          <a:p>
            <a:pPr algn="just">
              <a:defRPr/>
            </a:pPr>
            <a:endParaRPr lang="en-US" altLang="ko-KR" dirty="0" smtClean="0">
              <a:latin typeface="Times New Roman" pitchFamily="18" charset="0"/>
            </a:endParaRPr>
          </a:p>
          <a:p>
            <a:pPr algn="just">
              <a:defRPr/>
            </a:pPr>
            <a:endParaRPr lang="en-US" altLang="ko-KR" dirty="0">
              <a:latin typeface="Times New Roman" pitchFamily="18" charset="0"/>
            </a:endParaRPr>
          </a:p>
          <a:p>
            <a:pPr algn="just">
              <a:defRPr/>
            </a:pPr>
            <a:endParaRPr lang="en-US" altLang="ko-KR" dirty="0">
              <a:latin typeface="Times New Roman" pitchFamily="18" charset="0"/>
            </a:endParaRPr>
          </a:p>
          <a:p>
            <a:pPr marL="0" indent="0" algn="just">
              <a:buNone/>
              <a:defRPr/>
            </a:pPr>
            <a:r>
              <a:rPr lang="en-US" altLang="ko-KR" dirty="0" smtClean="0">
                <a:solidFill>
                  <a:srgbClr val="C00000"/>
                </a:solidFill>
                <a:latin typeface="Times New Roman" pitchFamily="18" charset="0"/>
                <a:cs typeface="Times New Roman" pitchFamily="18" charset="0"/>
              </a:rPr>
              <a:t>Fig. 3.2</a:t>
            </a:r>
            <a:r>
              <a:rPr lang="en-US" altLang="ko-KR" dirty="0">
                <a:solidFill>
                  <a:srgbClr val="FF0000"/>
                </a:solidFill>
                <a:latin typeface="Times New Roman" pitchFamily="18" charset="0"/>
                <a:cs typeface="Times New Roman" pitchFamily="18" charset="0"/>
              </a:rPr>
              <a:t>:  </a:t>
            </a:r>
            <a:r>
              <a:rPr lang="en-US" altLang="ko-KR" dirty="0">
                <a:latin typeface="Times New Roman" pitchFamily="18" charset="0"/>
                <a:cs typeface="Times New Roman" pitchFamily="18" charset="0"/>
              </a:rPr>
              <a:t>Comparison of analog and digital </a:t>
            </a:r>
            <a:r>
              <a:rPr lang="en-US" altLang="ko-KR" dirty="0" smtClean="0">
                <a:latin typeface="Times New Roman" pitchFamily="18" charset="0"/>
                <a:cs typeface="Times New Roman" pitchFamily="18" charset="0"/>
              </a:rPr>
              <a:t>signals</a:t>
            </a:r>
            <a:endParaRPr lang="en-US" altLang="ko-KR" dirty="0" smtClean="0">
              <a:latin typeface="Times New Roman" pitchFamily="18" charset="0"/>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912" y="3309102"/>
            <a:ext cx="3679825" cy="233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512" y="4139364"/>
            <a:ext cx="233045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5639" y="3270416"/>
            <a:ext cx="4438650" cy="237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7939" y="3656178"/>
            <a:ext cx="2840037"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1373689"/>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3.1.3  Periodic and Nonperiodic</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68300" y="755650"/>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3.1.3 </a:t>
                </a:r>
                <a:r>
                  <a:rPr lang="en-US" altLang="ko-KR" sz="2800" b="1" dirty="0" smtClean="0">
                    <a:solidFill>
                      <a:srgbClr val="C00000"/>
                    </a:solidFill>
                    <a:latin typeface="Times New Roman" pitchFamily="18" charset="0"/>
                    <a:cs typeface="Times New Roman" pitchFamily="18" charset="0"/>
                  </a:rPr>
                  <a:t>Periodic and Nonperiodic</a:t>
                </a:r>
              </a:p>
              <a:p>
                <a:pPr algn="just">
                  <a:defRPr/>
                </a:pPr>
                <a:r>
                  <a:rPr lang="en-US" altLang="ko-KR" b="1" i="1" dirty="0" smtClean="0">
                    <a:solidFill>
                      <a:srgbClr val="C00000"/>
                    </a:solidFill>
                    <a:latin typeface="Times New Roman" pitchFamily="18" charset="0"/>
                  </a:rPr>
                  <a:t>Periodic </a:t>
                </a:r>
                <a:r>
                  <a:rPr lang="en-US" altLang="ko-KR" b="1" i="1" dirty="0">
                    <a:solidFill>
                      <a:srgbClr val="C00000"/>
                    </a:solidFill>
                    <a:latin typeface="Times New Roman" pitchFamily="18" charset="0"/>
                  </a:rPr>
                  <a:t>signal </a:t>
                </a:r>
                <a:r>
                  <a:rPr lang="en-US" altLang="ko-KR" dirty="0">
                    <a:latin typeface="Times New Roman" pitchFamily="18" charset="0"/>
                  </a:rPr>
                  <a:t>completes a pattern within a measurable time frame, called a period, and repeats that pattern over subsequent identical periods</a:t>
                </a:r>
                <a:r>
                  <a:rPr lang="en-US" altLang="ko-KR" dirty="0" smtClean="0">
                    <a:latin typeface="Times New Roman" pitchFamily="18" charset="0"/>
                  </a:rPr>
                  <a:t>. </a:t>
                </a:r>
              </a:p>
              <a:p>
                <a:pPr algn="just">
                  <a:defRPr/>
                </a:pPr>
                <a:endParaRPr lang="en-US" altLang="ko-KR" dirty="0" smtClean="0">
                  <a:latin typeface="Times New Roman" pitchFamily="18" charset="0"/>
                </a:endParaRPr>
              </a:p>
              <a:p>
                <a:pPr marL="0" indent="0" algn="just">
                  <a:buNone/>
                  <a:defRPr/>
                </a:pPr>
                <a14:m>
                  <m:oMathPara xmlns:m="http://schemas.openxmlformats.org/officeDocument/2006/math">
                    <m:oMathParaPr>
                      <m:jc m:val="centerGroup"/>
                    </m:oMathParaPr>
                    <m:oMath xmlns:m="http://schemas.openxmlformats.org/officeDocument/2006/math">
                      <m:r>
                        <a:rPr lang="en-US" altLang="ko-KR" b="0" i="1" smtClean="0">
                          <a:latin typeface="Cambria Math"/>
                        </a:rPr>
                        <m:t>𝑓</m:t>
                      </m:r>
                      <m:d>
                        <m:dPr>
                          <m:ctrlPr>
                            <a:rPr lang="en-US" altLang="ko-KR" b="0" i="1" smtClean="0">
                              <a:latin typeface="Cambria Math" panose="02040503050406030204" pitchFamily="18" charset="0"/>
                            </a:rPr>
                          </m:ctrlPr>
                        </m:dPr>
                        <m:e>
                          <m:r>
                            <a:rPr lang="en-US" altLang="ko-KR" b="0" i="1" smtClean="0">
                              <a:latin typeface="Cambria Math"/>
                            </a:rPr>
                            <m:t>𝑡</m:t>
                          </m:r>
                          <m:r>
                            <a:rPr lang="en-US" altLang="ko-KR" b="0" i="1" smtClean="0">
                              <a:latin typeface="Cambria Math"/>
                            </a:rPr>
                            <m:t>+</m:t>
                          </m:r>
                          <m:r>
                            <a:rPr lang="en-US" altLang="ko-KR" b="0" i="1" smtClean="0">
                              <a:latin typeface="Cambria Math"/>
                            </a:rPr>
                            <m:t>𝑛𝑇</m:t>
                          </m:r>
                        </m:e>
                      </m:d>
                      <m:r>
                        <a:rPr lang="en-US" altLang="ko-KR" b="0" i="1" smtClean="0">
                          <a:latin typeface="Cambria Math"/>
                        </a:rPr>
                        <m:t>=</m:t>
                      </m:r>
                      <m:r>
                        <a:rPr lang="en-US" altLang="ko-KR" b="0" i="1" smtClean="0">
                          <a:latin typeface="Cambria Math"/>
                        </a:rPr>
                        <m:t>𝑓</m:t>
                      </m:r>
                      <m:d>
                        <m:dPr>
                          <m:ctrlPr>
                            <a:rPr lang="en-US" altLang="ko-KR" b="0" i="1" smtClean="0">
                              <a:latin typeface="Cambria Math" panose="02040503050406030204" pitchFamily="18" charset="0"/>
                            </a:rPr>
                          </m:ctrlPr>
                        </m:dPr>
                        <m:e>
                          <m:r>
                            <a:rPr lang="en-US" altLang="ko-KR" b="0" i="1" smtClean="0">
                              <a:latin typeface="Cambria Math"/>
                            </a:rPr>
                            <m:t>𝑡</m:t>
                          </m:r>
                        </m:e>
                      </m:d>
                      <m:r>
                        <a:rPr lang="en-US" altLang="ko-KR" b="0" i="1" smtClean="0">
                          <a:latin typeface="Cambria Math"/>
                        </a:rPr>
                        <m:t>,    </m:t>
                      </m:r>
                      <m:r>
                        <a:rPr lang="en-US" altLang="ko-KR" b="0" i="1" smtClean="0">
                          <a:latin typeface="Cambria Math"/>
                        </a:rPr>
                        <m:t>𝑇</m:t>
                      </m:r>
                      <m:r>
                        <a:rPr lang="en-US" altLang="ko-KR" b="0" i="1" smtClean="0">
                          <a:latin typeface="Cambria Math"/>
                        </a:rPr>
                        <m:t>:</m:t>
                      </m:r>
                      <m:r>
                        <a:rPr lang="en-US" altLang="ko-KR" b="0" i="1" smtClean="0">
                          <a:latin typeface="Cambria Math"/>
                        </a:rPr>
                        <m:t>𝑝𝑒𝑟𝑖𝑜𝑑</m:t>
                      </m:r>
                    </m:oMath>
                  </m:oMathPara>
                </a14:m>
                <a:endParaRPr lang="en-US" altLang="ko-KR" dirty="0">
                  <a:latin typeface="Times New Roman" pitchFamily="18" charset="0"/>
                </a:endParaRPr>
              </a:p>
              <a:p>
                <a:pPr algn="just">
                  <a:defRPr/>
                </a:pPr>
                <a:endParaRPr lang="en-US" altLang="ko-KR" dirty="0" smtClean="0">
                  <a:latin typeface="Times New Roman" pitchFamily="18" charset="0"/>
                </a:endParaRPr>
              </a:p>
              <a:p>
                <a:pPr algn="just">
                  <a:defRPr/>
                </a:pPr>
                <a:r>
                  <a:rPr lang="en-US" altLang="ko-KR" b="1" i="1" dirty="0" smtClean="0">
                    <a:solidFill>
                      <a:srgbClr val="C00000"/>
                    </a:solidFill>
                    <a:latin typeface="Times New Roman" pitchFamily="18" charset="0"/>
                  </a:rPr>
                  <a:t>Nonperiodic </a:t>
                </a:r>
                <a:r>
                  <a:rPr lang="en-US" altLang="ko-KR" b="1" i="1" dirty="0">
                    <a:solidFill>
                      <a:srgbClr val="C00000"/>
                    </a:solidFill>
                    <a:latin typeface="Times New Roman" pitchFamily="18" charset="0"/>
                  </a:rPr>
                  <a:t>signal </a:t>
                </a:r>
                <a:r>
                  <a:rPr lang="en-US" altLang="ko-KR" dirty="0">
                    <a:latin typeface="Times New Roman" pitchFamily="18" charset="0"/>
                  </a:rPr>
                  <a:t>changes without exhibiting a pattern or cycle that repeats over </a:t>
                </a:r>
                <a:r>
                  <a:rPr lang="en-US" altLang="ko-KR" dirty="0" smtClean="0">
                    <a:latin typeface="Times New Roman" pitchFamily="18" charset="0"/>
                  </a:rPr>
                  <a:t>time.</a:t>
                </a:r>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68300" y="755650"/>
                <a:ext cx="8429625" cy="5616575"/>
              </a:xfrm>
              <a:blipFill rotWithShape="1">
                <a:blip r:embed="rId2"/>
                <a:stretch>
                  <a:fillRect l="-1518" r="-115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39144325"/>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3.2  Periodic Analog Signals</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68300" y="755650"/>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3.2 </a:t>
                </a:r>
                <a:r>
                  <a:rPr lang="en-US" altLang="ko-KR" sz="2800" b="1" dirty="0" smtClean="0">
                    <a:solidFill>
                      <a:srgbClr val="C00000"/>
                    </a:solidFill>
                    <a:latin typeface="Times New Roman" pitchFamily="18" charset="0"/>
                    <a:cs typeface="Times New Roman" pitchFamily="18" charset="0"/>
                  </a:rPr>
                  <a:t>Periodic Analog Signals</a:t>
                </a:r>
              </a:p>
              <a:p>
                <a:pPr algn="just">
                  <a:defRPr/>
                </a:pPr>
                <a:r>
                  <a:rPr lang="en-US" altLang="ko-KR" dirty="0" smtClean="0">
                    <a:latin typeface="+mj-lt"/>
                  </a:rPr>
                  <a:t>A </a:t>
                </a:r>
                <a:r>
                  <a:rPr lang="en-US" altLang="ko-KR" b="1" i="1" dirty="0">
                    <a:solidFill>
                      <a:srgbClr val="C00000"/>
                    </a:solidFill>
                    <a:latin typeface="+mj-lt"/>
                  </a:rPr>
                  <a:t>simple periodic analog signal</a:t>
                </a:r>
                <a:r>
                  <a:rPr lang="en-US" altLang="ko-KR" dirty="0">
                    <a:latin typeface="+mj-lt"/>
                  </a:rPr>
                  <a:t>, a sine wave, cannot be decomposed into simpler </a:t>
                </a:r>
                <a:r>
                  <a:rPr lang="en-US" altLang="ko-KR" dirty="0" smtClean="0">
                    <a:latin typeface="+mj-lt"/>
                  </a:rPr>
                  <a:t>signals.</a:t>
                </a:r>
                <a:endParaRPr lang="en-US" altLang="ko-KR" dirty="0" smtClean="0">
                  <a:latin typeface="Times New Roman" pitchFamily="18" charset="0"/>
                </a:endParaRPr>
              </a:p>
              <a:p>
                <a:pPr algn="just">
                  <a:defRPr/>
                </a:pPr>
                <a:r>
                  <a:rPr lang="en-US" altLang="ko-KR" dirty="0">
                    <a:latin typeface="+mj-lt"/>
                  </a:rPr>
                  <a:t>A </a:t>
                </a:r>
                <a:r>
                  <a:rPr lang="en-US" altLang="ko-KR" b="1" i="1" dirty="0">
                    <a:solidFill>
                      <a:srgbClr val="C00000"/>
                    </a:solidFill>
                    <a:latin typeface="+mj-lt"/>
                  </a:rPr>
                  <a:t>composite periodic analog signal </a:t>
                </a:r>
                <a:r>
                  <a:rPr lang="en-US" altLang="ko-KR" dirty="0">
                    <a:latin typeface="+mj-lt"/>
                  </a:rPr>
                  <a:t>is composed of multiple sine waves</a:t>
                </a:r>
                <a:r>
                  <a:rPr lang="en-US" altLang="ko-KR" dirty="0" smtClean="0">
                    <a:latin typeface="+mj-lt"/>
                  </a:rPr>
                  <a:t>. </a:t>
                </a:r>
              </a:p>
              <a:p>
                <a:pPr marL="0" indent="0" algn="just">
                  <a:buNone/>
                  <a:defRPr/>
                </a:pPr>
                <a:r>
                  <a:rPr lang="en-US" altLang="ko-KR" b="1" i="1" dirty="0" smtClean="0">
                    <a:solidFill>
                      <a:srgbClr val="C00000"/>
                    </a:solidFill>
                    <a:latin typeface="+mj-lt"/>
                  </a:rPr>
                  <a:t>3.2.1 Sine Wave</a:t>
                </a:r>
              </a:p>
              <a:p>
                <a:pPr marL="0" indent="0" algn="just">
                  <a:buNone/>
                  <a:defRPr/>
                </a:pPr>
                <a14:m>
                  <m:oMathPara xmlns:m="http://schemas.openxmlformats.org/officeDocument/2006/math">
                    <m:oMathParaPr>
                      <m:jc m:val="centerGroup"/>
                    </m:oMathParaPr>
                    <m:oMath xmlns:m="http://schemas.openxmlformats.org/officeDocument/2006/math">
                      <m:r>
                        <a:rPr lang="en-US" altLang="ko-KR" b="0" i="1" smtClean="0">
                          <a:latin typeface="Cambria Math"/>
                        </a:rPr>
                        <m:t>𝑓</m:t>
                      </m:r>
                      <m:d>
                        <m:dPr>
                          <m:ctrlPr>
                            <a:rPr lang="en-US" altLang="ko-KR" i="1" smtClean="0">
                              <a:latin typeface="Cambria Math" panose="02040503050406030204" pitchFamily="18" charset="0"/>
                            </a:rPr>
                          </m:ctrlPr>
                        </m:dPr>
                        <m:e>
                          <m:r>
                            <a:rPr lang="en-US" altLang="ko-KR" b="0" i="1" smtClean="0">
                              <a:latin typeface="Cambria Math"/>
                            </a:rPr>
                            <m:t>𝑡</m:t>
                          </m:r>
                        </m:e>
                      </m:d>
                      <m:r>
                        <a:rPr lang="en-US" altLang="ko-KR" b="0" i="1" smtClean="0">
                          <a:latin typeface="Cambria Math"/>
                        </a:rPr>
                        <m:t>=</m:t>
                      </m:r>
                      <m:r>
                        <a:rPr lang="en-US" altLang="ko-KR" b="0" i="1" smtClean="0">
                          <a:latin typeface="Cambria Math"/>
                        </a:rPr>
                        <m:t>𝐴</m:t>
                      </m:r>
                      <m:func>
                        <m:funcPr>
                          <m:ctrlPr>
                            <a:rPr lang="en-US" altLang="ko-KR" i="1" smtClean="0">
                              <a:latin typeface="Cambria Math" panose="02040503050406030204" pitchFamily="18" charset="0"/>
                            </a:rPr>
                          </m:ctrlPr>
                        </m:funcPr>
                        <m:fName>
                          <m:r>
                            <m:rPr>
                              <m:sty m:val="p"/>
                            </m:rPr>
                            <a:rPr lang="en-US" altLang="ko-KR" b="0" i="0" smtClean="0">
                              <a:latin typeface="Cambria Math"/>
                            </a:rPr>
                            <m:t>sin</m:t>
                          </m:r>
                        </m:fName>
                        <m:e>
                          <m:r>
                            <a:rPr lang="en-US" altLang="ko-KR" b="0" i="1" smtClean="0">
                              <a:latin typeface="Cambria Math"/>
                            </a:rPr>
                            <m:t>(</m:t>
                          </m:r>
                          <m:r>
                            <a:rPr lang="ko-KR" altLang="en-US" b="0" i="1" smtClean="0">
                              <a:latin typeface="Cambria Math"/>
                            </a:rPr>
                            <m:t>𝜔</m:t>
                          </m:r>
                          <m:r>
                            <a:rPr lang="en-US" altLang="ko-KR" b="0" i="1" smtClean="0">
                              <a:latin typeface="Cambria Math"/>
                            </a:rPr>
                            <m:t>𝑡</m:t>
                          </m:r>
                          <m:r>
                            <a:rPr lang="en-US" altLang="ko-KR" b="0" i="1" smtClean="0">
                              <a:latin typeface="Cambria Math"/>
                            </a:rPr>
                            <m:t>+</m:t>
                          </m:r>
                          <m:r>
                            <a:rPr lang="ko-KR" altLang="en-US" b="0" i="1" smtClean="0">
                              <a:latin typeface="Cambria Math"/>
                            </a:rPr>
                            <m:t>𝜃</m:t>
                          </m:r>
                          <m:r>
                            <a:rPr lang="en-US" altLang="ko-KR" b="0" i="1" smtClean="0">
                              <a:latin typeface="Cambria Math"/>
                            </a:rPr>
                            <m:t>)</m:t>
                          </m:r>
                        </m:e>
                      </m:func>
                      <m:r>
                        <a:rPr lang="en-US" altLang="ko-KR" b="0" i="1" smtClean="0">
                          <a:latin typeface="Cambria Math"/>
                        </a:rPr>
                        <m:t>=</m:t>
                      </m:r>
                      <m:r>
                        <a:rPr lang="en-US" altLang="ko-KR" b="0" i="1" smtClean="0">
                          <a:latin typeface="Cambria Math"/>
                        </a:rPr>
                        <m:t>𝐴</m:t>
                      </m:r>
                      <m:func>
                        <m:funcPr>
                          <m:ctrlPr>
                            <a:rPr lang="en-US" altLang="ko-KR" i="1" smtClean="0">
                              <a:latin typeface="Cambria Math" panose="02040503050406030204" pitchFamily="18" charset="0"/>
                            </a:rPr>
                          </m:ctrlPr>
                        </m:funcPr>
                        <m:fName>
                          <m:r>
                            <m:rPr>
                              <m:sty m:val="p"/>
                            </m:rPr>
                            <a:rPr lang="en-US" altLang="ko-KR" b="0" i="0" smtClean="0">
                              <a:latin typeface="Cambria Math"/>
                            </a:rPr>
                            <m:t>sin</m:t>
                          </m:r>
                        </m:fName>
                        <m:e>
                          <m:r>
                            <a:rPr lang="en-US" altLang="ko-KR" b="0" i="1" smtClean="0">
                              <a:latin typeface="Cambria Math"/>
                            </a:rPr>
                            <m:t>(2</m:t>
                          </m:r>
                          <m:r>
                            <a:rPr lang="ko-KR" altLang="en-US" b="0" i="1" smtClean="0">
                              <a:latin typeface="Cambria Math"/>
                            </a:rPr>
                            <m:t>𝜋</m:t>
                          </m:r>
                          <m:r>
                            <a:rPr lang="en-US" altLang="ko-KR" b="0" i="1" smtClean="0">
                              <a:latin typeface="Cambria Math"/>
                            </a:rPr>
                            <m:t>𝑓𝑡</m:t>
                          </m:r>
                          <m:r>
                            <a:rPr lang="en-US" altLang="ko-KR" b="0" i="1" smtClean="0">
                              <a:latin typeface="Cambria Math"/>
                            </a:rPr>
                            <m:t>+</m:t>
                          </m:r>
                          <m:r>
                            <a:rPr lang="ko-KR" altLang="en-US" b="0" i="1" smtClean="0">
                              <a:latin typeface="Cambria Math"/>
                            </a:rPr>
                            <m:t>𝜃</m:t>
                          </m:r>
                          <m:r>
                            <a:rPr lang="en-US" altLang="ko-KR" b="0" i="1" smtClean="0">
                              <a:latin typeface="Cambria Math"/>
                            </a:rPr>
                            <m:t>)</m:t>
                          </m:r>
                        </m:e>
                      </m:func>
                    </m:oMath>
                  </m:oMathPara>
                </a14:m>
                <a:endParaRPr lang="en-US" altLang="ko-KR" dirty="0" smtClean="0">
                  <a:latin typeface="+mj-lt"/>
                </a:endParaRPr>
              </a:p>
              <a:p>
                <a:pPr marL="0" indent="0" algn="just">
                  <a:buNone/>
                  <a:defRPr/>
                </a:pPr>
                <a14:m>
                  <m:oMathPara xmlns:m="http://schemas.openxmlformats.org/officeDocument/2006/math">
                    <m:oMathParaPr>
                      <m:jc m:val="centerGroup"/>
                    </m:oMathParaPr>
                    <m:oMath xmlns:m="http://schemas.openxmlformats.org/officeDocument/2006/math">
                      <m:r>
                        <a:rPr lang="en-US" altLang="ko-KR" b="0" i="1" smtClean="0">
                          <a:latin typeface="Cambria Math"/>
                        </a:rPr>
                        <m:t>h𝑒𝑟𝑒</m:t>
                      </m:r>
                      <m:r>
                        <a:rPr lang="en-US" altLang="ko-KR" b="0" i="1" smtClean="0">
                          <a:latin typeface="Cambria Math"/>
                        </a:rPr>
                        <m:t> </m:t>
                      </m:r>
                      <m:r>
                        <a:rPr lang="en-US" altLang="ko-KR" b="0" i="1" smtClean="0">
                          <a:latin typeface="Cambria Math"/>
                        </a:rPr>
                        <m:t>𝐴</m:t>
                      </m:r>
                      <m:r>
                        <a:rPr lang="en-US" altLang="ko-KR" b="0" i="1" smtClean="0">
                          <a:latin typeface="Cambria Math"/>
                        </a:rPr>
                        <m:t>:</m:t>
                      </m:r>
                      <m:r>
                        <a:rPr lang="en-US" altLang="ko-KR" b="0" i="1" smtClean="0">
                          <a:latin typeface="Cambria Math"/>
                        </a:rPr>
                        <m:t>𝑎𝑚𝑝𝑙𝑖𝑡𝑢𝑑𝑒</m:t>
                      </m:r>
                      <m:r>
                        <a:rPr lang="en-US" altLang="ko-KR" b="0" i="1" smtClean="0">
                          <a:latin typeface="Cambria Math"/>
                        </a:rPr>
                        <m:t>, </m:t>
                      </m:r>
                      <m:r>
                        <a:rPr lang="ko-KR" altLang="en-US" b="0" i="1" smtClean="0">
                          <a:latin typeface="Cambria Math"/>
                        </a:rPr>
                        <m:t>𝜔</m:t>
                      </m:r>
                      <m:r>
                        <a:rPr lang="en-US" altLang="ko-KR" b="0" i="1" smtClean="0">
                          <a:latin typeface="Cambria Math"/>
                        </a:rPr>
                        <m:t>:</m:t>
                      </m:r>
                      <m:r>
                        <a:rPr lang="en-US" altLang="ko-KR" b="0" i="1" smtClean="0">
                          <a:latin typeface="Cambria Math"/>
                        </a:rPr>
                        <m:t>𝑎𝑛𝑔𝑙𝑒</m:t>
                      </m:r>
                      <m:r>
                        <a:rPr lang="en-US" altLang="ko-KR" b="0" i="1" smtClean="0">
                          <a:latin typeface="Cambria Math"/>
                        </a:rPr>
                        <m:t> </m:t>
                      </m:r>
                      <m:r>
                        <a:rPr lang="en-US" altLang="ko-KR" b="0" i="1" smtClean="0">
                          <a:latin typeface="Cambria Math"/>
                        </a:rPr>
                        <m:t>𝑣𝑒𝑙𝑜𝑐𝑖𝑡𝑦</m:t>
                      </m:r>
                      <m:r>
                        <a:rPr lang="en-US" altLang="ko-KR" b="0" i="1" smtClean="0">
                          <a:latin typeface="Cambria Math"/>
                        </a:rPr>
                        <m:t>, </m:t>
                      </m:r>
                      <m:r>
                        <a:rPr lang="en-US" altLang="ko-KR" b="0" i="1" smtClean="0">
                          <a:latin typeface="Cambria Math"/>
                        </a:rPr>
                        <m:t>𝑓</m:t>
                      </m:r>
                      <m:r>
                        <a:rPr lang="en-US" altLang="ko-KR" b="0" i="1" smtClean="0">
                          <a:latin typeface="Cambria Math"/>
                        </a:rPr>
                        <m:t>:</m:t>
                      </m:r>
                      <m:r>
                        <a:rPr lang="en-US" altLang="ko-KR" b="0" i="1" smtClean="0">
                          <a:latin typeface="Cambria Math"/>
                        </a:rPr>
                        <m:t>𝑓𝑟𝑒𝑞𝑢𝑒𝑛𝑐𝑦</m:t>
                      </m:r>
                      <m:r>
                        <a:rPr lang="en-US" altLang="ko-KR" b="0" i="1" smtClean="0">
                          <a:latin typeface="Cambria Math"/>
                        </a:rPr>
                        <m:t>, </m:t>
                      </m:r>
                      <m:r>
                        <a:rPr lang="ko-KR" altLang="en-US" b="0" i="1" smtClean="0">
                          <a:latin typeface="Cambria Math"/>
                        </a:rPr>
                        <m:t>𝜃</m:t>
                      </m:r>
                      <m:r>
                        <a:rPr lang="en-US" altLang="ko-KR" b="0" i="1" smtClean="0">
                          <a:latin typeface="Cambria Math"/>
                        </a:rPr>
                        <m:t>:</m:t>
                      </m:r>
                      <m:r>
                        <a:rPr lang="en-US" altLang="ko-KR" b="0" i="1" smtClean="0">
                          <a:latin typeface="Cambria Math"/>
                        </a:rPr>
                        <m:t>𝑝h𝑎𝑠𝑒</m:t>
                      </m:r>
                    </m:oMath>
                  </m:oMathPara>
                </a14:m>
                <a:endParaRPr lang="en-US" altLang="ko-KR" dirty="0" smtClean="0">
                  <a:latin typeface="+mj-lt"/>
                </a:endParaRPr>
              </a:p>
              <a:p>
                <a:pPr algn="just">
                  <a:defRPr/>
                </a:pPr>
                <a:endParaRPr lang="en-US" altLang="ko-KR" dirty="0">
                  <a:latin typeface="+mj-lt"/>
                </a:endParaRP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pPr marL="0" indent="0" algn="ctr">
                  <a:buNone/>
                  <a:defRPr/>
                </a:pPr>
                <a:r>
                  <a:rPr lang="en-US" altLang="ko-KR" b="1" i="1" dirty="0" smtClean="0">
                    <a:solidFill>
                      <a:srgbClr val="C00000"/>
                    </a:solidFill>
                    <a:latin typeface="+mj-lt"/>
                  </a:rPr>
                  <a:t>Fig. 3.3 </a:t>
                </a:r>
                <a:r>
                  <a:rPr lang="en-US" altLang="ko-KR" dirty="0" smtClean="0">
                    <a:latin typeface="+mj-lt"/>
                  </a:rPr>
                  <a:t>A sine wave</a:t>
                </a:r>
                <a:endParaRPr lang="en-US" altLang="ko-KR" dirty="0" smtClean="0">
                  <a:latin typeface="Times New Roman" pitchFamily="18" charset="0"/>
                </a:endParaRPr>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68300" y="755650"/>
                <a:ext cx="8429625" cy="5616575"/>
              </a:xfrm>
              <a:blipFill rotWithShape="1">
                <a:blip r:embed="rId2"/>
                <a:stretch>
                  <a:fillRect l="-1518" r="-1157" b="-4126"/>
                </a:stretch>
              </a:blipFill>
            </p:spPr>
            <p:txBody>
              <a:bodyPr/>
              <a:lstStyle/>
              <a:p>
                <a:r>
                  <a:rPr lang="ko-KR" altLang="en-US">
                    <a:noFill/>
                  </a:rPr>
                  <a:t> </a:t>
                </a:r>
              </a:p>
            </p:txBody>
          </p:sp>
        </mc:Fallback>
      </mc:AlternateContent>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0374" y="5130404"/>
            <a:ext cx="4126626" cy="867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8" y="4444077"/>
            <a:ext cx="5357933" cy="1519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2600043"/>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defRPr/>
            </a:pPr>
            <a:r>
              <a:rPr lang="en-US" altLang="ko-KR" sz="2400" dirty="0" smtClean="0">
                <a:effectLst>
                  <a:outerShdw blurRad="38100" dist="38100" dir="2700000" algn="tl">
                    <a:srgbClr val="000000">
                      <a:alpha val="43137"/>
                    </a:srgbClr>
                  </a:outerShdw>
                </a:effectLst>
                <a:latin typeface="Times New Roman" pitchFamily="18" charset="0"/>
              </a:rPr>
              <a:t>3.2.1  Sine Wave</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368300" y="755650"/>
            <a:ext cx="8429625" cy="5616575"/>
          </a:xfrm>
        </p:spPr>
        <p:txBody>
          <a:bodyPr/>
          <a:lstStyle/>
          <a:p>
            <a:pPr marL="0" indent="0" algn="just">
              <a:buFontTx/>
              <a:buNone/>
              <a:defRPr/>
            </a:pPr>
            <a:endParaRPr lang="en-US" altLang="ko-KR" dirty="0" smtClean="0">
              <a:latin typeface="Times New Roman" pitchFamily="18" charset="0"/>
              <a:cs typeface="Times New Roman" pitchFamily="18" charset="0"/>
            </a:endParaRPr>
          </a:p>
          <a:p>
            <a:pPr marL="0" indent="0" algn="just">
              <a:buFontTx/>
              <a:buNone/>
              <a:defRPr/>
            </a:pPr>
            <a:endParaRPr lang="en-US" altLang="ko-KR" dirty="0">
              <a:latin typeface="Times New Roman" pitchFamily="18" charset="0"/>
              <a:cs typeface="Times New Roman" pitchFamily="18" charset="0"/>
            </a:endParaRPr>
          </a:p>
          <a:p>
            <a:pPr marL="0" indent="0" algn="just">
              <a:buFontTx/>
              <a:buNone/>
              <a:defRPr/>
            </a:pPr>
            <a:endParaRPr lang="en-US" altLang="ko-KR" dirty="0" smtClean="0">
              <a:latin typeface="Times New Roman" pitchFamily="18" charset="0"/>
              <a:cs typeface="Times New Roman" pitchFamily="18" charset="0"/>
            </a:endParaRPr>
          </a:p>
          <a:p>
            <a:pPr marL="0" indent="0" algn="just">
              <a:buFontTx/>
              <a:buNone/>
              <a:defRPr/>
            </a:pPr>
            <a:endParaRPr lang="en-US" altLang="ko-KR" dirty="0">
              <a:latin typeface="Times New Roman" pitchFamily="18" charset="0"/>
              <a:cs typeface="Times New Roman" pitchFamily="18" charset="0"/>
            </a:endParaRPr>
          </a:p>
          <a:p>
            <a:pPr marL="0" indent="0" algn="just">
              <a:buFontTx/>
              <a:buNone/>
              <a:defRPr/>
            </a:pPr>
            <a:endParaRPr lang="en-US" altLang="ko-KR" dirty="0" smtClean="0">
              <a:latin typeface="Times New Roman" pitchFamily="18" charset="0"/>
              <a:cs typeface="Times New Roman" pitchFamily="18" charset="0"/>
            </a:endParaRPr>
          </a:p>
          <a:p>
            <a:pPr marL="0" indent="0" algn="just">
              <a:buFontTx/>
              <a:buNone/>
              <a:defRPr/>
            </a:pPr>
            <a:endParaRPr lang="en-US" altLang="ko-KR" dirty="0">
              <a:latin typeface="Times New Roman" pitchFamily="18" charset="0"/>
              <a:cs typeface="Times New Roman" pitchFamily="18" charset="0"/>
            </a:endParaRPr>
          </a:p>
          <a:p>
            <a:pPr marL="0" indent="0" algn="just">
              <a:buFontTx/>
              <a:buNone/>
              <a:defRPr/>
            </a:pPr>
            <a:endParaRPr lang="en-US" altLang="ko-KR" dirty="0" smtClean="0">
              <a:latin typeface="Times New Roman" pitchFamily="18" charset="0"/>
              <a:cs typeface="Times New Roman" pitchFamily="18" charset="0"/>
            </a:endParaRPr>
          </a:p>
          <a:p>
            <a:pPr marL="0" indent="0" algn="just">
              <a:buFontTx/>
              <a:buNone/>
              <a:defRPr/>
            </a:pPr>
            <a:endParaRPr lang="en-US" altLang="ko-KR" dirty="0">
              <a:latin typeface="Times New Roman" pitchFamily="18" charset="0"/>
              <a:cs typeface="Times New Roman" pitchFamily="18" charset="0"/>
            </a:endParaRPr>
          </a:p>
          <a:p>
            <a:pPr marL="0" indent="0" algn="just">
              <a:buFontTx/>
              <a:buNone/>
              <a:defRPr/>
            </a:pPr>
            <a:endParaRPr lang="en-US" altLang="ko-KR" dirty="0">
              <a:latin typeface="Times New Roman" pitchFamily="18" charset="0"/>
              <a:cs typeface="Times New Roman" pitchFamily="18" charset="0"/>
            </a:endParaRPr>
          </a:p>
          <a:p>
            <a:pPr marL="0" indent="0" algn="just">
              <a:buFontTx/>
              <a:buNone/>
              <a:defRPr/>
            </a:pPr>
            <a:endParaRPr lang="en-US" altLang="ko-KR" dirty="0" smtClean="0">
              <a:latin typeface="Times New Roman" pitchFamily="18" charset="0"/>
              <a:cs typeface="Times New Roman" pitchFamily="18" charset="0"/>
            </a:endParaRPr>
          </a:p>
          <a:p>
            <a:pPr marL="0" indent="0" algn="just">
              <a:buFontTx/>
              <a:buNone/>
              <a:defRPr/>
            </a:pPr>
            <a:endParaRPr lang="en-US" altLang="ko-KR" dirty="0">
              <a:latin typeface="Times New Roman" pitchFamily="18" charset="0"/>
              <a:cs typeface="Times New Roman" pitchFamily="18" charset="0"/>
            </a:endParaRPr>
          </a:p>
          <a:p>
            <a:pPr marL="0" indent="0" algn="just">
              <a:buFontTx/>
              <a:buNone/>
              <a:defRPr/>
            </a:pPr>
            <a:r>
              <a:rPr lang="en-US" altLang="ko-KR" dirty="0" smtClean="0">
                <a:solidFill>
                  <a:srgbClr val="C00000"/>
                </a:solidFill>
                <a:latin typeface="+mj-lt"/>
              </a:rPr>
              <a:t>           Fig. 3.4</a:t>
            </a:r>
            <a:r>
              <a:rPr lang="en-US" altLang="ko-KR" dirty="0" smtClean="0">
                <a:solidFill>
                  <a:srgbClr val="FF0000"/>
                </a:solidFill>
                <a:latin typeface="+mj-lt"/>
              </a:rPr>
              <a:t>  </a:t>
            </a:r>
            <a:r>
              <a:rPr lang="en-US" altLang="ko-KR" dirty="0" smtClean="0">
                <a:latin typeface="+mj-lt"/>
              </a:rPr>
              <a:t>Two signals with two different amplitudes</a:t>
            </a:r>
            <a:endParaRPr lang="en-US" altLang="ko-KR" dirty="0">
              <a:latin typeface="Times New Roman" pitchFamily="18"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838" y="1100138"/>
            <a:ext cx="6607175" cy="429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3970338"/>
            <a:ext cx="106045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1276350"/>
            <a:ext cx="106045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defRPr/>
            </a:pPr>
            <a:r>
              <a:rPr lang="en-US" altLang="ko-KR" sz="2400" dirty="0" smtClean="0">
                <a:effectLst>
                  <a:outerShdw blurRad="38100" dist="38100" dir="2700000" algn="tl">
                    <a:srgbClr val="000000">
                      <a:alpha val="43137"/>
                    </a:srgbClr>
                  </a:outerShdw>
                </a:effectLst>
                <a:latin typeface="Times New Roman" pitchFamily="18" charset="0"/>
              </a:rPr>
              <a:t>3.2.1  Sine Wave</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255588" y="755650"/>
            <a:ext cx="8542337" cy="5616575"/>
          </a:xfrm>
        </p:spPr>
        <p:txBody>
          <a:bodyPr/>
          <a:lstStyle/>
          <a:p>
            <a:pPr marL="0" indent="0" algn="just">
              <a:buFontTx/>
              <a:buNone/>
              <a:defRPr/>
            </a:pPr>
            <a:r>
              <a:rPr lang="en-US" altLang="ko-KR" sz="2800" b="1" dirty="0" smtClean="0">
                <a:solidFill>
                  <a:srgbClr val="C00000"/>
                </a:solidFill>
                <a:latin typeface="+mj-lt"/>
              </a:rPr>
              <a:t>Ex. 3.1 rms value</a:t>
            </a:r>
          </a:p>
          <a:p>
            <a:pPr marL="0" indent="0">
              <a:buFontTx/>
              <a:buNone/>
              <a:defRPr/>
            </a:pPr>
            <a:r>
              <a:rPr lang="en-US" altLang="ko-KR" dirty="0">
                <a:latin typeface="+mj-lt"/>
                <a:cs typeface="Times New Roman" pitchFamily="18" charset="0"/>
              </a:rPr>
              <a:t>The power in your house can be represented by a sine wave with a peak amplitude of 155 to 170 V. However, it is common knowledge that the voltage of the power in U.S. homes is 110 to 120 V. This discrepancy is due to the fact that these are </a:t>
            </a:r>
            <a:r>
              <a:rPr lang="en-US" altLang="ko-KR" b="1" i="1" dirty="0">
                <a:solidFill>
                  <a:srgbClr val="C00000"/>
                </a:solidFill>
                <a:latin typeface="+mj-lt"/>
                <a:cs typeface="Times New Roman" pitchFamily="18" charset="0"/>
              </a:rPr>
              <a:t>root mean square </a:t>
            </a:r>
            <a:r>
              <a:rPr lang="en-US" altLang="ko-KR" dirty="0">
                <a:latin typeface="+mj-lt"/>
                <a:cs typeface="Times New Roman" pitchFamily="18" charset="0"/>
              </a:rPr>
              <a:t>(rms) values. The signal is squared and then the average amplitude is calculated. The peak value is equal to 2</a:t>
            </a:r>
            <a:r>
              <a:rPr lang="en-US" altLang="ko-KR" baseline="30000" dirty="0">
                <a:latin typeface="+mj-lt"/>
                <a:cs typeface="Times New Roman" pitchFamily="18" charset="0"/>
              </a:rPr>
              <a:t>1/2</a:t>
            </a:r>
            <a:r>
              <a:rPr lang="en-US" altLang="ko-KR" dirty="0">
                <a:latin typeface="+mj-lt"/>
                <a:cs typeface="Times New Roman" pitchFamily="18" charset="0"/>
              </a:rPr>
              <a:t> × rms value</a:t>
            </a:r>
            <a:r>
              <a:rPr lang="en-US" altLang="ko-KR" dirty="0" smtClean="0">
                <a:latin typeface="+mj-lt"/>
                <a:cs typeface="Times New Roman" pitchFamily="18" charset="0"/>
              </a:rPr>
              <a:t>.</a:t>
            </a:r>
          </a:p>
          <a:p>
            <a:pPr marL="0" indent="0" algn="just">
              <a:buFontTx/>
              <a:buNone/>
              <a:defRPr/>
            </a:pPr>
            <a:endParaRPr lang="en-US" altLang="ko-KR" sz="2800" b="1" dirty="0" smtClean="0">
              <a:solidFill>
                <a:srgbClr val="C00000"/>
              </a:solidFill>
              <a:latin typeface="+mj-lt"/>
            </a:endParaRPr>
          </a:p>
          <a:p>
            <a:pPr marL="0" indent="0" algn="just">
              <a:buFontTx/>
              <a:buNone/>
              <a:defRPr/>
            </a:pPr>
            <a:r>
              <a:rPr lang="en-US" altLang="ko-KR" sz="2800" b="1" dirty="0" smtClean="0">
                <a:solidFill>
                  <a:srgbClr val="C00000"/>
                </a:solidFill>
                <a:latin typeface="+mj-lt"/>
              </a:rPr>
              <a:t>Ex</a:t>
            </a:r>
            <a:r>
              <a:rPr lang="en-US" altLang="ko-KR" sz="2800" b="1" dirty="0">
                <a:solidFill>
                  <a:srgbClr val="C00000"/>
                </a:solidFill>
                <a:latin typeface="+mj-lt"/>
              </a:rPr>
              <a:t>. </a:t>
            </a:r>
            <a:r>
              <a:rPr lang="en-US" altLang="ko-KR" sz="2800" b="1" dirty="0" smtClean="0">
                <a:solidFill>
                  <a:srgbClr val="C00000"/>
                </a:solidFill>
                <a:latin typeface="+mj-lt"/>
              </a:rPr>
              <a:t>3.2 DC</a:t>
            </a:r>
            <a:endParaRPr lang="en-US" altLang="ko-KR" dirty="0">
              <a:latin typeface="+mj-lt"/>
              <a:cs typeface="Times New Roman" pitchFamily="18" charset="0"/>
            </a:endParaRPr>
          </a:p>
          <a:p>
            <a:pPr marL="57150" indent="0" algn="just">
              <a:buFontTx/>
              <a:buNone/>
              <a:defRPr/>
            </a:pPr>
            <a:r>
              <a:rPr lang="en-US" altLang="ko-KR" dirty="0" smtClean="0">
                <a:latin typeface="Times New Roman" pitchFamily="18" charset="0"/>
                <a:cs typeface="Times New Roman" pitchFamily="18" charset="0"/>
              </a:rPr>
              <a:t>The </a:t>
            </a:r>
            <a:r>
              <a:rPr lang="en-US" altLang="ko-KR" dirty="0">
                <a:latin typeface="Times New Roman" pitchFamily="18" charset="0"/>
                <a:cs typeface="Times New Roman" pitchFamily="18" charset="0"/>
              </a:rPr>
              <a:t>voltage of a battery is a constant; this constant value can be considered a sine wave, as we will see later. For example, the peak value of an AA battery is normally 1.5 V</a:t>
            </a:r>
            <a:r>
              <a:rPr lang="en-US" altLang="ko-KR" dirty="0" smtClean="0">
                <a:latin typeface="Times New Roman" pitchFamily="18" charset="0"/>
                <a:cs typeface="Times New Roman" pitchFamily="18" charset="0"/>
              </a:rPr>
              <a:t>.</a:t>
            </a:r>
            <a:endParaRPr lang="en-US" altLang="ko-KR" dirty="0">
              <a:latin typeface="Times New Roman" pitchFamily="18" charset="0"/>
            </a:endParaRP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defRPr/>
            </a:pPr>
            <a:r>
              <a:rPr lang="en-US" altLang="ko-KR" sz="2400" dirty="0" smtClean="0">
                <a:effectLst>
                  <a:outerShdw blurRad="38100" dist="38100" dir="2700000" algn="tl">
                    <a:srgbClr val="000000">
                      <a:alpha val="43137"/>
                    </a:srgbClr>
                  </a:outerShdw>
                </a:effectLst>
                <a:latin typeface="Times New Roman" pitchFamily="18" charset="0"/>
              </a:rPr>
              <a:t>3.2.1. Sine Wave</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noRot="1" noChangeAspect="1" noMove="1" noResize="1" noEditPoints="1" noAdjustHandles="1" noChangeArrowheads="1" noChangeShapeType="1" noTextEdit="1"/>
          </p:cNvSpPr>
          <p:nvPr>
            <p:ph idx="1"/>
          </p:nvPr>
        </p:nvSpPr>
        <p:spPr>
          <a:xfrm>
            <a:off x="241499" y="755342"/>
            <a:ext cx="8804178" cy="5616575"/>
          </a:xfrm>
          <a:blipFill rotWithShape="1">
            <a:blip r:embed="rId2"/>
            <a:stretch>
              <a:fillRect l="-1108" t="-869" b="-1303"/>
            </a:stretch>
          </a:blipFill>
          <a:extLst/>
        </p:spPr>
        <p:txBody>
          <a:bodyPr/>
          <a:lstStyle/>
          <a:p>
            <a:r>
              <a:rPr lang="ko-KR" altLang="en-US" dirty="0">
                <a:noFill/>
              </a:rPr>
              <a:t> </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13" y="2752725"/>
            <a:ext cx="4092575" cy="290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8350" y="2724150"/>
            <a:ext cx="4092575" cy="291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defRPr/>
            </a:pPr>
            <a:r>
              <a:rPr lang="en-US" altLang="ko-KR" sz="2400" dirty="0" smtClean="0">
                <a:effectLst>
                  <a:outerShdw blurRad="38100" dist="38100" dir="2700000" algn="tl">
                    <a:srgbClr val="000000">
                      <a:alpha val="43137"/>
                    </a:srgbClr>
                  </a:outerShdw>
                </a:effectLst>
                <a:latin typeface="Times New Roman" pitchFamily="18" charset="0"/>
              </a:rPr>
              <a:t>3.2.1. Sine Wave</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241300" y="755650"/>
            <a:ext cx="8804275" cy="5616575"/>
          </a:xfrm>
        </p:spPr>
        <p:txBody>
          <a:bodyPr/>
          <a:lstStyle/>
          <a:p>
            <a:pPr marL="0" indent="0" fontAlgn="auto">
              <a:spcBef>
                <a:spcPts val="0"/>
              </a:spcBef>
              <a:spcAft>
                <a:spcPts val="0"/>
              </a:spcAft>
              <a:buFontTx/>
              <a:buNone/>
              <a:defRPr/>
            </a:pPr>
            <a:r>
              <a:rPr lang="en-US" altLang="ko-KR" sz="2800" b="1" i="1" dirty="0">
                <a:solidFill>
                  <a:srgbClr val="C00000"/>
                </a:solidFill>
                <a:latin typeface="Times New Roman" pitchFamily="18" charset="0"/>
                <a:cs typeface="Times New Roman" pitchFamily="18" charset="0"/>
              </a:rPr>
              <a:t>Table </a:t>
            </a:r>
            <a:r>
              <a:rPr lang="en-US" altLang="ko-KR" sz="2800" b="1" i="1" dirty="0" smtClean="0">
                <a:solidFill>
                  <a:srgbClr val="C00000"/>
                </a:solidFill>
                <a:latin typeface="Times New Roman" pitchFamily="18" charset="0"/>
                <a:cs typeface="Times New Roman" pitchFamily="18" charset="0"/>
              </a:rPr>
              <a:t>3.1</a:t>
            </a:r>
            <a:r>
              <a:rPr lang="en-US" altLang="ko-KR" b="1" i="1" dirty="0" smtClean="0">
                <a:solidFill>
                  <a:srgbClr val="FF0000"/>
                </a:solidFill>
                <a:latin typeface="Times-BoldItalic"/>
              </a:rPr>
              <a:t> </a:t>
            </a:r>
            <a:r>
              <a:rPr lang="en-US" altLang="ko-KR" dirty="0">
                <a:latin typeface="Times New Roman" pitchFamily="18" charset="0"/>
                <a:cs typeface="Times New Roman" pitchFamily="18" charset="0"/>
              </a:rPr>
              <a:t>Units of period and </a:t>
            </a:r>
            <a:r>
              <a:rPr lang="en-US" altLang="ko-KR" dirty="0" smtClean="0">
                <a:latin typeface="Times New Roman" pitchFamily="18" charset="0"/>
                <a:cs typeface="Times New Roman" pitchFamily="18" charset="0"/>
              </a:rPr>
              <a:t>frequency</a:t>
            </a: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r>
              <a:rPr lang="en-US" altLang="ko-KR" b="1" i="1" dirty="0" smtClean="0">
                <a:solidFill>
                  <a:srgbClr val="C00000"/>
                </a:solidFill>
                <a:latin typeface="Times New Roman" pitchFamily="18" charset="0"/>
                <a:cs typeface="Times New Roman" pitchFamily="18" charset="0"/>
              </a:rPr>
              <a:t>Ex. 3.3</a:t>
            </a:r>
          </a:p>
          <a:p>
            <a:pPr marL="0" indent="0" fontAlgn="auto">
              <a:spcBef>
                <a:spcPts val="0"/>
              </a:spcBef>
              <a:spcAft>
                <a:spcPts val="0"/>
              </a:spcAft>
              <a:buFontTx/>
              <a:buNone/>
              <a:defRPr/>
            </a:pPr>
            <a:r>
              <a:rPr lang="en-US" altLang="ko-KR" b="1" i="1" dirty="0" smtClean="0">
                <a:solidFill>
                  <a:srgbClr val="C00000"/>
                </a:solidFill>
                <a:latin typeface="Times New Roman" pitchFamily="18" charset="0"/>
                <a:cs typeface="Times New Roman" pitchFamily="18" charset="0"/>
              </a:rPr>
              <a:t>Ex. 3.4</a:t>
            </a:r>
          </a:p>
          <a:p>
            <a:pPr marL="0" indent="0" fontAlgn="auto">
              <a:spcBef>
                <a:spcPts val="0"/>
              </a:spcBef>
              <a:spcAft>
                <a:spcPts val="0"/>
              </a:spcAft>
              <a:buFontTx/>
              <a:buNone/>
              <a:defRPr/>
            </a:pPr>
            <a:r>
              <a:rPr lang="en-US" altLang="ko-KR" b="1" i="1" dirty="0" smtClean="0">
                <a:solidFill>
                  <a:srgbClr val="C00000"/>
                </a:solidFill>
                <a:latin typeface="Times New Roman" pitchFamily="18" charset="0"/>
                <a:cs typeface="Times New Roman" pitchFamily="18" charset="0"/>
              </a:rPr>
              <a:t>Ex. 3.5</a:t>
            </a:r>
            <a:endParaRPr lang="en-US" altLang="ko-KR" b="1" i="1" dirty="0">
              <a:solidFill>
                <a:srgbClr val="C00000"/>
              </a:solidFill>
              <a:latin typeface="Times New Roman" pitchFamily="18" charset="0"/>
              <a:cs typeface="Times New Roman" pitchFamily="18" charset="0"/>
            </a:endParaRPr>
          </a:p>
          <a:p>
            <a:pPr lvl="1" algn="just">
              <a:defRPr/>
            </a:pPr>
            <a:endParaRPr lang="en-US" altLang="ko-KR" dirty="0" smtClean="0">
              <a:latin typeface="Times New Roman" pitchFamily="18" charset="0"/>
            </a:endParaRPr>
          </a:p>
          <a:p>
            <a:pPr algn="just">
              <a:defRPr/>
            </a:pPr>
            <a:r>
              <a:rPr lang="en-US" altLang="ko-KR" dirty="0" smtClean="0">
                <a:latin typeface="Times New Roman" pitchFamily="18" charset="0"/>
              </a:rPr>
              <a:t>0 frequency signal?</a:t>
            </a:r>
            <a:endParaRPr lang="en-US" altLang="ko-KR" dirty="0">
              <a:latin typeface="Times New Roman" pitchFamily="18" charset="0"/>
            </a:endParaRPr>
          </a:p>
        </p:txBody>
      </p:sp>
      <p:pic>
        <p:nvPicPr>
          <p:cNvPr id="266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 y="1700213"/>
            <a:ext cx="8213725" cy="221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a:defRPr/>
            </a:pPr>
            <a:r>
              <a:rPr lang="en-US" altLang="ko-KR" sz="2400" dirty="0" smtClean="0">
                <a:effectLst>
                  <a:outerShdw blurRad="38100" dist="38100" dir="2700000" algn="tl">
                    <a:srgbClr val="000000">
                      <a:alpha val="43137"/>
                    </a:srgbClr>
                  </a:outerShdw>
                </a:effectLst>
                <a:latin typeface="Times New Roman" pitchFamily="18" charset="0"/>
              </a:rPr>
              <a:t>3.2.1. Sine Wave</a:t>
            </a:r>
            <a:endParaRPr lang="en-US" altLang="ko-KR" sz="2400" dirty="0">
              <a:effectLst>
                <a:outerShdw blurRad="38100" dist="38100" dir="2700000" algn="tl">
                  <a:srgbClr val="000000">
                    <a:alpha val="43137"/>
                  </a:srgbClr>
                </a:outerShdw>
              </a:effectLst>
              <a:latin typeface="Times New Roman" pitchFamily="18" charset="0"/>
            </a:endParaRPr>
          </a:p>
        </p:txBody>
      </p:sp>
      <p:sp>
        <p:nvSpPr>
          <p:cNvPr id="20483" name="내용 개체 틀 2"/>
          <p:cNvSpPr>
            <a:spLocks noGrp="1"/>
          </p:cNvSpPr>
          <p:nvPr>
            <p:ph idx="1"/>
          </p:nvPr>
        </p:nvSpPr>
        <p:spPr>
          <a:xfrm>
            <a:off x="241300" y="755650"/>
            <a:ext cx="8804275" cy="5616575"/>
          </a:xfrm>
        </p:spPr>
        <p:txBody>
          <a:bodyPr/>
          <a:lstStyle/>
          <a:p>
            <a:pPr marL="0" indent="0" fontAlgn="auto">
              <a:spcBef>
                <a:spcPts val="0"/>
              </a:spcBef>
              <a:spcAft>
                <a:spcPts val="0"/>
              </a:spcAft>
              <a:buFontTx/>
              <a:buNone/>
              <a:defRPr/>
            </a:pPr>
            <a:r>
              <a:rPr lang="en-US" altLang="ko-KR" sz="2800" b="1" i="1" dirty="0" smtClean="0">
                <a:solidFill>
                  <a:srgbClr val="C00000"/>
                </a:solidFill>
                <a:latin typeface="Times New Roman" pitchFamily="18" charset="0"/>
                <a:cs typeface="Times New Roman" pitchFamily="18" charset="0"/>
              </a:rPr>
              <a:t>Ex. </a:t>
            </a: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smtClean="0">
              <a:latin typeface="Times New Roman" pitchFamily="18" charset="0"/>
              <a:cs typeface="Times New Roman" pitchFamily="18" charset="0"/>
            </a:endParaRPr>
          </a:p>
          <a:p>
            <a:pPr marL="0" indent="0" fontAlgn="auto">
              <a:spcBef>
                <a:spcPts val="0"/>
              </a:spcBef>
              <a:spcAft>
                <a:spcPts val="0"/>
              </a:spcAft>
              <a:buFontTx/>
              <a:buNone/>
              <a:defRPr/>
            </a:pPr>
            <a:endParaRPr lang="en-US" altLang="ko-KR" dirty="0">
              <a:latin typeface="Times New Roman" pitchFamily="18" charset="0"/>
              <a:cs typeface="Times New Roman" pitchFamily="18" charset="0"/>
            </a:endParaRPr>
          </a:p>
        </p:txBody>
      </p:sp>
      <p:pic>
        <p:nvPicPr>
          <p:cNvPr id="2" name="그림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7880" y="4083509"/>
            <a:ext cx="3576119" cy="2288716"/>
          </a:xfrm>
          <a:prstGeom prst="rect">
            <a:avLst/>
          </a:prstGeom>
        </p:spPr>
      </p:pic>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300" y="1778794"/>
            <a:ext cx="5462963" cy="3974306"/>
          </a:xfrm>
          <a:prstGeom prst="rect">
            <a:avLst/>
          </a:prstGeom>
        </p:spPr>
      </p:pic>
    </p:spTree>
    <p:extLst>
      <p:ext uri="{BB962C8B-B14F-4D97-AF65-F5344CB8AC3E}">
        <p14:creationId xmlns:p14="http://schemas.microsoft.com/office/powerpoint/2010/main" val="3545201026"/>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3.2.2  Phase</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3.2.2  Phase</a:t>
            </a:r>
          </a:p>
          <a:p>
            <a:pPr algn="just">
              <a:defRPr/>
            </a:pPr>
            <a:r>
              <a:rPr lang="en-US" altLang="ko-KR" b="1" i="1" dirty="0" smtClean="0">
                <a:solidFill>
                  <a:srgbClr val="C00000"/>
                </a:solidFill>
                <a:latin typeface="Times New Roman" pitchFamily="18" charset="0"/>
              </a:rPr>
              <a:t>Phase</a:t>
            </a:r>
            <a:r>
              <a:rPr lang="en-US" altLang="ko-KR" dirty="0">
                <a:latin typeface="Times New Roman" pitchFamily="18" charset="0"/>
              </a:rPr>
              <a:t>, or </a:t>
            </a:r>
            <a:r>
              <a:rPr lang="en-US" altLang="ko-KR" b="1" i="1" dirty="0">
                <a:solidFill>
                  <a:srgbClr val="C00000"/>
                </a:solidFill>
                <a:latin typeface="Times New Roman" pitchFamily="18" charset="0"/>
              </a:rPr>
              <a:t>phase shift</a:t>
            </a:r>
            <a:r>
              <a:rPr lang="en-US" altLang="ko-KR" dirty="0">
                <a:latin typeface="Times New Roman" pitchFamily="18" charset="0"/>
              </a:rPr>
              <a:t>, describes the position of the waveform relative to time 0</a:t>
            </a:r>
            <a:r>
              <a:rPr lang="en-US" altLang="ko-KR" dirty="0" smtClean="0">
                <a:latin typeface="+mj-lt"/>
              </a:rPr>
              <a:t>.</a:t>
            </a: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r>
              <a:rPr lang="en-US" altLang="ko-KR" b="1" i="1" dirty="0" smtClean="0">
                <a:solidFill>
                  <a:srgbClr val="C00000"/>
                </a:solidFill>
                <a:latin typeface="Times New Roman" pitchFamily="18" charset="0"/>
                <a:cs typeface="Times New Roman" pitchFamily="18" charset="0"/>
              </a:rPr>
              <a:t>Fig. 3.6</a:t>
            </a:r>
            <a:r>
              <a:rPr lang="en-US" altLang="ko-KR" dirty="0" smtClean="0">
                <a:solidFill>
                  <a:srgbClr val="FF0000"/>
                </a:solidFill>
                <a:latin typeface="Times New Roman" pitchFamily="18" charset="0"/>
                <a:cs typeface="Times New Roman" pitchFamily="18" charset="0"/>
              </a:rPr>
              <a:t>  </a:t>
            </a:r>
            <a:r>
              <a:rPr lang="en-US" altLang="ko-KR" dirty="0">
                <a:latin typeface="Times New Roman" pitchFamily="18" charset="0"/>
                <a:cs typeface="Times New Roman" pitchFamily="18" charset="0"/>
              </a:rPr>
              <a:t>Three sine waves with different </a:t>
            </a:r>
            <a:r>
              <a:rPr lang="en-US" altLang="ko-KR" dirty="0" smtClean="0">
                <a:latin typeface="Times New Roman" pitchFamily="18" charset="0"/>
                <a:cs typeface="Times New Roman" pitchFamily="18" charset="0"/>
              </a:rPr>
              <a:t>phases</a:t>
            </a:r>
            <a:endParaRPr lang="en-US" altLang="ko-KR" dirty="0" smtClean="0">
              <a:latin typeface="Times New Roman" pitchFamily="18"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9658" y="2150032"/>
            <a:ext cx="5656006" cy="1332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9490" y="3449549"/>
            <a:ext cx="5656006" cy="135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18" y="4793574"/>
            <a:ext cx="5656006" cy="126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2258292"/>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7173" y="3277941"/>
            <a:ext cx="1104526" cy="1909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3.2.3 Wavelength</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3.2.3</a:t>
                </a:r>
                <a:r>
                  <a:rPr lang="en-US" altLang="ko-KR" sz="2800" b="1" i="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ko-KR" sz="2800" b="1" i="1" dirty="0" smtClean="0">
                    <a:solidFill>
                      <a:srgbClr val="C00000"/>
                    </a:solidFill>
                    <a:latin typeface="Times New Roman" pitchFamily="18" charset="0"/>
                    <a:cs typeface="Times New Roman" pitchFamily="18" charset="0"/>
                  </a:rPr>
                  <a:t>Wavelength</a:t>
                </a:r>
              </a:p>
              <a:p>
                <a:pPr marL="0" indent="0" algn="just">
                  <a:buNone/>
                  <a:defRPr/>
                </a:pPr>
                <a14:m>
                  <m:oMathPara xmlns:m="http://schemas.openxmlformats.org/officeDocument/2006/math">
                    <m:oMathParaPr>
                      <m:jc m:val="centerGroup"/>
                    </m:oMathParaPr>
                    <m:oMath xmlns:m="http://schemas.openxmlformats.org/officeDocument/2006/math">
                      <m:r>
                        <a:rPr lang="en-US" altLang="ko-KR" b="0" i="1" smtClean="0">
                          <a:latin typeface="Cambria Math"/>
                        </a:rPr>
                        <m:t>  </m:t>
                      </m:r>
                      <m:r>
                        <a:rPr lang="en-US" altLang="ko-KR" b="0" i="1" smtClean="0">
                          <a:latin typeface="Cambria Math"/>
                        </a:rPr>
                        <m:t>𝑊𝑎𝑣𝑒𝑙𝑒𝑛𝑔𝑡h</m:t>
                      </m:r>
                      <m:r>
                        <a:rPr lang="en-US" altLang="ko-KR" b="0" i="1" smtClean="0">
                          <a:latin typeface="Cambria Math"/>
                        </a:rPr>
                        <m:t>=</m:t>
                      </m:r>
                      <m:d>
                        <m:dPr>
                          <m:ctrlPr>
                            <a:rPr lang="en-US" altLang="ko-KR" b="0" i="1" smtClean="0">
                              <a:latin typeface="Cambria Math" panose="02040503050406030204" pitchFamily="18" charset="0"/>
                            </a:rPr>
                          </m:ctrlPr>
                        </m:dPr>
                        <m:e>
                          <m:r>
                            <a:rPr lang="en-US" altLang="ko-KR" b="0" i="1" smtClean="0">
                              <a:latin typeface="Cambria Math"/>
                            </a:rPr>
                            <m:t>𝑝𝑟𝑜𝑝𝑎𝑔𝑎𝑡𝑖𝑜𝑛</m:t>
                          </m:r>
                          <m:r>
                            <a:rPr lang="en-US" altLang="ko-KR" b="0" i="1" smtClean="0">
                              <a:latin typeface="Cambria Math"/>
                            </a:rPr>
                            <m:t> </m:t>
                          </m:r>
                          <m:r>
                            <a:rPr lang="en-US" altLang="ko-KR" b="0" i="1" smtClean="0">
                              <a:latin typeface="Cambria Math"/>
                            </a:rPr>
                            <m:t>𝑠𝑝𝑒𝑒𝑑</m:t>
                          </m:r>
                        </m:e>
                      </m:d>
                      <m:r>
                        <a:rPr lang="en-US" altLang="ko-KR" b="0" i="1" smtClean="0">
                          <a:latin typeface="Cambria Math"/>
                          <a:ea typeface="Cambria Math"/>
                        </a:rPr>
                        <m:t>×</m:t>
                      </m:r>
                      <m:r>
                        <a:rPr lang="en-US" altLang="ko-KR" b="0" i="1" smtClean="0">
                          <a:latin typeface="Cambria Math"/>
                          <a:ea typeface="Cambria Math"/>
                        </a:rPr>
                        <m:t>𝑝𝑒𝑟𝑖𝑜𝑑</m:t>
                      </m:r>
                    </m:oMath>
                  </m:oMathPara>
                </a14:m>
                <a:endParaRPr lang="en-US" altLang="ko-KR" b="0" dirty="0" smtClean="0">
                  <a:latin typeface="+mj-lt"/>
                  <a:ea typeface="Cambria Math"/>
                </a:endParaRPr>
              </a:p>
              <a:p>
                <a:pPr marL="0" indent="0" algn="just">
                  <a:buNone/>
                  <a:defRPr/>
                </a:pPr>
                <a:r>
                  <a:rPr lang="en-US" altLang="ko-KR" b="0" dirty="0" smtClean="0"/>
                  <a:t>                                    </a:t>
                </a:r>
                <a14:m>
                  <m:oMath xmlns:m="http://schemas.openxmlformats.org/officeDocument/2006/math">
                    <m:r>
                      <a:rPr lang="en-US" altLang="ko-KR" b="0" i="1" smtClean="0">
                        <a:latin typeface="Cambria Math"/>
                      </a:rPr>
                      <m:t>=</m:t>
                    </m:r>
                    <m:f>
                      <m:fPr>
                        <m:ctrlPr>
                          <a:rPr lang="en-US" altLang="ko-KR" b="0" i="1" smtClean="0">
                            <a:latin typeface="Cambria Math" panose="02040503050406030204" pitchFamily="18" charset="0"/>
                          </a:rPr>
                        </m:ctrlPr>
                      </m:fPr>
                      <m:num>
                        <m:r>
                          <a:rPr lang="en-US" altLang="ko-KR" b="0" i="1" smtClean="0">
                            <a:latin typeface="Cambria Math"/>
                          </a:rPr>
                          <m:t>𝑝𝑟𝑜𝑝𝑎𝑔𝑎𝑡𝑖𝑜𝑛</m:t>
                        </m:r>
                        <m:r>
                          <a:rPr lang="en-US" altLang="ko-KR" b="0" i="1" smtClean="0">
                            <a:latin typeface="Cambria Math"/>
                          </a:rPr>
                          <m:t> </m:t>
                        </m:r>
                        <m:r>
                          <a:rPr lang="en-US" altLang="ko-KR" b="0" i="1" smtClean="0">
                            <a:latin typeface="Cambria Math"/>
                          </a:rPr>
                          <m:t>𝑠𝑝𝑒𝑒𝑑</m:t>
                        </m:r>
                      </m:num>
                      <m:den>
                        <m:r>
                          <a:rPr lang="en-US" altLang="ko-KR" b="0" i="1" smtClean="0">
                            <a:latin typeface="Cambria Math"/>
                          </a:rPr>
                          <m:t>𝑓𝑟𝑒𝑞𝑢𝑒𝑛𝑐𝑦</m:t>
                        </m:r>
                      </m:den>
                    </m:f>
                  </m:oMath>
                </a14:m>
                <a:endParaRPr lang="en-US" altLang="ko-KR" dirty="0" smtClean="0">
                  <a:latin typeface="+mj-lt"/>
                </a:endParaRPr>
              </a:p>
              <a:p>
                <a:pPr marL="0" indent="0" algn="just">
                  <a:buNone/>
                  <a:defRPr/>
                </a:pPr>
                <a:r>
                  <a:rPr lang="ko-KR" altLang="en-US" dirty="0" smtClean="0"/>
                  <a:t>               </a:t>
                </a:r>
                <a14:m>
                  <m:oMath xmlns:m="http://schemas.openxmlformats.org/officeDocument/2006/math">
                    <m:r>
                      <a:rPr lang="ko-KR" altLang="en-US" i="1" smtClean="0">
                        <a:latin typeface="Cambria Math"/>
                      </a:rPr>
                      <m:t>𝜆</m:t>
                    </m:r>
                    <m:r>
                      <a:rPr lang="en-US" altLang="ko-KR" b="0" i="1" smtClean="0">
                        <a:latin typeface="Cambria Math"/>
                      </a:rPr>
                      <m:t>=</m:t>
                    </m:r>
                    <m:f>
                      <m:fPr>
                        <m:ctrlPr>
                          <a:rPr lang="en-US" altLang="ko-KR" b="0" i="1" smtClean="0">
                            <a:latin typeface="Cambria Math" panose="02040503050406030204" pitchFamily="18" charset="0"/>
                          </a:rPr>
                        </m:ctrlPr>
                      </m:fPr>
                      <m:num>
                        <m:r>
                          <a:rPr lang="en-US" altLang="ko-KR" b="0" i="1" smtClean="0">
                            <a:latin typeface="Cambria Math"/>
                          </a:rPr>
                          <m:t>𝑐</m:t>
                        </m:r>
                      </m:num>
                      <m:den>
                        <m:r>
                          <a:rPr lang="en-US" altLang="ko-KR" b="0" i="1" smtClean="0">
                            <a:latin typeface="Cambria Math"/>
                          </a:rPr>
                          <m:t>𝑓</m:t>
                        </m:r>
                      </m:den>
                    </m:f>
                    <m:r>
                      <a:rPr lang="en-US" altLang="ko-KR" b="0" i="1" smtClean="0">
                        <a:latin typeface="Cambria Math"/>
                      </a:rPr>
                      <m:t>,  </m:t>
                    </m:r>
                    <m:r>
                      <a:rPr lang="en-US" altLang="ko-KR" b="0" i="1" smtClean="0">
                        <a:latin typeface="Cambria Math"/>
                      </a:rPr>
                      <m:t>𝑐</m:t>
                    </m:r>
                    <m:r>
                      <a:rPr lang="en-US" altLang="ko-KR" b="0" i="1" smtClean="0">
                        <a:latin typeface="Cambria Math"/>
                      </a:rPr>
                      <m:t>=3×</m:t>
                    </m:r>
                    <m:sSup>
                      <m:sSupPr>
                        <m:ctrlPr>
                          <a:rPr lang="en-US" altLang="ko-KR" b="0" i="1" smtClean="0">
                            <a:latin typeface="Cambria Math" panose="02040503050406030204" pitchFamily="18" charset="0"/>
                            <a:ea typeface="Cambria Math"/>
                          </a:rPr>
                        </m:ctrlPr>
                      </m:sSupPr>
                      <m:e>
                        <m:r>
                          <a:rPr lang="en-US" altLang="ko-KR" b="0" i="1" smtClean="0">
                            <a:latin typeface="Cambria Math"/>
                            <a:ea typeface="Cambria Math"/>
                          </a:rPr>
                          <m:t>10</m:t>
                        </m:r>
                      </m:e>
                      <m:sup>
                        <m:r>
                          <a:rPr lang="en-US" altLang="ko-KR" b="0" i="1" smtClean="0">
                            <a:latin typeface="Cambria Math"/>
                            <a:ea typeface="Cambria Math"/>
                          </a:rPr>
                          <m:t>8</m:t>
                        </m:r>
                      </m:sup>
                    </m:sSup>
                    <m:r>
                      <a:rPr lang="en-US" altLang="ko-KR" b="0" i="1" smtClean="0">
                        <a:latin typeface="Cambria Math"/>
                        <a:ea typeface="Cambria Math"/>
                      </a:rPr>
                      <m:t>𝑚</m:t>
                    </m:r>
                    <m:r>
                      <a:rPr lang="en-US" altLang="ko-KR" b="0" i="1" smtClean="0">
                        <a:latin typeface="Cambria Math"/>
                        <a:ea typeface="Cambria Math"/>
                      </a:rPr>
                      <m:t>/</m:t>
                    </m:r>
                    <m:r>
                      <a:rPr lang="en-US" altLang="ko-KR" b="0" i="1" smtClean="0">
                        <a:latin typeface="Cambria Math"/>
                        <a:ea typeface="Cambria Math"/>
                      </a:rPr>
                      <m:t>𝑠</m:t>
                    </m:r>
                  </m:oMath>
                </a14:m>
                <a:endParaRPr lang="en-US" altLang="ko-KR" dirty="0" smtClean="0">
                  <a:latin typeface="+mj-lt"/>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pPr>
                <a:r>
                  <a:rPr lang="en-US" altLang="ko-KR" b="1" i="1" dirty="0" smtClean="0">
                    <a:solidFill>
                      <a:srgbClr val="C00000"/>
                    </a:solidFill>
                    <a:latin typeface="Times New Roman" pitchFamily="18" charset="0"/>
                    <a:cs typeface="Times New Roman" pitchFamily="18" charset="0"/>
                  </a:rPr>
                  <a:t>Fig. 3.7</a:t>
                </a:r>
                <a:r>
                  <a:rPr lang="en-US" altLang="ko-KR" dirty="0" smtClean="0">
                    <a:solidFill>
                      <a:srgbClr val="FF0000"/>
                    </a:solidFill>
                    <a:latin typeface="Times New Roman" pitchFamily="18" charset="0"/>
                    <a:cs typeface="Times New Roman" pitchFamily="18" charset="0"/>
                  </a:rPr>
                  <a:t>  </a:t>
                </a:r>
                <a:r>
                  <a:rPr lang="en-US" altLang="ko-KR" dirty="0">
                    <a:latin typeface="Times New Roman" pitchFamily="18" charset="0"/>
                    <a:cs typeface="Times New Roman" pitchFamily="18" charset="0"/>
                  </a:rPr>
                  <a:t>Wavelength and </a:t>
                </a:r>
                <a:r>
                  <a:rPr lang="en-US" altLang="ko-KR" dirty="0" smtClean="0">
                    <a:latin typeface="Times New Roman" pitchFamily="18" charset="0"/>
                    <a:cs typeface="Times New Roman" pitchFamily="18" charset="0"/>
                  </a:rPr>
                  <a:t>period</a:t>
                </a:r>
                <a:endParaRPr lang="en-US" altLang="ko-KR" dirty="0" smtClean="0">
                  <a:latin typeface="Times New Roman" pitchFamily="18" charset="0"/>
                </a:endParaRPr>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68300" y="599768"/>
                <a:ext cx="8429625" cy="6046838"/>
              </a:xfrm>
              <a:blipFill rotWithShape="1">
                <a:blip r:embed="rId3"/>
                <a:stretch>
                  <a:fillRect l="-1446" b="-504"/>
                </a:stretch>
              </a:blipFill>
            </p:spPr>
            <p:txBody>
              <a:bodyPr/>
              <a:lstStyle/>
              <a:p>
                <a:r>
                  <a:rPr lang="ko-KR" altLang="en-US">
                    <a:noFill/>
                  </a:rPr>
                  <a:t> </a:t>
                </a:r>
              </a:p>
            </p:txBody>
          </p:sp>
        </mc:Fallback>
      </mc:AlternateContent>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2319" y="3890807"/>
            <a:ext cx="5564045" cy="508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1651" y="5130535"/>
            <a:ext cx="5564046" cy="521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1363" y="4379879"/>
            <a:ext cx="1077083" cy="681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3898038"/>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3.2.4 </a:t>
            </a:r>
            <a:r>
              <a:rPr lang="en-US" altLang="ko-KR" sz="2400" dirty="0">
                <a:latin typeface="Times New Roman" pitchFamily="18" charset="0"/>
              </a:rPr>
              <a:t>Time and Frequency Domains</a:t>
            </a:r>
            <a:endParaRPr lang="en-US" altLang="ko-KR" sz="240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3.2.4</a:t>
            </a:r>
            <a:r>
              <a:rPr lang="en-US" altLang="ko-KR" sz="2800" b="1" i="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ko-KR" sz="2800" b="1" i="1" dirty="0">
                <a:solidFill>
                  <a:srgbClr val="C00000"/>
                </a:solidFill>
                <a:latin typeface="Times New Roman" pitchFamily="18" charset="0"/>
              </a:rPr>
              <a:t>Time and Frequency </a:t>
            </a:r>
            <a:r>
              <a:rPr lang="en-US" altLang="ko-KR" sz="2800" b="1" i="1" dirty="0" smtClean="0">
                <a:solidFill>
                  <a:srgbClr val="C00000"/>
                </a:solidFill>
                <a:latin typeface="Times New Roman" pitchFamily="18" charset="0"/>
              </a:rPr>
              <a:t>Domains</a:t>
            </a:r>
            <a:endParaRPr lang="en-US" altLang="ko-KR" sz="2800"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r>
              <a:rPr lang="en-US" altLang="ko-KR" sz="2000" i="1" dirty="0" smtClean="0">
                <a:solidFill>
                  <a:srgbClr val="C00000"/>
                </a:solidFill>
                <a:latin typeface="+mj-lt"/>
                <a:cs typeface="Times New Roman" pitchFamily="18" charset="0"/>
              </a:rPr>
              <a:t>Fig. 3.8</a:t>
            </a:r>
            <a:r>
              <a:rPr lang="en-US" altLang="ko-KR" sz="2000" dirty="0" smtClean="0">
                <a:solidFill>
                  <a:srgbClr val="FF0000"/>
                </a:solidFill>
                <a:latin typeface="+mj-lt"/>
                <a:cs typeface="Times New Roman" pitchFamily="18" charset="0"/>
              </a:rPr>
              <a:t>  </a:t>
            </a:r>
            <a:r>
              <a:rPr lang="en-US" altLang="ko-KR" sz="2000" dirty="0">
                <a:latin typeface="+mj-lt"/>
              </a:rPr>
              <a:t>The time-domain and frequency-domain plots of a sine </a:t>
            </a:r>
            <a:r>
              <a:rPr lang="en-US" altLang="ko-KR" sz="2000" dirty="0" smtClean="0">
                <a:latin typeface="+mj-lt"/>
              </a:rPr>
              <a:t>wave</a:t>
            </a:r>
            <a:endParaRPr lang="en-US" altLang="ko-KR" dirty="0" smtClean="0">
              <a:latin typeface="Times New Roman" pitchFamily="18" charset="0"/>
            </a:endParaRP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0" y="2271251"/>
            <a:ext cx="4160838"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8290" y="2316265"/>
            <a:ext cx="37846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3279595"/>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effectLst>
                  <a:outerShdw blurRad="38100" dist="38100" dir="2700000" algn="tl">
                    <a:srgbClr val="000000">
                      <a:alpha val="43137"/>
                    </a:srgbClr>
                  </a:outerShdw>
                </a:effectLst>
                <a:latin typeface="Times New Roman" pitchFamily="18" charset="0"/>
                <a:cs typeface="Times New Roman" pitchFamily="18" charset="0"/>
              </a:rPr>
              <a:t>3.2.4 </a:t>
            </a:r>
            <a:r>
              <a:rPr lang="en-US" altLang="ko-KR" sz="2400" dirty="0">
                <a:latin typeface="Times New Roman" pitchFamily="18" charset="0"/>
              </a:rPr>
              <a:t>Time and Frequency Domains</a:t>
            </a:r>
            <a:endParaRPr lang="en-US" altLang="ko-KR" sz="240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Ex. 3.7</a:t>
            </a:r>
          </a:p>
          <a:p>
            <a:pPr marL="342900" lvl="2" indent="-342900">
              <a:lnSpc>
                <a:spcPct val="150000"/>
              </a:lnSpc>
              <a:buFontTx/>
              <a:buNone/>
              <a:defRPr/>
            </a:pPr>
            <a:endParaRPr lang="en-US" altLang="ko-KR" sz="2800"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pPr>
            <a:endParaRPr lang="en-US" altLang="ko-KR" sz="2000" i="1" dirty="0" smtClean="0">
              <a:solidFill>
                <a:srgbClr val="C00000"/>
              </a:solidFill>
              <a:latin typeface="+mj-lt"/>
              <a:cs typeface="Times New Roman" pitchFamily="18" charset="0"/>
            </a:endParaRPr>
          </a:p>
          <a:p>
            <a:pPr marL="0" indent="0" algn="ctr">
              <a:buNone/>
            </a:pPr>
            <a:r>
              <a:rPr lang="en-US" altLang="ko-KR" sz="2000" i="1" dirty="0" smtClean="0">
                <a:solidFill>
                  <a:srgbClr val="C00000"/>
                </a:solidFill>
                <a:latin typeface="+mj-lt"/>
                <a:cs typeface="Times New Roman" pitchFamily="18" charset="0"/>
              </a:rPr>
              <a:t>Fig. 3.9</a:t>
            </a:r>
            <a:r>
              <a:rPr lang="en-US" altLang="ko-KR" sz="2000" dirty="0" smtClean="0">
                <a:solidFill>
                  <a:srgbClr val="FF0000"/>
                </a:solidFill>
                <a:latin typeface="+mj-lt"/>
                <a:cs typeface="Times New Roman" pitchFamily="18" charset="0"/>
              </a:rPr>
              <a:t>  </a:t>
            </a:r>
            <a:r>
              <a:rPr lang="en-US" altLang="ko-KR" sz="2000" dirty="0">
                <a:latin typeface="Times New Roman" pitchFamily="18" charset="0"/>
                <a:cs typeface="Times New Roman" pitchFamily="18" charset="0"/>
              </a:rPr>
              <a:t>The time domain and frequency domain of three sine </a:t>
            </a:r>
            <a:r>
              <a:rPr lang="en-US" altLang="ko-KR" sz="2000" dirty="0" smtClean="0">
                <a:latin typeface="Times New Roman" pitchFamily="18" charset="0"/>
                <a:cs typeface="Times New Roman" pitchFamily="18" charset="0"/>
              </a:rPr>
              <a:t>waves</a:t>
            </a:r>
            <a:endParaRPr lang="en-US" altLang="ko-KR" dirty="0" smtClean="0">
              <a:latin typeface="Times New Roman" pitchFamily="18"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550" y="2369559"/>
            <a:ext cx="4451350" cy="239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004" y="2448235"/>
            <a:ext cx="3305175"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7880363"/>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latin typeface="Times New Roman" pitchFamily="18" charset="0"/>
              </a:rPr>
              <a:t>3.2.5  Composite Signals</a:t>
            </a: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None/>
              <a:defRPr/>
            </a:pPr>
            <a:r>
              <a:rPr lang="en-US" altLang="ko-KR" sz="2800" b="1" dirty="0">
                <a:solidFill>
                  <a:srgbClr val="C00000"/>
                </a:solidFill>
                <a:latin typeface="Times New Roman" pitchFamily="18" charset="0"/>
              </a:rPr>
              <a:t>3.2.5  Composite Signals</a:t>
            </a:r>
          </a:p>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Ex. 3.8</a:t>
            </a: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pPr>
            <a:r>
              <a:rPr lang="en-US" altLang="ko-KR" sz="2000" i="1" dirty="0" smtClean="0">
                <a:solidFill>
                  <a:srgbClr val="C00000"/>
                </a:solidFill>
                <a:latin typeface="+mj-lt"/>
                <a:cs typeface="Times New Roman" pitchFamily="18" charset="0"/>
              </a:rPr>
              <a:t>Fig. 3.10</a:t>
            </a:r>
            <a:r>
              <a:rPr lang="en-US" altLang="ko-KR" sz="2000" dirty="0" smtClean="0">
                <a:solidFill>
                  <a:srgbClr val="FF0000"/>
                </a:solidFill>
                <a:latin typeface="+mj-lt"/>
                <a:cs typeface="Times New Roman" pitchFamily="18" charset="0"/>
              </a:rPr>
              <a:t>  </a:t>
            </a:r>
            <a:r>
              <a:rPr lang="en-US" altLang="ko-KR" sz="2000" dirty="0">
                <a:latin typeface="Times New Roman" pitchFamily="18" charset="0"/>
                <a:cs typeface="Times New Roman" pitchFamily="18" charset="0"/>
              </a:rPr>
              <a:t>A composite periodic </a:t>
            </a:r>
            <a:r>
              <a:rPr lang="en-US" altLang="ko-KR" sz="2000" dirty="0" smtClean="0">
                <a:latin typeface="Times New Roman" pitchFamily="18" charset="0"/>
                <a:cs typeface="Times New Roman" pitchFamily="18" charset="0"/>
              </a:rPr>
              <a:t>signal</a:t>
            </a: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r>
              <a:rPr lang="en-US" altLang="ko-KR" sz="2000" i="1" dirty="0" smtClean="0">
                <a:solidFill>
                  <a:srgbClr val="C00000"/>
                </a:solidFill>
                <a:latin typeface="+mj-lt"/>
                <a:cs typeface="Times New Roman" pitchFamily="18" charset="0"/>
              </a:rPr>
              <a:t>Fig. 3.11</a:t>
            </a:r>
            <a:r>
              <a:rPr lang="en-US" altLang="ko-KR" sz="2000" dirty="0" smtClean="0">
                <a:solidFill>
                  <a:srgbClr val="FF0000"/>
                </a:solidFill>
                <a:latin typeface="+mj-lt"/>
                <a:cs typeface="Times New Roman" pitchFamily="18" charset="0"/>
              </a:rPr>
              <a:t>  </a:t>
            </a:r>
            <a:r>
              <a:rPr lang="en-US" altLang="ko-KR" sz="2000" dirty="0" smtClean="0">
                <a:latin typeface="+mj-lt"/>
              </a:rPr>
              <a:t>Decomposition of a composite periodic signal</a:t>
            </a:r>
            <a:endParaRPr lang="en-US" altLang="ko-KR" dirty="0" smtClean="0">
              <a:latin typeface="Times New Roman" pitchFamily="18" charset="0"/>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2258" y="1488432"/>
            <a:ext cx="4576914" cy="1318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1522" y="3490394"/>
            <a:ext cx="5195960" cy="1253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1788" y="3858844"/>
            <a:ext cx="3990614" cy="93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190" y="4165535"/>
            <a:ext cx="3976208" cy="32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1884" y="4244664"/>
            <a:ext cx="3981021" cy="129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5951" y="4867213"/>
            <a:ext cx="5014891" cy="1288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7476409"/>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latin typeface="Times New Roman" pitchFamily="18" charset="0"/>
              </a:rPr>
              <a:t>3.2.5  Composite Signals</a:t>
            </a: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Ex</a:t>
            </a:r>
            <a:r>
              <a:rPr lang="en-US" altLang="ko-KR" sz="2800" b="1" i="1" dirty="0" smtClean="0">
                <a:solidFill>
                  <a:srgbClr val="C00000"/>
                </a:solidFill>
                <a:latin typeface="Times New Roman" pitchFamily="18" charset="0"/>
                <a:cs typeface="Times New Roman" pitchFamily="18" charset="0"/>
              </a:rPr>
              <a:t>. </a:t>
            </a: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p:txBody>
      </p:sp>
      <p:pic>
        <p:nvPicPr>
          <p:cNvPr id="2" name="그림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5424" y="914400"/>
            <a:ext cx="6596063" cy="5276850"/>
          </a:xfrm>
          <a:prstGeom prst="rect">
            <a:avLst/>
          </a:prstGeom>
        </p:spPr>
      </p:pic>
    </p:spTree>
    <p:extLst>
      <p:ext uri="{BB962C8B-B14F-4D97-AF65-F5344CB8AC3E}">
        <p14:creationId xmlns:p14="http://schemas.microsoft.com/office/powerpoint/2010/main" val="1605950428"/>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a:latin typeface="Times New Roman" pitchFamily="18" charset="0"/>
              </a:rPr>
              <a:t>3.2.5  Composite Signals</a:t>
            </a:r>
          </a:p>
        </p:txBody>
      </p:sp>
      <p:sp>
        <p:nvSpPr>
          <p:cNvPr id="20483" name="내용 개체 틀 2"/>
          <p:cNvSpPr>
            <a:spLocks noGrp="1"/>
          </p:cNvSpPr>
          <p:nvPr>
            <p:ph idx="1"/>
          </p:nvPr>
        </p:nvSpPr>
        <p:spPr>
          <a:xfrm>
            <a:off x="368300" y="599768"/>
            <a:ext cx="8429625" cy="5889522"/>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Ex. 3.9</a:t>
            </a:r>
          </a:p>
          <a:p>
            <a:pPr marL="0" indent="0" algn="ctr">
              <a:buNone/>
              <a:defRPr/>
            </a:pPr>
            <a:endParaRPr lang="en-US" altLang="ko-KR" b="1" i="1" dirty="0" smtClean="0">
              <a:solidFill>
                <a:srgbClr val="C00000"/>
              </a:solidFill>
              <a:latin typeface="Times New Roman" pitchFamily="18" charset="0"/>
              <a:cs typeface="Times New Roman" pitchFamily="18" charset="0"/>
            </a:endParaRPr>
          </a:p>
          <a:p>
            <a:pPr marL="0" indent="0" algn="ctr">
              <a:buNone/>
              <a:defRPr/>
            </a:pPr>
            <a:endParaRPr lang="en-US" altLang="ko-KR" b="1" i="1" dirty="0">
              <a:solidFill>
                <a:srgbClr val="C00000"/>
              </a:solidFill>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endParaRPr lang="en-US" altLang="ko-KR" sz="2000" dirty="0">
              <a:latin typeface="Times New Roman" pitchFamily="18" charset="0"/>
              <a:cs typeface="Times New Roman" pitchFamily="18" charset="0"/>
            </a:endParaRPr>
          </a:p>
          <a:p>
            <a:pPr marL="0" indent="0" algn="ctr">
              <a:buNone/>
            </a:pPr>
            <a:endParaRPr lang="en-US" altLang="ko-KR" sz="2000" dirty="0" smtClean="0">
              <a:latin typeface="Times New Roman" pitchFamily="18" charset="0"/>
              <a:cs typeface="Times New Roman" pitchFamily="18" charset="0"/>
            </a:endParaRPr>
          </a:p>
          <a:p>
            <a:pPr marL="0" indent="0" algn="ctr">
              <a:buNone/>
            </a:pPr>
            <a:r>
              <a:rPr lang="en-US" altLang="ko-KR" sz="2000" i="1" dirty="0" smtClean="0">
                <a:solidFill>
                  <a:srgbClr val="C00000"/>
                </a:solidFill>
                <a:latin typeface="+mj-lt"/>
                <a:cs typeface="Times New Roman" pitchFamily="18" charset="0"/>
              </a:rPr>
              <a:t>Fig</a:t>
            </a:r>
            <a:r>
              <a:rPr lang="en-US" altLang="ko-KR" sz="2000" i="1" dirty="0">
                <a:solidFill>
                  <a:srgbClr val="C00000"/>
                </a:solidFill>
                <a:latin typeface="+mj-lt"/>
                <a:cs typeface="Times New Roman" pitchFamily="18" charset="0"/>
              </a:rPr>
              <a:t>. </a:t>
            </a:r>
            <a:r>
              <a:rPr lang="en-US" altLang="ko-KR" sz="2000" i="1" dirty="0" smtClean="0">
                <a:solidFill>
                  <a:srgbClr val="C00000"/>
                </a:solidFill>
                <a:latin typeface="+mj-lt"/>
                <a:cs typeface="Times New Roman" pitchFamily="18" charset="0"/>
              </a:rPr>
              <a:t>3.12</a:t>
            </a:r>
            <a:r>
              <a:rPr lang="en-US" altLang="ko-KR" sz="2000" dirty="0" smtClean="0">
                <a:solidFill>
                  <a:srgbClr val="FF0000"/>
                </a:solidFill>
                <a:latin typeface="+mj-lt"/>
                <a:cs typeface="Times New Roman" pitchFamily="18" charset="0"/>
              </a:rPr>
              <a:t>  </a:t>
            </a:r>
            <a:r>
              <a:rPr lang="en-US" altLang="ko-KR" sz="2000" dirty="0">
                <a:latin typeface="Times New Roman" pitchFamily="18" charset="0"/>
                <a:cs typeface="Times New Roman" pitchFamily="18" charset="0"/>
              </a:rPr>
              <a:t>Time and frequency domain of a non-periodic </a:t>
            </a:r>
            <a:r>
              <a:rPr lang="en-US" altLang="ko-KR" sz="2000" dirty="0" smtClean="0">
                <a:latin typeface="Times New Roman" pitchFamily="18" charset="0"/>
                <a:cs typeface="Times New Roman" pitchFamily="18" charset="0"/>
              </a:rPr>
              <a:t>signal</a:t>
            </a:r>
            <a:endParaRPr lang="en-US" altLang="ko-KR" dirty="0" smtClean="0">
              <a:latin typeface="Times New Roman" pitchFamily="18" charset="0"/>
            </a:endParaRPr>
          </a:p>
        </p:txBody>
      </p:sp>
      <p:pic>
        <p:nvPicPr>
          <p:cNvPr id="1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268" y="2049512"/>
            <a:ext cx="3723906" cy="2626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832" y="2049512"/>
            <a:ext cx="4439280" cy="2699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763229"/>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3.2.6  Bandwidth</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a:solidFill>
                  <a:srgbClr val="C00000"/>
                </a:solidFill>
                <a:latin typeface="Times New Roman" pitchFamily="18" charset="0"/>
                <a:cs typeface="Times New Roman" pitchFamily="18" charset="0"/>
              </a:rPr>
              <a:t>3.2.6  Bandwidth</a:t>
            </a:r>
          </a:p>
          <a:p>
            <a:pPr algn="just">
              <a:defRPr/>
            </a:pPr>
            <a:r>
              <a:rPr lang="en-US" altLang="ko-KR" dirty="0" smtClean="0">
                <a:latin typeface="Times New Roman" pitchFamily="18" charset="0"/>
              </a:rPr>
              <a:t>The </a:t>
            </a:r>
            <a:r>
              <a:rPr lang="en-US" altLang="ko-KR" dirty="0">
                <a:latin typeface="Times New Roman" pitchFamily="18" charset="0"/>
              </a:rPr>
              <a:t>range of frequencies contained in a composite </a:t>
            </a:r>
            <a:r>
              <a:rPr lang="en-US" altLang="ko-KR" dirty="0" smtClean="0">
                <a:latin typeface="Times New Roman" pitchFamily="18" charset="0"/>
              </a:rPr>
              <a:t>signal is its </a:t>
            </a:r>
            <a:r>
              <a:rPr lang="en-US" altLang="ko-KR" b="1" i="1" dirty="0" smtClean="0">
                <a:solidFill>
                  <a:srgbClr val="C00000"/>
                </a:solidFill>
                <a:latin typeface="Times New Roman" pitchFamily="18" charset="0"/>
              </a:rPr>
              <a:t>bandwidth</a:t>
            </a:r>
            <a:r>
              <a:rPr lang="en-US" altLang="ko-KR" dirty="0" smtClean="0">
                <a:latin typeface="+mj-lt"/>
              </a:rPr>
              <a:t>.</a:t>
            </a: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marL="0" indent="0">
              <a:buNone/>
            </a:pPr>
            <a:r>
              <a:rPr lang="en-US" altLang="ko-KR" b="1" i="1" dirty="0" smtClean="0">
                <a:solidFill>
                  <a:srgbClr val="C00000"/>
                </a:solidFill>
                <a:latin typeface="Times New Roman" pitchFamily="18" charset="0"/>
                <a:cs typeface="Times New Roman" pitchFamily="18" charset="0"/>
              </a:rPr>
              <a:t>    Fig. 3.13</a:t>
            </a:r>
            <a:r>
              <a:rPr lang="en-US" altLang="ko-KR" dirty="0" smtClean="0">
                <a:solidFill>
                  <a:srgbClr val="FF0000"/>
                </a:solidFill>
                <a:latin typeface="Times New Roman" pitchFamily="18" charset="0"/>
                <a:cs typeface="Times New Roman" pitchFamily="18" charset="0"/>
              </a:rPr>
              <a:t>  </a:t>
            </a:r>
            <a:r>
              <a:rPr lang="en-US" altLang="ko-KR" sz="2000" dirty="0">
                <a:latin typeface="Times New Roman" pitchFamily="18" charset="0"/>
                <a:cs typeface="Times New Roman" pitchFamily="18" charset="0"/>
              </a:rPr>
              <a:t>The bandwidth of periodic and nonperiodic </a:t>
            </a:r>
            <a:r>
              <a:rPr lang="en-US" altLang="ko-KR" sz="2000" dirty="0" smtClean="0">
                <a:latin typeface="Times New Roman" pitchFamily="18" charset="0"/>
                <a:cs typeface="Times New Roman" pitchFamily="18" charset="0"/>
              </a:rPr>
              <a:t>composite signals</a:t>
            </a:r>
            <a:endParaRPr lang="en-US" altLang="ko-KR" dirty="0" smtClean="0">
              <a:latin typeface="Times New Roman" pitchFamily="18" charset="0"/>
            </a:endParaRP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842" y="2808853"/>
            <a:ext cx="4361681" cy="2309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5149" y="2949678"/>
            <a:ext cx="4323360" cy="224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1840845"/>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3.2.6  Bandwidth</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Ex. 3.10</a:t>
            </a: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marL="0" indent="0" algn="ctr">
              <a:buNone/>
            </a:pPr>
            <a:r>
              <a:rPr lang="en-US" altLang="ko-KR" b="1" i="1" dirty="0" smtClean="0">
                <a:solidFill>
                  <a:srgbClr val="C00000"/>
                </a:solidFill>
                <a:latin typeface="Times New Roman" pitchFamily="18" charset="0"/>
                <a:cs typeface="Times New Roman" pitchFamily="18" charset="0"/>
              </a:rPr>
              <a:t>Fig. 3.14</a:t>
            </a:r>
            <a:r>
              <a:rPr lang="en-US" altLang="ko-KR" dirty="0" smtClean="0">
                <a:solidFill>
                  <a:srgbClr val="FF0000"/>
                </a:solidFill>
                <a:latin typeface="Times New Roman" pitchFamily="18" charset="0"/>
                <a:cs typeface="Times New Roman" pitchFamily="18" charset="0"/>
              </a:rPr>
              <a:t>  </a:t>
            </a:r>
            <a:r>
              <a:rPr lang="en-US" altLang="ko-KR" sz="2000" dirty="0">
                <a:latin typeface="Times New Roman" pitchFamily="18" charset="0"/>
                <a:cs typeface="Times New Roman" pitchFamily="18" charset="0"/>
              </a:rPr>
              <a:t>The bandwidth for example </a:t>
            </a:r>
            <a:r>
              <a:rPr lang="en-US" altLang="ko-KR" sz="2000" dirty="0" smtClean="0">
                <a:latin typeface="Times New Roman" pitchFamily="18" charset="0"/>
                <a:cs typeface="Times New Roman" pitchFamily="18" charset="0"/>
              </a:rPr>
              <a:t>3.10</a:t>
            </a:r>
            <a:endParaRPr lang="en-US" altLang="ko-KR" dirty="0" smtClean="0">
              <a:latin typeface="Times New Roman" pitchFamily="18" charset="0"/>
            </a:endParaRP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6687" y="1457939"/>
            <a:ext cx="4143375"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736" y="2652589"/>
            <a:ext cx="6925424" cy="1043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7702" y="3982452"/>
            <a:ext cx="3897458" cy="54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5559381"/>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3.2.6  Bandwidth</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Ex. 3.11</a:t>
            </a: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marL="0" indent="0" algn="ctr">
              <a:buNone/>
            </a:pPr>
            <a:r>
              <a:rPr lang="en-US" altLang="ko-KR" b="1" i="1" dirty="0" smtClean="0">
                <a:solidFill>
                  <a:srgbClr val="C00000"/>
                </a:solidFill>
                <a:latin typeface="Times New Roman" pitchFamily="18" charset="0"/>
                <a:cs typeface="Times New Roman" pitchFamily="18" charset="0"/>
              </a:rPr>
              <a:t>Fig. 3.15</a:t>
            </a:r>
            <a:r>
              <a:rPr lang="en-US" altLang="ko-KR" dirty="0" smtClean="0">
                <a:solidFill>
                  <a:srgbClr val="FF0000"/>
                </a:solidFill>
                <a:latin typeface="Times New Roman" pitchFamily="18" charset="0"/>
                <a:cs typeface="Times New Roman" pitchFamily="18" charset="0"/>
              </a:rPr>
              <a:t>  </a:t>
            </a:r>
            <a:r>
              <a:rPr lang="en-US" altLang="ko-KR" sz="2000" dirty="0">
                <a:latin typeface="Times New Roman" pitchFamily="18" charset="0"/>
                <a:cs typeface="Times New Roman" pitchFamily="18" charset="0"/>
              </a:rPr>
              <a:t>The bandwidth for example </a:t>
            </a:r>
            <a:r>
              <a:rPr lang="en-US" altLang="ko-KR" sz="2000" dirty="0" smtClean="0">
                <a:latin typeface="Times New Roman" pitchFamily="18" charset="0"/>
                <a:cs typeface="Times New Roman" pitchFamily="18" charset="0"/>
              </a:rPr>
              <a:t>3.11</a:t>
            </a:r>
            <a:endParaRPr lang="en-US" altLang="ko-KR" dirty="0" smtClean="0">
              <a:latin typeface="Times New Roman" pitchFamily="18" charset="0"/>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853" y="1455484"/>
            <a:ext cx="735330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041" y="2713703"/>
            <a:ext cx="7163782" cy="1095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8888" y="3752583"/>
            <a:ext cx="4892019" cy="418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7716817"/>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3.2.6  Bandwidth</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Ex. 3.12</a:t>
            </a: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algn="just">
              <a:defRPr/>
            </a:pPr>
            <a:endParaRPr lang="en-US" altLang="ko-KR" b="1" i="1" dirty="0" smtClean="0">
              <a:solidFill>
                <a:srgbClr val="C00000"/>
              </a:solidFill>
              <a:latin typeface="Times New Roman" pitchFamily="18" charset="0"/>
              <a:cs typeface="Times New Roman" pitchFamily="18" charset="0"/>
            </a:endParaRPr>
          </a:p>
          <a:p>
            <a:pPr algn="just">
              <a:defRPr/>
            </a:pPr>
            <a:endParaRPr lang="en-US" altLang="ko-KR" b="1" i="1" dirty="0">
              <a:solidFill>
                <a:srgbClr val="C00000"/>
              </a:solidFill>
              <a:latin typeface="Times New Roman" pitchFamily="18" charset="0"/>
              <a:cs typeface="Times New Roman" pitchFamily="18" charset="0"/>
            </a:endParaRPr>
          </a:p>
          <a:p>
            <a:pPr marL="0" indent="0" algn="ctr">
              <a:buNone/>
            </a:pPr>
            <a:r>
              <a:rPr lang="en-US" altLang="ko-KR" b="1" i="1" dirty="0" smtClean="0">
                <a:solidFill>
                  <a:srgbClr val="C00000"/>
                </a:solidFill>
                <a:latin typeface="Times New Roman" pitchFamily="18" charset="0"/>
                <a:cs typeface="Times New Roman" pitchFamily="18" charset="0"/>
              </a:rPr>
              <a:t>Fig. 3.15</a:t>
            </a:r>
            <a:r>
              <a:rPr lang="en-US" altLang="ko-KR" dirty="0" smtClean="0">
                <a:solidFill>
                  <a:srgbClr val="FF0000"/>
                </a:solidFill>
                <a:latin typeface="Times New Roman" pitchFamily="18" charset="0"/>
                <a:cs typeface="Times New Roman" pitchFamily="18" charset="0"/>
              </a:rPr>
              <a:t>  </a:t>
            </a:r>
            <a:r>
              <a:rPr lang="en-US" altLang="ko-KR" sz="2000" dirty="0">
                <a:latin typeface="Times New Roman" pitchFamily="18" charset="0"/>
                <a:cs typeface="Times New Roman" pitchFamily="18" charset="0"/>
              </a:rPr>
              <a:t>The bandwidth for example </a:t>
            </a:r>
            <a:r>
              <a:rPr lang="en-US" altLang="ko-KR" sz="2000" dirty="0" smtClean="0">
                <a:latin typeface="Times New Roman" pitchFamily="18" charset="0"/>
                <a:cs typeface="Times New Roman" pitchFamily="18" charset="0"/>
              </a:rPr>
              <a:t>3.12</a:t>
            </a:r>
            <a:endParaRPr lang="en-US" altLang="ko-KR" sz="2000" dirty="0">
              <a:latin typeface="Times New Roman" pitchFamily="18" charset="0"/>
              <a:cs typeface="Times New Roman" pitchFamily="18" charset="0"/>
            </a:endParaRPr>
          </a:p>
          <a:p>
            <a:pPr algn="just">
              <a:defRPr/>
            </a:pPr>
            <a:endParaRPr lang="en-US" altLang="ko-KR" dirty="0" smtClean="0">
              <a:latin typeface="Times New Roman" pitchFamily="18" charset="0"/>
            </a:endParaRPr>
          </a:p>
          <a:p>
            <a:pPr marL="0" lvl="2" indent="0" algn="just">
              <a:buNone/>
              <a:defRPr/>
            </a:pPr>
            <a:r>
              <a:rPr lang="en-US" altLang="ko-KR" sz="2800" b="1" i="1" dirty="0">
                <a:solidFill>
                  <a:srgbClr val="C00000"/>
                </a:solidFill>
                <a:latin typeface="Times New Roman" pitchFamily="18" charset="0"/>
                <a:cs typeface="Times New Roman" pitchFamily="18" charset="0"/>
              </a:rPr>
              <a:t>Ex. </a:t>
            </a:r>
            <a:r>
              <a:rPr lang="en-US" altLang="ko-KR" sz="2800" b="1" i="1" dirty="0" smtClean="0">
                <a:solidFill>
                  <a:srgbClr val="C00000"/>
                </a:solidFill>
                <a:latin typeface="Times New Roman" pitchFamily="18" charset="0"/>
                <a:cs typeface="Times New Roman" pitchFamily="18" charset="0"/>
              </a:rPr>
              <a:t>3.13 </a:t>
            </a:r>
            <a:r>
              <a:rPr lang="en-US" altLang="ko-KR" sz="2800" i="1" dirty="0" smtClean="0">
                <a:latin typeface="Times New Roman" pitchFamily="18" charset="0"/>
                <a:cs typeface="Times New Roman" pitchFamily="18" charset="0"/>
              </a:rPr>
              <a:t>AM</a:t>
            </a:r>
            <a:endParaRPr lang="en-US" altLang="ko-KR" sz="2800" i="1" dirty="0">
              <a:latin typeface="Times New Roman" pitchFamily="18" charset="0"/>
              <a:cs typeface="Times New Roman" pitchFamily="18" charset="0"/>
            </a:endParaRPr>
          </a:p>
          <a:p>
            <a:pPr marL="0" lvl="2" indent="0" algn="just">
              <a:buNone/>
              <a:defRPr/>
            </a:pPr>
            <a:r>
              <a:rPr lang="en-US" altLang="ko-KR" sz="2800" b="1" i="1" dirty="0">
                <a:solidFill>
                  <a:srgbClr val="C00000"/>
                </a:solidFill>
                <a:latin typeface="Times New Roman" pitchFamily="18" charset="0"/>
                <a:cs typeface="Times New Roman" pitchFamily="18" charset="0"/>
              </a:rPr>
              <a:t>Ex. </a:t>
            </a:r>
            <a:r>
              <a:rPr lang="en-US" altLang="ko-KR" sz="2800" b="1" i="1" dirty="0" smtClean="0">
                <a:solidFill>
                  <a:srgbClr val="C00000"/>
                </a:solidFill>
                <a:latin typeface="Times New Roman" pitchFamily="18" charset="0"/>
                <a:cs typeface="Times New Roman" pitchFamily="18" charset="0"/>
              </a:rPr>
              <a:t>3.14 </a:t>
            </a:r>
            <a:r>
              <a:rPr lang="en-US" altLang="ko-KR" sz="2800" i="1" dirty="0" smtClean="0">
                <a:latin typeface="Times New Roman" pitchFamily="18" charset="0"/>
                <a:cs typeface="Times New Roman" pitchFamily="18" charset="0"/>
              </a:rPr>
              <a:t>FM</a:t>
            </a:r>
            <a:endParaRPr lang="en-US" altLang="ko-KR" sz="2800" i="1" dirty="0">
              <a:latin typeface="Times New Roman" pitchFamily="18" charset="0"/>
              <a:cs typeface="Times New Roman" pitchFamily="18" charset="0"/>
            </a:endParaRPr>
          </a:p>
          <a:p>
            <a:pPr marL="0" lvl="2" indent="0" algn="just">
              <a:buNone/>
              <a:defRPr/>
            </a:pPr>
            <a:r>
              <a:rPr lang="en-US" altLang="ko-KR" sz="2800" b="1" i="1" dirty="0">
                <a:solidFill>
                  <a:srgbClr val="C00000"/>
                </a:solidFill>
                <a:latin typeface="Times New Roman" pitchFamily="18" charset="0"/>
                <a:cs typeface="Times New Roman" pitchFamily="18" charset="0"/>
              </a:rPr>
              <a:t>Ex. </a:t>
            </a:r>
            <a:r>
              <a:rPr lang="en-US" altLang="ko-KR" sz="2800" b="1" i="1" dirty="0" smtClean="0">
                <a:solidFill>
                  <a:srgbClr val="C00000"/>
                </a:solidFill>
                <a:latin typeface="Times New Roman" pitchFamily="18" charset="0"/>
                <a:cs typeface="Times New Roman" pitchFamily="18" charset="0"/>
              </a:rPr>
              <a:t>3.15 </a:t>
            </a:r>
            <a:r>
              <a:rPr lang="en-US" altLang="ko-KR" sz="2800" i="1" dirty="0" smtClean="0">
                <a:latin typeface="Times New Roman" pitchFamily="18" charset="0"/>
                <a:cs typeface="Times New Roman" pitchFamily="18" charset="0"/>
              </a:rPr>
              <a:t>TV</a:t>
            </a:r>
            <a:endParaRPr lang="en-US" altLang="ko-KR" dirty="0" smtClean="0">
              <a:latin typeface="Times New Roman" pitchFamily="18" charset="0"/>
            </a:endParaRP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265" y="1301682"/>
            <a:ext cx="7758068" cy="1721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1725144"/>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3.3  Digital Signals</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3.3 </a:t>
            </a:r>
            <a:r>
              <a:rPr lang="en-US" altLang="ko-KR" sz="2800" b="1" dirty="0" smtClean="0">
                <a:solidFill>
                  <a:srgbClr val="C00000"/>
                </a:solidFill>
                <a:latin typeface="Times New Roman" pitchFamily="18" charset="0"/>
                <a:cs typeface="Times New Roman" pitchFamily="18" charset="0"/>
              </a:rPr>
              <a:t>Digital Signals</a:t>
            </a:r>
          </a:p>
          <a:p>
            <a:pPr marL="0" indent="0" algn="just">
              <a:buNone/>
              <a:defRPr/>
            </a:pPr>
            <a:endParaRPr lang="en-US" altLang="ko-KR" dirty="0" smtClean="0">
              <a:latin typeface="+mj-lt"/>
            </a:endParaRP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buNone/>
            </a:pPr>
            <a:r>
              <a:rPr lang="en-US" altLang="ko-KR" b="1" i="1" dirty="0" smtClean="0">
                <a:solidFill>
                  <a:srgbClr val="C00000"/>
                </a:solidFill>
                <a:latin typeface="+mj-lt"/>
              </a:rPr>
              <a:t>Fig. 3.17  </a:t>
            </a:r>
            <a:r>
              <a:rPr lang="en-US" altLang="ko-KR" dirty="0" smtClean="0">
                <a:latin typeface="Times New Roman" pitchFamily="18" charset="0"/>
                <a:cs typeface="Times New Roman" pitchFamily="18" charset="0"/>
              </a:rPr>
              <a:t>Two </a:t>
            </a:r>
            <a:r>
              <a:rPr lang="en-US" altLang="ko-KR" dirty="0">
                <a:latin typeface="Times New Roman" pitchFamily="18" charset="0"/>
                <a:cs typeface="Times New Roman" pitchFamily="18" charset="0"/>
              </a:rPr>
              <a:t>digital signals: one with two signal levels and </a:t>
            </a:r>
            <a:r>
              <a:rPr lang="en-US" altLang="ko-KR" dirty="0" smtClean="0">
                <a:latin typeface="Times New Roman" pitchFamily="18" charset="0"/>
                <a:cs typeface="Times New Roman" pitchFamily="18" charset="0"/>
              </a:rPr>
              <a:t>the</a:t>
            </a:r>
            <a:br>
              <a:rPr lang="en-US" altLang="ko-KR" dirty="0" smtClean="0">
                <a:latin typeface="Times New Roman" pitchFamily="18" charset="0"/>
                <a:cs typeface="Times New Roman" pitchFamily="18" charset="0"/>
              </a:rPr>
            </a:br>
            <a:r>
              <a:rPr lang="en-US" altLang="ko-KR" dirty="0" smtClean="0">
                <a:latin typeface="Times New Roman" pitchFamily="18" charset="0"/>
                <a:cs typeface="Times New Roman" pitchFamily="18" charset="0"/>
              </a:rPr>
              <a:t>                 other </a:t>
            </a:r>
            <a:r>
              <a:rPr lang="en-US" altLang="ko-KR" dirty="0">
                <a:latin typeface="Times New Roman" pitchFamily="18" charset="0"/>
                <a:cs typeface="Times New Roman" pitchFamily="18" charset="0"/>
              </a:rPr>
              <a:t>with four signal </a:t>
            </a:r>
            <a:r>
              <a:rPr lang="en-US" altLang="ko-KR" dirty="0" smtClean="0">
                <a:latin typeface="Times New Roman" pitchFamily="18" charset="0"/>
                <a:cs typeface="Times New Roman" pitchFamily="18" charset="0"/>
              </a:rPr>
              <a:t>levels</a:t>
            </a:r>
          </a:p>
          <a:p>
            <a:pPr marL="0" indent="0">
              <a:buNone/>
            </a:pPr>
            <a:r>
              <a:rPr lang="en-US" altLang="ko-KR" b="1" i="1" dirty="0" smtClean="0">
                <a:solidFill>
                  <a:srgbClr val="C00000"/>
                </a:solidFill>
                <a:latin typeface="Times New Roman" pitchFamily="18" charset="0"/>
                <a:cs typeface="Times New Roman" pitchFamily="18" charset="0"/>
              </a:rPr>
              <a:t>Ex. 3.16</a:t>
            </a:r>
          </a:p>
          <a:p>
            <a:pPr marL="0" indent="0">
              <a:buNone/>
            </a:pPr>
            <a:r>
              <a:rPr lang="en-US" altLang="ko-KR" b="1" i="1" dirty="0">
                <a:solidFill>
                  <a:srgbClr val="C00000"/>
                </a:solidFill>
                <a:latin typeface="Times New Roman" pitchFamily="18" charset="0"/>
                <a:cs typeface="Times New Roman" pitchFamily="18" charset="0"/>
              </a:rPr>
              <a:t>Ex. </a:t>
            </a:r>
            <a:r>
              <a:rPr lang="en-US" altLang="ko-KR" b="1" i="1" dirty="0" smtClean="0">
                <a:solidFill>
                  <a:srgbClr val="C00000"/>
                </a:solidFill>
                <a:latin typeface="Times New Roman" pitchFamily="18" charset="0"/>
                <a:cs typeface="Times New Roman" pitchFamily="18" charset="0"/>
              </a:rPr>
              <a:t>3.17</a:t>
            </a:r>
            <a:endParaRPr lang="en-US" altLang="ko-KR" dirty="0" smtClean="0">
              <a:latin typeface="Times New Roman" pitchFamily="18" charset="0"/>
            </a:endParaRPr>
          </a:p>
        </p:txBody>
      </p:sp>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753" y="1543980"/>
            <a:ext cx="3657287" cy="2447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6130" y="1543980"/>
            <a:ext cx="3559443" cy="2906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1316" y="5347526"/>
            <a:ext cx="4032916" cy="636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8209783"/>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3.3.2  Bit Length</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68300" y="599768"/>
                <a:ext cx="8429625" cy="6046838"/>
              </a:xfrm>
            </p:spPr>
            <p:txBody>
              <a:bodyPr/>
              <a:lstStyle/>
              <a:p>
                <a:pPr marL="342900" lvl="2" indent="-342900">
                  <a:lnSpc>
                    <a:spcPct val="150000"/>
                  </a:lnSpc>
                  <a:buFontTx/>
                  <a:buNone/>
                  <a:defRPr/>
                </a:pPr>
                <a:r>
                  <a:rPr lang="en-US" altLang="ko-KR" sz="2800" b="1" i="1" dirty="0" smtClean="0">
                    <a:solidFill>
                      <a:srgbClr val="C00000"/>
                    </a:solidFill>
                    <a:latin typeface="Times New Roman" pitchFamily="18" charset="0"/>
                    <a:cs typeface="Times New Roman" pitchFamily="18" charset="0"/>
                  </a:rPr>
                  <a:t>3.3.1  Bit Rate</a:t>
                </a:r>
                <a:endParaRPr lang="en-US" altLang="ko-KR" sz="2800" b="1" i="1" dirty="0">
                  <a:solidFill>
                    <a:srgbClr val="C00000"/>
                  </a:solidFill>
                  <a:latin typeface="Times New Roman" pitchFamily="18" charset="0"/>
                  <a:cs typeface="Times New Roman" pitchFamily="18" charset="0"/>
                </a:endParaRPr>
              </a:p>
              <a:p>
                <a:pPr algn="just">
                  <a:defRPr/>
                </a:pPr>
                <a:r>
                  <a:rPr lang="en-US" altLang="ko-KR" dirty="0">
                    <a:latin typeface="Times New Roman" pitchFamily="18" charset="0"/>
                  </a:rPr>
                  <a:t>The </a:t>
                </a:r>
                <a:r>
                  <a:rPr lang="en-US" altLang="ko-KR" b="1" i="1" dirty="0">
                    <a:solidFill>
                      <a:srgbClr val="C00000"/>
                    </a:solidFill>
                    <a:latin typeface="Times New Roman" pitchFamily="18" charset="0"/>
                  </a:rPr>
                  <a:t>bit rate </a:t>
                </a:r>
                <a:r>
                  <a:rPr lang="en-US" altLang="ko-KR" dirty="0">
                    <a:latin typeface="Times New Roman" pitchFamily="18" charset="0"/>
                  </a:rPr>
                  <a:t>is the number of bits sent in 1s, expressed in bits per second (bps)</a:t>
                </a:r>
                <a:r>
                  <a:rPr lang="en-US" altLang="ko-KR" dirty="0" smtClean="0">
                    <a:latin typeface="+mj-lt"/>
                  </a:rPr>
                  <a:t>.</a:t>
                </a:r>
              </a:p>
              <a:p>
                <a:pPr marL="0" indent="0">
                  <a:buNone/>
                </a:pPr>
                <a:endParaRPr lang="en-US" altLang="ko-KR" b="1" i="1" dirty="0" smtClean="0">
                  <a:solidFill>
                    <a:srgbClr val="C00000"/>
                  </a:solidFill>
                  <a:latin typeface="Times New Roman" pitchFamily="18" charset="0"/>
                  <a:cs typeface="Times New Roman" pitchFamily="18" charset="0"/>
                </a:endParaRPr>
              </a:p>
              <a:p>
                <a:pPr marL="0" indent="0">
                  <a:buNone/>
                </a:pPr>
                <a:r>
                  <a:rPr lang="en-US" altLang="ko-KR" b="1" i="1" dirty="0" smtClean="0">
                    <a:solidFill>
                      <a:srgbClr val="C00000"/>
                    </a:solidFill>
                    <a:latin typeface="Times New Roman" pitchFamily="18" charset="0"/>
                    <a:cs typeface="Times New Roman" pitchFamily="18" charset="0"/>
                  </a:rPr>
                  <a:t>Ex. 3.18</a:t>
                </a:r>
              </a:p>
              <a:p>
                <a:pPr marL="0" indent="0">
                  <a:buNone/>
                </a:pPr>
                <a:endParaRPr lang="en-US" altLang="ko-KR" b="1" i="1" dirty="0">
                  <a:solidFill>
                    <a:srgbClr val="C00000"/>
                  </a:solidFill>
                  <a:latin typeface="Times New Roman" pitchFamily="18" charset="0"/>
                  <a:cs typeface="Times New Roman" pitchFamily="18" charset="0"/>
                </a:endParaRPr>
              </a:p>
              <a:p>
                <a:pPr marL="0" indent="0">
                  <a:buNone/>
                </a:pPr>
                <a:r>
                  <a:rPr lang="en-US" altLang="ko-KR" b="1" i="1" dirty="0" smtClean="0">
                    <a:solidFill>
                      <a:srgbClr val="C00000"/>
                    </a:solidFill>
                    <a:latin typeface="Times New Roman" pitchFamily="18" charset="0"/>
                    <a:cs typeface="Times New Roman" pitchFamily="18" charset="0"/>
                  </a:rPr>
                  <a:t>Ex. 3.19 </a:t>
                </a:r>
              </a:p>
              <a:p>
                <a:pPr marL="0" indent="0">
                  <a:buNone/>
                </a:pPr>
                <a:endParaRPr lang="en-US" altLang="ko-KR" b="1" i="1" dirty="0">
                  <a:solidFill>
                    <a:srgbClr val="C00000"/>
                  </a:solidFill>
                  <a:latin typeface="Times New Roman" pitchFamily="18" charset="0"/>
                  <a:cs typeface="Times New Roman" pitchFamily="18" charset="0"/>
                </a:endParaRPr>
              </a:p>
              <a:p>
                <a:pPr marL="0" indent="0">
                  <a:buNone/>
                </a:pPr>
                <a:r>
                  <a:rPr lang="en-US" altLang="ko-KR" b="1" i="1" dirty="0" smtClean="0">
                    <a:solidFill>
                      <a:srgbClr val="C00000"/>
                    </a:solidFill>
                    <a:latin typeface="Times New Roman" pitchFamily="18" charset="0"/>
                    <a:cs typeface="Times New Roman" pitchFamily="18" charset="0"/>
                  </a:rPr>
                  <a:t>Ex. 3.20 </a:t>
                </a:r>
                <a:endParaRPr lang="en-US" altLang="ko-KR" sz="2000" dirty="0">
                  <a:latin typeface="Times New Roman" pitchFamily="18" charset="0"/>
                  <a:cs typeface="Times New Roman" pitchFamily="18" charset="0"/>
                </a:endParaRPr>
              </a:p>
              <a:p>
                <a:pPr algn="just">
                  <a:defRPr/>
                </a:pPr>
                <a:endParaRPr lang="en-US" altLang="ko-KR" dirty="0" smtClean="0">
                  <a:latin typeface="Times New Roman" pitchFamily="18" charset="0"/>
                </a:endParaRPr>
              </a:p>
              <a:p>
                <a:pPr marL="0" lvl="2" indent="0" algn="just">
                  <a:buNone/>
                  <a:defRPr/>
                </a:pPr>
                <a:r>
                  <a:rPr lang="en-US" altLang="ko-KR" sz="2800" b="1" i="1" dirty="0">
                    <a:solidFill>
                      <a:srgbClr val="C00000"/>
                    </a:solidFill>
                    <a:latin typeface="Times New Roman" pitchFamily="18" charset="0"/>
                    <a:cs typeface="Times New Roman" pitchFamily="18" charset="0"/>
                  </a:rPr>
                  <a:t>3.3.2  Bit Length</a:t>
                </a:r>
              </a:p>
              <a:p>
                <a:pPr marL="0" lvl="2" indent="0" algn="just">
                  <a:buNone/>
                  <a:defRPr/>
                </a:pPr>
                <a:r>
                  <a:rPr lang="en-US" altLang="ko-KR" sz="2800" dirty="0">
                    <a:latin typeface="Times New Roman" pitchFamily="18" charset="0"/>
                    <a:cs typeface="Times New Roman" pitchFamily="18" charset="0"/>
                  </a:rPr>
                  <a:t>          </a:t>
                </a:r>
                <a:r>
                  <a:rPr lang="en-US" altLang="ko-KR" sz="2400" dirty="0">
                    <a:latin typeface="+mj-lt"/>
                    <a:cs typeface="Times New Roman" pitchFamily="18" charset="0"/>
                  </a:rPr>
                  <a:t>Bit Length = propagation speed </a:t>
                </a:r>
                <a14:m>
                  <m:oMath xmlns:m="http://schemas.openxmlformats.org/officeDocument/2006/math">
                    <m:r>
                      <a:rPr lang="en-US" altLang="ko-KR" sz="2400" i="1">
                        <a:latin typeface="Cambria Math"/>
                        <a:ea typeface="Cambria Math"/>
                        <a:cs typeface="Times New Roman" pitchFamily="18" charset="0"/>
                      </a:rPr>
                      <m:t>×</m:t>
                    </m:r>
                  </m:oMath>
                </a14:m>
                <a:r>
                  <a:rPr lang="en-US" altLang="ko-KR" sz="2400" dirty="0">
                    <a:latin typeface="+mj-lt"/>
                    <a:cs typeface="Times New Roman" pitchFamily="18" charset="0"/>
                  </a:rPr>
                  <a:t> bit </a:t>
                </a:r>
                <a:r>
                  <a:rPr lang="en-US" altLang="ko-KR" sz="2400" dirty="0" smtClean="0">
                    <a:latin typeface="+mj-lt"/>
                    <a:cs typeface="Times New Roman" pitchFamily="18" charset="0"/>
                  </a:rPr>
                  <a:t>duration</a:t>
                </a:r>
                <a:endParaRPr lang="en-US" altLang="ko-KR" dirty="0" smtClean="0">
                  <a:latin typeface="Times New Roman" pitchFamily="18" charset="0"/>
                </a:endParaRPr>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68300" y="599768"/>
                <a:ext cx="8429625" cy="6046838"/>
              </a:xfrm>
              <a:blipFill rotWithShape="1">
                <a:blip r:embed="rId3"/>
                <a:stretch>
                  <a:fillRect l="-1446" r="-1157"/>
                </a:stretch>
              </a:blipFill>
            </p:spPr>
            <p:txBody>
              <a:bodyPr/>
              <a:lstStyle/>
              <a:p>
                <a:r>
                  <a:rPr lang="ko-KR" altLang="en-US">
                    <a:noFill/>
                  </a:rPr>
                  <a:t> </a:t>
                </a:r>
              </a:p>
            </p:txBody>
          </p:sp>
        </mc:Fallback>
      </mc:AlternateContent>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506" y="2532114"/>
            <a:ext cx="587692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8506" y="3282745"/>
            <a:ext cx="4524375"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6813" y="4212507"/>
            <a:ext cx="607695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6034554"/>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cs typeface="Times New Roman" pitchFamily="18" charset="0"/>
              </a:rPr>
              <a:t>3.3.3  Digital as Composite Analog</a:t>
            </a:r>
            <a:endParaRPr lang="en-US" altLang="ko-KR" sz="2400" b="0" dirty="0">
              <a:latin typeface="Times New Roman" pitchFamily="18" charset="0"/>
            </a:endParaRPr>
          </a:p>
        </p:txBody>
      </p:sp>
      <p:sp>
        <p:nvSpPr>
          <p:cNvPr id="20483" name="내용 개체 틀 2"/>
          <p:cNvSpPr>
            <a:spLocks noGrp="1"/>
          </p:cNvSpPr>
          <p:nvPr>
            <p:ph idx="1"/>
          </p:nvPr>
        </p:nvSpPr>
        <p:spPr>
          <a:xfrm>
            <a:off x="368300" y="540776"/>
            <a:ext cx="8429625" cy="6046838"/>
          </a:xfrm>
        </p:spPr>
        <p:txBody>
          <a:bodyPr/>
          <a:lstStyle/>
          <a:p>
            <a:pPr marL="342900" lvl="2" indent="-342900">
              <a:lnSpc>
                <a:spcPct val="150000"/>
              </a:lnSpc>
              <a:buFontTx/>
              <a:buNone/>
              <a:defRPr/>
            </a:pPr>
            <a:r>
              <a:rPr lang="en-US" altLang="ko-KR" sz="2800" b="1" i="1" dirty="0">
                <a:solidFill>
                  <a:srgbClr val="C00000"/>
                </a:solidFill>
                <a:latin typeface="Times New Roman" pitchFamily="18" charset="0"/>
                <a:cs typeface="Times New Roman" pitchFamily="18" charset="0"/>
              </a:rPr>
              <a:t>3.3.3  Digital as Composite Analog</a:t>
            </a:r>
          </a:p>
          <a:p>
            <a:pPr algn="just">
              <a:defRPr/>
            </a:pPr>
            <a:endParaRPr lang="en-US" altLang="ko-KR" dirty="0" smtClean="0">
              <a:latin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r>
              <a:rPr lang="en-US" altLang="ko-KR" sz="2000" b="1" i="1" dirty="0" smtClean="0">
                <a:solidFill>
                  <a:srgbClr val="C00000"/>
                </a:solidFill>
                <a:latin typeface="Times New Roman" pitchFamily="18" charset="0"/>
                <a:cs typeface="Times New Roman" pitchFamily="18" charset="0"/>
              </a:rPr>
              <a:t>             Fig. 3.18</a:t>
            </a:r>
            <a:r>
              <a:rPr lang="en-US" altLang="ko-KR" sz="2000" dirty="0" smtClean="0">
                <a:latin typeface="Times New Roman" pitchFamily="18" charset="0"/>
                <a:cs typeface="Times New Roman" pitchFamily="18" charset="0"/>
              </a:rPr>
              <a:t> </a:t>
            </a:r>
            <a:r>
              <a:rPr lang="en-US" altLang="ko-KR" sz="2000" dirty="0">
                <a:latin typeface="Times New Roman" pitchFamily="18" charset="0"/>
                <a:cs typeface="Times New Roman" pitchFamily="18" charset="0"/>
              </a:rPr>
              <a:t>The time and frequency domains of </a:t>
            </a:r>
            <a:r>
              <a:rPr lang="en-US" altLang="ko-KR" sz="2000" dirty="0" smtClean="0">
                <a:latin typeface="Times New Roman" pitchFamily="18" charset="0"/>
                <a:cs typeface="Times New Roman" pitchFamily="18" charset="0"/>
              </a:rPr>
              <a:t>periodic and</a:t>
            </a:r>
            <a:br>
              <a:rPr lang="en-US" altLang="ko-KR" sz="2000" dirty="0" smtClean="0">
                <a:latin typeface="Times New Roman" pitchFamily="18" charset="0"/>
                <a:cs typeface="Times New Roman" pitchFamily="18" charset="0"/>
              </a:rPr>
            </a:br>
            <a:r>
              <a:rPr lang="en-US" altLang="ko-KR" sz="2000" dirty="0" smtClean="0">
                <a:latin typeface="Times New Roman" pitchFamily="18" charset="0"/>
                <a:cs typeface="Times New Roman" pitchFamily="18" charset="0"/>
              </a:rPr>
              <a:t>                              nonperiodic </a:t>
            </a:r>
            <a:r>
              <a:rPr lang="en-US" altLang="ko-KR" sz="2000" dirty="0">
                <a:latin typeface="Times New Roman" pitchFamily="18" charset="0"/>
                <a:cs typeface="Times New Roman" pitchFamily="18" charset="0"/>
              </a:rPr>
              <a:t>digital </a:t>
            </a:r>
            <a:r>
              <a:rPr lang="en-US" altLang="ko-KR" sz="2000" dirty="0" smtClean="0">
                <a:latin typeface="Times New Roman" pitchFamily="18" charset="0"/>
                <a:cs typeface="Times New Roman" pitchFamily="18" charset="0"/>
              </a:rPr>
              <a:t>signals</a:t>
            </a:r>
            <a:endParaRPr lang="en-US" altLang="ko-KR" dirty="0" smtClean="0">
              <a:latin typeface="Times New Roman" pitchFamily="18" charset="0"/>
            </a:endParaRPr>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9367" y="1623505"/>
            <a:ext cx="7087983" cy="1760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9367" y="3614281"/>
            <a:ext cx="7092186" cy="1353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030744"/>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rPr>
              <a:t>3.3.4  </a:t>
            </a:r>
            <a:r>
              <a:rPr lang="pt-BR" altLang="ko-KR" sz="2400" b="0" dirty="0">
                <a:latin typeface="Times New Roman" pitchFamily="18" charset="0"/>
              </a:rPr>
              <a:t>Transmission of Digital Signals</a:t>
            </a:r>
            <a:endParaRPr lang="en-US" altLang="ko-KR" sz="2400" b="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40776"/>
            <a:ext cx="8429625" cy="6046838"/>
          </a:xfrm>
        </p:spPr>
        <p:txBody>
          <a:bodyPr/>
          <a:lstStyle/>
          <a:p>
            <a:pPr marL="342900" lvl="2" indent="-342900">
              <a:lnSpc>
                <a:spcPct val="150000"/>
              </a:lnSpc>
              <a:buNone/>
              <a:defRPr/>
            </a:pPr>
            <a:r>
              <a:rPr lang="en-US" altLang="ko-KR" sz="2800" b="1" i="1" dirty="0">
                <a:solidFill>
                  <a:srgbClr val="C00000"/>
                </a:solidFill>
                <a:latin typeface="Times New Roman" pitchFamily="18" charset="0"/>
              </a:rPr>
              <a:t>3.3.4  </a:t>
            </a:r>
            <a:r>
              <a:rPr lang="pt-BR" altLang="ko-KR" sz="2800" b="1" i="1" dirty="0">
                <a:solidFill>
                  <a:srgbClr val="C00000"/>
                </a:solidFill>
                <a:latin typeface="Times New Roman" pitchFamily="18" charset="0"/>
              </a:rPr>
              <a:t>Transmission of Digital Signals</a:t>
            </a:r>
            <a:endParaRPr lang="en-US" altLang="ko-KR" sz="2800" b="1" i="1" dirty="0">
              <a:solidFill>
                <a:srgbClr val="C00000"/>
              </a:solidFill>
              <a:latin typeface="Times New Roman" pitchFamily="18" charset="0"/>
            </a:endParaRPr>
          </a:p>
          <a:p>
            <a:pPr marL="342900" lvl="2" indent="-342900">
              <a:lnSpc>
                <a:spcPct val="150000"/>
              </a:lnSpc>
              <a:buFontTx/>
              <a:buNone/>
              <a:defRPr/>
            </a:pPr>
            <a:r>
              <a:rPr lang="en-US" altLang="ko-KR" sz="2400" b="1" i="1" dirty="0" smtClean="0">
                <a:solidFill>
                  <a:srgbClr val="C00000"/>
                </a:solidFill>
                <a:latin typeface="Times New Roman" pitchFamily="18" charset="0"/>
                <a:cs typeface="Times New Roman" pitchFamily="18" charset="0"/>
              </a:rPr>
              <a:t>Baseband Transmission</a:t>
            </a:r>
          </a:p>
          <a:p>
            <a:pPr algn="just">
              <a:defRPr/>
            </a:pPr>
            <a:endParaRPr lang="en-US" altLang="ko-KR" dirty="0" smtClean="0">
              <a:latin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lgn="ctr">
              <a:buNone/>
            </a:pPr>
            <a:endParaRPr lang="en-US" altLang="ko-KR" sz="2000" b="1" i="1" dirty="0" smtClean="0">
              <a:solidFill>
                <a:srgbClr val="C00000"/>
              </a:solidFill>
              <a:latin typeface="Times New Roman" pitchFamily="18" charset="0"/>
              <a:cs typeface="Times New Roman" pitchFamily="18" charset="0"/>
            </a:endParaRPr>
          </a:p>
          <a:p>
            <a:pPr marL="0" indent="0" algn="ctr">
              <a:buNone/>
            </a:pPr>
            <a:r>
              <a:rPr lang="en-US" altLang="ko-KR" sz="2000" b="1" i="1" dirty="0" smtClean="0">
                <a:solidFill>
                  <a:srgbClr val="C00000"/>
                </a:solidFill>
                <a:latin typeface="Times New Roman" pitchFamily="18" charset="0"/>
                <a:cs typeface="Times New Roman" pitchFamily="18" charset="0"/>
              </a:rPr>
              <a:t>  Fig. </a:t>
            </a:r>
            <a:r>
              <a:rPr lang="en-US" altLang="ko-KR" sz="2000" b="1" i="1" dirty="0" smtClean="0">
                <a:solidFill>
                  <a:srgbClr val="C00000"/>
                </a:solidFill>
                <a:latin typeface="+mj-lt"/>
                <a:cs typeface="Times New Roman" pitchFamily="18" charset="0"/>
              </a:rPr>
              <a:t>3.19</a:t>
            </a:r>
            <a:r>
              <a:rPr lang="en-US" altLang="ko-KR" sz="2000" dirty="0" smtClean="0">
                <a:latin typeface="+mj-lt"/>
                <a:cs typeface="Times New Roman" pitchFamily="18" charset="0"/>
              </a:rPr>
              <a:t>  </a:t>
            </a:r>
            <a:r>
              <a:rPr lang="en-US" altLang="ko-KR" sz="2000" dirty="0" smtClean="0">
                <a:latin typeface="+mj-lt"/>
              </a:rPr>
              <a:t>Baseband </a:t>
            </a:r>
            <a:r>
              <a:rPr lang="en-US" altLang="ko-KR" sz="2000" dirty="0">
                <a:latin typeface="+mj-lt"/>
              </a:rPr>
              <a:t>transmission</a:t>
            </a: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marL="0" indent="0" algn="ctr">
              <a:buNone/>
            </a:pPr>
            <a:r>
              <a:rPr lang="en-US" altLang="ko-KR" sz="2000" b="1" i="1" dirty="0">
                <a:solidFill>
                  <a:srgbClr val="C00000"/>
                </a:solidFill>
                <a:latin typeface="+mj-lt"/>
                <a:cs typeface="Times New Roman" pitchFamily="18" charset="0"/>
              </a:rPr>
              <a:t>Fig. </a:t>
            </a:r>
            <a:r>
              <a:rPr lang="en-US" altLang="ko-KR" sz="2000" b="1" i="1" dirty="0" smtClean="0">
                <a:solidFill>
                  <a:srgbClr val="C00000"/>
                </a:solidFill>
                <a:latin typeface="+mj-lt"/>
                <a:cs typeface="Times New Roman" pitchFamily="18" charset="0"/>
              </a:rPr>
              <a:t>3.20</a:t>
            </a:r>
            <a:r>
              <a:rPr lang="en-US" altLang="ko-KR" sz="2000" dirty="0" smtClean="0">
                <a:latin typeface="+mj-lt"/>
                <a:cs typeface="Times New Roman" pitchFamily="18" charset="0"/>
              </a:rPr>
              <a:t>  </a:t>
            </a:r>
            <a:r>
              <a:rPr lang="en-US" altLang="ko-KR" sz="2000" dirty="0">
                <a:latin typeface="+mj-lt"/>
              </a:rPr>
              <a:t>Bandwidth of two low-pass </a:t>
            </a:r>
            <a:r>
              <a:rPr lang="en-US" altLang="ko-KR" sz="2000" dirty="0" smtClean="0">
                <a:latin typeface="+mj-lt"/>
              </a:rPr>
              <a:t>channels</a:t>
            </a:r>
            <a:endParaRPr lang="en-US" altLang="ko-KR" dirty="0" smtClean="0">
              <a:latin typeface="Times New Roman" pitchFamily="18" charset="0"/>
            </a:endParaRP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1751" y="1887430"/>
            <a:ext cx="4628330" cy="112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627" y="3704367"/>
            <a:ext cx="6533305" cy="1162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5790" y="4845541"/>
            <a:ext cx="6591491" cy="13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7433622"/>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rPr>
              <a:t>3.3.4  </a:t>
            </a:r>
            <a:r>
              <a:rPr lang="pt-BR" altLang="ko-KR" sz="2400" b="0" dirty="0">
                <a:latin typeface="Times New Roman" pitchFamily="18" charset="0"/>
              </a:rPr>
              <a:t>Transmission of Digital Signals</a:t>
            </a:r>
            <a:endParaRPr lang="en-US" altLang="ko-KR" sz="2400" b="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40776"/>
            <a:ext cx="8429625" cy="6046838"/>
          </a:xfrm>
        </p:spPr>
        <p:txBody>
          <a:bodyPr/>
          <a:lstStyle/>
          <a:p>
            <a:pPr marL="342900" lvl="2" indent="-342900">
              <a:lnSpc>
                <a:spcPct val="150000"/>
              </a:lnSpc>
              <a:buFontTx/>
              <a:buNone/>
              <a:defRPr/>
            </a:pPr>
            <a:r>
              <a:rPr lang="en-US" altLang="ko-KR" sz="2400" i="1" dirty="0" smtClean="0">
                <a:latin typeface="Times New Roman" pitchFamily="18" charset="0"/>
                <a:cs typeface="Times New Roman" pitchFamily="18" charset="0"/>
              </a:rPr>
              <a:t>Case 1: Low-Pass channel with Wide Bandwidth</a:t>
            </a:r>
          </a:p>
          <a:p>
            <a:pPr algn="just">
              <a:defRPr/>
            </a:pPr>
            <a:endParaRPr lang="en-US" altLang="ko-KR" dirty="0" smtClean="0">
              <a:latin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lgn="ctr">
              <a:buNone/>
            </a:pPr>
            <a:endParaRPr lang="en-US" altLang="ko-KR" sz="2000" b="1" i="1" dirty="0" smtClean="0">
              <a:solidFill>
                <a:srgbClr val="C00000"/>
              </a:solidFill>
              <a:latin typeface="Times New Roman" pitchFamily="18" charset="0"/>
              <a:cs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marL="0" indent="0" algn="ctr">
              <a:buNone/>
            </a:pPr>
            <a:r>
              <a:rPr lang="en-US" altLang="ko-KR" sz="2000" b="1" i="1" dirty="0" smtClean="0">
                <a:solidFill>
                  <a:srgbClr val="C00000"/>
                </a:solidFill>
                <a:latin typeface="+mj-lt"/>
                <a:cs typeface="Times New Roman" pitchFamily="18" charset="0"/>
              </a:rPr>
              <a:t>Fig</a:t>
            </a:r>
            <a:r>
              <a:rPr lang="en-US" altLang="ko-KR" sz="2000" b="1" i="1" dirty="0">
                <a:solidFill>
                  <a:srgbClr val="C00000"/>
                </a:solidFill>
                <a:latin typeface="+mj-lt"/>
                <a:cs typeface="Times New Roman" pitchFamily="18" charset="0"/>
              </a:rPr>
              <a:t>. </a:t>
            </a:r>
            <a:r>
              <a:rPr lang="en-US" altLang="ko-KR" sz="2000" b="1" i="1" dirty="0" smtClean="0">
                <a:solidFill>
                  <a:srgbClr val="C00000"/>
                </a:solidFill>
                <a:latin typeface="+mj-lt"/>
                <a:cs typeface="Times New Roman" pitchFamily="18" charset="0"/>
              </a:rPr>
              <a:t>3.21</a:t>
            </a:r>
            <a:r>
              <a:rPr lang="en-US" altLang="ko-KR" sz="2000" dirty="0" smtClean="0">
                <a:latin typeface="+mj-lt"/>
                <a:cs typeface="Times New Roman" pitchFamily="18" charset="0"/>
              </a:rPr>
              <a:t>  </a:t>
            </a:r>
            <a:r>
              <a:rPr lang="en-US" altLang="ko-KR" sz="2000" dirty="0">
                <a:latin typeface="Times New Roman" pitchFamily="18" charset="0"/>
                <a:cs typeface="Times New Roman" pitchFamily="18" charset="0"/>
              </a:rPr>
              <a:t>Baseband transmission using a dedicated </a:t>
            </a:r>
            <a:r>
              <a:rPr lang="en-US" altLang="ko-KR" sz="2000" dirty="0" smtClean="0">
                <a:latin typeface="Times New Roman" pitchFamily="18" charset="0"/>
                <a:cs typeface="Times New Roman" pitchFamily="18" charset="0"/>
              </a:rPr>
              <a:t>medium</a:t>
            </a:r>
          </a:p>
          <a:p>
            <a:pPr marL="0" indent="0" algn="ctr">
              <a:buNone/>
            </a:pPr>
            <a:endParaRPr lang="en-US" altLang="ko-KR" sz="2000" dirty="0">
              <a:latin typeface="Times New Roman" pitchFamily="18" charset="0"/>
              <a:cs typeface="Times New Roman" pitchFamily="18" charset="0"/>
            </a:endParaRPr>
          </a:p>
          <a:p>
            <a:pPr marL="0" indent="0" algn="just">
              <a:buNone/>
            </a:pPr>
            <a:r>
              <a:rPr lang="en-US" altLang="ko-KR" sz="2000" b="1" i="1" dirty="0" smtClean="0">
                <a:solidFill>
                  <a:srgbClr val="C00000"/>
                </a:solidFill>
                <a:latin typeface="Times New Roman" pitchFamily="18" charset="0"/>
                <a:cs typeface="Times New Roman" pitchFamily="18" charset="0"/>
              </a:rPr>
              <a:t>Ex. 3.21 </a:t>
            </a:r>
            <a:r>
              <a:rPr lang="en-US" altLang="ko-KR" sz="2000" dirty="0" smtClean="0">
                <a:latin typeface="Times New Roman" pitchFamily="18" charset="0"/>
                <a:cs typeface="Times New Roman" pitchFamily="18" charset="0"/>
              </a:rPr>
              <a:t>LAN</a:t>
            </a:r>
            <a:endParaRPr lang="en-US" altLang="ko-KR" dirty="0" smtClean="0">
              <a:latin typeface="Times New Roman" pitchFamily="18" charset="0"/>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803" y="3018471"/>
            <a:ext cx="7351444" cy="857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394" y="1748309"/>
            <a:ext cx="7188853" cy="1072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8432043"/>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rPr>
              <a:t>3.3.4  </a:t>
            </a:r>
            <a:r>
              <a:rPr lang="pt-BR" altLang="ko-KR" sz="2400" b="0" dirty="0">
                <a:latin typeface="Times New Roman" pitchFamily="18" charset="0"/>
              </a:rPr>
              <a:t>Transmission of Digital Signals</a:t>
            </a:r>
            <a:endParaRPr lang="en-US" altLang="ko-KR" sz="2400" b="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68300" y="540776"/>
                <a:ext cx="8429625" cy="6046838"/>
              </a:xfrm>
            </p:spPr>
            <p:txBody>
              <a:bodyPr/>
              <a:lstStyle/>
              <a:p>
                <a:pPr marL="342900" lvl="2" indent="-342900">
                  <a:lnSpc>
                    <a:spcPct val="150000"/>
                  </a:lnSpc>
                  <a:buFontTx/>
                  <a:buNone/>
                  <a:defRPr/>
                </a:pPr>
                <a:r>
                  <a:rPr lang="en-US" altLang="ko-KR" sz="2400" i="1" dirty="0" smtClean="0">
                    <a:latin typeface="Times New Roman" pitchFamily="18" charset="0"/>
                    <a:cs typeface="Times New Roman" pitchFamily="18" charset="0"/>
                  </a:rPr>
                  <a:t>Case 2: Low-Pass channel with Limited Bandwidth</a:t>
                </a:r>
              </a:p>
              <a:p>
                <a:pPr marL="342900" lvl="2" indent="-342900">
                  <a:lnSpc>
                    <a:spcPct val="150000"/>
                  </a:lnSpc>
                  <a:buFontTx/>
                  <a:buNone/>
                  <a:defRPr/>
                </a:pPr>
                <a:r>
                  <a:rPr lang="en-US" altLang="ko-KR" sz="2000" b="0" dirty="0" smtClean="0">
                    <a:latin typeface="+mj-lt"/>
                    <a:cs typeface="Times New Roman" pitchFamily="18" charset="0"/>
                  </a:rPr>
                  <a:t> </a:t>
                </a:r>
                <a:r>
                  <a:rPr lang="en-US" altLang="ko-KR" sz="2000" b="1" dirty="0" smtClean="0">
                    <a:latin typeface="+mj-lt"/>
                    <a:cs typeface="Times New Roman" pitchFamily="18" charset="0"/>
                  </a:rPr>
                  <a:t>Rough Approximation        </a:t>
                </a:r>
                <a14:m>
                  <m:oMath xmlns:m="http://schemas.openxmlformats.org/officeDocument/2006/math">
                    <m:r>
                      <m:rPr>
                        <m:sty m:val="p"/>
                      </m:rPr>
                      <a:rPr lang="en-US" altLang="ko-KR" sz="2000" b="0" i="0" smtClean="0">
                        <a:latin typeface="Cambria Math"/>
                        <a:cs typeface="Times New Roman" pitchFamily="18" charset="0"/>
                      </a:rPr>
                      <m:t>Bandwidth</m:t>
                    </m:r>
                    <m:r>
                      <a:rPr lang="en-US" altLang="ko-KR" sz="2000" b="0" i="0" smtClean="0">
                        <a:latin typeface="Cambria Math"/>
                        <a:cs typeface="Times New Roman" pitchFamily="18" charset="0"/>
                      </a:rPr>
                      <m:t>= </m:t>
                    </m:r>
                    <m:f>
                      <m:fPr>
                        <m:ctrlPr>
                          <a:rPr lang="en-US" altLang="ko-KR" sz="2000" b="0" i="1" smtClean="0">
                            <a:latin typeface="Cambria Math" panose="02040503050406030204" pitchFamily="18" charset="0"/>
                            <a:cs typeface="Times New Roman" pitchFamily="18" charset="0"/>
                          </a:rPr>
                        </m:ctrlPr>
                      </m:fPr>
                      <m:num>
                        <m:r>
                          <m:rPr>
                            <m:sty m:val="p"/>
                          </m:rPr>
                          <a:rPr lang="en-US" altLang="ko-KR" sz="2000" b="0" i="0" smtClean="0">
                            <a:latin typeface="Cambria Math"/>
                            <a:cs typeface="Times New Roman" pitchFamily="18" charset="0"/>
                          </a:rPr>
                          <m:t>N</m:t>
                        </m:r>
                      </m:num>
                      <m:den>
                        <m:r>
                          <a:rPr lang="en-US" altLang="ko-KR" sz="2000" b="0" i="0" smtClean="0">
                            <a:latin typeface="Cambria Math"/>
                            <a:cs typeface="Times New Roman" pitchFamily="18" charset="0"/>
                          </a:rPr>
                          <m:t>2</m:t>
                        </m:r>
                      </m:den>
                    </m:f>
                    <m:r>
                      <a:rPr lang="en-US" altLang="ko-KR" sz="2000" b="0" i="0" smtClean="0">
                        <a:latin typeface="Cambria Math"/>
                        <a:cs typeface="Times New Roman" pitchFamily="18" charset="0"/>
                      </a:rPr>
                      <m:t>,    </m:t>
                    </m:r>
                    <m:r>
                      <m:rPr>
                        <m:sty m:val="p"/>
                      </m:rPr>
                      <a:rPr lang="en-US" altLang="ko-KR" sz="2000" b="0" i="0" smtClean="0">
                        <a:latin typeface="Cambria Math"/>
                        <a:cs typeface="Times New Roman" pitchFamily="18" charset="0"/>
                      </a:rPr>
                      <m:t>N</m:t>
                    </m:r>
                    <m:r>
                      <a:rPr lang="en-US" altLang="ko-KR" sz="2000" b="0" i="0" smtClean="0">
                        <a:latin typeface="Cambria Math"/>
                        <a:cs typeface="Times New Roman" pitchFamily="18" charset="0"/>
                      </a:rPr>
                      <m:t>:</m:t>
                    </m:r>
                    <m:r>
                      <m:rPr>
                        <m:sty m:val="p"/>
                      </m:rPr>
                      <a:rPr lang="en-US" altLang="ko-KR" sz="2000" b="0" i="0" smtClean="0">
                        <a:latin typeface="Cambria Math"/>
                        <a:cs typeface="Times New Roman" pitchFamily="18" charset="0"/>
                      </a:rPr>
                      <m:t>bit</m:t>
                    </m:r>
                    <m:r>
                      <a:rPr lang="en-US" altLang="ko-KR" sz="2000" b="0" i="0" smtClean="0">
                        <a:latin typeface="Cambria Math"/>
                        <a:cs typeface="Times New Roman" pitchFamily="18" charset="0"/>
                      </a:rPr>
                      <m:t> </m:t>
                    </m:r>
                    <m:r>
                      <m:rPr>
                        <m:sty m:val="p"/>
                      </m:rPr>
                      <a:rPr lang="en-US" altLang="ko-KR" sz="2000" b="0" i="0" smtClean="0">
                        <a:latin typeface="Cambria Math"/>
                        <a:cs typeface="Times New Roman" pitchFamily="18" charset="0"/>
                      </a:rPr>
                      <m:t>rate</m:t>
                    </m:r>
                  </m:oMath>
                </a14:m>
                <a:endParaRPr lang="en-US" altLang="ko-KR" sz="2400" dirty="0" smtClean="0">
                  <a:latin typeface="+mj-lt"/>
                  <a:cs typeface="Times New Roman" pitchFamily="18" charset="0"/>
                </a:endParaRPr>
              </a:p>
              <a:p>
                <a:pPr algn="just">
                  <a:defRPr/>
                </a:pPr>
                <a:endParaRPr lang="en-US" altLang="ko-KR" dirty="0" smtClean="0">
                  <a:latin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marL="0" indent="0" algn="ctr">
                  <a:buNone/>
                </a:pPr>
                <a:r>
                  <a:rPr lang="en-US" altLang="ko-KR" sz="2000" b="1" i="1" dirty="0" smtClean="0">
                    <a:solidFill>
                      <a:srgbClr val="C00000"/>
                    </a:solidFill>
                    <a:latin typeface="+mj-lt"/>
                    <a:cs typeface="Times New Roman" pitchFamily="18" charset="0"/>
                  </a:rPr>
                  <a:t>Fig</a:t>
                </a:r>
                <a:r>
                  <a:rPr lang="en-US" altLang="ko-KR" sz="2000" b="1" i="1" dirty="0">
                    <a:solidFill>
                      <a:srgbClr val="C00000"/>
                    </a:solidFill>
                    <a:latin typeface="+mj-lt"/>
                    <a:cs typeface="Times New Roman" pitchFamily="18" charset="0"/>
                  </a:rPr>
                  <a:t>. </a:t>
                </a:r>
                <a:r>
                  <a:rPr lang="en-US" altLang="ko-KR" sz="2000" b="1" i="1" dirty="0" smtClean="0">
                    <a:solidFill>
                      <a:srgbClr val="C00000"/>
                    </a:solidFill>
                    <a:latin typeface="+mj-lt"/>
                    <a:cs typeface="Times New Roman" pitchFamily="18" charset="0"/>
                  </a:rPr>
                  <a:t>3.22</a:t>
                </a:r>
                <a:r>
                  <a:rPr lang="en-US" altLang="ko-KR" sz="2000" dirty="0" smtClean="0">
                    <a:latin typeface="+mj-lt"/>
                    <a:cs typeface="Times New Roman" pitchFamily="18" charset="0"/>
                  </a:rPr>
                  <a:t>  </a:t>
                </a:r>
                <a:r>
                  <a:rPr lang="en-US" altLang="ko-KR" sz="2000" dirty="0">
                    <a:latin typeface="+mj-lt"/>
                  </a:rPr>
                  <a:t>Rough approximation of a digital signal (part </a:t>
                </a:r>
                <a:r>
                  <a:rPr lang="en-US" altLang="ko-KR" sz="2000" dirty="0" smtClean="0">
                    <a:latin typeface="+mj-lt"/>
                  </a:rPr>
                  <a:t>1)</a:t>
                </a:r>
                <a:endParaRPr lang="en-US" altLang="ko-KR" dirty="0" smtClean="0">
                  <a:latin typeface="Times New Roman" pitchFamily="18" charset="0"/>
                </a:endParaRPr>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68300" y="540776"/>
                <a:ext cx="8429625" cy="6046838"/>
              </a:xfrm>
              <a:blipFill rotWithShape="1">
                <a:blip r:embed="rId2"/>
                <a:stretch>
                  <a:fillRect l="-1085"/>
                </a:stretch>
              </a:blipFill>
            </p:spPr>
            <p:txBody>
              <a:bodyPr/>
              <a:lstStyle/>
              <a:p>
                <a:r>
                  <a:rPr lang="ko-KR" altLang="en-US">
                    <a:noFill/>
                  </a:rPr>
                  <a:t> </a:t>
                </a:r>
              </a:p>
            </p:txBody>
          </p:sp>
        </mc:Fallback>
      </mc:AlternateContent>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148" y="2132463"/>
            <a:ext cx="5798472" cy="2981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9575214"/>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rPr>
              <a:t>3.3.4  </a:t>
            </a:r>
            <a:r>
              <a:rPr lang="pt-BR" altLang="ko-KR" sz="2400" b="0" dirty="0">
                <a:latin typeface="Times New Roman" pitchFamily="18" charset="0"/>
              </a:rPr>
              <a:t>Transmission of Digital Signals</a:t>
            </a:r>
            <a:endParaRPr lang="en-US" altLang="ko-KR" sz="2400" b="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40776"/>
            <a:ext cx="8429625" cy="6046838"/>
          </a:xfrm>
        </p:spPr>
        <p:txBody>
          <a:bodyPr/>
          <a:lstStyle/>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marL="0" indent="0" algn="ctr">
              <a:buNone/>
            </a:pPr>
            <a:r>
              <a:rPr lang="en-US" altLang="ko-KR" sz="2000" b="1" i="1" dirty="0" smtClean="0">
                <a:solidFill>
                  <a:srgbClr val="C00000"/>
                </a:solidFill>
                <a:latin typeface="+mj-lt"/>
                <a:cs typeface="Times New Roman" pitchFamily="18" charset="0"/>
              </a:rPr>
              <a:t>Fig</a:t>
            </a:r>
            <a:r>
              <a:rPr lang="en-US" altLang="ko-KR" sz="2000" b="1" i="1" dirty="0">
                <a:solidFill>
                  <a:srgbClr val="C00000"/>
                </a:solidFill>
                <a:latin typeface="+mj-lt"/>
                <a:cs typeface="Times New Roman" pitchFamily="18" charset="0"/>
              </a:rPr>
              <a:t>. </a:t>
            </a:r>
            <a:r>
              <a:rPr lang="en-US" altLang="ko-KR" sz="2000" b="1" i="1" dirty="0" smtClean="0">
                <a:solidFill>
                  <a:srgbClr val="C00000"/>
                </a:solidFill>
                <a:latin typeface="+mj-lt"/>
                <a:cs typeface="Times New Roman" pitchFamily="18" charset="0"/>
              </a:rPr>
              <a:t>3.22</a:t>
            </a:r>
            <a:r>
              <a:rPr lang="en-US" altLang="ko-KR" sz="2000" dirty="0" smtClean="0">
                <a:latin typeface="+mj-lt"/>
                <a:cs typeface="Times New Roman" pitchFamily="18" charset="0"/>
              </a:rPr>
              <a:t>  </a:t>
            </a:r>
            <a:r>
              <a:rPr lang="en-US" altLang="ko-KR" sz="2000" dirty="0">
                <a:latin typeface="+mj-lt"/>
              </a:rPr>
              <a:t>Rough approximation of a digital signal (part </a:t>
            </a:r>
            <a:r>
              <a:rPr lang="en-US" altLang="ko-KR" sz="2000" dirty="0" smtClean="0">
                <a:latin typeface="+mj-lt"/>
              </a:rPr>
              <a:t> 2)</a:t>
            </a:r>
            <a:endParaRPr lang="en-US" altLang="ko-KR" dirty="0" smtClean="0">
              <a:latin typeface="Times New Roman"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110" y="1038610"/>
            <a:ext cx="8372982" cy="2301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493" y="3602954"/>
            <a:ext cx="8275904" cy="2313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6955736"/>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rPr>
              <a:t>3.3.4  </a:t>
            </a:r>
            <a:r>
              <a:rPr lang="pt-BR" altLang="ko-KR" sz="2400" b="0" dirty="0">
                <a:latin typeface="Times New Roman" pitchFamily="18" charset="0"/>
              </a:rPr>
              <a:t>Transmission of Digital Signals</a:t>
            </a:r>
            <a:endParaRPr lang="en-US" altLang="ko-KR" sz="2400" b="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40776"/>
            <a:ext cx="8429625" cy="6046838"/>
          </a:xfrm>
        </p:spPr>
        <p:txBody>
          <a:bodyPr/>
          <a:lstStyle/>
          <a:p>
            <a:pPr marL="342900" lvl="2" indent="-342900">
              <a:lnSpc>
                <a:spcPct val="150000"/>
              </a:lnSpc>
              <a:buFontTx/>
              <a:buNone/>
              <a:defRPr/>
            </a:pPr>
            <a:r>
              <a:rPr lang="en-US" altLang="ko-KR" sz="2000" b="1" dirty="0" smtClean="0">
                <a:latin typeface="+mj-lt"/>
                <a:cs typeface="Times New Roman" pitchFamily="18" charset="0"/>
              </a:rPr>
              <a:t>Better Approximation</a:t>
            </a:r>
            <a:endParaRPr lang="en-US" altLang="ko-KR" dirty="0" smtClean="0">
              <a:latin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algn="just">
              <a:defRPr/>
            </a:pPr>
            <a:endParaRPr lang="en-US" altLang="ko-KR" sz="2000" dirty="0">
              <a:latin typeface="Times New Roman" pitchFamily="18" charset="0"/>
            </a:endParaRPr>
          </a:p>
          <a:p>
            <a:pPr algn="just">
              <a:defRPr/>
            </a:pPr>
            <a:endParaRPr lang="en-US" altLang="ko-KR" sz="2000" dirty="0" smtClean="0">
              <a:latin typeface="Times New Roman" pitchFamily="18" charset="0"/>
            </a:endParaRPr>
          </a:p>
          <a:p>
            <a:pPr marL="0" indent="0" algn="ctr">
              <a:buNone/>
            </a:pPr>
            <a:r>
              <a:rPr lang="en-US" altLang="ko-KR" sz="2000" b="1" i="1" dirty="0" smtClean="0">
                <a:solidFill>
                  <a:srgbClr val="C00000"/>
                </a:solidFill>
                <a:latin typeface="+mj-lt"/>
                <a:cs typeface="Times New Roman" pitchFamily="18" charset="0"/>
              </a:rPr>
              <a:t>Fig</a:t>
            </a:r>
            <a:r>
              <a:rPr lang="en-US" altLang="ko-KR" sz="2000" b="1" i="1" dirty="0">
                <a:solidFill>
                  <a:srgbClr val="C00000"/>
                </a:solidFill>
                <a:latin typeface="+mj-lt"/>
                <a:cs typeface="Times New Roman" pitchFamily="18" charset="0"/>
              </a:rPr>
              <a:t>. </a:t>
            </a:r>
            <a:r>
              <a:rPr lang="en-US" altLang="ko-KR" sz="2000" b="1" i="1" dirty="0" smtClean="0">
                <a:solidFill>
                  <a:srgbClr val="C00000"/>
                </a:solidFill>
                <a:latin typeface="+mj-lt"/>
                <a:cs typeface="Times New Roman" pitchFamily="18" charset="0"/>
              </a:rPr>
              <a:t>3.23</a:t>
            </a:r>
            <a:r>
              <a:rPr lang="en-US" altLang="ko-KR" sz="2000" dirty="0" smtClean="0">
                <a:latin typeface="+mj-lt"/>
                <a:cs typeface="Times New Roman" pitchFamily="18" charset="0"/>
              </a:rPr>
              <a:t> </a:t>
            </a:r>
            <a:r>
              <a:rPr lang="en-US" altLang="ko-KR" sz="2000" dirty="0">
                <a:latin typeface="Times New Roman" pitchFamily="18" charset="0"/>
                <a:cs typeface="Times New Roman" pitchFamily="18" charset="0"/>
              </a:rPr>
              <a:t>Simulating a digital signal with first three </a:t>
            </a:r>
            <a:r>
              <a:rPr lang="en-US" altLang="ko-KR" sz="2000" dirty="0" smtClean="0">
                <a:latin typeface="Times New Roman" pitchFamily="18" charset="0"/>
                <a:cs typeface="Times New Roman" pitchFamily="18" charset="0"/>
              </a:rPr>
              <a:t>harmonics</a:t>
            </a:r>
            <a:endParaRPr lang="en-US" altLang="ko-KR" dirty="0" smtClean="0">
              <a:latin typeface="Times New Roman"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986" y="1075812"/>
            <a:ext cx="6003655" cy="159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986" y="2819157"/>
            <a:ext cx="2505463" cy="1486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1986" y="4502412"/>
            <a:ext cx="2611561" cy="1362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7691" y="2952994"/>
            <a:ext cx="2611561" cy="1549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7188" y="4610716"/>
            <a:ext cx="2611561" cy="1396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6858673"/>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rPr>
              <a:t>3.3.4  </a:t>
            </a:r>
            <a:r>
              <a:rPr lang="pt-BR" altLang="ko-KR" sz="2400" b="0" dirty="0">
                <a:latin typeface="Times New Roman" pitchFamily="18" charset="0"/>
              </a:rPr>
              <a:t>Transmission of Digital Signals</a:t>
            </a:r>
            <a:endParaRPr lang="en-US" altLang="ko-KR" sz="2400" b="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40776"/>
            <a:ext cx="8429625" cy="6046838"/>
          </a:xfrm>
        </p:spPr>
        <p:txBody>
          <a:bodyPr/>
          <a:lstStyle/>
          <a:p>
            <a:pPr marL="342900" lvl="2" indent="-342900">
              <a:lnSpc>
                <a:spcPct val="150000"/>
              </a:lnSpc>
              <a:buFontTx/>
              <a:buNone/>
              <a:defRPr/>
            </a:pPr>
            <a:r>
              <a:rPr lang="en-US" altLang="ko-KR" sz="2400" b="1" i="1" dirty="0" smtClean="0">
                <a:solidFill>
                  <a:srgbClr val="C00000"/>
                </a:solidFill>
                <a:latin typeface="Times New Roman" pitchFamily="18" charset="0"/>
                <a:cs typeface="Times New Roman" pitchFamily="18" charset="0"/>
              </a:rPr>
              <a:t>Table 3.2 </a:t>
            </a:r>
            <a:r>
              <a:rPr lang="en-US" altLang="ko-KR" sz="2400" dirty="0">
                <a:latin typeface="Times New Roman" pitchFamily="18" charset="0"/>
                <a:cs typeface="Times New Roman" pitchFamily="18" charset="0"/>
              </a:rPr>
              <a:t>Bandwidth </a:t>
            </a:r>
            <a:r>
              <a:rPr lang="en-US" altLang="ko-KR" sz="2400" dirty="0" smtClean="0">
                <a:latin typeface="Times New Roman" pitchFamily="18" charset="0"/>
                <a:cs typeface="Times New Roman" pitchFamily="18" charset="0"/>
              </a:rPr>
              <a:t>requirements</a:t>
            </a:r>
          </a:p>
          <a:p>
            <a:pPr marL="342900" lvl="2" indent="-342900">
              <a:lnSpc>
                <a:spcPct val="150000"/>
              </a:lnSpc>
              <a:buFontTx/>
              <a:buNone/>
              <a:defRPr/>
            </a:pPr>
            <a:endParaRPr lang="en-US" altLang="ko-KR" sz="2400" b="1" i="1" dirty="0">
              <a:latin typeface="Times New Roman" pitchFamily="18" charset="0"/>
              <a:cs typeface="Times New Roman" pitchFamily="18" charset="0"/>
            </a:endParaRPr>
          </a:p>
          <a:p>
            <a:pPr marL="342900" lvl="2" indent="-342900">
              <a:lnSpc>
                <a:spcPct val="150000"/>
              </a:lnSpc>
              <a:buFontTx/>
              <a:buNone/>
              <a:defRPr/>
            </a:pPr>
            <a:endParaRPr lang="en-US" altLang="ko-KR" sz="2400" b="1" i="1" dirty="0" smtClean="0">
              <a:latin typeface="Times New Roman" pitchFamily="18" charset="0"/>
              <a:cs typeface="Times New Roman" pitchFamily="18" charset="0"/>
            </a:endParaRPr>
          </a:p>
          <a:p>
            <a:pPr marL="342900" lvl="2" indent="-342900">
              <a:lnSpc>
                <a:spcPct val="150000"/>
              </a:lnSpc>
              <a:buFontTx/>
              <a:buNone/>
              <a:defRPr/>
            </a:pPr>
            <a:endParaRPr lang="en-US" altLang="ko-KR" sz="2400" b="1" i="1" dirty="0">
              <a:latin typeface="Times New Roman" pitchFamily="18" charset="0"/>
              <a:cs typeface="Times New Roman" pitchFamily="18" charset="0"/>
            </a:endParaRPr>
          </a:p>
          <a:p>
            <a:pPr marL="342900" lvl="2" indent="-342900">
              <a:lnSpc>
                <a:spcPct val="150000"/>
              </a:lnSpc>
              <a:buNone/>
              <a:defRPr/>
            </a:pPr>
            <a:r>
              <a:rPr lang="en-US" altLang="ko-KR" sz="2400" b="1" i="1" dirty="0" smtClean="0">
                <a:solidFill>
                  <a:srgbClr val="C00000"/>
                </a:solidFill>
                <a:latin typeface="Times New Roman" pitchFamily="18" charset="0"/>
                <a:cs typeface="Times New Roman" pitchFamily="18" charset="0"/>
              </a:rPr>
              <a:t>Ex. 3.22 </a:t>
            </a:r>
            <a:r>
              <a:rPr lang="en-US" altLang="ko-KR" sz="2400" dirty="0" smtClean="0">
                <a:latin typeface="Times New Roman" pitchFamily="18" charset="0"/>
                <a:cs typeface="Times New Roman" pitchFamily="18" charset="0"/>
              </a:rPr>
              <a:t>Required Bandwidth </a:t>
            </a:r>
          </a:p>
          <a:p>
            <a:pPr marL="342900" lvl="2" indent="-342900">
              <a:lnSpc>
                <a:spcPct val="150000"/>
              </a:lnSpc>
              <a:buNone/>
              <a:defRPr/>
            </a:pPr>
            <a:r>
              <a:rPr lang="en-US" altLang="ko-KR" sz="2400" b="1" i="1" dirty="0" smtClean="0">
                <a:solidFill>
                  <a:srgbClr val="C00000"/>
                </a:solidFill>
                <a:latin typeface="Times New Roman" pitchFamily="18" charset="0"/>
                <a:cs typeface="Times New Roman" pitchFamily="18" charset="0"/>
              </a:rPr>
              <a:t>Ex</a:t>
            </a:r>
            <a:r>
              <a:rPr lang="en-US" altLang="ko-KR" sz="2400" b="1" i="1" dirty="0">
                <a:solidFill>
                  <a:srgbClr val="C00000"/>
                </a:solidFill>
                <a:latin typeface="Times New Roman" pitchFamily="18" charset="0"/>
                <a:cs typeface="Times New Roman" pitchFamily="18" charset="0"/>
              </a:rPr>
              <a:t>. </a:t>
            </a:r>
            <a:r>
              <a:rPr lang="en-US" altLang="ko-KR" sz="2400" b="1" i="1" dirty="0" smtClean="0">
                <a:solidFill>
                  <a:srgbClr val="C00000"/>
                </a:solidFill>
                <a:latin typeface="Times New Roman" pitchFamily="18" charset="0"/>
                <a:cs typeface="Times New Roman" pitchFamily="18" charset="0"/>
              </a:rPr>
              <a:t>3.23 </a:t>
            </a:r>
            <a:r>
              <a:rPr lang="en-US" altLang="ko-KR" sz="2400" dirty="0" smtClean="0">
                <a:latin typeface="Times New Roman" pitchFamily="18" charset="0"/>
                <a:cs typeface="Times New Roman" pitchFamily="18" charset="0"/>
              </a:rPr>
              <a:t>Minimum Bandwidth</a:t>
            </a:r>
            <a:endParaRPr lang="en-US" altLang="ko-KR" sz="2400" b="1" i="1" dirty="0">
              <a:latin typeface="Times New Roman" pitchFamily="18" charset="0"/>
              <a:cs typeface="Times New Roman" pitchFamily="18" charset="0"/>
            </a:endParaRP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633" y="1114425"/>
            <a:ext cx="878205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9238268"/>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rPr>
              <a:t>3.3.4  </a:t>
            </a:r>
            <a:r>
              <a:rPr lang="pt-BR" altLang="ko-KR" sz="2400" b="0" dirty="0">
                <a:latin typeface="Times New Roman" pitchFamily="18" charset="0"/>
              </a:rPr>
              <a:t>Transmission of Digital Signals</a:t>
            </a:r>
            <a:endParaRPr lang="en-US" altLang="ko-KR" sz="2400" b="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40776"/>
            <a:ext cx="8429625" cy="6046838"/>
          </a:xfrm>
        </p:spPr>
        <p:txBody>
          <a:bodyPr/>
          <a:lstStyle/>
          <a:p>
            <a:pPr marL="342900" lvl="2" indent="-342900">
              <a:lnSpc>
                <a:spcPct val="150000"/>
              </a:lnSpc>
              <a:buFontTx/>
              <a:buNone/>
              <a:defRPr/>
            </a:pPr>
            <a:r>
              <a:rPr lang="en-US" altLang="ko-KR" sz="2400" b="1" i="1" dirty="0" smtClean="0">
                <a:solidFill>
                  <a:srgbClr val="C00000"/>
                </a:solidFill>
                <a:latin typeface="Times New Roman" pitchFamily="18" charset="0"/>
                <a:cs typeface="Times New Roman" pitchFamily="18" charset="0"/>
              </a:rPr>
              <a:t>Broadband Transmission(Using Modulation)</a:t>
            </a:r>
          </a:p>
          <a:p>
            <a:pPr algn="just">
              <a:defRPr/>
            </a:pPr>
            <a:endParaRPr lang="en-US" altLang="ko-KR" dirty="0" smtClean="0">
              <a:latin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lgn="ctr">
              <a:buNone/>
            </a:pPr>
            <a:endParaRPr lang="en-US" altLang="ko-KR" sz="2000" b="1" i="1" dirty="0" smtClean="0">
              <a:solidFill>
                <a:srgbClr val="C00000"/>
              </a:solidFill>
              <a:latin typeface="Times New Roman" pitchFamily="18" charset="0"/>
              <a:cs typeface="Times New Roman" pitchFamily="18" charset="0"/>
            </a:endParaRPr>
          </a:p>
          <a:p>
            <a:pPr algn="just">
              <a:defRPr/>
            </a:pPr>
            <a:endParaRPr lang="en-US" altLang="ko-KR" sz="2000" dirty="0" smtClean="0">
              <a:latin typeface="Times New Roman" pitchFamily="18" charset="0"/>
            </a:endParaRPr>
          </a:p>
          <a:p>
            <a:pPr marL="0" indent="0" algn="ctr">
              <a:buNone/>
            </a:pPr>
            <a:r>
              <a:rPr lang="en-US" altLang="ko-KR" sz="2000" b="1" i="1" dirty="0">
                <a:solidFill>
                  <a:srgbClr val="C00000"/>
                </a:solidFill>
                <a:latin typeface="+mj-lt"/>
                <a:cs typeface="Times New Roman" pitchFamily="18" charset="0"/>
              </a:rPr>
              <a:t>Fig. </a:t>
            </a:r>
            <a:r>
              <a:rPr lang="en-US" altLang="ko-KR" sz="2000" b="1" i="1" dirty="0" smtClean="0">
                <a:solidFill>
                  <a:srgbClr val="C00000"/>
                </a:solidFill>
                <a:latin typeface="+mj-lt"/>
                <a:cs typeface="Times New Roman" pitchFamily="18" charset="0"/>
              </a:rPr>
              <a:t>3.24</a:t>
            </a:r>
            <a:r>
              <a:rPr lang="en-US" altLang="ko-KR" sz="2000" dirty="0" smtClean="0">
                <a:latin typeface="+mj-lt"/>
                <a:cs typeface="Times New Roman" pitchFamily="18" charset="0"/>
              </a:rPr>
              <a:t> </a:t>
            </a:r>
            <a:r>
              <a:rPr lang="en-US" altLang="ko-KR" sz="2000" dirty="0" smtClean="0">
                <a:latin typeface="+mj-lt"/>
              </a:rPr>
              <a:t> </a:t>
            </a:r>
            <a:r>
              <a:rPr lang="en-US" altLang="ko-KR" sz="2000" dirty="0">
                <a:latin typeface="Times New Roman" pitchFamily="18" charset="0"/>
                <a:cs typeface="Times New Roman" pitchFamily="18" charset="0"/>
              </a:rPr>
              <a:t>Bandwidth of a band-pass </a:t>
            </a:r>
            <a:r>
              <a:rPr lang="en-US" altLang="ko-KR" sz="2000" dirty="0" smtClean="0">
                <a:latin typeface="Times New Roman" pitchFamily="18" charset="0"/>
                <a:cs typeface="Times New Roman" pitchFamily="18" charset="0"/>
              </a:rPr>
              <a:t>channel</a:t>
            </a:r>
            <a:endParaRPr lang="en-US" altLang="ko-KR" dirty="0" smtClean="0">
              <a:latin typeface="Times New Roman" pitchFamily="18" charset="0"/>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869" y="1948721"/>
            <a:ext cx="7711018" cy="184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4154551"/>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b="0" dirty="0">
                <a:latin typeface="Times New Roman" pitchFamily="18" charset="0"/>
              </a:rPr>
              <a:t>3.3.4  </a:t>
            </a:r>
            <a:r>
              <a:rPr lang="pt-BR" altLang="ko-KR" sz="2400" b="0" dirty="0">
                <a:latin typeface="Times New Roman" pitchFamily="18" charset="0"/>
              </a:rPr>
              <a:t>Transmission of Digital Signals</a:t>
            </a:r>
            <a:endParaRPr lang="en-US" altLang="ko-KR" sz="2400" b="0" dirty="0">
              <a:latin typeface="Times New Roman" pitchFamily="18" charset="0"/>
              <a:cs typeface="Times New Roman" pitchFamily="18" charset="0"/>
            </a:endParaRPr>
          </a:p>
        </p:txBody>
      </p:sp>
      <p:sp>
        <p:nvSpPr>
          <p:cNvPr id="20483" name="내용 개체 틀 2"/>
          <p:cNvSpPr>
            <a:spLocks noGrp="1"/>
          </p:cNvSpPr>
          <p:nvPr>
            <p:ph idx="1"/>
          </p:nvPr>
        </p:nvSpPr>
        <p:spPr>
          <a:xfrm>
            <a:off x="368300" y="540776"/>
            <a:ext cx="8429625" cy="6046838"/>
          </a:xfrm>
        </p:spPr>
        <p:txBody>
          <a:bodyPr/>
          <a:lstStyle/>
          <a:p>
            <a:pPr marL="342900" lvl="2" indent="-342900">
              <a:lnSpc>
                <a:spcPct val="150000"/>
              </a:lnSpc>
              <a:buFontTx/>
              <a:buNone/>
              <a:defRPr/>
            </a:pPr>
            <a:r>
              <a:rPr lang="en-US" altLang="ko-KR" sz="2400" b="1" i="1" dirty="0" smtClean="0">
                <a:solidFill>
                  <a:srgbClr val="C00000"/>
                </a:solidFill>
                <a:latin typeface="Times New Roman" pitchFamily="18" charset="0"/>
                <a:cs typeface="Times New Roman" pitchFamily="18" charset="0"/>
              </a:rPr>
              <a:t>Broadband Transmission(Using Modulation)</a:t>
            </a:r>
          </a:p>
          <a:p>
            <a:pPr algn="just">
              <a:defRPr/>
            </a:pPr>
            <a:endParaRPr lang="en-US" altLang="ko-KR" dirty="0" smtClean="0">
              <a:latin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buNone/>
            </a:pPr>
            <a:endParaRPr lang="en-US" altLang="ko-KR" sz="2800" b="1" i="1" dirty="0" smtClean="0">
              <a:solidFill>
                <a:srgbClr val="C00000"/>
              </a:solidFill>
              <a:latin typeface="Times New Roman" pitchFamily="18" charset="0"/>
              <a:cs typeface="Times New Roman" pitchFamily="18" charset="0"/>
            </a:endParaRPr>
          </a:p>
          <a:p>
            <a:pPr marL="0" indent="0" algn="ctr">
              <a:buNone/>
            </a:pPr>
            <a:r>
              <a:rPr lang="en-US" altLang="ko-KR" sz="2000" b="1" i="1" dirty="0" smtClean="0">
                <a:solidFill>
                  <a:srgbClr val="C00000"/>
                </a:solidFill>
                <a:latin typeface="+mj-lt"/>
                <a:cs typeface="Times New Roman" pitchFamily="18" charset="0"/>
              </a:rPr>
              <a:t>Fig</a:t>
            </a:r>
            <a:r>
              <a:rPr lang="en-US" altLang="ko-KR" sz="2000" b="1" i="1" dirty="0">
                <a:solidFill>
                  <a:srgbClr val="C00000"/>
                </a:solidFill>
                <a:latin typeface="+mj-lt"/>
                <a:cs typeface="Times New Roman" pitchFamily="18" charset="0"/>
              </a:rPr>
              <a:t>. </a:t>
            </a:r>
            <a:r>
              <a:rPr lang="en-US" altLang="ko-KR" sz="2000" b="1" i="1" dirty="0" smtClean="0">
                <a:solidFill>
                  <a:srgbClr val="C00000"/>
                </a:solidFill>
                <a:latin typeface="+mj-lt"/>
                <a:cs typeface="Times New Roman" pitchFamily="18" charset="0"/>
              </a:rPr>
              <a:t>3.25</a:t>
            </a:r>
            <a:r>
              <a:rPr lang="en-US" altLang="ko-KR" sz="2000" dirty="0" smtClean="0">
                <a:latin typeface="+mj-lt"/>
                <a:cs typeface="Times New Roman" pitchFamily="18" charset="0"/>
              </a:rPr>
              <a:t> </a:t>
            </a:r>
            <a:r>
              <a:rPr lang="en-US" altLang="ko-KR" sz="2000" dirty="0">
                <a:latin typeface="+mj-lt"/>
              </a:rPr>
              <a:t>Modulation of a digital signal for transmission </a:t>
            </a:r>
            <a:r>
              <a:rPr lang="en-US" altLang="ko-KR" sz="2000" dirty="0" smtClean="0">
                <a:latin typeface="+mj-lt"/>
              </a:rPr>
              <a:t>on </a:t>
            </a:r>
            <a:r>
              <a:rPr lang="en-US" altLang="ko-KR" sz="2000" dirty="0">
                <a:latin typeface="+mj-lt"/>
              </a:rPr>
              <a:t>band-pass channel </a:t>
            </a:r>
            <a:endParaRPr lang="en-US" altLang="ko-KR" sz="2000" dirty="0" smtClean="0">
              <a:latin typeface="+mj-lt"/>
            </a:endParaRPr>
          </a:p>
          <a:p>
            <a:pPr marL="0" indent="0" algn="ctr">
              <a:buNone/>
            </a:pPr>
            <a:endParaRPr lang="en-US" altLang="ko-KR" sz="2000" dirty="0">
              <a:latin typeface="+mj-lt"/>
            </a:endParaRPr>
          </a:p>
          <a:p>
            <a:pPr marL="0" indent="0">
              <a:buNone/>
            </a:pPr>
            <a:r>
              <a:rPr lang="en-US" altLang="ko-KR" sz="2000" b="1" i="1" dirty="0" smtClean="0">
                <a:solidFill>
                  <a:srgbClr val="C00000"/>
                </a:solidFill>
                <a:latin typeface="+mj-lt"/>
              </a:rPr>
              <a:t>Ex. 3.24</a:t>
            </a:r>
          </a:p>
          <a:p>
            <a:pPr marL="0" indent="0">
              <a:buNone/>
            </a:pPr>
            <a:r>
              <a:rPr lang="en-US" altLang="ko-KR" sz="2000" b="1" i="1" dirty="0" smtClean="0">
                <a:solidFill>
                  <a:srgbClr val="C00000"/>
                </a:solidFill>
                <a:latin typeface="+mj-lt"/>
              </a:rPr>
              <a:t>Ex. 3.25</a:t>
            </a:r>
            <a:endParaRPr lang="en-US" altLang="ko-KR" dirty="0" smtClean="0">
              <a:latin typeface="Times New Roman"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87568"/>
            <a:ext cx="2374576" cy="664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8424" y="1387568"/>
            <a:ext cx="2374576" cy="664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9237" y="2104519"/>
            <a:ext cx="2277966" cy="97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2094367"/>
            <a:ext cx="2267797" cy="994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198761"/>
            <a:ext cx="2374576" cy="1746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88424" y="3198761"/>
            <a:ext cx="2374576" cy="1746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3195496"/>
            <a:ext cx="2631356" cy="170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2562689"/>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3.4  Transmission Impairment</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616575"/>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3.4  </a:t>
            </a:r>
            <a:r>
              <a:rPr lang="en-US" altLang="ko-KR" sz="28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Transmission </a:t>
            </a: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Impairment</a:t>
            </a:r>
            <a:endParaRPr lang="en-US" altLang="ko-KR" sz="2800" b="1" dirty="0" smtClean="0">
              <a:solidFill>
                <a:srgbClr val="C00000"/>
              </a:solidFill>
              <a:latin typeface="Times New Roman" pitchFamily="18" charset="0"/>
              <a:cs typeface="Times New Roman" pitchFamily="18" charset="0"/>
            </a:endParaRPr>
          </a:p>
          <a:p>
            <a:pPr algn="just">
              <a:defRPr/>
            </a:pPr>
            <a:r>
              <a:rPr lang="en-US" altLang="ko-KR" b="1" i="1" dirty="0" smtClean="0">
                <a:solidFill>
                  <a:srgbClr val="C00000"/>
                </a:solidFill>
                <a:latin typeface="+mj-lt"/>
              </a:rPr>
              <a:t>Imperfection</a:t>
            </a:r>
            <a:r>
              <a:rPr lang="en-US" altLang="ko-KR" dirty="0" smtClean="0">
                <a:latin typeface="+mj-lt"/>
              </a:rPr>
              <a:t> of transmission media causes signal impairment.</a:t>
            </a:r>
          </a:p>
          <a:p>
            <a:pPr algn="just">
              <a:defRPr/>
            </a:pPr>
            <a:r>
              <a:rPr lang="en-US" altLang="ko-KR" dirty="0" smtClean="0">
                <a:latin typeface="+mj-lt"/>
              </a:rPr>
              <a:t>Attenuation, distortion, and noise</a:t>
            </a: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pPr marL="0" indent="0" algn="ctr">
              <a:buNone/>
              <a:defRPr/>
            </a:pPr>
            <a:r>
              <a:rPr lang="en-US" altLang="ko-KR" b="1" i="1" dirty="0" smtClean="0">
                <a:solidFill>
                  <a:srgbClr val="C00000"/>
                </a:solidFill>
                <a:latin typeface="+mj-lt"/>
              </a:rPr>
              <a:t>Fig. 3.26 </a:t>
            </a:r>
            <a:r>
              <a:rPr lang="en-US" altLang="ko-KR" dirty="0">
                <a:latin typeface="Times New Roman" pitchFamily="18" charset="0"/>
                <a:cs typeface="Times New Roman" pitchFamily="18" charset="0"/>
              </a:rPr>
              <a:t>Causes of </a:t>
            </a:r>
            <a:r>
              <a:rPr lang="en-US" altLang="ko-KR" dirty="0" smtClean="0">
                <a:latin typeface="Times New Roman" pitchFamily="18" charset="0"/>
                <a:cs typeface="Times New Roman" pitchFamily="18" charset="0"/>
              </a:rPr>
              <a:t>impairment</a:t>
            </a:r>
            <a:endParaRPr lang="en-US" altLang="ko-KR" dirty="0" smtClean="0">
              <a:latin typeface="Times New Roman" pitchFamily="18"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199" y="2755489"/>
            <a:ext cx="5949153" cy="1880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8888464"/>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3.4  Transmission Impairment</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609600"/>
            <a:ext cx="8429625" cy="6017342"/>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3.4.1  Attenuation</a:t>
            </a:r>
            <a:endParaRPr lang="en-US" altLang="ko-KR" sz="2800" b="1" dirty="0" smtClean="0">
              <a:solidFill>
                <a:srgbClr val="C00000"/>
              </a:solidFill>
              <a:latin typeface="Times New Roman" pitchFamily="18" charset="0"/>
              <a:cs typeface="Times New Roman" pitchFamily="18" charset="0"/>
            </a:endParaRPr>
          </a:p>
          <a:p>
            <a:pPr algn="just">
              <a:defRPr/>
            </a:pPr>
            <a:r>
              <a:rPr lang="en-US" altLang="ko-KR" dirty="0">
                <a:latin typeface="Times New Roman" pitchFamily="18" charset="0"/>
              </a:rPr>
              <a:t>Attenuation means a loss of </a:t>
            </a:r>
            <a:r>
              <a:rPr lang="en-US" altLang="ko-KR" dirty="0" smtClean="0">
                <a:latin typeface="Times New Roman" pitchFamily="18" charset="0"/>
              </a:rPr>
              <a:t>energy.</a:t>
            </a:r>
          </a:p>
          <a:p>
            <a:pPr lvl="1" algn="just">
              <a:defRPr/>
            </a:pPr>
            <a:r>
              <a:rPr lang="en-US" altLang="ko-KR" dirty="0" smtClean="0">
                <a:latin typeface="Times New Roman" pitchFamily="18" charset="0"/>
              </a:rPr>
              <a:t>Overcoming </a:t>
            </a:r>
            <a:r>
              <a:rPr lang="en-US" altLang="ko-KR" dirty="0">
                <a:latin typeface="Times New Roman" pitchFamily="18" charset="0"/>
              </a:rPr>
              <a:t>the resistance of the medium.</a:t>
            </a:r>
            <a:r>
              <a:rPr lang="en-US" altLang="ko-KR" dirty="0" smtClean="0">
                <a:latin typeface="Times New Roman" pitchFamily="18" charset="0"/>
              </a:rPr>
              <a:t> </a:t>
            </a:r>
          </a:p>
          <a:p>
            <a:pPr lvl="1" algn="just">
              <a:defRPr/>
            </a:pPr>
            <a:r>
              <a:rPr lang="en-US" altLang="ko-KR" dirty="0">
                <a:latin typeface="Times New Roman" pitchFamily="18" charset="0"/>
              </a:rPr>
              <a:t>To compensate for this loss, amplifiers are used</a:t>
            </a:r>
            <a:r>
              <a:rPr lang="en-US" altLang="ko-KR" dirty="0" smtClean="0">
                <a:latin typeface="+mj-lt"/>
              </a:rPr>
              <a:t>.</a:t>
            </a:r>
          </a:p>
          <a:p>
            <a:pPr marL="0" indent="0" algn="just">
              <a:buNone/>
              <a:defRPr/>
            </a:pPr>
            <a:endParaRPr lang="en-US" altLang="ko-KR" dirty="0">
              <a:latin typeface="+mj-lt"/>
            </a:endParaRPr>
          </a:p>
          <a:p>
            <a:pPr marL="0" indent="0" algn="just">
              <a:buNone/>
              <a:defRPr/>
            </a:pPr>
            <a:endParaRPr lang="en-US" altLang="ko-KR" dirty="0" smtClean="0">
              <a:latin typeface="+mj-lt"/>
            </a:endParaRP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endParaRPr lang="en-US" altLang="ko-KR" b="1" i="1" dirty="0" smtClean="0">
              <a:solidFill>
                <a:srgbClr val="C00000"/>
              </a:solidFill>
              <a:latin typeface="+mj-lt"/>
            </a:endParaRPr>
          </a:p>
          <a:p>
            <a:endParaRPr lang="en-US" altLang="ko-KR" b="1" i="1" dirty="0">
              <a:solidFill>
                <a:srgbClr val="C00000"/>
              </a:solidFill>
              <a:latin typeface="+mj-lt"/>
            </a:endParaRPr>
          </a:p>
          <a:p>
            <a:pPr marL="0" indent="0">
              <a:buNone/>
            </a:pPr>
            <a:endParaRPr lang="en-US" altLang="ko-KR" b="1" i="1" dirty="0" smtClean="0">
              <a:solidFill>
                <a:srgbClr val="C00000"/>
              </a:solidFill>
              <a:latin typeface="+mj-lt"/>
            </a:endParaRPr>
          </a:p>
          <a:p>
            <a:pPr marL="0" indent="0" algn="ctr">
              <a:buNone/>
            </a:pPr>
            <a:r>
              <a:rPr lang="en-US" altLang="ko-KR" b="1" i="1" dirty="0" smtClean="0">
                <a:solidFill>
                  <a:srgbClr val="C00000"/>
                </a:solidFill>
                <a:latin typeface="+mj-lt"/>
              </a:rPr>
              <a:t>Fig. 3.27 </a:t>
            </a:r>
            <a:r>
              <a:rPr lang="en-US" altLang="ko-KR" dirty="0">
                <a:latin typeface="Times New Roman" pitchFamily="18" charset="0"/>
                <a:cs typeface="Times New Roman" pitchFamily="18" charset="0"/>
              </a:rPr>
              <a:t>Attenuation and </a:t>
            </a:r>
            <a:r>
              <a:rPr lang="en-US" altLang="ko-KR" dirty="0" smtClean="0">
                <a:latin typeface="Times New Roman" pitchFamily="18" charset="0"/>
                <a:cs typeface="Times New Roman" pitchFamily="18" charset="0"/>
              </a:rPr>
              <a:t>amplification</a:t>
            </a:r>
            <a:endParaRPr lang="en-US" altLang="ko-KR" dirty="0" smtClean="0">
              <a:latin typeface="Times New Roman"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6181" y="4618628"/>
            <a:ext cx="6769774" cy="11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651" y="3165988"/>
            <a:ext cx="1062643" cy="1209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1160" y="3175051"/>
            <a:ext cx="1170039" cy="1200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5231" y="3233270"/>
            <a:ext cx="1116244" cy="1306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3764735"/>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3.4  Transmission Impairment</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68300" y="609600"/>
                <a:ext cx="8429625" cy="6017342"/>
              </a:xfrm>
            </p:spPr>
            <p:txBody>
              <a:bodyPr/>
              <a:lstStyle/>
              <a:p>
                <a:pPr marL="342900" lvl="2" indent="-342900">
                  <a:buFontTx/>
                  <a:buNone/>
                  <a:defRPr/>
                </a:pPr>
                <a:r>
                  <a:rPr lang="en-US" altLang="ko-KR" sz="2400" b="1" i="1" dirty="0" smtClean="0">
                    <a:solidFill>
                      <a:srgbClr val="C00000"/>
                    </a:solidFill>
                    <a:latin typeface="Times New Roman" pitchFamily="18" charset="0"/>
                    <a:cs typeface="Times New Roman" pitchFamily="18" charset="0"/>
                  </a:rPr>
                  <a:t>Decibel</a:t>
                </a:r>
                <a14:m>
                  <m:oMath xmlns:m="http://schemas.openxmlformats.org/officeDocument/2006/math">
                    <m:r>
                      <a:rPr lang="en-US" altLang="ko-KR" sz="2000" b="0" i="1" smtClean="0">
                        <a:latin typeface="Cambria Math"/>
                      </a:rPr>
                      <m:t>                                 </m:t>
                    </m:r>
                    <m:r>
                      <a:rPr lang="en-US" altLang="ko-KR" sz="2000" b="1" i="0" smtClean="0">
                        <a:latin typeface="Cambria Math"/>
                      </a:rPr>
                      <m:t>𝐝𝐁</m:t>
                    </m:r>
                    <m:r>
                      <a:rPr lang="en-US" altLang="ko-KR" sz="2000" b="1" i="0" smtClean="0">
                        <a:latin typeface="Cambria Math"/>
                      </a:rPr>
                      <m:t>=</m:t>
                    </m:r>
                    <m:r>
                      <a:rPr lang="en-US" altLang="ko-KR" sz="2000" b="1" i="0" smtClean="0">
                        <a:latin typeface="Cambria Math"/>
                      </a:rPr>
                      <m:t>𝟏𝟎</m:t>
                    </m:r>
                    <m:sSub>
                      <m:sSubPr>
                        <m:ctrlPr>
                          <a:rPr lang="en-US" altLang="ko-KR" sz="2000" b="1" i="1" smtClean="0">
                            <a:latin typeface="Cambria Math" panose="02040503050406030204" pitchFamily="18" charset="0"/>
                          </a:rPr>
                        </m:ctrlPr>
                      </m:sSubPr>
                      <m:e>
                        <m:r>
                          <a:rPr lang="en-US" altLang="ko-KR" sz="2000" b="1" i="0" smtClean="0">
                            <a:latin typeface="Cambria Math"/>
                          </a:rPr>
                          <m:t>𝐥𝐨𝐠</m:t>
                        </m:r>
                      </m:e>
                      <m:sub>
                        <m:r>
                          <a:rPr lang="en-US" altLang="ko-KR" sz="2000" b="1" i="0" smtClean="0">
                            <a:latin typeface="Cambria Math"/>
                          </a:rPr>
                          <m:t>𝟏𝟎</m:t>
                        </m:r>
                      </m:sub>
                    </m:sSub>
                    <m:f>
                      <m:fPr>
                        <m:ctrlPr>
                          <a:rPr lang="en-US" altLang="ko-KR" sz="2000" b="1" i="1" smtClean="0">
                            <a:latin typeface="Cambria Math" panose="02040503050406030204" pitchFamily="18" charset="0"/>
                          </a:rPr>
                        </m:ctrlPr>
                      </m:fPr>
                      <m:num>
                        <m:sSub>
                          <m:sSubPr>
                            <m:ctrlPr>
                              <a:rPr lang="en-US" altLang="ko-KR" sz="2000" b="1" i="1" smtClean="0">
                                <a:latin typeface="Cambria Math" panose="02040503050406030204" pitchFamily="18" charset="0"/>
                              </a:rPr>
                            </m:ctrlPr>
                          </m:sSubPr>
                          <m:e>
                            <m:r>
                              <a:rPr lang="en-US" altLang="ko-KR" sz="2000" b="1" i="0" smtClean="0">
                                <a:latin typeface="Cambria Math"/>
                              </a:rPr>
                              <m:t>𝐏</m:t>
                            </m:r>
                          </m:e>
                          <m:sub>
                            <m:r>
                              <a:rPr lang="en-US" altLang="ko-KR" sz="2000" b="1" i="0" smtClean="0">
                                <a:latin typeface="Cambria Math"/>
                              </a:rPr>
                              <m:t>𝟐</m:t>
                            </m:r>
                          </m:sub>
                        </m:sSub>
                      </m:num>
                      <m:den>
                        <m:sSub>
                          <m:sSubPr>
                            <m:ctrlPr>
                              <a:rPr lang="en-US" altLang="ko-KR" sz="2000" b="1" i="1" smtClean="0">
                                <a:latin typeface="Cambria Math" panose="02040503050406030204" pitchFamily="18" charset="0"/>
                              </a:rPr>
                            </m:ctrlPr>
                          </m:sSubPr>
                          <m:e>
                            <m:r>
                              <a:rPr lang="en-US" altLang="ko-KR" sz="2000" b="1" i="0" smtClean="0">
                                <a:latin typeface="Cambria Math"/>
                              </a:rPr>
                              <m:t>𝐏</m:t>
                            </m:r>
                          </m:e>
                          <m:sub>
                            <m:r>
                              <a:rPr lang="en-US" altLang="ko-KR" sz="2000" b="1" i="0" smtClean="0">
                                <a:latin typeface="Cambria Math"/>
                              </a:rPr>
                              <m:t>𝟏</m:t>
                            </m:r>
                          </m:sub>
                        </m:sSub>
                      </m:den>
                    </m:f>
                  </m:oMath>
                </a14:m>
                <a:endParaRPr lang="en-US" altLang="ko-KR" b="1" dirty="0" smtClean="0">
                  <a:latin typeface="+mj-lt"/>
                </a:endParaRPr>
              </a:p>
              <a:p>
                <a:pPr marL="342900" lvl="2" indent="-342900">
                  <a:buFontTx/>
                  <a:buNone/>
                  <a:defRPr/>
                </a:pPr>
                <a:endParaRPr lang="en-US" altLang="ko-KR" b="1" dirty="0" smtClean="0">
                  <a:latin typeface="+mj-lt"/>
                </a:endParaRPr>
              </a:p>
              <a:p>
                <a:pPr marL="0" indent="0" algn="just">
                  <a:buNone/>
                  <a:defRPr/>
                </a:pPr>
                <a:r>
                  <a:rPr lang="en-US" altLang="ko-KR" b="1" i="1" dirty="0" smtClean="0">
                    <a:solidFill>
                      <a:srgbClr val="C00000"/>
                    </a:solidFill>
                    <a:latin typeface="Times New Roman" pitchFamily="18" charset="0"/>
                  </a:rPr>
                  <a:t>Ex. 3.26</a:t>
                </a:r>
              </a:p>
              <a:p>
                <a:pPr marL="0" indent="0" algn="just">
                  <a:buNone/>
                  <a:defRPr/>
                </a:pPr>
                <a:endParaRPr lang="en-US" altLang="ko-KR" b="1" i="1" dirty="0" smtClean="0">
                  <a:solidFill>
                    <a:srgbClr val="C00000"/>
                  </a:solidFill>
                  <a:latin typeface="Times New Roman" pitchFamily="18" charset="0"/>
                </a:endParaRPr>
              </a:p>
              <a:p>
                <a:pPr marL="0" indent="0" algn="just">
                  <a:buNone/>
                  <a:defRPr/>
                </a:pPr>
                <a:r>
                  <a:rPr lang="en-US" altLang="ko-KR" b="1" i="1" dirty="0" smtClean="0">
                    <a:solidFill>
                      <a:srgbClr val="C00000"/>
                    </a:solidFill>
                    <a:latin typeface="Times New Roman" pitchFamily="18" charset="0"/>
                  </a:rPr>
                  <a:t>Ex</a:t>
                </a:r>
                <a:r>
                  <a:rPr lang="en-US" altLang="ko-KR" b="1" i="1" dirty="0">
                    <a:solidFill>
                      <a:srgbClr val="C00000"/>
                    </a:solidFill>
                    <a:latin typeface="Times New Roman" pitchFamily="18" charset="0"/>
                  </a:rPr>
                  <a:t>. </a:t>
                </a:r>
                <a:r>
                  <a:rPr lang="en-US" altLang="ko-KR" b="1" i="1" dirty="0" smtClean="0">
                    <a:solidFill>
                      <a:srgbClr val="C00000"/>
                    </a:solidFill>
                    <a:latin typeface="Times New Roman" pitchFamily="18" charset="0"/>
                  </a:rPr>
                  <a:t>3.27</a:t>
                </a:r>
              </a:p>
              <a:p>
                <a:pPr marL="0" indent="0" algn="just">
                  <a:buNone/>
                  <a:defRPr/>
                </a:pPr>
                <a:endParaRPr lang="en-US" altLang="ko-KR" b="1" i="1" dirty="0">
                  <a:solidFill>
                    <a:srgbClr val="C00000"/>
                  </a:solidFill>
                  <a:latin typeface="Times New Roman" pitchFamily="18" charset="0"/>
                </a:endParaRPr>
              </a:p>
              <a:p>
                <a:pPr marL="0" indent="0" algn="just">
                  <a:buNone/>
                  <a:defRPr/>
                </a:pPr>
                <a:r>
                  <a:rPr lang="en-US" altLang="ko-KR" b="1" i="1" dirty="0" smtClean="0">
                    <a:solidFill>
                      <a:srgbClr val="C00000"/>
                    </a:solidFill>
                    <a:latin typeface="Times New Roman" pitchFamily="18" charset="0"/>
                  </a:rPr>
                  <a:t>Ex. 3.28</a:t>
                </a:r>
                <a:endParaRPr lang="en-US" altLang="ko-KR" b="1" i="1" dirty="0">
                  <a:solidFill>
                    <a:srgbClr val="C00000"/>
                  </a:solidFill>
                  <a:latin typeface="Times New Roman" pitchFamily="18" charset="0"/>
                </a:endParaRPr>
              </a:p>
              <a:p>
                <a:pPr marL="0" indent="0" algn="just">
                  <a:buNone/>
                  <a:defRPr/>
                </a:pPr>
                <a:endParaRPr lang="en-US" altLang="ko-KR" b="1" i="1" dirty="0" smtClean="0">
                  <a:solidFill>
                    <a:srgbClr val="C00000"/>
                  </a:solidFill>
                  <a:latin typeface="Times New Roman" pitchFamily="18" charset="0"/>
                </a:endParaRP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pPr marL="0" indent="0" algn="ctr">
                  <a:buNone/>
                </a:pPr>
                <a:endParaRPr lang="en-US" altLang="ko-KR" b="1" i="1" dirty="0">
                  <a:solidFill>
                    <a:srgbClr val="C00000"/>
                  </a:solidFill>
                  <a:latin typeface="+mj-lt"/>
                </a:endParaRPr>
              </a:p>
              <a:p>
                <a:pPr marL="0" indent="0" algn="ctr">
                  <a:buNone/>
                </a:pPr>
                <a:r>
                  <a:rPr lang="en-US" altLang="ko-KR" b="1" i="1" dirty="0" smtClean="0">
                    <a:solidFill>
                      <a:srgbClr val="C00000"/>
                    </a:solidFill>
                    <a:latin typeface="+mj-lt"/>
                  </a:rPr>
                  <a:t>Fig. 3.28 </a:t>
                </a:r>
                <a:r>
                  <a:rPr lang="en-US" altLang="ko-KR" dirty="0">
                    <a:latin typeface="Times New Roman" pitchFamily="18" charset="0"/>
                    <a:cs typeface="Times New Roman" pitchFamily="18" charset="0"/>
                  </a:rPr>
                  <a:t>Decibels for Example </a:t>
                </a:r>
                <a:r>
                  <a:rPr lang="en-US" altLang="ko-KR" dirty="0" smtClean="0">
                    <a:latin typeface="Times New Roman" pitchFamily="18" charset="0"/>
                    <a:cs typeface="Times New Roman" pitchFamily="18" charset="0"/>
                  </a:rPr>
                  <a:t>3.28</a:t>
                </a:r>
                <a:endParaRPr lang="en-US" altLang="ko-KR" dirty="0" smtClean="0">
                  <a:latin typeface="Times New Roman" pitchFamily="18" charset="0"/>
                </a:endParaRPr>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68300" y="609600"/>
                <a:ext cx="8429625" cy="6017342"/>
              </a:xfrm>
              <a:blipFill rotWithShape="1">
                <a:blip r:embed="rId2"/>
                <a:stretch>
                  <a:fillRect l="-1085" t="-507"/>
                </a:stretch>
              </a:blipFill>
            </p:spPr>
            <p:txBody>
              <a:bodyPr/>
              <a:lstStyle/>
              <a:p>
                <a:r>
                  <a:rPr lang="ko-KR" altLang="en-US">
                    <a:noFill/>
                  </a:rPr>
                  <a:t> </a:t>
                </a:r>
              </a:p>
            </p:txBody>
          </p:sp>
        </mc:Fallback>
      </mc:AlternateContent>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229" y="3957016"/>
            <a:ext cx="7112149" cy="1913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1756" y="2278399"/>
            <a:ext cx="6154226" cy="813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1756" y="1608651"/>
            <a:ext cx="7243607" cy="29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9655" y="3309704"/>
            <a:ext cx="2400301" cy="387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0644459"/>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3.4  Transmission Impairment</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87965" y="648929"/>
                <a:ext cx="8429625" cy="6017342"/>
              </a:xfrm>
            </p:spPr>
            <p:txBody>
              <a:bodyPr/>
              <a:lstStyle/>
              <a:p>
                <a:pPr marL="342900" lvl="2" indent="-342900">
                  <a:buFontTx/>
                  <a:buNone/>
                  <a:defRPr/>
                </a:pPr>
                <a:endParaRPr lang="en-US" altLang="ko-KR" b="1" dirty="0" smtClean="0">
                  <a:latin typeface="+mj-lt"/>
                </a:endParaRPr>
              </a:p>
              <a:p>
                <a:pPr marL="0" indent="0" algn="just">
                  <a:buNone/>
                  <a:defRPr/>
                </a:pPr>
                <a:r>
                  <a:rPr lang="en-US" altLang="ko-KR" b="1" i="1" dirty="0" smtClean="0">
                    <a:solidFill>
                      <a:srgbClr val="C00000"/>
                    </a:solidFill>
                    <a:latin typeface="Times New Roman" pitchFamily="18" charset="0"/>
                  </a:rPr>
                  <a:t>Ex. 3.29  </a:t>
                </a:r>
                <a14:m>
                  <m:oMath xmlns:m="http://schemas.openxmlformats.org/officeDocument/2006/math">
                    <m:sSub>
                      <m:sSubPr>
                        <m:ctrlPr>
                          <a:rPr lang="en-US" altLang="ko-KR" i="1" smtClean="0">
                            <a:solidFill>
                              <a:schemeClr val="tx1"/>
                            </a:solidFill>
                            <a:latin typeface="Cambria Math" panose="02040503050406030204" pitchFamily="18" charset="0"/>
                          </a:rPr>
                        </m:ctrlPr>
                      </m:sSubPr>
                      <m:e>
                        <m:r>
                          <m:rPr>
                            <m:sty m:val="p"/>
                          </m:rPr>
                          <a:rPr lang="en-US" altLang="ko-KR" b="0" i="0" smtClean="0">
                            <a:solidFill>
                              <a:schemeClr val="tx1"/>
                            </a:solidFill>
                            <a:latin typeface="Cambria Math"/>
                          </a:rPr>
                          <m:t>dB</m:t>
                        </m:r>
                      </m:e>
                      <m:sub>
                        <m:r>
                          <m:rPr>
                            <m:sty m:val="p"/>
                          </m:rPr>
                          <a:rPr lang="en-US" altLang="ko-KR" b="0" i="0" smtClean="0">
                            <a:solidFill>
                              <a:schemeClr val="tx1"/>
                            </a:solidFill>
                            <a:latin typeface="Cambria Math"/>
                          </a:rPr>
                          <m:t>m</m:t>
                        </m:r>
                      </m:sub>
                    </m:sSub>
                    <m:r>
                      <a:rPr lang="en-US" altLang="ko-KR" b="0" i="0" smtClean="0">
                        <a:solidFill>
                          <a:schemeClr val="tx1"/>
                        </a:solidFill>
                        <a:latin typeface="Cambria Math"/>
                      </a:rPr>
                      <m:t>=10</m:t>
                    </m:r>
                    <m:sSub>
                      <m:sSubPr>
                        <m:ctrlPr>
                          <a:rPr lang="en-US" altLang="ko-KR" i="1" smtClean="0">
                            <a:solidFill>
                              <a:schemeClr val="tx1"/>
                            </a:solidFill>
                            <a:latin typeface="Cambria Math" panose="02040503050406030204" pitchFamily="18" charset="0"/>
                          </a:rPr>
                        </m:ctrlPr>
                      </m:sSubPr>
                      <m:e>
                        <m:r>
                          <m:rPr>
                            <m:sty m:val="p"/>
                          </m:rPr>
                          <a:rPr lang="en-US" altLang="ko-KR" b="0" i="0" smtClean="0">
                            <a:solidFill>
                              <a:schemeClr val="tx1"/>
                            </a:solidFill>
                            <a:latin typeface="Cambria Math"/>
                          </a:rPr>
                          <m:t>log</m:t>
                        </m:r>
                      </m:e>
                      <m:sub>
                        <m:r>
                          <a:rPr lang="en-US" altLang="ko-KR" b="0" i="0" smtClean="0">
                            <a:solidFill>
                              <a:schemeClr val="tx1"/>
                            </a:solidFill>
                            <a:latin typeface="Cambria Math"/>
                          </a:rPr>
                          <m:t>10</m:t>
                        </m:r>
                      </m:sub>
                    </m:sSub>
                    <m:sSub>
                      <m:sSubPr>
                        <m:ctrlPr>
                          <a:rPr lang="en-US" altLang="ko-KR" i="1" smtClean="0">
                            <a:solidFill>
                              <a:schemeClr val="tx1"/>
                            </a:solidFill>
                            <a:latin typeface="Cambria Math" panose="02040503050406030204" pitchFamily="18" charset="0"/>
                          </a:rPr>
                        </m:ctrlPr>
                      </m:sSubPr>
                      <m:e>
                        <m:r>
                          <m:rPr>
                            <m:sty m:val="p"/>
                          </m:rPr>
                          <a:rPr lang="en-US" altLang="ko-KR" b="0" i="0" smtClean="0">
                            <a:solidFill>
                              <a:schemeClr val="tx1"/>
                            </a:solidFill>
                            <a:latin typeface="Cambria Math"/>
                          </a:rPr>
                          <m:t>P</m:t>
                        </m:r>
                      </m:e>
                      <m:sub>
                        <m:r>
                          <m:rPr>
                            <m:sty m:val="p"/>
                          </m:rPr>
                          <a:rPr lang="en-US" altLang="ko-KR" b="0" i="0" smtClean="0">
                            <a:solidFill>
                              <a:schemeClr val="tx1"/>
                            </a:solidFill>
                            <a:latin typeface="Cambria Math"/>
                          </a:rPr>
                          <m:t>m</m:t>
                        </m:r>
                      </m:sub>
                    </m:sSub>
                  </m:oMath>
                </a14:m>
                <a:endParaRPr lang="en-US" altLang="ko-KR" dirty="0" smtClean="0">
                  <a:solidFill>
                    <a:schemeClr val="tx1"/>
                  </a:solidFill>
                  <a:latin typeface="+mj-lt"/>
                </a:endParaRPr>
              </a:p>
              <a:p>
                <a:pPr marL="0" indent="0" algn="just">
                  <a:buNone/>
                  <a:defRPr/>
                </a:pPr>
                <a:endParaRPr lang="en-US" altLang="ko-KR" b="1" i="1" dirty="0" smtClean="0">
                  <a:solidFill>
                    <a:srgbClr val="C00000"/>
                  </a:solidFill>
                  <a:latin typeface="Times New Roman" pitchFamily="18" charset="0"/>
                </a:endParaRPr>
              </a:p>
              <a:p>
                <a:pPr marL="0" indent="0" algn="just">
                  <a:buNone/>
                  <a:defRPr/>
                </a:pPr>
                <a:endParaRPr lang="en-US" altLang="ko-KR" b="1" i="1" dirty="0" smtClean="0">
                  <a:solidFill>
                    <a:srgbClr val="C00000"/>
                  </a:solidFill>
                  <a:latin typeface="Times New Roman" pitchFamily="18" charset="0"/>
                </a:endParaRPr>
              </a:p>
              <a:p>
                <a:pPr marL="0" indent="0" algn="just">
                  <a:buNone/>
                  <a:defRPr/>
                </a:pPr>
                <a:r>
                  <a:rPr lang="en-US" altLang="ko-KR" b="1" i="1" dirty="0" smtClean="0">
                    <a:solidFill>
                      <a:srgbClr val="C00000"/>
                    </a:solidFill>
                    <a:latin typeface="Times New Roman" pitchFamily="18" charset="0"/>
                  </a:rPr>
                  <a:t>Ex</a:t>
                </a:r>
                <a:r>
                  <a:rPr lang="en-US" altLang="ko-KR" b="1" i="1" dirty="0">
                    <a:solidFill>
                      <a:srgbClr val="C00000"/>
                    </a:solidFill>
                    <a:latin typeface="Times New Roman" pitchFamily="18" charset="0"/>
                  </a:rPr>
                  <a:t>. </a:t>
                </a:r>
                <a:r>
                  <a:rPr lang="en-US" altLang="ko-KR" b="1" i="1" dirty="0" smtClean="0">
                    <a:solidFill>
                      <a:srgbClr val="C00000"/>
                    </a:solidFill>
                    <a:latin typeface="Times New Roman" pitchFamily="18" charset="0"/>
                  </a:rPr>
                  <a:t>3.30</a:t>
                </a:r>
                <a:endParaRPr lang="en-US" altLang="ko-KR" dirty="0" smtClean="0">
                  <a:latin typeface="Times New Roman" pitchFamily="18" charset="0"/>
                </a:endParaRPr>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87965" y="648929"/>
                <a:ext cx="8429625" cy="6017342"/>
              </a:xfrm>
              <a:blipFill rotWithShape="1">
                <a:blip r:embed="rId2"/>
                <a:stretch>
                  <a:fillRect l="-1158"/>
                </a:stretch>
              </a:blipFill>
            </p:spPr>
            <p:txBody>
              <a:bodyPr/>
              <a:lstStyle/>
              <a:p>
                <a:r>
                  <a:rPr lang="ko-KR" altLang="en-US">
                    <a:noFill/>
                  </a:rPr>
                  <a:t> </a:t>
                </a:r>
              </a:p>
            </p:txBody>
          </p:sp>
        </mc:Fallback>
      </mc:AlternateContent>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9829" y="1486919"/>
            <a:ext cx="7084142" cy="550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829" y="2258925"/>
            <a:ext cx="6795166" cy="122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0330188"/>
      </p:ext>
    </p:extLst>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3.4  Transmission Impairment</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58467" y="580103"/>
            <a:ext cx="8429625" cy="6017342"/>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3.4.2  Distortion</a:t>
            </a:r>
            <a:endParaRPr lang="en-US" altLang="ko-KR" sz="2800" b="1" dirty="0" smtClean="0">
              <a:solidFill>
                <a:srgbClr val="C00000"/>
              </a:solidFill>
              <a:latin typeface="Times New Roman" pitchFamily="18" charset="0"/>
              <a:cs typeface="Times New Roman" pitchFamily="18" charset="0"/>
            </a:endParaRPr>
          </a:p>
          <a:p>
            <a:pPr algn="just">
              <a:defRPr/>
            </a:pPr>
            <a:r>
              <a:rPr lang="en-US" altLang="ko-KR" b="1" i="1" dirty="0">
                <a:solidFill>
                  <a:srgbClr val="C00000"/>
                </a:solidFill>
                <a:latin typeface="Times New Roman" pitchFamily="18" charset="0"/>
              </a:rPr>
              <a:t>Distortion</a:t>
            </a:r>
            <a:r>
              <a:rPr lang="en-US" altLang="ko-KR" dirty="0">
                <a:latin typeface="Times New Roman" pitchFamily="18" charset="0"/>
              </a:rPr>
              <a:t> means that the signal changes its form or shape</a:t>
            </a:r>
            <a:r>
              <a:rPr lang="en-US" altLang="ko-KR" dirty="0" smtClean="0">
                <a:latin typeface="Times New Roman" pitchFamily="18" charset="0"/>
              </a:rPr>
              <a:t>.</a:t>
            </a:r>
          </a:p>
          <a:p>
            <a:pPr lvl="1" algn="just">
              <a:defRPr/>
            </a:pPr>
            <a:r>
              <a:rPr lang="en-US" altLang="ko-KR" dirty="0" smtClean="0">
                <a:latin typeface="Times New Roman" pitchFamily="18" charset="0"/>
              </a:rPr>
              <a:t>Composite </a:t>
            </a:r>
            <a:r>
              <a:rPr lang="en-US" altLang="ko-KR" dirty="0">
                <a:latin typeface="Times New Roman" pitchFamily="18" charset="0"/>
              </a:rPr>
              <a:t>signal </a:t>
            </a:r>
            <a:endParaRPr lang="en-US" altLang="ko-KR" dirty="0" smtClean="0">
              <a:latin typeface="Times New Roman" pitchFamily="18" charset="0"/>
            </a:endParaRPr>
          </a:p>
          <a:p>
            <a:pPr lvl="1" algn="just">
              <a:defRPr/>
            </a:pPr>
            <a:r>
              <a:rPr lang="en-US" altLang="ko-KR" dirty="0" smtClean="0">
                <a:latin typeface="Times New Roman" pitchFamily="18" charset="0"/>
              </a:rPr>
              <a:t>Different delay </a:t>
            </a:r>
            <a:r>
              <a:rPr lang="en-US" altLang="ko-KR" dirty="0">
                <a:latin typeface="Times New Roman" pitchFamily="18" charset="0"/>
              </a:rPr>
              <a:t>in </a:t>
            </a:r>
            <a:r>
              <a:rPr lang="en-US" altLang="ko-KR" dirty="0" smtClean="0">
                <a:latin typeface="Times New Roman" pitchFamily="18" charset="0"/>
              </a:rPr>
              <a:t>arriving</a:t>
            </a:r>
            <a:endParaRPr lang="en-US" altLang="ko-KR" dirty="0" smtClean="0">
              <a:latin typeface="+mj-lt"/>
            </a:endParaRPr>
          </a:p>
          <a:p>
            <a:pPr marL="0" indent="0" algn="just">
              <a:buNone/>
              <a:defRPr/>
            </a:pP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endParaRPr lang="en-US" altLang="ko-KR" b="1" i="1" dirty="0" smtClean="0">
              <a:solidFill>
                <a:srgbClr val="C00000"/>
              </a:solidFill>
              <a:latin typeface="+mj-lt"/>
            </a:endParaRPr>
          </a:p>
          <a:p>
            <a:endParaRPr lang="en-US" altLang="ko-KR" b="1" i="1" dirty="0">
              <a:solidFill>
                <a:srgbClr val="C00000"/>
              </a:solidFill>
              <a:latin typeface="+mj-lt"/>
            </a:endParaRPr>
          </a:p>
          <a:p>
            <a:pPr marL="0" indent="0">
              <a:buNone/>
            </a:pPr>
            <a:endParaRPr lang="en-US" altLang="ko-KR" b="1" i="1" dirty="0" smtClean="0">
              <a:solidFill>
                <a:srgbClr val="C00000"/>
              </a:solidFill>
              <a:latin typeface="+mj-lt"/>
            </a:endParaRPr>
          </a:p>
          <a:p>
            <a:pPr marL="0" indent="0" algn="ctr">
              <a:buNone/>
            </a:pPr>
            <a:endParaRPr lang="en-US" altLang="ko-KR" b="1" i="1" dirty="0" smtClean="0">
              <a:solidFill>
                <a:srgbClr val="C00000"/>
              </a:solidFill>
              <a:latin typeface="+mj-lt"/>
            </a:endParaRPr>
          </a:p>
          <a:p>
            <a:pPr marL="0" indent="0" algn="ctr">
              <a:buNone/>
            </a:pPr>
            <a:r>
              <a:rPr lang="en-US" altLang="ko-KR" b="1" i="1" dirty="0" smtClean="0">
                <a:solidFill>
                  <a:srgbClr val="C00000"/>
                </a:solidFill>
                <a:latin typeface="+mj-lt"/>
              </a:rPr>
              <a:t>Fig. 3.29 </a:t>
            </a:r>
            <a:r>
              <a:rPr lang="en-US" altLang="ko-KR" dirty="0" smtClean="0">
                <a:latin typeface="Times New Roman" pitchFamily="18" charset="0"/>
              </a:rPr>
              <a:t>Distortion</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11" y="2807016"/>
            <a:ext cx="4390373" cy="22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0320" y="2807016"/>
            <a:ext cx="3963597" cy="22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5638671"/>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3.4  Transmission Impairment</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58467" y="580103"/>
            <a:ext cx="8429625" cy="6017342"/>
          </a:xfrm>
        </p:spPr>
        <p:txBody>
          <a:bodyPr/>
          <a:lstStyle/>
          <a:p>
            <a:pPr marL="342900" lvl="2" indent="-342900">
              <a:lnSpc>
                <a:spcPct val="150000"/>
              </a:lnSpc>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3.4.3  Noise</a:t>
            </a:r>
            <a:endParaRPr lang="en-US" altLang="ko-KR" sz="2800" b="1" dirty="0" smtClean="0">
              <a:solidFill>
                <a:srgbClr val="C00000"/>
              </a:solidFill>
              <a:latin typeface="Times New Roman" pitchFamily="18" charset="0"/>
              <a:cs typeface="Times New Roman" pitchFamily="18" charset="0"/>
            </a:endParaRPr>
          </a:p>
          <a:p>
            <a:pPr algn="just">
              <a:defRPr/>
            </a:pPr>
            <a:r>
              <a:rPr lang="en-US" altLang="ko-KR" dirty="0">
                <a:latin typeface="Times New Roman" pitchFamily="18" charset="0"/>
              </a:rPr>
              <a:t>Several types of </a:t>
            </a:r>
            <a:r>
              <a:rPr lang="en-US" altLang="ko-KR" b="1" i="1" dirty="0">
                <a:solidFill>
                  <a:srgbClr val="C00000"/>
                </a:solidFill>
                <a:latin typeface="Times New Roman" pitchFamily="18" charset="0"/>
              </a:rPr>
              <a:t>noise</a:t>
            </a:r>
            <a:r>
              <a:rPr lang="en-US" altLang="ko-KR" dirty="0">
                <a:latin typeface="Times New Roman" pitchFamily="18" charset="0"/>
              </a:rPr>
              <a:t> </a:t>
            </a:r>
            <a:endParaRPr lang="en-US" altLang="ko-KR" dirty="0" smtClean="0">
              <a:latin typeface="Times New Roman" pitchFamily="18" charset="0"/>
            </a:endParaRPr>
          </a:p>
          <a:p>
            <a:pPr lvl="1" algn="just">
              <a:defRPr/>
            </a:pPr>
            <a:r>
              <a:rPr lang="en-US" altLang="ko-KR" dirty="0">
                <a:latin typeface="Times New Roman" pitchFamily="18" charset="0"/>
              </a:rPr>
              <a:t>thermal noise </a:t>
            </a:r>
            <a:endParaRPr lang="en-US" altLang="ko-KR" dirty="0" smtClean="0">
              <a:latin typeface="Times New Roman" pitchFamily="18" charset="0"/>
            </a:endParaRPr>
          </a:p>
          <a:p>
            <a:pPr lvl="1" algn="just">
              <a:defRPr/>
            </a:pPr>
            <a:r>
              <a:rPr lang="en-US" altLang="ko-KR" dirty="0">
                <a:latin typeface="Times New Roman" pitchFamily="18" charset="0"/>
              </a:rPr>
              <a:t>induced noise </a:t>
            </a:r>
            <a:endParaRPr lang="en-US" altLang="ko-KR" dirty="0" smtClean="0">
              <a:latin typeface="Times New Roman" pitchFamily="18" charset="0"/>
            </a:endParaRPr>
          </a:p>
          <a:p>
            <a:pPr lvl="1" algn="just">
              <a:defRPr/>
            </a:pPr>
            <a:r>
              <a:rPr lang="en-US" altLang="ko-KR" dirty="0">
                <a:latin typeface="Times New Roman" pitchFamily="18" charset="0"/>
              </a:rPr>
              <a:t>crosstalk </a:t>
            </a:r>
            <a:endParaRPr lang="en-US" altLang="ko-KR" dirty="0" smtClean="0">
              <a:latin typeface="Times New Roman" pitchFamily="18" charset="0"/>
            </a:endParaRPr>
          </a:p>
          <a:p>
            <a:pPr lvl="1" algn="just">
              <a:defRPr/>
            </a:pPr>
            <a:r>
              <a:rPr lang="en-US" altLang="ko-KR" dirty="0">
                <a:latin typeface="Times New Roman" pitchFamily="18" charset="0"/>
              </a:rPr>
              <a:t>impulse noise</a:t>
            </a:r>
            <a:endParaRPr lang="en-US" altLang="ko-KR" dirty="0" smtClean="0">
              <a:latin typeface="+mj-lt"/>
            </a:endParaRPr>
          </a:p>
          <a:p>
            <a:pPr marL="0" indent="0" algn="just">
              <a:buNone/>
              <a:defRPr/>
            </a:pPr>
            <a:endParaRPr lang="en-US" altLang="ko-KR" dirty="0">
              <a:latin typeface="+mj-lt"/>
            </a:endParaRPr>
          </a:p>
          <a:p>
            <a:pPr marL="0" indent="0" algn="just">
              <a:buNone/>
              <a:defRPr/>
            </a:pPr>
            <a:endParaRPr lang="en-US" altLang="ko-KR" dirty="0" smtClean="0">
              <a:latin typeface="+mj-lt"/>
            </a:endParaRPr>
          </a:p>
          <a:p>
            <a:endParaRPr lang="en-US" altLang="ko-KR" b="1" i="1" dirty="0" smtClean="0">
              <a:solidFill>
                <a:srgbClr val="C00000"/>
              </a:solidFill>
              <a:latin typeface="+mj-lt"/>
            </a:endParaRPr>
          </a:p>
          <a:p>
            <a:endParaRPr lang="en-US" altLang="ko-KR" b="1" i="1" dirty="0">
              <a:solidFill>
                <a:srgbClr val="C00000"/>
              </a:solidFill>
              <a:latin typeface="+mj-lt"/>
            </a:endParaRPr>
          </a:p>
          <a:p>
            <a:pPr marL="0" indent="0">
              <a:buNone/>
            </a:pPr>
            <a:endParaRPr lang="en-US" altLang="ko-KR" b="1" i="1" dirty="0" smtClean="0">
              <a:solidFill>
                <a:srgbClr val="C00000"/>
              </a:solidFill>
              <a:latin typeface="+mj-lt"/>
            </a:endParaRPr>
          </a:p>
          <a:p>
            <a:pPr marL="0" indent="0" algn="ctr">
              <a:buNone/>
            </a:pPr>
            <a:endParaRPr lang="en-US" altLang="ko-KR" b="1" i="1" dirty="0" smtClean="0">
              <a:solidFill>
                <a:srgbClr val="C00000"/>
              </a:solidFill>
              <a:latin typeface="+mj-lt"/>
            </a:endParaRPr>
          </a:p>
          <a:p>
            <a:pPr marL="0" indent="0" algn="ctr">
              <a:buNone/>
            </a:pPr>
            <a:r>
              <a:rPr lang="en-US" altLang="ko-KR" b="1" i="1" dirty="0" smtClean="0">
                <a:solidFill>
                  <a:srgbClr val="C00000"/>
                </a:solidFill>
                <a:latin typeface="+mj-lt"/>
              </a:rPr>
              <a:t>Fig. 3.30 </a:t>
            </a:r>
            <a:r>
              <a:rPr lang="en-US" altLang="ko-KR" dirty="0" smtClean="0">
                <a:latin typeface="Times New Roman" pitchFamily="18" charset="0"/>
              </a:rPr>
              <a:t>Noise</a:t>
            </a:r>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11951" y="5075719"/>
            <a:ext cx="4628612" cy="365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0923" y="3577798"/>
            <a:ext cx="854800" cy="1497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26353" y="3532416"/>
            <a:ext cx="1586419" cy="1546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59459" y="3514453"/>
            <a:ext cx="1089963" cy="1561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2499541"/>
      </p:ext>
    </p:extLst>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3.4  Transmission Impairment</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68300" y="609600"/>
                <a:ext cx="8429625" cy="6017342"/>
              </a:xfrm>
            </p:spPr>
            <p:txBody>
              <a:bodyPr/>
              <a:lstStyle/>
              <a:p>
                <a:pPr marL="342900" lvl="2" indent="-342900">
                  <a:buFontTx/>
                  <a:buNone/>
                  <a:defRPr/>
                </a:pPr>
                <a:r>
                  <a:rPr lang="en-US" altLang="ko-KR" sz="2400" b="1" i="1" dirty="0" smtClean="0">
                    <a:solidFill>
                      <a:srgbClr val="C00000"/>
                    </a:solidFill>
                    <a:latin typeface="Times New Roman" pitchFamily="18" charset="0"/>
                    <a:cs typeface="Times New Roman" pitchFamily="18" charset="0"/>
                  </a:rPr>
                  <a:t>Signal to Noise Ratio (SNR</a:t>
                </a:r>
                <a:r>
                  <a:rPr lang="en-US" altLang="ko-KR" sz="2800" b="1" i="1" dirty="0" smtClean="0">
                    <a:solidFill>
                      <a:srgbClr val="C00000"/>
                    </a:solidFill>
                    <a:latin typeface="Times New Roman" pitchFamily="18" charset="0"/>
                    <a:cs typeface="Times New Roman" pitchFamily="18" charset="0"/>
                  </a:rPr>
                  <a:t>)</a:t>
                </a:r>
                <a14:m>
                  <m:oMath xmlns:m="http://schemas.openxmlformats.org/officeDocument/2006/math">
                    <m:r>
                      <a:rPr lang="en-US" altLang="ko-KR" sz="2400" b="0" i="1" smtClean="0">
                        <a:latin typeface="Cambria Math"/>
                      </a:rPr>
                      <m:t>          </m:t>
                    </m:r>
                  </m:oMath>
                </a14:m>
                <a:endParaRPr lang="en-US" altLang="ko-KR" sz="2400" b="0" i="1" dirty="0" smtClean="0">
                  <a:latin typeface="Cambria Math"/>
                </a:endParaRPr>
              </a:p>
              <a:p>
                <a:pPr marL="342900" lvl="2" indent="-342900">
                  <a:lnSpc>
                    <a:spcPct val="150000"/>
                  </a:lnSpc>
                  <a:buFontTx/>
                  <a:buNone/>
                  <a:defRPr/>
                </a:pPr>
                <a14:m>
                  <m:oMathPara xmlns:m="http://schemas.openxmlformats.org/officeDocument/2006/math">
                    <m:oMathParaPr>
                      <m:jc m:val="centerGroup"/>
                    </m:oMathParaPr>
                    <m:oMath xmlns:m="http://schemas.openxmlformats.org/officeDocument/2006/math">
                      <m:r>
                        <m:rPr>
                          <m:sty m:val="p"/>
                        </m:rPr>
                        <a:rPr lang="en-US" altLang="ko-KR" sz="2000" b="0" i="0" smtClean="0">
                          <a:latin typeface="Cambria Math"/>
                        </a:rPr>
                        <m:t>SNR</m:t>
                      </m:r>
                      <m:r>
                        <a:rPr lang="en-US" altLang="ko-KR" sz="2000" b="0" i="0" smtClean="0">
                          <a:latin typeface="Cambria Math"/>
                        </a:rPr>
                        <m:t>=</m:t>
                      </m:r>
                      <m:f>
                        <m:fPr>
                          <m:ctrlPr>
                            <a:rPr lang="en-US" altLang="ko-KR" sz="2000" i="1" smtClean="0">
                              <a:latin typeface="Cambria Math" panose="02040503050406030204" pitchFamily="18" charset="0"/>
                            </a:rPr>
                          </m:ctrlPr>
                        </m:fPr>
                        <m:num>
                          <m:r>
                            <m:rPr>
                              <m:sty m:val="p"/>
                            </m:rPr>
                            <a:rPr lang="en-US" altLang="ko-KR" sz="2000" b="0" i="0" smtClean="0">
                              <a:latin typeface="Cambria Math"/>
                            </a:rPr>
                            <m:t>Average</m:t>
                          </m:r>
                          <m:r>
                            <a:rPr lang="en-US" altLang="ko-KR" sz="2000" b="0" i="0" smtClean="0">
                              <a:latin typeface="Cambria Math"/>
                            </a:rPr>
                            <m:t> </m:t>
                          </m:r>
                          <m:r>
                            <m:rPr>
                              <m:sty m:val="p"/>
                            </m:rPr>
                            <a:rPr lang="en-US" altLang="ko-KR" sz="2000" b="0" i="0" smtClean="0">
                              <a:latin typeface="Cambria Math"/>
                            </a:rPr>
                            <m:t>signal</m:t>
                          </m:r>
                          <m:r>
                            <a:rPr lang="en-US" altLang="ko-KR" sz="2000" b="0" i="0" smtClean="0">
                              <a:latin typeface="Cambria Math"/>
                            </a:rPr>
                            <m:t> </m:t>
                          </m:r>
                          <m:r>
                            <m:rPr>
                              <m:sty m:val="p"/>
                            </m:rPr>
                            <a:rPr lang="en-US" altLang="ko-KR" sz="2000" b="0" i="0" smtClean="0">
                              <a:latin typeface="Cambria Math"/>
                            </a:rPr>
                            <m:t>Power</m:t>
                          </m:r>
                        </m:num>
                        <m:den>
                          <m:r>
                            <m:rPr>
                              <m:sty m:val="p"/>
                            </m:rPr>
                            <a:rPr lang="en-US" altLang="ko-KR" sz="2000" b="0" i="0" smtClean="0">
                              <a:latin typeface="Cambria Math"/>
                            </a:rPr>
                            <m:t>Average</m:t>
                          </m:r>
                          <m:r>
                            <a:rPr lang="en-US" altLang="ko-KR" sz="2000" b="0" i="0" smtClean="0">
                              <a:latin typeface="Cambria Math"/>
                            </a:rPr>
                            <m:t> </m:t>
                          </m:r>
                          <m:r>
                            <m:rPr>
                              <m:sty m:val="p"/>
                            </m:rPr>
                            <a:rPr lang="en-US" altLang="ko-KR" sz="2000" b="0" i="0" smtClean="0">
                              <a:latin typeface="Cambria Math"/>
                            </a:rPr>
                            <m:t>Noise</m:t>
                          </m:r>
                          <m:r>
                            <a:rPr lang="en-US" altLang="ko-KR" sz="2000" b="0" i="0" smtClean="0">
                              <a:latin typeface="Cambria Math"/>
                            </a:rPr>
                            <m:t> </m:t>
                          </m:r>
                          <m:r>
                            <m:rPr>
                              <m:sty m:val="p"/>
                            </m:rPr>
                            <a:rPr lang="en-US" altLang="ko-KR" sz="2000" b="0" i="0" smtClean="0">
                              <a:latin typeface="Cambria Math"/>
                            </a:rPr>
                            <m:t>Power</m:t>
                          </m:r>
                        </m:den>
                      </m:f>
                      <m:r>
                        <a:rPr lang="en-US" altLang="ko-KR" sz="2000" b="0" i="1" smtClean="0">
                          <a:latin typeface="Cambria Math"/>
                        </a:rPr>
                        <m:t>            </m:t>
                      </m:r>
                      <m:sSub>
                        <m:sSubPr>
                          <m:ctrlPr>
                            <a:rPr lang="en-US" altLang="ko-KR" i="1" smtClean="0">
                              <a:latin typeface="Cambria Math" panose="02040503050406030204" pitchFamily="18" charset="0"/>
                            </a:rPr>
                          </m:ctrlPr>
                        </m:sSubPr>
                        <m:e>
                          <m:r>
                            <a:rPr lang="en-US" altLang="ko-KR" b="0" i="1" smtClean="0">
                              <a:latin typeface="Cambria Math"/>
                            </a:rPr>
                            <m:t>𝑆𝑁𝑅</m:t>
                          </m:r>
                        </m:e>
                        <m:sub>
                          <m:r>
                            <a:rPr lang="en-US" altLang="ko-KR" b="0" i="1" smtClean="0">
                              <a:latin typeface="Cambria Math"/>
                            </a:rPr>
                            <m:t>𝑑𝐵</m:t>
                          </m:r>
                        </m:sub>
                      </m:sSub>
                      <m:r>
                        <a:rPr lang="en-US" altLang="ko-KR" b="0" i="1" smtClean="0">
                          <a:latin typeface="Cambria Math"/>
                        </a:rPr>
                        <m:t>=10 </m:t>
                      </m:r>
                      <m:func>
                        <m:funcPr>
                          <m:ctrlPr>
                            <a:rPr lang="en-US" altLang="ko-KR" i="1" smtClean="0">
                              <a:latin typeface="Cambria Math" panose="02040503050406030204" pitchFamily="18" charset="0"/>
                            </a:rPr>
                          </m:ctrlPr>
                        </m:funcPr>
                        <m:fName>
                          <m:sSub>
                            <m:sSubPr>
                              <m:ctrlPr>
                                <a:rPr lang="en-US" altLang="ko-KR" i="1" smtClean="0">
                                  <a:latin typeface="Cambria Math" panose="02040503050406030204" pitchFamily="18" charset="0"/>
                                </a:rPr>
                              </m:ctrlPr>
                            </m:sSubPr>
                            <m:e>
                              <m:r>
                                <m:rPr>
                                  <m:sty m:val="p"/>
                                </m:rPr>
                                <a:rPr lang="en-US" altLang="ko-KR" b="0" i="0" smtClean="0">
                                  <a:latin typeface="Cambria Math"/>
                                </a:rPr>
                                <m:t>log</m:t>
                              </m:r>
                            </m:e>
                            <m:sub>
                              <m:r>
                                <a:rPr lang="en-US" altLang="ko-KR" b="0" i="1" smtClean="0">
                                  <a:latin typeface="Cambria Math"/>
                                </a:rPr>
                                <m:t>10</m:t>
                              </m:r>
                            </m:sub>
                          </m:sSub>
                        </m:fName>
                        <m:e>
                          <m:r>
                            <a:rPr lang="en-US" altLang="ko-KR" b="0" i="1" smtClean="0">
                              <a:latin typeface="Cambria Math"/>
                            </a:rPr>
                            <m:t>𝑆𝑁𝑅</m:t>
                          </m:r>
                        </m:e>
                      </m:func>
                    </m:oMath>
                  </m:oMathPara>
                </a14:m>
                <a:endParaRPr lang="en-US" altLang="ko-KR" dirty="0" smtClean="0">
                  <a:latin typeface="+mj-lt"/>
                </a:endParaRPr>
              </a:p>
              <a:p>
                <a:pPr marL="0" indent="0" algn="just">
                  <a:lnSpc>
                    <a:spcPct val="150000"/>
                  </a:lnSpc>
                  <a:buNone/>
                  <a:defRPr/>
                </a:pPr>
                <a:r>
                  <a:rPr lang="en-US" altLang="ko-KR" b="1" i="1" dirty="0" smtClean="0">
                    <a:solidFill>
                      <a:srgbClr val="C00000"/>
                    </a:solidFill>
                    <a:latin typeface="Times New Roman" pitchFamily="18" charset="0"/>
                  </a:rPr>
                  <a:t>Ex. 3.31</a:t>
                </a:r>
              </a:p>
              <a:p>
                <a:pPr marL="0" indent="0" algn="just">
                  <a:lnSpc>
                    <a:spcPct val="150000"/>
                  </a:lnSpc>
                  <a:buNone/>
                  <a:defRPr/>
                </a:pPr>
                <a:r>
                  <a:rPr lang="en-US" altLang="ko-KR" b="1" i="1" dirty="0" smtClean="0">
                    <a:solidFill>
                      <a:srgbClr val="C00000"/>
                    </a:solidFill>
                    <a:latin typeface="Times New Roman" pitchFamily="18" charset="0"/>
                  </a:rPr>
                  <a:t>Ex</a:t>
                </a:r>
                <a:r>
                  <a:rPr lang="en-US" altLang="ko-KR" b="1" i="1" dirty="0">
                    <a:solidFill>
                      <a:srgbClr val="C00000"/>
                    </a:solidFill>
                    <a:latin typeface="Times New Roman" pitchFamily="18" charset="0"/>
                  </a:rPr>
                  <a:t>. </a:t>
                </a:r>
                <a:r>
                  <a:rPr lang="en-US" altLang="ko-KR" b="1" i="1" dirty="0" smtClean="0">
                    <a:solidFill>
                      <a:srgbClr val="C00000"/>
                    </a:solidFill>
                    <a:latin typeface="Times New Roman" pitchFamily="18" charset="0"/>
                  </a:rPr>
                  <a:t>3.32</a:t>
                </a:r>
              </a:p>
              <a:p>
                <a:pPr marL="0" indent="0" algn="just">
                  <a:buNone/>
                  <a:defRPr/>
                </a:pPr>
                <a:endParaRPr lang="en-US" altLang="ko-KR" b="1" i="1" dirty="0">
                  <a:solidFill>
                    <a:srgbClr val="C00000"/>
                  </a:solidFill>
                  <a:latin typeface="Times New Roman" pitchFamily="18" charset="0"/>
                </a:endParaRPr>
              </a:p>
              <a:p>
                <a:pPr marL="0" indent="0" algn="just">
                  <a:buNone/>
                  <a:defRPr/>
                </a:pPr>
                <a:endParaRPr lang="en-US" altLang="ko-KR" b="1" i="1" dirty="0" smtClean="0">
                  <a:solidFill>
                    <a:srgbClr val="C00000"/>
                  </a:solidFill>
                  <a:latin typeface="Times New Roman" pitchFamily="18" charset="0"/>
                </a:endParaRPr>
              </a:p>
              <a:p>
                <a:pPr marL="0" indent="0" algn="just">
                  <a:buNone/>
                  <a:defRPr/>
                </a:pPr>
                <a:endParaRPr lang="en-US" altLang="ko-KR" dirty="0" smtClean="0">
                  <a:latin typeface="+mj-lt"/>
                </a:endParaRPr>
              </a:p>
              <a:p>
                <a:pPr marL="0" indent="0" algn="just">
                  <a:lnSpc>
                    <a:spcPct val="150000"/>
                  </a:lnSpc>
                  <a:buNone/>
                  <a:defRPr/>
                </a:pPr>
                <a:endParaRPr lang="en-US" altLang="ko-KR" dirty="0">
                  <a:latin typeface="+mj-lt"/>
                </a:endParaRPr>
              </a:p>
              <a:p>
                <a:pPr marL="0" indent="0" algn="just">
                  <a:buNone/>
                  <a:defRPr/>
                </a:pPr>
                <a:endParaRPr lang="en-US" altLang="ko-KR" dirty="0" smtClean="0">
                  <a:latin typeface="+mj-lt"/>
                </a:endParaRPr>
              </a:p>
              <a:p>
                <a:pPr marL="0" indent="0" algn="ctr">
                  <a:buNone/>
                </a:pPr>
                <a:endParaRPr lang="en-US" altLang="ko-KR" b="1" i="1" dirty="0">
                  <a:solidFill>
                    <a:srgbClr val="C00000"/>
                  </a:solidFill>
                  <a:latin typeface="+mj-lt"/>
                </a:endParaRPr>
              </a:p>
              <a:p>
                <a:pPr marL="0" indent="0" algn="ctr">
                  <a:buNone/>
                </a:pPr>
                <a:r>
                  <a:rPr lang="en-US" altLang="ko-KR" b="1" i="1" dirty="0" smtClean="0">
                    <a:solidFill>
                      <a:srgbClr val="C00000"/>
                    </a:solidFill>
                    <a:latin typeface="+mj-lt"/>
                  </a:rPr>
                  <a:t>Fig. 3.31 </a:t>
                </a:r>
                <a:r>
                  <a:rPr lang="en-US" altLang="ko-KR" dirty="0">
                    <a:latin typeface="+mj-lt"/>
                  </a:rPr>
                  <a:t>Two cases of SNR: a high SNR and a low </a:t>
                </a:r>
                <a:r>
                  <a:rPr lang="en-US" altLang="ko-KR" dirty="0" smtClean="0">
                    <a:latin typeface="+mj-lt"/>
                  </a:rPr>
                  <a:t>SNR</a:t>
                </a:r>
                <a:endParaRPr lang="en-US" altLang="ko-KR" dirty="0" smtClean="0">
                  <a:latin typeface="Times New Roman" pitchFamily="18" charset="0"/>
                </a:endParaRPr>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68300" y="609600"/>
                <a:ext cx="8429625" cy="6017342"/>
              </a:xfrm>
              <a:blipFill rotWithShape="1">
                <a:blip r:embed="rId2"/>
                <a:stretch>
                  <a:fillRect l="-1085" t="-1013" b="-1520"/>
                </a:stretch>
              </a:blipFill>
            </p:spPr>
            <p:txBody>
              <a:bodyPr/>
              <a:lstStyle/>
              <a:p>
                <a:r>
                  <a:rPr lang="ko-KR" altLang="en-US">
                    <a:noFill/>
                  </a:rPr>
                  <a:t> </a:t>
                </a:r>
              </a:p>
            </p:txBody>
          </p:sp>
        </mc:Fallback>
      </mc:AlternateContent>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0644" y="2140243"/>
            <a:ext cx="7263581" cy="436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0644" y="2734208"/>
            <a:ext cx="6261173" cy="581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20644" y="3358145"/>
            <a:ext cx="5656161" cy="1586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20644" y="4964443"/>
            <a:ext cx="5656161" cy="1176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0321586"/>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3.5  Data Rate Limits</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0483" name="내용 개체 틀 2"/>
              <p:cNvSpPr>
                <a:spLocks noGrp="1"/>
              </p:cNvSpPr>
              <p:nvPr>
                <p:ph idx="1"/>
              </p:nvPr>
            </p:nvSpPr>
            <p:spPr>
              <a:xfrm>
                <a:off x="368300" y="755650"/>
                <a:ext cx="8429625" cy="5713976"/>
              </a:xfrm>
            </p:spPr>
            <p:txBody>
              <a:bodyPr/>
              <a:lstStyle/>
              <a:p>
                <a:pPr marL="342900" lvl="2" indent="-342900">
                  <a:spcBef>
                    <a:spcPts val="600"/>
                  </a:spcBef>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3.5  Data Rate Limit</a:t>
                </a:r>
                <a:endParaRPr lang="en-US" altLang="ko-KR" sz="2800" b="1" dirty="0" smtClean="0">
                  <a:solidFill>
                    <a:srgbClr val="C00000"/>
                  </a:solidFill>
                  <a:latin typeface="Times New Roman" pitchFamily="18" charset="0"/>
                  <a:cs typeface="Times New Roman" pitchFamily="18" charset="0"/>
                </a:endParaRPr>
              </a:p>
              <a:p>
                <a:pPr algn="just">
                  <a:spcBef>
                    <a:spcPts val="600"/>
                  </a:spcBef>
                  <a:defRPr/>
                </a:pPr>
                <a:r>
                  <a:rPr lang="en-US" altLang="ko-KR" b="1" i="1" dirty="0" smtClean="0">
                    <a:solidFill>
                      <a:srgbClr val="C00000"/>
                    </a:solidFill>
                    <a:latin typeface="+mj-lt"/>
                  </a:rPr>
                  <a:t>Data rate </a:t>
                </a:r>
                <a:r>
                  <a:rPr lang="en-US" altLang="ko-KR" dirty="0" smtClean="0">
                    <a:latin typeface="+mj-lt"/>
                  </a:rPr>
                  <a:t>depends on</a:t>
                </a:r>
              </a:p>
              <a:p>
                <a:pPr lvl="1" algn="just">
                  <a:spcBef>
                    <a:spcPts val="600"/>
                  </a:spcBef>
                  <a:defRPr/>
                </a:pPr>
                <a:r>
                  <a:rPr lang="en-US" altLang="ko-KR" dirty="0" smtClean="0">
                    <a:latin typeface="+mj-lt"/>
                  </a:rPr>
                  <a:t>Bandwidth</a:t>
                </a:r>
              </a:p>
              <a:p>
                <a:pPr lvl="1" algn="just">
                  <a:spcBef>
                    <a:spcPts val="600"/>
                  </a:spcBef>
                  <a:defRPr/>
                </a:pPr>
                <a:r>
                  <a:rPr lang="en-US" altLang="ko-KR" dirty="0" smtClean="0">
                    <a:latin typeface="+mj-lt"/>
                  </a:rPr>
                  <a:t>Level of the signals</a:t>
                </a:r>
              </a:p>
              <a:p>
                <a:pPr lvl="1" algn="just">
                  <a:spcBef>
                    <a:spcPts val="600"/>
                  </a:spcBef>
                  <a:defRPr/>
                </a:pPr>
                <a:r>
                  <a:rPr lang="en-US" altLang="ko-KR" dirty="0" smtClean="0">
                    <a:latin typeface="+mj-lt"/>
                  </a:rPr>
                  <a:t>Quality of the channel (level of noise)</a:t>
                </a:r>
              </a:p>
              <a:p>
                <a:pPr marL="0" indent="0" algn="just">
                  <a:lnSpc>
                    <a:spcPct val="150000"/>
                  </a:lnSpc>
                  <a:buNone/>
                  <a:defRPr/>
                </a:pPr>
                <a:r>
                  <a:rPr lang="en-US" altLang="ko-KR" b="1" i="1" dirty="0" smtClean="0">
                    <a:solidFill>
                      <a:srgbClr val="C00000"/>
                    </a:solidFill>
                    <a:latin typeface="Times New Roman" pitchFamily="18" charset="0"/>
                  </a:rPr>
                  <a:t>3.5.1 </a:t>
                </a:r>
                <a:r>
                  <a:rPr lang="en-US" altLang="ko-KR" b="1" i="1" dirty="0">
                    <a:solidFill>
                      <a:srgbClr val="C00000"/>
                    </a:solidFill>
                    <a:latin typeface="Times New Roman" pitchFamily="18" charset="0"/>
                  </a:rPr>
                  <a:t>Noiseless Channel: </a:t>
                </a:r>
                <a:r>
                  <a:rPr lang="en-US" altLang="ko-KR" b="1" i="1" dirty="0" err="1">
                    <a:solidFill>
                      <a:srgbClr val="C00000"/>
                    </a:solidFill>
                    <a:latin typeface="Times New Roman" pitchFamily="18" charset="0"/>
                  </a:rPr>
                  <a:t>Nyquist</a:t>
                </a:r>
                <a:r>
                  <a:rPr lang="en-US" altLang="ko-KR" b="1" i="1" dirty="0">
                    <a:solidFill>
                      <a:srgbClr val="C00000"/>
                    </a:solidFill>
                    <a:latin typeface="Times New Roman" pitchFamily="18" charset="0"/>
                  </a:rPr>
                  <a:t> </a:t>
                </a:r>
                <a:r>
                  <a:rPr lang="en-US" altLang="ko-KR" b="1" i="1" dirty="0" smtClean="0">
                    <a:solidFill>
                      <a:srgbClr val="C00000"/>
                    </a:solidFill>
                    <a:latin typeface="Times New Roman" pitchFamily="18" charset="0"/>
                  </a:rPr>
                  <a:t>Rate</a:t>
                </a:r>
              </a:p>
              <a:p>
                <a:pPr marL="0" indent="0" algn="just">
                  <a:buNone/>
                  <a:defRPr/>
                </a:pPr>
                <a:endParaRPr lang="en-US" altLang="ko-KR" sz="2000" b="1" i="1" dirty="0" smtClean="0">
                  <a:solidFill>
                    <a:srgbClr val="C00000"/>
                  </a:solidFill>
                  <a:latin typeface="Times New Roman" pitchFamily="18" charset="0"/>
                </a:endParaRPr>
              </a:p>
              <a:p>
                <a:pPr marL="0" indent="0" algn="just">
                  <a:lnSpc>
                    <a:spcPct val="200000"/>
                  </a:lnSpc>
                  <a:buNone/>
                  <a:defRPr/>
                </a:pPr>
                <a:r>
                  <a:rPr lang="en-US" altLang="ko-KR" sz="2000" dirty="0" smtClean="0">
                    <a:latin typeface="Times New Roman" pitchFamily="18" charset="0"/>
                  </a:rPr>
                  <a:t>           here L is the number of level</a:t>
                </a:r>
                <a:endParaRPr lang="en-US" altLang="ko-KR" sz="2000" dirty="0">
                  <a:latin typeface="Times New Roman" pitchFamily="18" charset="0"/>
                </a:endParaRPr>
              </a:p>
              <a:p>
                <a:pPr marL="0" indent="0" algn="just">
                  <a:spcBef>
                    <a:spcPts val="600"/>
                  </a:spcBef>
                  <a:buNone/>
                  <a:defRPr/>
                </a:pPr>
                <a:r>
                  <a:rPr lang="en-US" altLang="ko-KR" sz="2000" b="1" i="1" dirty="0" smtClean="0">
                    <a:solidFill>
                      <a:srgbClr val="C00000"/>
                    </a:solidFill>
                    <a:latin typeface="Times New Roman" pitchFamily="18" charset="0"/>
                  </a:rPr>
                  <a:t>Ex. 3.33 </a:t>
                </a:r>
              </a:p>
              <a:p>
                <a:pPr marL="0" indent="0" algn="just">
                  <a:spcBef>
                    <a:spcPts val="600"/>
                  </a:spcBef>
                  <a:buNone/>
                  <a:defRPr/>
                </a:pPr>
                <a:r>
                  <a:rPr lang="en-US" altLang="ko-KR" sz="2000" b="1" i="1" dirty="0" smtClean="0">
                    <a:solidFill>
                      <a:srgbClr val="C00000"/>
                    </a:solidFill>
                    <a:latin typeface="Times New Roman" pitchFamily="18" charset="0"/>
                  </a:rPr>
                  <a:t>Ex. 3.34    </a:t>
                </a:r>
                <a14:m>
                  <m:oMath xmlns:m="http://schemas.openxmlformats.org/officeDocument/2006/math">
                    <m:r>
                      <a:rPr lang="en-US" altLang="ko-KR" sz="2000" i="1">
                        <a:latin typeface="Cambria Math"/>
                      </a:rPr>
                      <m:t>𝑅</m:t>
                    </m:r>
                    <m:r>
                      <a:rPr lang="en-US" altLang="ko-KR" sz="2000" i="1">
                        <a:latin typeface="Cambria Math"/>
                      </a:rPr>
                      <m:t>=2×3000 ×</m:t>
                    </m:r>
                    <m:func>
                      <m:funcPr>
                        <m:ctrlPr>
                          <a:rPr lang="en-US" altLang="ko-KR" sz="2000" i="1">
                            <a:latin typeface="Cambria Math" panose="02040503050406030204" pitchFamily="18" charset="0"/>
                            <a:ea typeface="Cambria Math"/>
                          </a:rPr>
                        </m:ctrlPr>
                      </m:funcPr>
                      <m:fName>
                        <m:sSub>
                          <m:sSubPr>
                            <m:ctrlPr>
                              <a:rPr lang="en-US" altLang="ko-KR" sz="2000" i="1">
                                <a:latin typeface="Cambria Math" panose="02040503050406030204" pitchFamily="18" charset="0"/>
                                <a:ea typeface="Cambria Math"/>
                              </a:rPr>
                            </m:ctrlPr>
                          </m:sSubPr>
                          <m:e>
                            <m:r>
                              <m:rPr>
                                <m:sty m:val="p"/>
                              </m:rPr>
                              <a:rPr lang="en-US" altLang="ko-KR" sz="2000">
                                <a:latin typeface="Cambria Math"/>
                                <a:ea typeface="Cambria Math"/>
                              </a:rPr>
                              <m:t>log</m:t>
                            </m:r>
                          </m:e>
                          <m:sub>
                            <m:r>
                              <a:rPr lang="en-US" altLang="ko-KR" sz="2000" i="1">
                                <a:latin typeface="Cambria Math"/>
                                <a:ea typeface="Cambria Math"/>
                              </a:rPr>
                              <m:t>2</m:t>
                            </m:r>
                          </m:sub>
                        </m:sSub>
                      </m:fName>
                      <m:e>
                        <m:r>
                          <a:rPr lang="en-US" altLang="ko-KR" sz="2000" b="0" i="1" smtClean="0">
                            <a:latin typeface="Cambria Math"/>
                            <a:ea typeface="Cambria Math"/>
                          </a:rPr>
                          <m:t>2</m:t>
                        </m:r>
                      </m:e>
                    </m:func>
                    <m:r>
                      <a:rPr lang="en-US" altLang="ko-KR" sz="2000" b="0" i="1" smtClean="0">
                        <a:latin typeface="Cambria Math"/>
                        <a:ea typeface="Cambria Math"/>
                      </a:rPr>
                      <m:t>=6000</m:t>
                    </m:r>
                    <m:r>
                      <a:rPr lang="en-US" altLang="ko-KR" sz="2000" b="0" i="1" smtClean="0">
                        <a:latin typeface="Cambria Math"/>
                        <a:ea typeface="Cambria Math"/>
                      </a:rPr>
                      <m:t>𝑏𝑝𝑠</m:t>
                    </m:r>
                  </m:oMath>
                </a14:m>
                <a:endParaRPr lang="en-US" altLang="ko-KR" sz="2000" dirty="0"/>
              </a:p>
              <a:p>
                <a:pPr marL="0" indent="0" algn="just">
                  <a:spcBef>
                    <a:spcPts val="600"/>
                  </a:spcBef>
                  <a:buNone/>
                  <a:defRPr/>
                </a:pPr>
                <a:r>
                  <a:rPr lang="en-US" altLang="ko-KR" sz="2000" b="1" i="1" dirty="0" smtClean="0">
                    <a:solidFill>
                      <a:srgbClr val="C00000"/>
                    </a:solidFill>
                    <a:latin typeface="Times New Roman" pitchFamily="18" charset="0"/>
                  </a:rPr>
                  <a:t>Ex. 3.35</a:t>
                </a:r>
                <a:r>
                  <a:rPr lang="en-US" altLang="ko-KR" sz="2000" dirty="0" smtClean="0">
                    <a:latin typeface="Times New Roman" pitchFamily="18" charset="0"/>
                  </a:rPr>
                  <a:t>    </a:t>
                </a:r>
                <a14:m>
                  <m:oMath xmlns:m="http://schemas.openxmlformats.org/officeDocument/2006/math">
                    <m:r>
                      <a:rPr lang="en-US" altLang="ko-KR" sz="2000" i="1">
                        <a:latin typeface="Cambria Math"/>
                      </a:rPr>
                      <m:t>𝑅</m:t>
                    </m:r>
                    <m:r>
                      <a:rPr lang="en-US" altLang="ko-KR" sz="2000" i="1">
                        <a:latin typeface="Cambria Math"/>
                      </a:rPr>
                      <m:t>=2×3000 ×</m:t>
                    </m:r>
                    <m:func>
                      <m:funcPr>
                        <m:ctrlPr>
                          <a:rPr lang="en-US" altLang="ko-KR" sz="2000" i="1">
                            <a:latin typeface="Cambria Math" panose="02040503050406030204" pitchFamily="18" charset="0"/>
                            <a:ea typeface="Cambria Math"/>
                          </a:rPr>
                        </m:ctrlPr>
                      </m:funcPr>
                      <m:fName>
                        <m:sSub>
                          <m:sSubPr>
                            <m:ctrlPr>
                              <a:rPr lang="en-US" altLang="ko-KR" sz="2000" i="1">
                                <a:latin typeface="Cambria Math" panose="02040503050406030204" pitchFamily="18" charset="0"/>
                                <a:ea typeface="Cambria Math"/>
                              </a:rPr>
                            </m:ctrlPr>
                          </m:sSubPr>
                          <m:e>
                            <m:r>
                              <m:rPr>
                                <m:sty m:val="p"/>
                              </m:rPr>
                              <a:rPr lang="en-US" altLang="ko-KR" sz="2000">
                                <a:latin typeface="Cambria Math"/>
                                <a:ea typeface="Cambria Math"/>
                              </a:rPr>
                              <m:t>log</m:t>
                            </m:r>
                          </m:e>
                          <m:sub>
                            <m:r>
                              <a:rPr lang="en-US" altLang="ko-KR" sz="2000" i="1">
                                <a:latin typeface="Cambria Math"/>
                                <a:ea typeface="Cambria Math"/>
                              </a:rPr>
                              <m:t>2</m:t>
                            </m:r>
                          </m:sub>
                        </m:sSub>
                      </m:fName>
                      <m:e>
                        <m:r>
                          <a:rPr lang="en-US" altLang="ko-KR" sz="2000" b="0" i="1" smtClean="0">
                            <a:latin typeface="Cambria Math"/>
                            <a:ea typeface="Cambria Math"/>
                          </a:rPr>
                          <m:t>4</m:t>
                        </m:r>
                      </m:e>
                    </m:func>
                    <m:r>
                      <a:rPr lang="en-US" altLang="ko-KR" sz="2000" i="1">
                        <a:latin typeface="Cambria Math"/>
                        <a:ea typeface="Cambria Math"/>
                      </a:rPr>
                      <m:t>=</m:t>
                    </m:r>
                    <m:r>
                      <a:rPr lang="en-US" altLang="ko-KR" sz="2000" b="0" i="1" smtClean="0">
                        <a:latin typeface="Cambria Math"/>
                        <a:ea typeface="Cambria Math"/>
                      </a:rPr>
                      <m:t>12</m:t>
                    </m:r>
                    <m:r>
                      <a:rPr lang="en-US" altLang="ko-KR" sz="2000" i="1">
                        <a:latin typeface="Cambria Math"/>
                        <a:ea typeface="Cambria Math"/>
                      </a:rPr>
                      <m:t>000</m:t>
                    </m:r>
                    <m:r>
                      <a:rPr lang="en-US" altLang="ko-KR" sz="2000" i="1">
                        <a:latin typeface="Cambria Math"/>
                        <a:ea typeface="Cambria Math"/>
                      </a:rPr>
                      <m:t>𝑏𝑝𝑠</m:t>
                    </m:r>
                  </m:oMath>
                </a14:m>
                <a:endParaRPr lang="en-US" altLang="ko-KR" sz="2000" dirty="0"/>
              </a:p>
              <a:p>
                <a:pPr marL="0" indent="0" algn="just">
                  <a:spcBef>
                    <a:spcPts val="600"/>
                  </a:spcBef>
                  <a:buNone/>
                  <a:defRPr/>
                </a:pPr>
                <a:r>
                  <a:rPr lang="en-US" altLang="ko-KR" sz="2000" b="1" i="1" dirty="0" smtClean="0">
                    <a:solidFill>
                      <a:srgbClr val="C00000"/>
                    </a:solidFill>
                    <a:latin typeface="Times New Roman" pitchFamily="18" charset="0"/>
                  </a:rPr>
                  <a:t>Ex. 3.36   </a:t>
                </a:r>
                <a14:m>
                  <m:oMath xmlns:m="http://schemas.openxmlformats.org/officeDocument/2006/math">
                    <m:r>
                      <a:rPr lang="en-US" altLang="ko-KR" sz="2000" b="0" i="0" smtClean="0">
                        <a:latin typeface="Cambria Math"/>
                      </a:rPr>
                      <m:t>265,000</m:t>
                    </m:r>
                    <m:r>
                      <a:rPr lang="en-US" altLang="ko-KR" sz="2000" i="1">
                        <a:latin typeface="Cambria Math"/>
                      </a:rPr>
                      <m:t>=2×</m:t>
                    </m:r>
                    <m:r>
                      <a:rPr lang="en-US" altLang="ko-KR" sz="2000" b="0" i="1" smtClean="0">
                        <a:latin typeface="Cambria Math"/>
                      </a:rPr>
                      <m:t>20,</m:t>
                    </m:r>
                    <m:r>
                      <a:rPr lang="en-US" altLang="ko-KR" sz="2000" i="1">
                        <a:latin typeface="Cambria Math"/>
                      </a:rPr>
                      <m:t>000</m:t>
                    </m:r>
                    <m:r>
                      <a:rPr lang="en-US" altLang="ko-KR" sz="2000" i="1">
                        <a:latin typeface="Cambria Math"/>
                        <a:ea typeface="Cambria Math"/>
                      </a:rPr>
                      <m:t> ×</m:t>
                    </m:r>
                    <m:func>
                      <m:funcPr>
                        <m:ctrlPr>
                          <a:rPr lang="en-US" altLang="ko-KR" sz="2000" i="1">
                            <a:latin typeface="Cambria Math" panose="02040503050406030204" pitchFamily="18" charset="0"/>
                            <a:ea typeface="Cambria Math"/>
                          </a:rPr>
                        </m:ctrlPr>
                      </m:funcPr>
                      <m:fName>
                        <m:sSub>
                          <m:sSubPr>
                            <m:ctrlPr>
                              <a:rPr lang="en-US" altLang="ko-KR" sz="2000" i="1">
                                <a:latin typeface="Cambria Math" panose="02040503050406030204" pitchFamily="18" charset="0"/>
                                <a:ea typeface="Cambria Math"/>
                              </a:rPr>
                            </m:ctrlPr>
                          </m:sSubPr>
                          <m:e>
                            <m:r>
                              <m:rPr>
                                <m:sty m:val="p"/>
                              </m:rPr>
                              <a:rPr lang="en-US" altLang="ko-KR" sz="2000">
                                <a:latin typeface="Cambria Math"/>
                                <a:ea typeface="Cambria Math"/>
                              </a:rPr>
                              <m:t>log</m:t>
                            </m:r>
                          </m:e>
                          <m:sub>
                            <m:r>
                              <a:rPr lang="en-US" altLang="ko-KR" sz="2000" i="1">
                                <a:latin typeface="Cambria Math"/>
                                <a:ea typeface="Cambria Math"/>
                              </a:rPr>
                              <m:t>2</m:t>
                            </m:r>
                          </m:sub>
                        </m:sSub>
                      </m:fName>
                      <m:e>
                        <m:r>
                          <a:rPr lang="en-US" altLang="ko-KR" sz="2000" b="0" i="1" smtClean="0">
                            <a:latin typeface="Cambria Math"/>
                            <a:ea typeface="Cambria Math"/>
                          </a:rPr>
                          <m:t>𝐿</m:t>
                        </m:r>
                      </m:e>
                    </m:func>
                    <m:r>
                      <a:rPr lang="en-US" altLang="ko-KR" sz="2000" i="1" smtClean="0">
                        <a:latin typeface="Cambria Math"/>
                        <a:ea typeface="Cambria Math"/>
                      </a:rPr>
                      <m:t>→</m:t>
                    </m:r>
                    <m:r>
                      <a:rPr lang="en-US" altLang="ko-KR" sz="2000" i="1">
                        <a:latin typeface="Cambria Math"/>
                        <a:ea typeface="Cambria Math"/>
                      </a:rPr>
                      <m:t>×</m:t>
                    </m:r>
                    <m:func>
                      <m:funcPr>
                        <m:ctrlPr>
                          <a:rPr lang="en-US" altLang="ko-KR" sz="2000" i="1">
                            <a:latin typeface="Cambria Math" panose="02040503050406030204" pitchFamily="18" charset="0"/>
                            <a:ea typeface="Cambria Math"/>
                          </a:rPr>
                        </m:ctrlPr>
                      </m:funcPr>
                      <m:fName>
                        <m:sSub>
                          <m:sSubPr>
                            <m:ctrlPr>
                              <a:rPr lang="en-US" altLang="ko-KR" sz="2000" i="1">
                                <a:latin typeface="Cambria Math" panose="02040503050406030204" pitchFamily="18" charset="0"/>
                                <a:ea typeface="Cambria Math"/>
                              </a:rPr>
                            </m:ctrlPr>
                          </m:sSubPr>
                          <m:e>
                            <m:r>
                              <m:rPr>
                                <m:sty m:val="p"/>
                              </m:rPr>
                              <a:rPr lang="en-US" altLang="ko-KR" sz="2000">
                                <a:latin typeface="Cambria Math"/>
                                <a:ea typeface="Cambria Math"/>
                              </a:rPr>
                              <m:t>log</m:t>
                            </m:r>
                          </m:e>
                          <m:sub>
                            <m:r>
                              <a:rPr lang="en-US" altLang="ko-KR" sz="2000" i="1">
                                <a:latin typeface="Cambria Math"/>
                                <a:ea typeface="Cambria Math"/>
                              </a:rPr>
                              <m:t>2</m:t>
                            </m:r>
                          </m:sub>
                        </m:sSub>
                      </m:fName>
                      <m:e>
                        <m:r>
                          <a:rPr lang="en-US" altLang="ko-KR" sz="2000" i="1">
                            <a:latin typeface="Cambria Math"/>
                            <a:ea typeface="Cambria Math"/>
                          </a:rPr>
                          <m:t>𝐿</m:t>
                        </m:r>
                      </m:e>
                    </m:func>
                    <m:r>
                      <a:rPr lang="en-US" altLang="ko-KR" sz="2000" i="1">
                        <a:latin typeface="Cambria Math"/>
                        <a:ea typeface="Cambria Math"/>
                      </a:rPr>
                      <m:t>=</m:t>
                    </m:r>
                    <m:r>
                      <a:rPr lang="en-US" altLang="ko-KR" sz="2000" b="0" i="1" smtClean="0">
                        <a:latin typeface="Cambria Math"/>
                        <a:ea typeface="Cambria Math"/>
                      </a:rPr>
                      <m:t>6.625</m:t>
                    </m:r>
                  </m:oMath>
                </a14:m>
                <a:endParaRPr lang="en-US" altLang="ko-KR" sz="2000" dirty="0" smtClean="0"/>
              </a:p>
              <a:p>
                <a:pPr marL="0" indent="0" algn="just">
                  <a:spcBef>
                    <a:spcPts val="600"/>
                  </a:spcBef>
                  <a:buNone/>
                  <a:defRPr/>
                </a:pPr>
                <a14:m>
                  <m:oMathPara xmlns:m="http://schemas.openxmlformats.org/officeDocument/2006/math">
                    <m:oMathParaPr>
                      <m:jc m:val="centerGroup"/>
                    </m:oMathParaPr>
                    <m:oMath xmlns:m="http://schemas.openxmlformats.org/officeDocument/2006/math">
                      <m:r>
                        <a:rPr lang="en-US" altLang="ko-KR" sz="2000" i="1" smtClean="0">
                          <a:latin typeface="Cambria Math"/>
                          <a:ea typeface="Cambria Math"/>
                        </a:rPr>
                        <m:t>∴</m:t>
                      </m:r>
                      <m:r>
                        <a:rPr lang="en-US" altLang="ko-KR" sz="2000" b="0" i="1" smtClean="0">
                          <a:latin typeface="Cambria Math"/>
                          <a:ea typeface="Cambria Math"/>
                        </a:rPr>
                        <m:t>𝐿</m:t>
                      </m:r>
                      <m:r>
                        <a:rPr lang="en-US" altLang="ko-KR" sz="2000" b="0" i="1" smtClean="0">
                          <a:latin typeface="Cambria Math"/>
                          <a:ea typeface="Cambria Math"/>
                        </a:rPr>
                        <m:t>=</m:t>
                      </m:r>
                      <m:sSup>
                        <m:sSupPr>
                          <m:ctrlPr>
                            <a:rPr lang="en-US" altLang="ko-KR" sz="2000" b="0" i="1" smtClean="0">
                              <a:latin typeface="Cambria Math" panose="02040503050406030204" pitchFamily="18" charset="0"/>
                              <a:ea typeface="Cambria Math"/>
                            </a:rPr>
                          </m:ctrlPr>
                        </m:sSupPr>
                        <m:e>
                          <m:r>
                            <a:rPr lang="en-US" altLang="ko-KR" sz="2000" b="0" i="1" smtClean="0">
                              <a:latin typeface="Cambria Math"/>
                              <a:ea typeface="Cambria Math"/>
                            </a:rPr>
                            <m:t>2</m:t>
                          </m:r>
                        </m:e>
                        <m:sup>
                          <m:r>
                            <a:rPr lang="en-US" altLang="ko-KR" sz="2000" b="0" i="1" smtClean="0">
                              <a:latin typeface="Cambria Math"/>
                              <a:ea typeface="Cambria Math"/>
                            </a:rPr>
                            <m:t>6.625</m:t>
                          </m:r>
                        </m:sup>
                      </m:sSup>
                      <m:r>
                        <a:rPr lang="en-US" altLang="ko-KR" sz="2000" b="0" i="1" smtClean="0">
                          <a:latin typeface="Cambria Math"/>
                          <a:ea typeface="Cambria Math"/>
                        </a:rPr>
                        <m:t>=98.7</m:t>
                      </m:r>
                      <m:r>
                        <a:rPr lang="en-US" altLang="ko-KR" sz="2000" b="0" i="1" smtClean="0">
                          <a:latin typeface="Cambria Math"/>
                          <a:ea typeface="Cambria Math"/>
                        </a:rPr>
                        <m:t>𝑙𝑒𝑣𝑒𝑙</m:t>
                      </m:r>
                    </m:oMath>
                  </m:oMathPara>
                </a14:m>
                <a:endParaRPr lang="en-US" altLang="ko-KR" sz="2000" dirty="0"/>
              </a:p>
            </p:txBody>
          </p:sp>
        </mc:Choice>
        <mc:Fallback xmlns="">
          <p:sp>
            <p:nvSpPr>
              <p:cNvPr id="20483" name="내용 개체 틀 2"/>
              <p:cNvSpPr>
                <a:spLocks noGrp="1" noRot="1" noChangeAspect="1" noMove="1" noResize="1" noEditPoints="1" noAdjustHandles="1" noChangeArrowheads="1" noChangeShapeType="1" noTextEdit="1"/>
              </p:cNvSpPr>
              <p:nvPr>
                <p:ph idx="1"/>
              </p:nvPr>
            </p:nvSpPr>
            <p:spPr>
              <a:xfrm>
                <a:off x="368300" y="755650"/>
                <a:ext cx="8429625" cy="5713976"/>
              </a:xfrm>
              <a:blipFill rotWithShape="1">
                <a:blip r:embed="rId2"/>
                <a:stretch>
                  <a:fillRect l="-1518" t="-1174"/>
                </a:stretch>
              </a:blipFill>
            </p:spPr>
            <p:txBody>
              <a:bodyPr/>
              <a:lstStyle/>
              <a:p>
                <a:r>
                  <a:rPr lang="ko-KR" altLang="en-US">
                    <a:noFill/>
                  </a:rPr>
                  <a:t> </a:t>
                </a:r>
              </a:p>
            </p:txBody>
          </p:sp>
        </mc:Fallback>
      </mc:AlternateContent>
      <p:sp>
        <p:nvSpPr>
          <p:cNvPr id="2" name="직사각형 1"/>
          <p:cNvSpPr/>
          <p:nvPr/>
        </p:nvSpPr>
        <p:spPr bwMode="auto">
          <a:xfrm>
            <a:off x="1130695" y="3460970"/>
            <a:ext cx="5437254" cy="511277"/>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ko-KR" dirty="0">
                <a:latin typeface="+mj-lt"/>
              </a:rPr>
              <a:t>Bit Rate </a:t>
            </a:r>
            <a:r>
              <a:rPr lang="en-US" altLang="ko-KR" i="0" dirty="0">
                <a:latin typeface="+mj-lt"/>
              </a:rPr>
              <a:t>= 2 × bandwidth ×log</a:t>
            </a:r>
            <a:r>
              <a:rPr lang="en-US" altLang="ko-KR" i="0" baseline="-25000" dirty="0">
                <a:latin typeface="+mj-lt"/>
              </a:rPr>
              <a:t>2</a:t>
            </a:r>
            <a:r>
              <a:rPr lang="en-US" altLang="ko-KR" dirty="0">
                <a:latin typeface="+mj-lt"/>
              </a:rPr>
              <a:t>L</a:t>
            </a:r>
            <a:r>
              <a:rPr lang="en-US" altLang="ko-KR" i="0" dirty="0">
                <a:latin typeface="+mj-lt"/>
              </a:rPr>
              <a:t>       </a:t>
            </a:r>
            <a:r>
              <a:rPr lang="en-US" altLang="ko-KR" dirty="0" smtClean="0">
                <a:latin typeface="+mj-lt"/>
              </a:rPr>
              <a:t>R</a:t>
            </a:r>
            <a:r>
              <a:rPr lang="en-US" altLang="ko-KR" i="0" dirty="0" smtClean="0">
                <a:latin typeface="+mj-lt"/>
              </a:rPr>
              <a:t>=2</a:t>
            </a:r>
            <a:r>
              <a:rPr lang="en-US" altLang="ko-KR" dirty="0" smtClean="0">
                <a:latin typeface="+mj-lt"/>
              </a:rPr>
              <a:t>B </a:t>
            </a:r>
            <a:r>
              <a:rPr lang="en-US" altLang="ko-KR" i="0" dirty="0" smtClean="0">
                <a:latin typeface="+mj-lt"/>
              </a:rPr>
              <a:t>log</a:t>
            </a:r>
            <a:r>
              <a:rPr lang="en-US" altLang="ko-KR" i="0" baseline="-25000" dirty="0" smtClean="0">
                <a:latin typeface="+mj-lt"/>
              </a:rPr>
              <a:t>2</a:t>
            </a:r>
            <a:r>
              <a:rPr lang="en-US" altLang="ko-KR" i="0" dirty="0" smtClean="0">
                <a:latin typeface="+mj-lt"/>
              </a:rPr>
              <a:t> </a:t>
            </a:r>
            <a:r>
              <a:rPr lang="en-US" altLang="ko-KR" dirty="0">
                <a:latin typeface="+mj-lt"/>
              </a:rPr>
              <a:t>L</a:t>
            </a:r>
          </a:p>
        </p:txBody>
      </p:sp>
    </p:spTree>
    <p:extLst>
      <p:ext uri="{BB962C8B-B14F-4D97-AF65-F5344CB8AC3E}">
        <p14:creationId xmlns:p14="http://schemas.microsoft.com/office/powerpoint/2010/main" val="2711541178"/>
      </p:ext>
    </p:extLst>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3.5  Data Rate Limits</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713976"/>
          </a:xfrm>
        </p:spPr>
        <p:txBody>
          <a:bodyPr/>
          <a:lstStyle/>
          <a:p>
            <a:pPr marL="0" indent="0" algn="just">
              <a:lnSpc>
                <a:spcPct val="150000"/>
              </a:lnSpc>
              <a:buNone/>
              <a:defRPr/>
            </a:pPr>
            <a:r>
              <a:rPr lang="en-US" altLang="ko-KR" b="1" i="1" dirty="0" smtClean="0">
                <a:solidFill>
                  <a:srgbClr val="C00000"/>
                </a:solidFill>
                <a:latin typeface="Times New Roman" pitchFamily="18" charset="0"/>
              </a:rPr>
              <a:t>3.5.2 Noisy </a:t>
            </a:r>
            <a:r>
              <a:rPr lang="en-US" altLang="ko-KR" b="1" i="1" dirty="0">
                <a:solidFill>
                  <a:srgbClr val="C00000"/>
                </a:solidFill>
                <a:latin typeface="Times New Roman" pitchFamily="18" charset="0"/>
              </a:rPr>
              <a:t>Channel: </a:t>
            </a:r>
            <a:r>
              <a:rPr lang="en-US" altLang="ko-KR" b="1" i="1" dirty="0" smtClean="0">
                <a:solidFill>
                  <a:srgbClr val="C00000"/>
                </a:solidFill>
                <a:latin typeface="Times New Roman" pitchFamily="18" charset="0"/>
              </a:rPr>
              <a:t>Shannon Capacity</a:t>
            </a:r>
          </a:p>
          <a:p>
            <a:pPr marL="0" indent="0" algn="just">
              <a:lnSpc>
                <a:spcPct val="150000"/>
              </a:lnSpc>
              <a:buNone/>
              <a:defRPr/>
            </a:pPr>
            <a:endParaRPr lang="en-US" altLang="ko-KR" sz="2000" b="1" i="1" dirty="0" smtClean="0">
              <a:solidFill>
                <a:srgbClr val="C00000"/>
              </a:solidFill>
              <a:latin typeface="Times New Roman" pitchFamily="18" charset="0"/>
            </a:endParaRPr>
          </a:p>
          <a:p>
            <a:pPr marL="0" indent="0" algn="just">
              <a:lnSpc>
                <a:spcPct val="150000"/>
              </a:lnSpc>
              <a:buNone/>
              <a:defRPr/>
            </a:pPr>
            <a:endParaRPr lang="en-US" altLang="ko-KR" sz="2000" b="1" i="1" dirty="0" smtClean="0">
              <a:solidFill>
                <a:srgbClr val="C00000"/>
              </a:solidFill>
              <a:latin typeface="Times New Roman" pitchFamily="18" charset="0"/>
            </a:endParaRPr>
          </a:p>
          <a:p>
            <a:pPr marL="0" indent="0" algn="just">
              <a:lnSpc>
                <a:spcPct val="150000"/>
              </a:lnSpc>
              <a:buNone/>
              <a:defRPr/>
            </a:pPr>
            <a:r>
              <a:rPr lang="en-US" altLang="ko-KR" sz="2000" b="1" i="1" dirty="0" smtClean="0">
                <a:solidFill>
                  <a:srgbClr val="C00000"/>
                </a:solidFill>
                <a:latin typeface="Times New Roman" pitchFamily="18" charset="0"/>
              </a:rPr>
              <a:t>Ex. 3.37    </a:t>
            </a:r>
            <a:r>
              <a:rPr lang="en-US" altLang="ko-KR" sz="2000" i="1" dirty="0" smtClean="0">
                <a:latin typeface="Times New Roman" pitchFamily="18" charset="0"/>
              </a:rPr>
              <a:t>C </a:t>
            </a:r>
            <a:r>
              <a:rPr lang="en-US" altLang="ko-KR" sz="2000" dirty="0" smtClean="0">
                <a:latin typeface="Times New Roman" pitchFamily="18" charset="0"/>
              </a:rPr>
              <a:t>= </a:t>
            </a:r>
            <a:r>
              <a:rPr lang="en-US" altLang="ko-KR" sz="2000" i="1" dirty="0" smtClean="0">
                <a:latin typeface="Times New Roman" pitchFamily="18" charset="0"/>
              </a:rPr>
              <a:t>B </a:t>
            </a:r>
            <a:r>
              <a:rPr lang="en-US" altLang="ko-KR" sz="2000" dirty="0" smtClean="0">
                <a:latin typeface="Times New Roman" pitchFamily="18" charset="0"/>
              </a:rPr>
              <a:t>log</a:t>
            </a:r>
            <a:r>
              <a:rPr lang="en-US" altLang="ko-KR" sz="2000" baseline="-25000" dirty="0" smtClean="0">
                <a:latin typeface="Times New Roman" pitchFamily="18" charset="0"/>
              </a:rPr>
              <a:t>2</a:t>
            </a:r>
            <a:r>
              <a:rPr lang="en-US" altLang="ko-KR" sz="2000" dirty="0" smtClean="0">
                <a:latin typeface="Times New Roman" pitchFamily="18" charset="0"/>
              </a:rPr>
              <a:t>(1+S/N) = </a:t>
            </a:r>
            <a:r>
              <a:rPr lang="en-US" altLang="ko-KR" sz="2000" i="1" dirty="0">
                <a:latin typeface="Times New Roman" pitchFamily="18" charset="0"/>
              </a:rPr>
              <a:t>B </a:t>
            </a:r>
            <a:r>
              <a:rPr lang="en-US" altLang="ko-KR" sz="2000" dirty="0" smtClean="0">
                <a:latin typeface="Times New Roman" pitchFamily="18" charset="0"/>
              </a:rPr>
              <a:t>log</a:t>
            </a:r>
            <a:r>
              <a:rPr lang="en-US" altLang="ko-KR" sz="2000" baseline="-25000" dirty="0" smtClean="0">
                <a:latin typeface="Times New Roman" pitchFamily="18" charset="0"/>
              </a:rPr>
              <a:t>2</a:t>
            </a:r>
            <a:r>
              <a:rPr lang="en-US" altLang="ko-KR" sz="2000" dirty="0" smtClean="0">
                <a:latin typeface="Times New Roman" pitchFamily="18" charset="0"/>
              </a:rPr>
              <a:t>(1+0) = 0</a:t>
            </a:r>
          </a:p>
          <a:p>
            <a:pPr marL="0" indent="0" algn="just">
              <a:lnSpc>
                <a:spcPct val="150000"/>
              </a:lnSpc>
              <a:buNone/>
              <a:defRPr/>
            </a:pPr>
            <a:endParaRPr lang="en-US" altLang="ko-KR" sz="2000" b="1" i="1" dirty="0" smtClean="0">
              <a:solidFill>
                <a:srgbClr val="C00000"/>
              </a:solidFill>
              <a:latin typeface="Times New Roman" pitchFamily="18" charset="0"/>
            </a:endParaRPr>
          </a:p>
          <a:p>
            <a:pPr marL="0" indent="0" algn="just">
              <a:lnSpc>
                <a:spcPct val="150000"/>
              </a:lnSpc>
              <a:buNone/>
              <a:defRPr/>
            </a:pPr>
            <a:r>
              <a:rPr lang="en-US" altLang="ko-KR" sz="2000" b="1" i="1" dirty="0" smtClean="0">
                <a:solidFill>
                  <a:srgbClr val="C00000"/>
                </a:solidFill>
                <a:latin typeface="Times New Roman" pitchFamily="18" charset="0"/>
              </a:rPr>
              <a:t>Ex. 3.38    </a:t>
            </a:r>
            <a:r>
              <a:rPr lang="en-US" altLang="ko-KR" sz="2000" i="1" dirty="0" smtClean="0">
                <a:latin typeface="Times New Roman" pitchFamily="18" charset="0"/>
              </a:rPr>
              <a:t>C </a:t>
            </a:r>
            <a:r>
              <a:rPr lang="en-US" altLang="ko-KR" sz="2000" dirty="0">
                <a:latin typeface="Times New Roman" pitchFamily="18" charset="0"/>
              </a:rPr>
              <a:t>= </a:t>
            </a:r>
            <a:r>
              <a:rPr lang="en-US" altLang="ko-KR" sz="2000" dirty="0" smtClean="0">
                <a:latin typeface="Times New Roman" pitchFamily="18" charset="0"/>
              </a:rPr>
              <a:t>3000</a:t>
            </a:r>
            <a:r>
              <a:rPr lang="en-US" altLang="ko-KR" sz="2000" i="1" dirty="0" smtClean="0">
                <a:latin typeface="Times New Roman" pitchFamily="18" charset="0"/>
              </a:rPr>
              <a:t> </a:t>
            </a:r>
            <a:r>
              <a:rPr lang="en-US" altLang="ko-KR" sz="2000" dirty="0" smtClean="0">
                <a:latin typeface="Times New Roman" pitchFamily="18" charset="0"/>
              </a:rPr>
              <a:t>log</a:t>
            </a:r>
            <a:r>
              <a:rPr lang="en-US" altLang="ko-KR" sz="2000" baseline="-25000" dirty="0" smtClean="0">
                <a:latin typeface="Times New Roman" pitchFamily="18" charset="0"/>
              </a:rPr>
              <a:t>2</a:t>
            </a:r>
            <a:r>
              <a:rPr lang="en-US" altLang="ko-KR" sz="2000" dirty="0" smtClean="0">
                <a:latin typeface="Times New Roman" pitchFamily="18" charset="0"/>
              </a:rPr>
              <a:t>(1+3162) </a:t>
            </a:r>
            <a:r>
              <a:rPr lang="en-US" altLang="ko-KR" sz="2000" dirty="0">
                <a:latin typeface="Times New Roman" pitchFamily="18" charset="0"/>
              </a:rPr>
              <a:t>= </a:t>
            </a:r>
            <a:r>
              <a:rPr lang="en-US" altLang="ko-KR" sz="2000" dirty="0" smtClean="0">
                <a:latin typeface="Times New Roman" pitchFamily="18" charset="0"/>
              </a:rPr>
              <a:t>3000 </a:t>
            </a:r>
            <a:r>
              <a:rPr lang="en-US" altLang="ko-KR" sz="2000" dirty="0" smtClean="0">
                <a:latin typeface="Times New Roman"/>
                <a:cs typeface="Times New Roman"/>
              </a:rPr>
              <a:t>× 11.62 = 34,860 bps</a:t>
            </a:r>
            <a:endParaRPr lang="en-US" altLang="ko-KR" sz="2000" dirty="0">
              <a:latin typeface="Times New Roman" pitchFamily="18" charset="0"/>
            </a:endParaRPr>
          </a:p>
          <a:p>
            <a:pPr marL="0" indent="0" algn="just">
              <a:buNone/>
              <a:defRPr/>
            </a:pPr>
            <a:endParaRPr lang="en-US" altLang="ko-KR" sz="2000" b="1" i="1" dirty="0" smtClean="0">
              <a:solidFill>
                <a:srgbClr val="C00000"/>
              </a:solidFill>
              <a:latin typeface="Times New Roman" pitchFamily="18" charset="0"/>
            </a:endParaRPr>
          </a:p>
          <a:p>
            <a:pPr marL="0" indent="0" algn="just">
              <a:buNone/>
              <a:defRPr/>
            </a:pPr>
            <a:r>
              <a:rPr lang="en-US" altLang="ko-KR" sz="2000" b="1" i="1" dirty="0" smtClean="0">
                <a:solidFill>
                  <a:srgbClr val="C00000"/>
                </a:solidFill>
                <a:latin typeface="Times New Roman" pitchFamily="18" charset="0"/>
              </a:rPr>
              <a:t>Ex. 3.39</a:t>
            </a:r>
            <a:r>
              <a:rPr lang="en-US" altLang="ko-KR" sz="2000" dirty="0" smtClean="0">
                <a:latin typeface="Times New Roman" pitchFamily="18" charset="0"/>
              </a:rPr>
              <a:t>    </a:t>
            </a:r>
            <a:r>
              <a:rPr lang="en-US" altLang="ko-KR" sz="2000" dirty="0" err="1" smtClean="0">
                <a:latin typeface="Times New Roman" pitchFamily="18" charset="0"/>
              </a:rPr>
              <a:t>SNR</a:t>
            </a:r>
            <a:r>
              <a:rPr lang="en-US" altLang="ko-KR" sz="2000" baseline="-25000" dirty="0" err="1" smtClean="0">
                <a:latin typeface="Times New Roman" pitchFamily="18" charset="0"/>
              </a:rPr>
              <a:t>dB</a:t>
            </a:r>
            <a:r>
              <a:rPr lang="en-US" altLang="ko-KR" sz="2000" dirty="0" smtClean="0">
                <a:latin typeface="Times New Roman" pitchFamily="18" charset="0"/>
              </a:rPr>
              <a:t> = 10 log</a:t>
            </a:r>
            <a:r>
              <a:rPr lang="en-US" altLang="ko-KR" sz="2000" baseline="-25000" dirty="0" smtClean="0">
                <a:latin typeface="Times New Roman" pitchFamily="18" charset="0"/>
              </a:rPr>
              <a:t>10</a:t>
            </a:r>
            <a:r>
              <a:rPr lang="en-US" altLang="ko-KR" sz="2000" dirty="0" smtClean="0">
                <a:latin typeface="Times New Roman" pitchFamily="18" charset="0"/>
              </a:rPr>
              <a:t>SNR </a:t>
            </a:r>
            <a:r>
              <a:rPr lang="en-US" altLang="ko-KR" sz="2000" dirty="0" smtClean="0">
                <a:latin typeface="굴림체"/>
                <a:ea typeface="굴림체"/>
              </a:rPr>
              <a:t>→ </a:t>
            </a:r>
            <a:r>
              <a:rPr lang="en-US" altLang="ko-KR" sz="2000" dirty="0" smtClean="0">
                <a:latin typeface="+mj-lt"/>
                <a:ea typeface="굴림체"/>
              </a:rPr>
              <a:t>SNR = 10</a:t>
            </a:r>
            <a:r>
              <a:rPr lang="en-US" altLang="ko-KR" sz="2000" baseline="30000" dirty="0" smtClean="0">
                <a:latin typeface="+mj-lt"/>
                <a:ea typeface="굴림체"/>
              </a:rPr>
              <a:t>SNRdB/10</a:t>
            </a:r>
            <a:r>
              <a:rPr lang="en-US" altLang="ko-KR" sz="2000" dirty="0" smtClean="0">
                <a:latin typeface="+mj-lt"/>
                <a:ea typeface="굴림체"/>
              </a:rPr>
              <a:t> </a:t>
            </a:r>
          </a:p>
          <a:p>
            <a:pPr marL="0" indent="0" algn="just">
              <a:buNone/>
              <a:defRPr/>
            </a:pPr>
            <a:r>
              <a:rPr lang="en-US" altLang="ko-KR" sz="2000" dirty="0">
                <a:latin typeface="+mj-lt"/>
                <a:ea typeface="굴림체"/>
              </a:rPr>
              <a:t> </a:t>
            </a:r>
            <a:r>
              <a:rPr lang="en-US" altLang="ko-KR" sz="2000" dirty="0" smtClean="0">
                <a:latin typeface="+mj-lt"/>
                <a:ea typeface="굴림체"/>
              </a:rPr>
              <a:t>                  </a:t>
            </a:r>
            <a:r>
              <a:rPr lang="en-US" altLang="ko-KR" sz="2000" dirty="0" smtClean="0">
                <a:latin typeface="굴림체"/>
                <a:ea typeface="굴림체"/>
              </a:rPr>
              <a:t>→ </a:t>
            </a:r>
            <a:r>
              <a:rPr lang="en-US" altLang="ko-KR" sz="2000" dirty="0" smtClean="0">
                <a:latin typeface="+mj-lt"/>
                <a:ea typeface="굴림체"/>
              </a:rPr>
              <a:t>SNR = 10</a:t>
            </a:r>
            <a:r>
              <a:rPr lang="en-US" altLang="ko-KR" sz="2000" baseline="30000" dirty="0" smtClean="0">
                <a:latin typeface="+mj-lt"/>
                <a:ea typeface="굴림체"/>
              </a:rPr>
              <a:t>3.6</a:t>
            </a:r>
            <a:r>
              <a:rPr lang="en-US" altLang="ko-KR" sz="2000" dirty="0" smtClean="0">
                <a:latin typeface="+mj-lt"/>
                <a:ea typeface="굴림체"/>
              </a:rPr>
              <a:t>= 3981</a:t>
            </a:r>
          </a:p>
          <a:p>
            <a:pPr marL="0" indent="0" algn="just">
              <a:buNone/>
              <a:defRPr/>
            </a:pPr>
            <a:r>
              <a:rPr lang="en-US" altLang="ko-KR" sz="2000" dirty="0">
                <a:latin typeface="+mj-lt"/>
                <a:ea typeface="굴림체"/>
              </a:rPr>
              <a:t> </a:t>
            </a:r>
            <a:r>
              <a:rPr lang="en-US" altLang="ko-KR" sz="2000" dirty="0" smtClean="0">
                <a:latin typeface="+mj-lt"/>
                <a:ea typeface="굴림체"/>
              </a:rPr>
              <a:t>                  </a:t>
            </a:r>
            <a:r>
              <a:rPr lang="en-US" altLang="ko-KR" sz="2000" i="1" dirty="0">
                <a:latin typeface="Times New Roman" pitchFamily="18" charset="0"/>
              </a:rPr>
              <a:t>C </a:t>
            </a:r>
            <a:r>
              <a:rPr lang="en-US" altLang="ko-KR" sz="2000" dirty="0">
                <a:latin typeface="Times New Roman" pitchFamily="18" charset="0"/>
              </a:rPr>
              <a:t>= </a:t>
            </a:r>
            <a:r>
              <a:rPr lang="en-US" altLang="ko-KR" sz="2000" dirty="0" smtClean="0">
                <a:latin typeface="Times New Roman" pitchFamily="18" charset="0"/>
              </a:rPr>
              <a:t>2 </a:t>
            </a:r>
            <a:r>
              <a:rPr lang="en-US" altLang="ko-KR" sz="2000" dirty="0">
                <a:latin typeface="Times New Roman"/>
                <a:cs typeface="Times New Roman"/>
              </a:rPr>
              <a:t>× </a:t>
            </a:r>
            <a:r>
              <a:rPr lang="en-US" altLang="ko-KR" sz="2000" dirty="0" smtClean="0">
                <a:latin typeface="Times New Roman"/>
                <a:cs typeface="Times New Roman"/>
              </a:rPr>
              <a:t> 10</a:t>
            </a:r>
            <a:r>
              <a:rPr lang="en-US" altLang="ko-KR" sz="2000" baseline="30000" dirty="0" smtClean="0">
                <a:latin typeface="Times New Roman"/>
                <a:cs typeface="Times New Roman"/>
              </a:rPr>
              <a:t>6</a:t>
            </a:r>
            <a:r>
              <a:rPr lang="en-US" altLang="ko-KR" sz="2000" dirty="0" smtClean="0">
                <a:latin typeface="Times New Roman"/>
                <a:cs typeface="Times New Roman"/>
              </a:rPr>
              <a:t> </a:t>
            </a:r>
            <a:r>
              <a:rPr lang="en-US" altLang="ko-KR" sz="2000" dirty="0">
                <a:latin typeface="Times New Roman"/>
                <a:cs typeface="Times New Roman"/>
              </a:rPr>
              <a:t>× </a:t>
            </a:r>
            <a:r>
              <a:rPr lang="en-US" altLang="ko-KR" sz="2000" dirty="0" smtClean="0">
                <a:latin typeface="Times New Roman" pitchFamily="18" charset="0"/>
              </a:rPr>
              <a:t>log</a:t>
            </a:r>
            <a:r>
              <a:rPr lang="en-US" altLang="ko-KR" sz="2000" baseline="-25000" dirty="0" smtClean="0">
                <a:latin typeface="Times New Roman" pitchFamily="18" charset="0"/>
              </a:rPr>
              <a:t>2</a:t>
            </a:r>
            <a:r>
              <a:rPr lang="en-US" altLang="ko-KR" sz="2000" dirty="0" smtClean="0">
                <a:latin typeface="Times New Roman" pitchFamily="18" charset="0"/>
              </a:rPr>
              <a:t>(3982) </a:t>
            </a:r>
            <a:r>
              <a:rPr lang="en-US" altLang="ko-KR" sz="2000" dirty="0">
                <a:latin typeface="Times New Roman" pitchFamily="18" charset="0"/>
              </a:rPr>
              <a:t>= </a:t>
            </a:r>
            <a:r>
              <a:rPr lang="en-US" altLang="ko-KR" sz="2000" dirty="0" smtClean="0">
                <a:latin typeface="Times New Roman" pitchFamily="18" charset="0"/>
              </a:rPr>
              <a:t>24 Mbps</a:t>
            </a:r>
          </a:p>
          <a:p>
            <a:pPr marL="0" indent="0" algn="just">
              <a:buNone/>
              <a:defRPr/>
            </a:pPr>
            <a:endParaRPr lang="en-US" altLang="ko-KR" sz="2000" dirty="0" smtClean="0">
              <a:latin typeface="Times New Roman" pitchFamily="18" charset="0"/>
            </a:endParaRPr>
          </a:p>
          <a:p>
            <a:pPr marL="0" indent="0" algn="just">
              <a:buNone/>
              <a:defRPr/>
            </a:pPr>
            <a:r>
              <a:rPr lang="en-US" altLang="ko-KR" sz="2000" b="1" i="1" dirty="0" smtClean="0">
                <a:solidFill>
                  <a:srgbClr val="C00000"/>
                </a:solidFill>
                <a:latin typeface="Times New Roman" pitchFamily="18" charset="0"/>
              </a:rPr>
              <a:t>Ex. 3.40    </a:t>
            </a:r>
            <a:r>
              <a:rPr lang="en-US" altLang="ko-KR" sz="2000" i="1" dirty="0">
                <a:latin typeface="Times New Roman" pitchFamily="18" charset="0"/>
              </a:rPr>
              <a:t>C </a:t>
            </a:r>
            <a:r>
              <a:rPr lang="en-US" altLang="ko-KR" sz="2000" dirty="0">
                <a:latin typeface="Times New Roman" pitchFamily="18" charset="0"/>
              </a:rPr>
              <a:t>= </a:t>
            </a:r>
            <a:r>
              <a:rPr lang="en-US" altLang="ko-KR" sz="2000" dirty="0" smtClean="0">
                <a:latin typeface="Times New Roman" pitchFamily="18" charset="0"/>
              </a:rPr>
              <a:t>2MHz </a:t>
            </a:r>
            <a:r>
              <a:rPr lang="en-US" altLang="ko-KR" sz="2000" dirty="0" smtClean="0">
                <a:latin typeface="Times New Roman"/>
                <a:cs typeface="Times New Roman"/>
              </a:rPr>
              <a:t>× (36/3) = 24 Mbps</a:t>
            </a:r>
            <a:endParaRPr lang="en-US" altLang="ko-KR" sz="2000" dirty="0">
              <a:latin typeface="Times New Roman" pitchFamily="18" charset="0"/>
            </a:endParaRPr>
          </a:p>
        </p:txBody>
      </p:sp>
      <p:sp>
        <p:nvSpPr>
          <p:cNvPr id="2" name="직사각형 1"/>
          <p:cNvSpPr/>
          <p:nvPr/>
        </p:nvSpPr>
        <p:spPr bwMode="auto">
          <a:xfrm>
            <a:off x="983226" y="1474839"/>
            <a:ext cx="6538451" cy="599767"/>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indent="0" algn="ctr">
              <a:lnSpc>
                <a:spcPct val="150000"/>
              </a:lnSpc>
              <a:buNone/>
              <a:defRPr/>
            </a:pPr>
            <a:r>
              <a:rPr lang="en-US" altLang="ko-KR" dirty="0">
                <a:latin typeface="Times New Roman" pitchFamily="18" charset="0"/>
              </a:rPr>
              <a:t>Capacity </a:t>
            </a:r>
            <a:r>
              <a:rPr lang="en-US" altLang="ko-KR" i="0" dirty="0">
                <a:latin typeface="Times New Roman" pitchFamily="18" charset="0"/>
              </a:rPr>
              <a:t>= bandwidth </a:t>
            </a:r>
            <a:r>
              <a:rPr lang="en-US" altLang="ko-KR" i="0" dirty="0">
                <a:latin typeface="Times New Roman"/>
                <a:cs typeface="Times New Roman"/>
              </a:rPr>
              <a:t>× log</a:t>
            </a:r>
            <a:r>
              <a:rPr lang="en-US" altLang="ko-KR" i="0" baseline="-25000" dirty="0">
                <a:latin typeface="Times New Roman"/>
                <a:cs typeface="Times New Roman"/>
              </a:rPr>
              <a:t>2</a:t>
            </a:r>
            <a:r>
              <a:rPr lang="en-US" altLang="ko-KR" i="0" dirty="0">
                <a:latin typeface="Times New Roman"/>
                <a:cs typeface="Times New Roman"/>
              </a:rPr>
              <a:t>(1+SNR)      </a:t>
            </a:r>
            <a:r>
              <a:rPr lang="en-US" altLang="ko-KR" dirty="0">
                <a:latin typeface="Times New Roman"/>
                <a:cs typeface="Times New Roman"/>
              </a:rPr>
              <a:t>C </a:t>
            </a:r>
            <a:r>
              <a:rPr lang="en-US" altLang="ko-KR" i="0" dirty="0">
                <a:latin typeface="Times New Roman"/>
                <a:cs typeface="Times New Roman"/>
              </a:rPr>
              <a:t>= </a:t>
            </a:r>
            <a:r>
              <a:rPr lang="en-US" altLang="ko-KR" dirty="0">
                <a:latin typeface="Times New Roman"/>
                <a:cs typeface="Times New Roman"/>
              </a:rPr>
              <a:t>B</a:t>
            </a:r>
            <a:r>
              <a:rPr lang="en-US" altLang="ko-KR" i="0" dirty="0">
                <a:latin typeface="Times New Roman"/>
                <a:cs typeface="Times New Roman"/>
              </a:rPr>
              <a:t> log</a:t>
            </a:r>
            <a:r>
              <a:rPr lang="en-US" altLang="ko-KR" i="0" baseline="-25000" dirty="0">
                <a:latin typeface="Times New Roman"/>
                <a:cs typeface="Times New Roman"/>
              </a:rPr>
              <a:t>2</a:t>
            </a:r>
            <a:r>
              <a:rPr lang="en-US" altLang="ko-KR" i="0" dirty="0">
                <a:latin typeface="Times New Roman"/>
                <a:cs typeface="Times New Roman"/>
              </a:rPr>
              <a:t>(1+S/N) </a:t>
            </a:r>
            <a:endParaRPr lang="en-US" altLang="ko-KR" i="0" dirty="0">
              <a:latin typeface="Times New Roman" pitchFamily="18" charset="0"/>
            </a:endParaRPr>
          </a:p>
        </p:txBody>
      </p:sp>
    </p:spTree>
    <p:extLst>
      <p:ext uri="{BB962C8B-B14F-4D97-AF65-F5344CB8AC3E}">
        <p14:creationId xmlns:p14="http://schemas.microsoft.com/office/powerpoint/2010/main" val="505988914"/>
      </p:ext>
    </p:extLst>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3.5  Data Rate Limits</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713976"/>
          </a:xfrm>
        </p:spPr>
        <p:txBody>
          <a:bodyPr/>
          <a:lstStyle/>
          <a:p>
            <a:pPr marL="0" indent="0" algn="just">
              <a:lnSpc>
                <a:spcPct val="150000"/>
              </a:lnSpc>
              <a:buNone/>
              <a:defRPr/>
            </a:pPr>
            <a:r>
              <a:rPr lang="en-US" altLang="ko-KR" b="1" i="1" dirty="0" smtClean="0">
                <a:solidFill>
                  <a:srgbClr val="C00000"/>
                </a:solidFill>
                <a:latin typeface="Times New Roman" pitchFamily="18" charset="0"/>
              </a:rPr>
              <a:t>3.5.3 Using Both Limits</a:t>
            </a:r>
          </a:p>
          <a:p>
            <a:pPr marL="0" indent="0" algn="just">
              <a:buNone/>
              <a:defRPr/>
            </a:pPr>
            <a:endParaRPr lang="en-US" altLang="ko-KR" sz="2000" b="1" i="1" dirty="0" smtClean="0">
              <a:solidFill>
                <a:srgbClr val="C00000"/>
              </a:solidFill>
              <a:latin typeface="Times New Roman" pitchFamily="18" charset="0"/>
            </a:endParaRPr>
          </a:p>
          <a:p>
            <a:pPr marL="0" indent="0" algn="just">
              <a:buNone/>
              <a:defRPr/>
            </a:pPr>
            <a:r>
              <a:rPr lang="en-US" altLang="ko-KR" sz="2000" b="1" i="1" dirty="0" smtClean="0">
                <a:solidFill>
                  <a:srgbClr val="C00000"/>
                </a:solidFill>
                <a:latin typeface="Times New Roman" pitchFamily="18" charset="0"/>
              </a:rPr>
              <a:t>Ex. 3.41</a:t>
            </a:r>
            <a:r>
              <a:rPr lang="en-US" altLang="ko-KR" sz="2000" dirty="0" smtClean="0">
                <a:latin typeface="Times New Roman" pitchFamily="18" charset="0"/>
              </a:rPr>
              <a:t>    </a:t>
            </a:r>
            <a:r>
              <a:rPr lang="en-US" altLang="ko-KR" sz="2000" i="1" dirty="0">
                <a:latin typeface="Times New Roman" pitchFamily="18" charset="0"/>
              </a:rPr>
              <a:t>C </a:t>
            </a:r>
            <a:r>
              <a:rPr lang="en-US" altLang="ko-KR" sz="2000" dirty="0">
                <a:latin typeface="Times New Roman" pitchFamily="18" charset="0"/>
              </a:rPr>
              <a:t>= </a:t>
            </a:r>
            <a:r>
              <a:rPr lang="en-US" altLang="ko-KR" sz="2000" dirty="0">
                <a:latin typeface="Times New Roman"/>
                <a:cs typeface="Times New Roman"/>
              </a:rPr>
              <a:t>10</a:t>
            </a:r>
            <a:r>
              <a:rPr lang="en-US" altLang="ko-KR" sz="2000" baseline="30000" dirty="0">
                <a:latin typeface="Times New Roman"/>
                <a:cs typeface="Times New Roman"/>
              </a:rPr>
              <a:t>6</a:t>
            </a:r>
            <a:r>
              <a:rPr lang="en-US" altLang="ko-KR" sz="2000" dirty="0">
                <a:latin typeface="Times New Roman"/>
                <a:cs typeface="Times New Roman"/>
              </a:rPr>
              <a:t> × </a:t>
            </a:r>
            <a:r>
              <a:rPr lang="en-US" altLang="ko-KR" sz="2000" dirty="0">
                <a:latin typeface="Times New Roman" pitchFamily="18" charset="0"/>
              </a:rPr>
              <a:t>log</a:t>
            </a:r>
            <a:r>
              <a:rPr lang="en-US" altLang="ko-KR" sz="2000" baseline="-25000" dirty="0">
                <a:latin typeface="Times New Roman" pitchFamily="18" charset="0"/>
              </a:rPr>
              <a:t>2</a:t>
            </a:r>
            <a:r>
              <a:rPr lang="en-US" altLang="ko-KR" sz="2000" dirty="0">
                <a:latin typeface="Times New Roman" pitchFamily="18" charset="0"/>
              </a:rPr>
              <a:t>(1+63) = 6 Mbps</a:t>
            </a:r>
          </a:p>
          <a:p>
            <a:pPr marL="0" indent="0" algn="just">
              <a:buNone/>
              <a:defRPr/>
            </a:pPr>
            <a:r>
              <a:rPr lang="en-US" altLang="ko-KR" sz="2000" dirty="0" smtClean="0">
                <a:latin typeface="Times New Roman" pitchFamily="18" charset="0"/>
              </a:rPr>
              <a:t>                   4 Mbps = 2 </a:t>
            </a:r>
            <a:r>
              <a:rPr lang="en-US" altLang="ko-KR" sz="2000" dirty="0" smtClean="0">
                <a:latin typeface="Times New Roman"/>
                <a:cs typeface="Times New Roman"/>
              </a:rPr>
              <a:t>×</a:t>
            </a:r>
            <a:r>
              <a:rPr lang="en-US" altLang="ko-KR" sz="2000" dirty="0" smtClean="0">
                <a:latin typeface="Times New Roman" pitchFamily="18" charset="0"/>
              </a:rPr>
              <a:t> 1 </a:t>
            </a:r>
            <a:r>
              <a:rPr lang="en-US" altLang="ko-KR" sz="2000" dirty="0">
                <a:latin typeface="Times New Roman" pitchFamily="18" charset="0"/>
              </a:rPr>
              <a:t>MHz </a:t>
            </a:r>
            <a:r>
              <a:rPr lang="en-US" altLang="ko-KR" sz="2000" dirty="0">
                <a:latin typeface="Times New Roman"/>
                <a:cs typeface="Times New Roman"/>
              </a:rPr>
              <a:t>× </a:t>
            </a:r>
            <a:r>
              <a:rPr lang="en-US" altLang="ko-KR" sz="2000" dirty="0" smtClean="0">
                <a:latin typeface="Times New Roman" pitchFamily="18" charset="0"/>
              </a:rPr>
              <a:t>log</a:t>
            </a:r>
            <a:r>
              <a:rPr lang="en-US" altLang="ko-KR" sz="2000" baseline="-25000" dirty="0" smtClean="0">
                <a:latin typeface="Times New Roman" pitchFamily="18" charset="0"/>
              </a:rPr>
              <a:t>2</a:t>
            </a:r>
            <a:r>
              <a:rPr lang="en-US" altLang="ko-KR" sz="2000" i="1" dirty="0" smtClean="0">
                <a:latin typeface="Times New Roman" pitchFamily="18" charset="0"/>
              </a:rPr>
              <a:t>L</a:t>
            </a:r>
            <a:r>
              <a:rPr lang="en-US" altLang="ko-KR" sz="2000" dirty="0" smtClean="0">
                <a:latin typeface="Times New Roman" pitchFamily="18" charset="0"/>
              </a:rPr>
              <a:t> </a:t>
            </a:r>
          </a:p>
          <a:p>
            <a:pPr marL="0" indent="0" algn="just">
              <a:buNone/>
              <a:defRPr/>
            </a:pPr>
            <a:r>
              <a:rPr lang="en-US" altLang="ko-KR" sz="2000" dirty="0">
                <a:latin typeface="Times New Roman" pitchFamily="18" charset="0"/>
                <a:cs typeface="Times New Roman"/>
              </a:rPr>
              <a:t> </a:t>
            </a:r>
            <a:r>
              <a:rPr lang="en-US" altLang="ko-KR" sz="2000" dirty="0" smtClean="0">
                <a:latin typeface="Times New Roman" pitchFamily="18" charset="0"/>
                <a:cs typeface="Times New Roman"/>
              </a:rPr>
              <a:t>                  </a:t>
            </a:r>
            <a:r>
              <a:rPr lang="en-US" altLang="ko-KR" sz="2000" dirty="0" smtClean="0">
                <a:latin typeface="굴림체"/>
                <a:ea typeface="굴림체"/>
                <a:cs typeface="Times New Roman"/>
              </a:rPr>
              <a:t>∴ </a:t>
            </a:r>
            <a:r>
              <a:rPr lang="en-US" altLang="ko-KR" sz="2000" i="1" dirty="0" smtClean="0">
                <a:latin typeface="Times New Roman" pitchFamily="18" charset="0"/>
                <a:cs typeface="Times New Roman"/>
              </a:rPr>
              <a:t>L</a:t>
            </a:r>
            <a:r>
              <a:rPr lang="en-US" altLang="ko-KR" sz="2000" dirty="0" smtClean="0">
                <a:latin typeface="Times New Roman" pitchFamily="18" charset="0"/>
                <a:cs typeface="Times New Roman"/>
              </a:rPr>
              <a:t> = 4</a:t>
            </a:r>
            <a:r>
              <a:rPr lang="en-US" altLang="ko-KR" sz="2000" dirty="0" smtClean="0">
                <a:latin typeface="Times New Roman" pitchFamily="18" charset="0"/>
              </a:rPr>
              <a:t> </a:t>
            </a:r>
          </a:p>
          <a:p>
            <a:pPr marL="0" indent="0" algn="just">
              <a:buNone/>
              <a:defRPr/>
            </a:pPr>
            <a:endParaRPr lang="en-US" altLang="ko-KR" sz="2000" dirty="0">
              <a:latin typeface="Times New Roman" pitchFamily="18" charset="0"/>
            </a:endParaRPr>
          </a:p>
          <a:p>
            <a:pPr>
              <a:defRPr/>
            </a:pPr>
            <a:r>
              <a:rPr lang="en-US" altLang="ko-KR" b="1" i="1" dirty="0" smtClean="0">
                <a:latin typeface="Times New Roman" pitchFamily="18" charset="0"/>
              </a:rPr>
              <a:t>The Shannon capacity gives us the upper limit;</a:t>
            </a:r>
            <a:br>
              <a:rPr lang="en-US" altLang="ko-KR" b="1" i="1" dirty="0" smtClean="0">
                <a:latin typeface="Times New Roman" pitchFamily="18" charset="0"/>
              </a:rPr>
            </a:br>
            <a:r>
              <a:rPr lang="en-US" altLang="ko-KR" b="1" i="1" dirty="0" smtClean="0">
                <a:latin typeface="Times New Roman" pitchFamily="18" charset="0"/>
              </a:rPr>
              <a:t>the </a:t>
            </a:r>
            <a:r>
              <a:rPr lang="en-US" altLang="ko-KR" b="1" i="1" dirty="0" err="1" smtClean="0">
                <a:latin typeface="Times New Roman" pitchFamily="18" charset="0"/>
              </a:rPr>
              <a:t>Nyquist</a:t>
            </a:r>
            <a:r>
              <a:rPr lang="en-US" altLang="ko-KR" b="1" i="1" dirty="0" smtClean="0">
                <a:latin typeface="Times New Roman" pitchFamily="18" charset="0"/>
              </a:rPr>
              <a:t> formula tells us how many signal levels we need.</a:t>
            </a:r>
            <a:endParaRPr lang="en-US" altLang="ko-KR" b="1" i="1" dirty="0">
              <a:latin typeface="Times New Roman" pitchFamily="18" charset="0"/>
            </a:endParaRPr>
          </a:p>
        </p:txBody>
      </p:sp>
    </p:spTree>
    <p:extLst>
      <p:ext uri="{BB962C8B-B14F-4D97-AF65-F5344CB8AC3E}">
        <p14:creationId xmlns:p14="http://schemas.microsoft.com/office/powerpoint/2010/main" val="2760544261"/>
      </p:ext>
    </p:extLst>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3.6  Performance</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713976"/>
          </a:xfrm>
        </p:spPr>
        <p:txBody>
          <a:bodyPr/>
          <a:lstStyle/>
          <a:p>
            <a:pPr marL="342900" lvl="2" indent="-342900">
              <a:spcBef>
                <a:spcPts val="600"/>
              </a:spcBef>
              <a:buFontTx/>
              <a:buNone/>
              <a:defRPr/>
            </a:pPr>
            <a:r>
              <a:rPr lang="en-US" altLang="ko-KR" sz="2800" b="1" dirty="0" smtClean="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3.6  Performance</a:t>
            </a:r>
            <a:endParaRPr lang="en-US" altLang="ko-KR" sz="2800" b="1" dirty="0" smtClean="0">
              <a:solidFill>
                <a:srgbClr val="C00000"/>
              </a:solidFill>
              <a:latin typeface="Times New Roman" pitchFamily="18" charset="0"/>
              <a:cs typeface="Times New Roman" pitchFamily="18" charset="0"/>
            </a:endParaRPr>
          </a:p>
          <a:p>
            <a:pPr marL="0" indent="0" algn="just">
              <a:lnSpc>
                <a:spcPct val="150000"/>
              </a:lnSpc>
              <a:buNone/>
              <a:defRPr/>
            </a:pPr>
            <a:r>
              <a:rPr lang="en-US" altLang="ko-KR" b="1" i="1" dirty="0" smtClean="0">
                <a:solidFill>
                  <a:srgbClr val="C00000"/>
                </a:solidFill>
                <a:latin typeface="Times New Roman" pitchFamily="18" charset="0"/>
              </a:rPr>
              <a:t>3.6.1 Bandwidth</a:t>
            </a:r>
          </a:p>
          <a:p>
            <a:pPr>
              <a:defRPr/>
            </a:pPr>
            <a:r>
              <a:rPr lang="en-US" altLang="ko-KR" dirty="0" smtClean="0">
                <a:latin typeface="Times New Roman" pitchFamily="18" charset="0"/>
              </a:rPr>
              <a:t>Bandwidth in Hz</a:t>
            </a:r>
          </a:p>
          <a:p>
            <a:pPr lvl="1">
              <a:defRPr/>
            </a:pPr>
            <a:r>
              <a:rPr lang="en-US" altLang="ko-KR" dirty="0" smtClean="0">
                <a:latin typeface="Times New Roman" pitchFamily="18" charset="0"/>
              </a:rPr>
              <a:t>Range of frequencies in a composite signal or </a:t>
            </a:r>
            <a:br>
              <a:rPr lang="en-US" altLang="ko-KR" dirty="0" smtClean="0">
                <a:latin typeface="Times New Roman" pitchFamily="18" charset="0"/>
              </a:rPr>
            </a:br>
            <a:r>
              <a:rPr lang="en-US" altLang="ko-KR" dirty="0" smtClean="0">
                <a:latin typeface="Times New Roman" pitchFamily="18" charset="0"/>
              </a:rPr>
              <a:t>range of frequencies that a channel can pass</a:t>
            </a:r>
          </a:p>
          <a:p>
            <a:pPr>
              <a:defRPr/>
            </a:pPr>
            <a:r>
              <a:rPr lang="en-US" altLang="ko-KR" dirty="0" smtClean="0">
                <a:latin typeface="Times New Roman" pitchFamily="18" charset="0"/>
              </a:rPr>
              <a:t>Bandwidth in Bits per Seconds</a:t>
            </a:r>
          </a:p>
          <a:p>
            <a:pPr lvl="1">
              <a:defRPr/>
            </a:pPr>
            <a:r>
              <a:rPr lang="en-US" altLang="ko-KR" dirty="0" smtClean="0">
                <a:latin typeface="Times New Roman" pitchFamily="18" charset="0"/>
              </a:rPr>
              <a:t>The speed of bit transmission in a channel or link</a:t>
            </a:r>
          </a:p>
          <a:p>
            <a:pPr marL="0" indent="0" algn="just">
              <a:spcBef>
                <a:spcPts val="600"/>
              </a:spcBef>
              <a:buNone/>
              <a:defRPr/>
            </a:pPr>
            <a:endParaRPr lang="en-US" altLang="ko-KR" sz="2000" b="1" i="1" dirty="0" smtClean="0">
              <a:solidFill>
                <a:srgbClr val="C00000"/>
              </a:solidFill>
              <a:latin typeface="Times New Roman" pitchFamily="18" charset="0"/>
            </a:endParaRPr>
          </a:p>
          <a:p>
            <a:pPr marL="0" indent="0" algn="just">
              <a:spcBef>
                <a:spcPts val="600"/>
              </a:spcBef>
              <a:buNone/>
              <a:defRPr/>
            </a:pPr>
            <a:r>
              <a:rPr lang="en-US" altLang="ko-KR" b="1" i="1" dirty="0" smtClean="0">
                <a:solidFill>
                  <a:srgbClr val="C00000"/>
                </a:solidFill>
                <a:latin typeface="Times New Roman" pitchFamily="18" charset="0"/>
              </a:rPr>
              <a:t>Ex. 3.42 </a:t>
            </a:r>
          </a:p>
          <a:p>
            <a:pPr marL="0" indent="0" algn="just">
              <a:spcBef>
                <a:spcPts val="600"/>
              </a:spcBef>
              <a:buNone/>
              <a:defRPr/>
            </a:pPr>
            <a:r>
              <a:rPr lang="en-US" altLang="ko-KR" b="1" i="1" dirty="0" smtClean="0">
                <a:solidFill>
                  <a:srgbClr val="C00000"/>
                </a:solidFill>
                <a:latin typeface="Times New Roman" pitchFamily="18" charset="0"/>
              </a:rPr>
              <a:t>Ex. 3.43</a:t>
            </a:r>
            <a:endParaRPr lang="en-US" altLang="ko-KR" sz="2800" dirty="0" smtClean="0">
              <a:latin typeface="Times New Roman" pitchFamily="18" charset="0"/>
            </a:endParaRPr>
          </a:p>
        </p:txBody>
      </p:sp>
    </p:spTree>
    <p:extLst>
      <p:ext uri="{BB962C8B-B14F-4D97-AF65-F5344CB8AC3E}">
        <p14:creationId xmlns:p14="http://schemas.microsoft.com/office/powerpoint/2010/main" val="647253952"/>
      </p:ext>
    </p:extLst>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3.6  Performance</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713976"/>
          </a:xfrm>
        </p:spPr>
        <p:txBody>
          <a:bodyPr/>
          <a:lstStyle/>
          <a:p>
            <a:pPr marL="0" indent="0" algn="just">
              <a:lnSpc>
                <a:spcPct val="150000"/>
              </a:lnSpc>
              <a:buNone/>
              <a:defRPr/>
            </a:pPr>
            <a:r>
              <a:rPr lang="en-US" altLang="ko-KR" b="1" i="1" dirty="0" smtClean="0">
                <a:solidFill>
                  <a:srgbClr val="C00000"/>
                </a:solidFill>
                <a:latin typeface="Times New Roman" pitchFamily="18" charset="0"/>
              </a:rPr>
              <a:t>3.6.2 Throughput</a:t>
            </a:r>
          </a:p>
          <a:p>
            <a:pPr>
              <a:defRPr/>
            </a:pPr>
            <a:r>
              <a:rPr lang="en-US" altLang="ko-KR" dirty="0">
                <a:latin typeface="Times New Roman" pitchFamily="18" charset="0"/>
              </a:rPr>
              <a:t>a measure of how fast we can actually send data through a network. </a:t>
            </a:r>
            <a:endParaRPr lang="en-US" altLang="ko-KR" dirty="0" smtClean="0">
              <a:latin typeface="Times New Roman" pitchFamily="18" charset="0"/>
            </a:endParaRPr>
          </a:p>
          <a:p>
            <a:pPr>
              <a:defRPr/>
            </a:pPr>
            <a:r>
              <a:rPr lang="en-US" altLang="ko-KR" dirty="0">
                <a:latin typeface="Times New Roman" pitchFamily="18" charset="0"/>
              </a:rPr>
              <a:t>T always less than B. </a:t>
            </a:r>
          </a:p>
          <a:p>
            <a:pPr marL="0" indent="0" algn="just">
              <a:lnSpc>
                <a:spcPct val="150000"/>
              </a:lnSpc>
              <a:buNone/>
              <a:defRPr/>
            </a:pPr>
            <a:r>
              <a:rPr lang="en-US" altLang="ko-KR" b="1" i="1" dirty="0" smtClean="0">
                <a:solidFill>
                  <a:srgbClr val="C00000"/>
                </a:solidFill>
                <a:latin typeface="Times New Roman" pitchFamily="18" charset="0"/>
              </a:rPr>
              <a:t>3.6.3 Latency (Delay)</a:t>
            </a:r>
            <a:endParaRPr lang="en-US" altLang="ko-KR" b="1" i="1" dirty="0">
              <a:solidFill>
                <a:srgbClr val="C00000"/>
              </a:solidFill>
              <a:latin typeface="Times New Roman" pitchFamily="18" charset="0"/>
            </a:endParaRPr>
          </a:p>
          <a:p>
            <a:pPr>
              <a:defRPr/>
            </a:pPr>
            <a:r>
              <a:rPr lang="en-US" altLang="ko-KR" dirty="0">
                <a:latin typeface="Times New Roman" pitchFamily="18" charset="0"/>
              </a:rPr>
              <a:t>how long it takes for an entire message to completely arrive at the destination from the time the first bit is sent out from the source</a:t>
            </a:r>
            <a:r>
              <a:rPr lang="en-US" altLang="ko-KR" dirty="0" smtClean="0">
                <a:latin typeface="Times New Roman" pitchFamily="18" charset="0"/>
              </a:rPr>
              <a:t>.</a:t>
            </a:r>
          </a:p>
          <a:p>
            <a:pPr marL="0" indent="0">
              <a:buNone/>
              <a:defRPr/>
            </a:pPr>
            <a:r>
              <a:rPr lang="en-US" altLang="ko-KR" b="1" i="1" dirty="0" smtClean="0">
                <a:solidFill>
                  <a:srgbClr val="C00000"/>
                </a:solidFill>
                <a:latin typeface="Times New Roman" pitchFamily="18" charset="0"/>
              </a:rPr>
              <a:t>            Latency = propagation time + transmission time </a:t>
            </a:r>
          </a:p>
          <a:p>
            <a:pPr marL="0" indent="0">
              <a:buNone/>
              <a:defRPr/>
            </a:pPr>
            <a:r>
              <a:rPr lang="en-US" altLang="ko-KR" b="1" i="1" dirty="0">
                <a:solidFill>
                  <a:srgbClr val="C00000"/>
                </a:solidFill>
                <a:latin typeface="Times New Roman" pitchFamily="18" charset="0"/>
              </a:rPr>
              <a:t> </a:t>
            </a:r>
            <a:r>
              <a:rPr lang="en-US" altLang="ko-KR" b="1" i="1" dirty="0" smtClean="0">
                <a:solidFill>
                  <a:srgbClr val="C00000"/>
                </a:solidFill>
                <a:latin typeface="Times New Roman" pitchFamily="18" charset="0"/>
              </a:rPr>
              <a:t>                         + queuing time + processing delay</a:t>
            </a:r>
          </a:p>
          <a:p>
            <a:pPr marL="0" indent="0">
              <a:buNone/>
              <a:defRPr/>
            </a:pPr>
            <a:r>
              <a:rPr lang="en-US" altLang="ko-KR" b="1" i="1" dirty="0" smtClean="0">
                <a:solidFill>
                  <a:srgbClr val="C00000"/>
                </a:solidFill>
                <a:latin typeface="Times New Roman" pitchFamily="18" charset="0"/>
              </a:rPr>
              <a:t>Ex. 3.45</a:t>
            </a:r>
          </a:p>
          <a:p>
            <a:pPr marL="0" indent="0">
              <a:buNone/>
              <a:defRPr/>
            </a:pPr>
            <a:r>
              <a:rPr lang="en-US" altLang="ko-KR" b="1" i="1" dirty="0" smtClean="0">
                <a:solidFill>
                  <a:srgbClr val="C00000"/>
                </a:solidFill>
                <a:latin typeface="Times New Roman" pitchFamily="18" charset="0"/>
              </a:rPr>
              <a:t>Ex. 3.46</a:t>
            </a:r>
          </a:p>
          <a:p>
            <a:pPr marL="0" indent="0">
              <a:buNone/>
              <a:defRPr/>
            </a:pPr>
            <a:r>
              <a:rPr lang="en-US" altLang="ko-KR" b="1" i="1" dirty="0" smtClean="0">
                <a:solidFill>
                  <a:srgbClr val="C00000"/>
                </a:solidFill>
                <a:latin typeface="Times New Roman" pitchFamily="18" charset="0"/>
              </a:rPr>
              <a:t>Ex. 3.47</a:t>
            </a:r>
            <a:endParaRPr lang="en-US" altLang="ko-KR" dirty="0" smtClean="0">
              <a:latin typeface="Times New Roman" pitchFamily="18" charset="0"/>
            </a:endParaRPr>
          </a:p>
        </p:txBody>
      </p:sp>
    </p:spTree>
    <p:extLst>
      <p:ext uri="{BB962C8B-B14F-4D97-AF65-F5344CB8AC3E}">
        <p14:creationId xmlns:p14="http://schemas.microsoft.com/office/powerpoint/2010/main" val="4003060752"/>
      </p:ext>
    </p:extLst>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3.6  Performance</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713976"/>
          </a:xfrm>
        </p:spPr>
        <p:txBody>
          <a:bodyPr/>
          <a:lstStyle/>
          <a:p>
            <a:pPr marL="0" indent="0" algn="just">
              <a:lnSpc>
                <a:spcPct val="150000"/>
              </a:lnSpc>
              <a:buNone/>
              <a:defRPr/>
            </a:pPr>
            <a:r>
              <a:rPr lang="en-US" altLang="ko-KR" b="1" i="1" dirty="0" smtClean="0">
                <a:solidFill>
                  <a:srgbClr val="C00000"/>
                </a:solidFill>
                <a:latin typeface="Times New Roman" pitchFamily="18" charset="0"/>
              </a:rPr>
              <a:t>3.6.4 Bandwidth – Delay Product</a:t>
            </a:r>
          </a:p>
          <a:p>
            <a:pPr>
              <a:defRPr/>
            </a:pPr>
            <a:r>
              <a:rPr lang="en-US" altLang="ko-KR" dirty="0" smtClean="0">
                <a:latin typeface="Times New Roman" pitchFamily="18" charset="0"/>
              </a:rPr>
              <a:t>The number of bits that can fill the link</a:t>
            </a:r>
          </a:p>
          <a:p>
            <a:pPr>
              <a:defRPr/>
            </a:pPr>
            <a:endParaRPr lang="en-US" altLang="ko-KR" dirty="0">
              <a:latin typeface="Times New Roman" pitchFamily="18" charset="0"/>
            </a:endParaRPr>
          </a:p>
          <a:p>
            <a:pPr>
              <a:defRPr/>
            </a:pPr>
            <a:endParaRPr lang="en-US" altLang="ko-KR" dirty="0" smtClean="0">
              <a:latin typeface="Times New Roman" pitchFamily="18" charset="0"/>
            </a:endParaRPr>
          </a:p>
          <a:p>
            <a:pPr>
              <a:defRPr/>
            </a:pPr>
            <a:endParaRPr lang="en-US" altLang="ko-KR" dirty="0">
              <a:latin typeface="Times New Roman" pitchFamily="18" charset="0"/>
            </a:endParaRPr>
          </a:p>
          <a:p>
            <a:pPr>
              <a:defRPr/>
            </a:pPr>
            <a:endParaRPr lang="en-US" altLang="ko-KR" dirty="0" smtClean="0">
              <a:latin typeface="Times New Roman" pitchFamily="18" charset="0"/>
            </a:endParaRPr>
          </a:p>
          <a:p>
            <a:pPr>
              <a:defRPr/>
            </a:pPr>
            <a:endParaRPr lang="en-US" altLang="ko-KR" dirty="0">
              <a:latin typeface="Times New Roman" pitchFamily="18" charset="0"/>
            </a:endParaRPr>
          </a:p>
          <a:p>
            <a:pPr>
              <a:defRPr/>
            </a:pPr>
            <a:endParaRPr lang="en-US" altLang="ko-KR" dirty="0" smtClean="0">
              <a:latin typeface="Times New Roman" pitchFamily="18" charset="0"/>
            </a:endParaRPr>
          </a:p>
          <a:p>
            <a:pPr>
              <a:defRPr/>
            </a:pPr>
            <a:endParaRPr lang="en-US" altLang="ko-KR" dirty="0">
              <a:latin typeface="Times New Roman" pitchFamily="18" charset="0"/>
            </a:endParaRPr>
          </a:p>
          <a:p>
            <a:pPr>
              <a:defRPr/>
            </a:pPr>
            <a:endParaRPr lang="en-US" altLang="ko-KR" dirty="0" smtClean="0">
              <a:latin typeface="Times New Roman" pitchFamily="18" charset="0"/>
            </a:endParaRPr>
          </a:p>
          <a:p>
            <a:pPr>
              <a:defRPr/>
            </a:pPr>
            <a:endParaRPr lang="en-US" altLang="ko-KR" dirty="0">
              <a:latin typeface="Times New Roman" pitchFamily="18" charset="0"/>
            </a:endParaRPr>
          </a:p>
          <a:p>
            <a:pPr marL="0" indent="0">
              <a:buNone/>
            </a:pPr>
            <a:r>
              <a:rPr lang="en-US" altLang="ko-KR" b="1" i="1" dirty="0" smtClean="0">
                <a:solidFill>
                  <a:srgbClr val="C00000"/>
                </a:solidFill>
                <a:latin typeface="+mj-lt"/>
              </a:rPr>
              <a:t>         Fig</a:t>
            </a:r>
            <a:r>
              <a:rPr lang="en-US" altLang="ko-KR" b="1" i="1" dirty="0">
                <a:solidFill>
                  <a:srgbClr val="C00000"/>
                </a:solidFill>
                <a:latin typeface="+mj-lt"/>
              </a:rPr>
              <a:t>. </a:t>
            </a:r>
            <a:r>
              <a:rPr lang="en-US" altLang="ko-KR" b="1" i="1" dirty="0" smtClean="0">
                <a:solidFill>
                  <a:srgbClr val="C00000"/>
                </a:solidFill>
                <a:latin typeface="+mj-lt"/>
              </a:rPr>
              <a:t>3.32  </a:t>
            </a:r>
            <a:r>
              <a:rPr lang="en-US" altLang="ko-KR" dirty="0">
                <a:latin typeface="Times New Roman" pitchFamily="18" charset="0"/>
                <a:cs typeface="Times New Roman" pitchFamily="18" charset="0"/>
              </a:rPr>
              <a:t>Filling the links with bits for Case 1</a:t>
            </a:r>
          </a:p>
          <a:p>
            <a:pPr marL="0" indent="0">
              <a:buNone/>
              <a:defRPr/>
            </a:pPr>
            <a:endParaRPr lang="en-US" altLang="ko-KR" dirty="0" smtClean="0">
              <a:latin typeface="Times New Roman" pitchFamily="18" charset="0"/>
            </a:endParaRPr>
          </a:p>
          <a:p>
            <a:pPr>
              <a:defRPr/>
            </a:pPr>
            <a:endParaRPr lang="en-US" altLang="ko-KR" dirty="0">
              <a:latin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49" y="2040200"/>
            <a:ext cx="7418010" cy="359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2848374"/>
      </p:ext>
    </p:extLst>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3.6  Performance</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713976"/>
          </a:xfrm>
        </p:spPr>
        <p:txBody>
          <a:bodyPr/>
          <a:lstStyle/>
          <a:p>
            <a:pPr>
              <a:defRPr/>
            </a:pPr>
            <a:endParaRPr lang="en-US" altLang="ko-KR" dirty="0" smtClean="0">
              <a:latin typeface="Times New Roman" pitchFamily="18" charset="0"/>
            </a:endParaRPr>
          </a:p>
          <a:p>
            <a:pPr>
              <a:defRPr/>
            </a:pPr>
            <a:endParaRPr lang="en-US" altLang="ko-KR" dirty="0">
              <a:latin typeface="Times New Roman" pitchFamily="18" charset="0"/>
            </a:endParaRPr>
          </a:p>
          <a:p>
            <a:pPr>
              <a:defRPr/>
            </a:pPr>
            <a:endParaRPr lang="en-US" altLang="ko-KR" dirty="0" smtClean="0">
              <a:latin typeface="Times New Roman" pitchFamily="18" charset="0"/>
            </a:endParaRPr>
          </a:p>
          <a:p>
            <a:pPr>
              <a:defRPr/>
            </a:pPr>
            <a:endParaRPr lang="en-US" altLang="ko-KR" dirty="0">
              <a:latin typeface="Times New Roman" pitchFamily="18" charset="0"/>
            </a:endParaRPr>
          </a:p>
          <a:p>
            <a:pPr>
              <a:defRPr/>
            </a:pPr>
            <a:endParaRPr lang="en-US" altLang="ko-KR" dirty="0" smtClean="0">
              <a:latin typeface="Times New Roman" pitchFamily="18" charset="0"/>
            </a:endParaRPr>
          </a:p>
          <a:p>
            <a:pPr>
              <a:defRPr/>
            </a:pPr>
            <a:endParaRPr lang="en-US" altLang="ko-KR" dirty="0">
              <a:latin typeface="Times New Roman" pitchFamily="18" charset="0"/>
            </a:endParaRPr>
          </a:p>
          <a:p>
            <a:pPr>
              <a:defRPr/>
            </a:pPr>
            <a:endParaRPr lang="en-US" altLang="ko-KR" dirty="0" smtClean="0">
              <a:latin typeface="Times New Roman" pitchFamily="18" charset="0"/>
            </a:endParaRPr>
          </a:p>
          <a:p>
            <a:pPr>
              <a:defRPr/>
            </a:pPr>
            <a:endParaRPr lang="en-US" altLang="ko-KR" dirty="0" smtClean="0">
              <a:latin typeface="Times New Roman" pitchFamily="18" charset="0"/>
            </a:endParaRPr>
          </a:p>
          <a:p>
            <a:pPr marL="0" indent="0">
              <a:buNone/>
            </a:pPr>
            <a:r>
              <a:rPr lang="en-US" altLang="ko-KR" b="1" i="1" dirty="0" smtClean="0">
                <a:solidFill>
                  <a:srgbClr val="C00000"/>
                </a:solidFill>
                <a:latin typeface="+mj-lt"/>
              </a:rPr>
              <a:t>           </a:t>
            </a:r>
          </a:p>
          <a:p>
            <a:pPr marL="0" indent="0">
              <a:buNone/>
            </a:pPr>
            <a:r>
              <a:rPr lang="en-US" altLang="ko-KR" b="1" i="1" dirty="0">
                <a:solidFill>
                  <a:srgbClr val="C00000"/>
                </a:solidFill>
                <a:latin typeface="+mj-lt"/>
              </a:rPr>
              <a:t> </a:t>
            </a:r>
            <a:r>
              <a:rPr lang="en-US" altLang="ko-KR" b="1" i="1" dirty="0" smtClean="0">
                <a:solidFill>
                  <a:srgbClr val="C00000"/>
                </a:solidFill>
                <a:latin typeface="+mj-lt"/>
              </a:rPr>
              <a:t>             Fig</a:t>
            </a:r>
            <a:r>
              <a:rPr lang="en-US" altLang="ko-KR" b="1" i="1" dirty="0">
                <a:solidFill>
                  <a:srgbClr val="C00000"/>
                </a:solidFill>
                <a:latin typeface="+mj-lt"/>
              </a:rPr>
              <a:t>. </a:t>
            </a:r>
            <a:r>
              <a:rPr lang="en-US" altLang="ko-KR" b="1" i="1" dirty="0" smtClean="0">
                <a:solidFill>
                  <a:srgbClr val="C00000"/>
                </a:solidFill>
                <a:latin typeface="+mj-lt"/>
              </a:rPr>
              <a:t>3.33  </a:t>
            </a:r>
            <a:r>
              <a:rPr lang="en-US" altLang="ko-KR" dirty="0">
                <a:latin typeface="Times New Roman" pitchFamily="18" charset="0"/>
                <a:cs typeface="Times New Roman" pitchFamily="18" charset="0"/>
              </a:rPr>
              <a:t>Filling the </a:t>
            </a:r>
            <a:r>
              <a:rPr lang="en-US" altLang="ko-KR" dirty="0" smtClean="0">
                <a:latin typeface="Times New Roman" pitchFamily="18" charset="0"/>
                <a:cs typeface="Times New Roman" pitchFamily="18" charset="0"/>
              </a:rPr>
              <a:t>links </a:t>
            </a:r>
            <a:r>
              <a:rPr lang="en-US" altLang="ko-KR" dirty="0">
                <a:latin typeface="Times New Roman" pitchFamily="18" charset="0"/>
                <a:cs typeface="Times New Roman" pitchFamily="18" charset="0"/>
              </a:rPr>
              <a:t>with bits for Case </a:t>
            </a:r>
            <a:r>
              <a:rPr lang="en-US" altLang="ko-KR" dirty="0" smtClean="0">
                <a:latin typeface="Times New Roman" pitchFamily="18" charset="0"/>
                <a:cs typeface="Times New Roman" pitchFamily="18" charset="0"/>
              </a:rPr>
              <a:t>2</a:t>
            </a:r>
            <a:endParaRPr lang="en-US" altLang="ko-KR" dirty="0">
              <a:latin typeface="Times New Roman" pitchFamily="18" charset="0"/>
              <a:cs typeface="Times New Roman" pitchFamily="18" charset="0"/>
            </a:endParaRPr>
          </a:p>
          <a:p>
            <a:pPr marL="0" indent="0">
              <a:buNone/>
              <a:defRPr/>
            </a:pPr>
            <a:endParaRPr lang="en-US" altLang="ko-KR" dirty="0" smtClean="0">
              <a:latin typeface="Times New Roman" pitchFamily="18" charset="0"/>
            </a:endParaRPr>
          </a:p>
          <a:p>
            <a:pPr marL="0" indent="0">
              <a:buNone/>
              <a:defRPr/>
            </a:pPr>
            <a:r>
              <a:rPr lang="en-US" altLang="ko-KR" b="1" i="1" dirty="0" smtClean="0">
                <a:solidFill>
                  <a:srgbClr val="C00000"/>
                </a:solidFill>
                <a:latin typeface="Times New Roman" pitchFamily="18" charset="0"/>
              </a:rPr>
              <a:t>Ex. 3.48</a:t>
            </a:r>
            <a:endParaRPr lang="en-US" altLang="ko-KR" b="1" i="1" dirty="0">
              <a:solidFill>
                <a:srgbClr val="C00000"/>
              </a:solidFill>
              <a:latin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49" y="1047143"/>
            <a:ext cx="7418010" cy="359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87671"/>
      </p:ext>
    </p:extLst>
  </p:cSld>
  <p:clrMapOvr>
    <a:masterClrMapping/>
  </p:clrMapOvr>
  <p:transition spd="med"/>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3.6  Performance</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713976"/>
          </a:xfrm>
        </p:spPr>
        <p:txBody>
          <a:bodyPr/>
          <a:lstStyle/>
          <a:p>
            <a:pPr>
              <a:defRPr/>
            </a:pPr>
            <a:endParaRPr lang="en-US" altLang="ko-KR" dirty="0" smtClean="0">
              <a:latin typeface="Times New Roman" pitchFamily="18" charset="0"/>
            </a:endParaRPr>
          </a:p>
          <a:p>
            <a:pPr>
              <a:defRPr/>
            </a:pPr>
            <a:endParaRPr lang="en-US" altLang="ko-KR" dirty="0">
              <a:latin typeface="Times New Roman" pitchFamily="18" charset="0"/>
            </a:endParaRPr>
          </a:p>
          <a:p>
            <a:pPr>
              <a:defRPr/>
            </a:pPr>
            <a:endParaRPr lang="en-US" altLang="ko-KR" dirty="0" smtClean="0">
              <a:latin typeface="Times New Roman" pitchFamily="18" charset="0"/>
            </a:endParaRPr>
          </a:p>
          <a:p>
            <a:pPr>
              <a:defRPr/>
            </a:pPr>
            <a:endParaRPr lang="en-US" altLang="ko-KR" dirty="0">
              <a:latin typeface="Times New Roman" pitchFamily="18" charset="0"/>
            </a:endParaRPr>
          </a:p>
          <a:p>
            <a:pPr marL="0" indent="0">
              <a:buNone/>
            </a:pPr>
            <a:r>
              <a:rPr lang="en-US" altLang="ko-KR" b="1" i="1" dirty="0">
                <a:solidFill>
                  <a:srgbClr val="C00000"/>
                </a:solidFill>
                <a:latin typeface="+mj-lt"/>
              </a:rPr>
              <a:t> </a:t>
            </a:r>
            <a:r>
              <a:rPr lang="en-US" altLang="ko-KR" b="1" i="1" dirty="0" smtClean="0">
                <a:solidFill>
                  <a:srgbClr val="C00000"/>
                </a:solidFill>
                <a:latin typeface="+mj-lt"/>
              </a:rPr>
              <a:t>          Fig</a:t>
            </a:r>
            <a:r>
              <a:rPr lang="en-US" altLang="ko-KR" b="1" i="1" dirty="0">
                <a:solidFill>
                  <a:srgbClr val="C00000"/>
                </a:solidFill>
                <a:latin typeface="+mj-lt"/>
              </a:rPr>
              <a:t>. </a:t>
            </a:r>
            <a:r>
              <a:rPr lang="en-US" altLang="ko-KR" b="1" i="1" dirty="0" smtClean="0">
                <a:solidFill>
                  <a:srgbClr val="C00000"/>
                </a:solidFill>
                <a:latin typeface="+mj-lt"/>
              </a:rPr>
              <a:t>3.34  </a:t>
            </a:r>
            <a:r>
              <a:rPr lang="en-US" altLang="ko-KR" dirty="0">
                <a:latin typeface="+mj-lt"/>
              </a:rPr>
              <a:t>Concept of bandwidth-delay product</a:t>
            </a:r>
          </a:p>
          <a:p>
            <a:pPr marL="0" indent="0">
              <a:buNone/>
              <a:defRPr/>
            </a:pPr>
            <a:endParaRPr lang="en-US" altLang="ko-KR" dirty="0" smtClean="0">
              <a:latin typeface="+mj-lt"/>
            </a:endParaRPr>
          </a:p>
          <a:p>
            <a:pPr marL="0" indent="0">
              <a:buNone/>
              <a:defRPr/>
            </a:pPr>
            <a:r>
              <a:rPr lang="en-US" altLang="ko-KR" b="1" i="1" dirty="0" smtClean="0">
                <a:solidFill>
                  <a:srgbClr val="C00000"/>
                </a:solidFill>
                <a:latin typeface="Times New Roman" pitchFamily="18" charset="0"/>
              </a:rPr>
              <a:t>3.6.5 Jitter</a:t>
            </a:r>
          </a:p>
          <a:p>
            <a:pPr marL="342900" lvl="1" indent="-342900">
              <a:buBlip>
                <a:blip r:embed="rId2"/>
              </a:buBlip>
              <a:defRPr/>
            </a:pPr>
            <a:r>
              <a:rPr lang="en-US" altLang="ko-KR" sz="2400" dirty="0">
                <a:latin typeface="Times New Roman" pitchFamily="18" charset="0"/>
              </a:rPr>
              <a:t>i</a:t>
            </a:r>
            <a:r>
              <a:rPr lang="en-US" altLang="ko-KR" sz="2400" dirty="0" smtClean="0">
                <a:latin typeface="Times New Roman" pitchFamily="18" charset="0"/>
              </a:rPr>
              <a:t>s </a:t>
            </a:r>
            <a:r>
              <a:rPr lang="en-US" altLang="ko-KR" sz="2400" dirty="0">
                <a:latin typeface="Times New Roman" pitchFamily="18" charset="0"/>
              </a:rPr>
              <a:t>a problem if different packets of data encounter different delays and the application using the data at the receiver site is time-sensitive (audio and video data, for example).</a:t>
            </a:r>
            <a:endParaRPr lang="en-US" altLang="ko-KR" sz="2400" b="1" i="1" dirty="0">
              <a:solidFill>
                <a:srgbClr val="C00000"/>
              </a:solidFill>
              <a:latin typeface="Times New Roman" pitchFamily="18" charset="0"/>
            </a:endParaRPr>
          </a:p>
          <a:p>
            <a:pPr marL="0" indent="0">
              <a:buNone/>
              <a:defRPr/>
            </a:pPr>
            <a:endParaRPr lang="en-US" altLang="ko-KR" dirty="0" smtClean="0">
              <a:latin typeface="Times New Roman" pitchFamily="18" charset="0"/>
            </a:endParaRP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3295" y="1599351"/>
            <a:ext cx="2442311" cy="313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1802" y="1525992"/>
            <a:ext cx="1650150" cy="46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23295" y="1069505"/>
            <a:ext cx="2248825" cy="26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3679" y="2168518"/>
            <a:ext cx="2264888" cy="214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0251861"/>
      </p:ext>
    </p:extLst>
  </p:cSld>
  <p:clrMapOvr>
    <a:masterClrMapping/>
  </p:clrMapOvr>
  <p:transition spd="med"/>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제목 1"/>
          <p:cNvSpPr>
            <a:spLocks noGrp="1"/>
          </p:cNvSpPr>
          <p:nvPr>
            <p:ph type="title"/>
          </p:nvPr>
        </p:nvSpPr>
        <p:spPr/>
        <p:txBody>
          <a:bodyPr/>
          <a:lstStyle/>
          <a:p>
            <a:pPr marL="342900" lvl="2" indent="-342900">
              <a:lnSpc>
                <a:spcPct val="150000"/>
              </a:lnSpc>
              <a:defRPr/>
            </a:pPr>
            <a:r>
              <a:rPr lang="en-US" altLang="ko-KR" sz="2400" dirty="0" smtClean="0">
                <a:effectLst>
                  <a:outerShdw blurRad="38100" dist="38100" dir="2700000" algn="tl">
                    <a:srgbClr val="000000">
                      <a:alpha val="43137"/>
                    </a:srgbClr>
                  </a:outerShdw>
                </a:effectLst>
                <a:latin typeface="Times New Roman" pitchFamily="18" charset="0"/>
                <a:cs typeface="Times New Roman" pitchFamily="18" charset="0"/>
              </a:rPr>
              <a:t>Homework</a:t>
            </a:r>
            <a:endParaRPr lang="en-US" altLang="ko-KR"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3" name="내용 개체 틀 2"/>
          <p:cNvSpPr>
            <a:spLocks noGrp="1"/>
          </p:cNvSpPr>
          <p:nvPr>
            <p:ph idx="1"/>
          </p:nvPr>
        </p:nvSpPr>
        <p:spPr>
          <a:xfrm>
            <a:off x="368300" y="755650"/>
            <a:ext cx="8429625" cy="5713976"/>
          </a:xfrm>
        </p:spPr>
        <p:txBody>
          <a:bodyPr/>
          <a:lstStyle/>
          <a:p>
            <a:pPr marL="457200" indent="-457200" eaLnBrk="1" hangingPunct="1">
              <a:buFontTx/>
              <a:buNone/>
            </a:pPr>
            <a:r>
              <a:rPr lang="en-US" altLang="ko-KR" b="1" dirty="0">
                <a:solidFill>
                  <a:srgbClr val="C00000"/>
                </a:solidFill>
                <a:latin typeface="Times New Roman" pitchFamily="18" charset="0"/>
              </a:rPr>
              <a:t>Homework</a:t>
            </a:r>
          </a:p>
          <a:p>
            <a:pPr marL="457200" indent="-457200" eaLnBrk="1" hangingPunct="1">
              <a:buFontTx/>
              <a:buNone/>
            </a:pPr>
            <a:r>
              <a:rPr lang="en-US" altLang="ko-KR" dirty="0">
                <a:latin typeface="Times New Roman" pitchFamily="18" charset="0"/>
              </a:rPr>
              <a:t>      Read textbook pp. </a:t>
            </a:r>
            <a:r>
              <a:rPr lang="en-US" altLang="ko-KR" dirty="0" smtClean="0">
                <a:latin typeface="Times New Roman" pitchFamily="18" charset="0"/>
              </a:rPr>
              <a:t>96-129</a:t>
            </a:r>
            <a:endParaRPr lang="en-US" altLang="ko-KR" dirty="0">
              <a:latin typeface="Times New Roman" pitchFamily="18" charset="0"/>
            </a:endParaRPr>
          </a:p>
          <a:p>
            <a:pPr marL="457200" indent="-457200" eaLnBrk="1" hangingPunct="1">
              <a:buFontTx/>
              <a:buNone/>
            </a:pPr>
            <a:r>
              <a:rPr lang="en-US" altLang="ko-KR" dirty="0" smtClean="0">
                <a:latin typeface="Times New Roman" pitchFamily="18" charset="0"/>
              </a:rPr>
              <a:t>      Solve Problems p3-4, p3-5, p3-7, p3-10, p3-13, p3-17, p3-21, </a:t>
            </a:r>
            <a:br>
              <a:rPr lang="en-US" altLang="ko-KR" dirty="0" smtClean="0">
                <a:latin typeface="Times New Roman" pitchFamily="18" charset="0"/>
              </a:rPr>
            </a:br>
            <a:r>
              <a:rPr lang="en-US" altLang="ko-KR" dirty="0" smtClean="0">
                <a:latin typeface="Times New Roman" pitchFamily="18" charset="0"/>
              </a:rPr>
              <a:t>                           p3-26, p3-29, p3-33</a:t>
            </a:r>
            <a:endParaRPr lang="en-US" altLang="ko-KR" dirty="0">
              <a:latin typeface="Times New Roman" pitchFamily="18" charset="0"/>
            </a:endParaRPr>
          </a:p>
          <a:p>
            <a:pPr marL="457200" indent="-457200" eaLnBrk="1" hangingPunct="1">
              <a:buFontTx/>
              <a:buNone/>
            </a:pPr>
            <a:r>
              <a:rPr lang="en-US" altLang="ko-KR" b="1" dirty="0">
                <a:solidFill>
                  <a:srgbClr val="C00000"/>
                </a:solidFill>
                <a:latin typeface="Times New Roman" pitchFamily="18" charset="0"/>
              </a:rPr>
              <a:t>Next Lecture</a:t>
            </a:r>
          </a:p>
          <a:p>
            <a:pPr marL="457200" indent="-457200" eaLnBrk="1" hangingPunct="1">
              <a:buFontTx/>
              <a:buNone/>
            </a:pPr>
            <a:r>
              <a:rPr lang="en-US" altLang="ko-KR" dirty="0">
                <a:latin typeface="Times New Roman" pitchFamily="18" charset="0"/>
              </a:rPr>
              <a:t>     Chapter </a:t>
            </a:r>
            <a:r>
              <a:rPr lang="en-US" altLang="ko-KR" dirty="0" smtClean="0">
                <a:latin typeface="Times New Roman" pitchFamily="18" charset="0"/>
              </a:rPr>
              <a:t>4. Digital Transmission</a:t>
            </a:r>
          </a:p>
          <a:p>
            <a:pPr>
              <a:defRPr/>
            </a:pPr>
            <a:endParaRPr lang="en-US" altLang="ko-KR" dirty="0" smtClean="0">
              <a:latin typeface="Times New Roman" pitchFamily="18" charset="0"/>
            </a:endParaRPr>
          </a:p>
          <a:p>
            <a:pPr>
              <a:defRPr/>
            </a:pPr>
            <a:endParaRPr lang="en-US" altLang="ko-KR" dirty="0">
              <a:latin typeface="Times New Roman" pitchFamily="18" charset="0"/>
            </a:endParaRPr>
          </a:p>
        </p:txBody>
      </p:sp>
    </p:spTree>
    <p:extLst>
      <p:ext uri="{BB962C8B-B14F-4D97-AF65-F5344CB8AC3E}">
        <p14:creationId xmlns:p14="http://schemas.microsoft.com/office/powerpoint/2010/main" val="151160526"/>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기본 디자인">
      <a:majorFont>
        <a:latin typeface="Times New Roman"/>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1"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1" u="none" strike="noStrike" cap="none" normalizeH="0" baseline="0" smtClean="0">
            <a:ln>
              <a:noFill/>
            </a:ln>
            <a:solidFill>
              <a:schemeClr val="tx1"/>
            </a:solidFill>
            <a:effectLst/>
            <a:latin typeface="Arial" charset="0"/>
          </a:defRPr>
        </a:defPPr>
      </a:lst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13726</TotalTime>
  <Words>1532</Words>
  <Application>Microsoft Office PowerPoint</Application>
  <PresentationFormat>화면 슬라이드 쇼(4:3)</PresentationFormat>
  <Paragraphs>579</Paragraphs>
  <Slides>52</Slides>
  <Notes>2</Notes>
  <HiddenSlides>0</HiddenSlides>
  <MMClips>0</MMClips>
  <ScaleCrop>false</ScaleCrop>
  <HeadingPairs>
    <vt:vector size="6" baseType="variant">
      <vt:variant>
        <vt:lpstr>사용한 글꼴</vt:lpstr>
      </vt:variant>
      <vt:variant>
        <vt:i4>15</vt:i4>
      </vt:variant>
      <vt:variant>
        <vt:lpstr>테마</vt:lpstr>
      </vt:variant>
      <vt:variant>
        <vt:i4>1</vt:i4>
      </vt:variant>
      <vt:variant>
        <vt:lpstr>슬라이드 제목</vt:lpstr>
      </vt:variant>
      <vt:variant>
        <vt:i4>52</vt:i4>
      </vt:variant>
    </vt:vector>
  </HeadingPairs>
  <TitlesOfParts>
    <vt:vector size="68" baseType="lpstr">
      <vt:lpstr>HY각헤드라인M</vt:lpstr>
      <vt:lpstr>HY목판L</vt:lpstr>
      <vt:lpstr>HY헤드라인M</vt:lpstr>
      <vt:lpstr>Times-BoldItalic</vt:lpstr>
      <vt:lpstr>굴림</vt:lpstr>
      <vt:lpstr>굴림체</vt:lpstr>
      <vt:lpstr>돋움</vt:lpstr>
      <vt:lpstr>Arial</vt:lpstr>
      <vt:lpstr>Arial Black</vt:lpstr>
      <vt:lpstr>Cambria Math</vt:lpstr>
      <vt:lpstr>Microsoft Sans Serif</vt:lpstr>
      <vt:lpstr>Times</vt:lpstr>
      <vt:lpstr>Times New Roman</vt:lpstr>
      <vt:lpstr>Verdana</vt:lpstr>
      <vt:lpstr>Wingdings 2</vt:lpstr>
      <vt:lpstr>기본 디자인</vt:lpstr>
      <vt:lpstr>Chapter  3  Introduction To Physical Layer</vt:lpstr>
      <vt:lpstr>Ch. 3:  Outline</vt:lpstr>
      <vt:lpstr>Ch. 3 : Objective</vt:lpstr>
      <vt:lpstr>Ch. 3 : Objective</vt:lpstr>
      <vt:lpstr>3-1 Data and Signals </vt:lpstr>
      <vt:lpstr>3.1.1  Analog and Digital Data</vt:lpstr>
      <vt:lpstr>3.1.2  Analog and Digital Signals</vt:lpstr>
      <vt:lpstr>3.1.3  Periodic and Nonperiodic</vt:lpstr>
      <vt:lpstr>3.2  Periodic Analog Signals</vt:lpstr>
      <vt:lpstr>3.2.1  Sine Wave</vt:lpstr>
      <vt:lpstr>3.2.1  Sine Wave</vt:lpstr>
      <vt:lpstr>3.2.1. Sine Wave</vt:lpstr>
      <vt:lpstr>3.2.1. Sine Wave</vt:lpstr>
      <vt:lpstr>3.2.1. Sine Wave</vt:lpstr>
      <vt:lpstr>3.2.2  Phase</vt:lpstr>
      <vt:lpstr>3.2.3 Wavelength</vt:lpstr>
      <vt:lpstr>3.2.4 Time and Frequency Domains</vt:lpstr>
      <vt:lpstr>3.2.4 Time and Frequency Domains</vt:lpstr>
      <vt:lpstr>3.2.5  Composite Signals</vt:lpstr>
      <vt:lpstr>3.2.5  Composite Signals</vt:lpstr>
      <vt:lpstr>3.2.5  Composite Signals</vt:lpstr>
      <vt:lpstr>3.2.6  Bandwidth</vt:lpstr>
      <vt:lpstr>3.2.6  Bandwidth</vt:lpstr>
      <vt:lpstr>3.2.6  Bandwidth</vt:lpstr>
      <vt:lpstr>3.2.6  Bandwidth</vt:lpstr>
      <vt:lpstr>3.3  Digital Signals</vt:lpstr>
      <vt:lpstr>3.3.2  Bit Length</vt:lpstr>
      <vt:lpstr>3.3.3  Digital as Composite Analog</vt:lpstr>
      <vt:lpstr>3.3.4  Transmission of Digital Signals</vt:lpstr>
      <vt:lpstr>3.3.4  Transmission of Digital Signals</vt:lpstr>
      <vt:lpstr>3.3.4  Transmission of Digital Signals</vt:lpstr>
      <vt:lpstr>3.3.4  Transmission of Digital Signals</vt:lpstr>
      <vt:lpstr>3.3.4  Transmission of Digital Signals</vt:lpstr>
      <vt:lpstr>3.3.4  Transmission of Digital Signals</vt:lpstr>
      <vt:lpstr>3.3.4  Transmission of Digital Signals</vt:lpstr>
      <vt:lpstr>3.3.4  Transmission of Digital Signals</vt:lpstr>
      <vt:lpstr>3.4  Transmission Impairment</vt:lpstr>
      <vt:lpstr>3.4  Transmission Impairment</vt:lpstr>
      <vt:lpstr>3.4  Transmission Impairment</vt:lpstr>
      <vt:lpstr>3.4  Transmission Impairment</vt:lpstr>
      <vt:lpstr>3.4  Transmission Impairment</vt:lpstr>
      <vt:lpstr>3.4  Transmission Impairment</vt:lpstr>
      <vt:lpstr>3.4  Transmission Impairment</vt:lpstr>
      <vt:lpstr>3.5  Data Rate Limits</vt:lpstr>
      <vt:lpstr>3.5  Data Rate Limits</vt:lpstr>
      <vt:lpstr>3.5  Data Rate Limits</vt:lpstr>
      <vt:lpstr>3.6  Performance</vt:lpstr>
      <vt:lpstr>3.6  Performance</vt:lpstr>
      <vt:lpstr>3.6  Performance</vt:lpstr>
      <vt:lpstr>3.6  Performance</vt:lpstr>
      <vt:lpstr>3.6  Performance</vt:lpstr>
      <vt:lpstr>Homework</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kaat</dc:creator>
  <cp:lastModifiedBy>user</cp:lastModifiedBy>
  <cp:revision>1003</cp:revision>
  <cp:lastPrinted>1998-01-20T18:41:17Z</cp:lastPrinted>
  <dcterms:created xsi:type="dcterms:W3CDTF">1997-04-13T14:24:48Z</dcterms:created>
  <dcterms:modified xsi:type="dcterms:W3CDTF">2020-03-26T04:00:48Z</dcterms:modified>
</cp:coreProperties>
</file>