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47"/>
  </p:notesMasterIdLst>
  <p:handoutMasterIdLst>
    <p:handoutMasterId r:id="rId48"/>
  </p:handoutMasterIdLst>
  <p:sldIdLst>
    <p:sldId id="256" r:id="rId2"/>
    <p:sldId id="429" r:id="rId3"/>
    <p:sldId id="448" r:id="rId4"/>
    <p:sldId id="449" r:id="rId5"/>
    <p:sldId id="551" r:id="rId6"/>
    <p:sldId id="552" r:id="rId7"/>
    <p:sldId id="553" r:id="rId8"/>
    <p:sldId id="554" r:id="rId9"/>
    <p:sldId id="555" r:id="rId10"/>
    <p:sldId id="557" r:id="rId11"/>
    <p:sldId id="556" r:id="rId12"/>
    <p:sldId id="558" r:id="rId13"/>
    <p:sldId id="559" r:id="rId14"/>
    <p:sldId id="560" r:id="rId15"/>
    <p:sldId id="561" r:id="rId16"/>
    <p:sldId id="562" r:id="rId17"/>
    <p:sldId id="563" r:id="rId18"/>
    <p:sldId id="564" r:id="rId19"/>
    <p:sldId id="565" r:id="rId20"/>
    <p:sldId id="566" r:id="rId21"/>
    <p:sldId id="567" r:id="rId22"/>
    <p:sldId id="568" r:id="rId23"/>
    <p:sldId id="569" r:id="rId24"/>
    <p:sldId id="570" r:id="rId25"/>
    <p:sldId id="571" r:id="rId26"/>
    <p:sldId id="572" r:id="rId27"/>
    <p:sldId id="573" r:id="rId28"/>
    <p:sldId id="574" r:id="rId29"/>
    <p:sldId id="575" r:id="rId30"/>
    <p:sldId id="576" r:id="rId31"/>
    <p:sldId id="577" r:id="rId32"/>
    <p:sldId id="578" r:id="rId33"/>
    <p:sldId id="581" r:id="rId34"/>
    <p:sldId id="582" r:id="rId35"/>
    <p:sldId id="580" r:id="rId36"/>
    <p:sldId id="583" r:id="rId37"/>
    <p:sldId id="584" r:id="rId38"/>
    <p:sldId id="585" r:id="rId39"/>
    <p:sldId id="586" r:id="rId40"/>
    <p:sldId id="587" r:id="rId41"/>
    <p:sldId id="588" r:id="rId42"/>
    <p:sldId id="589" r:id="rId43"/>
    <p:sldId id="590" r:id="rId44"/>
    <p:sldId id="591" r:id="rId45"/>
    <p:sldId id="550" r:id="rId4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18" autoAdjust="0"/>
    <p:restoredTop sz="94591" autoAdjust="0"/>
  </p:normalViewPr>
  <p:slideViewPr>
    <p:cSldViewPr snapToGrid="0">
      <p:cViewPr>
        <p:scale>
          <a:sx n="100" d="100"/>
          <a:sy n="100" d="100"/>
        </p:scale>
        <p:origin x="-72" y="-204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dirty="0" smtClean="0">
                <a:latin typeface="Times New Roman" pitchFamily="18" charset="0"/>
              </a:rPr>
              <a:t>EE141</a:t>
            </a:r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 dirty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 dirty="0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 dirty="0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dirty="0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 dirty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 dirty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dirty="0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dirty="0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emf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emf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486568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dirty="0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461963" y="2747963"/>
            <a:ext cx="4630737" cy="1381125"/>
          </a:xfrm>
        </p:spPr>
        <p:txBody>
          <a:bodyPr/>
          <a:lstStyle/>
          <a:p>
            <a:pPr algn="ctr" eaLnBrk="1" hangingPunct="1"/>
            <a:r>
              <a:rPr lang="en-US" altLang="ko-KR" sz="3200" i="1" dirty="0" smtClean="0">
                <a:solidFill>
                  <a:srgbClr val="C00000"/>
                </a:solidFill>
                <a:latin typeface="+mj-lt"/>
              </a:rPr>
              <a:t>Chapter  4</a:t>
            </a:r>
            <a:r>
              <a:rPr lang="en-US" altLang="ko-KR" sz="3200" b="0" dirty="0" smtClean="0">
                <a:solidFill>
                  <a:srgbClr val="0070C0"/>
                </a:solidFill>
              </a:rPr>
              <a:t> </a:t>
            </a:r>
            <a:br>
              <a:rPr lang="en-US" altLang="ko-KR" sz="3200" b="0" dirty="0" smtClean="0">
                <a:solidFill>
                  <a:srgbClr val="0070C0"/>
                </a:solidFill>
              </a:rPr>
            </a:br>
            <a:r>
              <a:rPr lang="en-US" altLang="ko-KR" sz="3200" i="1" dirty="0">
                <a:solidFill>
                  <a:srgbClr val="002060"/>
                </a:solidFill>
                <a:latin typeface="Times" pitchFamily="18" charset="0"/>
                <a:cs typeface="Arial" pitchFamily="34" charset="0"/>
              </a:rPr>
              <a:t>Digital</a:t>
            </a:r>
            <a:br>
              <a:rPr lang="en-US" altLang="ko-KR" sz="3200" i="1" dirty="0">
                <a:solidFill>
                  <a:srgbClr val="002060"/>
                </a:solidFill>
                <a:latin typeface="Times" pitchFamily="18" charset="0"/>
                <a:cs typeface="Arial" pitchFamily="34" charset="0"/>
              </a:rPr>
            </a:br>
            <a:r>
              <a:rPr lang="en-US" altLang="ko-KR" sz="3200" i="1" dirty="0">
                <a:solidFill>
                  <a:srgbClr val="002060"/>
                </a:solidFill>
                <a:latin typeface="Times" pitchFamily="18" charset="0"/>
                <a:cs typeface="Arial" pitchFamily="34" charset="0"/>
              </a:rPr>
              <a:t>Transmission</a:t>
            </a: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4  Outline</a:t>
            </a:r>
            <a:endPara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altLang="ko-K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i="1" dirty="0">
                <a:solidFill>
                  <a:srgbClr val="C00000"/>
                </a:solidFill>
                <a:latin typeface="Times"/>
              </a:rPr>
              <a:t>4.1   </a:t>
            </a:r>
            <a:r>
              <a:rPr lang="en-US" altLang="ko-KR" sz="3200" b="1" i="1" dirty="0" smtClean="0">
                <a:solidFill>
                  <a:srgbClr val="333399"/>
                </a:solidFill>
                <a:latin typeface="Times New Roman" pitchFamily="18" charset="0"/>
                <a:cs typeface="Times New Roman" pitchFamily="18" charset="0"/>
              </a:rPr>
              <a:t>Digital-to-Digital Conversion 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i="1" dirty="0" smtClean="0">
                <a:solidFill>
                  <a:srgbClr val="C00000"/>
                </a:solidFill>
                <a:latin typeface="Times"/>
              </a:rPr>
              <a:t>4.2   </a:t>
            </a:r>
            <a:r>
              <a:rPr lang="en-US" altLang="ko-KR" sz="3200" b="1" i="1" dirty="0" smtClean="0">
                <a:solidFill>
                  <a:srgbClr val="333399"/>
                </a:solidFill>
                <a:latin typeface="Times New Roman" pitchFamily="18" charset="0"/>
                <a:cs typeface="Times New Roman" pitchFamily="18" charset="0"/>
              </a:rPr>
              <a:t>Analog-to-digital</a:t>
            </a:r>
            <a:r>
              <a:rPr lang="en-US" altLang="ko-KR" sz="3200" b="1" i="1" dirty="0" smtClean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i="1" dirty="0" smtClean="0">
                <a:solidFill>
                  <a:srgbClr val="C00000"/>
                </a:solidFill>
                <a:latin typeface="Times"/>
              </a:rPr>
              <a:t>4.3   </a:t>
            </a:r>
            <a:r>
              <a:rPr lang="en-US" altLang="ko-KR" sz="3200" b="1" i="1" dirty="0" smtClean="0">
                <a:solidFill>
                  <a:srgbClr val="333399"/>
                </a:solidFill>
                <a:latin typeface="Times New Roman" pitchFamily="18" charset="0"/>
                <a:cs typeface="Times New Roman" pitchFamily="18" charset="0"/>
              </a:rPr>
              <a:t>Transmission Modes</a:t>
            </a:r>
            <a:endParaRPr lang="en-US" altLang="ko-KR" sz="3200" b="1" i="1" dirty="0">
              <a:solidFill>
                <a:srgbClr val="333399"/>
              </a:solidFill>
              <a:latin typeface="Time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latin typeface="Times" pitchFamily="18" charset="0"/>
              </a:rPr>
              <a:t>Ch. 4 Objective</a:t>
            </a:r>
            <a:endParaRPr lang="en-US" altLang="ko-KR" sz="2000" dirty="0">
              <a:latin typeface="Times" pitchFamily="18" charset="0"/>
            </a:endParaRP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344488" y="392113"/>
            <a:ext cx="8429625" cy="6196012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</a:pPr>
            <a:r>
              <a:rPr lang="en-US" altLang="ko-K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Digital-to-digital conversion. </a:t>
            </a:r>
          </a:p>
          <a:p>
            <a:pPr lvl="1">
              <a:spcAft>
                <a:spcPts val="600"/>
              </a:spcAft>
            </a:pPr>
            <a:r>
              <a:rPr lang="en-US" altLang="ko-KR" dirty="0">
                <a:solidFill>
                  <a:srgbClr val="333399"/>
                </a:solidFill>
                <a:latin typeface="Times New Roman" pitchFamily="18" charset="0"/>
              </a:rPr>
              <a:t>Line </a:t>
            </a: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coding </a:t>
            </a:r>
          </a:p>
          <a:p>
            <a:pPr lvl="1">
              <a:spcAft>
                <a:spcPts val="600"/>
              </a:spcAft>
            </a:pPr>
            <a:r>
              <a:rPr lang="en-US" altLang="ko-KR" dirty="0">
                <a:solidFill>
                  <a:srgbClr val="333399"/>
                </a:solidFill>
                <a:latin typeface="Times New Roman" pitchFamily="18" charset="0"/>
              </a:rPr>
              <a:t>block coding </a:t>
            </a: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(redundancy)</a:t>
            </a:r>
            <a:endParaRPr lang="en-US" altLang="ko-KR" dirty="0">
              <a:solidFill>
                <a:srgbClr val="333399"/>
              </a:solidFill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scrambling</a:t>
            </a:r>
          </a:p>
          <a:p>
            <a:pPr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Analog-to-digital </a:t>
            </a:r>
            <a:r>
              <a:rPr lang="en-US" altLang="ko-KR" dirty="0">
                <a:solidFill>
                  <a:srgbClr val="333399"/>
                </a:solidFill>
                <a:latin typeface="Times New Roman" pitchFamily="18" charset="0"/>
              </a:rPr>
              <a:t>conversion</a:t>
            </a:r>
          </a:p>
          <a:p>
            <a:pPr lvl="1">
              <a:spcAft>
                <a:spcPts val="600"/>
              </a:spcAft>
            </a:pPr>
            <a:r>
              <a:rPr lang="en-US" altLang="ko-KR" dirty="0">
                <a:solidFill>
                  <a:srgbClr val="333399"/>
                </a:solidFill>
                <a:latin typeface="Times New Roman" pitchFamily="18" charset="0"/>
              </a:rPr>
              <a:t>Pulse code modulation </a:t>
            </a: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 </a:t>
            </a:r>
          </a:p>
          <a:p>
            <a:pPr lvl="1">
              <a:spcAft>
                <a:spcPts val="600"/>
              </a:spcAft>
            </a:pPr>
            <a:r>
              <a:rPr lang="en-US" altLang="ko-KR" dirty="0">
                <a:solidFill>
                  <a:srgbClr val="333399"/>
                </a:solidFill>
                <a:latin typeface="Times New Roman" pitchFamily="18" charset="0"/>
              </a:rPr>
              <a:t>Delta </a:t>
            </a: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modulation </a:t>
            </a:r>
          </a:p>
          <a:p>
            <a:pPr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Transmission </a:t>
            </a:r>
            <a:r>
              <a:rPr lang="en-US" altLang="ko-KR" dirty="0">
                <a:solidFill>
                  <a:srgbClr val="333399"/>
                </a:solidFill>
                <a:latin typeface="Times New Roman" pitchFamily="18" charset="0"/>
              </a:rPr>
              <a:t>modes </a:t>
            </a:r>
            <a:endParaRPr lang="en-US" altLang="ko-KR" dirty="0" smtClean="0">
              <a:solidFill>
                <a:srgbClr val="333399"/>
              </a:solidFill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>
                <a:solidFill>
                  <a:srgbClr val="333399"/>
                </a:solidFill>
                <a:latin typeface="Times New Roman" pitchFamily="18" charset="0"/>
              </a:rPr>
              <a:t>serial </a:t>
            </a: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transmission </a:t>
            </a:r>
          </a:p>
          <a:p>
            <a:pPr lvl="1">
              <a:spcAft>
                <a:spcPts val="600"/>
              </a:spcAft>
            </a:pPr>
            <a:r>
              <a:rPr lang="en-US" altLang="ko-KR" dirty="0">
                <a:solidFill>
                  <a:srgbClr val="333399"/>
                </a:solidFill>
                <a:latin typeface="Times New Roman" pitchFamily="18" charset="0"/>
              </a:rPr>
              <a:t>parallel </a:t>
            </a: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transmission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4.1 Digital-to-Digital Conversion</a:t>
            </a: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4.1.1 Line Coding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is the process of converting digital data to digital signals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4.1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Line coding and decoding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96" y="3571279"/>
            <a:ext cx="1632204" cy="634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3062752"/>
            <a:ext cx="5638800" cy="1989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462149"/>
            <a:ext cx="3218644" cy="852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571279"/>
            <a:ext cx="1632204" cy="634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Characteristics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Signal element vs. Data element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dirty="0" smtClean="0">
                <a:solidFill>
                  <a:srgbClr val="C00000"/>
                </a:solidFill>
                <a:latin typeface="+mj-lt"/>
              </a:rPr>
              <a:t>4.2 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Signal elements versus data elements</a:t>
            </a:r>
            <a:endParaRPr lang="en-US" altLang="ko-KR" dirty="0" smtClean="0">
              <a:latin typeface="+mj-lt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477" y="1884462"/>
            <a:ext cx="2182517" cy="186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173" y="1833096"/>
            <a:ext cx="2202268" cy="1902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659" y="3924647"/>
            <a:ext cx="2271397" cy="186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761" y="3895046"/>
            <a:ext cx="2375092" cy="1902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42018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216310" y="530942"/>
            <a:ext cx="8642555" cy="6037006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Data rate vs. Signal rate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Data rate : bit rate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Signal rate : pulse rate, modulation rate, or baud rate</a:t>
            </a:r>
          </a:p>
          <a:p>
            <a:pPr lvl="1"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dirty="0" smtClean="0">
              <a:latin typeface="+mj-lt"/>
            </a:endParaRPr>
          </a:p>
          <a:p>
            <a:pPr marL="0" indent="0" algn="just">
              <a:buNone/>
              <a:defRPr/>
            </a:pPr>
            <a:endParaRPr lang="en-US" altLang="ko-KR" sz="2000" dirty="0">
              <a:latin typeface="+mj-lt"/>
            </a:endParaRPr>
          </a:p>
          <a:p>
            <a:pPr marL="0" indent="0">
              <a:buNone/>
              <a:defRPr/>
            </a:pPr>
            <a:r>
              <a:rPr lang="en-US" altLang="ko-KR" sz="2000" dirty="0" smtClean="0">
                <a:latin typeface="+mj-lt"/>
              </a:rPr>
              <a:t>          Here </a:t>
            </a:r>
            <a:r>
              <a:rPr lang="en-US" altLang="ko-KR" sz="2000" b="1" i="1" dirty="0" smtClean="0">
                <a:solidFill>
                  <a:srgbClr val="C00000"/>
                </a:solidFill>
                <a:latin typeface="+mj-lt"/>
              </a:rPr>
              <a:t>N</a:t>
            </a:r>
            <a:r>
              <a:rPr lang="en-US" altLang="ko-KR" sz="2000" dirty="0" smtClean="0">
                <a:latin typeface="+mj-lt"/>
              </a:rPr>
              <a:t> is data rate and </a:t>
            </a:r>
            <a:r>
              <a:rPr lang="en-US" altLang="ko-KR" sz="2000" b="1" i="1" dirty="0" smtClean="0">
                <a:solidFill>
                  <a:srgbClr val="C00000"/>
                </a:solidFill>
                <a:latin typeface="+mj-lt"/>
              </a:rPr>
              <a:t>r </a:t>
            </a:r>
            <a:r>
              <a:rPr lang="en-US" altLang="ko-KR" sz="2000" dirty="0" smtClean="0">
                <a:latin typeface="+mj-lt"/>
              </a:rPr>
              <a:t>is the number of data elements carried by </a:t>
            </a:r>
            <a:br>
              <a:rPr lang="en-US" altLang="ko-KR" sz="2000" dirty="0" smtClean="0">
                <a:latin typeface="+mj-lt"/>
              </a:rPr>
            </a:br>
            <a:r>
              <a:rPr lang="en-US" altLang="ko-KR" sz="2000" dirty="0" smtClean="0">
                <a:latin typeface="+mj-lt"/>
              </a:rPr>
              <a:t>          each signal element</a:t>
            </a:r>
            <a:endParaRPr lang="en-US" altLang="ko-KR" sz="2000" dirty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Average signal rate   </a:t>
            </a:r>
            <a:r>
              <a:rPr lang="en-US" altLang="ko-KR" b="1" i="1" dirty="0" err="1" smtClean="0">
                <a:latin typeface="Times New Roman" pitchFamily="18" charset="0"/>
              </a:rPr>
              <a:t>S</a:t>
            </a:r>
            <a:r>
              <a:rPr lang="en-US" altLang="ko-KR" b="1" baseline="-25000" dirty="0" err="1" smtClean="0">
                <a:latin typeface="Times New Roman" pitchFamily="18" charset="0"/>
              </a:rPr>
              <a:t>avg</a:t>
            </a:r>
            <a:r>
              <a:rPr lang="en-US" altLang="ko-KR" b="1" dirty="0">
                <a:latin typeface="Times New Roman" pitchFamily="18" charset="0"/>
              </a:rPr>
              <a:t> </a:t>
            </a:r>
            <a:r>
              <a:rPr lang="en-US" altLang="ko-KR" b="1" dirty="0" smtClean="0">
                <a:latin typeface="Times New Roman" pitchFamily="18" charset="0"/>
              </a:rPr>
              <a:t>= c </a:t>
            </a:r>
            <a:r>
              <a:rPr lang="en-US" altLang="ko-KR" b="1" dirty="0" smtClean="0">
                <a:latin typeface="Times New Roman"/>
                <a:cs typeface="Times New Roman"/>
              </a:rPr>
              <a:t>× N × (1/r)  </a:t>
            </a:r>
            <a:r>
              <a:rPr lang="en-US" altLang="ko-KR" dirty="0" smtClean="0">
                <a:latin typeface="Times New Roman"/>
                <a:cs typeface="Times New Roman"/>
              </a:rPr>
              <a:t>baud,  here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lang="en-US" altLang="ko-KR" dirty="0" smtClean="0">
                <a:latin typeface="Times New Roman"/>
                <a:cs typeface="Times New Roman"/>
              </a:rPr>
              <a:t> is the case factor</a:t>
            </a:r>
          </a:p>
          <a:p>
            <a:pPr marL="457200" lvl="1" indent="0" algn="just">
              <a:buNone/>
              <a:defRPr/>
            </a:pPr>
            <a:endParaRPr lang="en-US" altLang="ko-KR" dirty="0" smtClean="0">
              <a:latin typeface="Times New Roman"/>
              <a:cs typeface="Times New Roman"/>
            </a:endParaRPr>
          </a:p>
          <a:p>
            <a:pPr marL="5715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Ex. 4.1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/>
              <p:cNvSpPr/>
              <p:nvPr/>
            </p:nvSpPr>
            <p:spPr bwMode="auto">
              <a:xfrm>
                <a:off x="2212259" y="2605536"/>
                <a:ext cx="3667432" cy="639096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mtClean="0">
                          <a:latin typeface="Cambria Math"/>
                        </a:rPr>
                        <m:t>𝑆𝑖𝑔𝑛𝑎𝑙</m:t>
                      </m:r>
                      <m:r>
                        <a:rPr lang="en-US" altLang="ko-KR" smtClean="0">
                          <a:latin typeface="Cambria Math"/>
                        </a:rPr>
                        <m:t> </m:t>
                      </m:r>
                      <m:r>
                        <a:rPr lang="en-US" altLang="ko-KR" smtClean="0">
                          <a:latin typeface="Cambria Math"/>
                        </a:rPr>
                        <m:t>𝑟𝑎𝑡𝑒</m:t>
                      </m:r>
                      <m:r>
                        <a:rPr lang="en-US" altLang="ko-KR" b="0" i="1" smtClean="0">
                          <a:latin typeface="Cambria Math"/>
                        </a:rPr>
                        <m:t>(</m:t>
                      </m:r>
                      <m:r>
                        <a:rPr lang="en-US" altLang="ko-KR" b="0" i="1" smtClean="0">
                          <a:latin typeface="Cambria Math"/>
                        </a:rPr>
                        <m:t>𝑆</m:t>
                      </m:r>
                      <m:r>
                        <a:rPr lang="en-US" altLang="ko-KR" b="0" i="1" smtClean="0">
                          <a:latin typeface="Cambria Math"/>
                        </a:rPr>
                        <m:t>)</m:t>
                      </m:r>
                      <m:r>
                        <a:rPr lang="en-US" altLang="ko-KR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altLang="ko-KR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/>
                            </a:rPr>
                            <m:t>𝑁</m:t>
                          </m:r>
                        </m:num>
                        <m:den>
                          <m:r>
                            <a:rPr lang="en-US" altLang="ko-KR">
                              <a:latin typeface="Cambria Math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kumimoji="0" lang="ko-KR" altLang="en-US" sz="20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2259" y="2605536"/>
                <a:ext cx="3667432" cy="6390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687" y="5106805"/>
            <a:ext cx="6791632" cy="503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60519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216310" y="668594"/>
            <a:ext cx="8642555" cy="5899354"/>
          </a:xfrm>
        </p:spPr>
        <p:txBody>
          <a:bodyPr/>
          <a:lstStyle/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Bandwidth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effective bandwidth is finite</a:t>
            </a:r>
          </a:p>
          <a:p>
            <a:pPr lvl="1" algn="just">
              <a:defRPr/>
            </a:pPr>
            <a:r>
              <a:rPr lang="en-US" altLang="ko-KR" dirty="0">
                <a:latin typeface="Times New Roman" pitchFamily="18" charset="0"/>
              </a:rPr>
              <a:t>m</a:t>
            </a:r>
            <a:r>
              <a:rPr lang="en-US" altLang="ko-KR" dirty="0" smtClean="0">
                <a:latin typeface="Times New Roman" pitchFamily="18" charset="0"/>
              </a:rPr>
              <a:t>inimum bandwidth      </a:t>
            </a:r>
            <a:r>
              <a:rPr lang="en-US" altLang="ko-KR" b="1" i="1" dirty="0" err="1" smtClean="0">
                <a:latin typeface="Times New Roman" pitchFamily="18" charset="0"/>
              </a:rPr>
              <a:t>B</a:t>
            </a:r>
            <a:r>
              <a:rPr lang="en-US" altLang="ko-KR" baseline="-25000" dirty="0" err="1" smtClean="0">
                <a:latin typeface="Times New Roman" pitchFamily="18" charset="0"/>
              </a:rPr>
              <a:t>min</a:t>
            </a:r>
            <a:r>
              <a:rPr lang="en-US" altLang="ko-KR" dirty="0" smtClean="0">
                <a:latin typeface="Times New Roman" pitchFamily="18" charset="0"/>
              </a:rPr>
              <a:t> = </a:t>
            </a:r>
            <a:r>
              <a:rPr lang="en-US" altLang="ko-KR" b="1" i="1" dirty="0" smtClean="0">
                <a:latin typeface="Times New Roman" pitchFamily="18" charset="0"/>
              </a:rPr>
              <a:t>c</a:t>
            </a:r>
            <a:r>
              <a:rPr lang="en-US" altLang="ko-KR" dirty="0" smtClean="0">
                <a:latin typeface="Times New Roman" pitchFamily="18" charset="0"/>
              </a:rPr>
              <a:t> </a:t>
            </a:r>
            <a:r>
              <a:rPr lang="en-US" altLang="ko-KR" dirty="0" smtClean="0">
                <a:latin typeface="Times New Roman"/>
                <a:cs typeface="Times New Roman"/>
              </a:rPr>
              <a:t>× </a:t>
            </a:r>
            <a:r>
              <a:rPr lang="en-US" altLang="ko-KR" b="1" i="1" dirty="0" smtClean="0">
                <a:latin typeface="Times New Roman"/>
                <a:cs typeface="Times New Roman"/>
              </a:rPr>
              <a:t>N</a:t>
            </a:r>
            <a:r>
              <a:rPr lang="en-US" altLang="ko-KR" dirty="0" smtClean="0">
                <a:latin typeface="Times New Roman"/>
                <a:cs typeface="Times New Roman"/>
              </a:rPr>
              <a:t> × (1/</a:t>
            </a:r>
            <a:r>
              <a:rPr lang="en-US" altLang="ko-KR" b="1" i="1" dirty="0" smtClean="0">
                <a:latin typeface="Times New Roman"/>
                <a:cs typeface="Times New Roman"/>
              </a:rPr>
              <a:t>r</a:t>
            </a:r>
            <a:r>
              <a:rPr lang="en-US" altLang="ko-KR" dirty="0" smtClean="0">
                <a:latin typeface="Times New Roman"/>
                <a:cs typeface="Times New Roman"/>
              </a:rPr>
              <a:t>)</a:t>
            </a:r>
          </a:p>
          <a:p>
            <a:pPr lvl="1" algn="just">
              <a:defRPr/>
            </a:pPr>
            <a:r>
              <a:rPr lang="en-US" altLang="ko-KR" dirty="0">
                <a:latin typeface="Times New Roman" pitchFamily="18" charset="0"/>
              </a:rPr>
              <a:t>m</a:t>
            </a:r>
            <a:r>
              <a:rPr lang="en-US" altLang="ko-KR" dirty="0" smtClean="0">
                <a:latin typeface="Times New Roman" pitchFamily="18" charset="0"/>
              </a:rPr>
              <a:t>aximum data rate         </a:t>
            </a:r>
            <a:r>
              <a:rPr lang="en-US" altLang="ko-KR" b="1" i="1" dirty="0" err="1" smtClean="0">
                <a:latin typeface="Times New Roman" pitchFamily="18" charset="0"/>
              </a:rPr>
              <a:t>N</a:t>
            </a:r>
            <a:r>
              <a:rPr lang="en-US" altLang="ko-KR" baseline="-25000" dirty="0" err="1" smtClean="0">
                <a:latin typeface="Times New Roman" pitchFamily="18" charset="0"/>
              </a:rPr>
              <a:t>max</a:t>
            </a:r>
            <a:r>
              <a:rPr lang="en-US" altLang="ko-KR" dirty="0" smtClean="0">
                <a:latin typeface="Times New Roman" pitchFamily="18" charset="0"/>
              </a:rPr>
              <a:t> = (1/</a:t>
            </a:r>
            <a:r>
              <a:rPr lang="en-US" altLang="ko-KR" b="1" i="1" dirty="0" smtClean="0">
                <a:latin typeface="Times New Roman" pitchFamily="18" charset="0"/>
              </a:rPr>
              <a:t>c</a:t>
            </a:r>
            <a:r>
              <a:rPr lang="en-US" altLang="ko-KR" dirty="0" smtClean="0">
                <a:latin typeface="Times New Roman" pitchFamily="18" charset="0"/>
              </a:rPr>
              <a:t>) </a:t>
            </a:r>
            <a:r>
              <a:rPr lang="en-US" altLang="ko-KR" dirty="0" smtClean="0">
                <a:latin typeface="Times New Roman"/>
                <a:cs typeface="Times New Roman"/>
              </a:rPr>
              <a:t>× </a:t>
            </a:r>
            <a:r>
              <a:rPr lang="en-US" altLang="ko-KR" b="1" i="1" dirty="0" smtClean="0">
                <a:latin typeface="Times New Roman"/>
                <a:cs typeface="Times New Roman"/>
              </a:rPr>
              <a:t>B</a:t>
            </a:r>
            <a:r>
              <a:rPr lang="en-US" altLang="ko-KR" dirty="0" smtClean="0">
                <a:latin typeface="Times New Roman"/>
                <a:cs typeface="Times New Roman"/>
              </a:rPr>
              <a:t> ×</a:t>
            </a:r>
            <a:r>
              <a:rPr lang="en-US" altLang="ko-KR" dirty="0">
                <a:latin typeface="Times New Roman" pitchFamily="18" charset="0"/>
              </a:rPr>
              <a:t> </a:t>
            </a:r>
            <a:r>
              <a:rPr lang="en-US" altLang="ko-KR" b="1" i="1" dirty="0" smtClean="0">
                <a:latin typeface="Times New Roman" pitchFamily="18" charset="0"/>
              </a:rPr>
              <a:t>r</a:t>
            </a:r>
          </a:p>
          <a:p>
            <a:pPr marL="0" indent="0" algn="just">
              <a:buNone/>
              <a:defRPr/>
            </a:pPr>
            <a:endParaRPr lang="en-US" altLang="ko-KR" sz="2000" dirty="0" smtClean="0">
              <a:latin typeface="+mj-lt"/>
            </a:endParaRPr>
          </a:p>
          <a:p>
            <a:pPr marL="5715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Ex. 4.2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Baseline Wandering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DC component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Self-synchronization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Built in error detection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Immunity to Noise and Interference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Complexity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256" y="2592642"/>
            <a:ext cx="443865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95847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216310" y="668594"/>
            <a:ext cx="8642555" cy="5899354"/>
          </a:xfrm>
        </p:spPr>
        <p:txBody>
          <a:bodyPr/>
          <a:lstStyle/>
          <a:p>
            <a:pPr marL="5715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Ex. 4.2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dirty="0" smtClean="0">
                <a:solidFill>
                  <a:srgbClr val="C00000"/>
                </a:solidFill>
                <a:latin typeface="+mj-lt"/>
              </a:rPr>
              <a:t>4.3 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Effect of lack of synchronization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723" y="1035676"/>
            <a:ext cx="7344697" cy="648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49" y="1738574"/>
            <a:ext cx="8207324" cy="529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908" y="2818955"/>
            <a:ext cx="5421985" cy="1414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952" y="4262139"/>
            <a:ext cx="5434196" cy="1523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56813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658762"/>
            <a:ext cx="8429625" cy="5713464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4.1.2 Line Coding Schemes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4.4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Line coding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scheme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9" y="2212355"/>
            <a:ext cx="8159111" cy="259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11359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Unipolar Schemes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All the signal levels are on one side of the time axis</a:t>
            </a:r>
          </a:p>
          <a:p>
            <a:pPr algn="just">
              <a:defRPr/>
            </a:pPr>
            <a:r>
              <a:rPr lang="en-US" altLang="ko-KR" b="1" i="1" dirty="0" smtClean="0">
                <a:latin typeface="Times New Roman" pitchFamily="18" charset="0"/>
              </a:rPr>
              <a:t>NRZ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</a:rPr>
              <a:t>Non-Return-to-Zero</a:t>
            </a:r>
            <a:r>
              <a:rPr lang="en-US" altLang="ko-KR" dirty="0" smtClean="0">
                <a:latin typeface="Times New Roman" pitchFamily="18" charset="0"/>
              </a:rPr>
              <a:t>) 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dirty="0" smtClean="0">
                <a:solidFill>
                  <a:srgbClr val="C00000"/>
                </a:solidFill>
                <a:latin typeface="+mj-lt"/>
              </a:rPr>
              <a:t>4.5 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dirty="0" smtClean="0">
                <a:latin typeface="+mj-lt"/>
              </a:rPr>
              <a:t>Unipolar NRZ scheme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42" y="2411291"/>
            <a:ext cx="4392561" cy="1715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772" y="4473804"/>
            <a:ext cx="2360525" cy="1166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80398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Polar Schemes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All the signal levels are on both side of the time axis</a:t>
            </a:r>
          </a:p>
          <a:p>
            <a:pPr algn="just">
              <a:defRPr/>
            </a:pPr>
            <a:r>
              <a:rPr lang="en-US" altLang="ko-KR" b="1" i="1" dirty="0" smtClean="0">
                <a:latin typeface="Times New Roman" pitchFamily="18" charset="0"/>
              </a:rPr>
              <a:t>NRZ-L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</a:rPr>
              <a:t>NRZ</a:t>
            </a:r>
            <a:r>
              <a:rPr lang="en-US" altLang="ko-KR" dirty="0" smtClean="0">
                <a:latin typeface="Times New Roman" pitchFamily="18" charset="0"/>
              </a:rPr>
              <a:t>-Level), </a:t>
            </a:r>
            <a:r>
              <a:rPr lang="en-US" altLang="ko-KR" b="1" i="1" dirty="0" smtClean="0">
                <a:latin typeface="Times New Roman" pitchFamily="18" charset="0"/>
              </a:rPr>
              <a:t>NRZ-I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</a:rPr>
              <a:t>NRZ</a:t>
            </a:r>
            <a:r>
              <a:rPr lang="en-US" altLang="ko-KR" dirty="0" smtClean="0">
                <a:latin typeface="Times New Roman" pitchFamily="18" charset="0"/>
              </a:rPr>
              <a:t>-Inversion)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 average signal rate is </a:t>
            </a:r>
            <a:r>
              <a:rPr lang="en-US" altLang="ko-KR" i="1" dirty="0" smtClean="0">
                <a:latin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</a:rPr>
              <a:t>/2 Bd.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DC component and self-synchronization problem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dirty="0" smtClean="0">
                <a:solidFill>
                  <a:srgbClr val="C00000"/>
                </a:solidFill>
                <a:latin typeface="+mj-lt"/>
              </a:rPr>
              <a:t>4.6 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dirty="0" smtClean="0">
                <a:latin typeface="+mj-lt"/>
              </a:rPr>
              <a:t>Polar </a:t>
            </a:r>
            <a:r>
              <a:rPr lang="en-US" altLang="ko-KR" i="1" dirty="0" smtClean="0">
                <a:latin typeface="+mj-lt"/>
              </a:rPr>
              <a:t>NRZ-L</a:t>
            </a:r>
            <a:r>
              <a:rPr lang="en-US" altLang="ko-KR" dirty="0" smtClean="0">
                <a:latin typeface="+mj-lt"/>
              </a:rPr>
              <a:t> and </a:t>
            </a:r>
            <a:r>
              <a:rPr lang="en-US" altLang="ko-KR" i="1" dirty="0" smtClean="0">
                <a:latin typeface="+mj-lt"/>
              </a:rPr>
              <a:t>NRZ-I</a:t>
            </a:r>
          </a:p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</a:rPr>
              <a:t>Ex. 4.4  </a:t>
            </a:r>
            <a:r>
              <a:rPr lang="en-US" altLang="ko-KR" b="1" i="1" dirty="0" err="1" smtClean="0">
                <a:latin typeface="+mj-lt"/>
              </a:rPr>
              <a:t>S</a:t>
            </a:r>
            <a:r>
              <a:rPr lang="en-US" altLang="ko-KR" i="1" baseline="-25000" dirty="0" err="1" smtClean="0">
                <a:latin typeface="+mj-lt"/>
              </a:rPr>
              <a:t>avg</a:t>
            </a:r>
            <a:r>
              <a:rPr lang="en-US" altLang="ko-KR" i="1" dirty="0" smtClean="0">
                <a:latin typeface="+mj-lt"/>
              </a:rPr>
              <a:t>=</a:t>
            </a:r>
            <a:r>
              <a:rPr lang="en-US" altLang="ko-KR" b="1" i="1" dirty="0" smtClean="0">
                <a:latin typeface="+mj-lt"/>
              </a:rPr>
              <a:t>N</a:t>
            </a:r>
            <a:r>
              <a:rPr lang="en-US" altLang="ko-KR" i="1" dirty="0" smtClean="0">
                <a:latin typeface="+mj-lt"/>
              </a:rPr>
              <a:t>/</a:t>
            </a:r>
            <a:r>
              <a:rPr lang="en-US" altLang="ko-KR" dirty="0" smtClean="0">
                <a:latin typeface="+mj-lt"/>
              </a:rPr>
              <a:t>2=500 </a:t>
            </a:r>
            <a:r>
              <a:rPr lang="en-US" altLang="ko-KR" dirty="0" err="1" smtClean="0">
                <a:latin typeface="+mj-lt"/>
              </a:rPr>
              <a:t>kbaud</a:t>
            </a:r>
            <a:r>
              <a:rPr lang="en-US" altLang="ko-KR" i="1" dirty="0" smtClean="0">
                <a:latin typeface="+mj-lt"/>
              </a:rPr>
              <a:t>,    </a:t>
            </a:r>
            <a:r>
              <a:rPr lang="en-US" altLang="ko-KR" b="1" i="1" dirty="0" err="1" smtClean="0">
                <a:latin typeface="+mj-lt"/>
              </a:rPr>
              <a:t>B</a:t>
            </a:r>
            <a:r>
              <a:rPr lang="en-US" altLang="ko-KR" i="1" baseline="-25000" dirty="0" err="1" smtClean="0">
                <a:latin typeface="+mj-lt"/>
              </a:rPr>
              <a:t>min</a:t>
            </a:r>
            <a:r>
              <a:rPr lang="en-US" altLang="ko-KR" i="1" dirty="0" smtClean="0">
                <a:latin typeface="+mj-lt"/>
              </a:rPr>
              <a:t>= </a:t>
            </a:r>
            <a:r>
              <a:rPr lang="en-US" altLang="ko-KR" b="1" i="1" dirty="0" smtClean="0">
                <a:latin typeface="+mj-lt"/>
              </a:rPr>
              <a:t>S </a:t>
            </a:r>
            <a:r>
              <a:rPr lang="en-US" altLang="ko-KR" dirty="0" smtClean="0">
                <a:latin typeface="+mj-lt"/>
              </a:rPr>
              <a:t>= 500 kHz</a:t>
            </a: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26" y="2923388"/>
            <a:ext cx="4526012" cy="2236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187" y="3238228"/>
            <a:ext cx="2164594" cy="1606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31369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Polar Schemes</a:t>
            </a:r>
          </a:p>
          <a:p>
            <a:pPr algn="just">
              <a:defRPr/>
            </a:pPr>
            <a:r>
              <a:rPr lang="en-US" altLang="ko-KR" b="1" i="1" dirty="0" smtClean="0">
                <a:latin typeface="Times New Roman" pitchFamily="18" charset="0"/>
              </a:rPr>
              <a:t>RZ</a:t>
            </a:r>
            <a:r>
              <a:rPr lang="en-US" altLang="ko-KR" dirty="0" smtClean="0">
                <a:latin typeface="Times New Roman" pitchFamily="18" charset="0"/>
              </a:rPr>
              <a:t>(Return-to-Zero)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Self-synchronization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Large bandwidth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dirty="0" smtClean="0">
                <a:solidFill>
                  <a:srgbClr val="C00000"/>
                </a:solidFill>
                <a:latin typeface="+mj-lt"/>
              </a:rPr>
              <a:t>4.7 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dirty="0" smtClean="0">
                <a:latin typeface="+mj-lt"/>
              </a:rPr>
              <a:t>Polar </a:t>
            </a:r>
            <a:r>
              <a:rPr lang="en-US" altLang="ko-KR" i="1" dirty="0" smtClean="0">
                <a:latin typeface="+mj-lt"/>
              </a:rPr>
              <a:t>RZ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01" y="3006084"/>
            <a:ext cx="4413560" cy="1548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867" y="2870307"/>
            <a:ext cx="2455933" cy="181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05120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Polar Schemes</a:t>
            </a:r>
          </a:p>
          <a:p>
            <a:pPr algn="just">
              <a:defRPr/>
            </a:pPr>
            <a:r>
              <a:rPr lang="en-US" altLang="ko-KR" i="1" dirty="0" smtClean="0">
                <a:latin typeface="Times New Roman" pitchFamily="18" charset="0"/>
              </a:rPr>
              <a:t>Biphase: Manchester and Differential Manchester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Self-synchronization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No DC component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Large bandwidth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dirty="0" smtClean="0">
                <a:solidFill>
                  <a:srgbClr val="C00000"/>
                </a:solidFill>
                <a:latin typeface="+mj-lt"/>
              </a:rPr>
              <a:t>4.8 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dirty="0" smtClean="0">
                <a:latin typeface="Times New Roman" pitchFamily="18" charset="0"/>
              </a:rPr>
              <a:t>Polar Biphase</a:t>
            </a:r>
            <a:r>
              <a:rPr lang="en-US" altLang="ko-KR" dirty="0">
                <a:latin typeface="Times New Roman" pitchFamily="18" charset="0"/>
              </a:rPr>
              <a:t>: Manchester and Differential Manchester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02" y="2941293"/>
            <a:ext cx="4805265" cy="3136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113" y="3618270"/>
            <a:ext cx="2898588" cy="2148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1344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Bipolar Schemes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Use three levels, positive, zero, and negative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Alternate Mark Inversion(AMI), pseudoternary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No DC component</a:t>
            </a: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lvl="2" indent="0" algn="ctr"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sz="2400" dirty="0" smtClean="0">
                <a:solidFill>
                  <a:srgbClr val="C00000"/>
                </a:solidFill>
                <a:latin typeface="+mj-lt"/>
              </a:rPr>
              <a:t>4.9 </a:t>
            </a:r>
            <a:r>
              <a:rPr lang="en-US" altLang="ko-KR" sz="2400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Bipolar </a:t>
            </a: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Schemes: </a:t>
            </a:r>
            <a:r>
              <a:rPr lang="en-US" altLang="ko-KR" sz="2400" dirty="0" smtClean="0">
                <a:latin typeface="Times New Roman" pitchFamily="18" charset="0"/>
              </a:rPr>
              <a:t>AMI, </a:t>
            </a:r>
            <a:r>
              <a:rPr lang="en-US" altLang="ko-KR" sz="2400" dirty="0">
                <a:latin typeface="Times New Roman" pitchFamily="18" charset="0"/>
              </a:rPr>
              <a:t>pseudoternary</a:t>
            </a:r>
          </a:p>
          <a:p>
            <a:pPr marL="0" lvl="2" indent="0" algn="just">
              <a:buNone/>
              <a:defRPr/>
            </a:pP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05316"/>
            <a:ext cx="4795868" cy="1864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899" y="3110059"/>
            <a:ext cx="2569464" cy="2055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92610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Multilevel Schemes</a:t>
            </a:r>
          </a:p>
          <a:p>
            <a:pPr algn="just">
              <a:defRPr/>
            </a:pPr>
            <a:r>
              <a:rPr lang="en-US" altLang="ko-KR" i="1" dirty="0" err="1" smtClean="0">
                <a:latin typeface="Times New Roman" pitchFamily="18" charset="0"/>
              </a:rPr>
              <a:t>mBnL</a:t>
            </a:r>
            <a:r>
              <a:rPr lang="en-US" altLang="ko-KR" dirty="0" smtClean="0">
                <a:latin typeface="Times New Roman" pitchFamily="18" charset="0"/>
              </a:rPr>
              <a:t>: m-bit n-level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2B1Q(2-bit 1-quaternary)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lvl="2" indent="0" algn="ctr"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sz="2400" dirty="0" smtClean="0">
                <a:solidFill>
                  <a:srgbClr val="C00000"/>
                </a:solidFill>
                <a:latin typeface="+mj-lt"/>
              </a:rPr>
              <a:t>4.10 </a:t>
            </a:r>
            <a:r>
              <a:rPr lang="en-US" altLang="ko-KR" sz="2400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Multilevel: 2B1Q</a:t>
            </a:r>
            <a:endParaRPr lang="en-US" altLang="ko-KR" sz="2400" dirty="0">
              <a:latin typeface="Times New Roman" pitchFamily="18" charset="0"/>
            </a:endParaRPr>
          </a:p>
          <a:p>
            <a:pPr marL="0" lvl="2" indent="0" algn="just">
              <a:buNone/>
              <a:defRPr/>
            </a:pP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60" y="2681052"/>
            <a:ext cx="4370439" cy="238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676" y="2818358"/>
            <a:ext cx="2815256" cy="2136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93258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Multilevel Schemes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8B6T(8-bit 6-ternary)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100BASE-4T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2</a:t>
            </a:r>
            <a:r>
              <a:rPr lang="en-US" altLang="ko-KR" baseline="30000" dirty="0" smtClean="0">
                <a:latin typeface="Times New Roman" pitchFamily="18" charset="0"/>
              </a:rPr>
              <a:t>8</a:t>
            </a:r>
            <a:r>
              <a:rPr lang="en-US" altLang="ko-KR" dirty="0" smtClean="0">
                <a:latin typeface="Times New Roman" pitchFamily="18" charset="0"/>
              </a:rPr>
              <a:t>(256) &lt; 3</a:t>
            </a:r>
            <a:r>
              <a:rPr lang="en-US" altLang="ko-KR" baseline="30000" dirty="0" smtClean="0">
                <a:latin typeface="Times New Roman" pitchFamily="18" charset="0"/>
              </a:rPr>
              <a:t>6</a:t>
            </a:r>
            <a:r>
              <a:rPr lang="en-US" altLang="ko-KR" dirty="0" smtClean="0">
                <a:latin typeface="Times New Roman" pitchFamily="18" charset="0"/>
              </a:rPr>
              <a:t>(729)</a:t>
            </a: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lvl="2" indent="0" algn="ctr"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sz="2400" dirty="0" smtClean="0">
                <a:solidFill>
                  <a:srgbClr val="C00000"/>
                </a:solidFill>
                <a:latin typeface="+mj-lt"/>
              </a:rPr>
              <a:t>4.11 </a:t>
            </a:r>
            <a:r>
              <a:rPr lang="en-US" altLang="ko-KR" sz="2400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Multilevel: 8B6T</a:t>
            </a:r>
            <a:endParaRPr lang="en-US" altLang="ko-KR" sz="2400" dirty="0">
              <a:latin typeface="Times New Roman" pitchFamily="18" charset="0"/>
            </a:endParaRPr>
          </a:p>
          <a:p>
            <a:pPr marL="0" lvl="2" indent="0" algn="just">
              <a:buNone/>
              <a:defRPr/>
            </a:pP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13" y="3271662"/>
            <a:ext cx="8156575" cy="188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39162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Multilevel Schemes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4D-PAM5(4-dimensional 5-level pulse amplitude modulation)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lvl="2" indent="0" algn="ctr"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sz="2400" dirty="0" smtClean="0">
                <a:solidFill>
                  <a:srgbClr val="C00000"/>
                </a:solidFill>
                <a:latin typeface="+mj-lt"/>
              </a:rPr>
              <a:t>4.12 </a:t>
            </a:r>
            <a:r>
              <a:rPr lang="en-US" altLang="ko-KR" sz="2400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Multilevel: 4D-PAM5</a:t>
            </a:r>
            <a:endParaRPr lang="en-US" altLang="ko-KR" sz="2400" dirty="0">
              <a:latin typeface="Times New Roman" pitchFamily="18" charset="0"/>
            </a:endParaRPr>
          </a:p>
          <a:p>
            <a:pPr marL="0" lvl="2" indent="0" algn="just">
              <a:buNone/>
              <a:defRPr/>
            </a:pP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8" y="1999364"/>
            <a:ext cx="7746765" cy="3431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474042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Multitransition: MLT3</a:t>
            </a: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sz="2400" dirty="0" smtClean="0">
                <a:solidFill>
                  <a:srgbClr val="C00000"/>
                </a:solidFill>
                <a:latin typeface="+mj-lt"/>
              </a:rPr>
              <a:t>4.13 </a:t>
            </a:r>
            <a:r>
              <a:rPr lang="en-US" altLang="ko-KR" sz="2400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2400" dirty="0">
                <a:latin typeface="Times New Roman" pitchFamily="18" charset="0"/>
                <a:cs typeface="Times New Roman" pitchFamily="18" charset="0"/>
              </a:rPr>
              <a:t>Multitransition: MLT3</a:t>
            </a:r>
          </a:p>
          <a:p>
            <a:pPr marL="0" lvl="2" indent="0" algn="just">
              <a:buNone/>
              <a:defRPr/>
            </a:pP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206" y="1405456"/>
            <a:ext cx="3945194" cy="176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206" y="3642698"/>
            <a:ext cx="3981495" cy="1765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414" y="2446693"/>
            <a:ext cx="3286502" cy="207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40099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Summary of Line Coding Schemes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dirty="0" smtClean="0">
                <a:solidFill>
                  <a:srgbClr val="C00000"/>
                </a:solidFill>
                <a:latin typeface="+mj-lt"/>
              </a:rPr>
              <a:t>Table 4.1 </a:t>
            </a:r>
            <a:r>
              <a:rPr lang="en-US" altLang="ko-KR" sz="2400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2400" i="1" dirty="0">
                <a:latin typeface="Times New Roman" pitchFamily="18" charset="0"/>
                <a:cs typeface="Times New Roman" pitchFamily="18" charset="0"/>
              </a:rPr>
              <a:t>Summary of Line Coding Schemes</a:t>
            </a:r>
          </a:p>
          <a:p>
            <a:pPr marL="0" lvl="2" indent="0" algn="just">
              <a:buNone/>
              <a:defRPr/>
            </a:pP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04" y="1865672"/>
            <a:ext cx="826008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96606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4.1.3 Block Coding</a:t>
            </a:r>
          </a:p>
          <a:p>
            <a:pPr lvl="1" algn="just">
              <a:defRPr/>
            </a:pPr>
            <a:r>
              <a:rPr lang="en-US" altLang="ko-KR" dirty="0" err="1" smtClean="0">
                <a:latin typeface="Times New Roman" pitchFamily="18" charset="0"/>
              </a:rPr>
              <a:t>mB</a:t>
            </a:r>
            <a:r>
              <a:rPr lang="en-US" altLang="ko-KR" dirty="0" smtClean="0">
                <a:latin typeface="Times New Roman" pitchFamily="18" charset="0"/>
              </a:rPr>
              <a:t>/</a:t>
            </a:r>
            <a:r>
              <a:rPr lang="en-US" altLang="ko-KR" dirty="0" err="1" smtClean="0">
                <a:latin typeface="Times New Roman" pitchFamily="18" charset="0"/>
              </a:rPr>
              <a:t>nB</a:t>
            </a:r>
            <a:r>
              <a:rPr lang="en-US" altLang="ko-KR" dirty="0" smtClean="0">
                <a:latin typeface="Times New Roman" pitchFamily="18" charset="0"/>
              </a:rPr>
              <a:t> - (n-m) redundancy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to ensure synchronization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for error control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4.14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Block coding concept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2926173"/>
            <a:ext cx="8304212" cy="1404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24663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285135" y="755650"/>
            <a:ext cx="8613059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4B/5B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NRZ-I + synchronization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4.15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Using block coding 4B/5B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with NRZ-I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line coding scheme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2438400"/>
            <a:ext cx="8250237" cy="172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70402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30942"/>
            <a:ext cx="8429625" cy="6037006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dirty="0" smtClean="0">
                <a:solidFill>
                  <a:srgbClr val="C00000"/>
                </a:solidFill>
                <a:latin typeface="+mj-lt"/>
              </a:rPr>
              <a:t>Table 4.2 </a:t>
            </a:r>
            <a:r>
              <a:rPr lang="en-US" altLang="ko-KR" sz="2400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2400" i="1" dirty="0" smtClean="0">
                <a:latin typeface="Times New Roman" pitchFamily="18" charset="0"/>
                <a:cs typeface="Times New Roman" pitchFamily="18" charset="0"/>
              </a:rPr>
              <a:t>4B/5B mapping codes</a:t>
            </a:r>
            <a:endParaRPr lang="en-US" altLang="ko-KR" sz="2400" i="1" dirty="0">
              <a:latin typeface="Times New Roman" pitchFamily="18" charset="0"/>
              <a:cs typeface="Times New Roman" pitchFamily="18" charset="0"/>
            </a:endParaRPr>
          </a:p>
          <a:p>
            <a:pPr marL="0" lvl="2" indent="0" algn="just">
              <a:buNone/>
              <a:defRPr/>
            </a:pP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03" y="1286714"/>
            <a:ext cx="8061960" cy="5068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23766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285135" y="755650"/>
            <a:ext cx="8613059" cy="5616575"/>
          </a:xfrm>
        </p:spPr>
        <p:txBody>
          <a:bodyPr/>
          <a:lstStyle/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4.15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dirty="0">
                <a:latin typeface="+mj-lt"/>
              </a:rPr>
              <a:t>Substitution in 4B/5B block coding</a:t>
            </a:r>
          </a:p>
          <a:p>
            <a:pPr marL="0" indent="0">
              <a:buNone/>
            </a:pPr>
            <a:endParaRPr lang="en-US" altLang="ko-KR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4.5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23768" y="751698"/>
            <a:ext cx="4292180" cy="989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97" y="3004525"/>
            <a:ext cx="7031758" cy="870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460" y="1453271"/>
            <a:ext cx="3045387" cy="1683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9945" y="1501910"/>
            <a:ext cx="1192367" cy="1677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869" y="1475257"/>
            <a:ext cx="1251156" cy="1720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54357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285135" y="755650"/>
            <a:ext cx="8613059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8B/10B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5B/6B  + 3B/4B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4.17 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8B/10B block encoding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7334250" cy="231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57449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4.1.4 Scrambling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Substitutes long zero-level pulses with a combination of other levels to provide synchronization</a:t>
            </a:r>
          </a:p>
          <a:p>
            <a:pPr lvl="1"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4.18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AMI used with scrambling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605544"/>
            <a:ext cx="8005763" cy="206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31525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B8ZS(Bipolar with 8 zero substitution)</a:t>
            </a:r>
          </a:p>
          <a:p>
            <a:pPr lvl="1"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4.19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Two cases of B8ZS scrambling technique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055" y="1657851"/>
            <a:ext cx="4151671" cy="158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879" y="3648225"/>
            <a:ext cx="4287751" cy="15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40097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4.1  Digital-to-Digital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HDB3(High-density bipolar 3-zero)</a:t>
            </a:r>
          </a:p>
          <a:p>
            <a:pPr lvl="1"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4.20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Different situations in HDB3 scrambling technique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16" y="1710824"/>
            <a:ext cx="7739062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73455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97797" y="474300"/>
            <a:ext cx="8429625" cy="6093648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4.2 Analog-to-Digital Conversion</a:t>
            </a: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4.2.1 Pulse Code Modulation (PCM)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The most common technique to change an analog signal to digital data (digitization)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4.21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Components of PCM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encoder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17" y="3730365"/>
            <a:ext cx="1926483" cy="89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486" y="4203256"/>
            <a:ext cx="1241314" cy="599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730365"/>
            <a:ext cx="5029200" cy="117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oup 2"/>
          <p:cNvGrpSpPr/>
          <p:nvPr/>
        </p:nvGrpSpPr>
        <p:grpSpPr>
          <a:xfrm>
            <a:off x="3886200" y="2562856"/>
            <a:ext cx="2780721" cy="1792800"/>
            <a:chOff x="3886200" y="685800"/>
            <a:chExt cx="2780721" cy="1792800"/>
          </a:xfrm>
        </p:grpSpPr>
        <p:pic>
          <p:nvPicPr>
            <p:cNvPr id="12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6200" y="685800"/>
              <a:ext cx="2780721" cy="723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10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2600" y="1371600"/>
              <a:ext cx="36000" cy="110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4" name="Group 3"/>
          <p:cNvGrpSpPr/>
          <p:nvPr/>
        </p:nvGrpSpPr>
        <p:grpSpPr>
          <a:xfrm>
            <a:off x="3039366" y="4340412"/>
            <a:ext cx="2447034" cy="1744530"/>
            <a:chOff x="3039366" y="3170404"/>
            <a:chExt cx="2447034" cy="1744530"/>
          </a:xfrm>
        </p:grpSpPr>
        <p:pic>
          <p:nvPicPr>
            <p:cNvPr id="15" name="Picture 9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9366" y="4191000"/>
              <a:ext cx="2447034" cy="723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10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170404"/>
              <a:ext cx="36000" cy="110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509218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8134" y="523459"/>
            <a:ext cx="8429625" cy="6093648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Sampling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Ideal Sampling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Natural Sampling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Flat-top Sampling (sample and hold)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4.22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Three different sampling methods for </a:t>
            </a:r>
            <a:r>
              <a:rPr lang="en-US" altLang="ko-KR" dirty="0" smtClean="0">
                <a:latin typeface="+mj-lt"/>
              </a:rPr>
              <a:t>PCM</a:t>
            </a: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305" y="2776537"/>
            <a:ext cx="262890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870" y="2776538"/>
            <a:ext cx="2628900" cy="201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89" y="2776538"/>
            <a:ext cx="262890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8847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8134" y="523459"/>
            <a:ext cx="8429625" cy="6093648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i="1" dirty="0" smtClean="0">
                <a:latin typeface="Times New Roman" pitchFamily="18" charset="0"/>
                <a:cs typeface="Times New Roman" pitchFamily="18" charset="0"/>
              </a:rPr>
              <a:t>Sampling rate</a:t>
            </a:r>
          </a:p>
          <a:p>
            <a:pPr lvl="1" algn="just">
              <a:defRPr/>
            </a:pPr>
            <a:r>
              <a:rPr lang="en-US" altLang="ko-KR" b="1" i="1" dirty="0" err="1" smtClean="0">
                <a:solidFill>
                  <a:srgbClr val="C00000"/>
                </a:solidFill>
                <a:latin typeface="Times New Roman" pitchFamily="18" charset="0"/>
              </a:rPr>
              <a:t>Nyquist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 theorem </a:t>
            </a:r>
            <a:r>
              <a:rPr lang="en-US" altLang="ko-KR" dirty="0" smtClean="0">
                <a:latin typeface="Times New Roman" pitchFamily="18" charset="0"/>
              </a:rPr>
              <a:t>: the sampling rate must be at least 2 times the highest frequency contained in the signal</a:t>
            </a:r>
          </a:p>
          <a:p>
            <a:pPr marL="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Ex. 4.6</a:t>
            </a:r>
          </a:p>
          <a:p>
            <a:pPr marL="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Ex. 4.7</a:t>
            </a: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4.23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err="1">
                <a:latin typeface="Times New Roman" pitchFamily="18" charset="0"/>
                <a:cs typeface="Times New Roman" pitchFamily="18" charset="0"/>
              </a:rPr>
              <a:t>Nyquist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 sampling rate for low-pass and bandpass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signals</a:t>
            </a:r>
            <a:endParaRPr lang="en-US" altLang="ko-KR" dirty="0" smtClean="0">
              <a:latin typeface="+mj-lt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115" y="2809875"/>
            <a:ext cx="4906297" cy="1411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271" y="4496470"/>
            <a:ext cx="4382140" cy="1442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61780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8134" y="688257"/>
            <a:ext cx="8429625" cy="5928849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4.24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Recovery of a sine wave with different sampling rates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ko-KR" dirty="0" smtClean="0">
              <a:latin typeface="+mj-lt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4168" y="964450"/>
            <a:ext cx="6636055" cy="1473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754" y="2586950"/>
            <a:ext cx="6641645" cy="1456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168" y="4332182"/>
            <a:ext cx="6636055" cy="1456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3186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8134" y="688257"/>
            <a:ext cx="8429625" cy="5928849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4.25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Sampling of clock with only one hand</a:t>
            </a:r>
            <a:r>
              <a:rPr lang="en-US" altLang="ko-KR" dirty="0" smtClean="0">
                <a:latin typeface="Times-BoldItalic"/>
              </a:rPr>
              <a:t>.</a:t>
            </a:r>
            <a:endParaRPr lang="en-US" altLang="ko-KR" dirty="0" smtClean="0">
              <a:latin typeface="+mj-lt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57" y="711371"/>
            <a:ext cx="8034709" cy="1600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23" y="2533864"/>
            <a:ext cx="7888401" cy="162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63" y="4350944"/>
            <a:ext cx="7882305" cy="161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711369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8134" y="511277"/>
            <a:ext cx="8429625" cy="6105830"/>
          </a:xfrm>
        </p:spPr>
        <p:txBody>
          <a:bodyPr/>
          <a:lstStyle/>
          <a:p>
            <a:pPr marL="342900" lvl="2" indent="-342900"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Quantization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The process of converting a discrete-time continuous-amplitude signal into a digital signal by expressing each sample value as a finite number of digits, is called quantization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4.26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Quantization and encoding of a sampled </a:t>
            </a:r>
            <a:r>
              <a:rPr lang="en-US" altLang="ko-KR" dirty="0" smtClean="0">
                <a:latin typeface="+mj-lt"/>
              </a:rPr>
              <a:t>signal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349" y="2038212"/>
            <a:ext cx="6591298" cy="4080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30733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8134" y="676275"/>
            <a:ext cx="8520060" cy="5940832"/>
          </a:xfrm>
        </p:spPr>
        <p:txBody>
          <a:bodyPr/>
          <a:lstStyle/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Quantization error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The error introduced in presenting the continuous-valued signal by a finite set of discrete value level is called quantization error or noise</a:t>
            </a:r>
            <a:endParaRPr lang="en-US" altLang="ko-KR" dirty="0"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Quantization Levels  </a:t>
            </a:r>
            <a:r>
              <a:rPr lang="en-US" altLang="ko-KR" b="1" i="1" dirty="0" smtClean="0">
                <a:latin typeface="Times New Roman" pitchFamily="18" charset="0"/>
              </a:rPr>
              <a:t>L</a:t>
            </a:r>
            <a:r>
              <a:rPr lang="en-US" altLang="ko-KR" dirty="0" smtClean="0">
                <a:latin typeface="Times New Roman" pitchFamily="18" charset="0"/>
              </a:rPr>
              <a:t>=2</a:t>
            </a:r>
            <a:r>
              <a:rPr lang="en-US" altLang="ko-KR" i="1" baseline="30000" dirty="0" smtClean="0">
                <a:latin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</a:rPr>
              <a:t> (</a:t>
            </a:r>
            <a:r>
              <a:rPr lang="en-US" altLang="ko-KR" i="1" dirty="0" smtClean="0">
                <a:latin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</a:rPr>
              <a:t>-bit quantization)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Step size  </a:t>
            </a:r>
            <a:r>
              <a:rPr lang="el-GR" altLang="ko-KR" dirty="0" smtClean="0">
                <a:latin typeface="Times New Roman"/>
                <a:cs typeface="Times New Roman"/>
              </a:rPr>
              <a:t>Δ</a:t>
            </a:r>
            <a:r>
              <a:rPr lang="en-US" altLang="ko-KR" dirty="0" smtClean="0">
                <a:latin typeface="Times New Roman"/>
                <a:cs typeface="Times New Roman"/>
              </a:rPr>
              <a:t>=(</a:t>
            </a:r>
            <a:r>
              <a:rPr lang="en-US" altLang="ko-KR" b="1" i="1" dirty="0" err="1" smtClean="0">
                <a:latin typeface="Times New Roman"/>
                <a:cs typeface="Times New Roman"/>
              </a:rPr>
              <a:t>V</a:t>
            </a:r>
            <a:r>
              <a:rPr lang="en-US" altLang="ko-KR" b="1" i="1" baseline="-25000" dirty="0" err="1" smtClean="0">
                <a:latin typeface="Times New Roman"/>
                <a:cs typeface="Times New Roman"/>
              </a:rPr>
              <a:t>max</a:t>
            </a:r>
            <a:r>
              <a:rPr lang="en-US" altLang="ko-KR" dirty="0" smtClean="0">
                <a:latin typeface="Times New Roman"/>
                <a:cs typeface="Times New Roman"/>
              </a:rPr>
              <a:t> – </a:t>
            </a:r>
            <a:r>
              <a:rPr lang="en-US" altLang="ko-KR" b="1" i="1" dirty="0" err="1" smtClean="0">
                <a:latin typeface="Times New Roman"/>
                <a:cs typeface="Times New Roman"/>
              </a:rPr>
              <a:t>V</a:t>
            </a:r>
            <a:r>
              <a:rPr lang="en-US" altLang="ko-KR" b="1" i="1" baseline="-25000" dirty="0" err="1" smtClean="0">
                <a:latin typeface="Times New Roman"/>
                <a:cs typeface="Times New Roman"/>
              </a:rPr>
              <a:t>min</a:t>
            </a:r>
            <a:r>
              <a:rPr lang="en-US" altLang="ko-KR" dirty="0" smtClean="0">
                <a:latin typeface="Times New Roman"/>
                <a:cs typeface="Times New Roman"/>
              </a:rPr>
              <a:t>)/</a:t>
            </a:r>
            <a:r>
              <a:rPr lang="en-US" altLang="ko-KR" b="1" i="1" dirty="0" smtClean="0">
                <a:latin typeface="Times New Roman"/>
                <a:cs typeface="Times New Roman"/>
              </a:rPr>
              <a:t>L</a:t>
            </a:r>
            <a:endParaRPr lang="en-US" altLang="ko-KR" b="1" i="1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Signal </a:t>
            </a:r>
            <a:r>
              <a:rPr lang="en-US" altLang="ko-KR" dirty="0">
                <a:latin typeface="Times New Roman" pitchFamily="18" charset="0"/>
              </a:rPr>
              <a:t>to Quantization Noise Ratio (SNQR)</a:t>
            </a:r>
          </a:p>
          <a:p>
            <a:pPr lvl="1">
              <a:defRPr/>
            </a:pPr>
            <a:r>
              <a:rPr lang="en-US" altLang="ko-KR" dirty="0">
                <a:latin typeface="Times New Roman" pitchFamily="18" charset="0"/>
              </a:rPr>
              <a:t>Assumptions: Linear quantization, zero mean </a:t>
            </a:r>
            <a:r>
              <a:rPr lang="en-US" altLang="ko-KR" dirty="0" smtClean="0">
                <a:latin typeface="Times New Roman" pitchFamily="18" charset="0"/>
              </a:rPr>
              <a:t>signal,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uniform </a:t>
            </a:r>
            <a:r>
              <a:rPr lang="en-US" altLang="ko-KR" b="1" i="1" dirty="0" err="1" smtClean="0">
                <a:solidFill>
                  <a:srgbClr val="C00000"/>
                </a:solidFill>
                <a:latin typeface="Times New Roman" pitchFamily="18" charset="0"/>
              </a:rPr>
              <a:t>pdf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.</a:t>
            </a:r>
            <a:r>
              <a:rPr lang="en-US" altLang="ko-KR" dirty="0" smtClean="0">
                <a:latin typeface="Times New Roman" pitchFamily="18" charset="0"/>
              </a:rPr>
              <a:t/>
            </a:r>
            <a:br>
              <a:rPr lang="en-US" altLang="ko-KR" dirty="0" smtClean="0">
                <a:latin typeface="Times New Roman" pitchFamily="18" charset="0"/>
              </a:rPr>
            </a:br>
            <a:r>
              <a:rPr lang="en-US" altLang="ko-KR" dirty="0" smtClean="0">
                <a:latin typeface="Times New Roman" pitchFamily="18" charset="0"/>
              </a:rPr>
              <a:t>uniform quantization</a:t>
            </a:r>
            <a:endParaRPr lang="en-US" altLang="ko-KR" b="1" i="1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dirty="0" err="1" smtClean="0">
                <a:latin typeface="Times New Roman" pitchFamily="18" charset="0"/>
              </a:rPr>
              <a:t>SNR</a:t>
            </a:r>
            <a:r>
              <a:rPr lang="en-US" altLang="ko-KR" baseline="-25000" dirty="0" err="1" smtClean="0">
                <a:latin typeface="Times New Roman" pitchFamily="18" charset="0"/>
              </a:rPr>
              <a:t>dB</a:t>
            </a:r>
            <a:r>
              <a:rPr lang="en-US" altLang="ko-KR" dirty="0">
                <a:latin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</a:rPr>
              <a:t>= 6.02</a:t>
            </a:r>
            <a:r>
              <a:rPr lang="en-US" altLang="ko-KR" b="1" i="1" dirty="0" smtClean="0">
                <a:latin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</a:rPr>
              <a:t> dB</a:t>
            </a:r>
          </a:p>
          <a:p>
            <a:pPr lvl="1">
              <a:defRPr/>
            </a:pPr>
            <a:r>
              <a:rPr lang="en-US" altLang="ko-KR" dirty="0" smtClean="0">
                <a:latin typeface="Times New Roman" pitchFamily="18" charset="0"/>
              </a:rPr>
              <a:t>Assumptions: </a:t>
            </a:r>
            <a:r>
              <a:rPr lang="en-US" altLang="ko-KR" dirty="0">
                <a:latin typeface="Times New Roman" pitchFamily="18" charset="0"/>
              </a:rPr>
              <a:t>Linear quantization,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sinusoidal </a:t>
            </a: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</a:rPr>
              <a:t>signal</a:t>
            </a:r>
            <a:r>
              <a:rPr lang="en-US" altLang="ko-KR" dirty="0">
                <a:latin typeface="Times New Roman" pitchFamily="18" charset="0"/>
              </a:rPr>
              <a:t>, </a:t>
            </a:r>
            <a:br>
              <a:rPr lang="en-US" altLang="ko-KR" dirty="0">
                <a:latin typeface="Times New Roman" pitchFamily="18" charset="0"/>
              </a:rPr>
            </a:br>
            <a:r>
              <a:rPr lang="en-US" altLang="ko-KR" dirty="0">
                <a:latin typeface="Times New Roman" pitchFamily="18" charset="0"/>
              </a:rPr>
              <a:t>uniform quantization</a:t>
            </a:r>
            <a:endParaRPr lang="en-US" altLang="ko-KR" b="1" i="1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dirty="0" err="1">
                <a:latin typeface="Times New Roman" pitchFamily="18" charset="0"/>
              </a:rPr>
              <a:t>SNR</a:t>
            </a:r>
            <a:r>
              <a:rPr lang="en-US" altLang="ko-KR" baseline="-25000" dirty="0" err="1">
                <a:latin typeface="Times New Roman" pitchFamily="18" charset="0"/>
              </a:rPr>
              <a:t>dB</a:t>
            </a:r>
            <a:r>
              <a:rPr lang="en-US" altLang="ko-KR" dirty="0">
                <a:latin typeface="Times New Roman" pitchFamily="18" charset="0"/>
              </a:rPr>
              <a:t> = 6.02</a:t>
            </a:r>
            <a:r>
              <a:rPr lang="en-US" altLang="ko-KR" b="1" i="1" dirty="0">
                <a:latin typeface="Times New Roman" pitchFamily="18" charset="0"/>
              </a:rPr>
              <a:t>n</a:t>
            </a:r>
            <a:r>
              <a:rPr lang="en-US" altLang="ko-KR" dirty="0">
                <a:latin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</a:rPr>
              <a:t>+ 1.76dB</a:t>
            </a:r>
            <a:endParaRPr lang="en-US" altLang="ko-KR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809844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97184" y="454127"/>
            <a:ext cx="8429625" cy="6105830"/>
          </a:xfrm>
        </p:spPr>
        <p:txBody>
          <a:bodyPr/>
          <a:lstStyle/>
          <a:p>
            <a:pPr algn="just">
              <a:defRPr/>
            </a:pPr>
            <a:r>
              <a:rPr lang="en-US" altLang="ko-KR" dirty="0" err="1" smtClean="0">
                <a:latin typeface="Times New Roman" pitchFamily="18" charset="0"/>
              </a:rPr>
              <a:t>Companded</a:t>
            </a:r>
            <a:r>
              <a:rPr lang="en-US" altLang="ko-KR" dirty="0" smtClean="0">
                <a:latin typeface="Times New Roman" pitchFamily="18" charset="0"/>
              </a:rPr>
              <a:t> PCM (non-uniform quantization)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Linear quantization: suitable for the information signal has a uniform </a:t>
            </a:r>
            <a:r>
              <a:rPr lang="en-US" altLang="ko-KR" dirty="0" err="1" smtClean="0">
                <a:latin typeface="Times New Roman" pitchFamily="18" charset="0"/>
              </a:rPr>
              <a:t>pdf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Nonlinear quantization: </a:t>
            </a:r>
            <a:r>
              <a:rPr lang="en-US" altLang="ko-KR" dirty="0" err="1" smtClean="0">
                <a:latin typeface="Times New Roman" pitchFamily="18" charset="0"/>
              </a:rPr>
              <a:t>companding</a:t>
            </a:r>
            <a:r>
              <a:rPr lang="en-US" altLang="ko-KR" dirty="0" smtClean="0">
                <a:latin typeface="Times New Roman" pitchFamily="18" charset="0"/>
              </a:rPr>
              <a:t> (compressing-expanding)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+mj-lt"/>
              </a:rPr>
              <a:t>Compression and expanding</a:t>
            </a:r>
            <a:endParaRPr lang="en-US" altLang="ko-KR" dirty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40" y="1881872"/>
            <a:ext cx="7653184" cy="4405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99835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8134" y="511277"/>
            <a:ext cx="8429625" cy="6105830"/>
          </a:xfrm>
        </p:spPr>
        <p:txBody>
          <a:bodyPr/>
          <a:lstStyle/>
          <a:p>
            <a:pPr algn="just">
              <a:defRPr/>
            </a:pPr>
            <a:r>
              <a:rPr lang="el-GR" altLang="ko-KR" dirty="0" smtClean="0">
                <a:latin typeface="Times New Roman" pitchFamily="18" charset="0"/>
                <a:cs typeface="Times New Roman"/>
              </a:rPr>
              <a:t>μ</a:t>
            </a:r>
            <a:r>
              <a:rPr lang="en-US" altLang="ko-KR" dirty="0" smtClean="0">
                <a:latin typeface="Times New Roman" pitchFamily="18" charset="0"/>
                <a:cs typeface="Times New Roman"/>
              </a:rPr>
              <a:t>-law and A-law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  <a:cs typeface="Times New Roman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  <a:cs typeface="Times New Roman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  <a:cs typeface="Times New Roman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  <a:cs typeface="Times New Roman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  <a:cs typeface="Times New Roman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  <a:cs typeface="Times New Roman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  <a:cs typeface="Times New Roman"/>
            </a:endParaRPr>
          </a:p>
          <a:p>
            <a:pPr lvl="1">
              <a:defRPr/>
            </a:pPr>
            <a:endParaRPr lang="en-US" altLang="ko-KR" dirty="0" smtClean="0"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l-GR" altLang="ko-KR" dirty="0" smtClean="0">
                <a:latin typeface="Times New Roman"/>
                <a:cs typeface="Times New Roman"/>
              </a:rPr>
              <a:t>μ</a:t>
            </a:r>
            <a:r>
              <a:rPr lang="en-US" altLang="ko-KR" dirty="0" smtClean="0">
                <a:latin typeface="Times New Roman"/>
                <a:cs typeface="Times New Roman"/>
              </a:rPr>
              <a:t> = 255 in the USA &amp; Canada</a:t>
            </a:r>
            <a:br>
              <a:rPr lang="en-US" altLang="ko-KR" dirty="0" smtClean="0">
                <a:latin typeface="Times New Roman"/>
                <a:cs typeface="Times New Roman"/>
              </a:rPr>
            </a:br>
            <a:r>
              <a:rPr lang="en-US" altLang="ko-KR" dirty="0" smtClean="0">
                <a:latin typeface="+mj-lt"/>
                <a:ea typeface="굴림체"/>
                <a:cs typeface="Times New Roman"/>
              </a:rPr>
              <a:t>⇒ 24dB quantization noise reduction</a:t>
            </a:r>
            <a:endParaRPr lang="en-US" altLang="ko-KR" dirty="0" smtClean="0">
              <a:latin typeface="+mj-lt"/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Fig. </a:t>
            </a:r>
            <a:r>
              <a:rPr lang="el-GR" altLang="ko-KR" dirty="0">
                <a:latin typeface="Times New Roman" pitchFamily="18" charset="0"/>
                <a:cs typeface="Times New Roman"/>
              </a:rPr>
              <a:t>μ</a:t>
            </a:r>
            <a:r>
              <a:rPr lang="en-US" altLang="ko-KR" dirty="0">
                <a:latin typeface="Times New Roman" pitchFamily="18" charset="0"/>
                <a:cs typeface="Times New Roman"/>
              </a:rPr>
              <a:t>-law and A-law</a:t>
            </a:r>
            <a:endParaRPr lang="en-US" altLang="ko-KR" dirty="0">
              <a:latin typeface="Times New Roman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+mj-lt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41" y="1330422"/>
            <a:ext cx="5591175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906" y="709612"/>
            <a:ext cx="3076575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709987"/>
            <a:ext cx="3200400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74918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8134" y="511277"/>
            <a:ext cx="8429625" cy="6105830"/>
          </a:xfrm>
        </p:spPr>
        <p:txBody>
          <a:bodyPr/>
          <a:lstStyle/>
          <a:p>
            <a:pPr marL="342900" lvl="2" indent="-342900"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Encoding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Bit rate = sampling rate </a:t>
            </a:r>
            <a:r>
              <a:rPr lang="en-US" altLang="ko-KR" dirty="0" smtClean="0">
                <a:latin typeface="Times New Roman"/>
                <a:cs typeface="Times New Roman"/>
              </a:rPr>
              <a:t>× number of bits per sample = </a:t>
            </a:r>
            <a:r>
              <a:rPr lang="en-US" altLang="ko-KR" b="1" i="1" dirty="0" err="1" smtClean="0">
                <a:latin typeface="Times New Roman"/>
                <a:cs typeface="Times New Roman"/>
              </a:rPr>
              <a:t>f</a:t>
            </a:r>
            <a:r>
              <a:rPr lang="en-US" altLang="ko-KR" b="1" i="1" baseline="-25000" dirty="0" err="1" smtClean="0">
                <a:latin typeface="Times New Roman"/>
                <a:cs typeface="Times New Roman"/>
              </a:rPr>
              <a:t>s</a:t>
            </a:r>
            <a:r>
              <a:rPr lang="en-US" altLang="ko-KR" dirty="0" smtClean="0">
                <a:latin typeface="Times New Roman"/>
                <a:cs typeface="Times New Roman"/>
              </a:rPr>
              <a:t> × </a:t>
            </a:r>
            <a:r>
              <a:rPr lang="en-US" altLang="ko-KR" b="1" i="1" dirty="0" err="1" smtClean="0">
                <a:latin typeface="Times New Roman"/>
                <a:cs typeface="Times New Roman"/>
              </a:rPr>
              <a:t>n</a:t>
            </a:r>
            <a:r>
              <a:rPr lang="en-US" altLang="ko-KR" b="1" i="1" baseline="-25000" dirty="0" err="1" smtClean="0">
                <a:latin typeface="Times New Roman"/>
                <a:cs typeface="Times New Roman"/>
              </a:rPr>
              <a:t>b</a:t>
            </a:r>
            <a:endParaRPr lang="en-US" altLang="ko-KR" baseline="-25000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Ex. 4.14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Original Signal Recovery</a:t>
            </a: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lvl="1"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4.27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Components of a PCM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decoder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971" y="4142293"/>
            <a:ext cx="4111017" cy="1407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71" y="4600633"/>
            <a:ext cx="1268009" cy="60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360" y="4267535"/>
            <a:ext cx="3096611" cy="941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1"/>
          <p:cNvGrpSpPr/>
          <p:nvPr/>
        </p:nvGrpSpPr>
        <p:grpSpPr>
          <a:xfrm>
            <a:off x="2141871" y="2730789"/>
            <a:ext cx="3109958" cy="2057400"/>
            <a:chOff x="2110500" y="1828800"/>
            <a:chExt cx="3109958" cy="2057400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0500" y="1828800"/>
              <a:ext cx="3109958" cy="928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1761" y="2711700"/>
              <a:ext cx="35438" cy="1174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45724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8134" y="511277"/>
            <a:ext cx="8429625" cy="6105830"/>
          </a:xfrm>
        </p:spPr>
        <p:txBody>
          <a:bodyPr/>
          <a:lstStyle/>
          <a:p>
            <a:pPr marL="342900" lvl="2" indent="-342900"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PCM Bandwidth</a:t>
            </a:r>
          </a:p>
          <a:p>
            <a:pPr lvl="1" algn="just">
              <a:defRPr/>
            </a:pPr>
            <a:r>
              <a:rPr lang="en-US" altLang="ko-KR" b="1" i="1" dirty="0" err="1" smtClean="0">
                <a:latin typeface="Times New Roman" pitchFamily="18" charset="0"/>
              </a:rPr>
              <a:t>B</a:t>
            </a:r>
            <a:r>
              <a:rPr lang="en-US" altLang="ko-KR" baseline="-25000" dirty="0" err="1" smtClean="0">
                <a:latin typeface="Times New Roman" pitchFamily="18" charset="0"/>
              </a:rPr>
              <a:t>min</a:t>
            </a:r>
            <a:r>
              <a:rPr lang="en-US" altLang="ko-KR" dirty="0" smtClean="0">
                <a:latin typeface="Times New Roman" pitchFamily="18" charset="0"/>
              </a:rPr>
              <a:t> = </a:t>
            </a:r>
            <a:r>
              <a:rPr lang="en-US" altLang="ko-KR" b="1" i="1" dirty="0" smtClean="0">
                <a:latin typeface="Times New Roman" pitchFamily="18" charset="0"/>
              </a:rPr>
              <a:t>c</a:t>
            </a:r>
            <a:r>
              <a:rPr lang="en-US" altLang="ko-KR" dirty="0" smtClean="0">
                <a:latin typeface="Times New Roman" pitchFamily="18" charset="0"/>
              </a:rPr>
              <a:t> </a:t>
            </a:r>
            <a:r>
              <a:rPr lang="en-US" altLang="ko-KR" dirty="0">
                <a:latin typeface="Times New Roman"/>
                <a:cs typeface="Times New Roman"/>
              </a:rPr>
              <a:t>× </a:t>
            </a:r>
            <a:r>
              <a:rPr lang="en-US" altLang="ko-KR" b="1" i="1" dirty="0" smtClean="0">
                <a:latin typeface="Times New Roman"/>
                <a:cs typeface="Times New Roman"/>
              </a:rPr>
              <a:t>N</a:t>
            </a:r>
            <a:r>
              <a:rPr lang="en-US" altLang="ko-KR" dirty="0" smtClean="0">
                <a:latin typeface="Times New Roman"/>
                <a:cs typeface="Times New Roman"/>
              </a:rPr>
              <a:t>× 1/</a:t>
            </a:r>
            <a:r>
              <a:rPr lang="en-US" altLang="ko-KR" b="1" i="1" dirty="0" smtClean="0">
                <a:latin typeface="Times New Roman"/>
                <a:cs typeface="Times New Roman"/>
              </a:rPr>
              <a:t>r</a:t>
            </a:r>
            <a:r>
              <a:rPr lang="en-US" altLang="ko-KR" dirty="0" smtClean="0">
                <a:latin typeface="Times New Roman"/>
                <a:cs typeface="Times New Roman"/>
              </a:rPr>
              <a:t> = </a:t>
            </a:r>
            <a:r>
              <a:rPr lang="en-US" altLang="ko-KR" b="1" i="1" dirty="0" smtClean="0">
                <a:latin typeface="Times New Roman"/>
                <a:cs typeface="Times New Roman"/>
              </a:rPr>
              <a:t>c</a:t>
            </a:r>
            <a:r>
              <a:rPr lang="en-US" altLang="ko-KR" b="1" dirty="0" smtClean="0">
                <a:latin typeface="Times New Roman"/>
                <a:cs typeface="Times New Roman"/>
              </a:rPr>
              <a:t> </a:t>
            </a:r>
            <a:r>
              <a:rPr lang="en-US" altLang="ko-KR" dirty="0" smtClean="0">
                <a:latin typeface="Times New Roman"/>
                <a:cs typeface="Times New Roman"/>
              </a:rPr>
              <a:t>× </a:t>
            </a:r>
            <a:r>
              <a:rPr lang="en-US" altLang="ko-KR" b="1" i="1" dirty="0" err="1" smtClean="0">
                <a:latin typeface="Times New Roman"/>
                <a:cs typeface="Times New Roman"/>
              </a:rPr>
              <a:t>n</a:t>
            </a:r>
            <a:r>
              <a:rPr lang="en-US" altLang="ko-KR" b="1" i="1" baseline="-25000" dirty="0" err="1" smtClean="0">
                <a:latin typeface="Times New Roman"/>
                <a:cs typeface="Times New Roman"/>
              </a:rPr>
              <a:t>b</a:t>
            </a:r>
            <a:r>
              <a:rPr lang="en-US" altLang="ko-KR" baseline="-25000" dirty="0" smtClean="0">
                <a:latin typeface="Times New Roman"/>
                <a:cs typeface="Times New Roman"/>
              </a:rPr>
              <a:t> </a:t>
            </a:r>
            <a:r>
              <a:rPr lang="en-US" altLang="ko-KR" dirty="0">
                <a:latin typeface="Times New Roman"/>
                <a:cs typeface="Times New Roman"/>
              </a:rPr>
              <a:t>× </a:t>
            </a:r>
            <a:r>
              <a:rPr lang="en-US" altLang="ko-KR" b="1" i="1" dirty="0" err="1" smtClean="0">
                <a:latin typeface="Times New Roman"/>
                <a:cs typeface="Times New Roman"/>
              </a:rPr>
              <a:t>f</a:t>
            </a:r>
            <a:r>
              <a:rPr lang="en-US" altLang="ko-KR" b="1" i="1" baseline="-25000" dirty="0" err="1" smtClean="0">
                <a:latin typeface="Times New Roman"/>
                <a:cs typeface="Times New Roman"/>
              </a:rPr>
              <a:t>s</a:t>
            </a:r>
            <a:r>
              <a:rPr lang="en-US" altLang="ko-KR" dirty="0" smtClean="0">
                <a:latin typeface="Times New Roman"/>
                <a:cs typeface="Times New Roman"/>
              </a:rPr>
              <a:t> × 1/</a:t>
            </a:r>
            <a:r>
              <a:rPr lang="en-US" altLang="ko-KR" b="1" i="1" dirty="0" smtClean="0">
                <a:latin typeface="Times New Roman"/>
                <a:cs typeface="Times New Roman"/>
              </a:rPr>
              <a:t>r </a:t>
            </a:r>
            <a:r>
              <a:rPr lang="en-US" altLang="ko-KR" dirty="0" smtClean="0">
                <a:latin typeface="Times New Roman"/>
                <a:cs typeface="Times New Roman"/>
              </a:rPr>
              <a:t>= </a:t>
            </a:r>
            <a:r>
              <a:rPr lang="en-US" altLang="ko-KR" b="1" i="1" dirty="0">
                <a:latin typeface="Times New Roman"/>
                <a:cs typeface="Times New Roman"/>
              </a:rPr>
              <a:t>c</a:t>
            </a:r>
            <a:r>
              <a:rPr lang="en-US" altLang="ko-KR" b="1" dirty="0">
                <a:latin typeface="Times New Roman"/>
                <a:cs typeface="Times New Roman"/>
              </a:rPr>
              <a:t> </a:t>
            </a:r>
            <a:r>
              <a:rPr lang="en-US" altLang="ko-KR" dirty="0">
                <a:latin typeface="Times New Roman"/>
                <a:cs typeface="Times New Roman"/>
              </a:rPr>
              <a:t>× </a:t>
            </a:r>
            <a:r>
              <a:rPr lang="en-US" altLang="ko-KR" b="1" i="1" dirty="0" err="1">
                <a:latin typeface="Times New Roman"/>
                <a:cs typeface="Times New Roman"/>
              </a:rPr>
              <a:t>n</a:t>
            </a:r>
            <a:r>
              <a:rPr lang="en-US" altLang="ko-KR" b="1" i="1" baseline="-25000" dirty="0" err="1">
                <a:latin typeface="Times New Roman"/>
                <a:cs typeface="Times New Roman"/>
              </a:rPr>
              <a:t>b</a:t>
            </a:r>
            <a:r>
              <a:rPr lang="en-US" altLang="ko-KR" baseline="-25000" dirty="0">
                <a:latin typeface="Times New Roman"/>
                <a:cs typeface="Times New Roman"/>
              </a:rPr>
              <a:t> </a:t>
            </a:r>
            <a:r>
              <a:rPr lang="en-US" altLang="ko-KR" dirty="0" smtClean="0">
                <a:latin typeface="Times New Roman"/>
                <a:cs typeface="Times New Roman"/>
              </a:rPr>
              <a:t>× 2 </a:t>
            </a:r>
            <a:r>
              <a:rPr lang="en-US" altLang="ko-KR" dirty="0">
                <a:latin typeface="Times New Roman"/>
                <a:cs typeface="Times New Roman"/>
              </a:rPr>
              <a:t>× </a:t>
            </a:r>
            <a:r>
              <a:rPr lang="en-US" altLang="ko-KR" b="1" i="1" dirty="0" err="1" smtClean="0">
                <a:latin typeface="Times New Roman" pitchFamily="18" charset="0"/>
              </a:rPr>
              <a:t>B</a:t>
            </a:r>
            <a:r>
              <a:rPr lang="en-US" altLang="ko-KR" baseline="-25000" dirty="0" err="1" smtClean="0">
                <a:latin typeface="Times New Roman" pitchFamily="18" charset="0"/>
              </a:rPr>
              <a:t>analog</a:t>
            </a:r>
            <a:r>
              <a:rPr lang="en-US" altLang="ko-KR" dirty="0" smtClean="0">
                <a:latin typeface="Times New Roman"/>
                <a:cs typeface="Times New Roman"/>
              </a:rPr>
              <a:t> </a:t>
            </a:r>
            <a:r>
              <a:rPr lang="en-US" altLang="ko-KR" dirty="0">
                <a:latin typeface="Times New Roman"/>
                <a:cs typeface="Times New Roman"/>
              </a:rPr>
              <a:t>× 1/</a:t>
            </a:r>
            <a:r>
              <a:rPr lang="en-US" altLang="ko-KR" b="1" i="1" dirty="0">
                <a:latin typeface="Times New Roman"/>
                <a:cs typeface="Times New Roman"/>
              </a:rPr>
              <a:t>r </a:t>
            </a:r>
            <a:endParaRPr lang="en-US" altLang="ko-KR" b="1" i="1" dirty="0" smtClean="0">
              <a:latin typeface="Times New Roman"/>
              <a:cs typeface="Times New Roman"/>
            </a:endParaRP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for r = 1, c = 1/2</a:t>
            </a:r>
          </a:p>
          <a:p>
            <a:pPr marL="457200" lvl="1" indent="0" algn="just">
              <a:buNone/>
              <a:defRPr/>
            </a:pPr>
            <a:r>
              <a:rPr lang="en-US" altLang="ko-KR" b="1" i="1" dirty="0" smtClean="0">
                <a:latin typeface="Times New Roman" pitchFamily="18" charset="0"/>
              </a:rPr>
              <a:t>     </a:t>
            </a:r>
            <a:r>
              <a:rPr lang="en-US" altLang="ko-KR" b="1" i="1" dirty="0" err="1" smtClean="0">
                <a:latin typeface="Times New Roman" pitchFamily="18" charset="0"/>
              </a:rPr>
              <a:t>B</a:t>
            </a:r>
            <a:r>
              <a:rPr lang="en-US" altLang="ko-KR" baseline="-25000" dirty="0" err="1" smtClean="0">
                <a:latin typeface="Times New Roman" pitchFamily="18" charset="0"/>
              </a:rPr>
              <a:t>min</a:t>
            </a:r>
            <a:r>
              <a:rPr lang="en-US" altLang="ko-KR" dirty="0" smtClean="0">
                <a:latin typeface="Times New Roman" pitchFamily="18" charset="0"/>
              </a:rPr>
              <a:t> = </a:t>
            </a:r>
            <a:r>
              <a:rPr lang="en-US" altLang="ko-KR" b="1" i="1" dirty="0" err="1" smtClean="0">
                <a:latin typeface="Times New Roman"/>
                <a:cs typeface="Times New Roman"/>
              </a:rPr>
              <a:t>n</a:t>
            </a:r>
            <a:r>
              <a:rPr lang="en-US" altLang="ko-KR" b="1" i="1" baseline="-25000" dirty="0" err="1" smtClean="0">
                <a:latin typeface="Times New Roman"/>
                <a:cs typeface="Times New Roman"/>
              </a:rPr>
              <a:t>b</a:t>
            </a:r>
            <a:r>
              <a:rPr lang="en-US" altLang="ko-KR" baseline="-25000" dirty="0" smtClean="0">
                <a:latin typeface="Times New Roman"/>
                <a:cs typeface="Times New Roman"/>
              </a:rPr>
              <a:t> </a:t>
            </a:r>
            <a:r>
              <a:rPr lang="en-US" altLang="ko-KR" dirty="0">
                <a:latin typeface="Times New Roman"/>
                <a:cs typeface="Times New Roman"/>
              </a:rPr>
              <a:t>× </a:t>
            </a:r>
            <a:r>
              <a:rPr lang="en-US" altLang="ko-KR" b="1" i="1" dirty="0" err="1" smtClean="0">
                <a:latin typeface="Times New Roman" pitchFamily="18" charset="0"/>
              </a:rPr>
              <a:t>B</a:t>
            </a:r>
            <a:r>
              <a:rPr lang="en-US" altLang="ko-KR" baseline="-25000" dirty="0" err="1" smtClean="0">
                <a:latin typeface="Times New Roman" pitchFamily="18" charset="0"/>
              </a:rPr>
              <a:t>analog</a:t>
            </a:r>
            <a:endParaRPr lang="en-US" altLang="ko-KR" baseline="-25000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Ex. 4.15</a:t>
            </a:r>
          </a:p>
          <a:p>
            <a:pPr marL="0" indent="0" algn="just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Maximum Data Rate of a Channel</a:t>
            </a: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b="1" i="1" dirty="0" err="1" smtClean="0">
                <a:latin typeface="Times New Roman" pitchFamily="18" charset="0"/>
              </a:rPr>
              <a:t>N</a:t>
            </a:r>
            <a:r>
              <a:rPr lang="en-US" altLang="ko-KR" baseline="-25000" dirty="0" err="1" smtClean="0">
                <a:latin typeface="Times New Roman" pitchFamily="18" charset="0"/>
              </a:rPr>
              <a:t>max</a:t>
            </a:r>
            <a:r>
              <a:rPr lang="en-US" altLang="ko-KR" dirty="0" smtClean="0">
                <a:latin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</a:rPr>
              <a:t>2 </a:t>
            </a:r>
            <a:r>
              <a:rPr lang="en-US" altLang="ko-KR" dirty="0">
                <a:latin typeface="Times New Roman"/>
                <a:cs typeface="Times New Roman"/>
              </a:rPr>
              <a:t>× </a:t>
            </a:r>
            <a:r>
              <a:rPr lang="en-US" altLang="ko-KR" b="1" i="1" dirty="0" smtClean="0">
                <a:latin typeface="Times New Roman"/>
                <a:cs typeface="Times New Roman"/>
              </a:rPr>
              <a:t>B</a:t>
            </a:r>
            <a:r>
              <a:rPr lang="en-US" altLang="ko-KR" dirty="0" smtClean="0">
                <a:latin typeface="Times New Roman"/>
                <a:cs typeface="Times New Roman"/>
              </a:rPr>
              <a:t>× log</a:t>
            </a:r>
            <a:r>
              <a:rPr lang="en-US" altLang="ko-KR" baseline="-25000" dirty="0" smtClean="0">
                <a:latin typeface="Times New Roman"/>
                <a:cs typeface="Times New Roman"/>
              </a:rPr>
              <a:t>2</a:t>
            </a:r>
            <a:r>
              <a:rPr lang="en-US" altLang="ko-KR" b="1" i="1" dirty="0" smtClean="0">
                <a:latin typeface="Times New Roman"/>
                <a:cs typeface="Times New Roman"/>
              </a:rPr>
              <a:t>L  </a:t>
            </a:r>
            <a:r>
              <a:rPr lang="en-US" altLang="ko-KR" dirty="0" smtClean="0">
                <a:latin typeface="Times New Roman"/>
                <a:cs typeface="Times New Roman"/>
              </a:rPr>
              <a:t> bps</a:t>
            </a: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Minimum required Bandwidth</a:t>
            </a: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b="1" i="1" dirty="0" err="1" smtClean="0">
                <a:latin typeface="Times New Roman" pitchFamily="18" charset="0"/>
              </a:rPr>
              <a:t>B</a:t>
            </a:r>
            <a:r>
              <a:rPr lang="en-US" altLang="ko-KR" baseline="-25000" dirty="0" err="1" smtClean="0">
                <a:latin typeface="Times New Roman" pitchFamily="18" charset="0"/>
              </a:rPr>
              <a:t>min</a:t>
            </a:r>
            <a:r>
              <a:rPr lang="en-US" altLang="ko-KR" dirty="0" smtClean="0">
                <a:latin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</a:rPr>
              <a:t>= </a:t>
            </a:r>
            <a:r>
              <a:rPr lang="en-US" altLang="ko-KR" b="1" i="1" dirty="0" smtClean="0">
                <a:latin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</a:rPr>
              <a:t> / (2 </a:t>
            </a:r>
            <a:r>
              <a:rPr lang="en-US" altLang="ko-KR" dirty="0">
                <a:latin typeface="Times New Roman"/>
                <a:cs typeface="Times New Roman"/>
              </a:rPr>
              <a:t>× </a:t>
            </a:r>
            <a:r>
              <a:rPr lang="en-US" altLang="ko-KR" dirty="0" smtClean="0">
                <a:latin typeface="Times New Roman"/>
                <a:cs typeface="Times New Roman"/>
              </a:rPr>
              <a:t>log</a:t>
            </a:r>
            <a:r>
              <a:rPr lang="en-US" altLang="ko-KR" baseline="-25000" dirty="0" smtClean="0">
                <a:latin typeface="Times New Roman"/>
                <a:cs typeface="Times New Roman"/>
              </a:rPr>
              <a:t>2</a:t>
            </a:r>
            <a:r>
              <a:rPr lang="en-US" altLang="ko-KR" b="1" i="1" dirty="0" smtClean="0">
                <a:latin typeface="Times New Roman"/>
                <a:cs typeface="Times New Roman"/>
              </a:rPr>
              <a:t>L)  </a:t>
            </a:r>
            <a:r>
              <a:rPr lang="en-US" altLang="ko-KR" dirty="0" smtClean="0">
                <a:latin typeface="Times New Roman"/>
                <a:cs typeface="Times New Roman"/>
              </a:rPr>
              <a:t> Hz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0326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97797" y="474300"/>
            <a:ext cx="8429625" cy="6093648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4.2.2 Delta Modulation (DM)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</a:rPr>
              <a:t>Transmit information about the changes between samples instead of sending the sample values themselves.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</a:t>
            </a:r>
            <a:r>
              <a:rPr lang="en-US" altLang="ko-KR" sz="20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4.28</a:t>
            </a:r>
            <a:r>
              <a:rPr lang="en-US" altLang="ko-KR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The process of delta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modulation</a:t>
            </a:r>
          </a:p>
          <a:p>
            <a:pPr marL="0" indent="0" algn="ctr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361881"/>
            <a:ext cx="8750299" cy="2095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88016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4.2  Analog-to-Digital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407322" y="388575"/>
            <a:ext cx="8429625" cy="6093648"/>
          </a:xfrm>
        </p:spPr>
        <p:txBody>
          <a:bodyPr/>
          <a:lstStyle/>
          <a:p>
            <a:pPr marL="0" indent="0" algn="ctr">
              <a:buNone/>
            </a:pPr>
            <a:endParaRPr lang="en-US" altLang="ko-K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</a:t>
            </a:r>
            <a:r>
              <a:rPr lang="en-US" altLang="ko-KR" sz="2000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2000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4.29</a:t>
            </a:r>
            <a:r>
              <a:rPr lang="en-US" altLang="ko-KR" sz="2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sz="2000" dirty="0" smtClean="0">
                <a:latin typeface="+mj-lt"/>
              </a:rPr>
              <a:t>Delta </a:t>
            </a:r>
            <a:r>
              <a:rPr lang="en-US" altLang="ko-KR" sz="2000" dirty="0">
                <a:latin typeface="+mj-lt"/>
              </a:rPr>
              <a:t>modulation </a:t>
            </a:r>
            <a:r>
              <a:rPr lang="en-US" altLang="ko-KR" sz="2000" dirty="0" smtClean="0">
                <a:latin typeface="+mj-lt"/>
              </a:rPr>
              <a:t>components</a:t>
            </a:r>
          </a:p>
          <a:p>
            <a:pPr marL="0" indent="0" algn="ctr">
              <a:buNone/>
            </a:pPr>
            <a:endParaRPr lang="en-US" altLang="ko-KR" sz="2000" dirty="0" smtClean="0">
              <a:latin typeface="+mj-lt"/>
            </a:endParaRPr>
          </a:p>
          <a:p>
            <a:pPr marL="0" indent="0" algn="ctr">
              <a:buNone/>
            </a:pPr>
            <a:endParaRPr lang="en-US" altLang="ko-KR" sz="2000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sz="2000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sz="2000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4.30</a:t>
            </a:r>
            <a:r>
              <a:rPr lang="en-US" altLang="ko-KR" sz="2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altLang="ko-KR" sz="2000" dirty="0">
                <a:latin typeface="+mj-lt"/>
              </a:rPr>
              <a:t>Delta </a:t>
            </a:r>
            <a:r>
              <a:rPr lang="en-US" altLang="ko-KR" sz="2000" dirty="0" smtClean="0">
                <a:latin typeface="+mj-lt"/>
              </a:rPr>
              <a:t>demodulation </a:t>
            </a:r>
            <a:r>
              <a:rPr lang="en-US" altLang="ko-KR" sz="2000" dirty="0">
                <a:latin typeface="+mj-lt"/>
              </a:rPr>
              <a:t>components</a:t>
            </a:r>
          </a:p>
          <a:p>
            <a:pPr marL="0" indent="0" algn="ctr">
              <a:buNone/>
            </a:pPr>
            <a:endParaRPr lang="en-US" altLang="ko-KR" sz="2000" dirty="0"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63" y="752475"/>
            <a:ext cx="6920412" cy="2087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3846299"/>
            <a:ext cx="6582026" cy="2298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47354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4.3  Transmission Modes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97797" y="474300"/>
            <a:ext cx="8429625" cy="6093648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4.3 Transmission Modes</a:t>
            </a: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8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8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endParaRPr lang="en-US" altLang="ko-KR" sz="28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4.31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Data Transmission Modes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2" y="2090258"/>
            <a:ext cx="7947458" cy="2862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82358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4.3  Transmission Modes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559722" y="549324"/>
            <a:ext cx="8429625" cy="6093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4.3.1 Parallel Transmission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FontTx/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FontTx/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FontTx/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4.32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400" i="0" dirty="0">
                <a:latin typeface="Times New Roman" pitchFamily="18" charset="0"/>
                <a:cs typeface="Times New Roman" pitchFamily="18" charset="0"/>
              </a:rPr>
              <a:t>Parallel Transmission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362200"/>
            <a:ext cx="686441" cy="2687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854" y="2333469"/>
            <a:ext cx="884746" cy="2687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539" y="1676400"/>
            <a:ext cx="4461865" cy="3578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61699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4.3  Transmission Modes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559722" y="549324"/>
            <a:ext cx="8429625" cy="6093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4.3.3 Asynchronous Transmission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FontTx/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FontTx/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FontTx/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4.34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400" i="0" dirty="0" smtClean="0">
                <a:latin typeface="Times New Roman" pitchFamily="18" charset="0"/>
                <a:cs typeface="Times New Roman" pitchFamily="18" charset="0"/>
              </a:rPr>
              <a:t>Asynchronous Transmission</a:t>
            </a:r>
            <a:endParaRPr lang="en-US" altLang="ko-KR" sz="2400" i="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24807"/>
            <a:ext cx="701447" cy="3113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508" y="2524807"/>
            <a:ext cx="869492" cy="3113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792" y="1531419"/>
            <a:ext cx="2942797" cy="1287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382" y="4141380"/>
            <a:ext cx="6286018" cy="1421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55878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4.3  Transmission Modes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559722" y="549324"/>
            <a:ext cx="8429625" cy="6093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Microsoft Sans Serif" pitchFamily="34" charset="0"/>
                <a:ea typeface="+mn-ea"/>
                <a:cs typeface="Microsoft Sans Serif" pitchFamily="34" charset="0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4.3.4 Synchronous Transmission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FontTx/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FontTx/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FontTx/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 algn="ctr">
              <a:lnSpc>
                <a:spcPct val="150000"/>
              </a:lnSpc>
              <a:buFontTx/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4.35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400" i="0" dirty="0" smtClean="0">
                <a:latin typeface="Times New Roman" pitchFamily="18" charset="0"/>
                <a:cs typeface="Times New Roman" pitchFamily="18" charset="0"/>
              </a:rPr>
              <a:t>Synchronous Transmission</a:t>
            </a:r>
            <a:endParaRPr lang="en-US" altLang="ko-KR" sz="2400" i="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61" y="1905000"/>
            <a:ext cx="770339" cy="3083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905000"/>
            <a:ext cx="884746" cy="3083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326" y="2438400"/>
            <a:ext cx="6930001" cy="123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86534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713976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Homework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 Read textbook pp. </a:t>
            </a:r>
            <a:r>
              <a:rPr lang="en-US" altLang="ko-KR" dirty="0" smtClean="0">
                <a:latin typeface="Times New Roman" pitchFamily="18" charset="0"/>
              </a:rPr>
              <a:t>135-150</a:t>
            </a:r>
            <a:endParaRPr lang="en-US" altLang="ko-KR" dirty="0"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</a:rPr>
              <a:t>Next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Chapter </a:t>
            </a:r>
            <a:r>
              <a:rPr lang="en-US" altLang="ko-KR" dirty="0" smtClean="0">
                <a:latin typeface="Times New Roman" pitchFamily="18" charset="0"/>
              </a:rPr>
              <a:t>5. Analog Transmission</a:t>
            </a:r>
            <a:endParaRPr lang="en-US" altLang="ko-KR" dirty="0">
              <a:latin typeface="Times New Roman" pitchFamily="18" charset="0"/>
            </a:endParaRPr>
          </a:p>
          <a:p>
            <a:pPr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>
              <a:defRPr/>
            </a:pPr>
            <a:endParaRPr lang="en-US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05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14829</TotalTime>
  <Words>1099</Words>
  <Application>Microsoft Office PowerPoint</Application>
  <PresentationFormat>화면 슬라이드 쇼(4:3)</PresentationFormat>
  <Paragraphs>551</Paragraphs>
  <Slides>45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46" baseType="lpstr">
      <vt:lpstr>기본 디자인</vt:lpstr>
      <vt:lpstr>Chapter  4  Digital Transmission</vt:lpstr>
      <vt:lpstr>Ch. 4  Outline</vt:lpstr>
      <vt:lpstr>Ch. 4 Objective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4.1  Digital-to-Digital Conversion</vt:lpstr>
      <vt:lpstr>4.2  Analog-to-Digital Conversion</vt:lpstr>
      <vt:lpstr>4.2  Analog-to-Digital Conversion</vt:lpstr>
      <vt:lpstr>4.2  Analog-to-Digital Conversion</vt:lpstr>
      <vt:lpstr>4.2  Analog-to-Digital Conversion</vt:lpstr>
      <vt:lpstr>4.2  Analog-to-Digital Conversion</vt:lpstr>
      <vt:lpstr>4.2  Analog-to-Digital Conversion</vt:lpstr>
      <vt:lpstr>4.2  Analog-to-Digital Conversion</vt:lpstr>
      <vt:lpstr>4.2  Analog-to-Digital Conversion</vt:lpstr>
      <vt:lpstr>4.2 Analog-to-Digital Conversion</vt:lpstr>
      <vt:lpstr>4.2  Analog-to-Digital Conversion</vt:lpstr>
      <vt:lpstr>4.2  Analog-to-Digital Conversion</vt:lpstr>
      <vt:lpstr>4.2  Analog-to-Digital Conversion</vt:lpstr>
      <vt:lpstr>4.2  Analog-to-Digital Conversion</vt:lpstr>
      <vt:lpstr>4.3  Transmission Modes</vt:lpstr>
      <vt:lpstr>4.3  Transmission Modes</vt:lpstr>
      <vt:lpstr>4.3  Transmission Modes</vt:lpstr>
      <vt:lpstr>4.3  Transmission Modes</vt:lpstr>
      <vt:lpstr>Homework</vt:lpstr>
    </vt:vector>
  </TitlesOfParts>
  <Company>UC Berkeley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김정구</cp:lastModifiedBy>
  <cp:revision>1038</cp:revision>
  <cp:lastPrinted>1998-01-20T18:41:17Z</cp:lastPrinted>
  <dcterms:created xsi:type="dcterms:W3CDTF">1997-04-13T14:24:48Z</dcterms:created>
  <dcterms:modified xsi:type="dcterms:W3CDTF">2013-04-02T09:20:07Z</dcterms:modified>
</cp:coreProperties>
</file>