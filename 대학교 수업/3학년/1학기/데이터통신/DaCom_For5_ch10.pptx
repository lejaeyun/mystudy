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37"/>
  </p:notesMasterIdLst>
  <p:handoutMasterIdLst>
    <p:handoutMasterId r:id="rId38"/>
  </p:handoutMasterIdLst>
  <p:sldIdLst>
    <p:sldId id="256" r:id="rId2"/>
    <p:sldId id="429" r:id="rId3"/>
    <p:sldId id="448" r:id="rId4"/>
    <p:sldId id="565" r:id="rId5"/>
    <p:sldId id="449" r:id="rId6"/>
    <p:sldId id="551" r:id="rId7"/>
    <p:sldId id="554" r:id="rId8"/>
    <p:sldId id="566" r:id="rId9"/>
    <p:sldId id="568" r:id="rId10"/>
    <p:sldId id="569" r:id="rId11"/>
    <p:sldId id="570" r:id="rId12"/>
    <p:sldId id="571" r:id="rId13"/>
    <p:sldId id="572" r:id="rId14"/>
    <p:sldId id="573" r:id="rId15"/>
    <p:sldId id="574" r:id="rId16"/>
    <p:sldId id="575" r:id="rId17"/>
    <p:sldId id="576" r:id="rId18"/>
    <p:sldId id="577" r:id="rId19"/>
    <p:sldId id="578" r:id="rId20"/>
    <p:sldId id="555" r:id="rId21"/>
    <p:sldId id="579" r:id="rId22"/>
    <p:sldId id="580" r:id="rId23"/>
    <p:sldId id="581" r:id="rId24"/>
    <p:sldId id="582" r:id="rId25"/>
    <p:sldId id="584" r:id="rId26"/>
    <p:sldId id="585" r:id="rId27"/>
    <p:sldId id="583" r:id="rId28"/>
    <p:sldId id="586" r:id="rId29"/>
    <p:sldId id="587" r:id="rId30"/>
    <p:sldId id="588" r:id="rId31"/>
    <p:sldId id="589" r:id="rId32"/>
    <p:sldId id="590" r:id="rId33"/>
    <p:sldId id="591" r:id="rId34"/>
    <p:sldId id="592" r:id="rId35"/>
    <p:sldId id="550" r:id="rId36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018" autoAdjust="0"/>
    <p:restoredTop sz="94591" autoAdjust="0"/>
  </p:normalViewPr>
  <p:slideViewPr>
    <p:cSldViewPr snapToGrid="0">
      <p:cViewPr>
        <p:scale>
          <a:sx n="100" d="100"/>
          <a:sy n="100" d="100"/>
        </p:scale>
        <p:origin x="-72" y="-96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dirty="0" smtClean="0">
                <a:latin typeface="Times New Roman" pitchFamily="18" charset="0"/>
              </a:rPr>
              <a:t>EE141</a:t>
            </a:r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 dirty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 dirty="0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 dirty="0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dirty="0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 dirty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 dirty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dirty="0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dirty="0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515143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dirty="0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357188" y="2743201"/>
            <a:ext cx="4630737" cy="2333624"/>
          </a:xfrm>
        </p:spPr>
        <p:txBody>
          <a:bodyPr/>
          <a:lstStyle/>
          <a:p>
            <a:pPr algn="ctr" eaLnBrk="1" hangingPunct="1"/>
            <a:r>
              <a:rPr lang="en-US" altLang="ko-KR" sz="4000" i="1" dirty="0" smtClean="0">
                <a:latin typeface="+mj-lt"/>
              </a:rPr>
              <a:t>Chapter  10</a:t>
            </a:r>
            <a:r>
              <a:rPr lang="en-US" altLang="ko-KR" sz="4000" b="0" dirty="0" smtClean="0"/>
              <a:t> </a:t>
            </a:r>
            <a:br>
              <a:rPr lang="en-US" altLang="ko-KR" sz="4000" b="0" dirty="0" smtClean="0"/>
            </a:br>
            <a:r>
              <a:rPr lang="en-US" altLang="ko-KR" sz="4000" b="0" dirty="0" smtClean="0">
                <a:solidFill>
                  <a:srgbClr val="C00000"/>
                </a:solidFill>
                <a:latin typeface="+mj-lt"/>
              </a:rPr>
              <a:t/>
            </a:r>
            <a:br>
              <a:rPr lang="en-US" altLang="ko-KR" sz="4000" b="0" dirty="0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4000" i="1" dirty="0" smtClean="0">
                <a:solidFill>
                  <a:srgbClr val="C00000"/>
                </a:solidFill>
                <a:latin typeface="+mj-lt"/>
              </a:rPr>
              <a:t>Error Detection </a:t>
            </a:r>
            <a:br>
              <a:rPr lang="en-US" altLang="ko-KR" sz="4000" i="1" dirty="0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4000" i="1" dirty="0" smtClean="0">
                <a:solidFill>
                  <a:srgbClr val="C00000"/>
                </a:solidFill>
                <a:latin typeface="+mj-lt"/>
              </a:rPr>
              <a:t>and Correction</a:t>
            </a:r>
            <a:endParaRPr lang="en-US" altLang="ko-KR" sz="4000" i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Ch. 10  Outline</a:t>
            </a:r>
            <a:endPara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altLang="ko-KR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3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10.1   </a:t>
            </a:r>
            <a:r>
              <a:rPr lang="en-US" altLang="ko-KR" sz="2800" b="1" i="1" dirty="0" smtClean="0">
                <a:latin typeface="Times"/>
              </a:rPr>
              <a:t>Introduction</a:t>
            </a:r>
            <a:endParaRPr lang="en-US" altLang="ko-KR" sz="2800" b="1" i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dirty="0">
                <a:solidFill>
                  <a:srgbClr val="C00000"/>
                </a:solidFill>
                <a:latin typeface="Times"/>
              </a:rPr>
              <a:t>10.2  </a:t>
            </a:r>
            <a:r>
              <a:rPr lang="en-US" altLang="ko-KR" sz="2800" b="1" i="1" dirty="0">
                <a:latin typeface="Times"/>
              </a:rPr>
              <a:t>Block Coding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10.3  </a:t>
            </a:r>
            <a:r>
              <a:rPr lang="en-US" altLang="ko-KR" sz="2800" b="1" i="1" dirty="0" smtClean="0">
                <a:latin typeface="Times"/>
              </a:rPr>
              <a:t>Cyclic Codes</a:t>
            </a:r>
            <a:endParaRPr lang="en-US" altLang="ko-KR" sz="2800" b="1" i="1" dirty="0"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10.4  </a:t>
            </a:r>
            <a:r>
              <a:rPr lang="en-US" altLang="ko-KR" sz="2800" b="1" i="1" dirty="0" smtClean="0">
                <a:latin typeface="Times"/>
              </a:rPr>
              <a:t>Checksum</a:t>
            </a:r>
            <a:endParaRPr lang="en-US" altLang="ko-KR" sz="2800" b="1" i="1" dirty="0"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10.5  </a:t>
            </a:r>
            <a:r>
              <a:rPr lang="en-US" altLang="ko-KR" sz="2800" b="1" i="1" dirty="0" smtClean="0">
                <a:latin typeface="Times"/>
              </a:rPr>
              <a:t>Forward Error Correction</a:t>
            </a:r>
            <a:endParaRPr lang="en-US" altLang="ko-KR" sz="2800" b="1" i="1" dirty="0"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 smtClean="0">
              <a:solidFill>
                <a:srgbClr val="C00000"/>
              </a:solidFill>
              <a:latin typeface="Time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latin typeface="Times" pitchFamily="18" charset="0"/>
              </a:rPr>
              <a:t>Ch. 10 Objective</a:t>
            </a:r>
            <a:endParaRPr lang="en-US" altLang="ko-KR" sz="2000" dirty="0">
              <a:latin typeface="Times" pitchFamily="18" charset="0"/>
            </a:endParaRPr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>
          <a:xfrm>
            <a:off x="344488" y="685799"/>
            <a:ext cx="8429625" cy="590232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</a:pPr>
            <a:r>
              <a:rPr lang="en-US" altLang="ko-K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The first section introduces </a:t>
            </a:r>
            <a:r>
              <a:rPr lang="en-US" altLang="ko-KR" b="1" i="1" dirty="0">
                <a:latin typeface="Times New Roman" pitchFamily="18" charset="0"/>
              </a:rPr>
              <a:t>types of errors</a:t>
            </a:r>
            <a:r>
              <a:rPr lang="en-US" altLang="ko-KR" dirty="0">
                <a:latin typeface="Times New Roman" pitchFamily="18" charset="0"/>
              </a:rPr>
              <a:t>, the </a:t>
            </a:r>
            <a:r>
              <a:rPr lang="en-US" altLang="ko-KR" b="1" i="1" dirty="0">
                <a:latin typeface="Times New Roman" pitchFamily="18" charset="0"/>
              </a:rPr>
              <a:t>concept of redundancy</a:t>
            </a:r>
            <a:r>
              <a:rPr lang="en-US" altLang="ko-KR" dirty="0">
                <a:latin typeface="Times New Roman" pitchFamily="18" charset="0"/>
              </a:rPr>
              <a:t>, and distinguishes between error </a:t>
            </a:r>
            <a:r>
              <a:rPr lang="en-US" altLang="ko-KR" b="1" i="1" dirty="0">
                <a:latin typeface="Times New Roman" pitchFamily="18" charset="0"/>
              </a:rPr>
              <a:t>detection and </a:t>
            </a:r>
            <a:r>
              <a:rPr lang="en-US" altLang="ko-KR" b="1" i="1" dirty="0" smtClean="0">
                <a:latin typeface="Times New Roman" pitchFamily="18" charset="0"/>
              </a:rPr>
              <a:t>correction.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The second section discusses </a:t>
            </a:r>
            <a:r>
              <a:rPr lang="en-US" altLang="ko-KR" b="1" i="1" dirty="0">
                <a:latin typeface="Times New Roman" pitchFamily="18" charset="0"/>
              </a:rPr>
              <a:t>block coding</a:t>
            </a:r>
            <a:r>
              <a:rPr lang="en-US" altLang="ko-KR" dirty="0">
                <a:latin typeface="Times New Roman" pitchFamily="18" charset="0"/>
              </a:rPr>
              <a:t>. It shows how error can be detected using block coding and also introduces the concept of </a:t>
            </a:r>
            <a:r>
              <a:rPr lang="en-US" altLang="ko-KR" b="1" i="1" dirty="0">
                <a:latin typeface="Times New Roman" pitchFamily="18" charset="0"/>
              </a:rPr>
              <a:t>Hamming distance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The third section discusses </a:t>
            </a:r>
            <a:r>
              <a:rPr lang="en-US" altLang="ko-KR" b="1" i="1" dirty="0">
                <a:latin typeface="Times New Roman" pitchFamily="18" charset="0"/>
              </a:rPr>
              <a:t>cyclic codes</a:t>
            </a:r>
            <a:r>
              <a:rPr lang="en-US" altLang="ko-KR" dirty="0">
                <a:latin typeface="Times New Roman" pitchFamily="18" charset="0"/>
              </a:rPr>
              <a:t>. It discusses a subset of cyclic code, </a:t>
            </a:r>
            <a:r>
              <a:rPr lang="en-US" altLang="ko-KR" b="1" i="1" dirty="0">
                <a:latin typeface="Times New Roman" pitchFamily="18" charset="0"/>
              </a:rPr>
              <a:t>CRC</a:t>
            </a:r>
            <a:r>
              <a:rPr lang="en-US" altLang="ko-KR" dirty="0">
                <a:latin typeface="Times New Roman" pitchFamily="18" charset="0"/>
              </a:rPr>
              <a:t>, that is very common in the data-link layer. The section shows how CRC can be easily implemented in hardware and represented by polynomials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latin typeface="Times" pitchFamily="18" charset="0"/>
              </a:rPr>
              <a:t>Ch. 10 Objective</a:t>
            </a:r>
            <a:endParaRPr lang="en-US" altLang="ko-KR" sz="2000" dirty="0">
              <a:latin typeface="Times" pitchFamily="18" charset="0"/>
            </a:endParaRPr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>
          <a:xfrm>
            <a:off x="344488" y="685799"/>
            <a:ext cx="8429625" cy="590232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</a:pPr>
            <a:r>
              <a:rPr lang="en-US" altLang="ko-K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Objective (continued)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The fourth section discusses </a:t>
            </a:r>
            <a:r>
              <a:rPr lang="en-US" altLang="ko-KR" b="1" i="1" dirty="0">
                <a:latin typeface="Times New Roman" pitchFamily="18" charset="0"/>
              </a:rPr>
              <a:t>checksum</a:t>
            </a:r>
            <a:r>
              <a:rPr lang="en-US" altLang="ko-KR" dirty="0">
                <a:latin typeface="Times New Roman" pitchFamily="18" charset="0"/>
              </a:rPr>
              <a:t>s. It shows how a checksum is calculated for a set of data words. It also gives some other approaches to traditional checksum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The fifth section discusses </a:t>
            </a:r>
            <a:r>
              <a:rPr lang="en-US" altLang="ko-KR" b="1" i="1" dirty="0">
                <a:latin typeface="Times New Roman" pitchFamily="18" charset="0"/>
              </a:rPr>
              <a:t>forward error correction</a:t>
            </a:r>
            <a:r>
              <a:rPr lang="en-US" altLang="ko-KR" dirty="0">
                <a:latin typeface="Times New Roman" pitchFamily="18" charset="0"/>
              </a:rPr>
              <a:t>. It shows how Hamming distance can also be used for this purpose. The section also describes cheaper methods to achieve the same goal, such as </a:t>
            </a:r>
            <a:r>
              <a:rPr lang="en-US" altLang="ko-KR" dirty="0" err="1">
                <a:latin typeface="Times New Roman" pitchFamily="18" charset="0"/>
              </a:rPr>
              <a:t>XORing</a:t>
            </a:r>
            <a:r>
              <a:rPr lang="en-US" altLang="ko-KR" dirty="0">
                <a:latin typeface="Times New Roman" pitchFamily="18" charset="0"/>
              </a:rPr>
              <a:t> of packets, interleaving chunks, or compounding high and low resolutions packets.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dirty="0" smtClean="0">
              <a:solidFill>
                <a:srgbClr val="002060"/>
              </a:solidFill>
              <a:latin typeface="Times New Roman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7761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10.1  Introduction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74675"/>
            <a:ext cx="8429625" cy="6007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10.1 Introduction 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10.1.1 Types of error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10.1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+mj-lt"/>
              </a:rPr>
              <a:t>Single-bit and burst error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99" y="2875660"/>
            <a:ext cx="3051175" cy="1345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216" y="2383723"/>
            <a:ext cx="4688034" cy="1837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10.1  Introduction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447675"/>
            <a:ext cx="8429625" cy="6191249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10.1.2 Redundancy</a:t>
            </a:r>
          </a:p>
          <a:p>
            <a:pPr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is </a:t>
            </a:r>
            <a:r>
              <a:rPr lang="en-US" altLang="ko-KR" dirty="0">
                <a:latin typeface="Times New Roman" pitchFamily="18" charset="0"/>
              </a:rPr>
              <a:t>some </a:t>
            </a:r>
            <a:r>
              <a:rPr lang="en-US" altLang="ko-KR" b="1" i="1" dirty="0">
                <a:latin typeface="Times New Roman" pitchFamily="18" charset="0"/>
              </a:rPr>
              <a:t>extra bits </a:t>
            </a:r>
            <a:r>
              <a:rPr lang="en-US" altLang="ko-KR" dirty="0" smtClean="0">
                <a:latin typeface="Times New Roman" pitchFamily="18" charset="0"/>
              </a:rPr>
              <a:t>inserted in original data to </a:t>
            </a:r>
            <a:r>
              <a:rPr lang="en-US" altLang="ko-KR" dirty="0">
                <a:latin typeface="Times New Roman" pitchFamily="18" charset="0"/>
              </a:rPr>
              <a:t>be able to detect or correct </a:t>
            </a:r>
            <a:r>
              <a:rPr lang="en-US" altLang="ko-KR" dirty="0" smtClean="0">
                <a:latin typeface="Times New Roman" pitchFamily="18" charset="0"/>
              </a:rPr>
              <a:t>errors.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10.1.3 Detection vs. Correction</a:t>
            </a: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In error detection, we are </a:t>
            </a:r>
            <a:r>
              <a:rPr lang="en-US" altLang="ko-KR" b="1" i="1" dirty="0">
                <a:latin typeface="Times New Roman" pitchFamily="18" charset="0"/>
              </a:rPr>
              <a:t>only looking </a:t>
            </a:r>
            <a:r>
              <a:rPr lang="en-US" altLang="ko-KR" dirty="0">
                <a:latin typeface="Times New Roman" pitchFamily="18" charset="0"/>
              </a:rPr>
              <a:t>to see if any </a:t>
            </a:r>
            <a:r>
              <a:rPr lang="en-US" altLang="ko-KR" b="1" i="1" dirty="0">
                <a:latin typeface="Times New Roman" pitchFamily="18" charset="0"/>
              </a:rPr>
              <a:t>error</a:t>
            </a:r>
            <a:r>
              <a:rPr lang="en-US" altLang="ko-KR" dirty="0">
                <a:latin typeface="Times New Roman" pitchFamily="18" charset="0"/>
              </a:rPr>
              <a:t> has occurred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In error correction, we need to know the exact number of bits that are corrupted and, more importantly, their location in the </a:t>
            </a:r>
            <a:r>
              <a:rPr lang="en-US" altLang="ko-KR" dirty="0" smtClean="0">
                <a:latin typeface="Times New Roman" pitchFamily="18" charset="0"/>
              </a:rPr>
              <a:t>message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10.1.4 Coding</a:t>
            </a: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is </a:t>
            </a:r>
            <a:r>
              <a:rPr lang="en-US" altLang="ko-KR" dirty="0" smtClean="0">
                <a:latin typeface="Times New Roman" pitchFamily="18" charset="0"/>
              </a:rPr>
              <a:t>the method to insert redundancy into original data.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Block coding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Convolutional coding</a:t>
            </a:r>
          </a:p>
          <a:p>
            <a:pPr>
              <a:spcAft>
                <a:spcPts val="600"/>
              </a:spcAft>
            </a:pPr>
            <a:endParaRPr lang="en-US" altLang="ko-KR" dirty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8791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10.2  Block Coding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10.2 Block Coding</a:t>
            </a:r>
          </a:p>
          <a:p>
            <a:pPr algn="just">
              <a:defRPr/>
            </a:pP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-bit  Codeword = 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-bit dataword + </a:t>
            </a:r>
            <a:r>
              <a:rPr lang="en-US" altLang="ko-KR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-bit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redundant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10.2.1 Error Detection</a:t>
            </a: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If the following two conditions are met, the receiver can detect a change in the original codeword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 lvl="1">
              <a:defRPr/>
            </a:pPr>
            <a:r>
              <a:rPr lang="en-US" altLang="ko-KR" dirty="0">
                <a:latin typeface="Times New Roman" pitchFamily="18" charset="0"/>
              </a:rPr>
              <a:t>The receiver has (or can find) a list of </a:t>
            </a:r>
            <a:r>
              <a:rPr lang="en-US" altLang="ko-KR" dirty="0" smtClean="0">
                <a:latin typeface="Times New Roman" pitchFamily="18" charset="0"/>
              </a:rPr>
              <a:t>valid codewords.</a:t>
            </a:r>
          </a:p>
          <a:p>
            <a:pPr lvl="1">
              <a:defRPr/>
            </a:pPr>
            <a:r>
              <a:rPr lang="en-US" altLang="ko-KR" dirty="0">
                <a:latin typeface="Times New Roman" pitchFamily="18" charset="0"/>
              </a:rPr>
              <a:t>The original codeword has changed to an </a:t>
            </a:r>
            <a:r>
              <a:rPr lang="en-US" altLang="ko-KR" dirty="0" smtClean="0">
                <a:latin typeface="Times New Roman" pitchFamily="18" charset="0"/>
              </a:rPr>
              <a:t>invalid  one.</a:t>
            </a:r>
            <a:endParaRPr lang="en-US" altLang="ko-KR" dirty="0">
              <a:latin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10.2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dirty="0">
                <a:latin typeface="+mj-lt"/>
              </a:rPr>
              <a:t>Process of error detection in block </a:t>
            </a:r>
            <a:r>
              <a:rPr lang="en-US" altLang="ko-KR" dirty="0" smtClean="0">
                <a:latin typeface="+mj-lt"/>
              </a:rPr>
              <a:t>coding</a:t>
            </a:r>
            <a:endParaRPr lang="en-US" altLang="ko-KR" dirty="0">
              <a:latin typeface="+mj-lt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362" y="3848100"/>
            <a:ext cx="2002863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737" y="3848100"/>
            <a:ext cx="2002863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049" y="5285977"/>
            <a:ext cx="821840" cy="36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744" y="5691305"/>
            <a:ext cx="3060182" cy="109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27497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10.2  Block Coding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387350" y="552451"/>
                <a:ext cx="8429625" cy="5876924"/>
              </a:xfrm>
            </p:spPr>
            <p:txBody>
              <a:bodyPr/>
              <a:lstStyle/>
              <a:p>
                <a:pPr marL="342900" lvl="2" indent="-342900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ko-KR" sz="2400" b="1" i="1" dirty="0" smtClean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Ex. 10.1</a:t>
                </a:r>
              </a:p>
              <a:p>
                <a:pPr marL="342900" lvl="2" indent="-342900">
                  <a:lnSpc>
                    <a:spcPct val="150000"/>
                  </a:lnSpc>
                  <a:buNone/>
                  <a:defRPr/>
                </a:pPr>
                <a:r>
                  <a:rPr lang="en-US" altLang="ko-KR" sz="2400" b="1" i="1" dirty="0" smtClean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Table 10.1 </a:t>
                </a:r>
                <a:r>
                  <a:rPr lang="en-US" altLang="ko-KR" sz="2400" dirty="0">
                    <a:latin typeface="+mj-lt"/>
                  </a:rPr>
                  <a:t>A code for error detection in Example </a:t>
                </a:r>
                <a:r>
                  <a:rPr lang="en-US" altLang="ko-KR" sz="2400" dirty="0" smtClean="0">
                    <a:latin typeface="+mj-lt"/>
                  </a:rPr>
                  <a:t>10.1</a:t>
                </a:r>
              </a:p>
              <a:p>
                <a:pPr marL="342900" lvl="2" indent="-342900">
                  <a:lnSpc>
                    <a:spcPct val="150000"/>
                  </a:lnSpc>
                  <a:buFontTx/>
                  <a:buNone/>
                  <a:defRPr/>
                </a:pPr>
                <a:endParaRPr lang="en-US" altLang="ko-KR" sz="2400" b="1" i="1" dirty="0">
                  <a:latin typeface="+mj-lt"/>
                  <a:cs typeface="Times New Roman" pitchFamily="18" charset="0"/>
                </a:endParaRPr>
              </a:p>
              <a:p>
                <a:pPr marL="342900" lvl="2" indent="-342900">
                  <a:lnSpc>
                    <a:spcPct val="150000"/>
                  </a:lnSpc>
                  <a:buFontTx/>
                  <a:buNone/>
                  <a:defRPr/>
                </a:pPr>
                <a:endParaRPr lang="en-US" altLang="ko-KR" sz="2400" b="1" i="1" dirty="0" smtClean="0">
                  <a:latin typeface="+mj-lt"/>
                  <a:cs typeface="Times New Roman" pitchFamily="18" charset="0"/>
                </a:endParaRPr>
              </a:p>
              <a:p>
                <a:pPr marL="0" lvl="2" indent="0">
                  <a:lnSpc>
                    <a:spcPct val="150000"/>
                  </a:lnSpc>
                  <a:buNone/>
                  <a:defRPr/>
                </a:pPr>
                <a:r>
                  <a:rPr lang="en-US" altLang="ko-KR" sz="2400" b="1" i="1" dirty="0" smtClean="0">
                    <a:solidFill>
                      <a:srgbClr val="C00000"/>
                    </a:solidFill>
                    <a:latin typeface="+mj-lt"/>
                    <a:cs typeface="Times New Roman" pitchFamily="18" charset="0"/>
                  </a:rPr>
                  <a:t>Hamming Distance</a:t>
                </a:r>
              </a:p>
              <a:p>
                <a:pPr algn="just">
                  <a:defRPr/>
                </a:pPr>
                <a:r>
                  <a:rPr lang="en-US" altLang="ko-KR" sz="2400" dirty="0" smtClean="0">
                    <a:latin typeface="+mj-lt"/>
                  </a:rPr>
                  <a:t>The number differences between corresponding bits</a:t>
                </a:r>
              </a:p>
              <a:p>
                <a:pPr algn="just">
                  <a:defRPr/>
                </a:pPr>
                <a:r>
                  <a:rPr lang="en-US" altLang="ko-KR" dirty="0" smtClean="0">
                    <a:latin typeface="+mj-lt"/>
                  </a:rPr>
                  <a:t>Hamming distance between two words </a:t>
                </a:r>
                <a:r>
                  <a:rPr lang="en-US" altLang="ko-KR" b="1" i="1" dirty="0" smtClean="0">
                    <a:latin typeface="+mj-lt"/>
                  </a:rPr>
                  <a:t>x</a:t>
                </a:r>
                <a:r>
                  <a:rPr lang="en-US" altLang="ko-KR" dirty="0" smtClean="0">
                    <a:latin typeface="+mj-lt"/>
                  </a:rPr>
                  <a:t> and </a:t>
                </a:r>
                <a:r>
                  <a:rPr lang="en-US" altLang="ko-KR" b="1" i="1" dirty="0" smtClean="0">
                    <a:latin typeface="+mj-lt"/>
                  </a:rPr>
                  <a:t>y</a:t>
                </a:r>
                <a:r>
                  <a:rPr lang="en-US" altLang="ko-KR" dirty="0" smtClean="0">
                    <a:latin typeface="+mj-lt"/>
                  </a:rPr>
                  <a:t> as </a:t>
                </a:r>
                <a:r>
                  <a:rPr lang="en-US" altLang="ko-KR" b="1" i="1" dirty="0" smtClean="0">
                    <a:latin typeface="+mj-lt"/>
                  </a:rPr>
                  <a:t>d</a:t>
                </a:r>
                <a:r>
                  <a:rPr lang="en-US" altLang="ko-KR" dirty="0" smtClean="0">
                    <a:latin typeface="+mj-lt"/>
                  </a:rPr>
                  <a:t>(</a:t>
                </a:r>
                <a:r>
                  <a:rPr lang="en-US" altLang="ko-KR" b="1" i="1" dirty="0" smtClean="0">
                    <a:latin typeface="+mj-lt"/>
                  </a:rPr>
                  <a:t>x</a:t>
                </a:r>
                <a:r>
                  <a:rPr lang="en-US" altLang="ko-KR" dirty="0" smtClean="0">
                    <a:latin typeface="+mj-lt"/>
                  </a:rPr>
                  <a:t>, </a:t>
                </a:r>
                <a:r>
                  <a:rPr lang="en-US" altLang="ko-KR" b="1" i="1" dirty="0" smtClean="0">
                    <a:latin typeface="+mj-lt"/>
                  </a:rPr>
                  <a:t>y</a:t>
                </a:r>
                <a:r>
                  <a:rPr lang="en-US" altLang="ko-KR" dirty="0" smtClean="0">
                    <a:latin typeface="+mj-lt"/>
                  </a:rPr>
                  <a:t>)</a:t>
                </a:r>
              </a:p>
              <a:p>
                <a:pPr marL="0" lvl="2" indent="0">
                  <a:lnSpc>
                    <a:spcPct val="150000"/>
                  </a:lnSpc>
                  <a:buNone/>
                  <a:defRPr/>
                </a:pPr>
                <a:r>
                  <a:rPr lang="en-US" altLang="ko-KR" sz="2400" b="1" i="1" dirty="0" smtClean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Ex. 10.2</a:t>
                </a:r>
              </a:p>
              <a:p>
                <a:pPr algn="just">
                  <a:defRPr/>
                </a:pPr>
                <a:r>
                  <a:rPr lang="en-US" altLang="ko-KR" b="1" i="1" dirty="0" smtClean="0">
                    <a:latin typeface="Times New Roman" pitchFamily="18" charset="0"/>
                    <a:cs typeface="Times New Roman" pitchFamily="18" charset="0"/>
                  </a:rPr>
                  <a:t>d</a:t>
                </a:r>
                <a:r>
                  <a:rPr lang="en-US" altLang="ko-KR" dirty="0" smtClean="0">
                    <a:latin typeface="Times New Roman" pitchFamily="18" charset="0"/>
                    <a:cs typeface="Times New Roman" pitchFamily="18" charset="0"/>
                  </a:rPr>
                  <a:t>(000, 011) = 2, because (000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⊕</m:t>
                    </m:r>
                  </m:oMath>
                </a14:m>
                <a:r>
                  <a:rPr lang="en-US" altLang="ko-KR" dirty="0" smtClean="0">
                    <a:latin typeface="Times New Roman" pitchFamily="18" charset="0"/>
                    <a:cs typeface="Times New Roman" pitchFamily="18" charset="0"/>
                  </a:rPr>
                  <a:t>011) = 011 has two 1s.</a:t>
                </a:r>
              </a:p>
              <a:p>
                <a:pPr algn="just">
                  <a:defRPr/>
                </a:pPr>
                <a:r>
                  <a:rPr lang="en-US" altLang="ko-KR" b="1" i="1" dirty="0" smtClean="0">
                    <a:latin typeface="Times New Roman" pitchFamily="18" charset="0"/>
                    <a:cs typeface="Times New Roman" pitchFamily="18" charset="0"/>
                  </a:rPr>
                  <a:t>d</a:t>
                </a:r>
                <a:r>
                  <a:rPr lang="en-US" altLang="ko-KR" dirty="0" smtClean="0">
                    <a:latin typeface="Times New Roman" pitchFamily="18" charset="0"/>
                    <a:cs typeface="Times New Roman" pitchFamily="18" charset="0"/>
                  </a:rPr>
                  <a:t>(10101, 11110) </a:t>
                </a:r>
                <a:r>
                  <a:rPr lang="en-US" altLang="ko-KR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altLang="ko-KR" dirty="0" smtClean="0">
                    <a:latin typeface="Times New Roman" pitchFamily="18" charset="0"/>
                    <a:cs typeface="Times New Roman" pitchFamily="18" charset="0"/>
                  </a:rPr>
                  <a:t>3, </a:t>
                </a:r>
                <a:r>
                  <a:rPr lang="en-US" altLang="ko-KR" dirty="0">
                    <a:latin typeface="Times New Roman" pitchFamily="18" charset="0"/>
                    <a:cs typeface="Times New Roman" pitchFamily="18" charset="0"/>
                  </a:rPr>
                  <a:t>because </a:t>
                </a:r>
                <a:r>
                  <a:rPr lang="en-US" altLang="ko-KR" dirty="0" smtClean="0">
                    <a:latin typeface="Times New Roman" pitchFamily="18" charset="0"/>
                    <a:cs typeface="Times New Roman" pitchFamily="18" charset="0"/>
                  </a:rPr>
                  <a:t>(10101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/>
                        <a:ea typeface="Cambria Math"/>
                        <a:cs typeface="Times New Roman" pitchFamily="18" charset="0"/>
                      </a:rPr>
                      <m:t>⊕</m:t>
                    </m:r>
                  </m:oMath>
                </a14:m>
                <a:r>
                  <a:rPr lang="en-US" altLang="ko-KR" dirty="0" smtClean="0">
                    <a:latin typeface="Times New Roman" pitchFamily="18" charset="0"/>
                    <a:cs typeface="Times New Roman" pitchFamily="18" charset="0"/>
                  </a:rPr>
                  <a:t>11110) </a:t>
                </a:r>
                <a:r>
                  <a:rPr lang="en-US" altLang="ko-KR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altLang="ko-KR" dirty="0" smtClean="0">
                    <a:latin typeface="Times New Roman" pitchFamily="18" charset="0"/>
                    <a:cs typeface="Times New Roman" pitchFamily="18" charset="0"/>
                  </a:rPr>
                  <a:t>01011 </a:t>
                </a:r>
                <a:r>
                  <a:rPr lang="en-US" altLang="ko-KR" dirty="0">
                    <a:latin typeface="Times New Roman" pitchFamily="18" charset="0"/>
                    <a:cs typeface="Times New Roman" pitchFamily="18" charset="0"/>
                  </a:rPr>
                  <a:t>has </a:t>
                </a:r>
                <a:r>
                  <a:rPr lang="en-US" altLang="ko-KR" dirty="0" smtClean="0">
                    <a:latin typeface="Times New Roman" pitchFamily="18" charset="0"/>
                    <a:cs typeface="Times New Roman" pitchFamily="18" charset="0"/>
                  </a:rPr>
                  <a:t>three </a:t>
                </a:r>
                <a:r>
                  <a:rPr lang="en-US" altLang="ko-KR" dirty="0">
                    <a:latin typeface="Times New Roman" pitchFamily="18" charset="0"/>
                    <a:cs typeface="Times New Roman" pitchFamily="18" charset="0"/>
                  </a:rPr>
                  <a:t>1s.</a:t>
                </a:r>
              </a:p>
              <a:p>
                <a:pPr algn="just">
                  <a:defRPr/>
                </a:pPr>
                <a:endParaRPr lang="en-US" altLang="ko-KR" sz="2400" dirty="0" smtClean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048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350" y="552451"/>
                <a:ext cx="8429625" cy="5876924"/>
              </a:xfrm>
              <a:blipFill rotWithShape="1">
                <a:blip r:embed="rId2"/>
                <a:stretch>
                  <a:fillRect l="-1158" r="-1158" b="-22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1"/>
          <p:cNvGrpSpPr/>
          <p:nvPr/>
        </p:nvGrpSpPr>
        <p:grpSpPr>
          <a:xfrm>
            <a:off x="475826" y="1771650"/>
            <a:ext cx="8271510" cy="914400"/>
            <a:chOff x="244264" y="3048000"/>
            <a:chExt cx="8271510" cy="914400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264" y="3048000"/>
              <a:ext cx="8271510" cy="914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Rectangle 11"/>
            <p:cNvSpPr/>
            <p:nvPr/>
          </p:nvSpPr>
          <p:spPr bwMode="auto">
            <a:xfrm>
              <a:off x="304800" y="3048000"/>
              <a:ext cx="8138160" cy="914400"/>
            </a:xfrm>
            <a:prstGeom prst="rect">
              <a:avLst/>
            </a:prstGeom>
            <a:noFill/>
            <a:ln w="1016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by Kruffy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93269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10.2  Block Coding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52451"/>
            <a:ext cx="8429625" cy="5876924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Minimum Hamming distance </a:t>
            </a:r>
          </a:p>
          <a:p>
            <a:pPr algn="just">
              <a:defRPr/>
            </a:pPr>
            <a:r>
              <a:rPr lang="en-US" altLang="ko-KR" dirty="0" smtClean="0">
                <a:latin typeface="+mj-lt"/>
              </a:rPr>
              <a:t>is the smallest Hamming distance between all possible pairs of codewords.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Minimum </a:t>
            </a:r>
            <a:r>
              <a:rPr lang="en-US" altLang="ko-KR" sz="24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Hamming distance for Error </a:t>
            </a: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detection</a:t>
            </a:r>
          </a:p>
          <a:p>
            <a:pPr>
              <a:defRPr/>
            </a:pPr>
            <a:r>
              <a:rPr lang="en-US" altLang="ko-KR" sz="2400" dirty="0" smtClean="0">
                <a:latin typeface="+mj-lt"/>
              </a:rPr>
              <a:t>To guarantee the detection of up to </a:t>
            </a:r>
            <a:r>
              <a:rPr lang="en-US" altLang="ko-KR" sz="2400" b="1" i="1" dirty="0" smtClean="0">
                <a:latin typeface="+mj-lt"/>
              </a:rPr>
              <a:t>s</a:t>
            </a:r>
            <a:r>
              <a:rPr lang="en-US" altLang="ko-KR" sz="2400" dirty="0" smtClean="0">
                <a:latin typeface="+mj-lt"/>
              </a:rPr>
              <a:t> errors</a:t>
            </a:r>
            <a:br>
              <a:rPr lang="en-US" altLang="ko-KR" sz="2400" dirty="0" smtClean="0">
                <a:latin typeface="+mj-lt"/>
              </a:rPr>
            </a:br>
            <a:r>
              <a:rPr lang="en-US" altLang="ko-KR" sz="2400" b="1" i="1" dirty="0" smtClean="0">
                <a:latin typeface="+mj-lt"/>
              </a:rPr>
              <a:t>                          </a:t>
            </a:r>
            <a:r>
              <a:rPr lang="en-US" altLang="ko-KR" sz="2400" b="1" i="1" dirty="0" err="1" smtClean="0">
                <a:latin typeface="+mj-lt"/>
              </a:rPr>
              <a:t>d</a:t>
            </a:r>
            <a:r>
              <a:rPr lang="en-US" altLang="ko-KR" sz="2400" baseline="-25000" dirty="0" err="1" smtClean="0">
                <a:latin typeface="+mj-lt"/>
              </a:rPr>
              <a:t>min</a:t>
            </a:r>
            <a:r>
              <a:rPr lang="en-US" altLang="ko-KR" sz="2400" dirty="0" smtClean="0">
                <a:latin typeface="+mj-lt"/>
              </a:rPr>
              <a:t> </a:t>
            </a:r>
            <a:r>
              <a:rPr lang="en-US" altLang="ko-KR" sz="2400" b="1" i="1" dirty="0" smtClean="0">
                <a:latin typeface="+mj-lt"/>
              </a:rPr>
              <a:t>= s</a:t>
            </a:r>
            <a:r>
              <a:rPr lang="en-US" altLang="ko-KR" sz="2400" dirty="0" smtClean="0">
                <a:latin typeface="+mj-lt"/>
              </a:rPr>
              <a:t> + 1</a:t>
            </a:r>
          </a:p>
          <a:p>
            <a:pPr>
              <a:defRPr/>
            </a:pPr>
            <a:endParaRPr lang="en-US" altLang="ko-KR" dirty="0">
              <a:latin typeface="+mj-lt"/>
            </a:endParaRPr>
          </a:p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>
              <a:defRPr/>
            </a:pPr>
            <a:endParaRPr lang="en-US" altLang="ko-KR" dirty="0">
              <a:latin typeface="+mj-lt"/>
            </a:endParaRPr>
          </a:p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>
              <a:defRPr/>
            </a:pPr>
            <a:endParaRPr lang="en-US" altLang="ko-KR" dirty="0">
              <a:latin typeface="+mj-lt"/>
            </a:endParaRPr>
          </a:p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+mj-lt"/>
              </a:rPr>
              <a:t>Fig. 10.3 </a:t>
            </a:r>
            <a:r>
              <a:rPr lang="en-US" altLang="ko-KR" dirty="0" smtClean="0">
                <a:latin typeface="+mj-lt"/>
              </a:rPr>
              <a:t>Geometric concept explaining </a:t>
            </a:r>
            <a:r>
              <a:rPr lang="en-US" altLang="ko-KR" b="1" i="1" dirty="0"/>
              <a:t> </a:t>
            </a:r>
            <a:r>
              <a:rPr lang="en-US" altLang="ko-KR" b="1" i="1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ko-KR" baseline="-25000" dirty="0" err="1" smtClean="0"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en-US" altLang="ko-KR" baseline="-25000" dirty="0" smtClean="0"/>
              <a:t> </a:t>
            </a:r>
            <a:r>
              <a:rPr lang="en-US" altLang="ko-KR" dirty="0" smtClean="0">
                <a:latin typeface="+mj-lt"/>
              </a:rPr>
              <a:t>in error detection</a:t>
            </a:r>
          </a:p>
          <a:p>
            <a:pPr algn="just">
              <a:defRPr/>
            </a:pPr>
            <a:endParaRPr lang="en-US" altLang="ko-KR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498" y="3644772"/>
            <a:ext cx="6257925" cy="2165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48476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10.2  Block Coding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52451"/>
            <a:ext cx="8429625" cy="5876924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Linear Block Codes </a:t>
            </a:r>
            <a:endParaRPr lang="en-US" altLang="ko-KR" sz="2400" b="1" i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+mj-lt"/>
              </a:rPr>
              <a:t>Almost all block codes used today is </a:t>
            </a:r>
            <a:r>
              <a:rPr lang="en-US" altLang="ko-KR" b="1" i="1" dirty="0" smtClean="0">
                <a:latin typeface="+mj-lt"/>
              </a:rPr>
              <a:t>linear</a:t>
            </a:r>
            <a:r>
              <a:rPr lang="en-US" altLang="ko-KR" dirty="0" smtClean="0">
                <a:latin typeface="+mj-lt"/>
              </a:rPr>
              <a:t>.</a:t>
            </a:r>
          </a:p>
          <a:p>
            <a:pPr algn="just">
              <a:defRPr/>
            </a:pPr>
            <a:r>
              <a:rPr lang="en-US" altLang="ko-KR" dirty="0" smtClean="0">
                <a:latin typeface="+mj-lt"/>
              </a:rPr>
              <a:t>A binary code is linear if and only if the sum of any two codewords is a codeword.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Minimum </a:t>
            </a:r>
            <a:r>
              <a:rPr lang="en-US" altLang="ko-KR" sz="24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Hamming distance </a:t>
            </a: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of Linear Block Codes</a:t>
            </a:r>
          </a:p>
          <a:p>
            <a:pPr>
              <a:defRPr/>
            </a:pPr>
            <a:r>
              <a:rPr lang="en-US" altLang="ko-KR" sz="2400" dirty="0" smtClean="0">
                <a:latin typeface="+mj-lt"/>
              </a:rPr>
              <a:t>is the number of 1s in the nonzero valid codeword with the smallest number of 1s.</a:t>
            </a:r>
          </a:p>
        </p:txBody>
      </p:sp>
    </p:spTree>
    <p:extLst>
      <p:ext uri="{BB962C8B-B14F-4D97-AF65-F5344CB8AC3E}">
        <p14:creationId xmlns:p14="http://schemas.microsoft.com/office/powerpoint/2010/main" val="13336395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10.2  Block Coding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52451"/>
            <a:ext cx="8429625" cy="5876924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Parity Check Code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Table 10.2 </a:t>
            </a:r>
            <a:r>
              <a:rPr lang="en-US" altLang="ko-KR" sz="2400" dirty="0" smtClean="0">
                <a:latin typeface="+mj-lt"/>
                <a:cs typeface="Times New Roman" pitchFamily="18" charset="0"/>
              </a:rPr>
              <a:t>Simple parity-check code C(5,4) 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dirty="0">
              <a:latin typeface="+mj-lt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+mj-lt"/>
            </a:endParaRPr>
          </a:p>
        </p:txBody>
      </p:sp>
      <p:grpSp>
        <p:nvGrpSpPr>
          <p:cNvPr id="4" name="Group 2"/>
          <p:cNvGrpSpPr/>
          <p:nvPr/>
        </p:nvGrpSpPr>
        <p:grpSpPr>
          <a:xfrm>
            <a:off x="407730" y="2748916"/>
            <a:ext cx="8310625" cy="2904330"/>
            <a:chOff x="428316" y="2209799"/>
            <a:chExt cx="8310625" cy="290433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316" y="2209800"/>
              <a:ext cx="8310625" cy="2904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ectangle 1"/>
            <p:cNvSpPr/>
            <p:nvPr/>
          </p:nvSpPr>
          <p:spPr bwMode="auto">
            <a:xfrm>
              <a:off x="461141" y="2209799"/>
              <a:ext cx="8138160" cy="2834640"/>
            </a:xfrm>
            <a:prstGeom prst="rect">
              <a:avLst/>
            </a:prstGeom>
            <a:noFill/>
            <a:ln w="1016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by Kruffy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365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10.2  Block Coding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387350" y="552451"/>
                <a:ext cx="8429625" cy="5876924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ko-KR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  <a:defRPr/>
                </a:pPr>
                <a:r>
                  <a:rPr lang="en-US" altLang="ko-KR" dirty="0" smtClean="0">
                    <a:latin typeface="Times New Roman" pitchFamily="18" charset="0"/>
                    <a:cs typeface="Times New Roman" pitchFamily="18" charset="0"/>
                  </a:rPr>
                  <a:t>Redundancy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/>
                        <a:cs typeface="Times New Roman" pitchFamily="18" charset="0"/>
                      </a:rPr>
                      <m:t>+</m:t>
                    </m:r>
                  </m:oMath>
                </a14:m>
                <a:r>
                  <a:rPr lang="en-US" altLang="ko-KR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/>
                        <a:cs typeface="Times New Roman" pitchFamily="18" charset="0"/>
                      </a:rPr>
                      <m:t>+</m:t>
                    </m:r>
                  </m:oMath>
                </a14:m>
                <a:r>
                  <a:rPr lang="en-US" altLang="ko-KR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itchFamily="18" charset="0"/>
                    <a:cs typeface="Times New Roman" pitchFamily="18" charset="0"/>
                  </a:rPr>
                  <a:t>  (modulo-2)</a:t>
                </a:r>
              </a:p>
              <a:p>
                <a:pPr marL="0" indent="0">
                  <a:buNone/>
                  <a:defRPr/>
                </a:pPr>
                <a:r>
                  <a:rPr lang="en-US" altLang="ko-KR" dirty="0">
                    <a:latin typeface="Times New Roman" pitchFamily="18" charset="0"/>
                    <a:cs typeface="Times New Roman" pitchFamily="18" charset="0"/>
                  </a:rPr>
                  <a:t>Syndrome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/>
                        <a:cs typeface="Times New Roman" pitchFamily="18" charset="0"/>
                      </a:rPr>
                      <m:t>+</m:t>
                    </m:r>
                  </m:oMath>
                </a14:m>
                <a:r>
                  <a:rPr lang="en-US" altLang="ko-KR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/>
                        <a:cs typeface="Times New Roman" pitchFamily="18" charset="0"/>
                      </a:rPr>
                      <m:t>+</m:t>
                    </m:r>
                  </m:oMath>
                </a14:m>
                <a:r>
                  <a:rPr lang="en-US" altLang="ko-KR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/>
                        <a:cs typeface="Times New Roman" pitchFamily="18" charset="0"/>
                      </a:rPr>
                      <m:t>+</m:t>
                    </m:r>
                  </m:oMath>
                </a14:m>
                <a:r>
                  <a:rPr lang="en-US" altLang="ko-KR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itchFamily="18" charset="0"/>
                    <a:cs typeface="Times New Roman" pitchFamily="18" charset="0"/>
                  </a:rPr>
                  <a:t>  (modulo-2)</a:t>
                </a:r>
              </a:p>
              <a:p>
                <a:pPr marL="342900" lvl="2" indent="-342900">
                  <a:lnSpc>
                    <a:spcPct val="150000"/>
                  </a:lnSpc>
                  <a:buFontTx/>
                  <a:buNone/>
                  <a:defRPr/>
                </a:pPr>
                <a:endParaRPr lang="en-US" altLang="ko-KR" sz="2400" b="1" i="1" dirty="0">
                  <a:solidFill>
                    <a:srgbClr val="C00000"/>
                  </a:solidFill>
                  <a:cs typeface="Times New Roman" pitchFamily="18" charset="0"/>
                </a:endParaRPr>
              </a:p>
              <a:p>
                <a:pPr marL="342900" lvl="2" indent="-342900">
                  <a:lnSpc>
                    <a:spcPct val="150000"/>
                  </a:lnSpc>
                  <a:buFontTx/>
                  <a:buNone/>
                  <a:defRPr/>
                </a:pPr>
                <a:endParaRPr lang="en-US" altLang="ko-KR" sz="2400" b="1" i="1" dirty="0">
                  <a:solidFill>
                    <a:srgbClr val="C00000"/>
                  </a:solidFill>
                  <a:latin typeface="+mj-lt"/>
                  <a:cs typeface="Times New Roman" pitchFamily="18" charset="0"/>
                </a:endParaRPr>
              </a:p>
              <a:p>
                <a:pPr marL="342900" lvl="2" indent="-342900">
                  <a:lnSpc>
                    <a:spcPct val="150000"/>
                  </a:lnSpc>
                  <a:buFontTx/>
                  <a:buNone/>
                  <a:defRPr/>
                </a:pPr>
                <a:endParaRPr lang="en-US" altLang="ko-KR" sz="2400" b="1" i="1" dirty="0" smtClean="0">
                  <a:solidFill>
                    <a:srgbClr val="C00000"/>
                  </a:solidFill>
                  <a:latin typeface="+mj-lt"/>
                  <a:cs typeface="Times New Roman" pitchFamily="18" charset="0"/>
                </a:endParaRPr>
              </a:p>
              <a:p>
                <a:pPr marL="342900" lvl="2" indent="-342900">
                  <a:lnSpc>
                    <a:spcPct val="150000"/>
                  </a:lnSpc>
                  <a:buFontTx/>
                  <a:buNone/>
                  <a:defRPr/>
                </a:pPr>
                <a:endParaRPr lang="en-US" altLang="ko-KR" sz="2400" b="1" i="1" dirty="0">
                  <a:solidFill>
                    <a:srgbClr val="C00000"/>
                  </a:solidFill>
                  <a:latin typeface="+mj-lt"/>
                  <a:cs typeface="Times New Roman" pitchFamily="18" charset="0"/>
                </a:endParaRPr>
              </a:p>
              <a:p>
                <a:pPr marL="342900" lvl="2" indent="-342900">
                  <a:lnSpc>
                    <a:spcPct val="150000"/>
                  </a:lnSpc>
                  <a:buFontTx/>
                  <a:buNone/>
                  <a:defRPr/>
                </a:pPr>
                <a:endParaRPr lang="en-US" altLang="ko-KR" sz="2400" b="1" i="1" dirty="0" smtClean="0">
                  <a:solidFill>
                    <a:srgbClr val="C00000"/>
                  </a:solidFill>
                  <a:latin typeface="+mj-lt"/>
                  <a:cs typeface="Times New Roman" pitchFamily="18" charset="0"/>
                </a:endParaRPr>
              </a:p>
              <a:p>
                <a:pPr marL="342900" lvl="2" indent="-342900">
                  <a:lnSpc>
                    <a:spcPct val="150000"/>
                  </a:lnSpc>
                  <a:buFontTx/>
                  <a:buNone/>
                  <a:defRPr/>
                </a:pPr>
                <a:endParaRPr lang="en-US" altLang="ko-KR" sz="2400" b="1" i="1" dirty="0">
                  <a:solidFill>
                    <a:srgbClr val="C00000"/>
                  </a:solidFill>
                  <a:latin typeface="+mj-lt"/>
                  <a:cs typeface="Times New Roman" pitchFamily="18" charset="0"/>
                </a:endParaRPr>
              </a:p>
              <a:p>
                <a:pPr marL="342900" lvl="2" indent="-342900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ko-KR" sz="2400" b="1" i="1" dirty="0" smtClean="0">
                    <a:solidFill>
                      <a:srgbClr val="C00000"/>
                    </a:solidFill>
                    <a:latin typeface="+mj-lt"/>
                    <a:cs typeface="Times New Roman" pitchFamily="18" charset="0"/>
                  </a:rPr>
                  <a:t>Fig. 10.4 </a:t>
                </a:r>
                <a:r>
                  <a:rPr lang="en-US" altLang="ko-KR" sz="2400" dirty="0" smtClean="0">
                    <a:latin typeface="+mj-lt"/>
                    <a:cs typeface="Times New Roman" pitchFamily="18" charset="0"/>
                  </a:rPr>
                  <a:t>Encoder and decoder for simple parity-check code</a:t>
                </a:r>
                <a:endParaRPr lang="en-US" altLang="ko-KR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2048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350" y="552451"/>
                <a:ext cx="8429625" cy="5876924"/>
              </a:xfrm>
              <a:blipFill rotWithShape="1">
                <a:blip r:embed="rId2"/>
                <a:stretch>
                  <a:fillRect l="-11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2209800"/>
            <a:ext cx="329565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113" y="2209800"/>
            <a:ext cx="3646487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029200"/>
            <a:ext cx="4598988" cy="27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511675"/>
            <a:ext cx="96043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1529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10.3  Cyclic Codes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10.3 Cyclic Codes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are special </a:t>
            </a:r>
            <a:r>
              <a:rPr lang="en-US" altLang="ko-KR" b="1" i="1" dirty="0">
                <a:latin typeface="Times New Roman" pitchFamily="18" charset="0"/>
                <a:cs typeface="Times New Roman" pitchFamily="18" charset="0"/>
              </a:rPr>
              <a:t>linear block codes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with one extra property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a codeword is </a:t>
            </a:r>
            <a:r>
              <a:rPr lang="en-US" altLang="ko-KR" b="1" i="1" dirty="0">
                <a:latin typeface="Times New Roman" pitchFamily="18" charset="0"/>
                <a:cs typeface="Times New Roman" pitchFamily="18" charset="0"/>
              </a:rPr>
              <a:t>cyclically shifted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(rotated), the result is another codeword</a:t>
            </a:r>
            <a:r>
              <a:rPr lang="en-US" altLang="ko-KR" dirty="0">
                <a:latin typeface="Times-Roman"/>
              </a:rPr>
              <a:t>. </a:t>
            </a:r>
            <a:endParaRPr lang="en-US" altLang="ko-KR" dirty="0" smtClean="0">
              <a:latin typeface="Times-Roman"/>
            </a:endParaRP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10.3.1 Cyclic Redundancy Check (CRC)</a:t>
            </a: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is used in networks such as LANs and WANs. </a:t>
            </a:r>
            <a:endParaRPr lang="en-US" altLang="ko-KR" dirty="0" smtClean="0">
              <a:latin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Table 10.3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+mj-lt"/>
              </a:rPr>
              <a:t>A CRC code with C(7,4)</a:t>
            </a:r>
          </a:p>
        </p:txBody>
      </p:sp>
      <p:grpSp>
        <p:nvGrpSpPr>
          <p:cNvPr id="8" name="Group 1"/>
          <p:cNvGrpSpPr/>
          <p:nvPr/>
        </p:nvGrpSpPr>
        <p:grpSpPr>
          <a:xfrm>
            <a:off x="419862" y="4005205"/>
            <a:ext cx="8148785" cy="2609566"/>
            <a:chOff x="232541" y="2057400"/>
            <a:chExt cx="8325874" cy="2676241"/>
          </a:xfrm>
        </p:grpSpPr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541" y="2057400"/>
              <a:ext cx="8325874" cy="2676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Rectangle 17"/>
            <p:cNvSpPr/>
            <p:nvPr/>
          </p:nvSpPr>
          <p:spPr bwMode="auto">
            <a:xfrm>
              <a:off x="381000" y="2057400"/>
              <a:ext cx="8046720" cy="2651760"/>
            </a:xfrm>
            <a:prstGeom prst="rect">
              <a:avLst/>
            </a:prstGeom>
            <a:noFill/>
            <a:ln w="1016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by Kruffy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11551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10.3  Cyclic Codes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10.5 </a:t>
            </a: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CRC encoder and decoder </a:t>
            </a:r>
            <a:endParaRPr lang="en-US" altLang="ko-KR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1181100"/>
            <a:ext cx="3011488" cy="449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181100"/>
            <a:ext cx="3579813" cy="449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314700"/>
            <a:ext cx="3001963" cy="79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675" y="4457700"/>
            <a:ext cx="958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991100"/>
            <a:ext cx="4976813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74619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10.3  Cyclic Codes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Encoder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None/>
              <a:defRPr/>
            </a:pPr>
            <a:r>
              <a:rPr lang="en-US" altLang="ko-KR" sz="24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10.6 </a:t>
            </a: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Division in CRC </a:t>
            </a: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encoder</a:t>
            </a: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631" y="1611381"/>
            <a:ext cx="6357082" cy="361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0" y="1119435"/>
            <a:ext cx="1798638" cy="737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444" y="5225166"/>
            <a:ext cx="2365955" cy="864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17925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10.3  Cyclic Codes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Decoder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4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10.7 </a:t>
            </a: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Division in CRC </a:t>
            </a:r>
            <a:r>
              <a:rPr lang="en-US" altLang="ko-KR" sz="2400" dirty="0" smtClean="0">
                <a:latin typeface="+mj-lt"/>
                <a:cs typeface="Times New Roman" pitchFamily="18" charset="0"/>
              </a:rPr>
              <a:t>d</a:t>
            </a:r>
            <a:r>
              <a:rPr lang="en-US" altLang="ko-KR" sz="2000" dirty="0" smtClean="0">
                <a:latin typeface="+mj-lt"/>
              </a:rPr>
              <a:t>ecoder </a:t>
            </a:r>
            <a:r>
              <a:rPr lang="en-US" altLang="ko-KR" sz="2000" dirty="0">
                <a:latin typeface="+mj-lt"/>
              </a:rPr>
              <a:t>for two cases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4" y="1448596"/>
            <a:ext cx="3598863" cy="4520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546" y="1448595"/>
            <a:ext cx="3576691" cy="452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12885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10.3  Cyclic Codes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10.3.2 Polynomials</a:t>
            </a: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10.8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A polynomial to represent a binary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word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1107331"/>
            <a:ext cx="5065458" cy="2243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5" y="3696209"/>
            <a:ext cx="3032749" cy="2064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56804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10.3  Cyclic Codes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387350" y="384175"/>
                <a:ext cx="8429625" cy="60452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  <a:defRPr/>
                </a:pPr>
                <a:r>
                  <a:rPr lang="en-US" altLang="ko-KR" sz="2400" b="1" i="1" dirty="0" smtClean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Degree of Polynomial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6</m:t>
                        </m:r>
                      </m:sup>
                    </m:sSup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/>
                        <a:cs typeface="Times New Roman" pitchFamily="18" charset="0"/>
                      </a:rPr>
                      <m:t>+</m:t>
                    </m:r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/>
                        <a:cs typeface="Times New Roman" pitchFamily="18" charset="0"/>
                      </a:rPr>
                      <m:t>+1</m:t>
                    </m:r>
                  </m:oMath>
                </a14:m>
                <a:r>
                  <a:rPr lang="en-US" altLang="ko-KR" sz="2400" i="1" dirty="0" smtClean="0">
                    <a:solidFill>
                      <a:schemeClr val="tx1"/>
                    </a:solidFill>
                    <a:latin typeface="+mj-lt"/>
                    <a:cs typeface="Times New Roman" pitchFamily="18" charset="0"/>
                  </a:rPr>
                  <a:t> </a:t>
                </a:r>
                <a:r>
                  <a:rPr lang="en-US" altLang="ko-KR" sz="24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is 6</a:t>
                </a:r>
              </a:p>
              <a:p>
                <a:pPr marL="0" indent="0" algn="just">
                  <a:lnSpc>
                    <a:spcPct val="150000"/>
                  </a:lnSpc>
                  <a:buNone/>
                  <a:defRPr/>
                </a:pPr>
                <a:r>
                  <a:rPr lang="en-US" altLang="ko-KR" b="1" i="1" dirty="0" smtClean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Adding and Subtracting Polynomial </a:t>
                </a:r>
              </a:p>
              <a:p>
                <a:pPr marL="0" indent="0" algn="just">
                  <a:lnSpc>
                    <a:spcPct val="15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(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/>
                          <a:cs typeface="Times New Roman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/>
                          <a:cs typeface="Times New Roman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/>
                          <a:cs typeface="Times New Roman" pitchFamily="18" charset="0"/>
                        </a:rPr>
                        <m:t>)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±</m:t>
                      </m:r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(</m:t>
                          </m:r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/>
                          <a:cs typeface="Times New Roman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/>
                          <a:cs typeface="Times New Roman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/>
                          <a:cs typeface="Times New Roman" pitchFamily="18" charset="0"/>
                        </a:rPr>
                        <m:t>)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/>
                          <a:cs typeface="Times New Roman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/>
                          <a:cs typeface="Times New Roman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altLang="ko-KR" sz="2000" i="1" dirty="0" smtClean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  <a:defRPr/>
                </a:pPr>
                <a:r>
                  <a:rPr lang="en-US" altLang="ko-KR" sz="2400" b="1" i="1" dirty="0" smtClean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Multiplying or Dividing Terms </a:t>
                </a:r>
              </a:p>
              <a:p>
                <a:pPr marL="0" indent="0" algn="just">
                  <a:lnSpc>
                    <a:spcPct val="15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         </m:t>
                          </m:r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altLang="ko-KR" sz="2400" i="1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  <a:defRPr/>
                </a:pPr>
                <a:r>
                  <a:rPr lang="en-US" altLang="ko-KR" b="1" i="1" dirty="0" smtClean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Multiplying Two Polynomials</a:t>
                </a:r>
              </a:p>
              <a:p>
                <a:pPr marL="0" indent="0" algn="just">
                  <a:lnSpc>
                    <a:spcPct val="15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  <m:t>(</m:t>
                          </m:r>
                          <m: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altLang="ko-KR" sz="2000" i="1">
                          <a:latin typeface="Cambria Math"/>
                          <a:cs typeface="Times New Roman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/>
                              <a:cs typeface="Times New Roman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2000" i="1">
                          <a:latin typeface="Cambria Math"/>
                          <a:cs typeface="Times New Roman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>
                          <a:latin typeface="Cambria Math"/>
                          <a:cs typeface="Times New Roman" pitchFamily="18" charset="0"/>
                        </a:rPr>
                        <m:t>)</m:t>
                      </m:r>
                      <m:r>
                        <a:rPr lang="en-US" altLang="ko-KR" sz="2000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  <m:t>(</m:t>
                          </m:r>
                          <m: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/>
                              <a:cs typeface="Times New Roman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>
                          <a:latin typeface="Cambria Math"/>
                          <a:cs typeface="Times New Roman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/>
                          <a:cs typeface="Times New Roman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/>
                          <a:cs typeface="Times New Roman" pitchFamily="18" charset="0"/>
                        </a:rPr>
                        <m:t>+1)=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/>
                              <a:cs typeface="Times New Roman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altLang="ko-KR" sz="2000" i="1">
                          <a:latin typeface="Cambria Math"/>
                          <a:cs typeface="Times New Roman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/>
                              <a:cs typeface="Times New Roman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/>
                          <a:cs typeface="Times New Roman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/>
                              <a:cs typeface="Times New Roman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/>
                          <a:cs typeface="Times New Roman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/>
                          <a:cs typeface="Times New Roman" pitchFamily="18" charset="0"/>
                        </a:rPr>
                        <m:t>𝑥</m:t>
                      </m:r>
                    </m:oMath>
                  </m:oMathPara>
                </a14:m>
                <a:endParaRPr lang="en-US" altLang="ko-KR" b="1" i="1" dirty="0" smtClean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  <a:defRPr/>
                </a:pPr>
                <a:r>
                  <a:rPr lang="en-US" altLang="ko-KR" sz="2400" b="1" i="1" dirty="0" smtClean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Dividing One polynomial by Another</a:t>
                </a:r>
              </a:p>
              <a:p>
                <a:pPr marL="0" indent="0" algn="just">
                  <a:lnSpc>
                    <a:spcPct val="150000"/>
                  </a:lnSpc>
                  <a:buNone/>
                  <a:defRPr/>
                </a:pPr>
                <a:r>
                  <a:rPr lang="en-US" altLang="ko-KR" b="1" i="1" dirty="0" smtClean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Shifting</a:t>
                </a:r>
              </a:p>
              <a:p>
                <a:pPr marL="0" indent="0" algn="just">
                  <a:lnSpc>
                    <a:spcPct val="150000"/>
                  </a:lnSpc>
                  <a:buNone/>
                  <a:defRPr/>
                </a:pPr>
                <a:r>
                  <a:rPr lang="en-US" altLang="ko-KR" sz="2000" i="1" dirty="0" smtClean="0">
                    <a:latin typeface="Times New Roman" pitchFamily="18" charset="0"/>
                    <a:cs typeface="Times New Roman" pitchFamily="18" charset="0"/>
                  </a:rPr>
                  <a:t>Shifting left 3 bits : </a:t>
                </a:r>
                <a:r>
                  <a:rPr lang="en-US" altLang="ko-KR" sz="2000" dirty="0" smtClean="0">
                    <a:latin typeface="Times New Roman" pitchFamily="18" charset="0"/>
                    <a:cs typeface="Times New Roman" pitchFamily="18" charset="0"/>
                  </a:rPr>
                  <a:t>10011 </a:t>
                </a:r>
                <a:r>
                  <a:rPr lang="en-US" altLang="ko-KR" sz="2000" dirty="0" smtClean="0">
                    <a:latin typeface="Times New Roman"/>
                    <a:cs typeface="Times New Roman"/>
                  </a:rPr>
                  <a:t>→</a:t>
                </a:r>
                <a:r>
                  <a:rPr lang="en-US" altLang="ko-KR" sz="2000" dirty="0" smtClean="0">
                    <a:latin typeface="Times New Roman" pitchFamily="18" charset="0"/>
                    <a:cs typeface="Times New Roman" pitchFamily="18" charset="0"/>
                  </a:rPr>
                  <a:t> 10011000,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/>
                            <a:cs typeface="Times New Roman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sz="2000" i="1">
                        <a:latin typeface="Cambria Math"/>
                        <a:cs typeface="Times New Roman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ko-KR" sz="2000" i="1">
                        <a:latin typeface="Cambria Math"/>
                        <a:cs typeface="Times New Roman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/>
                        <a:cs typeface="Times New Roman" pitchFamily="18" charset="0"/>
                      </a:rPr>
                      <m:t>1 </m:t>
                    </m:r>
                    <m:r>
                      <a:rPr lang="en-US" altLang="ko-KR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  <m:t>7</m:t>
                        </m:r>
                      </m:sup>
                    </m:sSup>
                    <m:r>
                      <a:rPr lang="en-US" altLang="ko-KR" sz="2000" i="1">
                        <a:latin typeface="Cambria Math"/>
                        <a:cs typeface="Times New Roman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/>
                            <a:cs typeface="Times New Roman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sz="2000" i="1">
                        <a:latin typeface="Cambria Math"/>
                        <a:cs typeface="Times New Roman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ko-KR" sz="20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  <a:defRPr/>
                </a:pPr>
                <a:r>
                  <a:rPr lang="en-US" altLang="ko-KR" sz="2000" i="1" dirty="0">
                    <a:latin typeface="Times New Roman" pitchFamily="18" charset="0"/>
                    <a:cs typeface="Times New Roman" pitchFamily="18" charset="0"/>
                  </a:rPr>
                  <a:t>Shifting </a:t>
                </a:r>
                <a:r>
                  <a:rPr lang="en-US" altLang="ko-KR" sz="2000" i="1" dirty="0" smtClean="0">
                    <a:latin typeface="Times New Roman" pitchFamily="18" charset="0"/>
                    <a:cs typeface="Times New Roman" pitchFamily="18" charset="0"/>
                  </a:rPr>
                  <a:t>right </a:t>
                </a:r>
                <a:r>
                  <a:rPr lang="en-US" altLang="ko-KR" sz="2000" i="1" dirty="0">
                    <a:latin typeface="Times New Roman" pitchFamily="18" charset="0"/>
                    <a:cs typeface="Times New Roman" pitchFamily="18" charset="0"/>
                  </a:rPr>
                  <a:t>3 bits : </a:t>
                </a: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10011 </a:t>
                </a:r>
                <a:r>
                  <a:rPr lang="en-US" altLang="ko-KR" sz="2000" dirty="0">
                    <a:latin typeface="Times New Roman"/>
                    <a:cs typeface="Times New Roman"/>
                  </a:rPr>
                  <a:t>→</a:t>
                </a: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ko-KR" sz="2000" dirty="0" smtClean="0">
                    <a:latin typeface="Times New Roman" pitchFamily="18" charset="0"/>
                    <a:cs typeface="Times New Roman" pitchFamily="18" charset="0"/>
                  </a:rPr>
                  <a:t>10 ,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000" i="1">
                            <a:latin typeface="Cambria Math"/>
                            <a:cs typeface="Times New Roman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sz="2000" i="1">
                        <a:latin typeface="Cambria Math"/>
                        <a:cs typeface="Times New Roman" pitchFamily="18" charset="0"/>
                      </a:rPr>
                      <m:t>+</m:t>
                    </m:r>
                    <m:r>
                      <a:rPr lang="en-US" altLang="ko-KR" sz="2000" i="1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ko-KR" sz="2000" i="1">
                        <a:latin typeface="Cambria Math"/>
                        <a:cs typeface="Times New Roman" pitchFamily="18" charset="0"/>
                      </a:rPr>
                      <m:t>+1 →</m:t>
                    </m:r>
                    <m:r>
                      <a:rPr lang="en-US" altLang="ko-KR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𝑥</m:t>
                    </m:r>
                  </m:oMath>
                </a14:m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  <a:defRPr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048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350" y="384175"/>
                <a:ext cx="8429625" cy="6045200"/>
              </a:xfrm>
              <a:blipFill rotWithShape="1">
                <a:blip r:embed="rId2"/>
                <a:stretch>
                  <a:fillRect l="-1158" b="-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8911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10.3  Cyclic Codes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0" lvl="2" indent="0">
              <a:lnSpc>
                <a:spcPct val="150000"/>
              </a:lnSpc>
              <a:buNone/>
            </a:pPr>
            <a:r>
              <a:rPr lang="en-US" altLang="ko-KR" sz="24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10.3.3 Encoder Using Polynomials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10.9 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CRC division using polynomials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086995"/>
            <a:ext cx="6743698" cy="4718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05969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10.3  Cyclic Codes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10.3.4 Cyclic Code Analysis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Dataword: </a:t>
            </a:r>
            <a:r>
              <a:rPr lang="en-US" altLang="ko-KR" b="1" i="1" dirty="0" smtClean="0">
                <a:latin typeface="Times New Roman" pitchFamily="18" charset="0"/>
              </a:rPr>
              <a:t>d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Generator: </a:t>
            </a:r>
            <a:r>
              <a:rPr lang="en-US" altLang="ko-KR" b="1" i="1" dirty="0" smtClean="0">
                <a:latin typeface="Times New Roman" pitchFamily="18" charset="0"/>
              </a:rPr>
              <a:t>g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Codeword: </a:t>
            </a:r>
            <a:r>
              <a:rPr lang="en-US" altLang="ko-KR" b="1" i="1" dirty="0">
                <a:latin typeface="Times New Roman" pitchFamily="18" charset="0"/>
              </a:rPr>
              <a:t>c</a:t>
            </a:r>
            <a:r>
              <a:rPr lang="en-US" altLang="ko-KR" dirty="0">
                <a:latin typeface="Times New Roman" pitchFamily="18" charset="0"/>
              </a:rPr>
              <a:t>(</a:t>
            </a:r>
            <a:r>
              <a:rPr lang="en-US" altLang="ko-KR" b="1" i="1" dirty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 = </a:t>
            </a:r>
            <a:r>
              <a:rPr lang="en-US" altLang="ko-KR" b="1" i="1" dirty="0">
                <a:latin typeface="Times New Roman" pitchFamily="18" charset="0"/>
              </a:rPr>
              <a:t>d</a:t>
            </a:r>
            <a:r>
              <a:rPr lang="en-US" altLang="ko-KR" dirty="0">
                <a:latin typeface="Times New Roman" pitchFamily="18" charset="0"/>
              </a:rPr>
              <a:t>(</a:t>
            </a:r>
            <a:r>
              <a:rPr lang="en-US" altLang="ko-KR" b="1" i="1" dirty="0">
                <a:latin typeface="Times New Roman" pitchFamily="18" charset="0"/>
              </a:rPr>
              <a:t>x</a:t>
            </a:r>
            <a:r>
              <a:rPr lang="en-US" altLang="ko-KR" dirty="0">
                <a:latin typeface="Times New Roman" pitchFamily="18" charset="0"/>
              </a:rPr>
              <a:t>) </a:t>
            </a:r>
            <a:r>
              <a:rPr lang="en-US" altLang="ko-KR" b="1" i="1" dirty="0">
                <a:latin typeface="Times New Roman" pitchFamily="18" charset="0"/>
              </a:rPr>
              <a:t>g</a:t>
            </a:r>
            <a:r>
              <a:rPr lang="en-US" altLang="ko-KR" dirty="0">
                <a:latin typeface="Times New Roman" pitchFamily="18" charset="0"/>
              </a:rPr>
              <a:t>(</a:t>
            </a:r>
            <a:r>
              <a:rPr lang="en-US" altLang="ko-KR" b="1" i="1" dirty="0">
                <a:latin typeface="Times New Roman" pitchFamily="18" charset="0"/>
              </a:rPr>
              <a:t>x</a:t>
            </a:r>
            <a:r>
              <a:rPr lang="en-US" altLang="ko-KR" dirty="0">
                <a:latin typeface="Times New Roman" pitchFamily="18" charset="0"/>
              </a:rPr>
              <a:t>)</a:t>
            </a: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Error vector: </a:t>
            </a:r>
            <a:r>
              <a:rPr lang="en-US" altLang="ko-KR" b="1" i="1" dirty="0" smtClean="0">
                <a:latin typeface="Times New Roman" pitchFamily="18" charset="0"/>
              </a:rPr>
              <a:t>e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>
                <a:latin typeface="Times New Roman" pitchFamily="18" charset="0"/>
              </a:rPr>
              <a:t>) </a:t>
            </a: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Received vector: </a:t>
            </a:r>
            <a:r>
              <a:rPr lang="en-US" altLang="ko-KR" b="1" i="1" dirty="0" smtClean="0">
                <a:latin typeface="Times New Roman" pitchFamily="18" charset="0"/>
              </a:rPr>
              <a:t>r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 = </a:t>
            </a:r>
            <a:r>
              <a:rPr lang="en-US" altLang="ko-KR" b="1" i="1" dirty="0">
                <a:latin typeface="Times New Roman" pitchFamily="18" charset="0"/>
              </a:rPr>
              <a:t>g</a:t>
            </a:r>
            <a:r>
              <a:rPr lang="en-US" altLang="ko-KR" dirty="0">
                <a:latin typeface="Times New Roman" pitchFamily="18" charset="0"/>
              </a:rPr>
              <a:t>(</a:t>
            </a:r>
            <a:r>
              <a:rPr lang="en-US" altLang="ko-KR" b="1" i="1" dirty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 + </a:t>
            </a:r>
            <a:r>
              <a:rPr lang="en-US" altLang="ko-KR" b="1" i="1" dirty="0" smtClean="0">
                <a:latin typeface="Times New Roman" pitchFamily="18" charset="0"/>
              </a:rPr>
              <a:t>e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>
                <a:latin typeface="Times New Roman" pitchFamily="18" charset="0"/>
              </a:rPr>
              <a:t>) </a:t>
            </a: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Syndrome: </a:t>
            </a:r>
            <a:r>
              <a:rPr lang="en-US" altLang="ko-KR" b="1" i="1" dirty="0" smtClean="0">
                <a:latin typeface="Times New Roman" pitchFamily="18" charset="0"/>
              </a:rPr>
              <a:t>s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)=</a:t>
            </a:r>
            <a:r>
              <a:rPr lang="en-US" altLang="ko-KR" b="1" i="1" dirty="0" smtClean="0">
                <a:latin typeface="Times New Roman" pitchFamily="18" charset="0"/>
              </a:rPr>
              <a:t>r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)/</a:t>
            </a:r>
            <a:r>
              <a:rPr lang="en-US" altLang="ko-KR" b="1" i="1" dirty="0" smtClean="0">
                <a:latin typeface="Times New Roman" pitchFamily="18" charset="0"/>
              </a:rPr>
              <a:t>g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 = </a:t>
            </a:r>
            <a:r>
              <a:rPr lang="en-US" altLang="ko-KR" b="1" i="1" dirty="0" smtClean="0">
                <a:latin typeface="Times New Roman" pitchFamily="18" charset="0"/>
              </a:rPr>
              <a:t>c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)/</a:t>
            </a:r>
            <a:r>
              <a:rPr lang="en-US" altLang="ko-KR" b="1" i="1" dirty="0" smtClean="0">
                <a:latin typeface="Times New Roman" pitchFamily="18" charset="0"/>
              </a:rPr>
              <a:t>g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)+</a:t>
            </a:r>
            <a:r>
              <a:rPr lang="en-US" altLang="ko-KR" b="1" i="1" dirty="0" smtClean="0">
                <a:latin typeface="Times New Roman" pitchFamily="18" charset="0"/>
              </a:rPr>
              <a:t>e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)/</a:t>
            </a:r>
            <a:r>
              <a:rPr lang="en-US" altLang="ko-KR" b="1" i="1" dirty="0" smtClean="0">
                <a:latin typeface="Times New Roman" pitchFamily="18" charset="0"/>
              </a:rPr>
              <a:t>g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)=</a:t>
            </a:r>
            <a:r>
              <a:rPr lang="en-US" altLang="ko-KR" b="1" i="1" dirty="0" smtClean="0">
                <a:latin typeface="Times New Roman" pitchFamily="18" charset="0"/>
              </a:rPr>
              <a:t>e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)/</a:t>
            </a:r>
            <a:r>
              <a:rPr lang="en-US" altLang="ko-KR" b="1" i="1" dirty="0" smtClean="0">
                <a:latin typeface="Times New Roman" pitchFamily="18" charset="0"/>
              </a:rPr>
              <a:t>g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>
                <a:latin typeface="Times New Roman" pitchFamily="18" charset="0"/>
              </a:rPr>
              <a:t>) </a:t>
            </a:r>
            <a:endParaRPr lang="en-US" altLang="ko-KR" dirty="0" smtClean="0">
              <a:latin typeface="Times New Roman" pitchFamily="18" charset="0"/>
            </a:endParaRP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If </a:t>
            </a:r>
            <a:r>
              <a:rPr lang="en-US" altLang="ko-KR" b="1" i="1" dirty="0" smtClean="0">
                <a:latin typeface="Times New Roman" pitchFamily="18" charset="0"/>
              </a:rPr>
              <a:t>s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</a:t>
            </a:r>
            <a:r>
              <a:rPr lang="en-US" altLang="ko-KR" dirty="0" smtClean="0">
                <a:latin typeface="Times New Roman"/>
                <a:cs typeface="Times New Roman"/>
              </a:rPr>
              <a:t>≠0, one or more bits is corrupted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If </a:t>
            </a:r>
            <a:r>
              <a:rPr lang="en-US" altLang="ko-KR" b="1" i="1" dirty="0">
                <a:latin typeface="Times New Roman" pitchFamily="18" charset="0"/>
              </a:rPr>
              <a:t>s</a:t>
            </a:r>
            <a:r>
              <a:rPr lang="en-US" altLang="ko-KR" dirty="0">
                <a:latin typeface="Times New Roman" pitchFamily="18" charset="0"/>
              </a:rPr>
              <a:t>(</a:t>
            </a:r>
            <a:r>
              <a:rPr lang="en-US" altLang="ko-KR" b="1" i="1" dirty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)=0, No bits is corrupted or some bits are corrupted  but not detected</a:t>
            </a:r>
          </a:p>
          <a:p>
            <a:pPr marL="0" indent="0" algn="just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Single-bit Error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If the </a:t>
            </a:r>
            <a:r>
              <a:rPr lang="en-US" altLang="ko-KR" b="1" i="1" dirty="0" smtClean="0">
                <a:latin typeface="Times New Roman" pitchFamily="18" charset="0"/>
              </a:rPr>
              <a:t>g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) has more than one term and the coefficient 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baseline="30000" dirty="0" smtClean="0">
                <a:latin typeface="Times New Roman" pitchFamily="18" charset="0"/>
              </a:rPr>
              <a:t>0</a:t>
            </a:r>
            <a:r>
              <a:rPr lang="en-US" altLang="ko-KR" dirty="0" smtClean="0">
                <a:latin typeface="Times New Roman" pitchFamily="18" charset="0"/>
              </a:rPr>
              <a:t> is 1, all single-bit errors can be caught</a:t>
            </a:r>
          </a:p>
          <a:p>
            <a:pPr lvl="1"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8507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10.3  Cyclic 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387350" y="536575"/>
                <a:ext cx="8429625" cy="6045200"/>
              </a:xfrm>
            </p:spPr>
            <p:txBody>
              <a:bodyPr/>
              <a:lstStyle/>
              <a:p>
                <a:pPr marL="342900" lvl="2" indent="-342900">
                  <a:lnSpc>
                    <a:spcPct val="150000"/>
                  </a:lnSpc>
                  <a:buNone/>
                  <a:defRPr/>
                </a:pPr>
                <a:r>
                  <a:rPr lang="en-US" altLang="ko-KR" sz="2400" b="1" i="1" dirty="0" smtClean="0">
                    <a:solidFill>
                      <a:srgbClr val="C00000"/>
                    </a:solidFill>
                    <a:latin typeface="Times New Roman" pitchFamily="18" charset="0"/>
                  </a:rPr>
                  <a:t>Two </a:t>
                </a:r>
                <a:r>
                  <a:rPr lang="en-US" altLang="ko-KR" sz="2400" b="1" i="1" dirty="0">
                    <a:solidFill>
                      <a:srgbClr val="C00000"/>
                    </a:solidFill>
                    <a:latin typeface="Times New Roman" pitchFamily="18" charset="0"/>
                  </a:rPr>
                  <a:t>Isolated Single-Bit Errors</a:t>
                </a:r>
              </a:p>
              <a:p>
                <a:pPr lvl="1" algn="just">
                  <a:defRPr/>
                </a:pPr>
                <a:r>
                  <a:rPr lang="en-US" altLang="ko-KR" dirty="0" smtClean="0">
                    <a:latin typeface="Times New Roman" pitchFamily="18" charset="0"/>
                  </a:rPr>
                  <a:t>If the </a:t>
                </a:r>
                <a:r>
                  <a:rPr lang="en-US" altLang="ko-KR" b="1" i="1" dirty="0" smtClean="0">
                    <a:latin typeface="Times New Roman" pitchFamily="18" charset="0"/>
                  </a:rPr>
                  <a:t>g</a:t>
                </a:r>
                <a:r>
                  <a:rPr lang="en-US" altLang="ko-KR" dirty="0" smtClean="0">
                    <a:latin typeface="Times New Roman" pitchFamily="18" charset="0"/>
                  </a:rPr>
                  <a:t>(</a:t>
                </a:r>
                <a:r>
                  <a:rPr lang="en-US" altLang="ko-KR" b="1" i="1" dirty="0" smtClean="0">
                    <a:latin typeface="Times New Roman" pitchFamily="18" charset="0"/>
                  </a:rPr>
                  <a:t>x</a:t>
                </a:r>
                <a:r>
                  <a:rPr lang="en-US" altLang="ko-KR" dirty="0" smtClean="0">
                    <a:latin typeface="Times New Roman" pitchFamily="18" charset="0"/>
                  </a:rPr>
                  <a:t>) cannot divide </a:t>
                </a:r>
                <a:r>
                  <a:rPr lang="en-US" altLang="ko-KR" b="1" i="1" dirty="0" smtClean="0">
                    <a:latin typeface="Times New Roman" pitchFamily="18" charset="0"/>
                  </a:rPr>
                  <a:t>x</a:t>
                </a:r>
                <a:r>
                  <a:rPr lang="en-US" altLang="ko-KR" b="1" i="1" baseline="30000" dirty="0" smtClean="0">
                    <a:latin typeface="Times New Roman" pitchFamily="18" charset="0"/>
                  </a:rPr>
                  <a:t>t</a:t>
                </a:r>
                <a:r>
                  <a:rPr lang="en-US" altLang="ko-KR" dirty="0" smtClean="0">
                    <a:latin typeface="Times New Roman" pitchFamily="18" charset="0"/>
                  </a:rPr>
                  <a:t>+1(</a:t>
                </a:r>
                <a:r>
                  <a:rPr lang="en-US" altLang="ko-KR" b="1" i="1" dirty="0" smtClean="0">
                    <a:latin typeface="Times New Roman" pitchFamily="18" charset="0"/>
                  </a:rPr>
                  <a:t>t</a:t>
                </a:r>
                <a:r>
                  <a:rPr lang="en-US" altLang="ko-KR" dirty="0" smtClean="0">
                    <a:latin typeface="Times New Roman" pitchFamily="18" charset="0"/>
                  </a:rPr>
                  <a:t> between 0 and </a:t>
                </a:r>
                <a:r>
                  <a:rPr lang="en-US" altLang="ko-KR" b="1" i="1" dirty="0" smtClean="0">
                    <a:latin typeface="Times New Roman" pitchFamily="18" charset="0"/>
                  </a:rPr>
                  <a:t>n</a:t>
                </a:r>
                <a:r>
                  <a:rPr lang="en-US" altLang="ko-KR" dirty="0" smtClean="0">
                    <a:latin typeface="Times New Roman" pitchFamily="18" charset="0"/>
                  </a:rPr>
                  <a:t>-1), then all isolated double errors can be detected.</a:t>
                </a:r>
              </a:p>
              <a:p>
                <a:pPr lvl="1" algn="just">
                  <a:defRPr/>
                </a:pPr>
                <a:endParaRPr lang="en-US" altLang="ko-KR" dirty="0" smtClean="0">
                  <a:latin typeface="Times New Roman" pitchFamily="18" charset="0"/>
                </a:endParaRPr>
              </a:p>
              <a:p>
                <a:pPr lvl="1" algn="just">
                  <a:defRPr/>
                </a:pPr>
                <a:endParaRPr lang="en-US" altLang="ko-KR" dirty="0">
                  <a:latin typeface="Times New Roman" pitchFamily="18" charset="0"/>
                </a:endParaRPr>
              </a:p>
              <a:p>
                <a:pPr lvl="1" algn="just">
                  <a:defRPr/>
                </a:pPr>
                <a:endParaRPr lang="en-US" altLang="ko-KR" dirty="0" smtClean="0">
                  <a:latin typeface="Times New Roman" pitchFamily="18" charset="0"/>
                </a:endParaRPr>
              </a:p>
              <a:p>
                <a:pPr lvl="1" algn="just">
                  <a:defRPr/>
                </a:pPr>
                <a:endParaRPr lang="en-US" altLang="ko-KR" dirty="0">
                  <a:latin typeface="Times New Roman" pitchFamily="18" charset="0"/>
                </a:endParaRPr>
              </a:p>
              <a:p>
                <a:pPr marL="342900" lvl="2" indent="-342900">
                  <a:lnSpc>
                    <a:spcPct val="200000"/>
                  </a:lnSpc>
                  <a:buNone/>
                  <a:defRPr/>
                </a:pPr>
                <a:r>
                  <a:rPr lang="en-US" altLang="ko-KR" sz="2400" b="1" i="1" dirty="0" smtClean="0">
                    <a:solidFill>
                      <a:srgbClr val="C00000"/>
                    </a:solidFill>
                    <a:latin typeface="Times New Roman" pitchFamily="18" charset="0"/>
                  </a:rPr>
                  <a:t>Odd Number of Errors </a:t>
                </a:r>
                <a:endParaRPr lang="en-US" altLang="ko-KR" sz="2400" b="1" i="1" dirty="0">
                  <a:solidFill>
                    <a:srgbClr val="C00000"/>
                  </a:solidFill>
                  <a:latin typeface="Times New Roman" pitchFamily="18" charset="0"/>
                </a:endParaRPr>
              </a:p>
              <a:p>
                <a:pPr lvl="1" algn="just">
                  <a:defRPr/>
                </a:pPr>
                <a:r>
                  <a:rPr lang="en-US" altLang="ko-KR" dirty="0" smtClean="0">
                    <a:latin typeface="Times New Roman" pitchFamily="18" charset="0"/>
                  </a:rPr>
                  <a:t>A </a:t>
                </a:r>
                <a:r>
                  <a:rPr lang="en-US" altLang="ko-KR" b="1" i="1" dirty="0">
                    <a:latin typeface="Times New Roman" pitchFamily="18" charset="0"/>
                  </a:rPr>
                  <a:t>g</a:t>
                </a:r>
                <a:r>
                  <a:rPr lang="en-US" altLang="ko-KR" dirty="0">
                    <a:latin typeface="Times New Roman" pitchFamily="18" charset="0"/>
                  </a:rPr>
                  <a:t>(</a:t>
                </a:r>
                <a:r>
                  <a:rPr lang="en-US" altLang="ko-KR" b="1" i="1" dirty="0">
                    <a:latin typeface="Times New Roman" pitchFamily="18" charset="0"/>
                  </a:rPr>
                  <a:t>x</a:t>
                </a:r>
                <a:r>
                  <a:rPr lang="en-US" altLang="ko-KR" dirty="0">
                    <a:latin typeface="Times New Roman" pitchFamily="18" charset="0"/>
                  </a:rPr>
                  <a:t>) </a:t>
                </a:r>
                <a:r>
                  <a:rPr lang="en-US" altLang="ko-KR" dirty="0" smtClean="0">
                    <a:latin typeface="Times New Roman" pitchFamily="18" charset="0"/>
                  </a:rPr>
                  <a:t>that contains a factor of </a:t>
                </a:r>
                <a:r>
                  <a:rPr lang="en-US" altLang="ko-KR" b="1" i="1" dirty="0" smtClean="0">
                    <a:latin typeface="Times New Roman" pitchFamily="18" charset="0"/>
                  </a:rPr>
                  <a:t>x</a:t>
                </a:r>
                <a:r>
                  <a:rPr lang="en-US" altLang="ko-KR" dirty="0" smtClean="0">
                    <a:latin typeface="Times New Roman" pitchFamily="18" charset="0"/>
                  </a:rPr>
                  <a:t>+1 can detect all odd-numbered errors</a:t>
                </a:r>
              </a:p>
              <a:p>
                <a:pPr marL="342900" lvl="2" indent="-342900">
                  <a:lnSpc>
                    <a:spcPct val="150000"/>
                  </a:lnSpc>
                  <a:buNone/>
                  <a:defRPr/>
                </a:pPr>
                <a:r>
                  <a:rPr lang="en-US" altLang="ko-KR" sz="2400" b="1" i="1" dirty="0" smtClean="0">
                    <a:solidFill>
                      <a:srgbClr val="C00000"/>
                    </a:solidFill>
                    <a:latin typeface="Times New Roman" pitchFamily="18" charset="0"/>
                  </a:rPr>
                  <a:t>Burst Errors </a:t>
                </a:r>
                <a:r>
                  <a:rPr lang="en-US" altLang="ko-KR" sz="2000" dirty="0" smtClean="0">
                    <a:latin typeface="Times New Roman" pitchFamily="18" charset="0"/>
                  </a:rPr>
                  <a:t>with</a:t>
                </a:r>
                <a:r>
                  <a:rPr lang="en-US" altLang="ko-KR" sz="2400" b="1" i="1" dirty="0" smtClean="0">
                    <a:solidFill>
                      <a:srgbClr val="C00000"/>
                    </a:solidFill>
                    <a:latin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𝑒</m:t>
                    </m:r>
                    <m:d>
                      <m:dPr>
                        <m:ctrlPr>
                          <a:rPr lang="en-US" altLang="ko-KR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ko-KR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ko-KR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ko-KR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altLang="ko-KR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ko-KR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p>
                        </m:sSup>
                        <m:r>
                          <a:rPr lang="en-US" altLang="ko-KR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altLang="ko-KR" sz="20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⋯+1</m:t>
                        </m:r>
                      </m:e>
                    </m:d>
                    <m:r>
                      <a:rPr lang="en-US" altLang="ko-KR" sz="20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,  </m:t>
                    </m:r>
                    <m:r>
                      <a:rPr lang="en-US" altLang="ko-KR" sz="20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𝑔</m:t>
                    </m:r>
                    <m:d>
                      <m:dPr>
                        <m:ctrlPr>
                          <a:rPr lang="en-US" altLang="ko-KR" sz="200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ctrl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ko-KR" sz="20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𝑟</m:t>
                            </m:r>
                          </m:sup>
                        </m:sSup>
                        <m:r>
                          <a:rPr lang="en-US" altLang="ko-KR" sz="20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altLang="ko-KR" sz="2000" b="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⋯+1</m:t>
                        </m:r>
                      </m:e>
                    </m:d>
                  </m:oMath>
                </a14:m>
                <a:endParaRPr lang="en-US" altLang="ko-KR" sz="2400" i="1" dirty="0">
                  <a:solidFill>
                    <a:srgbClr val="C00000"/>
                  </a:solidFill>
                  <a:latin typeface="Times New Roman" pitchFamily="18" charset="0"/>
                </a:endParaRPr>
              </a:p>
              <a:p>
                <a:pPr lvl="1" algn="just">
                  <a:defRPr/>
                </a:pPr>
                <a:r>
                  <a:rPr lang="en-US" altLang="ko-KR" b="1" i="1" dirty="0" smtClean="0">
                    <a:latin typeface="Times New Roman" pitchFamily="18" charset="0"/>
                  </a:rPr>
                  <a:t>j-</a:t>
                </a:r>
                <a:r>
                  <a:rPr lang="en-US" altLang="ko-KR" b="1" i="1" dirty="0" err="1" smtClean="0">
                    <a:latin typeface="Times New Roman" pitchFamily="18" charset="0"/>
                  </a:rPr>
                  <a:t>i</a:t>
                </a:r>
                <a:r>
                  <a:rPr lang="en-US" altLang="ko-KR" b="1" i="1" dirty="0" smtClean="0">
                    <a:latin typeface="Times New Roman" pitchFamily="18" charset="0"/>
                  </a:rPr>
                  <a:t>=L</a:t>
                </a:r>
                <a:r>
                  <a:rPr lang="en-US" altLang="ko-KR" dirty="0" smtClean="0">
                    <a:latin typeface="Times New Roman" pitchFamily="18" charset="0"/>
                  </a:rPr>
                  <a:t>-1</a:t>
                </a:r>
                <a:r>
                  <a:rPr lang="en-US" altLang="ko-KR" b="1" i="1" dirty="0" smtClean="0">
                    <a:latin typeface="Times New Roman" pitchFamily="18" charset="0"/>
                  </a:rPr>
                  <a:t>,  L </a:t>
                </a:r>
                <a:r>
                  <a:rPr lang="en-US" altLang="ko-KR" dirty="0" smtClean="0">
                    <a:latin typeface="Times New Roman" pitchFamily="18" charset="0"/>
                  </a:rPr>
                  <a:t>is the length of error</a:t>
                </a:r>
              </a:p>
              <a:p>
                <a:pPr lvl="1" algn="just">
                  <a:defRPr/>
                </a:pPr>
                <a:r>
                  <a:rPr lang="en-US" altLang="ko-KR" dirty="0" smtClean="0">
                    <a:latin typeface="Times New Roman" pitchFamily="18" charset="0"/>
                  </a:rPr>
                  <a:t>All burst errors with </a:t>
                </a:r>
                <a:r>
                  <a:rPr lang="en-US" altLang="ko-KR" b="1" i="1" dirty="0" err="1" smtClean="0">
                    <a:latin typeface="Times New Roman" pitchFamily="18" charset="0"/>
                  </a:rPr>
                  <a:t>L</a:t>
                </a:r>
                <a:r>
                  <a:rPr lang="en-US" altLang="ko-KR" dirty="0" err="1" smtClean="0">
                    <a:latin typeface="Times New Roman"/>
                    <a:cs typeface="Times New Roman"/>
                  </a:rPr>
                  <a:t>≤</a:t>
                </a:r>
                <a:r>
                  <a:rPr lang="en-US" altLang="ko-KR" b="1" i="1" dirty="0" err="1" smtClean="0">
                    <a:latin typeface="Times New Roman"/>
                    <a:cs typeface="Times New Roman"/>
                  </a:rPr>
                  <a:t>r</a:t>
                </a:r>
                <a:r>
                  <a:rPr lang="en-US" altLang="ko-KR" b="1" i="1" dirty="0" smtClean="0">
                    <a:latin typeface="Times New Roman"/>
                    <a:cs typeface="Times New Roman"/>
                  </a:rPr>
                  <a:t> </a:t>
                </a:r>
                <a:r>
                  <a:rPr lang="en-US" altLang="ko-KR" dirty="0" smtClean="0">
                    <a:latin typeface="Times New Roman"/>
                    <a:cs typeface="Times New Roman"/>
                  </a:rPr>
                  <a:t>will be detected</a:t>
                </a:r>
              </a:p>
              <a:p>
                <a:pPr lvl="1" algn="just">
                  <a:defRPr/>
                </a:pPr>
                <a:r>
                  <a:rPr lang="en-US" altLang="ko-KR" dirty="0" smtClean="0">
                    <a:latin typeface="Times New Roman"/>
                    <a:cs typeface="Times New Roman"/>
                  </a:rPr>
                  <a:t>All burst errors with </a:t>
                </a:r>
                <a:r>
                  <a:rPr lang="en-US" altLang="ko-KR" b="1" i="1" dirty="0" smtClean="0">
                    <a:latin typeface="Times New Roman" pitchFamily="18" charset="0"/>
                  </a:rPr>
                  <a:t>L=</a:t>
                </a:r>
                <a:r>
                  <a:rPr lang="en-US" altLang="ko-KR" b="1" i="1" dirty="0" smtClean="0">
                    <a:latin typeface="Times New Roman"/>
                    <a:cs typeface="Times New Roman"/>
                  </a:rPr>
                  <a:t>r+1 </a:t>
                </a:r>
                <a:r>
                  <a:rPr lang="en-US" altLang="ko-KR" dirty="0" smtClean="0">
                    <a:latin typeface="Times New Roman"/>
                    <a:cs typeface="Times New Roman"/>
                  </a:rPr>
                  <a:t>will be detected with probability 1-(1/2)</a:t>
                </a:r>
                <a:r>
                  <a:rPr lang="en-US" altLang="ko-KR" baseline="30000" dirty="0" smtClean="0">
                    <a:latin typeface="Times New Roman"/>
                    <a:cs typeface="Times New Roman"/>
                  </a:rPr>
                  <a:t>r-1</a:t>
                </a:r>
              </a:p>
              <a:p>
                <a:pPr lvl="1" algn="just">
                  <a:defRPr/>
                </a:pPr>
                <a:r>
                  <a:rPr lang="en-US" altLang="ko-KR" dirty="0">
                    <a:latin typeface="Times New Roman"/>
                    <a:cs typeface="Times New Roman"/>
                  </a:rPr>
                  <a:t>All burst errors with </a:t>
                </a:r>
                <a:r>
                  <a:rPr lang="en-US" altLang="ko-KR" b="1" i="1" dirty="0" smtClean="0">
                    <a:latin typeface="Times New Roman" pitchFamily="18" charset="0"/>
                  </a:rPr>
                  <a:t>L&gt;</a:t>
                </a:r>
                <a:r>
                  <a:rPr lang="en-US" altLang="ko-KR" b="1" i="1" dirty="0" smtClean="0">
                    <a:latin typeface="Times New Roman"/>
                    <a:cs typeface="Times New Roman"/>
                  </a:rPr>
                  <a:t>r+1 </a:t>
                </a:r>
                <a:r>
                  <a:rPr lang="en-US" altLang="ko-KR" dirty="0" smtClean="0">
                    <a:latin typeface="Times New Roman"/>
                    <a:cs typeface="Times New Roman"/>
                  </a:rPr>
                  <a:t>will </a:t>
                </a:r>
                <a:r>
                  <a:rPr lang="en-US" altLang="ko-KR" dirty="0">
                    <a:latin typeface="Times New Roman"/>
                    <a:cs typeface="Times New Roman"/>
                  </a:rPr>
                  <a:t>be detected with probability 1-(</a:t>
                </a:r>
                <a:r>
                  <a:rPr lang="en-US" altLang="ko-KR" dirty="0" smtClean="0">
                    <a:latin typeface="Times New Roman"/>
                    <a:cs typeface="Times New Roman"/>
                  </a:rPr>
                  <a:t>1/2)</a:t>
                </a:r>
                <a:r>
                  <a:rPr lang="en-US" altLang="ko-KR" baseline="30000" dirty="0" smtClean="0">
                    <a:latin typeface="Times New Roman"/>
                    <a:cs typeface="Times New Roman"/>
                  </a:rPr>
                  <a:t>r</a:t>
                </a:r>
                <a:endParaRPr lang="en-US" altLang="ko-KR" dirty="0" smtClean="0">
                  <a:latin typeface="Times New Roman" pitchFamily="18" charset="0"/>
                </a:endParaRPr>
              </a:p>
              <a:p>
                <a:pPr lvl="1" algn="just">
                  <a:defRPr/>
                </a:pPr>
                <a:endParaRPr lang="en-US" altLang="ko-KR" dirty="0">
                  <a:latin typeface="Times New Roman" pitchFamily="18" charset="0"/>
                </a:endParaRPr>
              </a:p>
              <a:p>
                <a:pPr algn="just">
                  <a:defRPr/>
                </a:pPr>
                <a:endParaRPr lang="en-US" altLang="ko-KR" dirty="0" smtClean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048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350" y="536575"/>
                <a:ext cx="8429625" cy="6045200"/>
              </a:xfrm>
              <a:blipFill rotWithShape="1">
                <a:blip r:embed="rId2"/>
                <a:stretch>
                  <a:fillRect l="-1158" r="-796" b="-15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1974147"/>
            <a:ext cx="6062764" cy="1419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31416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10.3  Cyclic Codes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</a:rPr>
              <a:t>A Good Polynomial Generator</a:t>
            </a: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has at least two terms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has “1”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not divide 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b="1" i="1" baseline="30000" dirty="0" smtClean="0">
                <a:latin typeface="Times New Roman" pitchFamily="18" charset="0"/>
              </a:rPr>
              <a:t>t</a:t>
            </a:r>
            <a:r>
              <a:rPr lang="en-US" altLang="ko-KR" dirty="0" smtClean="0">
                <a:latin typeface="Times New Roman" pitchFamily="18" charset="0"/>
              </a:rPr>
              <a:t>+1, for </a:t>
            </a:r>
            <a:r>
              <a:rPr lang="en-US" altLang="ko-KR" b="1" i="1" dirty="0" smtClean="0">
                <a:latin typeface="Times New Roman" pitchFamily="18" charset="0"/>
              </a:rPr>
              <a:t>t</a:t>
            </a:r>
            <a:r>
              <a:rPr lang="en-US" altLang="ko-KR" dirty="0" smtClean="0">
                <a:latin typeface="Times New Roman" pitchFamily="18" charset="0"/>
              </a:rPr>
              <a:t> </a:t>
            </a:r>
            <a:r>
              <a:rPr lang="en-US" altLang="ko-KR" smtClean="0">
                <a:latin typeface="Times New Roman" pitchFamily="18" charset="0"/>
              </a:rPr>
              <a:t>between </a:t>
            </a:r>
            <a:r>
              <a:rPr lang="en-US" altLang="ko-KR" smtClean="0">
                <a:latin typeface="Times New Roman" pitchFamily="18" charset="0"/>
              </a:rPr>
              <a:t>2 </a:t>
            </a:r>
            <a:r>
              <a:rPr lang="en-US" altLang="ko-KR" dirty="0" smtClean="0">
                <a:latin typeface="Times New Roman" pitchFamily="18" charset="0"/>
              </a:rPr>
              <a:t>and </a:t>
            </a:r>
            <a:r>
              <a:rPr lang="en-US" altLang="ko-KR" b="1" i="1" dirty="0" smtClean="0">
                <a:latin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</a:rPr>
              <a:t>-1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has the factor </a:t>
            </a:r>
            <a:r>
              <a:rPr lang="en-US" altLang="ko-KR" b="1" i="1" dirty="0" smtClean="0">
                <a:latin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</a:rPr>
              <a:t>+1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Standard Polynomials</a:t>
            </a: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3250640"/>
            <a:ext cx="8345870" cy="3212074"/>
          </a:xfrm>
          <a:prstGeom prst="rect">
            <a:avLst/>
          </a:prstGeom>
          <a:ln w="190500" cap="sq">
            <a:solidFill>
              <a:srgbClr val="0070C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9175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10.3  Cyclic Codes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10.3.5 Advantage of Cyclic Code 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have a very good performance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can easily be implemented in hardware and software.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are especially fast when implemented in hardware.</a:t>
            </a:r>
          </a:p>
          <a:p>
            <a:pPr marL="0" lvl="2" indent="0" algn="just">
              <a:lnSpc>
                <a:spcPct val="200000"/>
              </a:lnSpc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10.3.6 Other Cyclic Codes 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based on Galois fields</a:t>
            </a:r>
          </a:p>
          <a:p>
            <a:pPr algn="just">
              <a:defRPr/>
            </a:pPr>
            <a:r>
              <a:rPr lang="en-US" altLang="ko-KR" b="1" i="1" dirty="0" smtClean="0">
                <a:latin typeface="Times New Roman" pitchFamily="18" charset="0"/>
              </a:rPr>
              <a:t>ex.</a:t>
            </a:r>
            <a:r>
              <a:rPr lang="en-US" altLang="ko-KR" dirty="0" smtClean="0">
                <a:latin typeface="Times New Roman" pitchFamily="18" charset="0"/>
              </a:rPr>
              <a:t>) Reed-Solomon code</a:t>
            </a:r>
          </a:p>
          <a:p>
            <a:pPr marL="0" lvl="2" indent="0" algn="just">
              <a:lnSpc>
                <a:spcPct val="200000"/>
              </a:lnSpc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10.3.7 Hardware Implementation </a:t>
            </a: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encoder and decoder can easily and cheaply be implemented </a:t>
            </a:r>
            <a:r>
              <a:rPr lang="en-US" altLang="ko-KR" dirty="0">
                <a:latin typeface="Times New Roman" pitchFamily="18" charset="0"/>
              </a:rPr>
              <a:t>in hardware by using a handful of electronic </a:t>
            </a:r>
            <a:r>
              <a:rPr lang="en-US" altLang="ko-KR" dirty="0" smtClean="0">
                <a:latin typeface="Times New Roman" pitchFamily="18" charset="0"/>
              </a:rPr>
              <a:t>devices.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a hardware implementation increases the rate of check bit and syndrome bit calculation. </a:t>
            </a:r>
            <a:endParaRPr lang="en-US" altLang="ko-KR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7900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10.3  Cyclic Codes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74650" y="735013"/>
            <a:ext cx="8556625" cy="56165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Hand-wired design of the divisor in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CRC</a:t>
            </a:r>
            <a:endParaRPr lang="en-US" altLang="ko-KR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99" y="1665621"/>
            <a:ext cx="8100001" cy="3077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5631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10.3  Cyclic Codes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74650" y="735013"/>
            <a:ext cx="8556625" cy="56165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Simulation of division in CRC encoder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873" y="1285875"/>
            <a:ext cx="6311051" cy="5295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62418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10.3  Cyclic Codes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74650" y="735013"/>
            <a:ext cx="8556625" cy="56165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CRC encoding design </a:t>
            </a: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using shift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register</a:t>
            </a:r>
          </a:p>
          <a:p>
            <a:pPr marL="0" indent="0">
              <a:buNone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General design of encoder and decoder of CRC</a:t>
            </a:r>
            <a:endParaRPr lang="en-US" altLang="ko-KR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99278"/>
            <a:ext cx="8303391" cy="629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40692"/>
            <a:ext cx="7474577" cy="1507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6" y="4876800"/>
            <a:ext cx="7459323" cy="1507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988312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10.3  Cyclic Codes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74650" y="735013"/>
            <a:ext cx="8556625" cy="5616575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Circuit Implementation for Cycle Codes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 smtClean="0">
                <a:latin typeface="+mj-lt"/>
              </a:rPr>
              <a:t>Dividing Polynomials</a:t>
            </a:r>
            <a:endParaRPr lang="en-US" altLang="ko-KR" dirty="0">
              <a:latin typeface="+mj-lt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3" y="1846263"/>
            <a:ext cx="45815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3" y="2379663"/>
            <a:ext cx="45815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888" y="1952625"/>
            <a:ext cx="2546350" cy="8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3" y="3005138"/>
            <a:ext cx="7648575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380971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10.3  Cyclic Codes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374650" y="735013"/>
            <a:ext cx="8556625" cy="561657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+mj-lt"/>
              </a:rPr>
              <a:t>Example</a:t>
            </a:r>
            <a:endParaRPr lang="en-US" altLang="ko-KR" b="1" i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5" y="749300"/>
            <a:ext cx="387350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84325"/>
            <a:ext cx="5927725" cy="210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783013"/>
            <a:ext cx="7858125" cy="25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929502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10.3  Cyclic Codes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374650" y="735013"/>
            <a:ext cx="8556625" cy="561657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+mj-lt"/>
              </a:rPr>
              <a:t>Example (continue)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dirty="0" smtClean="0">
                <a:latin typeface="+mj-lt"/>
              </a:rPr>
              <a:t>The quotient coefficients are serially presented at the output {1111}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dirty="0" smtClean="0">
                <a:latin typeface="+mj-lt"/>
              </a:rPr>
              <a:t>The registers contain the remainder coefficients {100} </a:t>
            </a:r>
            <a:endParaRPr lang="en-US" altLang="ko-KR" dirty="0">
              <a:latin typeface="+mj-lt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8" y="2409825"/>
            <a:ext cx="5119687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3114675"/>
            <a:ext cx="6604000" cy="351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9194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10.4  Checksum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10.4 Checksum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is an error-detecting technique that can be applied to a message of any length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mostly used at the network and transport layer rather than the data-link 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60" y="2952750"/>
            <a:ext cx="3273740" cy="356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990850"/>
            <a:ext cx="3273740" cy="356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Straight Arrow Connector 2"/>
          <p:cNvCxnSpPr/>
          <p:nvPr/>
        </p:nvCxnSpPr>
        <p:spPr bwMode="auto">
          <a:xfrm>
            <a:off x="3955765" y="5899841"/>
            <a:ext cx="1073435" cy="5659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8557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10.4  Checksum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10.4 .1 Concept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Ex. 10.11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Ex. 10.12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Ex. 10.13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2695575"/>
            <a:ext cx="313055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050" y="2695575"/>
            <a:ext cx="3108325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225" y="4905375"/>
            <a:ext cx="2022475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36346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10.4  Checksum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628649"/>
            <a:ext cx="8429625" cy="580072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+mj-lt"/>
              </a:rPr>
              <a:t>Procedure </a:t>
            </a:r>
            <a:r>
              <a:rPr lang="en-US" altLang="ko-KR" sz="2400" b="1" i="1" dirty="0">
                <a:solidFill>
                  <a:srgbClr val="C00000"/>
                </a:solidFill>
                <a:latin typeface="+mj-lt"/>
              </a:rPr>
              <a:t>to calculate the traditional checksum</a:t>
            </a:r>
            <a:r>
              <a:rPr lang="en-US" altLang="ko-KR" sz="2400" dirty="0">
                <a:solidFill>
                  <a:srgbClr val="002060"/>
                </a:solidFill>
                <a:latin typeface="Times-BoldItalic"/>
              </a:rPr>
              <a:t> 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" name="Group 1"/>
          <p:cNvGrpSpPr/>
          <p:nvPr/>
        </p:nvGrpSpPr>
        <p:grpSpPr>
          <a:xfrm>
            <a:off x="381000" y="1657350"/>
            <a:ext cx="8432616" cy="3103099"/>
            <a:chOff x="337463" y="2133600"/>
            <a:chExt cx="8432616" cy="3103099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63" y="2133600"/>
              <a:ext cx="8432616" cy="3103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Rectangle 17"/>
            <p:cNvSpPr/>
            <p:nvPr/>
          </p:nvSpPr>
          <p:spPr bwMode="auto">
            <a:xfrm>
              <a:off x="381000" y="2133600"/>
              <a:ext cx="8138160" cy="3017520"/>
            </a:xfrm>
            <a:prstGeom prst="rect">
              <a:avLst/>
            </a:prstGeom>
            <a:noFill/>
            <a:ln w="1016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by Kruffy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17692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10.4  Checksum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628649"/>
            <a:ext cx="8429625" cy="580072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None/>
              <a:defRPr/>
            </a:pPr>
            <a:r>
              <a:rPr lang="en-US" altLang="ko-KR" sz="2400" b="1" i="1" dirty="0">
                <a:solidFill>
                  <a:srgbClr val="C00000"/>
                </a:solidFill>
                <a:latin typeface="+mj-lt"/>
              </a:rPr>
              <a:t>Algorithm to calculate a traditional </a:t>
            </a:r>
            <a:r>
              <a:rPr lang="en-US" altLang="ko-KR" sz="2400" b="1" i="1" dirty="0" smtClean="0">
                <a:solidFill>
                  <a:srgbClr val="C00000"/>
                </a:solidFill>
                <a:latin typeface="+mj-lt"/>
              </a:rPr>
              <a:t>checksum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1138568"/>
            <a:ext cx="5257800" cy="5467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82" y="4691722"/>
            <a:ext cx="2647093" cy="1732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451257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10.5  Forward Error Correction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10.5 Forward Error Correction</a:t>
            </a:r>
          </a:p>
          <a:p>
            <a:pPr algn="just">
              <a:defRPr/>
            </a:pPr>
            <a:r>
              <a:rPr lang="en-US" altLang="ko-KR" dirty="0" smtClean="0">
                <a:latin typeface="+mj-lt"/>
              </a:rPr>
              <a:t>can correct </a:t>
            </a:r>
            <a:r>
              <a:rPr lang="en-US" altLang="ko-KR" dirty="0">
                <a:latin typeface="+mj-lt"/>
              </a:rPr>
              <a:t>the error or reproduce the packet immediately</a:t>
            </a:r>
            <a:r>
              <a:rPr lang="en-US" altLang="ko-KR" dirty="0" smtClean="0">
                <a:latin typeface="+mj-lt"/>
              </a:rPr>
              <a:t>.</a:t>
            </a:r>
            <a:endParaRPr lang="en-US" altLang="ko-KR" dirty="0">
              <a:latin typeface="+mj-lt"/>
            </a:endParaRPr>
          </a:p>
          <a:p>
            <a:pPr marL="0" indent="0" algn="just">
              <a:lnSpc>
                <a:spcPct val="200000"/>
              </a:lnSpc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10.5.1 Using Hamming Distance</a:t>
            </a:r>
          </a:p>
          <a:p>
            <a:pPr algn="just">
              <a:defRPr/>
            </a:pPr>
            <a:r>
              <a:rPr lang="en-US" altLang="ko-KR" dirty="0" smtClean="0">
                <a:latin typeface="+mj-lt"/>
                <a:cs typeface="Times New Roman" pitchFamily="18" charset="0"/>
              </a:rPr>
              <a:t>to correct </a:t>
            </a:r>
            <a:r>
              <a:rPr lang="en-US" altLang="ko-KR" b="1" i="1" dirty="0" smtClean="0">
                <a:latin typeface="+mj-lt"/>
                <a:cs typeface="Times New Roman" pitchFamily="18" charset="0"/>
              </a:rPr>
              <a:t>t</a:t>
            </a:r>
            <a:r>
              <a:rPr lang="en-US" altLang="ko-KR" dirty="0" smtClean="0">
                <a:latin typeface="+mj-lt"/>
                <a:cs typeface="Times New Roman" pitchFamily="18" charset="0"/>
              </a:rPr>
              <a:t> errors, </a:t>
            </a:r>
            <a:r>
              <a:rPr lang="en-US" altLang="ko-KR" b="1" i="1" dirty="0" err="1" smtClean="0">
                <a:latin typeface="+mj-lt"/>
                <a:cs typeface="Times New Roman" pitchFamily="18" charset="0"/>
              </a:rPr>
              <a:t>d</a:t>
            </a:r>
            <a:r>
              <a:rPr lang="en-US" altLang="ko-KR" baseline="-25000" dirty="0" err="1" smtClean="0">
                <a:latin typeface="+mj-lt"/>
                <a:cs typeface="Times New Roman" pitchFamily="18" charset="0"/>
              </a:rPr>
              <a:t>min</a:t>
            </a:r>
            <a:r>
              <a:rPr lang="en-US" altLang="ko-KR" dirty="0" smtClean="0">
                <a:latin typeface="+mj-lt"/>
                <a:cs typeface="Times New Roman" pitchFamily="18" charset="0"/>
              </a:rPr>
              <a:t> = 2</a:t>
            </a:r>
            <a:r>
              <a:rPr lang="en-US" altLang="ko-KR" b="1" i="1" dirty="0" smtClean="0">
                <a:latin typeface="+mj-lt"/>
                <a:cs typeface="Times New Roman" pitchFamily="18" charset="0"/>
              </a:rPr>
              <a:t>t </a:t>
            </a:r>
            <a:r>
              <a:rPr lang="en-US" altLang="ko-KR" dirty="0" smtClean="0">
                <a:latin typeface="+mj-lt"/>
                <a:cs typeface="Times New Roman" pitchFamily="18" charset="0"/>
              </a:rPr>
              <a:t>+ 1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3333750"/>
            <a:ext cx="7913137" cy="282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13035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713976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Homework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 </a:t>
            </a:r>
            <a:r>
              <a:rPr lang="en-US" altLang="ko-KR" dirty="0" smtClean="0">
                <a:latin typeface="Times New Roman" pitchFamily="18" charset="0"/>
              </a:rPr>
              <a:t>Implement CRC encoder and decoder for given length of data with CRC-16 and any program language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	</a:t>
            </a:r>
            <a:r>
              <a:rPr lang="en-US" altLang="ko-KR" dirty="0" smtClean="0">
                <a:latin typeface="Times New Roman" pitchFamily="18" charset="0"/>
              </a:rPr>
              <a:t> 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	</a:t>
            </a:r>
            <a:r>
              <a:rPr lang="en-US" altLang="ko-KR" dirty="0" smtClean="0">
                <a:latin typeface="Times New Roman" pitchFamily="18" charset="0"/>
              </a:rPr>
              <a:t>Read </a:t>
            </a:r>
            <a:r>
              <a:rPr lang="en-US" altLang="ko-KR" dirty="0">
                <a:latin typeface="Times New Roman" pitchFamily="18" charset="0"/>
              </a:rPr>
              <a:t>textbook pp. </a:t>
            </a:r>
            <a:r>
              <a:rPr lang="en-US" altLang="ko-KR" dirty="0" smtClean="0">
                <a:latin typeface="Times New Roman" pitchFamily="18" charset="0"/>
              </a:rPr>
              <a:t>293-320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</a:rPr>
              <a:t>Next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Lecture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Chapter </a:t>
            </a:r>
            <a:r>
              <a:rPr lang="en-US" altLang="ko-KR" dirty="0" smtClean="0">
                <a:latin typeface="Times New Roman" pitchFamily="18" charset="0"/>
              </a:rPr>
              <a:t>11. Data Link Control </a:t>
            </a:r>
            <a:r>
              <a:rPr lang="en-US" altLang="ko-KR" smtClean="0">
                <a:latin typeface="Times New Roman" pitchFamily="18" charset="0"/>
              </a:rPr>
              <a:t>(DLC)</a:t>
            </a:r>
            <a:endParaRPr lang="en-US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05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18914</TotalTime>
  <Words>1475</Words>
  <Application>Microsoft Office PowerPoint</Application>
  <PresentationFormat>화면 슬라이드 쇼(4:3)</PresentationFormat>
  <Paragraphs>282</Paragraphs>
  <Slides>35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6" baseType="lpstr">
      <vt:lpstr>기본 디자인</vt:lpstr>
      <vt:lpstr>Chapter  10   Error Detection  and Correction</vt:lpstr>
      <vt:lpstr>Ch. 10  Outline</vt:lpstr>
      <vt:lpstr>Ch. 10 Objective</vt:lpstr>
      <vt:lpstr>Ch. 10 Objective</vt:lpstr>
      <vt:lpstr>10.1  Introduction</vt:lpstr>
      <vt:lpstr>10.1  Introduction</vt:lpstr>
      <vt:lpstr>10.2  Block Coding</vt:lpstr>
      <vt:lpstr>10.2  Block Coding</vt:lpstr>
      <vt:lpstr>10.2  Block Coding</vt:lpstr>
      <vt:lpstr>10.2  Block Coding</vt:lpstr>
      <vt:lpstr>10.2  Block Coding</vt:lpstr>
      <vt:lpstr>10.2  Block Coding</vt:lpstr>
      <vt:lpstr>10.3  Cyclic Codes</vt:lpstr>
      <vt:lpstr>10.3  Cyclic Codes</vt:lpstr>
      <vt:lpstr>10.3  Cyclic Codes</vt:lpstr>
      <vt:lpstr>10.3  Cyclic Codes</vt:lpstr>
      <vt:lpstr>10.3  Cyclic Codes</vt:lpstr>
      <vt:lpstr>10.3  Cyclic Codes</vt:lpstr>
      <vt:lpstr>10.3  Cyclic Codes</vt:lpstr>
      <vt:lpstr>10.3  Cyclic Codes</vt:lpstr>
      <vt:lpstr>10.3  Cyclic Codes</vt:lpstr>
      <vt:lpstr>10.3  Cyclic Codes</vt:lpstr>
      <vt:lpstr>10.3  Cyclic Codes</vt:lpstr>
      <vt:lpstr>10.3  Cyclic Codes</vt:lpstr>
      <vt:lpstr>10.3  Cyclic Codes</vt:lpstr>
      <vt:lpstr>10.3  Cyclic Codes</vt:lpstr>
      <vt:lpstr>10.3  Cyclic Codes</vt:lpstr>
      <vt:lpstr>10.3  Cyclic Codes</vt:lpstr>
      <vt:lpstr>10.3  Cyclic Codes</vt:lpstr>
      <vt:lpstr>10.4  Checksum</vt:lpstr>
      <vt:lpstr>10.4  Checksum</vt:lpstr>
      <vt:lpstr>10.4  Checksum</vt:lpstr>
      <vt:lpstr>10.4  Checksum</vt:lpstr>
      <vt:lpstr>10.5  Forward Error Correction</vt:lpstr>
      <vt:lpstr>Homework</vt:lpstr>
    </vt:vector>
  </TitlesOfParts>
  <Company>UC Berkeley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김정구</cp:lastModifiedBy>
  <cp:revision>1124</cp:revision>
  <cp:lastPrinted>1998-01-20T18:41:17Z</cp:lastPrinted>
  <dcterms:created xsi:type="dcterms:W3CDTF">1997-04-13T14:24:48Z</dcterms:created>
  <dcterms:modified xsi:type="dcterms:W3CDTF">2013-05-16T02:26:10Z</dcterms:modified>
</cp:coreProperties>
</file>