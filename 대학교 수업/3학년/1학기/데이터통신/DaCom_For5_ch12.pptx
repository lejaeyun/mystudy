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8" r:id="rId1"/>
  </p:sldMasterIdLst>
  <p:notesMasterIdLst>
    <p:notesMasterId r:id="rId38"/>
  </p:notesMasterIdLst>
  <p:handoutMasterIdLst>
    <p:handoutMasterId r:id="rId39"/>
  </p:handoutMasterIdLst>
  <p:sldIdLst>
    <p:sldId id="256" r:id="rId2"/>
    <p:sldId id="429" r:id="rId3"/>
    <p:sldId id="448" r:id="rId4"/>
    <p:sldId id="449" r:id="rId5"/>
    <p:sldId id="622" r:id="rId6"/>
    <p:sldId id="623" r:id="rId7"/>
    <p:sldId id="624" r:id="rId8"/>
    <p:sldId id="625" r:id="rId9"/>
    <p:sldId id="626" r:id="rId10"/>
    <p:sldId id="627" r:id="rId11"/>
    <p:sldId id="628" r:id="rId12"/>
    <p:sldId id="629" r:id="rId13"/>
    <p:sldId id="630" r:id="rId14"/>
    <p:sldId id="632" r:id="rId15"/>
    <p:sldId id="631" r:id="rId16"/>
    <p:sldId id="636" r:id="rId17"/>
    <p:sldId id="633" r:id="rId18"/>
    <p:sldId id="637" r:id="rId19"/>
    <p:sldId id="638" r:id="rId20"/>
    <p:sldId id="639" r:id="rId21"/>
    <p:sldId id="640" r:id="rId22"/>
    <p:sldId id="641" r:id="rId23"/>
    <p:sldId id="642" r:id="rId24"/>
    <p:sldId id="643" r:id="rId25"/>
    <p:sldId id="644" r:id="rId26"/>
    <p:sldId id="645" r:id="rId27"/>
    <p:sldId id="646" r:id="rId28"/>
    <p:sldId id="647" r:id="rId29"/>
    <p:sldId id="648" r:id="rId30"/>
    <p:sldId id="649" r:id="rId31"/>
    <p:sldId id="650" r:id="rId32"/>
    <p:sldId id="651" r:id="rId33"/>
    <p:sldId id="652" r:id="rId34"/>
    <p:sldId id="653" r:id="rId35"/>
    <p:sldId id="654" r:id="rId36"/>
    <p:sldId id="550" r:id="rId37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99"/>
    <a:srgbClr val="7E0000"/>
    <a:srgbClr val="7B84C6"/>
    <a:srgbClr val="FF8C3C"/>
    <a:srgbClr val="C66B5A"/>
    <a:srgbClr val="315263"/>
    <a:srgbClr val="001E4A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20018" autoAdjust="0"/>
    <p:restoredTop sz="94591" autoAdjust="0"/>
  </p:normalViewPr>
  <p:slideViewPr>
    <p:cSldViewPr snapToGrid="0">
      <p:cViewPr>
        <p:scale>
          <a:sx n="100" d="100"/>
          <a:sy n="100" d="100"/>
        </p:scale>
        <p:origin x="-72" y="-204"/>
      </p:cViewPr>
      <p:guideLst>
        <p:guide orient="horz" pos="1536"/>
        <p:guide pos="397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115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r>
              <a:rPr lang="ko-KR" altLang="en-US"/>
              <a:t>EE141</a:t>
            </a:r>
            <a:endParaRPr lang="en-US" altLang="ko-KR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51300" y="0"/>
            <a:ext cx="30353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12325"/>
            <a:ext cx="31115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51300" y="9712325"/>
            <a:ext cx="30353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3CCB1160-95BA-43F5-8A38-970867445629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955342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115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r>
              <a:rPr lang="ko-KR" altLang="en-US"/>
              <a:t>EE141</a:t>
            </a:r>
            <a:endParaRPr lang="en-US" altLang="ko-KR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51300" y="0"/>
            <a:ext cx="30353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4088" y="760413"/>
            <a:ext cx="5181600" cy="3886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625" y="4899025"/>
            <a:ext cx="5214938" cy="4560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smtClean="0"/>
              <a:t>Click to edit Master text styles</a:t>
            </a:r>
          </a:p>
          <a:p>
            <a:pPr lvl="1"/>
            <a:r>
              <a:rPr lang="en-US" altLang="ko-KR" noProof="0" smtClean="0"/>
              <a:t>Second level</a:t>
            </a:r>
          </a:p>
          <a:p>
            <a:pPr lvl="2"/>
            <a:r>
              <a:rPr lang="en-US" altLang="ko-KR" noProof="0" smtClean="0"/>
              <a:t>Third level</a:t>
            </a:r>
          </a:p>
          <a:p>
            <a:pPr lvl="3"/>
            <a:r>
              <a:rPr lang="en-US" altLang="ko-KR" noProof="0" smtClean="0"/>
              <a:t>Fourth level</a:t>
            </a:r>
          </a:p>
          <a:p>
            <a:pPr lvl="4"/>
            <a:r>
              <a:rPr lang="en-US" altLang="ko-KR" noProof="0" smtClean="0"/>
              <a:t>Fifth level</a:t>
            </a:r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12325"/>
            <a:ext cx="31115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4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51300" y="9712325"/>
            <a:ext cx="30353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403C42A9-E316-4AA1-B844-5021B4B92E18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1433497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r>
              <a:rPr lang="ko-KR" altLang="en-US" sz="1400" i="0" smtClean="0">
                <a:latin typeface="Times New Roman" pitchFamily="18" charset="0"/>
              </a:rPr>
              <a:t>EE141</a:t>
            </a:r>
            <a:endParaRPr lang="en-US" altLang="ko-KR" sz="1400" i="0" smtClean="0">
              <a:latin typeface="Times New Roman" pitchFamily="18" charset="0"/>
            </a:endParaRPr>
          </a:p>
        </p:txBody>
      </p:sp>
      <p:sp>
        <p:nvSpPr>
          <p:cNvPr id="481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fld id="{0DD09AAB-6945-4B2F-AFC4-B1FD614E8BDE}" type="slidenum">
              <a:rPr lang="ko-KR" altLang="en-US" sz="1400" i="0" smtClean="0">
                <a:latin typeface="Times New Roman" pitchFamily="18" charset="0"/>
              </a:rPr>
              <a:pPr/>
              <a:t>1</a:t>
            </a:fld>
            <a:endParaRPr lang="en-US" altLang="ko-KR" sz="1400" i="0" smtClean="0">
              <a:latin typeface="Times New Roman" pitchFamily="18" charset="0"/>
            </a:endParaRPr>
          </a:p>
        </p:txBody>
      </p:sp>
      <p:sp>
        <p:nvSpPr>
          <p:cNvPr id="481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ltGray">
          <a:xfrm>
            <a:off x="0" y="6597650"/>
            <a:ext cx="9144000" cy="260350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latinLnBrk="1" hangingPunct="1"/>
            <a:endParaRPr kumimoji="1" lang="ko-KR" altLang="en-US" sz="1800" b="1" i="0">
              <a:solidFill>
                <a:schemeClr val="bg1"/>
              </a:solidFill>
              <a:ea typeface="HY헤드라인M" pitchFamily="18" charset="-127"/>
              <a:sym typeface="Wingdings 2" pitchFamily="18" charset="2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ltGray">
          <a:xfrm>
            <a:off x="0" y="6742113"/>
            <a:ext cx="9144000" cy="0"/>
          </a:xfrm>
          <a:prstGeom prst="line">
            <a:avLst/>
          </a:prstGeom>
          <a:noFill/>
          <a:ln w="38100">
            <a:solidFill>
              <a:srgbClr val="777777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2020888" y="1352550"/>
            <a:ext cx="0" cy="635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2020888" y="1700213"/>
            <a:ext cx="564515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7666038" y="1352550"/>
            <a:ext cx="0" cy="635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ltGray">
          <a:xfrm>
            <a:off x="22225" y="0"/>
            <a:ext cx="9144000" cy="534988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r" eaLnBrk="1" latinLnBrk="1" hangingPunct="1"/>
            <a:r>
              <a:rPr kumimoji="1" lang="en-US" altLang="ko-KR" sz="1600" b="1">
                <a:solidFill>
                  <a:schemeClr val="bg1"/>
                </a:solidFill>
                <a:ea typeface="돋움" pitchFamily="50" charset="-127"/>
              </a:rPr>
              <a:t>Pusan National University </a:t>
            </a:r>
            <a:endParaRPr kumimoji="1" lang="en-US" altLang="ko-KR" sz="1000" b="1" i="0">
              <a:solidFill>
                <a:schemeClr val="bg1"/>
              </a:solidFill>
              <a:ea typeface="돋움" pitchFamily="50" charset="-127"/>
            </a:endParaRPr>
          </a:p>
        </p:txBody>
      </p: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0" y="84138"/>
            <a:ext cx="6565900" cy="357187"/>
            <a:chOff x="0" y="53"/>
            <a:chExt cx="5569" cy="225"/>
          </a:xfrm>
        </p:grpSpPr>
        <p:sp>
          <p:nvSpPr>
            <p:cNvPr id="11" name="Line 11"/>
            <p:cNvSpPr>
              <a:spLocks noChangeShapeType="1"/>
            </p:cNvSpPr>
            <p:nvPr userDrawn="1"/>
          </p:nvSpPr>
          <p:spPr bwMode="ltGray">
            <a:xfrm>
              <a:off x="0" y="27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Line 12"/>
            <p:cNvSpPr>
              <a:spLocks noChangeShapeType="1"/>
            </p:cNvSpPr>
            <p:nvPr userDrawn="1"/>
          </p:nvSpPr>
          <p:spPr bwMode="ltGray">
            <a:xfrm>
              <a:off x="0" y="23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Line 13"/>
            <p:cNvSpPr>
              <a:spLocks noChangeShapeType="1"/>
            </p:cNvSpPr>
            <p:nvPr userDrawn="1"/>
          </p:nvSpPr>
          <p:spPr bwMode="ltGray">
            <a:xfrm>
              <a:off x="0" y="18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Line 14"/>
            <p:cNvSpPr>
              <a:spLocks noChangeShapeType="1"/>
            </p:cNvSpPr>
            <p:nvPr userDrawn="1"/>
          </p:nvSpPr>
          <p:spPr bwMode="ltGray">
            <a:xfrm>
              <a:off x="0" y="14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Line 15"/>
            <p:cNvSpPr>
              <a:spLocks noChangeShapeType="1"/>
            </p:cNvSpPr>
            <p:nvPr userDrawn="1"/>
          </p:nvSpPr>
          <p:spPr bwMode="ltGray">
            <a:xfrm>
              <a:off x="0" y="9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Line 16"/>
            <p:cNvSpPr>
              <a:spLocks noChangeShapeType="1"/>
            </p:cNvSpPr>
            <p:nvPr userDrawn="1"/>
          </p:nvSpPr>
          <p:spPr bwMode="ltGray">
            <a:xfrm>
              <a:off x="0" y="5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2066925" y="1700213"/>
            <a:ext cx="265747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latinLnBrk="1" hangingPunct="1"/>
            <a:endParaRPr kumimoji="1" lang="ko-KR" altLang="en-US" sz="1600" b="1">
              <a:solidFill>
                <a:srgbClr val="777777"/>
              </a:solidFill>
              <a:ea typeface="돋움" pitchFamily="50" charset="-127"/>
            </a:endParaRPr>
          </a:p>
        </p:txBody>
      </p:sp>
      <p:pic>
        <p:nvPicPr>
          <p:cNvPr id="18" name="Picture 18" descr="sub06_img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363" y="1036638"/>
            <a:ext cx="885825" cy="167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2076450" y="1092200"/>
            <a:ext cx="581660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eaLnBrk="1" latinLnBrk="1" hangingPunct="1">
              <a:defRPr/>
            </a:pPr>
            <a:r>
              <a:rPr kumimoji="1" lang="en-US" altLang="ko-KR" sz="3400" b="1" smtClean="0">
                <a:solidFill>
                  <a:srgbClr val="C00000"/>
                </a:solidFill>
                <a:latin typeface="Arial Black" pitchFamily="34" charset="0"/>
                <a:ea typeface="돋움" pitchFamily="50" charset="-127"/>
              </a:rPr>
              <a:t>Data Communications</a:t>
            </a:r>
          </a:p>
        </p:txBody>
      </p:sp>
      <p:sp>
        <p:nvSpPr>
          <p:cNvPr id="481282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2066303" y="1916084"/>
            <a:ext cx="5599113" cy="661988"/>
          </a:xfrm>
        </p:spPr>
        <p:txBody>
          <a:bodyPr rIns="90000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4812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 b="1"/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014929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1800"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icrosoft Sans Serif" pitchFamily="34" charset="0"/>
                <a:cs typeface="Microsoft Sans Serif" pitchFamily="34" charset="0"/>
              </a:defRPr>
            </a:lvl1pPr>
            <a:lvl2pPr>
              <a:defRPr>
                <a:latin typeface="Microsoft Sans Serif" pitchFamily="34" charset="0"/>
                <a:cs typeface="Microsoft Sans Serif" pitchFamily="34" charset="0"/>
              </a:defRPr>
            </a:lvl2pPr>
            <a:lvl3pPr>
              <a:defRPr>
                <a:latin typeface="Microsoft Sans Serif" pitchFamily="34" charset="0"/>
                <a:cs typeface="Microsoft Sans Serif" pitchFamily="34" charset="0"/>
              </a:defRPr>
            </a:lvl3pPr>
            <a:lvl4pPr>
              <a:defRPr>
                <a:latin typeface="Microsoft Sans Serif" pitchFamily="34" charset="0"/>
                <a:cs typeface="Microsoft Sans Serif" pitchFamily="34" charset="0"/>
              </a:defRPr>
            </a:lvl4pPr>
            <a:lvl5pPr>
              <a:defRPr>
                <a:latin typeface="Microsoft Sans Serif" pitchFamily="34" charset="0"/>
                <a:cs typeface="Microsoft Sans Serif" pitchFamily="34" charset="0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521421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70049434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1800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38688" y="765175"/>
            <a:ext cx="4202112" cy="5616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6478766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2948103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713296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201416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690032066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507126227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049930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8000" y="-11113"/>
            <a:ext cx="2286000" cy="6392863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0" y="-11113"/>
            <a:ext cx="6705600" cy="6392863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85575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-11113"/>
            <a:ext cx="9144000" cy="549276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38688" y="765175"/>
            <a:ext cx="4202112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36167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제목, 내용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-11113"/>
            <a:ext cx="9144000" cy="549276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4738688" y="765175"/>
            <a:ext cx="4202112" cy="27320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4738688" y="3649663"/>
            <a:ext cx="4202112" cy="2732087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666847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0" y="0"/>
            <a:ext cx="9144000" cy="549275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latinLnBrk="1" hangingPunct="1"/>
            <a:endParaRPr kumimoji="1" lang="ko-KR" altLang="en-US" sz="1800" b="1" i="0">
              <a:solidFill>
                <a:schemeClr val="bg1"/>
              </a:solidFill>
              <a:ea typeface="돋움" pitchFamily="50" charset="-127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ltGray">
          <a:xfrm>
            <a:off x="0" y="-11113"/>
            <a:ext cx="9144000" cy="549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36000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Master</a:t>
            </a:r>
            <a:endParaRPr lang="ko-KR" altLang="en-US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4175" y="765175"/>
            <a:ext cx="8556625" cy="561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First</a:t>
            </a:r>
            <a:endParaRPr lang="ko-KR" altLang="en-US" smtClean="0"/>
          </a:p>
          <a:p>
            <a:pPr lvl="1"/>
            <a:r>
              <a:rPr lang="en-US" altLang="ko-KR" smtClean="0"/>
              <a:t>Second</a:t>
            </a:r>
            <a:endParaRPr lang="ko-KR" altLang="en-US" smtClean="0"/>
          </a:p>
          <a:p>
            <a:pPr lvl="2"/>
            <a:r>
              <a:rPr lang="en-US" altLang="ko-KR" smtClean="0"/>
              <a:t>Third</a:t>
            </a:r>
            <a:endParaRPr lang="ko-KR" altLang="en-US" smtClean="0"/>
          </a:p>
          <a:p>
            <a:pPr lvl="3"/>
            <a:r>
              <a:rPr lang="en-US" altLang="ko-KR" smtClean="0"/>
              <a:t>Fourth</a:t>
            </a:r>
            <a:endParaRPr lang="ko-KR" altLang="en-US" smtClean="0"/>
          </a:p>
          <a:p>
            <a:pPr lvl="4"/>
            <a:r>
              <a:rPr lang="en-US" altLang="ko-KR" smtClean="0"/>
              <a:t>Fifth</a:t>
            </a:r>
            <a:endParaRPr lang="ko-KR" altLang="en-US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0" y="6624638"/>
            <a:ext cx="9144000" cy="260350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latinLnBrk="1" hangingPunct="1"/>
            <a:r>
              <a:rPr kumimoji="1" lang="ko-KR" altLang="en-US" sz="1200" b="1" i="0">
                <a:solidFill>
                  <a:schemeClr val="bg1"/>
                </a:solidFill>
                <a:latin typeface="HY목판L" pitchFamily="18" charset="-127"/>
                <a:ea typeface="HY목판L" pitchFamily="18" charset="-127"/>
              </a:rPr>
              <a:t>     </a:t>
            </a:r>
            <a:r>
              <a:rPr kumimoji="1" lang="en-US" altLang="ko-KR" sz="1200" b="1" i="0">
                <a:solidFill>
                  <a:schemeClr val="bg1"/>
                </a:solidFill>
                <a:latin typeface="HY목판L" pitchFamily="18" charset="-127"/>
                <a:ea typeface="HY목판L" pitchFamily="18" charset="-127"/>
              </a:rPr>
              <a:t>Advanced Broadcasting &amp; Communications  Lab.</a:t>
            </a:r>
            <a:endParaRPr kumimoji="1" lang="en-US" altLang="ko-KR" sz="1800" b="1" i="0">
              <a:solidFill>
                <a:schemeClr val="bg1"/>
              </a:solidFill>
              <a:latin typeface="HY목판L" pitchFamily="18" charset="-127"/>
              <a:ea typeface="HY목판L" pitchFamily="18" charset="-127"/>
              <a:sym typeface="Wingdings 2" pitchFamily="18" charset="2"/>
            </a:endParaRPr>
          </a:p>
        </p:txBody>
      </p:sp>
      <p:sp>
        <p:nvSpPr>
          <p:cNvPr id="1030" name="Oval 6"/>
          <p:cNvSpPr>
            <a:spLocks noChangeArrowheads="1"/>
          </p:cNvSpPr>
          <p:nvPr/>
        </p:nvSpPr>
        <p:spPr bwMode="ltGray">
          <a:xfrm>
            <a:off x="8228013" y="6616700"/>
            <a:ext cx="431800" cy="219075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r" eaLnBrk="1" latinLnBrk="1" hangingPunct="1"/>
            <a:fld id="{CEE226F8-AF74-4623-8521-365EFC50DC76}" type="slidenum">
              <a:rPr kumimoji="1" lang="ko-KR" altLang="en-US" sz="1200" b="1" i="0">
                <a:solidFill>
                  <a:schemeClr val="bg1"/>
                </a:solidFill>
                <a:latin typeface="Verdana" pitchFamily="34" charset="0"/>
                <a:ea typeface="HY각헤드라인M" pitchFamily="18" charset="-127"/>
              </a:rPr>
              <a:pPr algn="r" eaLnBrk="1" latinLnBrk="1" hangingPunct="1"/>
              <a:t>‹#›</a:t>
            </a:fld>
            <a:endParaRPr kumimoji="1" lang="en-US" altLang="ko-KR" sz="1200" b="1" i="0">
              <a:solidFill>
                <a:schemeClr val="bg1"/>
              </a:solidFill>
              <a:latin typeface="Verdana" pitchFamily="34" charset="0"/>
              <a:ea typeface="HY각헤드라인M" pitchFamily="18" charset="-127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ltGray">
          <a:xfrm>
            <a:off x="4238625" y="6742113"/>
            <a:ext cx="3806825" cy="0"/>
          </a:xfrm>
          <a:prstGeom prst="line">
            <a:avLst/>
          </a:prstGeom>
          <a:noFill/>
          <a:ln w="38100">
            <a:solidFill>
              <a:srgbClr val="777777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0" y="84138"/>
            <a:ext cx="5969000" cy="357187"/>
            <a:chOff x="0" y="53"/>
            <a:chExt cx="5569" cy="225"/>
          </a:xfrm>
        </p:grpSpPr>
        <p:sp>
          <p:nvSpPr>
            <p:cNvPr id="1037" name="Line 9"/>
            <p:cNvSpPr>
              <a:spLocks noChangeShapeType="1"/>
            </p:cNvSpPr>
            <p:nvPr userDrawn="1"/>
          </p:nvSpPr>
          <p:spPr bwMode="ltGray">
            <a:xfrm>
              <a:off x="0" y="27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38" name="Line 10"/>
            <p:cNvSpPr>
              <a:spLocks noChangeShapeType="1"/>
            </p:cNvSpPr>
            <p:nvPr userDrawn="1"/>
          </p:nvSpPr>
          <p:spPr bwMode="ltGray">
            <a:xfrm>
              <a:off x="0" y="23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39" name="Line 11"/>
            <p:cNvSpPr>
              <a:spLocks noChangeShapeType="1"/>
            </p:cNvSpPr>
            <p:nvPr userDrawn="1"/>
          </p:nvSpPr>
          <p:spPr bwMode="ltGray">
            <a:xfrm>
              <a:off x="0" y="18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40" name="Line 12"/>
            <p:cNvSpPr>
              <a:spLocks noChangeShapeType="1"/>
            </p:cNvSpPr>
            <p:nvPr userDrawn="1"/>
          </p:nvSpPr>
          <p:spPr bwMode="ltGray">
            <a:xfrm>
              <a:off x="0" y="14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41" name="Line 13"/>
            <p:cNvSpPr>
              <a:spLocks noChangeShapeType="1"/>
            </p:cNvSpPr>
            <p:nvPr userDrawn="1"/>
          </p:nvSpPr>
          <p:spPr bwMode="ltGray">
            <a:xfrm>
              <a:off x="0" y="9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42" name="Line 14"/>
            <p:cNvSpPr>
              <a:spLocks noChangeShapeType="1"/>
            </p:cNvSpPr>
            <p:nvPr userDrawn="1"/>
          </p:nvSpPr>
          <p:spPr bwMode="ltGray">
            <a:xfrm>
              <a:off x="0" y="5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33" name="Group 15"/>
          <p:cNvGrpSpPr>
            <a:grpSpLocks/>
          </p:cNvGrpSpPr>
          <p:nvPr/>
        </p:nvGrpSpPr>
        <p:grpSpPr bwMode="auto">
          <a:xfrm>
            <a:off x="166688" y="84138"/>
            <a:ext cx="1776412" cy="427037"/>
            <a:chOff x="135" y="621"/>
            <a:chExt cx="1035" cy="269"/>
          </a:xfrm>
        </p:grpSpPr>
        <p:sp>
          <p:nvSpPr>
            <p:cNvPr id="1034" name="Text Box 16"/>
            <p:cNvSpPr txBox="1">
              <a:spLocks noChangeArrowheads="1"/>
            </p:cNvSpPr>
            <p:nvPr userDrawn="1"/>
          </p:nvSpPr>
          <p:spPr bwMode="auto">
            <a:xfrm>
              <a:off x="135" y="656"/>
              <a:ext cx="56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en-US" altLang="ko-KR" sz="1600" b="1" smtClean="0">
                  <a:solidFill>
                    <a:srgbClr val="99CC00"/>
                  </a:solidFill>
                  <a:latin typeface="Arial Black" pitchFamily="34" charset="0"/>
                  <a:ea typeface="돋움" pitchFamily="50" charset="-127"/>
                </a:rPr>
                <a:t>power</a:t>
              </a:r>
            </a:p>
          </p:txBody>
        </p:sp>
        <p:sp>
          <p:nvSpPr>
            <p:cNvPr id="1035" name="Text Box 17"/>
            <p:cNvSpPr txBox="1">
              <a:spLocks noChangeArrowheads="1"/>
            </p:cNvSpPr>
            <p:nvPr userDrawn="1"/>
          </p:nvSpPr>
          <p:spPr bwMode="auto">
            <a:xfrm>
              <a:off x="632" y="621"/>
              <a:ext cx="53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en-US" altLang="ko-KR" sz="2200" b="1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PNU</a:t>
              </a:r>
            </a:p>
          </p:txBody>
        </p:sp>
        <p:sp>
          <p:nvSpPr>
            <p:cNvPr id="1036" name="Text Box 18"/>
            <p:cNvSpPr txBox="1">
              <a:spLocks noChangeArrowheads="1"/>
            </p:cNvSpPr>
            <p:nvPr userDrawn="1"/>
          </p:nvSpPr>
          <p:spPr bwMode="auto">
            <a:xfrm>
              <a:off x="152" y="623"/>
              <a:ext cx="62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ko-KR" altLang="en-US" sz="900" b="1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세계로</a:t>
              </a:r>
              <a:r>
                <a:rPr kumimoji="1" lang="ko-KR" altLang="en-US" sz="900" b="1" smtClean="0">
                  <a:solidFill>
                    <a:schemeClr val="bg2"/>
                  </a:solidFill>
                  <a:latin typeface="Arial Black" pitchFamily="34" charset="0"/>
                  <a:ea typeface="돋움" pitchFamily="50" charset="-127"/>
                </a:rPr>
                <a:t> </a:t>
              </a:r>
              <a:r>
                <a:rPr kumimoji="1" lang="ko-KR" altLang="en-US" sz="900" b="1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미래로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82" r:id="rId2"/>
    <p:sldLayoutId id="2147483883" r:id="rId3"/>
    <p:sldLayoutId id="2147483884" r:id="rId4"/>
    <p:sldLayoutId id="2147483885" r:id="rId5"/>
    <p:sldLayoutId id="2147483886" r:id="rId6"/>
    <p:sldLayoutId id="2147483887" r:id="rId7"/>
    <p:sldLayoutId id="2147483888" r:id="rId8"/>
    <p:sldLayoutId id="2147483889" r:id="rId9"/>
    <p:sldLayoutId id="2147483890" r:id="rId10"/>
    <p:sldLayoutId id="2147483891" r:id="rId11"/>
    <p:sldLayoutId id="2147483892" r:id="rId12"/>
    <p:sldLayoutId id="2147483893" r:id="rId13"/>
  </p:sldLayoutIdLst>
  <p:transition spd="med"/>
  <p:txStyles>
    <p:titleStyle>
      <a:lvl1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+mj-ea"/>
          <a:cs typeface="Microsoft Sans Serif" pitchFamily="34" charset="0"/>
        </a:defRPr>
      </a:lvl1pPr>
      <a:lvl2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2pPr>
      <a:lvl3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3pPr>
      <a:lvl4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4pPr>
      <a:lvl5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5pPr>
      <a:lvl6pPr marL="4572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6pPr>
      <a:lvl7pPr marL="9144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7pPr>
      <a:lvl8pPr marL="13716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8pPr>
      <a:lvl9pPr marL="18288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Blip>
          <a:blip r:embed="rId15"/>
        </a:buBlip>
        <a:defRPr kumimoji="1" sz="24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Blip>
          <a:blip r:embed="rId16"/>
        </a:buBlip>
        <a:defRPr kumimoji="1" sz="20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5"/>
          <p:cNvSpPr>
            <a:spLocks noGrp="1" noChangeArrowheads="1"/>
          </p:cNvSpPr>
          <p:nvPr>
            <p:ph type="subTitle" idx="1"/>
          </p:nvPr>
        </p:nvSpPr>
        <p:spPr>
          <a:xfrm>
            <a:off x="795338" y="5151438"/>
            <a:ext cx="4111625" cy="1298575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1600" smtClean="0">
                <a:latin typeface="Times New Roman" pitchFamily="18" charset="0"/>
              </a:rPr>
              <a:t>School of Computer Science and Engineering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smtClean="0">
                <a:latin typeface="Times New Roman" pitchFamily="18" charset="0"/>
              </a:rPr>
              <a:t>Pusan National University</a:t>
            </a:r>
          </a:p>
          <a:p>
            <a:pPr eaLnBrk="1" hangingPunct="1">
              <a:lnSpc>
                <a:spcPct val="90000"/>
              </a:lnSpc>
            </a:pPr>
            <a:endParaRPr lang="en-US" altLang="ko-KR" sz="16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600" smtClean="0">
                <a:latin typeface="Times New Roman" pitchFamily="18" charset="0"/>
              </a:rPr>
              <a:t>Jeong Goo Kim</a:t>
            </a:r>
          </a:p>
          <a:p>
            <a:pPr eaLnBrk="1" hangingPunct="1">
              <a:lnSpc>
                <a:spcPct val="90000"/>
              </a:lnSpc>
            </a:pPr>
            <a:endParaRPr lang="ko-KR" altLang="en-US" smtClean="0">
              <a:latin typeface="Times New Roman" pitchFamily="18" charset="0"/>
            </a:endParaRPr>
          </a:p>
        </p:txBody>
      </p:sp>
      <p:sp>
        <p:nvSpPr>
          <p:cNvPr id="18435" name="Rectangle 16"/>
          <p:cNvSpPr>
            <a:spLocks noGrp="1" noChangeArrowheads="1"/>
          </p:cNvSpPr>
          <p:nvPr>
            <p:ph type="ctrTitle"/>
          </p:nvPr>
        </p:nvSpPr>
        <p:spPr>
          <a:xfrm>
            <a:off x="260350" y="2609851"/>
            <a:ext cx="4953000" cy="2333624"/>
          </a:xfrm>
        </p:spPr>
        <p:txBody>
          <a:bodyPr/>
          <a:lstStyle/>
          <a:p>
            <a:pPr algn="ctr" eaLnBrk="1" hangingPunct="1"/>
            <a:r>
              <a:rPr lang="en-US" altLang="ko-KR" sz="4000" i="1" smtClean="0">
                <a:latin typeface="+mj-lt"/>
              </a:rPr>
              <a:t>Chapter  12</a:t>
            </a:r>
            <a:r>
              <a:rPr lang="en-US" altLang="ko-KR" sz="4000" b="0" smtClean="0"/>
              <a:t> </a:t>
            </a:r>
            <a:br>
              <a:rPr lang="en-US" altLang="ko-KR" sz="4000" b="0" smtClean="0"/>
            </a:br>
            <a:r>
              <a:rPr lang="en-US" altLang="ko-KR" sz="4000" b="0" smtClean="0">
                <a:solidFill>
                  <a:srgbClr val="C00000"/>
                </a:solidFill>
                <a:latin typeface="+mj-lt"/>
              </a:rPr>
              <a:t/>
            </a:r>
            <a:br>
              <a:rPr lang="en-US" altLang="ko-KR" sz="4000" b="0" smtClean="0">
                <a:solidFill>
                  <a:srgbClr val="C00000"/>
                </a:solidFill>
                <a:latin typeface="+mj-lt"/>
              </a:rPr>
            </a:br>
            <a:r>
              <a:rPr lang="en-US" altLang="ko-KR" sz="4000" i="1" smtClean="0">
                <a:solidFill>
                  <a:srgbClr val="C00000"/>
                </a:solidFill>
                <a:latin typeface="+mj-lt"/>
              </a:rPr>
              <a:t>Media Access Control</a:t>
            </a:r>
            <a:br>
              <a:rPr lang="en-US" altLang="ko-KR" sz="4000" i="1" smtClean="0">
                <a:solidFill>
                  <a:srgbClr val="C00000"/>
                </a:solidFill>
                <a:latin typeface="+mj-lt"/>
              </a:rPr>
            </a:br>
            <a:r>
              <a:rPr lang="en-US" altLang="ko-KR" sz="4000" i="1" smtClean="0">
                <a:solidFill>
                  <a:srgbClr val="C00000"/>
                </a:solidFill>
                <a:latin typeface="+mj-lt"/>
              </a:rPr>
              <a:t>(MAC)</a:t>
            </a:r>
            <a:endParaRPr lang="en-US" altLang="ko-KR" sz="4000" i="1">
              <a:solidFill>
                <a:srgbClr val="C00000"/>
              </a:solidFill>
              <a:latin typeface="+mj-lt"/>
              <a:cs typeface="Arial" pitchFamily="34" charset="0"/>
            </a:endParaRPr>
          </a:p>
        </p:txBody>
      </p:sp>
      <p:pic>
        <p:nvPicPr>
          <p:cNvPr id="15364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350" y="2165350"/>
            <a:ext cx="3494088" cy="438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itchFamily="18" charset="0"/>
                <a:cs typeface="Times" pitchFamily="18" charset="0"/>
              </a:rPr>
              <a:t>Ch. 12  Outline</a:t>
            </a:r>
            <a:endParaRPr lang="ko-KR" altLang="en-US" sz="20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" pitchFamily="18" charset="0"/>
              <a:cs typeface="Times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2" indent="0" algn="just">
              <a:spcBef>
                <a:spcPts val="0"/>
              </a:spcBef>
              <a:buFontTx/>
              <a:buNone/>
              <a:defRPr/>
            </a:pPr>
            <a:r>
              <a:rPr lang="en-US" altLang="ko-KR" sz="32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Outline</a:t>
            </a:r>
            <a:endParaRPr lang="en-US" altLang="ko-KR" sz="32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endParaRPr lang="en-US" altLang="ko-KR" sz="360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"/>
            </a:endParaRPr>
          </a:p>
          <a:p>
            <a:pPr marL="0" indent="0" algn="just">
              <a:spcBef>
                <a:spcPts val="0"/>
              </a:spcBef>
              <a:buNone/>
              <a:defRPr/>
            </a:pPr>
            <a:r>
              <a:rPr lang="en-US" altLang="ko-KR" sz="2800" b="1" i="1" smtClean="0">
                <a:solidFill>
                  <a:srgbClr val="C00000"/>
                </a:solidFill>
                <a:latin typeface="Times"/>
              </a:rPr>
              <a:t>12.1   </a:t>
            </a:r>
            <a:r>
              <a:rPr lang="en-US" altLang="ko-KR" sz="2800" b="1" i="1" smtClean="0">
                <a:latin typeface="Times"/>
              </a:rPr>
              <a:t>Random Access</a:t>
            </a:r>
            <a:endParaRPr lang="en-US" altLang="ko-KR" sz="2800" b="1" i="1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endParaRPr lang="en-US" altLang="ko-KR" sz="2800" b="1" i="1" smtClean="0">
              <a:solidFill>
                <a:srgbClr val="C00000"/>
              </a:solidFill>
              <a:latin typeface="Times"/>
            </a:endParaRPr>
          </a:p>
          <a:p>
            <a:pPr marL="0" indent="0" algn="just">
              <a:spcBef>
                <a:spcPts val="0"/>
              </a:spcBef>
              <a:buNone/>
              <a:defRPr/>
            </a:pPr>
            <a:r>
              <a:rPr lang="en-US" altLang="ko-KR" sz="2800" b="1" i="1" smtClean="0">
                <a:solidFill>
                  <a:srgbClr val="C00000"/>
                </a:solidFill>
                <a:latin typeface="Times"/>
              </a:rPr>
              <a:t>12.2  </a:t>
            </a:r>
            <a:r>
              <a:rPr lang="en-US" altLang="ko-KR" sz="2800" b="1" i="1" smtClean="0">
                <a:latin typeface="Times"/>
              </a:rPr>
              <a:t>Controlled Access</a:t>
            </a:r>
          </a:p>
          <a:p>
            <a:pPr marL="0" indent="0" algn="just">
              <a:spcBef>
                <a:spcPts val="0"/>
              </a:spcBef>
              <a:buNone/>
              <a:defRPr/>
            </a:pPr>
            <a:endParaRPr lang="en-US" altLang="ko-KR" sz="2800" b="1" i="1">
              <a:solidFill>
                <a:srgbClr val="C00000"/>
              </a:solidFill>
              <a:latin typeface="Times"/>
            </a:endParaRPr>
          </a:p>
          <a:p>
            <a:pPr marL="0" indent="0" algn="just">
              <a:spcBef>
                <a:spcPts val="0"/>
              </a:spcBef>
              <a:buNone/>
              <a:defRPr/>
            </a:pPr>
            <a:r>
              <a:rPr lang="en-US" altLang="ko-KR" sz="2800" b="1" i="1" smtClean="0">
                <a:solidFill>
                  <a:srgbClr val="C00000"/>
                </a:solidFill>
                <a:latin typeface="Times"/>
              </a:rPr>
              <a:t>12.3  </a:t>
            </a:r>
            <a:r>
              <a:rPr lang="en-US" altLang="ko-KR" sz="2800" b="1" i="1" smtClean="0">
                <a:latin typeface="Times"/>
              </a:rPr>
              <a:t>Channelization</a:t>
            </a:r>
            <a:endParaRPr lang="en-US" altLang="ko-KR" sz="2800" b="1" i="1">
              <a:latin typeface="Times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endParaRPr lang="en-US" altLang="ko-KR" sz="2800" b="1" i="1" smtClean="0">
              <a:solidFill>
                <a:srgbClr val="C00000"/>
              </a:solidFill>
              <a:latin typeface="Times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endParaRPr lang="en-US" altLang="ko-KR" sz="2800" b="1" i="1" smtClean="0">
              <a:solidFill>
                <a:srgbClr val="C00000"/>
              </a:solidFill>
              <a:latin typeface="Time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>
              <a:defRPr/>
            </a:pPr>
            <a:r>
              <a:rPr lang="en-US" altLang="ko-KR" sz="2000" smtClean="0">
                <a:latin typeface="Times" pitchFamily="18" charset="0"/>
              </a:rPr>
              <a:t>Ch. 11 Objective</a:t>
            </a:r>
            <a:endParaRPr lang="en-US" altLang="ko-KR" sz="2000">
              <a:latin typeface="Times" pitchFamily="18" charset="0"/>
            </a:endParaRPr>
          </a:p>
        </p:txBody>
      </p:sp>
      <p:sp>
        <p:nvSpPr>
          <p:cNvPr id="17411" name="내용 개체 틀 2"/>
          <p:cNvSpPr>
            <a:spLocks noGrp="1"/>
          </p:cNvSpPr>
          <p:nvPr>
            <p:ph idx="1"/>
          </p:nvPr>
        </p:nvSpPr>
        <p:spPr>
          <a:xfrm>
            <a:off x="344488" y="685799"/>
            <a:ext cx="8429625" cy="590232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</a:pPr>
            <a:r>
              <a:rPr lang="en-US" altLang="ko-KR" sz="36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Objective</a:t>
            </a:r>
          </a:p>
          <a:p>
            <a:pPr marL="342900" lvl="2" indent="-342900">
              <a:lnSpc>
                <a:spcPct val="150000"/>
              </a:lnSpc>
              <a:buFontTx/>
              <a:buNone/>
            </a:pPr>
            <a:endParaRPr lang="en-US" altLang="ko-KR" sz="36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</a:pPr>
            <a:endParaRPr lang="en-US" altLang="ko-KR" sz="36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</a:pPr>
            <a:endParaRPr lang="en-US" altLang="ko-KR" sz="36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spcAft>
                <a:spcPts val="600"/>
              </a:spcAft>
              <a:buNone/>
            </a:pPr>
            <a:endParaRPr lang="en-US" altLang="ko-KR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spcAft>
                <a:spcPts val="600"/>
              </a:spcAft>
              <a:buNone/>
            </a:pPr>
            <a:r>
              <a:rPr lang="en-US" altLang="ko-KR" b="1" i="1" smtClean="0">
                <a:solidFill>
                  <a:srgbClr val="C00000"/>
                </a:solidFill>
                <a:latin typeface="Times New Roman" pitchFamily="18" charset="0"/>
              </a:rPr>
              <a:t>Fig. 12.1 </a:t>
            </a:r>
            <a:r>
              <a:rPr lang="en-US" altLang="ko-KR" smtClean="0">
                <a:latin typeface="Times New Roman" pitchFamily="18" charset="0"/>
              </a:rPr>
              <a:t>Taxonomy of multiple-access protocols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3" y="1933575"/>
            <a:ext cx="8453437" cy="163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" y="3571875"/>
            <a:ext cx="7834313" cy="98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12.1  Random Access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12.1 Random Access </a:t>
            </a:r>
          </a:p>
          <a:p>
            <a:pPr algn="just"/>
            <a:r>
              <a:rPr lang="en-US" altLang="ko-KR">
                <a:latin typeface="+mj-lt"/>
              </a:rPr>
              <a:t>In </a:t>
            </a:r>
            <a:r>
              <a:rPr lang="en-US" altLang="ko-KR" b="1" i="1">
                <a:latin typeface="+mj-lt"/>
              </a:rPr>
              <a:t>random-access</a:t>
            </a:r>
            <a:r>
              <a:rPr lang="en-US" altLang="ko-KR">
                <a:latin typeface="+mj-lt"/>
              </a:rPr>
              <a:t> or </a:t>
            </a:r>
            <a:r>
              <a:rPr lang="en-US" altLang="ko-KR" b="1" i="1">
                <a:latin typeface="+mj-lt"/>
              </a:rPr>
              <a:t>contention</a:t>
            </a:r>
            <a:r>
              <a:rPr lang="en-US" altLang="ko-KR">
                <a:latin typeface="+mj-lt"/>
              </a:rPr>
              <a:t> </a:t>
            </a:r>
            <a:r>
              <a:rPr lang="en-US" altLang="ko-KR" smtClean="0">
                <a:latin typeface="+mj-lt"/>
              </a:rPr>
              <a:t>methods, no </a:t>
            </a:r>
            <a:r>
              <a:rPr lang="en-US" altLang="ko-KR">
                <a:latin typeface="+mj-lt"/>
              </a:rPr>
              <a:t>station is superior to another station </a:t>
            </a:r>
            <a:r>
              <a:rPr lang="en-US" altLang="ko-KR" smtClean="0">
                <a:latin typeface="+mj-lt"/>
              </a:rPr>
              <a:t>and none </a:t>
            </a:r>
            <a:r>
              <a:rPr lang="en-US" altLang="ko-KR">
                <a:latin typeface="+mj-lt"/>
              </a:rPr>
              <a:t>is assigned control over another.</a:t>
            </a:r>
            <a:endParaRPr lang="en-US" altLang="ko-KR" smtClean="0">
              <a:solidFill>
                <a:srgbClr val="000000"/>
              </a:solidFill>
              <a:latin typeface="+mj-lt"/>
              <a:cs typeface="Times New Roman" pitchFamily="18" charset="0"/>
            </a:endParaRPr>
          </a:p>
          <a:p>
            <a:pPr algn="just"/>
            <a:r>
              <a:rPr lang="en-US" altLang="ko-KR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Random access</a:t>
            </a:r>
          </a:p>
          <a:p>
            <a:pPr lvl="1" algn="just"/>
            <a:r>
              <a:rPr lang="en-US" altLang="ko-KR" smtClean="0">
                <a:latin typeface="Times New Roman" pitchFamily="18" charset="0"/>
              </a:rPr>
              <a:t>no scheduled time</a:t>
            </a:r>
          </a:p>
          <a:p>
            <a:pPr lvl="1" algn="just"/>
            <a:r>
              <a:rPr lang="en-US" altLang="ko-KR" smtClean="0">
                <a:latin typeface="Times New Roman" pitchFamily="18" charset="0"/>
              </a:rPr>
              <a:t>transmission is random</a:t>
            </a:r>
          </a:p>
          <a:p>
            <a:pPr algn="just"/>
            <a:r>
              <a:rPr lang="en-US" altLang="ko-KR" smtClean="0">
                <a:latin typeface="Times New Roman" pitchFamily="18" charset="0"/>
              </a:rPr>
              <a:t>Contention</a:t>
            </a:r>
          </a:p>
          <a:p>
            <a:pPr lvl="1" algn="just"/>
            <a:r>
              <a:rPr lang="en-US" altLang="ko-KR" smtClean="0">
                <a:latin typeface="Times New Roman" pitchFamily="18" charset="0"/>
              </a:rPr>
              <a:t>no rule</a:t>
            </a:r>
          </a:p>
          <a:p>
            <a:pPr lvl="1" algn="just"/>
            <a:r>
              <a:rPr lang="en-US" altLang="ko-KR" smtClean="0">
                <a:latin typeface="Times New Roman" pitchFamily="18" charset="0"/>
              </a:rPr>
              <a:t>compete with one another to access the medium</a:t>
            </a: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12.1.1 ALOHA</a:t>
            </a:r>
          </a:p>
          <a:p>
            <a:pPr algn="just">
              <a:defRPr/>
            </a:pPr>
            <a:r>
              <a:rPr lang="en-US" altLang="ko-KR" smtClean="0">
                <a:latin typeface="+mj-lt"/>
              </a:rPr>
              <a:t>means “additive </a:t>
            </a:r>
            <a:r>
              <a:rPr lang="en-US" altLang="ko-KR">
                <a:latin typeface="+mj-lt"/>
              </a:rPr>
              <a:t>links on-line Hawaii </a:t>
            </a:r>
            <a:r>
              <a:rPr lang="en-US" altLang="ko-KR" smtClean="0">
                <a:latin typeface="+mj-lt"/>
              </a:rPr>
              <a:t>area”</a:t>
            </a:r>
          </a:p>
          <a:p>
            <a:pPr algn="just">
              <a:defRPr/>
            </a:pPr>
            <a:r>
              <a:rPr lang="en-US" altLang="ko-KR" smtClean="0">
                <a:latin typeface="+mj-lt"/>
              </a:rPr>
              <a:t>is the earliest contention method  </a:t>
            </a:r>
          </a:p>
          <a:p>
            <a:pPr algn="just">
              <a:defRPr/>
            </a:pPr>
            <a:r>
              <a:rPr lang="en-US" altLang="ko-KR" smtClean="0">
                <a:latin typeface="Times New Roman" pitchFamily="18" charset="0"/>
              </a:rPr>
              <a:t>was designed for radio LAN</a:t>
            </a:r>
          </a:p>
          <a:p>
            <a:pPr algn="just">
              <a:defRPr/>
            </a:pPr>
            <a:r>
              <a:rPr lang="en-US" altLang="ko-KR" smtClean="0">
                <a:latin typeface="Times New Roman" pitchFamily="18" charset="0"/>
              </a:rPr>
              <a:t>can be used any shared medium</a:t>
            </a:r>
          </a:p>
          <a:p>
            <a:pPr marL="457200" lvl="1" indent="0" algn="just">
              <a:buNone/>
              <a:defRPr/>
            </a:pPr>
            <a:endParaRPr lang="en-US" altLang="ko-KR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12.1  Random Access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Pure ALOHA</a:t>
            </a:r>
          </a:p>
          <a:p>
            <a:pPr algn="just">
              <a:defRPr/>
            </a:pPr>
            <a:r>
              <a:rPr lang="en-US" altLang="ko-KR" smtClean="0">
                <a:latin typeface="+mj-lt"/>
              </a:rPr>
              <a:t>very simple</a:t>
            </a:r>
          </a:p>
          <a:p>
            <a:pPr algn="just">
              <a:defRPr/>
            </a:pPr>
            <a:r>
              <a:rPr lang="en-US" altLang="ko-KR">
                <a:latin typeface="+mj-lt"/>
              </a:rPr>
              <a:t>possibility of collision between frames from different stations</a:t>
            </a:r>
          </a:p>
          <a:p>
            <a:pPr lvl="1" algn="just">
              <a:defRPr/>
            </a:pPr>
            <a:endParaRPr lang="en-US" altLang="ko-KR" smtClean="0">
              <a:latin typeface="+mj-lt"/>
            </a:endParaRPr>
          </a:p>
          <a:p>
            <a:pPr lvl="1" algn="just">
              <a:defRPr/>
            </a:pPr>
            <a:endParaRPr lang="en-US" altLang="ko-KR" smtClean="0">
              <a:latin typeface="+mj-lt"/>
            </a:endParaRPr>
          </a:p>
          <a:p>
            <a:pPr lvl="1" algn="just">
              <a:defRPr/>
            </a:pPr>
            <a:endParaRPr lang="en-US" altLang="ko-KR">
              <a:latin typeface="+mj-lt"/>
            </a:endParaRPr>
          </a:p>
          <a:p>
            <a:pPr lvl="1" algn="just">
              <a:defRPr/>
            </a:pPr>
            <a:endParaRPr lang="en-US" altLang="ko-KR" smtClean="0">
              <a:latin typeface="+mj-lt"/>
            </a:endParaRPr>
          </a:p>
          <a:p>
            <a:pPr lvl="1" algn="just">
              <a:defRPr/>
            </a:pPr>
            <a:endParaRPr lang="en-US" altLang="ko-KR">
              <a:latin typeface="+mj-lt"/>
            </a:endParaRPr>
          </a:p>
          <a:p>
            <a:pPr lvl="1" algn="just">
              <a:defRPr/>
            </a:pPr>
            <a:endParaRPr lang="en-US" altLang="ko-KR" smtClean="0">
              <a:latin typeface="+mj-lt"/>
            </a:endParaRPr>
          </a:p>
          <a:p>
            <a:pPr lvl="1" algn="just">
              <a:defRPr/>
            </a:pPr>
            <a:endParaRPr lang="en-US" altLang="ko-KR">
              <a:latin typeface="+mj-lt"/>
            </a:endParaRPr>
          </a:p>
          <a:p>
            <a:pPr lvl="1" algn="just">
              <a:defRPr/>
            </a:pPr>
            <a:endParaRPr lang="en-US" altLang="ko-KR" smtClean="0">
              <a:latin typeface="+mj-lt"/>
            </a:endParaRPr>
          </a:p>
          <a:p>
            <a:pPr lvl="1" algn="just">
              <a:defRPr/>
            </a:pPr>
            <a:endParaRPr lang="en-US" altLang="ko-KR">
              <a:latin typeface="+mj-lt"/>
            </a:endParaRPr>
          </a:p>
          <a:p>
            <a:pPr lvl="1" algn="just">
              <a:defRPr/>
            </a:pPr>
            <a:endParaRPr lang="en-US" altLang="ko-KR">
              <a:latin typeface="+mj-lt"/>
            </a:endParaRPr>
          </a:p>
          <a:p>
            <a:pPr lvl="1" algn="just">
              <a:defRPr/>
            </a:pPr>
            <a:endParaRPr lang="en-US" altLang="ko-KR">
              <a:latin typeface="+mj-lt"/>
            </a:endParaRPr>
          </a:p>
          <a:p>
            <a:pPr marL="457200" lvl="1" indent="0" algn="ctr">
              <a:buNone/>
              <a:defRPr/>
            </a:pPr>
            <a:r>
              <a:rPr lang="en-US" altLang="ko-KR" b="1" i="1" smtClean="0">
                <a:solidFill>
                  <a:srgbClr val="C00000"/>
                </a:solidFill>
                <a:latin typeface="+mj-lt"/>
              </a:rPr>
              <a:t>Fig. 12.2 </a:t>
            </a:r>
            <a:r>
              <a:rPr lang="en-US" altLang="ko-KR">
                <a:latin typeface="+mj-lt"/>
              </a:rPr>
              <a:t>Frames in a pure ALOHA network</a:t>
            </a: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826202"/>
            <a:ext cx="7196138" cy="2545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9056335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12.1  Random Access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algn="just">
              <a:defRPr/>
            </a:pPr>
            <a:r>
              <a:rPr lang="en-US" altLang="ko-KR" smtClean="0">
                <a:latin typeface="+mj-lt"/>
              </a:rPr>
              <a:t>Procedure</a:t>
            </a:r>
          </a:p>
          <a:p>
            <a:pPr algn="just">
              <a:defRPr/>
            </a:pPr>
            <a:endParaRPr lang="en-US" altLang="ko-KR" smtClean="0">
              <a:latin typeface="+mj-lt"/>
            </a:endParaRPr>
          </a:p>
          <a:p>
            <a:pPr lvl="1" algn="just">
              <a:defRPr/>
            </a:pPr>
            <a:endParaRPr lang="en-US" altLang="ko-KR" smtClean="0">
              <a:latin typeface="+mj-lt"/>
            </a:endParaRPr>
          </a:p>
          <a:p>
            <a:pPr lvl="1" algn="just">
              <a:defRPr/>
            </a:pPr>
            <a:endParaRPr lang="en-US" altLang="ko-KR">
              <a:latin typeface="+mj-lt"/>
            </a:endParaRPr>
          </a:p>
          <a:p>
            <a:pPr lvl="1" algn="just">
              <a:defRPr/>
            </a:pPr>
            <a:endParaRPr lang="en-US" altLang="ko-KR" smtClean="0">
              <a:latin typeface="+mj-lt"/>
            </a:endParaRPr>
          </a:p>
          <a:p>
            <a:pPr lvl="1" algn="just">
              <a:defRPr/>
            </a:pPr>
            <a:endParaRPr lang="en-US" altLang="ko-KR">
              <a:latin typeface="+mj-lt"/>
            </a:endParaRPr>
          </a:p>
          <a:p>
            <a:pPr lvl="1" algn="just">
              <a:defRPr/>
            </a:pPr>
            <a:endParaRPr lang="en-US" altLang="ko-KR" smtClean="0">
              <a:latin typeface="+mj-lt"/>
            </a:endParaRPr>
          </a:p>
          <a:p>
            <a:pPr lvl="1" algn="just">
              <a:defRPr/>
            </a:pPr>
            <a:endParaRPr lang="en-US" altLang="ko-KR" smtClean="0">
              <a:latin typeface="+mj-lt"/>
            </a:endParaRPr>
          </a:p>
          <a:p>
            <a:pPr lvl="1" algn="just">
              <a:defRPr/>
            </a:pPr>
            <a:endParaRPr lang="en-US" altLang="ko-KR">
              <a:latin typeface="+mj-lt"/>
            </a:endParaRPr>
          </a:p>
          <a:p>
            <a:pPr lvl="1" algn="just">
              <a:defRPr/>
            </a:pPr>
            <a:endParaRPr lang="en-US" altLang="ko-KR" smtClean="0">
              <a:latin typeface="+mj-lt"/>
            </a:endParaRPr>
          </a:p>
          <a:p>
            <a:pPr lvl="1" algn="just">
              <a:defRPr/>
            </a:pPr>
            <a:endParaRPr lang="en-US" altLang="ko-KR">
              <a:latin typeface="+mj-lt"/>
            </a:endParaRPr>
          </a:p>
          <a:p>
            <a:pPr lvl="1" algn="just">
              <a:defRPr/>
            </a:pPr>
            <a:endParaRPr lang="en-US" altLang="ko-KR" smtClean="0">
              <a:latin typeface="+mj-lt"/>
            </a:endParaRPr>
          </a:p>
          <a:p>
            <a:pPr lvl="1" algn="just">
              <a:defRPr/>
            </a:pPr>
            <a:endParaRPr lang="en-US" altLang="ko-KR">
              <a:latin typeface="+mj-lt"/>
            </a:endParaRPr>
          </a:p>
          <a:p>
            <a:pPr lvl="1" algn="just">
              <a:defRPr/>
            </a:pPr>
            <a:endParaRPr lang="en-US" altLang="ko-KR" smtClean="0">
              <a:latin typeface="+mj-lt"/>
            </a:endParaRPr>
          </a:p>
          <a:p>
            <a:pPr lvl="1" algn="just">
              <a:defRPr/>
            </a:pPr>
            <a:endParaRPr lang="en-US" altLang="ko-KR">
              <a:latin typeface="+mj-lt"/>
            </a:endParaRPr>
          </a:p>
          <a:p>
            <a:pPr marL="457200" lvl="1" indent="0" algn="ctr">
              <a:buNone/>
              <a:defRPr/>
            </a:pPr>
            <a:r>
              <a:rPr lang="en-US" altLang="ko-KR" b="1" i="1" smtClean="0">
                <a:solidFill>
                  <a:srgbClr val="C00000"/>
                </a:solidFill>
                <a:latin typeface="+mj-lt"/>
              </a:rPr>
              <a:t>Fig. 12.3  </a:t>
            </a:r>
            <a:r>
              <a:rPr lang="it-IT" altLang="ko-KR">
                <a:latin typeface="+mj-lt"/>
              </a:rPr>
              <a:t>Procedure for pure ALOHA protocol</a:t>
            </a:r>
            <a:endParaRPr lang="en-US" altLang="ko-KR">
              <a:latin typeface="+mj-lt"/>
            </a:endParaRPr>
          </a:p>
          <a:p>
            <a:pPr marL="457200" lvl="1" indent="0" algn="ctr">
              <a:buNone/>
              <a:defRPr/>
            </a:pPr>
            <a:endParaRPr lang="en-US" altLang="ko-KR">
              <a:latin typeface="+mj-lt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8132" y="1558359"/>
            <a:ext cx="5147668" cy="3582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49" y="1911164"/>
            <a:ext cx="3167063" cy="1438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244629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12.1  Random Access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algn="just">
              <a:defRPr/>
            </a:pPr>
            <a:r>
              <a:rPr lang="en-US" altLang="ko-KR" b="1" i="1" smtClean="0">
                <a:solidFill>
                  <a:srgbClr val="C00000"/>
                </a:solidFill>
                <a:latin typeface="+mj-lt"/>
              </a:rPr>
              <a:t>Ex. 12.1</a:t>
            </a:r>
          </a:p>
          <a:p>
            <a:pPr lvl="1" algn="just">
              <a:defRPr/>
            </a:pPr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altLang="ko-KR">
                <a:latin typeface="Times New Roman" pitchFamily="18" charset="0"/>
                <a:cs typeface="Times New Roman" pitchFamily="18" charset="0"/>
              </a:rPr>
              <a:t>stations on a wireless ALOHA network are a maximum of 600 km </a:t>
            </a:r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apart. </a:t>
            </a:r>
          </a:p>
          <a:p>
            <a:pPr lvl="1" algn="just">
              <a:defRPr/>
            </a:pPr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altLang="ko-KR">
                <a:latin typeface="Times New Roman" pitchFamily="18" charset="0"/>
                <a:cs typeface="Times New Roman" pitchFamily="18" charset="0"/>
              </a:rPr>
              <a:t>we assume that signals propagate at </a:t>
            </a:r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 3 </a:t>
            </a:r>
            <a:r>
              <a:rPr lang="en-US" altLang="ko-KR">
                <a:latin typeface="Times New Roman" pitchFamily="18" charset="0"/>
                <a:cs typeface="Times New Roman" pitchFamily="18" charset="0"/>
              </a:rPr>
              <a:t>× 10</a:t>
            </a:r>
            <a:r>
              <a:rPr lang="en-US" altLang="ko-KR" baseline="3000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altLang="ko-KR">
                <a:latin typeface="Times New Roman" pitchFamily="18" charset="0"/>
                <a:cs typeface="Times New Roman" pitchFamily="18" charset="0"/>
              </a:rPr>
              <a:t> m/s, we find </a:t>
            </a:r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altLang="ko-KR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ko-KR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ko-KR" i="1" baseline="-1400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>
                <a:latin typeface="Times New Roman" pitchFamily="18" charset="0"/>
                <a:cs typeface="Times New Roman" pitchFamily="18" charset="0"/>
              </a:rPr>
              <a:t>= (600 × 10</a:t>
            </a:r>
            <a:r>
              <a:rPr lang="en-US" altLang="ko-KR" baseline="3000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ko-KR">
                <a:latin typeface="Times New Roman" pitchFamily="18" charset="0"/>
                <a:cs typeface="Times New Roman" pitchFamily="18" charset="0"/>
              </a:rPr>
              <a:t>) / (3 × 10</a:t>
            </a:r>
            <a:r>
              <a:rPr lang="en-US" altLang="ko-KR" baseline="3000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altLang="ko-KR">
                <a:latin typeface="Times New Roman" pitchFamily="18" charset="0"/>
                <a:cs typeface="Times New Roman" pitchFamily="18" charset="0"/>
              </a:rPr>
              <a:t>) = 2 </a:t>
            </a:r>
            <a:r>
              <a:rPr lang="en-US" altLang="ko-KR" i="1"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en-US" altLang="ko-KR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lvl="1" algn="just">
              <a:defRPr/>
            </a:pPr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For  </a:t>
            </a:r>
            <a:r>
              <a:rPr lang="en-US" altLang="ko-KR" i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>
                <a:latin typeface="Times New Roman" pitchFamily="18" charset="0"/>
                <a:cs typeface="Times New Roman" pitchFamily="18" charset="0"/>
              </a:rPr>
              <a:t>= 2, the range of R is {0, 1, 2, 3}. This means that </a:t>
            </a:r>
            <a:r>
              <a:rPr lang="en-US" altLang="ko-KR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ko-KR" i="1" baseline="-1400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>
                <a:latin typeface="Times New Roman" pitchFamily="18" charset="0"/>
                <a:cs typeface="Times New Roman" pitchFamily="18" charset="0"/>
              </a:rPr>
              <a:t>can be 0, 2, 4, or 6 ms, based on the outcome of the random variable R</a:t>
            </a:r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defRPr/>
            </a:pPr>
            <a:r>
              <a:rPr lang="en-US" altLang="ko-KR" b="1" i="1" smtClean="0">
                <a:latin typeface="Times New Roman" pitchFamily="18" charset="0"/>
                <a:cs typeface="Times New Roman" pitchFamily="18" charset="0"/>
              </a:rPr>
              <a:t>Vulnerable time</a:t>
            </a:r>
          </a:p>
          <a:p>
            <a:pPr lvl="1" algn="just">
              <a:defRPr/>
            </a:pPr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the length of time in which ther is a possibility of collision</a:t>
            </a:r>
            <a:endParaRPr lang="en-US" altLang="ko-KR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defRPr/>
            </a:pPr>
            <a:endParaRPr lang="en-US" altLang="ko-KR" smtClean="0">
              <a:latin typeface="+mj-lt"/>
            </a:endParaRPr>
          </a:p>
          <a:p>
            <a:pPr lvl="1" algn="just">
              <a:defRPr/>
            </a:pPr>
            <a:endParaRPr lang="en-US" altLang="ko-KR">
              <a:latin typeface="+mj-lt"/>
            </a:endParaRPr>
          </a:p>
          <a:p>
            <a:pPr lvl="1" algn="just">
              <a:defRPr/>
            </a:pPr>
            <a:endParaRPr lang="en-US" altLang="ko-KR" smtClean="0">
              <a:latin typeface="+mj-lt"/>
            </a:endParaRPr>
          </a:p>
          <a:p>
            <a:pPr lvl="1" algn="just">
              <a:defRPr/>
            </a:pPr>
            <a:endParaRPr lang="en-US" altLang="ko-KR">
              <a:latin typeface="+mj-lt"/>
            </a:endParaRPr>
          </a:p>
          <a:p>
            <a:pPr lvl="1" algn="just">
              <a:defRPr/>
            </a:pPr>
            <a:endParaRPr lang="en-US" altLang="ko-KR" smtClean="0">
              <a:latin typeface="+mj-lt"/>
            </a:endParaRPr>
          </a:p>
          <a:p>
            <a:pPr lvl="1" algn="just">
              <a:defRPr/>
            </a:pPr>
            <a:endParaRPr lang="en-US" altLang="ko-KR" smtClean="0">
              <a:latin typeface="+mj-lt"/>
            </a:endParaRPr>
          </a:p>
          <a:p>
            <a:pPr lvl="1" algn="just">
              <a:defRPr/>
            </a:pPr>
            <a:endParaRPr lang="en-US" altLang="ko-KR">
              <a:latin typeface="+mj-lt"/>
            </a:endParaRPr>
          </a:p>
          <a:p>
            <a:pPr marL="0" indent="0" algn="ctr">
              <a:buNone/>
            </a:pPr>
            <a:r>
              <a:rPr lang="en-US" altLang="ko-KR" sz="2000" b="1" i="1" smtClean="0">
                <a:solidFill>
                  <a:srgbClr val="C00000"/>
                </a:solidFill>
                <a:latin typeface="+mj-lt"/>
              </a:rPr>
              <a:t>Fig. 12.3  </a:t>
            </a:r>
            <a:r>
              <a:rPr lang="en-US" altLang="ko-KR" sz="2000">
                <a:latin typeface="+mj-lt"/>
              </a:rPr>
              <a:t>Vulnerable time for pure ALOHA protocol</a:t>
            </a: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275" y="3848386"/>
            <a:ext cx="5800724" cy="2295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87229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12.1  Random Access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742949"/>
            <a:ext cx="8429625" cy="5838825"/>
          </a:xfrm>
        </p:spPr>
        <p:txBody>
          <a:bodyPr/>
          <a:lstStyle/>
          <a:p>
            <a:pPr algn="just">
              <a:defRPr/>
            </a:pPr>
            <a:r>
              <a:rPr lang="en-US" altLang="ko-KR" b="1" i="1" smtClean="0">
                <a:solidFill>
                  <a:srgbClr val="C00000"/>
                </a:solidFill>
                <a:latin typeface="+mj-lt"/>
              </a:rPr>
              <a:t>Ex. 12.2</a:t>
            </a:r>
          </a:p>
          <a:p>
            <a:pPr marL="457200" lvl="1" indent="0" algn="just">
              <a:buNone/>
            </a:pPr>
            <a:r>
              <a:rPr lang="en-US" altLang="ko-KR">
                <a:latin typeface="Times New Roman" pitchFamily="18" charset="0"/>
                <a:cs typeface="Times New Roman" pitchFamily="18" charset="0"/>
              </a:rPr>
              <a:t>A pure ALOHA network transmits 200-bit frames on a shared channel of 200 kbps. What is the requirement to make this frame collision-free?</a:t>
            </a:r>
          </a:p>
          <a:p>
            <a:pPr lvl="1" algn="just"/>
            <a:endParaRPr lang="en-US" altLang="ko-KR">
              <a:latin typeface="Times New Roman" pitchFamily="18" charset="0"/>
              <a:cs typeface="Times New Roman" pitchFamily="18" charset="0"/>
            </a:endParaRPr>
          </a:p>
          <a:p>
            <a:pPr marL="457200" lvl="1" indent="0" algn="just">
              <a:buNone/>
            </a:pPr>
            <a:r>
              <a:rPr lang="en-US" altLang="ko-KR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Solution</a:t>
            </a:r>
          </a:p>
          <a:p>
            <a:pPr marL="457200" lvl="1" indent="0" algn="just">
              <a:buNone/>
            </a:pPr>
            <a:r>
              <a:rPr lang="en-US" altLang="ko-KR">
                <a:latin typeface="Times New Roman" pitchFamily="18" charset="0"/>
                <a:cs typeface="Times New Roman" pitchFamily="18" charset="0"/>
              </a:rPr>
              <a:t>Average frame transmission time T</a:t>
            </a:r>
            <a:r>
              <a:rPr lang="en-US" altLang="ko-KR" baseline="-16000">
                <a:latin typeface="Times New Roman" pitchFamily="18" charset="0"/>
                <a:cs typeface="Times New Roman" pitchFamily="18" charset="0"/>
              </a:rPr>
              <a:t>fr</a:t>
            </a:r>
            <a:r>
              <a:rPr lang="en-US" altLang="ko-KR">
                <a:latin typeface="Times New Roman" pitchFamily="18" charset="0"/>
                <a:cs typeface="Times New Roman" pitchFamily="18" charset="0"/>
              </a:rPr>
              <a:t> is 200 bits/200 kbps or 1 ms. The vulnerable time is 2 × 1 ms = 2 ms. This means no station should send later than 1 ms before this station starts transmission and no station should start sending during the period (1 ms) that this station is sending</a:t>
            </a:r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 algn="just"/>
            <a:endParaRPr lang="en-US" altLang="ko-KR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Throughput</a:t>
            </a:r>
          </a:p>
          <a:p>
            <a:pPr lvl="1"/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The throughput for pure ALOHA </a:t>
            </a:r>
            <a:r>
              <a:rPr lang="en-US" altLang="ko-KR" b="1" i="1" smtClean="0">
                <a:latin typeface="Times New Roman" pitchFamily="18" charset="0"/>
                <a:cs typeface="Times New Roman" pitchFamily="18" charset="0"/>
              </a:rPr>
              <a:t>S = G </a:t>
            </a:r>
            <a:r>
              <a:rPr lang="en-US" altLang="ko-KR" b="1" i="1" smtClean="0">
                <a:latin typeface="Times New Roman"/>
                <a:cs typeface="Times New Roman"/>
              </a:rPr>
              <a:t>× e</a:t>
            </a:r>
            <a:r>
              <a:rPr lang="en-US" altLang="ko-KR" b="1" i="1" baseline="30000" smtClean="0">
                <a:latin typeface="Times New Roman"/>
                <a:cs typeface="Times New Roman"/>
              </a:rPr>
              <a:t>-2G</a:t>
            </a:r>
            <a:r>
              <a:rPr lang="en-US" altLang="ko-KR" b="1" i="1" smtClean="0">
                <a:latin typeface="Times New Roman"/>
                <a:cs typeface="Times New Roman"/>
              </a:rPr>
              <a:t/>
            </a:r>
            <a:br>
              <a:rPr lang="en-US" altLang="ko-KR" b="1" i="1" smtClean="0">
                <a:latin typeface="Times New Roman"/>
                <a:cs typeface="Times New Roman"/>
              </a:rPr>
            </a:br>
            <a:r>
              <a:rPr lang="en-US" altLang="ko-KR" smtClean="0">
                <a:latin typeface="Times New Roman"/>
                <a:cs typeface="Times New Roman"/>
              </a:rPr>
              <a:t>G : the average number of frames generated by the system during one frame transmission time</a:t>
            </a:r>
          </a:p>
          <a:p>
            <a:pPr lvl="1"/>
            <a:r>
              <a:rPr lang="en-US" altLang="ko-KR" smtClean="0">
                <a:latin typeface="Times New Roman"/>
                <a:cs typeface="Times New Roman"/>
              </a:rPr>
              <a:t>The maximum throughput </a:t>
            </a:r>
            <a:r>
              <a:rPr lang="en-US" altLang="ko-KR" b="1" i="1" smtClean="0">
                <a:latin typeface="Times New Roman"/>
                <a:cs typeface="Times New Roman"/>
              </a:rPr>
              <a:t>S</a:t>
            </a:r>
            <a:r>
              <a:rPr lang="en-US" altLang="ko-KR" b="1" i="1" baseline="-25000" smtClean="0">
                <a:latin typeface="Times New Roman"/>
                <a:cs typeface="Times New Roman"/>
              </a:rPr>
              <a:t>max</a:t>
            </a:r>
            <a:r>
              <a:rPr lang="en-US" altLang="ko-KR" b="1" i="1" smtClean="0">
                <a:latin typeface="Times New Roman"/>
                <a:cs typeface="Times New Roman"/>
              </a:rPr>
              <a:t> = </a:t>
            </a:r>
            <a:r>
              <a:rPr lang="en-US" altLang="ko-KR" smtClean="0">
                <a:latin typeface="Times New Roman"/>
                <a:cs typeface="Times New Roman"/>
              </a:rPr>
              <a:t>1/(2e</a:t>
            </a:r>
            <a:r>
              <a:rPr lang="en-US" altLang="ko-KR" b="1" i="1" smtClean="0">
                <a:latin typeface="Times New Roman"/>
                <a:cs typeface="Times New Roman"/>
              </a:rPr>
              <a:t>) </a:t>
            </a:r>
            <a:r>
              <a:rPr lang="en-US" altLang="ko-KR" smtClean="0">
                <a:latin typeface="Times New Roman"/>
                <a:cs typeface="Times New Roman"/>
              </a:rPr>
              <a:t>= 0.184 when G = 0.5</a:t>
            </a:r>
          </a:p>
          <a:p>
            <a:r>
              <a:rPr lang="en-US" altLang="ko-KR" b="1" i="1" smtClean="0">
                <a:solidFill>
                  <a:srgbClr val="C00000"/>
                </a:solidFill>
                <a:latin typeface="Times New Roman"/>
                <a:cs typeface="Times New Roman"/>
              </a:rPr>
              <a:t>Ex. 12.3</a:t>
            </a:r>
            <a:endParaRPr lang="en-US" altLang="ko-KR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00050" lvl="1" indent="0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51990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12.1  Random Access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Slotted ALOHA</a:t>
            </a:r>
          </a:p>
          <a:p>
            <a:pPr algn="just">
              <a:defRPr/>
            </a:pPr>
            <a:r>
              <a:rPr lang="en-US" altLang="ko-KR" smtClean="0">
                <a:latin typeface="+mj-lt"/>
              </a:rPr>
              <a:t>to reduce vulnerable time</a:t>
            </a:r>
          </a:p>
          <a:p>
            <a:pPr lvl="1" algn="just">
              <a:defRPr/>
            </a:pPr>
            <a:endParaRPr lang="en-US" altLang="ko-KR" smtClean="0">
              <a:latin typeface="+mj-lt"/>
            </a:endParaRPr>
          </a:p>
          <a:p>
            <a:pPr lvl="1" algn="just">
              <a:defRPr/>
            </a:pPr>
            <a:endParaRPr lang="en-US" altLang="ko-KR">
              <a:latin typeface="+mj-lt"/>
            </a:endParaRPr>
          </a:p>
          <a:p>
            <a:pPr lvl="1" algn="just">
              <a:defRPr/>
            </a:pPr>
            <a:endParaRPr lang="en-US" altLang="ko-KR" smtClean="0">
              <a:latin typeface="+mj-lt"/>
            </a:endParaRPr>
          </a:p>
          <a:p>
            <a:pPr lvl="1" algn="just">
              <a:defRPr/>
            </a:pPr>
            <a:endParaRPr lang="en-US" altLang="ko-KR">
              <a:latin typeface="+mj-lt"/>
            </a:endParaRPr>
          </a:p>
          <a:p>
            <a:pPr lvl="1" algn="just">
              <a:defRPr/>
            </a:pPr>
            <a:endParaRPr lang="en-US" altLang="ko-KR" smtClean="0">
              <a:latin typeface="+mj-lt"/>
            </a:endParaRPr>
          </a:p>
          <a:p>
            <a:pPr lvl="1" algn="just">
              <a:defRPr/>
            </a:pPr>
            <a:endParaRPr lang="en-US" altLang="ko-KR">
              <a:latin typeface="+mj-lt"/>
            </a:endParaRPr>
          </a:p>
          <a:p>
            <a:pPr lvl="1" algn="just">
              <a:defRPr/>
            </a:pPr>
            <a:endParaRPr lang="en-US" altLang="ko-KR" smtClean="0">
              <a:latin typeface="+mj-lt"/>
            </a:endParaRPr>
          </a:p>
          <a:p>
            <a:pPr lvl="1" algn="just">
              <a:defRPr/>
            </a:pPr>
            <a:endParaRPr lang="en-US" altLang="ko-KR">
              <a:latin typeface="+mj-lt"/>
            </a:endParaRPr>
          </a:p>
          <a:p>
            <a:pPr lvl="1" algn="just">
              <a:defRPr/>
            </a:pPr>
            <a:endParaRPr lang="en-US" altLang="ko-KR">
              <a:latin typeface="+mj-lt"/>
            </a:endParaRPr>
          </a:p>
          <a:p>
            <a:pPr lvl="1" algn="just">
              <a:defRPr/>
            </a:pPr>
            <a:endParaRPr lang="en-US" altLang="ko-KR" smtClean="0">
              <a:latin typeface="+mj-lt"/>
            </a:endParaRPr>
          </a:p>
          <a:p>
            <a:pPr marL="457200" lvl="1" indent="0" algn="ctr">
              <a:buNone/>
              <a:defRPr/>
            </a:pPr>
            <a:r>
              <a:rPr lang="en-US" altLang="ko-KR" b="1" i="1" smtClean="0">
                <a:solidFill>
                  <a:srgbClr val="C00000"/>
                </a:solidFill>
                <a:latin typeface="+mj-lt"/>
              </a:rPr>
              <a:t>Fig. 12.5  </a:t>
            </a:r>
            <a:r>
              <a:rPr lang="en-US" altLang="ko-KR">
                <a:latin typeface="+mj-lt"/>
              </a:rPr>
              <a:t>Frames in a slotted ALOHA network</a:t>
            </a:r>
          </a:p>
          <a:p>
            <a:pPr marL="457200" lvl="1" indent="0" algn="ctr">
              <a:buNone/>
              <a:defRPr/>
            </a:pPr>
            <a:endParaRPr lang="en-US" altLang="ko-KR" smtClean="0">
              <a:latin typeface="+mj-lt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" y="1822450"/>
            <a:ext cx="7772400" cy="298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9743930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12.1  Random Access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lvl="1" algn="just">
              <a:defRPr/>
            </a:pPr>
            <a:endParaRPr lang="en-US" altLang="ko-KR" smtClean="0">
              <a:latin typeface="+mj-lt"/>
            </a:endParaRPr>
          </a:p>
          <a:p>
            <a:pPr marL="457200" lvl="1" indent="0" algn="ctr">
              <a:buNone/>
              <a:defRPr/>
            </a:pPr>
            <a:endParaRPr lang="en-US" altLang="ko-KR" b="1" i="1" smtClean="0">
              <a:solidFill>
                <a:srgbClr val="C00000"/>
              </a:solidFill>
              <a:latin typeface="+mj-lt"/>
              <a:cs typeface="KodchiangUPC" pitchFamily="18" charset="-34"/>
            </a:endParaRPr>
          </a:p>
          <a:p>
            <a:pPr marL="457200" lvl="1" indent="0" algn="ctr">
              <a:buNone/>
              <a:defRPr/>
            </a:pPr>
            <a:endParaRPr lang="en-US" altLang="ko-KR" b="1" i="1">
              <a:solidFill>
                <a:srgbClr val="C00000"/>
              </a:solidFill>
              <a:latin typeface="+mj-lt"/>
              <a:cs typeface="KodchiangUPC" pitchFamily="18" charset="-34"/>
            </a:endParaRPr>
          </a:p>
          <a:p>
            <a:pPr marL="457200" lvl="1" indent="0" algn="ctr">
              <a:buNone/>
              <a:defRPr/>
            </a:pPr>
            <a:endParaRPr lang="en-US" altLang="ko-KR" b="1" i="1" smtClean="0">
              <a:solidFill>
                <a:srgbClr val="C00000"/>
              </a:solidFill>
              <a:latin typeface="+mj-lt"/>
              <a:cs typeface="KodchiangUPC" pitchFamily="18" charset="-34"/>
            </a:endParaRPr>
          </a:p>
          <a:p>
            <a:pPr marL="457200" lvl="1" indent="0" algn="ctr">
              <a:buNone/>
              <a:defRPr/>
            </a:pPr>
            <a:endParaRPr lang="en-US" altLang="ko-KR" b="1" i="1">
              <a:solidFill>
                <a:srgbClr val="C00000"/>
              </a:solidFill>
              <a:latin typeface="+mj-lt"/>
              <a:cs typeface="KodchiangUPC" pitchFamily="18" charset="-34"/>
            </a:endParaRPr>
          </a:p>
          <a:p>
            <a:pPr marL="457200" lvl="1" indent="0" algn="ctr">
              <a:buNone/>
              <a:defRPr/>
            </a:pPr>
            <a:endParaRPr lang="en-US" altLang="ko-KR" b="1" i="1" smtClean="0">
              <a:solidFill>
                <a:srgbClr val="C00000"/>
              </a:solidFill>
              <a:latin typeface="+mj-lt"/>
              <a:cs typeface="KodchiangUPC" pitchFamily="18" charset="-34"/>
            </a:endParaRPr>
          </a:p>
          <a:p>
            <a:pPr marL="457200" lvl="1" indent="0" algn="ctr">
              <a:buNone/>
              <a:defRPr/>
            </a:pPr>
            <a:endParaRPr lang="en-US" altLang="ko-KR" b="1" i="1">
              <a:solidFill>
                <a:srgbClr val="C00000"/>
              </a:solidFill>
              <a:latin typeface="+mj-lt"/>
              <a:cs typeface="KodchiangUPC" pitchFamily="18" charset="-34"/>
            </a:endParaRPr>
          </a:p>
          <a:p>
            <a:pPr marL="457200" lvl="1" indent="0" algn="ctr">
              <a:buNone/>
              <a:defRPr/>
            </a:pPr>
            <a:endParaRPr lang="en-US" altLang="ko-KR" b="1" i="1" smtClean="0">
              <a:solidFill>
                <a:srgbClr val="C00000"/>
              </a:solidFill>
              <a:latin typeface="+mj-lt"/>
              <a:cs typeface="KodchiangUPC" pitchFamily="18" charset="-34"/>
            </a:endParaRPr>
          </a:p>
          <a:p>
            <a:pPr marL="457200" lvl="1" indent="0" algn="ctr">
              <a:buNone/>
              <a:defRPr/>
            </a:pPr>
            <a:r>
              <a:rPr lang="en-US" altLang="ko-KR" b="1" i="1" smtClean="0">
                <a:solidFill>
                  <a:srgbClr val="C00000"/>
                </a:solidFill>
                <a:latin typeface="+mj-lt"/>
                <a:cs typeface="KodchiangUPC" pitchFamily="18" charset="-34"/>
              </a:rPr>
              <a:t>Fig</a:t>
            </a:r>
            <a:r>
              <a:rPr lang="en-US" altLang="ko-KR" b="1" i="1">
                <a:solidFill>
                  <a:srgbClr val="C00000"/>
                </a:solidFill>
                <a:latin typeface="+mj-lt"/>
                <a:cs typeface="KodchiangUPC" pitchFamily="18" charset="-34"/>
              </a:rPr>
              <a:t>. 12.6  </a:t>
            </a:r>
            <a:r>
              <a:rPr lang="en-US" altLang="ko-KR">
                <a:latin typeface="+mj-lt"/>
                <a:cs typeface="KodchiangUPC" pitchFamily="18" charset="-34"/>
              </a:rPr>
              <a:t>Vulnerable time for slotted ALOHA protocol</a:t>
            </a:r>
          </a:p>
          <a:p>
            <a:pPr lvl="1" algn="just">
              <a:defRPr/>
            </a:pPr>
            <a:endParaRPr lang="en-US" altLang="ko-KR" smtClean="0">
              <a:latin typeface="+mj-lt"/>
            </a:endParaRPr>
          </a:p>
          <a:p>
            <a:pPr algn="just"/>
            <a:r>
              <a:rPr lang="en-US" altLang="ko-KR" b="1" i="1">
                <a:latin typeface="Times New Roman" pitchFamily="18" charset="0"/>
                <a:cs typeface="Times New Roman" pitchFamily="18" charset="0"/>
              </a:rPr>
              <a:t>Throughput</a:t>
            </a:r>
          </a:p>
          <a:p>
            <a:pPr lvl="1"/>
            <a:r>
              <a:rPr lang="en-US" altLang="ko-KR">
                <a:latin typeface="Times New Roman" pitchFamily="18" charset="0"/>
                <a:cs typeface="Times New Roman" pitchFamily="18" charset="0"/>
              </a:rPr>
              <a:t>The throughput </a:t>
            </a:r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forslotted </a:t>
            </a:r>
            <a:r>
              <a:rPr lang="en-US" altLang="ko-KR">
                <a:latin typeface="Times New Roman" pitchFamily="18" charset="0"/>
                <a:cs typeface="Times New Roman" pitchFamily="18" charset="0"/>
              </a:rPr>
              <a:t>ALOHA </a:t>
            </a:r>
            <a:r>
              <a:rPr lang="en-US" altLang="ko-KR" b="1" i="1">
                <a:latin typeface="Times New Roman" pitchFamily="18" charset="0"/>
                <a:cs typeface="Times New Roman" pitchFamily="18" charset="0"/>
              </a:rPr>
              <a:t>S = G </a:t>
            </a:r>
            <a:r>
              <a:rPr lang="en-US" altLang="ko-KR" b="1" i="1">
                <a:latin typeface="Times New Roman"/>
                <a:cs typeface="Times New Roman"/>
              </a:rPr>
              <a:t>× </a:t>
            </a:r>
            <a:r>
              <a:rPr lang="en-US" altLang="ko-KR" b="1" i="1" smtClean="0">
                <a:latin typeface="Times New Roman"/>
                <a:cs typeface="Times New Roman"/>
              </a:rPr>
              <a:t>e</a:t>
            </a:r>
            <a:r>
              <a:rPr lang="en-US" altLang="ko-KR" b="1" i="1" baseline="30000" smtClean="0">
                <a:latin typeface="Times New Roman"/>
                <a:cs typeface="Times New Roman"/>
              </a:rPr>
              <a:t>-G</a:t>
            </a:r>
            <a:r>
              <a:rPr lang="en-US" altLang="ko-KR" b="1" i="1">
                <a:latin typeface="Times New Roman"/>
                <a:cs typeface="Times New Roman"/>
              </a:rPr>
              <a:t/>
            </a:r>
            <a:br>
              <a:rPr lang="en-US" altLang="ko-KR" b="1" i="1">
                <a:latin typeface="Times New Roman"/>
                <a:cs typeface="Times New Roman"/>
              </a:rPr>
            </a:br>
            <a:r>
              <a:rPr lang="en-US" altLang="ko-KR" smtClean="0">
                <a:latin typeface="Times New Roman"/>
                <a:cs typeface="Times New Roman"/>
              </a:rPr>
              <a:t>The </a:t>
            </a:r>
            <a:r>
              <a:rPr lang="en-US" altLang="ko-KR">
                <a:latin typeface="Times New Roman"/>
                <a:cs typeface="Times New Roman"/>
              </a:rPr>
              <a:t>maximum throughput </a:t>
            </a:r>
            <a:r>
              <a:rPr lang="en-US" altLang="ko-KR" b="1" i="1">
                <a:latin typeface="Times New Roman"/>
                <a:cs typeface="Times New Roman"/>
              </a:rPr>
              <a:t>S</a:t>
            </a:r>
            <a:r>
              <a:rPr lang="en-US" altLang="ko-KR" b="1" i="1" baseline="-25000">
                <a:latin typeface="Times New Roman"/>
                <a:cs typeface="Times New Roman"/>
              </a:rPr>
              <a:t>max</a:t>
            </a:r>
            <a:r>
              <a:rPr lang="en-US" altLang="ko-KR" b="1" i="1">
                <a:latin typeface="Times New Roman"/>
                <a:cs typeface="Times New Roman"/>
              </a:rPr>
              <a:t> = </a:t>
            </a:r>
            <a:r>
              <a:rPr lang="en-US" altLang="ko-KR" smtClean="0">
                <a:latin typeface="Times New Roman"/>
                <a:cs typeface="Times New Roman"/>
              </a:rPr>
              <a:t>1/e</a:t>
            </a:r>
            <a:r>
              <a:rPr lang="en-US" altLang="ko-KR" b="1" i="1" smtClean="0">
                <a:latin typeface="Times New Roman"/>
                <a:cs typeface="Times New Roman"/>
              </a:rPr>
              <a:t> </a:t>
            </a:r>
            <a:r>
              <a:rPr lang="en-US" altLang="ko-KR">
                <a:latin typeface="Times New Roman"/>
                <a:cs typeface="Times New Roman"/>
              </a:rPr>
              <a:t>= </a:t>
            </a:r>
            <a:r>
              <a:rPr lang="en-US" altLang="ko-KR" smtClean="0">
                <a:latin typeface="Times New Roman"/>
                <a:cs typeface="Times New Roman"/>
              </a:rPr>
              <a:t>0.368 </a:t>
            </a:r>
            <a:r>
              <a:rPr lang="en-US" altLang="ko-KR">
                <a:latin typeface="Times New Roman"/>
                <a:cs typeface="Times New Roman"/>
              </a:rPr>
              <a:t>when </a:t>
            </a:r>
            <a:r>
              <a:rPr lang="en-US" altLang="ko-KR" i="1">
                <a:latin typeface="Times New Roman"/>
                <a:cs typeface="Times New Roman"/>
              </a:rPr>
              <a:t>G</a:t>
            </a:r>
            <a:r>
              <a:rPr lang="en-US" altLang="ko-KR">
                <a:latin typeface="Times New Roman"/>
                <a:cs typeface="Times New Roman"/>
              </a:rPr>
              <a:t> = </a:t>
            </a:r>
            <a:r>
              <a:rPr lang="en-US" altLang="ko-KR" smtClean="0">
                <a:latin typeface="Times New Roman"/>
                <a:cs typeface="Times New Roman"/>
              </a:rPr>
              <a:t>1</a:t>
            </a:r>
          </a:p>
          <a:p>
            <a:pPr lvl="1"/>
            <a:endParaRPr lang="en-US" altLang="ko-KR">
              <a:latin typeface="Times New Roman"/>
              <a:cs typeface="Times New Roman"/>
            </a:endParaRPr>
          </a:p>
          <a:p>
            <a:r>
              <a:rPr lang="en-US" altLang="ko-KR" b="1" i="1">
                <a:solidFill>
                  <a:srgbClr val="C00000"/>
                </a:solidFill>
                <a:latin typeface="Times New Roman"/>
                <a:cs typeface="Times New Roman"/>
              </a:rPr>
              <a:t>Ex. </a:t>
            </a:r>
            <a:r>
              <a:rPr lang="en-US" altLang="ko-KR" b="1" i="1" smtClean="0">
                <a:solidFill>
                  <a:srgbClr val="C00000"/>
                </a:solidFill>
                <a:latin typeface="Times New Roman"/>
                <a:cs typeface="Times New Roman"/>
              </a:rPr>
              <a:t>12.4</a:t>
            </a:r>
            <a:endParaRPr lang="en-US" altLang="ko-KR" b="1" i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algn="just">
              <a:defRPr/>
            </a:pPr>
            <a:endParaRPr lang="en-US" altLang="ko-KR" smtClean="0">
              <a:latin typeface="+mj-lt"/>
            </a:endParaRPr>
          </a:p>
          <a:p>
            <a:pPr marL="0" indent="0" algn="ctr">
              <a:buNone/>
              <a:defRPr/>
            </a:pPr>
            <a:endParaRPr lang="en-US" altLang="ko-KR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199" y="959891"/>
            <a:ext cx="6162675" cy="2383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883478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12.1  Random Access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61975"/>
            <a:ext cx="8429625" cy="60198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12.1.2 CSMA</a:t>
            </a:r>
          </a:p>
          <a:p>
            <a:pPr algn="just">
              <a:defRPr/>
            </a:pPr>
            <a:r>
              <a:rPr lang="en-US" altLang="ko-KR" smtClean="0">
                <a:latin typeface="+mj-lt"/>
              </a:rPr>
              <a:t>carrier sense multiple access</a:t>
            </a:r>
          </a:p>
          <a:p>
            <a:pPr algn="just">
              <a:defRPr/>
            </a:pPr>
            <a:r>
              <a:rPr lang="en-US" altLang="ko-KR" smtClean="0">
                <a:latin typeface="+mj-lt"/>
              </a:rPr>
              <a:t>to minimize the chance of collision</a:t>
            </a:r>
          </a:p>
          <a:p>
            <a:pPr algn="just">
              <a:defRPr/>
            </a:pPr>
            <a:r>
              <a:rPr lang="en-US" altLang="ko-KR" smtClean="0">
                <a:latin typeface="+mj-lt"/>
              </a:rPr>
              <a:t>“sense before transmit,”   “listen before talk”</a:t>
            </a:r>
          </a:p>
          <a:p>
            <a:pPr algn="just">
              <a:defRPr/>
            </a:pPr>
            <a:r>
              <a:rPr lang="en-US" altLang="ko-KR" smtClean="0">
                <a:latin typeface="+mj-lt"/>
              </a:rPr>
              <a:t>possibility of collision still exists because of propagation  delay</a:t>
            </a:r>
          </a:p>
          <a:p>
            <a:pPr algn="just">
              <a:lnSpc>
                <a:spcPct val="150000"/>
              </a:lnSpc>
              <a:defRPr/>
            </a:pPr>
            <a:endParaRPr lang="en-US" altLang="ko-KR">
              <a:latin typeface="+mj-lt"/>
            </a:endParaRPr>
          </a:p>
          <a:p>
            <a:pPr algn="just">
              <a:defRPr/>
            </a:pPr>
            <a:endParaRPr lang="en-US" altLang="ko-KR" smtClean="0">
              <a:latin typeface="+mj-lt"/>
            </a:endParaRPr>
          </a:p>
          <a:p>
            <a:pPr algn="just">
              <a:defRPr/>
            </a:pPr>
            <a:endParaRPr lang="en-US" altLang="ko-KR">
              <a:latin typeface="+mj-lt"/>
            </a:endParaRPr>
          </a:p>
          <a:p>
            <a:pPr algn="just">
              <a:defRPr/>
            </a:pPr>
            <a:endParaRPr lang="en-US" altLang="ko-KR" smtClean="0">
              <a:latin typeface="+mj-lt"/>
            </a:endParaRPr>
          </a:p>
          <a:p>
            <a:pPr algn="just">
              <a:defRPr/>
            </a:pPr>
            <a:endParaRPr lang="en-US" altLang="ko-KR">
              <a:latin typeface="+mj-lt"/>
            </a:endParaRPr>
          </a:p>
          <a:p>
            <a:pPr algn="just">
              <a:defRPr/>
            </a:pPr>
            <a:endParaRPr lang="en-US" altLang="ko-KR" smtClean="0">
              <a:latin typeface="+mj-lt"/>
            </a:endParaRPr>
          </a:p>
          <a:p>
            <a:pPr algn="just">
              <a:defRPr/>
            </a:pPr>
            <a:endParaRPr lang="en-US" altLang="ko-KR">
              <a:latin typeface="+mj-lt"/>
            </a:endParaRPr>
          </a:p>
          <a:p>
            <a:pPr marL="0" indent="0" algn="ctr">
              <a:buNone/>
              <a:defRPr/>
            </a:pP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12.7</a:t>
            </a:r>
            <a:r>
              <a:rPr lang="en-US" altLang="ko-KR" sz="20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sz="2000">
                <a:latin typeface="Times New Roman" pitchFamily="18" charset="0"/>
                <a:cs typeface="Times New Roman" pitchFamily="18" charset="0"/>
              </a:rPr>
              <a:t>Space/time model of a collision in CSMA </a:t>
            </a:r>
          </a:p>
          <a:p>
            <a:pPr algn="just">
              <a:defRPr/>
            </a:pPr>
            <a:endParaRPr lang="en-US" altLang="ko-KR" smtClean="0">
              <a:latin typeface="+mj-lt"/>
            </a:endParaRPr>
          </a:p>
          <a:p>
            <a:pPr marL="457200" lvl="1" indent="0" algn="just">
              <a:buNone/>
              <a:defRPr/>
            </a:pPr>
            <a:endParaRPr lang="en-US" altLang="ko-KR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450" y="3127691"/>
            <a:ext cx="6665912" cy="3044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3687033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12.1  Random Access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61975"/>
            <a:ext cx="8429625" cy="6019800"/>
          </a:xfrm>
        </p:spPr>
        <p:txBody>
          <a:bodyPr/>
          <a:lstStyle/>
          <a:p>
            <a:pPr algn="just">
              <a:defRPr/>
            </a:pPr>
            <a:r>
              <a:rPr lang="en-US" altLang="ko-KR" b="1" i="1" smtClean="0">
                <a:solidFill>
                  <a:srgbClr val="C00000"/>
                </a:solidFill>
                <a:latin typeface="+mj-lt"/>
              </a:rPr>
              <a:t>Vulnerable time</a:t>
            </a:r>
          </a:p>
          <a:p>
            <a:pPr algn="just">
              <a:defRPr/>
            </a:pPr>
            <a:endParaRPr lang="en-US" altLang="ko-KR" smtClean="0">
              <a:latin typeface="+mj-lt"/>
            </a:endParaRPr>
          </a:p>
          <a:p>
            <a:pPr algn="just">
              <a:defRPr/>
            </a:pPr>
            <a:endParaRPr lang="en-US" altLang="ko-KR">
              <a:latin typeface="+mj-lt"/>
            </a:endParaRPr>
          </a:p>
          <a:p>
            <a:pPr algn="just">
              <a:defRPr/>
            </a:pPr>
            <a:endParaRPr lang="en-US" altLang="ko-KR" smtClean="0">
              <a:latin typeface="+mj-lt"/>
            </a:endParaRPr>
          </a:p>
          <a:p>
            <a:pPr algn="just">
              <a:defRPr/>
            </a:pPr>
            <a:endParaRPr lang="en-US" altLang="ko-KR">
              <a:latin typeface="+mj-lt"/>
            </a:endParaRPr>
          </a:p>
          <a:p>
            <a:pPr algn="just">
              <a:defRPr/>
            </a:pPr>
            <a:endParaRPr lang="en-US" altLang="ko-KR" smtClean="0">
              <a:latin typeface="+mj-lt"/>
            </a:endParaRPr>
          </a:p>
          <a:p>
            <a:pPr marL="0" indent="0" algn="ctr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sz="2000" b="1" i="1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12.8</a:t>
            </a:r>
            <a:r>
              <a:rPr lang="en-US" altLang="ko-KR" sz="200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  </a:t>
            </a:r>
            <a:r>
              <a:rPr lang="en-US" altLang="ko-KR" sz="2000">
                <a:latin typeface="+mj-lt"/>
              </a:rPr>
              <a:t>Vulnerable time in CSMA</a:t>
            </a:r>
          </a:p>
          <a:p>
            <a:pPr marL="457200" lvl="1" indent="0" algn="just">
              <a:buNone/>
              <a:defRPr/>
            </a:pPr>
            <a:endParaRPr lang="en-US" altLang="ko-KR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399" y="1781100"/>
            <a:ext cx="7162799" cy="21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3253832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12.1  Random Access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61975"/>
            <a:ext cx="8429625" cy="6019800"/>
          </a:xfrm>
        </p:spPr>
        <p:txBody>
          <a:bodyPr/>
          <a:lstStyle/>
          <a:p>
            <a:pPr algn="just">
              <a:defRPr/>
            </a:pPr>
            <a:r>
              <a:rPr lang="en-US" altLang="ko-KR" b="1" i="1" smtClean="0">
                <a:solidFill>
                  <a:srgbClr val="C00000"/>
                </a:solidFill>
                <a:latin typeface="+mj-lt"/>
              </a:rPr>
              <a:t>Persistance Methods</a:t>
            </a:r>
          </a:p>
          <a:p>
            <a:pPr algn="just">
              <a:defRPr/>
            </a:pPr>
            <a:endParaRPr lang="en-US" altLang="ko-KR" b="1" i="1">
              <a:solidFill>
                <a:srgbClr val="C00000"/>
              </a:solidFill>
              <a:latin typeface="+mj-lt"/>
            </a:endParaRPr>
          </a:p>
          <a:p>
            <a:pPr algn="just">
              <a:defRPr/>
            </a:pPr>
            <a:endParaRPr lang="en-US" altLang="ko-KR" b="1" i="1" smtClean="0">
              <a:solidFill>
                <a:srgbClr val="C00000"/>
              </a:solidFill>
              <a:latin typeface="+mj-lt"/>
            </a:endParaRPr>
          </a:p>
          <a:p>
            <a:pPr algn="just">
              <a:defRPr/>
            </a:pPr>
            <a:endParaRPr lang="en-US" altLang="ko-KR" b="1" i="1" smtClean="0">
              <a:solidFill>
                <a:srgbClr val="C00000"/>
              </a:solidFill>
              <a:latin typeface="+mj-lt"/>
            </a:endParaRPr>
          </a:p>
          <a:p>
            <a:pPr algn="just">
              <a:defRPr/>
            </a:pPr>
            <a:endParaRPr lang="en-US" altLang="ko-KR" smtClean="0">
              <a:latin typeface="+mj-lt"/>
            </a:endParaRPr>
          </a:p>
          <a:p>
            <a:pPr algn="just">
              <a:defRPr/>
            </a:pPr>
            <a:endParaRPr lang="en-US" altLang="ko-KR">
              <a:latin typeface="+mj-lt"/>
            </a:endParaRPr>
          </a:p>
          <a:p>
            <a:pPr algn="just">
              <a:defRPr/>
            </a:pPr>
            <a:endParaRPr lang="en-US" altLang="ko-KR" smtClean="0">
              <a:latin typeface="+mj-lt"/>
            </a:endParaRPr>
          </a:p>
          <a:p>
            <a:pPr algn="just">
              <a:defRPr/>
            </a:pPr>
            <a:endParaRPr lang="en-US" altLang="ko-KR">
              <a:latin typeface="+mj-lt"/>
            </a:endParaRPr>
          </a:p>
          <a:p>
            <a:pPr algn="just">
              <a:defRPr/>
            </a:pPr>
            <a:endParaRPr lang="en-US" altLang="ko-KR" smtClean="0">
              <a:latin typeface="+mj-lt"/>
            </a:endParaRPr>
          </a:p>
          <a:p>
            <a:pPr marL="0" indent="0" algn="ctr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sz="2000" b="1" i="1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12.9</a:t>
            </a:r>
            <a:r>
              <a:rPr lang="en-US" altLang="ko-KR" sz="200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  </a:t>
            </a:r>
            <a:r>
              <a:rPr lang="en-US" altLang="ko-KR" sz="2000">
                <a:latin typeface="+mj-lt"/>
              </a:rPr>
              <a:t>Behavior of three persistence </a:t>
            </a:r>
            <a:r>
              <a:rPr lang="en-US" altLang="ko-KR" sz="2000" smtClean="0">
                <a:latin typeface="+mj-lt"/>
              </a:rPr>
              <a:t>methods</a:t>
            </a:r>
            <a:endParaRPr lang="en-US" altLang="ko-KR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452563"/>
            <a:ext cx="3505200" cy="1604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5625" y="1452563"/>
            <a:ext cx="4625975" cy="1604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5" y="3233738"/>
            <a:ext cx="8267700" cy="1938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9339715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12.1  Random Access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61975"/>
            <a:ext cx="8429625" cy="6019800"/>
          </a:xfrm>
        </p:spPr>
        <p:txBody>
          <a:bodyPr/>
          <a:lstStyle/>
          <a:p>
            <a:pPr algn="just">
              <a:defRPr/>
            </a:pPr>
            <a:endParaRPr lang="en-US" altLang="ko-KR" b="1" i="1">
              <a:solidFill>
                <a:srgbClr val="C00000"/>
              </a:solidFill>
              <a:latin typeface="+mj-lt"/>
            </a:endParaRPr>
          </a:p>
          <a:p>
            <a:pPr algn="just">
              <a:defRPr/>
            </a:pPr>
            <a:endParaRPr lang="en-US" altLang="ko-KR" b="1" i="1" smtClean="0">
              <a:solidFill>
                <a:srgbClr val="C00000"/>
              </a:solidFill>
              <a:latin typeface="+mj-lt"/>
            </a:endParaRPr>
          </a:p>
          <a:p>
            <a:pPr algn="just">
              <a:defRPr/>
            </a:pPr>
            <a:endParaRPr lang="en-US" altLang="ko-KR" b="1" i="1" smtClean="0">
              <a:solidFill>
                <a:srgbClr val="C00000"/>
              </a:solidFill>
              <a:latin typeface="+mj-lt"/>
            </a:endParaRPr>
          </a:p>
          <a:p>
            <a:pPr algn="just">
              <a:defRPr/>
            </a:pPr>
            <a:endParaRPr lang="en-US" altLang="ko-KR" smtClean="0">
              <a:latin typeface="+mj-lt"/>
            </a:endParaRPr>
          </a:p>
          <a:p>
            <a:pPr algn="just">
              <a:defRPr/>
            </a:pPr>
            <a:endParaRPr lang="en-US" altLang="ko-KR">
              <a:latin typeface="+mj-lt"/>
            </a:endParaRPr>
          </a:p>
          <a:p>
            <a:pPr algn="just">
              <a:defRPr/>
            </a:pPr>
            <a:endParaRPr lang="en-US" altLang="ko-KR" smtClean="0">
              <a:latin typeface="+mj-lt"/>
            </a:endParaRPr>
          </a:p>
          <a:p>
            <a:pPr algn="just">
              <a:defRPr/>
            </a:pPr>
            <a:endParaRPr lang="en-US" altLang="ko-KR">
              <a:latin typeface="+mj-lt"/>
            </a:endParaRPr>
          </a:p>
          <a:p>
            <a:pPr algn="just">
              <a:defRPr/>
            </a:pPr>
            <a:endParaRPr lang="en-US" altLang="ko-KR" smtClean="0">
              <a:latin typeface="+mj-lt"/>
            </a:endParaRPr>
          </a:p>
          <a:p>
            <a:pPr marL="0" indent="0" algn="ctr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sz="2000" b="1" i="1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12.10 </a:t>
            </a:r>
            <a:r>
              <a:rPr lang="en-US" altLang="ko-KR" sz="200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altLang="ko-KR" sz="2000">
                <a:latin typeface="+mj-lt"/>
              </a:rPr>
              <a:t>Flow diagram for three persistence methods</a:t>
            </a:r>
            <a:endParaRPr lang="en-US" altLang="ko-KR" b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750" y="897988"/>
            <a:ext cx="2147888" cy="17690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4153" y="907632"/>
            <a:ext cx="3130212" cy="1759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1899" y="2840717"/>
            <a:ext cx="5714841" cy="3230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982526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12.1  Random Access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61975"/>
            <a:ext cx="8429625" cy="60198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12.1.3 CSMA/CD</a:t>
            </a:r>
          </a:p>
          <a:p>
            <a:pPr algn="just">
              <a:defRPr/>
            </a:pPr>
            <a:r>
              <a:rPr lang="en-US" altLang="ko-KR" smtClean="0">
                <a:latin typeface="+mj-lt"/>
              </a:rPr>
              <a:t>carrier sense multiple access with collision detection</a:t>
            </a:r>
          </a:p>
          <a:p>
            <a:pPr algn="just">
              <a:defRPr/>
            </a:pPr>
            <a:r>
              <a:rPr lang="en-US" altLang="ko-KR">
                <a:latin typeface="Times New Roman" pitchFamily="18" charset="0"/>
              </a:rPr>
              <a:t>a station monitors the medium after it sends a frame to see if the transmission was successful</a:t>
            </a:r>
            <a:r>
              <a:rPr lang="en-US" altLang="ko-KR" smtClean="0">
                <a:latin typeface="Times New Roman" pitchFamily="18" charset="0"/>
              </a:rPr>
              <a:t>.</a:t>
            </a:r>
            <a:r>
              <a:rPr lang="en-US" altLang="ko-KR">
                <a:latin typeface="Times New Roman" pitchFamily="18" charset="0"/>
              </a:rPr>
              <a:t> </a:t>
            </a:r>
            <a:endParaRPr lang="en-US" altLang="ko-KR" smtClean="0">
              <a:latin typeface="Times New Roman" pitchFamily="18" charset="0"/>
            </a:endParaRPr>
          </a:p>
          <a:p>
            <a:pPr lvl="1" algn="just">
              <a:defRPr/>
            </a:pPr>
            <a:r>
              <a:rPr lang="en-US" altLang="ko-KR" smtClean="0">
                <a:latin typeface="Times New Roman" pitchFamily="18" charset="0"/>
              </a:rPr>
              <a:t>If </a:t>
            </a:r>
            <a:r>
              <a:rPr lang="en-US" altLang="ko-KR">
                <a:latin typeface="Times New Roman" pitchFamily="18" charset="0"/>
              </a:rPr>
              <a:t>so, the station is finished. </a:t>
            </a:r>
            <a:endParaRPr lang="en-US" altLang="ko-KR" smtClean="0">
              <a:latin typeface="Times New Roman" pitchFamily="18" charset="0"/>
            </a:endParaRPr>
          </a:p>
          <a:p>
            <a:pPr lvl="1" algn="just">
              <a:defRPr/>
            </a:pPr>
            <a:r>
              <a:rPr lang="en-US" altLang="ko-KR" smtClean="0">
                <a:latin typeface="Times New Roman" pitchFamily="18" charset="0"/>
              </a:rPr>
              <a:t>If</a:t>
            </a:r>
            <a:r>
              <a:rPr lang="en-US" altLang="ko-KR">
                <a:latin typeface="Times New Roman" pitchFamily="18" charset="0"/>
              </a:rPr>
              <a:t>, however, there is a collision, the frame is sent again.</a:t>
            </a:r>
          </a:p>
          <a:p>
            <a:pPr algn="just">
              <a:defRPr/>
            </a:pPr>
            <a:endParaRPr lang="en-US" altLang="ko-KR" smtClean="0">
              <a:latin typeface="+mj-lt"/>
            </a:endParaRPr>
          </a:p>
          <a:p>
            <a:pPr algn="just">
              <a:defRPr/>
            </a:pPr>
            <a:endParaRPr lang="en-US" altLang="ko-KR">
              <a:latin typeface="+mj-lt"/>
            </a:endParaRPr>
          </a:p>
          <a:p>
            <a:pPr algn="just">
              <a:defRPr/>
            </a:pPr>
            <a:endParaRPr lang="en-US" altLang="ko-KR" smtClean="0">
              <a:latin typeface="+mj-lt"/>
            </a:endParaRPr>
          </a:p>
          <a:p>
            <a:pPr algn="just">
              <a:defRPr/>
            </a:pPr>
            <a:endParaRPr lang="en-US" altLang="ko-KR" smtClean="0">
              <a:latin typeface="+mj-lt"/>
            </a:endParaRPr>
          </a:p>
          <a:p>
            <a:pPr algn="just">
              <a:defRPr/>
            </a:pPr>
            <a:endParaRPr lang="en-US" altLang="ko-KR">
              <a:latin typeface="+mj-lt"/>
            </a:endParaRPr>
          </a:p>
          <a:p>
            <a:pPr algn="just">
              <a:defRPr/>
            </a:pPr>
            <a:endParaRPr lang="en-US" altLang="ko-KR" smtClean="0">
              <a:latin typeface="+mj-lt"/>
            </a:endParaRPr>
          </a:p>
          <a:p>
            <a:pPr algn="just">
              <a:defRPr/>
            </a:pPr>
            <a:endParaRPr lang="en-US" altLang="ko-KR">
              <a:latin typeface="+mj-lt"/>
            </a:endParaRPr>
          </a:p>
          <a:p>
            <a:pPr marL="0" indent="0" algn="ctr">
              <a:buNone/>
            </a:pPr>
            <a:r>
              <a:rPr lang="en-US" altLang="ko-KR" sz="2000" b="1" i="1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12.11</a:t>
            </a:r>
            <a:r>
              <a:rPr lang="en-US" altLang="ko-KR" sz="200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  </a:t>
            </a:r>
            <a:r>
              <a:rPr lang="en-US" altLang="ko-KR" sz="2000">
                <a:latin typeface="+mj-lt"/>
              </a:rPr>
              <a:t>Collision of the first bits in CSMA/CD</a:t>
            </a:r>
          </a:p>
          <a:p>
            <a:pPr algn="just">
              <a:defRPr/>
            </a:pPr>
            <a:endParaRPr lang="en-US" altLang="ko-KR" smtClean="0">
              <a:latin typeface="+mj-lt"/>
            </a:endParaRPr>
          </a:p>
          <a:p>
            <a:pPr marL="457200" lvl="1" indent="0" algn="just">
              <a:buNone/>
              <a:defRPr/>
            </a:pPr>
            <a:endParaRPr lang="en-US" altLang="ko-KR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38" y="3711574"/>
            <a:ext cx="8094662" cy="242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8104318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12.1  Random Access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61975"/>
            <a:ext cx="8429625" cy="6019800"/>
          </a:xfrm>
        </p:spPr>
        <p:txBody>
          <a:bodyPr/>
          <a:lstStyle/>
          <a:p>
            <a:pPr algn="just">
              <a:defRPr/>
            </a:pPr>
            <a:endParaRPr lang="en-US" altLang="ko-KR" b="1" i="1" smtClean="0">
              <a:solidFill>
                <a:srgbClr val="C00000"/>
              </a:solidFill>
              <a:latin typeface="+mj-lt"/>
            </a:endParaRPr>
          </a:p>
          <a:p>
            <a:pPr algn="just">
              <a:defRPr/>
            </a:pPr>
            <a:endParaRPr lang="en-US" altLang="ko-KR" b="1" i="1">
              <a:solidFill>
                <a:srgbClr val="C00000"/>
              </a:solidFill>
              <a:latin typeface="+mj-lt"/>
            </a:endParaRPr>
          </a:p>
          <a:p>
            <a:pPr algn="just">
              <a:defRPr/>
            </a:pPr>
            <a:endParaRPr lang="en-US" altLang="ko-KR" b="1" i="1" smtClean="0">
              <a:solidFill>
                <a:srgbClr val="C00000"/>
              </a:solidFill>
              <a:latin typeface="+mj-lt"/>
            </a:endParaRPr>
          </a:p>
          <a:p>
            <a:pPr algn="just">
              <a:defRPr/>
            </a:pPr>
            <a:endParaRPr lang="en-US" altLang="ko-KR" b="1" i="1">
              <a:solidFill>
                <a:srgbClr val="C00000"/>
              </a:solidFill>
              <a:latin typeface="+mj-lt"/>
            </a:endParaRPr>
          </a:p>
          <a:p>
            <a:pPr algn="just">
              <a:defRPr/>
            </a:pPr>
            <a:endParaRPr lang="en-US" altLang="ko-KR" b="1" i="1" smtClean="0">
              <a:solidFill>
                <a:srgbClr val="C00000"/>
              </a:solidFill>
              <a:cs typeface="Times New Roman" pitchFamily="18" charset="0"/>
            </a:endParaRPr>
          </a:p>
          <a:p>
            <a:pPr algn="just">
              <a:defRPr/>
            </a:pPr>
            <a:endParaRPr lang="en-US" altLang="ko-KR" b="1" i="1">
              <a:solidFill>
                <a:srgbClr val="C00000"/>
              </a:solidFill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sz="2000" b="1" i="1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</a:t>
            </a:r>
            <a:r>
              <a:rPr lang="en-US" altLang="ko-KR" sz="2000" b="1" i="1">
                <a:solidFill>
                  <a:srgbClr val="C00000"/>
                </a:solidFill>
                <a:latin typeface="+mj-lt"/>
                <a:cs typeface="Times New Roman" pitchFamily="18" charset="0"/>
              </a:rPr>
              <a:t>. </a:t>
            </a:r>
            <a:r>
              <a:rPr lang="en-US" altLang="ko-KR" sz="2000" b="1" i="1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12.12</a:t>
            </a:r>
            <a:r>
              <a:rPr lang="en-US" altLang="ko-KR" sz="200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  </a:t>
            </a:r>
            <a:r>
              <a:rPr lang="en-US" altLang="ko-KR" sz="2000">
                <a:latin typeface="+mj-lt"/>
              </a:rPr>
              <a:t>Collision and abortion </a:t>
            </a:r>
            <a:r>
              <a:rPr lang="en-US" altLang="ko-KR" sz="2000" smtClean="0">
                <a:latin typeface="+mj-lt"/>
              </a:rPr>
              <a:t>ts </a:t>
            </a:r>
            <a:r>
              <a:rPr lang="en-US" altLang="ko-KR" sz="2000">
                <a:latin typeface="+mj-lt"/>
              </a:rPr>
              <a:t>in CSMA/CD</a:t>
            </a:r>
          </a:p>
          <a:p>
            <a:pPr algn="just">
              <a:defRPr/>
            </a:pPr>
            <a:endParaRPr lang="en-US" altLang="ko-KR" sz="2000" b="1" i="1" smtClean="0">
              <a:solidFill>
                <a:srgbClr val="C00000"/>
              </a:solidFill>
              <a:latin typeface="+mj-lt"/>
            </a:endParaRPr>
          </a:p>
          <a:p>
            <a:pPr algn="just">
              <a:defRPr/>
            </a:pPr>
            <a:r>
              <a:rPr lang="en-US" altLang="ko-KR" b="1" i="1" smtClean="0">
                <a:solidFill>
                  <a:srgbClr val="C00000"/>
                </a:solidFill>
                <a:latin typeface="+mj-lt"/>
              </a:rPr>
              <a:t>Minimum Frame Size</a:t>
            </a:r>
          </a:p>
          <a:p>
            <a:pPr lvl="1" algn="just">
              <a:defRPr/>
            </a:pPr>
            <a:r>
              <a:rPr lang="en-US" altLang="ko-KR" smtClean="0">
                <a:latin typeface="+mj-lt"/>
              </a:rPr>
              <a:t>minimum frame transmission time </a:t>
            </a:r>
            <a:r>
              <a:rPr lang="en-US" altLang="ko-KR" b="1" i="1" smtClean="0">
                <a:latin typeface="+mj-lt"/>
              </a:rPr>
              <a:t>T</a:t>
            </a:r>
            <a:r>
              <a:rPr lang="en-US" altLang="ko-KR" b="1" i="1" baseline="-25000" smtClean="0">
                <a:latin typeface="+mj-lt"/>
              </a:rPr>
              <a:t>fr</a:t>
            </a:r>
            <a:r>
              <a:rPr lang="en-US" altLang="ko-KR" smtClean="0">
                <a:latin typeface="+mj-lt"/>
              </a:rPr>
              <a:t> = 2</a:t>
            </a:r>
            <a:r>
              <a:rPr lang="en-US" altLang="ko-KR" smtClean="0">
                <a:latin typeface="Times New Roman"/>
                <a:cs typeface="Times New Roman"/>
              </a:rPr>
              <a:t>×</a:t>
            </a:r>
            <a:r>
              <a:rPr lang="en-US" altLang="ko-KR" b="1" i="1" smtClean="0">
                <a:latin typeface="Times New Roman"/>
                <a:cs typeface="Times New Roman"/>
              </a:rPr>
              <a:t>T</a:t>
            </a:r>
            <a:r>
              <a:rPr lang="en-US" altLang="ko-KR" b="1" i="1" baseline="-25000" smtClean="0">
                <a:latin typeface="Times New Roman"/>
                <a:cs typeface="Times New Roman"/>
              </a:rPr>
              <a:t>p</a:t>
            </a:r>
          </a:p>
          <a:p>
            <a:pPr algn="just">
              <a:defRPr/>
            </a:pPr>
            <a:endParaRPr lang="en-US" altLang="ko-KR" b="1" i="1" baseline="-25000" smtClean="0"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lang="en-US" altLang="ko-KR" b="1" i="1" smtClean="0">
                <a:solidFill>
                  <a:srgbClr val="C00000"/>
                </a:solidFill>
                <a:latin typeface="Times New Roman"/>
                <a:cs typeface="Times New Roman"/>
              </a:rPr>
              <a:t>Ex. 12.5</a:t>
            </a: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" y="637526"/>
            <a:ext cx="7996892" cy="28295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8154689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12.1  Random Access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61975"/>
            <a:ext cx="8429625" cy="6019800"/>
          </a:xfrm>
        </p:spPr>
        <p:txBody>
          <a:bodyPr/>
          <a:lstStyle/>
          <a:p>
            <a:pPr algn="just">
              <a:defRPr/>
            </a:pPr>
            <a:r>
              <a:rPr lang="en-US" altLang="ko-KR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Procedure</a:t>
            </a:r>
            <a:endParaRPr lang="en-US" altLang="ko-KR" b="1" i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b="1" i="1">
              <a:solidFill>
                <a:srgbClr val="C00000"/>
              </a:solidFill>
              <a:latin typeface="+mj-lt"/>
            </a:endParaRPr>
          </a:p>
          <a:p>
            <a:pPr algn="just">
              <a:defRPr/>
            </a:pPr>
            <a:endParaRPr lang="en-US" altLang="ko-KR" b="1" i="1" smtClean="0">
              <a:solidFill>
                <a:srgbClr val="C00000"/>
              </a:solidFill>
              <a:latin typeface="+mj-lt"/>
            </a:endParaRPr>
          </a:p>
          <a:p>
            <a:pPr algn="just">
              <a:defRPr/>
            </a:pPr>
            <a:endParaRPr lang="en-US" altLang="ko-KR" b="1" i="1">
              <a:solidFill>
                <a:srgbClr val="C00000"/>
              </a:solidFill>
              <a:latin typeface="+mj-lt"/>
            </a:endParaRPr>
          </a:p>
          <a:p>
            <a:pPr algn="just">
              <a:defRPr/>
            </a:pPr>
            <a:endParaRPr lang="en-US" altLang="ko-KR" b="1" i="1" smtClean="0">
              <a:solidFill>
                <a:srgbClr val="C00000"/>
              </a:solidFill>
              <a:cs typeface="Times New Roman" pitchFamily="18" charset="0"/>
            </a:endParaRPr>
          </a:p>
          <a:p>
            <a:pPr algn="just">
              <a:defRPr/>
            </a:pPr>
            <a:endParaRPr lang="en-US" altLang="ko-KR" b="1" i="1">
              <a:solidFill>
                <a:srgbClr val="C00000"/>
              </a:solidFill>
              <a:cs typeface="Times New Roman" pitchFamily="18" charset="0"/>
            </a:endParaRPr>
          </a:p>
          <a:p>
            <a:pPr algn="just">
              <a:defRPr/>
            </a:pPr>
            <a:endParaRPr lang="en-US" altLang="ko-KR" b="1" i="1" smtClean="0">
              <a:solidFill>
                <a:srgbClr val="C00000"/>
              </a:solidFill>
              <a:cs typeface="Times New Roman" pitchFamily="18" charset="0"/>
            </a:endParaRPr>
          </a:p>
          <a:p>
            <a:pPr algn="just">
              <a:defRPr/>
            </a:pPr>
            <a:endParaRPr lang="en-US" altLang="ko-KR" b="1" i="1">
              <a:solidFill>
                <a:srgbClr val="C00000"/>
              </a:solidFill>
              <a:cs typeface="Times New Roman" pitchFamily="18" charset="0"/>
            </a:endParaRPr>
          </a:p>
          <a:p>
            <a:pPr algn="just">
              <a:defRPr/>
            </a:pPr>
            <a:endParaRPr lang="en-US" altLang="ko-KR" b="1" i="1" smtClean="0">
              <a:solidFill>
                <a:srgbClr val="C00000"/>
              </a:solidFill>
              <a:cs typeface="Times New Roman" pitchFamily="18" charset="0"/>
            </a:endParaRPr>
          </a:p>
          <a:p>
            <a:pPr algn="just">
              <a:defRPr/>
            </a:pPr>
            <a:endParaRPr lang="en-US" altLang="ko-KR" b="1" i="1" smtClean="0">
              <a:solidFill>
                <a:srgbClr val="C00000"/>
              </a:solidFill>
              <a:cs typeface="Times New Roman" pitchFamily="18" charset="0"/>
            </a:endParaRPr>
          </a:p>
          <a:p>
            <a:pPr algn="just">
              <a:defRPr/>
            </a:pPr>
            <a:endParaRPr lang="en-US" altLang="ko-KR" b="1" i="1">
              <a:solidFill>
                <a:srgbClr val="C00000"/>
              </a:solidFill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sz="2000" b="1" i="1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</a:t>
            </a:r>
            <a:r>
              <a:rPr lang="en-US" altLang="ko-KR" sz="2000" b="1" i="1">
                <a:solidFill>
                  <a:srgbClr val="C00000"/>
                </a:solidFill>
                <a:latin typeface="+mj-lt"/>
                <a:cs typeface="Times New Roman" pitchFamily="18" charset="0"/>
              </a:rPr>
              <a:t>. </a:t>
            </a:r>
            <a:r>
              <a:rPr lang="en-US" altLang="ko-KR" sz="2000" b="1" i="1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12.13</a:t>
            </a:r>
            <a:r>
              <a:rPr lang="en-US" altLang="ko-KR" sz="200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  </a:t>
            </a:r>
            <a:r>
              <a:rPr lang="en-US" altLang="ko-KR" sz="2000">
                <a:latin typeface="+mj-lt"/>
              </a:rPr>
              <a:t>Flow diagram for the CSMA/CD</a:t>
            </a:r>
          </a:p>
          <a:p>
            <a:pPr algn="just">
              <a:defRPr/>
            </a:pPr>
            <a:endParaRPr lang="en-US" altLang="ko-KR" sz="2000" b="1" i="1" smtClean="0">
              <a:solidFill>
                <a:srgbClr val="C00000"/>
              </a:solidFill>
              <a:latin typeface="+mj-lt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1841" y="1384670"/>
            <a:ext cx="6071622" cy="4176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69" y="1144772"/>
            <a:ext cx="2546306" cy="1347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829666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12.1  Random Access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61975"/>
            <a:ext cx="8429625" cy="6019800"/>
          </a:xfrm>
        </p:spPr>
        <p:txBody>
          <a:bodyPr/>
          <a:lstStyle/>
          <a:p>
            <a:pPr algn="just">
              <a:defRPr/>
            </a:pPr>
            <a:r>
              <a:rPr lang="en-US" altLang="ko-KR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Energy Level</a:t>
            </a:r>
            <a:endParaRPr lang="en-US" altLang="ko-KR" b="1" i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b="1" i="1">
              <a:solidFill>
                <a:srgbClr val="C00000"/>
              </a:solidFill>
              <a:latin typeface="+mj-lt"/>
            </a:endParaRPr>
          </a:p>
          <a:p>
            <a:pPr algn="just">
              <a:defRPr/>
            </a:pPr>
            <a:endParaRPr lang="en-US" altLang="ko-KR" b="1" i="1" smtClean="0">
              <a:solidFill>
                <a:srgbClr val="C00000"/>
              </a:solidFill>
              <a:latin typeface="+mj-lt"/>
            </a:endParaRPr>
          </a:p>
          <a:p>
            <a:pPr algn="just">
              <a:defRPr/>
            </a:pPr>
            <a:endParaRPr lang="en-US" altLang="ko-KR" b="1" i="1" smtClean="0">
              <a:solidFill>
                <a:srgbClr val="C00000"/>
              </a:solidFill>
              <a:latin typeface="+mj-lt"/>
            </a:endParaRPr>
          </a:p>
          <a:p>
            <a:pPr algn="just">
              <a:defRPr/>
            </a:pPr>
            <a:endParaRPr lang="en-US" altLang="ko-KR" b="1" i="1">
              <a:solidFill>
                <a:srgbClr val="C00000"/>
              </a:solidFill>
              <a:latin typeface="+mj-lt"/>
            </a:endParaRPr>
          </a:p>
          <a:p>
            <a:pPr algn="just">
              <a:defRPr/>
            </a:pPr>
            <a:endParaRPr lang="en-US" altLang="ko-KR" b="1" i="1" smtClean="0">
              <a:solidFill>
                <a:srgbClr val="C00000"/>
              </a:solidFill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sz="2000" b="1" i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</a:t>
            </a: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12.14</a:t>
            </a:r>
            <a:r>
              <a:rPr lang="en-US" altLang="ko-KR" sz="20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sz="2000">
                <a:latin typeface="Times New Roman" pitchFamily="18" charset="0"/>
                <a:cs typeface="Times New Roman" pitchFamily="18" charset="0"/>
              </a:rPr>
              <a:t>Flow diagram for the CSMA/CD</a:t>
            </a:r>
          </a:p>
          <a:p>
            <a:pPr algn="just">
              <a:defRPr/>
            </a:pPr>
            <a:endParaRPr lang="en-US" altLang="ko-KR" b="1" i="1">
              <a:solidFill>
                <a:srgbClr val="C00000"/>
              </a:solidFill>
              <a:cs typeface="Times New Roman" pitchFamily="18" charset="0"/>
            </a:endParaRPr>
          </a:p>
          <a:p>
            <a:pPr algn="just">
              <a:defRPr/>
            </a:pPr>
            <a:r>
              <a:rPr lang="en-US" altLang="ko-KR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Throughput</a:t>
            </a:r>
          </a:p>
          <a:p>
            <a:pPr lvl="1" algn="just">
              <a:defRPr/>
            </a:pPr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greater than that of pure or slotted ALOHA</a:t>
            </a:r>
          </a:p>
          <a:p>
            <a:pPr lvl="1" algn="just">
              <a:defRPr/>
            </a:pPr>
            <a:endParaRPr lang="en-US" altLang="ko-KR"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r>
              <a:rPr lang="en-US" altLang="ko-KR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Traditional Ethernet</a:t>
            </a:r>
          </a:p>
          <a:p>
            <a:pPr lvl="1" algn="just">
              <a:defRPr/>
            </a:pPr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Ethernet with 10 Mbps</a:t>
            </a:r>
            <a:endParaRPr lang="en-US" altLang="ko-KR"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b="1" i="1" smtClean="0">
              <a:solidFill>
                <a:srgbClr val="C00000"/>
              </a:solidFill>
              <a:cs typeface="Times New Roman" pitchFamily="18" charset="0"/>
            </a:endParaRPr>
          </a:p>
          <a:p>
            <a:pPr algn="just">
              <a:defRPr/>
            </a:pPr>
            <a:endParaRPr lang="en-US" altLang="ko-KR" b="1" i="1" smtClean="0">
              <a:solidFill>
                <a:srgbClr val="C00000"/>
              </a:solidFill>
              <a:cs typeface="Times New Roman" pitchFamily="18" charset="0"/>
            </a:endParaRPr>
          </a:p>
          <a:p>
            <a:pPr algn="just">
              <a:defRPr/>
            </a:pPr>
            <a:endParaRPr lang="en-US" altLang="ko-KR" b="1" i="1">
              <a:solidFill>
                <a:srgbClr val="C00000"/>
              </a:solidFill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algn="just">
              <a:defRPr/>
            </a:pPr>
            <a:endParaRPr lang="en-US" altLang="ko-KR" sz="2000" b="1" i="1" smtClean="0">
              <a:solidFill>
                <a:srgbClr val="C00000"/>
              </a:solidFill>
              <a:latin typeface="+mj-lt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548" y="1327438"/>
            <a:ext cx="6353175" cy="1739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721705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12.1  Random Access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61975"/>
            <a:ext cx="8429625" cy="60198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12.1.4 CSMA/CA</a:t>
            </a:r>
          </a:p>
          <a:p>
            <a:pPr>
              <a:defRPr/>
            </a:pPr>
            <a:r>
              <a:rPr lang="en-US" altLang="ko-KR" smtClean="0">
                <a:latin typeface="+mj-lt"/>
              </a:rPr>
              <a:t>CSMA with </a:t>
            </a:r>
            <a:br>
              <a:rPr lang="en-US" altLang="ko-KR" smtClean="0">
                <a:latin typeface="+mj-lt"/>
              </a:rPr>
            </a:br>
            <a:r>
              <a:rPr lang="en-US" altLang="ko-KR" smtClean="0">
                <a:latin typeface="+mj-lt"/>
              </a:rPr>
              <a:t>collision avoidance</a:t>
            </a:r>
          </a:p>
          <a:p>
            <a:pPr>
              <a:defRPr/>
            </a:pPr>
            <a:endParaRPr lang="en-US" altLang="ko-KR">
              <a:latin typeface="+mj-lt"/>
            </a:endParaRPr>
          </a:p>
          <a:p>
            <a:pPr>
              <a:defRPr/>
            </a:pPr>
            <a:endParaRPr lang="en-US" altLang="ko-KR" smtClean="0">
              <a:latin typeface="+mj-lt"/>
            </a:endParaRPr>
          </a:p>
          <a:p>
            <a:pPr>
              <a:defRPr/>
            </a:pPr>
            <a:endParaRPr lang="en-US" altLang="ko-KR">
              <a:latin typeface="+mj-lt"/>
            </a:endParaRPr>
          </a:p>
          <a:p>
            <a:pPr>
              <a:defRPr/>
            </a:pPr>
            <a:endParaRPr lang="en-US" altLang="ko-KR" smtClean="0">
              <a:latin typeface="+mj-lt"/>
            </a:endParaRPr>
          </a:p>
          <a:p>
            <a:pPr>
              <a:defRPr/>
            </a:pPr>
            <a:endParaRPr lang="en-US" altLang="ko-KR">
              <a:latin typeface="+mj-lt"/>
            </a:endParaRPr>
          </a:p>
          <a:p>
            <a:pPr>
              <a:defRPr/>
            </a:pPr>
            <a:endParaRPr lang="en-US" altLang="ko-KR" smtClean="0">
              <a:latin typeface="+mj-lt"/>
            </a:endParaRPr>
          </a:p>
          <a:p>
            <a:pPr>
              <a:defRPr/>
            </a:pPr>
            <a:endParaRPr lang="en-US" altLang="ko-KR">
              <a:latin typeface="+mj-lt"/>
            </a:endParaRPr>
          </a:p>
          <a:p>
            <a:pPr>
              <a:defRPr/>
            </a:pPr>
            <a:endParaRPr lang="en-US" altLang="ko-KR" smtClean="0">
              <a:latin typeface="+mj-lt"/>
            </a:endParaRPr>
          </a:p>
          <a:p>
            <a:pPr marL="0" indent="0">
              <a:buNone/>
              <a:defRPr/>
            </a:pP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2.15</a:t>
            </a:r>
            <a:r>
              <a:rPr lang="en-US" altLang="ko-KR" sz="20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  </a:t>
            </a:r>
            <a:r>
              <a:rPr lang="en-US" altLang="ko-KR" sz="2000">
                <a:latin typeface="Times New Roman" pitchFamily="18" charset="0"/>
                <a:cs typeface="Times New Roman" pitchFamily="18" charset="0"/>
              </a:rPr>
              <a:t>Flow diagram </a:t>
            </a:r>
            <a:r>
              <a:rPr lang="en-US" altLang="ko-KR" sz="2000" smtClean="0">
                <a:latin typeface="Times New Roman" pitchFamily="18" charset="0"/>
                <a:cs typeface="Times New Roman" pitchFamily="18" charset="0"/>
              </a:rPr>
              <a:t>for</a:t>
            </a:r>
            <a:br>
              <a:rPr lang="en-US" altLang="ko-KR" sz="2000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ko-KR" sz="20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000">
                <a:latin typeface="Times New Roman" pitchFamily="18" charset="0"/>
                <a:cs typeface="Times New Roman" pitchFamily="18" charset="0"/>
              </a:rPr>
              <a:t>CSMA/CA</a:t>
            </a:r>
          </a:p>
          <a:p>
            <a:pPr marL="0" indent="0">
              <a:buNone/>
              <a:defRPr/>
            </a:pPr>
            <a:endParaRPr lang="en-US" altLang="ko-KR" smtClean="0">
              <a:latin typeface="+mj-lt"/>
            </a:endParaRPr>
          </a:p>
          <a:p>
            <a:pPr algn="just">
              <a:defRPr/>
            </a:pPr>
            <a:endParaRPr lang="en-US" altLang="ko-KR">
              <a:latin typeface="+mj-lt"/>
            </a:endParaRPr>
          </a:p>
          <a:p>
            <a:pPr algn="just">
              <a:defRPr/>
            </a:pPr>
            <a:endParaRPr lang="en-US" altLang="ko-KR" smtClean="0">
              <a:latin typeface="+mj-lt"/>
            </a:endParaRPr>
          </a:p>
          <a:p>
            <a:pPr algn="just">
              <a:defRPr/>
            </a:pPr>
            <a:endParaRPr lang="en-US" altLang="ko-KR" smtClean="0">
              <a:latin typeface="+mj-lt"/>
            </a:endParaRPr>
          </a:p>
          <a:p>
            <a:pPr marL="457200" lvl="1" indent="0" algn="just">
              <a:buNone/>
              <a:defRPr/>
            </a:pPr>
            <a:endParaRPr lang="en-US" altLang="ko-KR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3337" y="638175"/>
            <a:ext cx="5615125" cy="5738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507332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12.1  Random Access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61975"/>
            <a:ext cx="8429625" cy="6019800"/>
          </a:xfrm>
        </p:spPr>
        <p:txBody>
          <a:bodyPr/>
          <a:lstStyle/>
          <a:p>
            <a:pPr>
              <a:defRPr/>
            </a:pPr>
            <a:r>
              <a:rPr lang="en-US" altLang="ko-KR" b="1" i="1" smtClean="0">
                <a:latin typeface="+mj-lt"/>
              </a:rPr>
              <a:t>Interframe Space (IFS) </a:t>
            </a:r>
          </a:p>
          <a:p>
            <a:pPr lvl="1">
              <a:defRPr/>
            </a:pPr>
            <a:r>
              <a:rPr lang="en-US" altLang="ko-KR" smtClean="0">
                <a:latin typeface="+mj-lt"/>
              </a:rPr>
              <a:t>to avoid collision</a:t>
            </a:r>
          </a:p>
          <a:p>
            <a:pPr lvl="1">
              <a:defRPr/>
            </a:pPr>
            <a:endParaRPr lang="en-US" altLang="ko-KR" smtClean="0">
              <a:latin typeface="+mj-lt"/>
            </a:endParaRPr>
          </a:p>
          <a:p>
            <a:pPr>
              <a:defRPr/>
            </a:pPr>
            <a:r>
              <a:rPr lang="en-US" altLang="ko-KR" b="1" i="1" smtClean="0">
                <a:latin typeface="+mj-lt"/>
              </a:rPr>
              <a:t>Contention window</a:t>
            </a:r>
          </a:p>
          <a:p>
            <a:pPr>
              <a:defRPr/>
            </a:pPr>
            <a:endParaRPr lang="en-US" altLang="ko-KR" b="1" i="1">
              <a:latin typeface="+mj-lt"/>
            </a:endParaRPr>
          </a:p>
          <a:p>
            <a:pPr>
              <a:defRPr/>
            </a:pPr>
            <a:endParaRPr lang="en-US" altLang="ko-KR" b="1" i="1" smtClean="0">
              <a:latin typeface="+mj-lt"/>
            </a:endParaRPr>
          </a:p>
          <a:p>
            <a:pPr>
              <a:defRPr/>
            </a:pPr>
            <a:endParaRPr lang="en-US" altLang="ko-KR" b="1" i="1">
              <a:latin typeface="+mj-lt"/>
            </a:endParaRPr>
          </a:p>
          <a:p>
            <a:pPr>
              <a:defRPr/>
            </a:pPr>
            <a:endParaRPr lang="en-US" altLang="ko-KR" b="1" i="1" smtClean="0">
              <a:latin typeface="+mj-lt"/>
            </a:endParaRPr>
          </a:p>
          <a:p>
            <a:pPr>
              <a:defRPr/>
            </a:pPr>
            <a:endParaRPr lang="en-US" altLang="ko-KR" smtClean="0">
              <a:latin typeface="+mj-lt"/>
            </a:endParaRPr>
          </a:p>
          <a:p>
            <a:pPr>
              <a:defRPr/>
            </a:pPr>
            <a:endParaRPr lang="en-US" altLang="ko-KR">
              <a:latin typeface="+mj-lt"/>
            </a:endParaRPr>
          </a:p>
          <a:p>
            <a:pPr marL="0" indent="0" algn="ctr">
              <a:buNone/>
              <a:defRPr/>
            </a:pPr>
            <a:r>
              <a:rPr lang="en-US" altLang="ko-KR" sz="2000" b="1" i="1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</a:t>
            </a:r>
            <a:r>
              <a:rPr lang="en-US" altLang="ko-KR" sz="2000" b="1" i="1">
                <a:solidFill>
                  <a:srgbClr val="C00000"/>
                </a:solidFill>
                <a:latin typeface="+mj-lt"/>
                <a:cs typeface="Times New Roman" pitchFamily="18" charset="0"/>
              </a:rPr>
              <a:t>. </a:t>
            </a:r>
            <a:r>
              <a:rPr lang="en-US" altLang="ko-KR" sz="2000" b="1" i="1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2.16</a:t>
            </a:r>
            <a:r>
              <a:rPr lang="en-US" altLang="ko-KR" sz="200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:  </a:t>
            </a:r>
            <a:r>
              <a:rPr lang="en-US" altLang="ko-KR" sz="2000">
                <a:latin typeface="+mj-lt"/>
              </a:rPr>
              <a:t>Contention window</a:t>
            </a:r>
          </a:p>
          <a:p>
            <a:pPr marL="0" indent="0" algn="ctr">
              <a:buNone/>
              <a:defRPr/>
            </a:pPr>
            <a:endParaRPr lang="en-US" altLang="ko-KR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altLang="ko-KR">
              <a:latin typeface="+mj-lt"/>
            </a:endParaRPr>
          </a:p>
          <a:p>
            <a:pPr marL="0" indent="0">
              <a:buNone/>
              <a:defRPr/>
            </a:pPr>
            <a:endParaRPr lang="en-US" altLang="ko-KR" smtClean="0">
              <a:latin typeface="+mj-lt"/>
            </a:endParaRPr>
          </a:p>
          <a:p>
            <a:pPr algn="just">
              <a:defRPr/>
            </a:pPr>
            <a:endParaRPr lang="en-US" altLang="ko-KR">
              <a:latin typeface="+mj-lt"/>
            </a:endParaRPr>
          </a:p>
          <a:p>
            <a:pPr algn="just">
              <a:defRPr/>
            </a:pPr>
            <a:endParaRPr lang="en-US" altLang="ko-KR" smtClean="0">
              <a:latin typeface="+mj-lt"/>
            </a:endParaRPr>
          </a:p>
          <a:p>
            <a:pPr algn="just">
              <a:defRPr/>
            </a:pPr>
            <a:endParaRPr lang="en-US" altLang="ko-KR" smtClean="0">
              <a:latin typeface="+mj-lt"/>
            </a:endParaRPr>
          </a:p>
          <a:p>
            <a:pPr marL="457200" lvl="1" indent="0" algn="just">
              <a:buNone/>
              <a:defRPr/>
            </a:pPr>
            <a:endParaRPr lang="en-US" altLang="ko-KR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975" y="2415462"/>
            <a:ext cx="7944031" cy="2366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1411887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12.1  Random Access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61975"/>
            <a:ext cx="8429625" cy="6019800"/>
          </a:xfrm>
        </p:spPr>
        <p:txBody>
          <a:bodyPr/>
          <a:lstStyle/>
          <a:p>
            <a:pPr>
              <a:defRPr/>
            </a:pPr>
            <a:r>
              <a:rPr lang="en-US" altLang="ko-KR" b="1" i="1" smtClean="0">
                <a:latin typeface="+mj-lt"/>
              </a:rPr>
              <a:t>Network Allocation Vector</a:t>
            </a:r>
          </a:p>
          <a:p>
            <a:pPr>
              <a:defRPr/>
            </a:pPr>
            <a:endParaRPr lang="en-US" altLang="ko-KR" b="1" i="1">
              <a:latin typeface="+mj-lt"/>
            </a:endParaRPr>
          </a:p>
          <a:p>
            <a:pPr>
              <a:defRPr/>
            </a:pPr>
            <a:endParaRPr lang="en-US" altLang="ko-KR" b="1" i="1" smtClean="0">
              <a:latin typeface="+mj-lt"/>
            </a:endParaRPr>
          </a:p>
          <a:p>
            <a:pPr>
              <a:defRPr/>
            </a:pPr>
            <a:endParaRPr lang="en-US" altLang="ko-KR" b="1" i="1">
              <a:latin typeface="+mj-lt"/>
            </a:endParaRPr>
          </a:p>
          <a:p>
            <a:pPr>
              <a:defRPr/>
            </a:pPr>
            <a:endParaRPr lang="en-US" altLang="ko-KR" b="1" i="1" smtClean="0">
              <a:latin typeface="+mj-lt"/>
            </a:endParaRPr>
          </a:p>
          <a:p>
            <a:pPr>
              <a:defRPr/>
            </a:pPr>
            <a:endParaRPr lang="en-US" altLang="ko-KR" b="1" i="1">
              <a:latin typeface="+mj-lt"/>
            </a:endParaRPr>
          </a:p>
          <a:p>
            <a:pPr>
              <a:defRPr/>
            </a:pPr>
            <a:endParaRPr lang="en-US" altLang="ko-KR" b="1" i="1" smtClean="0">
              <a:latin typeface="+mj-lt"/>
            </a:endParaRPr>
          </a:p>
          <a:p>
            <a:pPr>
              <a:defRPr/>
            </a:pPr>
            <a:endParaRPr lang="en-US" altLang="ko-KR" b="1" i="1">
              <a:latin typeface="+mj-lt"/>
            </a:endParaRPr>
          </a:p>
          <a:p>
            <a:pPr>
              <a:defRPr/>
            </a:pPr>
            <a:endParaRPr lang="en-US" altLang="ko-KR" b="1" i="1" smtClean="0">
              <a:latin typeface="+mj-lt"/>
            </a:endParaRPr>
          </a:p>
          <a:p>
            <a:pPr>
              <a:defRPr/>
            </a:pPr>
            <a:endParaRPr lang="en-US" altLang="ko-KR" b="1" i="1">
              <a:latin typeface="+mj-lt"/>
            </a:endParaRPr>
          </a:p>
          <a:p>
            <a:pPr>
              <a:defRPr/>
            </a:pPr>
            <a:endParaRPr lang="en-US" altLang="ko-KR" b="1" i="1" smtClean="0">
              <a:latin typeface="+mj-lt"/>
            </a:endParaRPr>
          </a:p>
          <a:p>
            <a:pPr>
              <a:lnSpc>
                <a:spcPct val="150000"/>
              </a:lnSpc>
              <a:defRPr/>
            </a:pPr>
            <a:endParaRPr lang="en-US" altLang="ko-KR" b="1" i="1">
              <a:latin typeface="+mj-lt"/>
            </a:endParaRPr>
          </a:p>
          <a:p>
            <a:pPr marL="0" indent="0" algn="ctr">
              <a:buNone/>
              <a:defRPr/>
            </a:pPr>
            <a:r>
              <a:rPr lang="en-US" altLang="ko-KR" sz="2000" b="1" i="1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</a:t>
            </a:r>
            <a:r>
              <a:rPr lang="en-US" altLang="ko-KR" sz="2000" b="1" i="1">
                <a:solidFill>
                  <a:srgbClr val="C00000"/>
                </a:solidFill>
                <a:latin typeface="+mj-lt"/>
                <a:cs typeface="Times New Roman" pitchFamily="18" charset="0"/>
              </a:rPr>
              <a:t>. </a:t>
            </a:r>
            <a:r>
              <a:rPr lang="en-US" altLang="ko-KR" sz="2000" b="1" i="1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2.17</a:t>
            </a:r>
            <a:r>
              <a:rPr lang="en-US" altLang="ko-KR" sz="200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  </a:t>
            </a:r>
            <a:r>
              <a:rPr lang="en-US" altLang="ko-KR" sz="2000" smtClean="0">
                <a:latin typeface="+mj-lt"/>
              </a:rPr>
              <a:t>CSMA/CA </a:t>
            </a:r>
            <a:r>
              <a:rPr lang="en-US" altLang="ko-KR" sz="2000">
                <a:latin typeface="+mj-lt"/>
              </a:rPr>
              <a:t>and NAV</a:t>
            </a:r>
          </a:p>
          <a:p>
            <a:pPr>
              <a:defRPr/>
            </a:pPr>
            <a:r>
              <a:rPr lang="en-US" altLang="ko-KR" b="1" i="1" smtClean="0">
                <a:latin typeface="+mj-lt"/>
              </a:rPr>
              <a:t/>
            </a:r>
            <a:br>
              <a:rPr lang="en-US" altLang="ko-KR" b="1" i="1" smtClean="0">
                <a:latin typeface="+mj-lt"/>
              </a:rPr>
            </a:br>
            <a:endParaRPr lang="en-US" altLang="ko-KR" b="1" i="1">
              <a:latin typeface="+mj-lt"/>
            </a:endParaRPr>
          </a:p>
          <a:p>
            <a:pPr>
              <a:defRPr/>
            </a:pPr>
            <a:endParaRPr lang="en-US" altLang="ko-KR" smtClean="0">
              <a:latin typeface="+mj-lt"/>
            </a:endParaRPr>
          </a:p>
          <a:p>
            <a:pPr>
              <a:defRPr/>
            </a:pPr>
            <a:endParaRPr lang="en-US" altLang="ko-KR">
              <a:latin typeface="+mj-lt"/>
            </a:endParaRPr>
          </a:p>
          <a:p>
            <a:pPr>
              <a:defRPr/>
            </a:pPr>
            <a:endParaRPr lang="en-US" altLang="ko-KR" smtClean="0">
              <a:latin typeface="+mj-lt"/>
            </a:endParaRPr>
          </a:p>
          <a:p>
            <a:pPr>
              <a:defRPr/>
            </a:pPr>
            <a:endParaRPr lang="en-US" altLang="ko-KR">
              <a:latin typeface="+mj-lt"/>
            </a:endParaRPr>
          </a:p>
          <a:p>
            <a:pPr marL="0" indent="0">
              <a:buNone/>
              <a:defRPr/>
            </a:pPr>
            <a:endParaRPr lang="en-US" altLang="ko-KR" smtClean="0">
              <a:latin typeface="+mj-lt"/>
            </a:endParaRPr>
          </a:p>
          <a:p>
            <a:pPr algn="just">
              <a:defRPr/>
            </a:pPr>
            <a:endParaRPr lang="en-US" altLang="ko-KR">
              <a:latin typeface="+mj-lt"/>
            </a:endParaRPr>
          </a:p>
          <a:p>
            <a:pPr algn="just">
              <a:defRPr/>
            </a:pPr>
            <a:endParaRPr lang="en-US" altLang="ko-KR" smtClean="0">
              <a:latin typeface="+mj-lt"/>
            </a:endParaRPr>
          </a:p>
          <a:p>
            <a:pPr algn="just">
              <a:defRPr/>
            </a:pPr>
            <a:endParaRPr lang="en-US" altLang="ko-KR" smtClean="0">
              <a:latin typeface="+mj-lt"/>
            </a:endParaRPr>
          </a:p>
          <a:p>
            <a:pPr marL="457200" lvl="1" indent="0" algn="just">
              <a:buNone/>
              <a:defRPr/>
            </a:pPr>
            <a:endParaRPr lang="en-US" altLang="ko-KR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1087252"/>
            <a:ext cx="6515100" cy="478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3109152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12.2  Controlled Access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12.2 Controlled Access </a:t>
            </a:r>
          </a:p>
          <a:p>
            <a:pPr algn="just"/>
            <a:r>
              <a:rPr lang="en-US" altLang="ko-KR">
                <a:latin typeface="Times New Roman" pitchFamily="18" charset="0"/>
                <a:cs typeface="Times New Roman" pitchFamily="18" charset="0"/>
              </a:rPr>
              <a:t>the stations consult one another to find which station has the right to send. </a:t>
            </a:r>
            <a:endParaRPr lang="en-US" altLang="ko-KR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altLang="ko-KR">
                <a:latin typeface="Times New Roman" pitchFamily="18" charset="0"/>
                <a:cs typeface="Times New Roman" pitchFamily="18" charset="0"/>
              </a:rPr>
              <a:t>station cannot send unless it has been authorized by other stations</a:t>
            </a:r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altLang="ko-KR">
              <a:latin typeface="Times-Roman"/>
            </a:endParaRPr>
          </a:p>
          <a:p>
            <a:pPr marL="0" indent="0" algn="just">
              <a:buNone/>
            </a:pPr>
            <a:r>
              <a:rPr lang="en-US" altLang="ko-KR" smtClean="0">
                <a:latin typeface="Times-Roman"/>
              </a:rPr>
              <a:t> </a:t>
            </a:r>
            <a:r>
              <a:rPr lang="en-US" altLang="ko-KR" sz="24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12.2.1 Reservation</a:t>
            </a:r>
          </a:p>
          <a:p>
            <a:pPr marL="0" indent="0" algn="just">
              <a:buNone/>
            </a:pPr>
            <a:endParaRPr lang="en-US" altLang="ko-KR" b="1" i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ko-KR" sz="2400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ko-KR" b="1" i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ko-KR" sz="2400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ko-KR" b="1" i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12.18 </a:t>
            </a:r>
            <a:r>
              <a:rPr lang="en-US" altLang="ko-KR" sz="2000" smtClean="0">
                <a:latin typeface="Times New Roman" pitchFamily="18" charset="0"/>
                <a:cs typeface="Times New Roman" pitchFamily="18" charset="0"/>
              </a:rPr>
              <a:t>Reservation </a:t>
            </a:r>
            <a:r>
              <a:rPr lang="en-US" altLang="ko-KR" sz="2000">
                <a:latin typeface="Times New Roman" pitchFamily="18" charset="0"/>
                <a:cs typeface="Times New Roman" pitchFamily="18" charset="0"/>
              </a:rPr>
              <a:t>access </a:t>
            </a:r>
            <a:r>
              <a:rPr lang="en-US" altLang="ko-KR" sz="2000" smtClean="0">
                <a:latin typeface="Times New Roman" pitchFamily="18" charset="0"/>
                <a:cs typeface="Times New Roman" pitchFamily="18" charset="0"/>
              </a:rPr>
              <a:t>method</a:t>
            </a:r>
            <a:endParaRPr lang="en-US" altLang="ko-KR" sz="20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801459"/>
            <a:ext cx="7634288" cy="2007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414734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12.2  Controlled Access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23875"/>
            <a:ext cx="8429625" cy="6057900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ko-KR" smtClean="0">
                <a:latin typeface="Times-Roman"/>
              </a:rPr>
              <a:t> </a:t>
            </a:r>
            <a:r>
              <a:rPr lang="en-US" altLang="ko-KR" sz="24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12.2.1 </a:t>
            </a:r>
            <a:r>
              <a:rPr lang="en-US" altLang="ko-KR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Polling</a:t>
            </a:r>
            <a:endParaRPr lang="en-US" altLang="ko-KR" sz="2400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mtClean="0">
                <a:latin typeface="Times New Roman" pitchFamily="18" charset="0"/>
              </a:rPr>
              <a:t>primary station and secondary stations</a:t>
            </a:r>
          </a:p>
          <a:p>
            <a:r>
              <a:rPr lang="en-US" altLang="ko-KR" smtClean="0">
                <a:latin typeface="Times New Roman" pitchFamily="18" charset="0"/>
              </a:rPr>
              <a:t>all </a:t>
            </a:r>
            <a:r>
              <a:rPr lang="en-US" altLang="ko-KR">
                <a:latin typeface="Times New Roman" pitchFamily="18" charset="0"/>
              </a:rPr>
              <a:t>data exchanges must be made through the primary </a:t>
            </a:r>
            <a:r>
              <a:rPr lang="en-US" altLang="ko-KR">
                <a:latin typeface="Times New Roman" pitchFamily="18" charset="0"/>
              </a:rPr>
              <a:t>device </a:t>
            </a:r>
            <a:endParaRPr lang="en-US" altLang="ko-KR" smtClean="0">
              <a:latin typeface="Times New Roman" pitchFamily="18" charset="0"/>
            </a:endParaRPr>
          </a:p>
          <a:p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primary device controls the link</a:t>
            </a:r>
          </a:p>
          <a:p>
            <a:pPr>
              <a:defRPr/>
            </a:pPr>
            <a:r>
              <a:rPr lang="en-US" altLang="ko-KR" smtClean="0">
                <a:latin typeface="Times New Roman" pitchFamily="18" charset="0"/>
              </a:rPr>
              <a:t>uses SEL and POLL to prevent collisions</a:t>
            </a:r>
          </a:p>
          <a:p>
            <a:pPr>
              <a:defRPr/>
            </a:pPr>
            <a:r>
              <a:rPr lang="en-US" altLang="ko-KR" smtClean="0">
                <a:latin typeface="Times New Roman" pitchFamily="18" charset="0"/>
              </a:rPr>
              <a:t>if the primary station fails, the system goes down</a:t>
            </a:r>
            <a:endParaRPr lang="en-US" altLang="ko-KR">
              <a:latin typeface="Times New Roman" pitchFamily="18" charset="0"/>
            </a:endParaRPr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269641"/>
            <a:ext cx="2975729" cy="2835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04" y="4019800"/>
            <a:ext cx="2467908" cy="309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442" y="4388940"/>
            <a:ext cx="2467908" cy="245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872" y="4725953"/>
            <a:ext cx="2467908" cy="3178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8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451" y="5145798"/>
            <a:ext cx="2467908" cy="217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365" y="6083429"/>
            <a:ext cx="718335" cy="326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11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160" y="3341696"/>
            <a:ext cx="3020758" cy="3135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" name="Picture 1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9161" y="6176353"/>
            <a:ext cx="476935" cy="326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Picture 13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7893" y="4871638"/>
            <a:ext cx="2467908" cy="241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" name="Picture 14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589" y="5182110"/>
            <a:ext cx="2390786" cy="3105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" name="Picture 16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5993" y="5593500"/>
            <a:ext cx="2390786" cy="210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17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1581" y="4143429"/>
            <a:ext cx="1696687" cy="225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" name="Picture 18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2765" y="4517447"/>
            <a:ext cx="1773809" cy="270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233913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12.2  Controlled Access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23875"/>
            <a:ext cx="8429625" cy="6057900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ko-KR" smtClean="0">
                <a:latin typeface="Times-Roman"/>
              </a:rPr>
              <a:t> </a:t>
            </a:r>
            <a:r>
              <a:rPr lang="en-US" altLang="ko-KR" sz="24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12.2.3 Token Passing</a:t>
            </a:r>
            <a:endParaRPr lang="en-US" altLang="ko-KR" sz="2400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>
                <a:latin typeface="Times New Roman" pitchFamily="18" charset="0"/>
              </a:rPr>
              <a:t>the stations in a network are organized in a logical </a:t>
            </a:r>
            <a:r>
              <a:rPr lang="en-US" altLang="ko-KR">
                <a:latin typeface="Times New Roman" pitchFamily="18" charset="0"/>
              </a:rPr>
              <a:t>ring </a:t>
            </a:r>
            <a:endParaRPr lang="en-US" altLang="ko-KR" smtClean="0">
              <a:latin typeface="Times New Roman" pitchFamily="18" charset="0"/>
            </a:endParaRPr>
          </a:p>
          <a:p>
            <a:r>
              <a:rPr lang="en-US" altLang="ko-KR" smtClean="0">
                <a:latin typeface="Times New Roman" pitchFamily="18" charset="0"/>
              </a:rPr>
              <a:t>there is a </a:t>
            </a:r>
            <a:r>
              <a:rPr lang="en-US" altLang="ko-KR">
                <a:latin typeface="Times New Roman" pitchFamily="18" charset="0"/>
              </a:rPr>
              <a:t>predecessor and a </a:t>
            </a:r>
            <a:r>
              <a:rPr lang="en-US" altLang="ko-KR">
                <a:latin typeface="Times New Roman" pitchFamily="18" charset="0"/>
              </a:rPr>
              <a:t>successor </a:t>
            </a:r>
            <a:endParaRPr lang="en-US" altLang="ko-KR" smtClean="0">
              <a:latin typeface="Times New Roman" pitchFamily="18" charset="0"/>
            </a:endParaRPr>
          </a:p>
          <a:p>
            <a:pPr>
              <a:defRPr/>
            </a:pPr>
            <a:r>
              <a:rPr lang="en-US" altLang="ko-KR" smtClean="0">
                <a:latin typeface="Times New Roman" pitchFamily="18" charset="0"/>
              </a:rPr>
              <a:t>the possession of the token gives the station the right to access the channel and send its data.</a:t>
            </a:r>
          </a:p>
        </p:txBody>
      </p:sp>
      <p:pic>
        <p:nvPicPr>
          <p:cNvPr id="1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620" y="2695883"/>
            <a:ext cx="2289175" cy="1810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3537" y="2714371"/>
            <a:ext cx="2289176" cy="1810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620" y="4638981"/>
            <a:ext cx="2289175" cy="1854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5599" y="4634296"/>
            <a:ext cx="1787575" cy="1882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184065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12.3  Channelization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12.3 Channelization </a:t>
            </a:r>
            <a:endParaRPr lang="en-US" altLang="ko-KR" sz="28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mtClean="0">
                <a:latin typeface="+mj-lt"/>
              </a:rPr>
              <a:t>(</a:t>
            </a:r>
            <a:r>
              <a:rPr lang="en-US" altLang="ko-KR">
                <a:latin typeface="+mj-lt"/>
              </a:rPr>
              <a:t>or </a:t>
            </a:r>
            <a:r>
              <a:rPr lang="en-US" altLang="ko-KR" b="1" i="1">
                <a:latin typeface="+mj-lt"/>
              </a:rPr>
              <a:t>channel </a:t>
            </a:r>
            <a:r>
              <a:rPr lang="en-US" altLang="ko-KR" b="1" i="1" smtClean="0">
                <a:latin typeface="+mj-lt"/>
              </a:rPr>
              <a:t>partition</a:t>
            </a:r>
            <a:r>
              <a:rPr lang="en-US" altLang="ko-KR" smtClean="0">
                <a:latin typeface="+mj-lt"/>
              </a:rPr>
              <a:t>) </a:t>
            </a:r>
            <a:r>
              <a:rPr lang="en-US" altLang="ko-KR">
                <a:latin typeface="+mj-lt"/>
              </a:rPr>
              <a:t>is </a:t>
            </a:r>
            <a:r>
              <a:rPr lang="en-US" altLang="ko-KR">
                <a:latin typeface="+mj-lt"/>
              </a:rPr>
              <a:t>a </a:t>
            </a:r>
            <a:r>
              <a:rPr lang="en-US" altLang="ko-KR" smtClean="0">
                <a:latin typeface="+mj-lt"/>
              </a:rPr>
              <a:t>multiple-access method </a:t>
            </a:r>
            <a:r>
              <a:rPr lang="en-US" altLang="ko-KR">
                <a:latin typeface="+mj-lt"/>
              </a:rPr>
              <a:t>in which the available bandwidth of a link is shared in time, frequency</a:t>
            </a:r>
            <a:r>
              <a:rPr lang="en-US" altLang="ko-KR">
                <a:latin typeface="+mj-lt"/>
              </a:rPr>
              <a:t>, </a:t>
            </a:r>
            <a:r>
              <a:rPr lang="en-US" altLang="ko-KR" smtClean="0">
                <a:latin typeface="+mj-lt"/>
              </a:rPr>
              <a:t>or through </a:t>
            </a:r>
            <a:r>
              <a:rPr lang="en-US" altLang="ko-KR">
                <a:latin typeface="+mj-lt"/>
              </a:rPr>
              <a:t>code, among different </a:t>
            </a:r>
            <a:r>
              <a:rPr lang="en-US" altLang="ko-KR">
                <a:latin typeface="+mj-lt"/>
              </a:rPr>
              <a:t>stations</a:t>
            </a:r>
            <a:r>
              <a:rPr lang="en-US" altLang="ko-KR" smtClean="0">
                <a:latin typeface="+mj-lt"/>
              </a:rPr>
              <a:t>.</a:t>
            </a:r>
            <a:endParaRPr lang="en-US" altLang="ko-KR" smtClean="0">
              <a:latin typeface="+mj-lt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ko-KR" sz="24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12.3.1 FDMA</a:t>
            </a:r>
            <a:r>
              <a:rPr lang="en-US" altLang="ko-KR">
                <a:latin typeface="Times New Roman" pitchFamily="18" charset="0"/>
              </a:rPr>
              <a:t> </a:t>
            </a:r>
            <a:endParaRPr lang="en-US" altLang="ko-KR" smtClean="0">
              <a:latin typeface="Times New Roman" pitchFamily="18" charset="0"/>
            </a:endParaRPr>
          </a:p>
          <a:p>
            <a:r>
              <a:rPr lang="en-US" altLang="ko-KR" smtClean="0">
                <a:latin typeface="Times New Roman" pitchFamily="18" charset="0"/>
              </a:rPr>
              <a:t>the </a:t>
            </a:r>
            <a:r>
              <a:rPr lang="en-US" altLang="ko-KR">
                <a:latin typeface="Times New Roman" pitchFamily="18" charset="0"/>
              </a:rPr>
              <a:t>available bandwidth is divided into frequency bands</a:t>
            </a:r>
            <a:r>
              <a:rPr lang="en-US" altLang="ko-KR">
                <a:latin typeface="Times New Roman" pitchFamily="18" charset="0"/>
              </a:rPr>
              <a:t>. </a:t>
            </a:r>
            <a:endParaRPr lang="en-US" altLang="ko-KR" smtClean="0">
              <a:latin typeface="Times New Roman" pitchFamily="18" charset="0"/>
            </a:endParaRPr>
          </a:p>
          <a:p>
            <a:r>
              <a:rPr lang="en-US" altLang="ko-KR">
                <a:latin typeface="Times New Roman" pitchFamily="18" charset="0"/>
              </a:rPr>
              <a:t>Each station is allocated a band to send its </a:t>
            </a:r>
            <a:r>
              <a:rPr lang="en-US" altLang="ko-KR">
                <a:latin typeface="Times New Roman" pitchFamily="18" charset="0"/>
              </a:rPr>
              <a:t>data</a:t>
            </a:r>
            <a:r>
              <a:rPr lang="en-US" altLang="ko-KR" smtClean="0">
                <a:latin typeface="Times New Roman" pitchFamily="18" charset="0"/>
              </a:rPr>
              <a:t>.</a:t>
            </a:r>
          </a:p>
          <a:p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to prevent station interferences, the allocated bands are separated by </a:t>
            </a:r>
            <a:r>
              <a:rPr lang="en-US" altLang="ko-KR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guard bands</a:t>
            </a:r>
            <a:endParaRPr lang="en-US" altLang="ko-KR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70694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12.3  Channelization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marL="0" indent="0" algn="ctr">
              <a:buNone/>
            </a:pPr>
            <a:endParaRPr lang="en-US" altLang="ko-KR" b="1" i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i="1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i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i="1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i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i="1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i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i="1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i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i="1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i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i="1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i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i="1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12.21 </a:t>
            </a:r>
            <a:r>
              <a:rPr lang="en-US" altLang="ko-KR">
                <a:latin typeface="+mj-lt"/>
              </a:rPr>
              <a:t>Frequency-division multiple access (FDMA)</a:t>
            </a:r>
            <a:endParaRPr lang="en-US" altLang="ko-KR" dirty="0">
              <a:latin typeface="+mj-lt"/>
            </a:endParaRP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294785"/>
            <a:ext cx="7886700" cy="4524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766732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12.3  Channelization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ko-KR" sz="24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12.3.2 TDMA</a:t>
            </a:r>
            <a:r>
              <a:rPr lang="en-US" altLang="ko-KR" smtClean="0">
                <a:latin typeface="Times New Roman" pitchFamily="18" charset="0"/>
              </a:rPr>
              <a:t> </a:t>
            </a:r>
          </a:p>
          <a:p>
            <a:r>
              <a:rPr lang="en-US" altLang="ko-KR">
                <a:latin typeface="Times New Roman" pitchFamily="18" charset="0"/>
              </a:rPr>
              <a:t>the stations share the bandwidth of the channel in time</a:t>
            </a:r>
            <a:r>
              <a:rPr lang="en-US" altLang="ko-KR">
                <a:latin typeface="Times New Roman" pitchFamily="18" charset="0"/>
              </a:rPr>
              <a:t>. </a:t>
            </a:r>
            <a:endParaRPr lang="en-US" altLang="ko-KR" smtClean="0">
              <a:latin typeface="Times New Roman" pitchFamily="18" charset="0"/>
            </a:endParaRP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783862"/>
            <a:ext cx="7981950" cy="459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280608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12.3  Channelization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ko-KR" sz="24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12.3.3 CDMA</a:t>
            </a:r>
            <a:r>
              <a:rPr lang="en-US" altLang="ko-KR" smtClean="0">
                <a:latin typeface="Times New Roman" pitchFamily="18" charset="0"/>
              </a:rPr>
              <a:t> </a:t>
            </a:r>
          </a:p>
          <a:p>
            <a:r>
              <a:rPr lang="en-US" altLang="ko-KR">
                <a:latin typeface="Times New Roman" pitchFamily="18" charset="0"/>
              </a:rPr>
              <a:t>all stations can send data </a:t>
            </a:r>
            <a:r>
              <a:rPr lang="en-US" altLang="ko-KR">
                <a:latin typeface="Times New Roman" pitchFamily="18" charset="0"/>
              </a:rPr>
              <a:t>simultaneously </a:t>
            </a:r>
            <a:endParaRPr lang="en-US" altLang="ko-KR" smtClean="0">
              <a:latin typeface="Times New Roman" pitchFamily="18" charset="0"/>
            </a:endParaRPr>
          </a:p>
          <a:p>
            <a:endParaRPr lang="en-US" altLang="ko-KR" smtClean="0">
              <a:solidFill>
                <a:srgbClr val="FF0000"/>
              </a:solidFill>
              <a:latin typeface="Times-BoldItalic"/>
            </a:endParaRPr>
          </a:p>
          <a:p>
            <a:endParaRPr lang="en-US" altLang="ko-KR">
              <a:solidFill>
                <a:srgbClr val="FF0000"/>
              </a:solidFill>
              <a:latin typeface="Times-BoldItalic"/>
            </a:endParaRPr>
          </a:p>
          <a:p>
            <a:endParaRPr lang="en-US" altLang="ko-KR" smtClean="0">
              <a:solidFill>
                <a:srgbClr val="FF0000"/>
              </a:solidFill>
              <a:latin typeface="Times-BoldItalic"/>
            </a:endParaRPr>
          </a:p>
          <a:p>
            <a:endParaRPr lang="en-US" altLang="ko-KR">
              <a:solidFill>
                <a:srgbClr val="FF0000"/>
              </a:solidFill>
              <a:latin typeface="Times-BoldItalic"/>
            </a:endParaRPr>
          </a:p>
          <a:p>
            <a:endParaRPr lang="en-US" altLang="ko-KR" smtClean="0">
              <a:solidFill>
                <a:srgbClr val="FF0000"/>
              </a:solidFill>
              <a:latin typeface="Times-BoldItalic"/>
            </a:endParaRPr>
          </a:p>
          <a:p>
            <a:endParaRPr lang="en-US" altLang="ko-KR">
              <a:solidFill>
                <a:srgbClr val="FF0000"/>
              </a:solidFill>
              <a:latin typeface="Times-BoldItalic"/>
            </a:endParaRPr>
          </a:p>
          <a:p>
            <a:endParaRPr lang="en-US" altLang="ko-KR" smtClean="0">
              <a:solidFill>
                <a:srgbClr val="FF0000"/>
              </a:solidFill>
              <a:latin typeface="Times-BoldItalic"/>
            </a:endParaRPr>
          </a:p>
          <a:p>
            <a:endParaRPr lang="en-US" altLang="ko-KR">
              <a:solidFill>
                <a:srgbClr val="FF0000"/>
              </a:solidFill>
              <a:latin typeface="Times-BoldItalic"/>
            </a:endParaRPr>
          </a:p>
          <a:p>
            <a:endParaRPr lang="en-US" altLang="ko-KR" smtClean="0">
              <a:solidFill>
                <a:srgbClr val="FF0000"/>
              </a:solidFill>
              <a:latin typeface="Times-BoldItalic"/>
            </a:endParaRPr>
          </a:p>
          <a:p>
            <a:pPr marL="0" indent="0" algn="ctr">
              <a:buNone/>
            </a:pPr>
            <a:endParaRPr lang="en-US" altLang="ko-KR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12.23  </a:t>
            </a:r>
            <a:r>
              <a:rPr lang="en-US" altLang="ko-KR">
                <a:latin typeface="Times New Roman" pitchFamily="18" charset="0"/>
                <a:cs typeface="Times New Roman" pitchFamily="18" charset="0"/>
              </a:rPr>
              <a:t>Simple idea of communication with code</a:t>
            </a:r>
          </a:p>
          <a:p>
            <a:endParaRPr lang="en-US" altLang="ko-KR" smtClean="0">
              <a:latin typeface="Times New Roman" pitchFamily="18" charset="0"/>
            </a:endParaRP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724" y="2096612"/>
            <a:ext cx="7118985" cy="3637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1346269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12.3  Channelization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endParaRPr lang="en-US" altLang="ko-KR" smtClean="0">
              <a:solidFill>
                <a:srgbClr val="FF0000"/>
              </a:solidFill>
              <a:latin typeface="Times-BoldItalic"/>
            </a:endParaRPr>
          </a:p>
          <a:p>
            <a:endParaRPr lang="en-US" altLang="ko-KR">
              <a:solidFill>
                <a:srgbClr val="FF0000"/>
              </a:solidFill>
              <a:latin typeface="Times-BoldItalic"/>
            </a:endParaRPr>
          </a:p>
          <a:p>
            <a:pPr marL="0" indent="0" algn="ctr">
              <a:buNone/>
            </a:pPr>
            <a:endParaRPr lang="en-US" altLang="ko-KR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12.24  </a:t>
            </a:r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Chip sequence</a:t>
            </a:r>
          </a:p>
          <a:p>
            <a:pPr marL="0" indent="0" algn="ctr">
              <a:buNone/>
            </a:pPr>
            <a:endParaRPr lang="en-US" altLang="ko-KR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i="1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</a:t>
            </a:r>
            <a:r>
              <a:rPr lang="en-US" altLang="ko-KR" b="1" i="1">
                <a:solidFill>
                  <a:srgbClr val="C00000"/>
                </a:solidFill>
                <a:latin typeface="+mj-lt"/>
                <a:cs typeface="Times New Roman" pitchFamily="18" charset="0"/>
              </a:rPr>
              <a:t>. </a:t>
            </a:r>
            <a:r>
              <a:rPr lang="en-US" altLang="ko-KR" b="1" i="1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12.25  </a:t>
            </a:r>
            <a:r>
              <a:rPr lang="en-US" altLang="ko-KR">
                <a:latin typeface="+mj-lt"/>
              </a:rPr>
              <a:t>Data representation in CDMA</a:t>
            </a:r>
          </a:p>
          <a:p>
            <a:r>
              <a:rPr lang="en-US" altLang="ko-KR" smtClean="0">
                <a:latin typeface="Times New Roman" pitchFamily="18" charset="0"/>
              </a:rPr>
              <a:t>multiply</a:t>
            </a:r>
          </a:p>
          <a:p>
            <a:pPr lvl="1"/>
            <a:r>
              <a:rPr lang="en-US" altLang="ko-KR" smtClean="0">
                <a:latin typeface="Times New Roman" pitchFamily="18" charset="0"/>
              </a:rPr>
              <a:t>2</a:t>
            </a:r>
            <a:r>
              <a:rPr lang="en-US" altLang="ko-KR" b="1" smtClean="0">
                <a:solidFill>
                  <a:srgbClr val="C00000"/>
                </a:solidFill>
                <a:latin typeface="Times New Roman"/>
                <a:cs typeface="Times New Roman"/>
              </a:rPr>
              <a:t>∙</a:t>
            </a:r>
            <a:r>
              <a:rPr lang="en-US" altLang="ko-KR">
                <a:latin typeface="Times New Roman"/>
                <a:cs typeface="Times New Roman"/>
              </a:rPr>
              <a:t>[+1 +1 -1 -1] </a:t>
            </a:r>
            <a:r>
              <a:rPr lang="en-US" altLang="ko-KR">
                <a:latin typeface="Times New Roman"/>
                <a:cs typeface="Times New Roman"/>
              </a:rPr>
              <a:t>= </a:t>
            </a:r>
            <a:r>
              <a:rPr lang="en-US" altLang="ko-KR" smtClean="0">
                <a:latin typeface="Times New Roman" pitchFamily="18" charset="0"/>
              </a:rPr>
              <a:t>[+2 +2 -2 -2]</a:t>
            </a:r>
            <a:endParaRPr lang="en-US" altLang="ko-KR">
              <a:latin typeface="Times New Roman"/>
              <a:cs typeface="Times New Roman"/>
            </a:endParaRPr>
          </a:p>
          <a:p>
            <a:r>
              <a:rPr lang="en-US" altLang="ko-KR" smtClean="0">
                <a:latin typeface="Times New Roman" pitchFamily="18" charset="0"/>
              </a:rPr>
              <a:t>inner product</a:t>
            </a:r>
          </a:p>
          <a:p>
            <a:pPr lvl="1"/>
            <a:r>
              <a:rPr lang="en-US" altLang="ko-KR" smtClean="0">
                <a:latin typeface="Times New Roman" pitchFamily="18" charset="0"/>
              </a:rPr>
              <a:t>[+1 +1 -1 -1]</a:t>
            </a:r>
            <a:r>
              <a:rPr lang="en-US" altLang="ko-KR" b="1" smtClean="0">
                <a:solidFill>
                  <a:srgbClr val="C00000"/>
                </a:solidFill>
                <a:latin typeface="Times New Roman"/>
                <a:cs typeface="Times New Roman"/>
              </a:rPr>
              <a:t>∙</a:t>
            </a:r>
            <a:r>
              <a:rPr lang="en-US" altLang="ko-KR" smtClean="0">
                <a:latin typeface="Times New Roman"/>
                <a:cs typeface="Times New Roman"/>
              </a:rPr>
              <a:t>[+1 +1 -1 -1] = 1+1+1+1+1=4</a:t>
            </a:r>
          </a:p>
          <a:p>
            <a:pPr lvl="1"/>
            <a:r>
              <a:rPr lang="en-US" altLang="ko-KR">
                <a:latin typeface="Times New Roman" pitchFamily="18" charset="0"/>
              </a:rPr>
              <a:t>[+1 +1 -1 -1]</a:t>
            </a:r>
            <a:r>
              <a:rPr lang="en-US" altLang="ko-KR" b="1">
                <a:solidFill>
                  <a:srgbClr val="C00000"/>
                </a:solidFill>
                <a:latin typeface="Times New Roman"/>
                <a:cs typeface="Times New Roman"/>
              </a:rPr>
              <a:t>∙</a:t>
            </a:r>
            <a:r>
              <a:rPr lang="en-US" altLang="ko-KR">
                <a:latin typeface="Times New Roman"/>
                <a:cs typeface="Times New Roman"/>
              </a:rPr>
              <a:t>[+1 +</a:t>
            </a:r>
            <a:r>
              <a:rPr lang="en-US" altLang="ko-KR">
                <a:latin typeface="Times New Roman"/>
                <a:cs typeface="Times New Roman"/>
              </a:rPr>
              <a:t>1 </a:t>
            </a:r>
            <a:r>
              <a:rPr lang="en-US" altLang="ko-KR" smtClean="0">
                <a:latin typeface="Times New Roman"/>
                <a:cs typeface="Times New Roman"/>
              </a:rPr>
              <a:t>+1 +1</a:t>
            </a:r>
            <a:r>
              <a:rPr lang="en-US" altLang="ko-KR">
                <a:latin typeface="Times New Roman"/>
                <a:cs typeface="Times New Roman"/>
              </a:rPr>
              <a:t>] </a:t>
            </a:r>
            <a:r>
              <a:rPr lang="en-US" altLang="ko-KR">
                <a:latin typeface="Times New Roman"/>
                <a:cs typeface="Times New Roman"/>
              </a:rPr>
              <a:t>= </a:t>
            </a:r>
            <a:r>
              <a:rPr lang="en-US" altLang="ko-KR" smtClean="0">
                <a:latin typeface="Times New Roman"/>
                <a:cs typeface="Times New Roman"/>
              </a:rPr>
              <a:t>1+1+1-1-1=0</a:t>
            </a:r>
          </a:p>
          <a:p>
            <a:r>
              <a:rPr lang="en-US" altLang="ko-KR" smtClean="0">
                <a:latin typeface="Times New Roman"/>
                <a:cs typeface="Times New Roman"/>
              </a:rPr>
              <a:t>adding</a:t>
            </a:r>
          </a:p>
          <a:p>
            <a:pPr lvl="1"/>
            <a:r>
              <a:rPr lang="en-US" altLang="ko-KR" smtClean="0">
                <a:latin typeface="Times New Roman"/>
                <a:cs typeface="Times New Roman"/>
              </a:rPr>
              <a:t>[+1 +1 -1 -1]</a:t>
            </a:r>
            <a:r>
              <a:rPr lang="en-US" altLang="ko-KR" b="1" smtClean="0">
                <a:solidFill>
                  <a:srgbClr val="C00000"/>
                </a:solidFill>
                <a:latin typeface="Times New Roman"/>
                <a:cs typeface="Times New Roman"/>
              </a:rPr>
              <a:t>+</a:t>
            </a:r>
            <a:r>
              <a:rPr lang="en-US" altLang="ko-KR" smtClean="0">
                <a:latin typeface="Times New Roman"/>
                <a:cs typeface="Times New Roman"/>
              </a:rPr>
              <a:t>[+1 +1 +1 +1] = [+2 +2 0 0]</a:t>
            </a:r>
            <a:endParaRPr lang="en-US" altLang="ko-KR">
              <a:latin typeface="Times New Roman"/>
              <a:cs typeface="Times New Roman"/>
            </a:endParaRPr>
          </a:p>
          <a:p>
            <a:pPr lvl="1"/>
            <a:endParaRPr lang="en-US" altLang="ko-KR" smtClean="0">
              <a:latin typeface="Times New Roman" pitchFamily="18" charset="0"/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" y="626115"/>
            <a:ext cx="4349749" cy="876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6152" y="626115"/>
            <a:ext cx="4387848" cy="883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39" y="2440569"/>
            <a:ext cx="4656138" cy="632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365" y="2444756"/>
            <a:ext cx="2219762" cy="633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889899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12.3  Channelization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58774" y="419100"/>
            <a:ext cx="8429625" cy="6134100"/>
          </a:xfrm>
        </p:spPr>
        <p:txBody>
          <a:bodyPr/>
          <a:lstStyle/>
          <a:p>
            <a:endParaRPr lang="en-US" altLang="ko-KR" smtClean="0">
              <a:solidFill>
                <a:srgbClr val="FF0000"/>
              </a:solidFill>
              <a:latin typeface="Times-BoldItalic"/>
            </a:endParaRPr>
          </a:p>
          <a:p>
            <a:endParaRPr lang="en-US" altLang="ko-KR" smtClean="0">
              <a:solidFill>
                <a:srgbClr val="FF0000"/>
              </a:solidFill>
              <a:latin typeface="Times-BoldItalic"/>
            </a:endParaRPr>
          </a:p>
          <a:p>
            <a:endParaRPr lang="en-US" altLang="ko-KR">
              <a:solidFill>
                <a:srgbClr val="FF0000"/>
              </a:solidFill>
              <a:latin typeface="Times-BoldItalic"/>
            </a:endParaRPr>
          </a:p>
          <a:p>
            <a:endParaRPr lang="en-US" altLang="ko-KR" smtClean="0">
              <a:solidFill>
                <a:srgbClr val="FF0000"/>
              </a:solidFill>
              <a:latin typeface="Times-BoldItalic"/>
            </a:endParaRPr>
          </a:p>
          <a:p>
            <a:endParaRPr lang="en-US" altLang="ko-KR">
              <a:solidFill>
                <a:srgbClr val="FF0000"/>
              </a:solidFill>
              <a:latin typeface="Times-BoldItalic"/>
            </a:endParaRPr>
          </a:p>
          <a:p>
            <a:endParaRPr lang="en-US" altLang="ko-KR" smtClean="0">
              <a:solidFill>
                <a:srgbClr val="FF0000"/>
              </a:solidFill>
              <a:latin typeface="Times-BoldItalic"/>
            </a:endParaRPr>
          </a:p>
          <a:p>
            <a:endParaRPr lang="en-US" altLang="ko-KR">
              <a:solidFill>
                <a:srgbClr val="FF0000"/>
              </a:solidFill>
              <a:latin typeface="Times-BoldItalic"/>
            </a:endParaRPr>
          </a:p>
          <a:p>
            <a:endParaRPr lang="en-US" altLang="ko-KR" smtClean="0">
              <a:solidFill>
                <a:srgbClr val="FF0000"/>
              </a:solidFill>
              <a:latin typeface="Times-BoldItalic"/>
            </a:endParaRPr>
          </a:p>
          <a:p>
            <a:endParaRPr lang="en-US" altLang="ko-KR">
              <a:solidFill>
                <a:srgbClr val="FF0000"/>
              </a:solidFill>
              <a:latin typeface="Times-BoldItalic"/>
            </a:endParaRPr>
          </a:p>
          <a:p>
            <a:endParaRPr lang="en-US" altLang="ko-KR" smtClean="0">
              <a:solidFill>
                <a:srgbClr val="FF0000"/>
              </a:solidFill>
              <a:latin typeface="Times-BoldItalic"/>
            </a:endParaRPr>
          </a:p>
          <a:p>
            <a:endParaRPr lang="en-US" altLang="ko-KR">
              <a:solidFill>
                <a:srgbClr val="FF0000"/>
              </a:solidFill>
              <a:latin typeface="Times-BoldItalic"/>
            </a:endParaRPr>
          </a:p>
          <a:p>
            <a:endParaRPr lang="en-US" altLang="ko-KR" smtClean="0">
              <a:solidFill>
                <a:srgbClr val="FF0000"/>
              </a:solidFill>
              <a:latin typeface="Times-BoldItalic"/>
            </a:endParaRPr>
          </a:p>
          <a:p>
            <a:pPr marL="0" indent="0" algn="ctr">
              <a:buNone/>
            </a:pPr>
            <a:r>
              <a:rPr lang="en-US" altLang="ko-KR" b="1" i="1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12.26  </a:t>
            </a:r>
            <a:r>
              <a:rPr lang="en-US" altLang="ko-KR">
                <a:latin typeface="+mj-lt"/>
              </a:rPr>
              <a:t>Sharing channel </a:t>
            </a:r>
            <a:r>
              <a:rPr lang="en-US" altLang="ko-KR">
                <a:latin typeface="+mj-lt"/>
              </a:rPr>
              <a:t>in </a:t>
            </a:r>
            <a:r>
              <a:rPr lang="en-US" altLang="ko-KR" smtClean="0">
                <a:latin typeface="+mj-lt"/>
              </a:rPr>
              <a:t>CDMA</a:t>
            </a:r>
            <a:endParaRPr lang="en-US" altLang="ko-KR" smtClean="0">
              <a:latin typeface="Times New Roman" pitchFamily="18" charset="0"/>
            </a:endParaRP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5" y="1062038"/>
            <a:ext cx="8378825" cy="4357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2424431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12.3  Channelization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58774" y="419100"/>
            <a:ext cx="8429625" cy="6134100"/>
          </a:xfrm>
        </p:spPr>
        <p:txBody>
          <a:bodyPr/>
          <a:lstStyle/>
          <a:p>
            <a:endParaRPr lang="en-US" altLang="ko-KR" smtClean="0">
              <a:solidFill>
                <a:srgbClr val="FF0000"/>
              </a:solidFill>
              <a:latin typeface="Times-BoldItalic"/>
            </a:endParaRPr>
          </a:p>
          <a:p>
            <a:endParaRPr lang="en-US" altLang="ko-KR" smtClean="0">
              <a:solidFill>
                <a:srgbClr val="FF0000"/>
              </a:solidFill>
              <a:latin typeface="Times-BoldItalic"/>
            </a:endParaRPr>
          </a:p>
          <a:p>
            <a:endParaRPr lang="en-US" altLang="ko-KR">
              <a:solidFill>
                <a:srgbClr val="FF0000"/>
              </a:solidFill>
              <a:latin typeface="Times-BoldItalic"/>
            </a:endParaRPr>
          </a:p>
          <a:p>
            <a:endParaRPr lang="en-US" altLang="ko-KR" smtClean="0">
              <a:solidFill>
                <a:srgbClr val="FF0000"/>
              </a:solidFill>
              <a:latin typeface="Times-BoldItalic"/>
            </a:endParaRPr>
          </a:p>
          <a:p>
            <a:endParaRPr lang="en-US" altLang="ko-KR">
              <a:solidFill>
                <a:srgbClr val="FF0000"/>
              </a:solidFill>
              <a:latin typeface="Times-BoldItalic"/>
            </a:endParaRPr>
          </a:p>
          <a:p>
            <a:endParaRPr lang="en-US" altLang="ko-KR" smtClean="0">
              <a:solidFill>
                <a:srgbClr val="FF0000"/>
              </a:solidFill>
              <a:latin typeface="Times-BoldItalic"/>
            </a:endParaRPr>
          </a:p>
          <a:p>
            <a:endParaRPr lang="en-US" altLang="ko-KR">
              <a:solidFill>
                <a:srgbClr val="FF0000"/>
              </a:solidFill>
              <a:latin typeface="Times-BoldItalic"/>
            </a:endParaRPr>
          </a:p>
          <a:p>
            <a:endParaRPr lang="en-US" altLang="ko-KR" smtClean="0">
              <a:solidFill>
                <a:srgbClr val="FF0000"/>
              </a:solidFill>
              <a:latin typeface="Times-BoldItalic"/>
            </a:endParaRPr>
          </a:p>
          <a:p>
            <a:endParaRPr lang="en-US" altLang="ko-KR">
              <a:solidFill>
                <a:srgbClr val="FF0000"/>
              </a:solidFill>
              <a:latin typeface="Times-BoldItalic"/>
            </a:endParaRPr>
          </a:p>
          <a:p>
            <a:endParaRPr lang="en-US" altLang="ko-KR" smtClean="0">
              <a:solidFill>
                <a:srgbClr val="FF0000"/>
              </a:solidFill>
              <a:latin typeface="Times-BoldItalic"/>
            </a:endParaRPr>
          </a:p>
          <a:p>
            <a:endParaRPr lang="en-US" altLang="ko-KR">
              <a:solidFill>
                <a:srgbClr val="FF0000"/>
              </a:solidFill>
              <a:latin typeface="Times-BoldItalic"/>
            </a:endParaRPr>
          </a:p>
          <a:p>
            <a:endParaRPr lang="en-US" altLang="ko-KR" smtClean="0">
              <a:solidFill>
                <a:srgbClr val="FF0000"/>
              </a:solidFill>
              <a:latin typeface="Times-BoldItalic"/>
            </a:endParaRPr>
          </a:p>
          <a:p>
            <a:pPr marL="0" indent="0" algn="ctr">
              <a:buNone/>
            </a:pPr>
            <a:r>
              <a:rPr lang="en-US" altLang="ko-KR" b="1" i="1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12.27  </a:t>
            </a:r>
            <a:r>
              <a:rPr lang="en-US" altLang="ko-KR">
                <a:latin typeface="+mj-lt"/>
              </a:rPr>
              <a:t>Digital signal created by four stations </a:t>
            </a:r>
            <a:r>
              <a:rPr lang="en-US" altLang="ko-KR">
                <a:latin typeface="+mj-lt"/>
              </a:rPr>
              <a:t>in </a:t>
            </a:r>
            <a:r>
              <a:rPr lang="en-US" altLang="ko-KR" smtClean="0">
                <a:latin typeface="+mj-lt"/>
              </a:rPr>
              <a:t>CDMA</a:t>
            </a: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950" y="1111250"/>
            <a:ext cx="7893050" cy="163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581400"/>
            <a:ext cx="5343525" cy="146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4381313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12.3  Channelization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58774" y="419100"/>
            <a:ext cx="8429625" cy="6134100"/>
          </a:xfrm>
        </p:spPr>
        <p:txBody>
          <a:bodyPr/>
          <a:lstStyle/>
          <a:p>
            <a:endParaRPr lang="en-US" altLang="ko-KR" smtClean="0">
              <a:solidFill>
                <a:srgbClr val="FF0000"/>
              </a:solidFill>
              <a:latin typeface="Times-BoldItalic"/>
            </a:endParaRPr>
          </a:p>
          <a:p>
            <a:endParaRPr lang="en-US" altLang="ko-KR" smtClean="0">
              <a:solidFill>
                <a:srgbClr val="FF0000"/>
              </a:solidFill>
              <a:latin typeface="Times-BoldItalic"/>
            </a:endParaRPr>
          </a:p>
          <a:p>
            <a:endParaRPr lang="en-US" altLang="ko-KR">
              <a:solidFill>
                <a:srgbClr val="FF0000"/>
              </a:solidFill>
              <a:latin typeface="Times-BoldItalic"/>
            </a:endParaRPr>
          </a:p>
          <a:p>
            <a:endParaRPr lang="en-US" altLang="ko-KR" smtClean="0">
              <a:solidFill>
                <a:srgbClr val="FF0000"/>
              </a:solidFill>
              <a:latin typeface="Times-BoldItalic"/>
            </a:endParaRPr>
          </a:p>
          <a:p>
            <a:endParaRPr lang="en-US" altLang="ko-KR">
              <a:solidFill>
                <a:srgbClr val="FF0000"/>
              </a:solidFill>
              <a:latin typeface="Times-BoldItalic"/>
            </a:endParaRPr>
          </a:p>
          <a:p>
            <a:endParaRPr lang="en-US" altLang="ko-KR" smtClean="0">
              <a:solidFill>
                <a:srgbClr val="FF0000"/>
              </a:solidFill>
              <a:latin typeface="Times-BoldItalic"/>
            </a:endParaRPr>
          </a:p>
          <a:p>
            <a:endParaRPr lang="en-US" altLang="ko-KR">
              <a:solidFill>
                <a:srgbClr val="FF0000"/>
              </a:solidFill>
              <a:latin typeface="Times-BoldItalic"/>
            </a:endParaRPr>
          </a:p>
          <a:p>
            <a:endParaRPr lang="en-US" altLang="ko-KR" smtClean="0">
              <a:solidFill>
                <a:srgbClr val="FF0000"/>
              </a:solidFill>
              <a:latin typeface="Times-BoldItalic"/>
            </a:endParaRPr>
          </a:p>
          <a:p>
            <a:endParaRPr lang="en-US" altLang="ko-KR">
              <a:solidFill>
                <a:srgbClr val="FF0000"/>
              </a:solidFill>
              <a:latin typeface="Times-BoldItalic"/>
            </a:endParaRPr>
          </a:p>
          <a:p>
            <a:endParaRPr lang="en-US" altLang="ko-KR" smtClean="0">
              <a:solidFill>
                <a:srgbClr val="FF0000"/>
              </a:solidFill>
              <a:latin typeface="Times-BoldItalic"/>
            </a:endParaRPr>
          </a:p>
          <a:p>
            <a:endParaRPr lang="en-US" altLang="ko-KR">
              <a:solidFill>
                <a:srgbClr val="FF0000"/>
              </a:solidFill>
              <a:latin typeface="Times-BoldItalic"/>
            </a:endParaRPr>
          </a:p>
          <a:p>
            <a:endParaRPr lang="en-US" altLang="ko-KR" smtClean="0">
              <a:solidFill>
                <a:srgbClr val="FF0000"/>
              </a:solidFill>
              <a:latin typeface="Times-BoldItalic"/>
            </a:endParaRPr>
          </a:p>
          <a:p>
            <a:pPr marL="0" indent="0" algn="ctr">
              <a:buNone/>
            </a:pPr>
            <a:r>
              <a:rPr lang="en-US" altLang="ko-KR" b="1" i="1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12.28  </a:t>
            </a:r>
            <a:r>
              <a:rPr lang="en-US" altLang="ko-KR">
                <a:latin typeface="+mj-lt"/>
              </a:rPr>
              <a:t>Decoding of the composite signal for one </a:t>
            </a:r>
            <a:r>
              <a:rPr lang="en-US" altLang="ko-KR">
                <a:latin typeface="+mj-lt"/>
              </a:rPr>
              <a:t>in </a:t>
            </a:r>
            <a:r>
              <a:rPr lang="en-US" altLang="ko-KR" smtClean="0">
                <a:latin typeface="+mj-lt"/>
              </a:rPr>
              <a:t>CDMA</a:t>
            </a: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675" y="1524000"/>
            <a:ext cx="8509000" cy="2516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475" y="4495800"/>
            <a:ext cx="5245100" cy="846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2954006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12.3  Channelization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58774" y="419100"/>
            <a:ext cx="8429625" cy="6134100"/>
          </a:xfrm>
        </p:spPr>
        <p:txBody>
          <a:bodyPr/>
          <a:lstStyle/>
          <a:p>
            <a:endParaRPr lang="en-US" altLang="ko-KR" smtClean="0">
              <a:solidFill>
                <a:srgbClr val="FF0000"/>
              </a:solidFill>
              <a:latin typeface="Times-BoldItalic"/>
            </a:endParaRPr>
          </a:p>
          <a:p>
            <a:endParaRPr lang="en-US" altLang="ko-KR" smtClean="0">
              <a:solidFill>
                <a:srgbClr val="FF0000"/>
              </a:solidFill>
              <a:latin typeface="Times-BoldItalic"/>
            </a:endParaRPr>
          </a:p>
          <a:p>
            <a:endParaRPr lang="en-US" altLang="ko-KR">
              <a:solidFill>
                <a:srgbClr val="FF0000"/>
              </a:solidFill>
              <a:latin typeface="Times-BoldItalic"/>
            </a:endParaRPr>
          </a:p>
          <a:p>
            <a:endParaRPr lang="en-US" altLang="ko-KR" smtClean="0">
              <a:solidFill>
                <a:srgbClr val="FF0000"/>
              </a:solidFill>
              <a:latin typeface="Times-BoldItalic"/>
            </a:endParaRPr>
          </a:p>
          <a:p>
            <a:endParaRPr lang="en-US" altLang="ko-KR">
              <a:solidFill>
                <a:srgbClr val="FF0000"/>
              </a:solidFill>
              <a:latin typeface="Times-BoldItalic"/>
            </a:endParaRPr>
          </a:p>
          <a:p>
            <a:endParaRPr lang="en-US" altLang="ko-KR" smtClean="0">
              <a:solidFill>
                <a:srgbClr val="FF0000"/>
              </a:solidFill>
              <a:latin typeface="Times-BoldItalic"/>
            </a:endParaRPr>
          </a:p>
          <a:p>
            <a:endParaRPr lang="en-US" altLang="ko-KR">
              <a:solidFill>
                <a:srgbClr val="FF0000"/>
              </a:solidFill>
              <a:latin typeface="Times-BoldItalic"/>
            </a:endParaRPr>
          </a:p>
          <a:p>
            <a:endParaRPr lang="en-US" altLang="ko-KR" smtClean="0">
              <a:solidFill>
                <a:srgbClr val="FF0000"/>
              </a:solidFill>
              <a:latin typeface="Times-BoldItalic"/>
            </a:endParaRPr>
          </a:p>
          <a:p>
            <a:endParaRPr lang="en-US" altLang="ko-KR">
              <a:solidFill>
                <a:srgbClr val="FF0000"/>
              </a:solidFill>
              <a:latin typeface="Times-BoldItalic"/>
            </a:endParaRPr>
          </a:p>
          <a:p>
            <a:endParaRPr lang="en-US" altLang="ko-KR" smtClean="0">
              <a:solidFill>
                <a:srgbClr val="FF0000"/>
              </a:solidFill>
              <a:latin typeface="Times-BoldItalic"/>
            </a:endParaRPr>
          </a:p>
          <a:p>
            <a:endParaRPr lang="en-US" altLang="ko-KR">
              <a:solidFill>
                <a:srgbClr val="FF0000"/>
              </a:solidFill>
              <a:latin typeface="Times-BoldItalic"/>
            </a:endParaRPr>
          </a:p>
          <a:p>
            <a:endParaRPr lang="en-US" altLang="ko-KR" smtClean="0">
              <a:solidFill>
                <a:srgbClr val="FF0000"/>
              </a:solidFill>
              <a:latin typeface="Times-BoldItalic"/>
            </a:endParaRPr>
          </a:p>
          <a:p>
            <a:pPr marL="0" indent="0" algn="ctr">
              <a:buNone/>
            </a:pPr>
            <a:r>
              <a:rPr lang="en-US" altLang="ko-KR" b="1" i="1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12.29 </a:t>
            </a:r>
            <a:r>
              <a:rPr lang="en-US" altLang="ko-KR">
                <a:latin typeface="+mj-lt"/>
              </a:rPr>
              <a:t>General rules and examples of creating Walsh tables</a:t>
            </a:r>
            <a:endParaRPr lang="en-US" altLang="ko-KR" smtClean="0">
              <a:latin typeface="+mj-lt"/>
            </a:endParaRPr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225" y="3036888"/>
            <a:ext cx="5353050" cy="2535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9512" y="889000"/>
            <a:ext cx="40163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110021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12.3  Channelization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58774" y="542924"/>
            <a:ext cx="8429625" cy="6010275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Ex. 12.6 </a:t>
            </a:r>
            <a:endParaRPr lang="en-US" altLang="ko-KR" b="1" i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ko-KR" sz="2000" smtClean="0">
                <a:latin typeface="Times New Roman" pitchFamily="18" charset="0"/>
                <a:cs typeface="Times New Roman" pitchFamily="18" charset="0"/>
              </a:rPr>
              <a:t>      Find </a:t>
            </a:r>
            <a:r>
              <a:rPr lang="en-US" altLang="ko-KR" sz="2000">
                <a:latin typeface="Times New Roman" pitchFamily="18" charset="0"/>
                <a:cs typeface="Times New Roman" pitchFamily="18" charset="0"/>
              </a:rPr>
              <a:t>the chips for a network with</a:t>
            </a:r>
          </a:p>
          <a:p>
            <a:pPr marL="0" indent="0" algn="just">
              <a:buNone/>
            </a:pPr>
            <a:r>
              <a:rPr lang="en-US" altLang="ko-KR" sz="200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ko-KR" sz="20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0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</a:t>
            </a:r>
            <a:r>
              <a:rPr lang="en-US" altLang="ko-KR" sz="2000">
                <a:latin typeface="Times New Roman" pitchFamily="18" charset="0"/>
                <a:cs typeface="Times New Roman" pitchFamily="18" charset="0"/>
              </a:rPr>
              <a:t>Two stations</a:t>
            </a:r>
          </a:p>
          <a:p>
            <a:pPr marL="0" indent="0" algn="just">
              <a:buNone/>
            </a:pPr>
            <a:r>
              <a:rPr lang="en-US" altLang="ko-KR" sz="200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ko-KR" sz="20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0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b. </a:t>
            </a:r>
            <a:r>
              <a:rPr lang="en-US" altLang="ko-KR" sz="2000">
                <a:latin typeface="Times New Roman" pitchFamily="18" charset="0"/>
                <a:cs typeface="Times New Roman" pitchFamily="18" charset="0"/>
              </a:rPr>
              <a:t>Four </a:t>
            </a:r>
            <a:r>
              <a:rPr lang="en-US" altLang="ko-KR" sz="2000" smtClean="0">
                <a:latin typeface="Times New Roman" pitchFamily="18" charset="0"/>
                <a:cs typeface="Times New Roman" pitchFamily="18" charset="0"/>
              </a:rPr>
              <a:t>stations</a:t>
            </a:r>
          </a:p>
          <a:p>
            <a:pPr marL="0" indent="0" algn="just">
              <a:buNone/>
            </a:pPr>
            <a:endParaRPr lang="en-US" altLang="ko-KR" sz="200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ko-KR" sz="200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ko-KR" sz="200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ko-KR" sz="200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ko-KR" sz="200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ko-KR" sz="200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ko-KR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Ex. 12.7</a:t>
            </a:r>
          </a:p>
          <a:p>
            <a:pPr marL="0" indent="0" algn="just">
              <a:buNone/>
            </a:pPr>
            <a:r>
              <a:rPr lang="en-US" altLang="ko-KR" sz="2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00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altLang="ko-KR" sz="2000">
                <a:latin typeface="Times New Roman" pitchFamily="18" charset="0"/>
                <a:cs typeface="Times New Roman" pitchFamily="18" charset="0"/>
              </a:rPr>
              <a:t>What is the number of sequences if we have 90 stations in our network?</a:t>
            </a:r>
          </a:p>
          <a:p>
            <a:pPr marL="0" indent="0" algn="just">
              <a:buNone/>
            </a:pPr>
            <a:endParaRPr lang="en-US" altLang="ko-KR" sz="2000">
              <a:latin typeface="Times New Roman" pitchFamily="18" charset="0"/>
              <a:cs typeface="Times New Roman" pitchFamily="18" charset="0"/>
            </a:endParaRPr>
          </a:p>
          <a:p>
            <a:endParaRPr lang="en-US" altLang="ko-KR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4" y="2195612"/>
            <a:ext cx="8023189" cy="1827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380" y="5143500"/>
            <a:ext cx="8371620" cy="864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598297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12.3  Channelization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58774" y="542924"/>
            <a:ext cx="8429625" cy="6010275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Ex. 12.8 </a:t>
            </a:r>
            <a:endParaRPr lang="en-US" altLang="ko-KR" b="1" i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ko-KR" sz="2000" smtClean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altLang="ko-KR" sz="2000">
                <a:latin typeface="Times New Roman" pitchFamily="18" charset="0"/>
                <a:cs typeface="Times New Roman" pitchFamily="18" charset="0"/>
              </a:rPr>
              <a:t>Prove that a receiving station can get the data sent by a specific sender </a:t>
            </a:r>
            <a:r>
              <a:rPr lang="en-US" altLang="ko-KR" sz="200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altLang="ko-KR" sz="2000" smtClean="0">
                <a:latin typeface="Times New Roman" pitchFamily="18" charset="0"/>
                <a:cs typeface="Times New Roman" pitchFamily="18" charset="0"/>
              </a:rPr>
              <a:t>it</a:t>
            </a:r>
            <a:br>
              <a:rPr lang="en-US" altLang="ko-KR" sz="2000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ko-KR" sz="2000" smtClean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altLang="ko-KR" sz="2000">
                <a:latin typeface="Times New Roman" pitchFamily="18" charset="0"/>
                <a:cs typeface="Times New Roman" pitchFamily="18" charset="0"/>
              </a:rPr>
              <a:t>multiplies the entire data on the channel by the sender’s chip code </a:t>
            </a:r>
            <a:r>
              <a:rPr lang="en-US" altLang="ko-KR" sz="200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altLang="ko-KR" sz="2000" smtClean="0">
                <a:latin typeface="Times New Roman" pitchFamily="18" charset="0"/>
                <a:cs typeface="Times New Roman" pitchFamily="18" charset="0"/>
              </a:rPr>
              <a:t>then</a:t>
            </a:r>
            <a:br>
              <a:rPr lang="en-US" altLang="ko-KR" sz="2000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ko-KR" sz="2000" smtClean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altLang="ko-KR" sz="2000">
                <a:latin typeface="Times New Roman" pitchFamily="18" charset="0"/>
                <a:cs typeface="Times New Roman" pitchFamily="18" charset="0"/>
              </a:rPr>
              <a:t>divides it by the number of stations.</a:t>
            </a:r>
          </a:p>
          <a:p>
            <a:pPr marL="0" indent="0" algn="just">
              <a:buNone/>
            </a:pPr>
            <a:endParaRPr lang="en-US" altLang="ko-KR" sz="200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ko-KR" sz="200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ko-KR" sz="200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ko-KR" sz="200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ko-KR" sz="200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ko-KR" sz="2000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ko-KR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384" y="2148843"/>
            <a:ext cx="8432616" cy="2204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338059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Homework</a:t>
            </a:r>
            <a:endParaRPr lang="en-US" altLang="ko-KR" sz="24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713976"/>
          </a:xfrm>
        </p:spPr>
        <p:txBody>
          <a:bodyPr/>
          <a:lstStyle/>
          <a:p>
            <a:pPr marL="457200" indent="-457200" eaLnBrk="1" hangingPunct="1">
              <a:buFontTx/>
              <a:buNone/>
            </a:pPr>
            <a:r>
              <a:rPr lang="en-US" altLang="ko-KR" b="1" smtClean="0">
                <a:solidFill>
                  <a:srgbClr val="C00000"/>
                </a:solidFill>
                <a:latin typeface="Times New Roman" pitchFamily="18" charset="0"/>
              </a:rPr>
              <a:t>Homework</a:t>
            </a:r>
          </a:p>
          <a:p>
            <a:pPr marL="457200" indent="-457200" eaLnBrk="1" hangingPunct="1">
              <a:buFontTx/>
              <a:buNone/>
            </a:pPr>
            <a:r>
              <a:rPr lang="en-US" altLang="ko-KR" b="1" smtClean="0">
                <a:solidFill>
                  <a:srgbClr val="C00000"/>
                </a:solidFill>
                <a:latin typeface="Times New Roman" pitchFamily="18" charset="0"/>
              </a:rPr>
              <a:t> 	</a:t>
            </a:r>
            <a:r>
              <a:rPr lang="en-US" altLang="ko-KR" smtClean="0">
                <a:latin typeface="Times New Roman" pitchFamily="18" charset="0"/>
              </a:rPr>
              <a:t>Solve Problems  </a:t>
            </a:r>
            <a:r>
              <a:rPr lang="en-US" altLang="ko-KR" smtClean="0">
                <a:latin typeface="Times New Roman" pitchFamily="18" charset="0"/>
              </a:rPr>
              <a:t>P12-1, P12-3, P12-10, P12-15, P12-25</a:t>
            </a:r>
            <a:endParaRPr lang="en-US" altLang="ko-KR" smtClean="0">
              <a:latin typeface="Times New Roman" pitchFamily="18" charset="0"/>
            </a:endParaRPr>
          </a:p>
          <a:p>
            <a:pPr marL="457200" indent="-457200" eaLnBrk="1" hangingPunct="1">
              <a:buFontTx/>
              <a:buNone/>
            </a:pPr>
            <a:r>
              <a:rPr lang="en-US" altLang="ko-KR">
                <a:latin typeface="Times New Roman" pitchFamily="18" charset="0"/>
              </a:rPr>
              <a:t>	</a:t>
            </a:r>
            <a:r>
              <a:rPr lang="en-US" altLang="ko-KR" smtClean="0">
                <a:latin typeface="Times New Roman" pitchFamily="18" charset="0"/>
              </a:rPr>
              <a:t>Read textbook pp. </a:t>
            </a:r>
            <a:r>
              <a:rPr lang="en-US" altLang="ko-KR" smtClean="0">
                <a:latin typeface="Times New Roman" pitchFamily="18" charset="0"/>
              </a:rPr>
              <a:t>361-383</a:t>
            </a:r>
            <a:endParaRPr lang="en-US" altLang="ko-KR" b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457200" indent="-457200" eaLnBrk="1" hangingPunct="1">
              <a:buFontTx/>
              <a:buNone/>
            </a:pPr>
            <a:r>
              <a:rPr lang="en-US" altLang="ko-KR" b="1" smtClean="0">
                <a:solidFill>
                  <a:srgbClr val="C00000"/>
                </a:solidFill>
                <a:latin typeface="Times New Roman" pitchFamily="18" charset="0"/>
              </a:rPr>
              <a:t>Next </a:t>
            </a:r>
            <a:r>
              <a:rPr lang="en-US" altLang="ko-KR" b="1">
                <a:solidFill>
                  <a:srgbClr val="C00000"/>
                </a:solidFill>
                <a:latin typeface="Times New Roman" pitchFamily="18" charset="0"/>
              </a:rPr>
              <a:t>Lecture</a:t>
            </a:r>
          </a:p>
          <a:p>
            <a:pPr marL="457200" indent="-457200" eaLnBrk="1" hangingPunct="1">
              <a:buFontTx/>
              <a:buNone/>
            </a:pPr>
            <a:r>
              <a:rPr lang="en-US" altLang="ko-KR">
                <a:latin typeface="Times New Roman" pitchFamily="18" charset="0"/>
              </a:rPr>
              <a:t>     Chapter </a:t>
            </a:r>
            <a:r>
              <a:rPr lang="en-US" altLang="ko-KR" smtClean="0">
                <a:latin typeface="Times New Roman" pitchFamily="18" charset="0"/>
              </a:rPr>
              <a:t>13</a:t>
            </a:r>
            <a:r>
              <a:rPr lang="en-US" altLang="ko-KR" smtClean="0">
                <a:latin typeface="Times New Roman" pitchFamily="18" charset="0"/>
              </a:rPr>
              <a:t>. wired LANs: Ethernet</a:t>
            </a:r>
            <a:endParaRPr lang="en-US" altLang="ko-KR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16052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Times New Roman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20850</TotalTime>
  <Words>1012</Words>
  <Application>Microsoft Office PowerPoint</Application>
  <PresentationFormat>화면 슬라이드 쇼(4:3)</PresentationFormat>
  <Paragraphs>496</Paragraphs>
  <Slides>36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37" baseType="lpstr">
      <vt:lpstr>기본 디자인</vt:lpstr>
      <vt:lpstr>Chapter  12   Media Access Control (MAC)</vt:lpstr>
      <vt:lpstr>Ch. 12  Outline</vt:lpstr>
      <vt:lpstr>Ch. 11 Objective</vt:lpstr>
      <vt:lpstr>12.1  Random Access</vt:lpstr>
      <vt:lpstr>12.1  Random Access</vt:lpstr>
      <vt:lpstr>12.1  Random Access</vt:lpstr>
      <vt:lpstr>12.1  Random Access</vt:lpstr>
      <vt:lpstr>12.1  Random Access</vt:lpstr>
      <vt:lpstr>12.1  Random Access</vt:lpstr>
      <vt:lpstr>12.1  Random Access</vt:lpstr>
      <vt:lpstr>12.1  Random Access</vt:lpstr>
      <vt:lpstr>12.1  Random Access</vt:lpstr>
      <vt:lpstr>12.1  Random Access</vt:lpstr>
      <vt:lpstr>12.1  Random Access</vt:lpstr>
      <vt:lpstr>12.1  Random Access</vt:lpstr>
      <vt:lpstr>12.1  Random Access</vt:lpstr>
      <vt:lpstr>12.1  Random Access</vt:lpstr>
      <vt:lpstr>12.1  Random Access</vt:lpstr>
      <vt:lpstr>12.1  Random Access</vt:lpstr>
      <vt:lpstr>12.1  Random Access</vt:lpstr>
      <vt:lpstr>12.1  Random Access</vt:lpstr>
      <vt:lpstr>12.2  Controlled Access</vt:lpstr>
      <vt:lpstr>12.2  Controlled Access</vt:lpstr>
      <vt:lpstr>12.2  Controlled Access</vt:lpstr>
      <vt:lpstr>12.3  Channelization</vt:lpstr>
      <vt:lpstr>12.3  Channelization</vt:lpstr>
      <vt:lpstr>12.3  Channelization</vt:lpstr>
      <vt:lpstr>12.3  Channelization</vt:lpstr>
      <vt:lpstr>12.3  Channelization</vt:lpstr>
      <vt:lpstr>12.3  Channelization</vt:lpstr>
      <vt:lpstr>12.3  Channelization</vt:lpstr>
      <vt:lpstr>12.3  Channelization</vt:lpstr>
      <vt:lpstr>12.3  Channelization</vt:lpstr>
      <vt:lpstr>12.3  Channelization</vt:lpstr>
      <vt:lpstr>12.3  Channelization</vt:lpstr>
      <vt:lpstr>Homework</vt:lpstr>
    </vt:vector>
  </TitlesOfParts>
  <Company>UC Berkeley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kaat</dc:creator>
  <cp:lastModifiedBy>김정구</cp:lastModifiedBy>
  <cp:revision>1191</cp:revision>
  <cp:lastPrinted>1998-01-20T18:41:17Z</cp:lastPrinted>
  <dcterms:created xsi:type="dcterms:W3CDTF">1997-04-13T14:24:48Z</dcterms:created>
  <dcterms:modified xsi:type="dcterms:W3CDTF">2013-05-24T06:57:33Z</dcterms:modified>
</cp:coreProperties>
</file>