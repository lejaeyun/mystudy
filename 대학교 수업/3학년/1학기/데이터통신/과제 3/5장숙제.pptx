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5"/>
  </p:notesMasterIdLst>
  <p:handoutMasterIdLst>
    <p:handoutMasterId r:id="rId6"/>
  </p:handoutMasterIdLst>
  <p:sldIdLst>
    <p:sldId id="256" r:id="rId2"/>
    <p:sldId id="608" r:id="rId3"/>
    <p:sldId id="609" r:id="rId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20018" autoAdjust="0"/>
    <p:restoredTop sz="94591" autoAdjust="0"/>
  </p:normalViewPr>
  <p:slideViewPr>
    <p:cSldViewPr snapToGrid="0">
      <p:cViewPr varScale="1">
        <p:scale>
          <a:sx n="109" d="100"/>
          <a:sy n="109" d="100"/>
        </p:scale>
        <p:origin x="1296" y="8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486568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461963" y="2747963"/>
            <a:ext cx="4630737" cy="1381125"/>
          </a:xfrm>
        </p:spPr>
        <p:txBody>
          <a:bodyPr/>
          <a:lstStyle/>
          <a:p>
            <a:pPr algn="ctr" eaLnBrk="1" hangingPunct="1"/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Chapter  5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> </a:t>
            </a:r>
            <a:br>
              <a:rPr lang="en-US" altLang="ko-KR" sz="3200" b="0" dirty="0" smtClean="0">
                <a:solidFill>
                  <a:srgbClr val="0070C0"/>
                </a:solidFill>
              </a:rPr>
            </a:br>
            <a:r>
              <a:rPr lang="en-US" altLang="ko-KR" sz="3200" i="1" dirty="0" smtClean="0">
                <a:solidFill>
                  <a:srgbClr val="333399"/>
                </a:solidFill>
                <a:latin typeface="+mj-lt"/>
              </a:rPr>
              <a:t>Analog</a:t>
            </a:r>
            <a: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  <a:t/>
            </a:r>
            <a:b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</a:br>
            <a: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  <a:t>Transmission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Homework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Solve problems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P5-1</a:t>
            </a:r>
            <a:r>
              <a:rPr lang="en-US" altLang="ko-KR" dirty="0" smtClean="0">
                <a:latin typeface="Times New Roman" pitchFamily="18" charset="0"/>
              </a:rPr>
              <a:t> What is the required bandwidth for the following cases if we need to send 6000 bps? Let d=1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ko-KR" dirty="0" smtClean="0">
                <a:latin typeface="Times New Roman" pitchFamily="18" charset="0"/>
              </a:rPr>
              <a:t>. ASK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 smtClean="0">
                <a:latin typeface="Times New Roman" pitchFamily="18" charset="0"/>
              </a:rPr>
              <a:t>. FSK with 2</a:t>
            </a:r>
            <a:r>
              <a:rPr lang="el-GR" altLang="ko-KR" dirty="0" smtClean="0">
                <a:latin typeface="Times New Roman" pitchFamily="18" charset="0"/>
              </a:rPr>
              <a:t>Δ</a:t>
            </a:r>
            <a:r>
              <a:rPr lang="en-US" altLang="ko-KR" dirty="0" smtClean="0">
                <a:latin typeface="Times New Roman" pitchFamily="18" charset="0"/>
              </a:rPr>
              <a:t>f=4 KHz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. QPSK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</a:rPr>
              <a:t>. 16-QAM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P5-6</a:t>
            </a:r>
            <a:r>
              <a:rPr lang="en-US" altLang="ko-KR" dirty="0" smtClean="0">
                <a:latin typeface="Times New Roman" pitchFamily="18" charset="0"/>
              </a:rPr>
              <a:t> Draw the constellation diagram for the following: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ko-KR" dirty="0" smtClean="0">
                <a:latin typeface="Times New Roman" pitchFamily="18" charset="0"/>
              </a:rPr>
              <a:t>. ASK, with peak amplitude values of 1 and 3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 smtClean="0">
                <a:latin typeface="Times New Roman" pitchFamily="18" charset="0"/>
              </a:rPr>
              <a:t>. BPSK, with a peak amplitude value of 2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</a:rPr>
              <a:t>. QPSK, with a peak amplitude value of 3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</a:rPr>
              <a:t>. 8-QAM with two different amplitude values, 1 and 3, and four different phases</a:t>
            </a:r>
          </a:p>
        </p:txBody>
      </p:sp>
    </p:spTree>
    <p:extLst>
      <p:ext uri="{BB962C8B-B14F-4D97-AF65-F5344CB8AC3E}">
        <p14:creationId xmlns:p14="http://schemas.microsoft.com/office/powerpoint/2010/main" val="35801584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95739" y="538163"/>
            <a:ext cx="8429625" cy="5972175"/>
          </a:xfrm>
        </p:spPr>
        <p:txBody>
          <a:bodyPr/>
          <a:lstStyle/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P5-7</a:t>
            </a:r>
            <a:r>
              <a:rPr lang="en-US" altLang="ko-KR" dirty="0" smtClean="0">
                <a:latin typeface="Times New Roman" pitchFamily="18" charset="0"/>
              </a:rPr>
              <a:t> Calculate the baud rate for the given bit rate and type of modulation </a:t>
            </a:r>
          </a:p>
          <a:p>
            <a:pPr lvl="2" algn="just">
              <a:defRPr/>
            </a:pP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a.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3000 bps, FSK 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2000 bps, ASK</a:t>
            </a:r>
            <a:endParaRPr lang="en-US" altLang="ko-KR" dirty="0">
              <a:latin typeface="Times New Roman" pitchFamily="18" charset="0"/>
            </a:endParaRPr>
          </a:p>
          <a:p>
            <a:pPr lvl="2" algn="just">
              <a:defRPr/>
            </a:pP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ko-KR" dirty="0">
                <a:latin typeface="Times New Roman" pitchFamily="18" charset="0"/>
              </a:rPr>
              <a:t>. </a:t>
            </a:r>
            <a:r>
              <a:rPr lang="en-US" altLang="ko-KR" dirty="0" smtClean="0">
                <a:latin typeface="Times New Roman" pitchFamily="18" charset="0"/>
              </a:rPr>
              <a:t>4000 bps, QPSK</a:t>
            </a:r>
            <a:endParaRPr lang="en-US" altLang="ko-KR" dirty="0">
              <a:latin typeface="Times New Roman" pitchFamily="18" charset="0"/>
            </a:endParaRPr>
          </a:p>
          <a:p>
            <a:pPr lvl="2" algn="just">
              <a:defRPr/>
            </a:pP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d</a:t>
            </a:r>
            <a:r>
              <a:rPr lang="en-US" altLang="ko-KR" dirty="0">
                <a:latin typeface="Times New Roman" pitchFamily="18" charset="0"/>
              </a:rPr>
              <a:t>. </a:t>
            </a:r>
            <a:r>
              <a:rPr lang="en-US" altLang="ko-KR" dirty="0" smtClean="0">
                <a:latin typeface="Times New Roman" pitchFamily="18" charset="0"/>
              </a:rPr>
              <a:t>36,000 bps, 64-QAM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P5-12 </a:t>
            </a:r>
            <a:r>
              <a:rPr lang="en-US" altLang="ko-KR" dirty="0" smtClean="0">
                <a:latin typeface="Times New Roman" pitchFamily="18" charset="0"/>
              </a:rPr>
              <a:t>The telephone line has 4 KHz bandwidth. What is the maximum number of bit we can send using each of the following techniques? Let d=0.</a:t>
            </a:r>
          </a:p>
          <a:p>
            <a:pPr lvl="2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a</a:t>
            </a: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ASK    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b</a:t>
            </a: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QPSK    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US" altLang="ko-KR" dirty="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lang="en-US" altLang="ko-KR" dirty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</a:rPr>
              <a:t>16-QAM       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d.</a:t>
            </a:r>
            <a:r>
              <a:rPr lang="en-US" altLang="ko-KR" dirty="0" smtClean="0">
                <a:latin typeface="Times New Roman" pitchFamily="18" charset="0"/>
              </a:rPr>
              <a:t> 64-QAM</a:t>
            </a:r>
          </a:p>
          <a:p>
            <a:pPr lvl="2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Read textbook pp. </a:t>
            </a:r>
            <a:r>
              <a:rPr lang="en-US" altLang="ko-KR" dirty="0" smtClean="0">
                <a:latin typeface="Times New Roman" pitchFamily="18" charset="0"/>
              </a:rPr>
              <a:t>155-181</a:t>
            </a:r>
          </a:p>
          <a:p>
            <a:pPr marL="457200" indent="-457200" eaLnBrk="1" hangingPunct="1">
              <a:buFontTx/>
              <a:buNone/>
            </a:pPr>
            <a:endParaRPr lang="en-US" altLang="ko-KR" b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6. Bandwidth Utilization: </a:t>
            </a:r>
            <a:br>
              <a:rPr lang="en-US" altLang="ko-KR" dirty="0">
                <a:latin typeface="Times New Roman" pitchFamily="18" charset="0"/>
              </a:rPr>
            </a:br>
            <a:r>
              <a:rPr lang="en-US" altLang="ko-KR" dirty="0">
                <a:latin typeface="Times New Roman" pitchFamily="18" charset="0"/>
              </a:rPr>
              <a:t>                 Multiplexing and Spectrum Spreading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416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14446</TotalTime>
  <Words>211</Words>
  <Application>Microsoft Office PowerPoint</Application>
  <PresentationFormat>화면 슬라이드 쇼(4:3)</PresentationFormat>
  <Paragraphs>41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5" baseType="lpstr">
      <vt:lpstr>HY각헤드라인M</vt:lpstr>
      <vt:lpstr>HY목판L</vt:lpstr>
      <vt:lpstr>HY헤드라인M</vt:lpstr>
      <vt:lpstr>굴림</vt:lpstr>
      <vt:lpstr>돋움</vt:lpstr>
      <vt:lpstr>Arial</vt:lpstr>
      <vt:lpstr>Arial Black</vt:lpstr>
      <vt:lpstr>Microsoft Sans Serif</vt:lpstr>
      <vt:lpstr>Times New Roman</vt:lpstr>
      <vt:lpstr>Verdana</vt:lpstr>
      <vt:lpstr>Wingdings 2</vt:lpstr>
      <vt:lpstr>기본 디자인</vt:lpstr>
      <vt:lpstr>Chapter  5  Analog Transmission</vt:lpstr>
      <vt:lpstr>Homework</vt:lpstr>
      <vt:lpstr>Homework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user</cp:lastModifiedBy>
  <cp:revision>1049</cp:revision>
  <cp:lastPrinted>1998-01-20T18:41:17Z</cp:lastPrinted>
  <dcterms:created xsi:type="dcterms:W3CDTF">1997-04-13T14:24:48Z</dcterms:created>
  <dcterms:modified xsi:type="dcterms:W3CDTF">2020-04-13T05:40:37Z</dcterms:modified>
</cp:coreProperties>
</file>