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8" r:id="rId1"/>
  </p:sldMasterIdLst>
  <p:notesMasterIdLst>
    <p:notesMasterId r:id="rId54"/>
  </p:notesMasterIdLst>
  <p:handoutMasterIdLst>
    <p:handoutMasterId r:id="rId55"/>
  </p:handoutMasterIdLst>
  <p:sldIdLst>
    <p:sldId id="256" r:id="rId2"/>
    <p:sldId id="429" r:id="rId3"/>
    <p:sldId id="449" r:id="rId4"/>
    <p:sldId id="675" r:id="rId5"/>
    <p:sldId id="676" r:id="rId6"/>
    <p:sldId id="677" r:id="rId7"/>
    <p:sldId id="678" r:id="rId8"/>
    <p:sldId id="680" r:id="rId9"/>
    <p:sldId id="681" r:id="rId10"/>
    <p:sldId id="682" r:id="rId11"/>
    <p:sldId id="683" r:id="rId12"/>
    <p:sldId id="684" r:id="rId13"/>
    <p:sldId id="685" r:id="rId14"/>
    <p:sldId id="686" r:id="rId15"/>
    <p:sldId id="687" r:id="rId16"/>
    <p:sldId id="688" r:id="rId17"/>
    <p:sldId id="690" r:id="rId18"/>
    <p:sldId id="689" r:id="rId19"/>
    <p:sldId id="691" r:id="rId20"/>
    <p:sldId id="550" r:id="rId21"/>
    <p:sldId id="693" r:id="rId22"/>
    <p:sldId id="695" r:id="rId23"/>
    <p:sldId id="696" r:id="rId24"/>
    <p:sldId id="697" r:id="rId25"/>
    <p:sldId id="698" r:id="rId26"/>
    <p:sldId id="699" r:id="rId27"/>
    <p:sldId id="700" r:id="rId28"/>
    <p:sldId id="701" r:id="rId29"/>
    <p:sldId id="703" r:id="rId30"/>
    <p:sldId id="704" r:id="rId31"/>
    <p:sldId id="705" r:id="rId32"/>
    <p:sldId id="694" r:id="rId33"/>
    <p:sldId id="706" r:id="rId34"/>
    <p:sldId id="707" r:id="rId35"/>
    <p:sldId id="708" r:id="rId36"/>
    <p:sldId id="709" r:id="rId37"/>
    <p:sldId id="710" r:id="rId38"/>
    <p:sldId id="711" r:id="rId39"/>
    <p:sldId id="713" r:id="rId40"/>
    <p:sldId id="712" r:id="rId41"/>
    <p:sldId id="714" r:id="rId42"/>
    <p:sldId id="715" r:id="rId43"/>
    <p:sldId id="716" r:id="rId44"/>
    <p:sldId id="717" r:id="rId45"/>
    <p:sldId id="718" r:id="rId46"/>
    <p:sldId id="719" r:id="rId47"/>
    <p:sldId id="720" r:id="rId48"/>
    <p:sldId id="721" r:id="rId49"/>
    <p:sldId id="722" r:id="rId50"/>
    <p:sldId id="724" r:id="rId51"/>
    <p:sldId id="723" r:id="rId52"/>
    <p:sldId id="692" r:id="rId53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99"/>
    <a:srgbClr val="7E0000"/>
    <a:srgbClr val="7B84C6"/>
    <a:srgbClr val="FF8C3C"/>
    <a:srgbClr val="C66B5A"/>
    <a:srgbClr val="315263"/>
    <a:srgbClr val="001E4A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018" autoAdjust="0"/>
    <p:restoredTop sz="94477" autoAdjust="0"/>
  </p:normalViewPr>
  <p:slideViewPr>
    <p:cSldViewPr snapToGrid="0">
      <p:cViewPr varScale="1">
        <p:scale>
          <a:sx n="97" d="100"/>
          <a:sy n="97" d="100"/>
        </p:scale>
        <p:origin x="-114" y="-156"/>
      </p:cViewPr>
      <p:guideLst>
        <p:guide orient="horz" pos="1536"/>
        <p:guide pos="397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115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r>
              <a:rPr lang="ko-KR" altLang="en-US"/>
              <a:t>EE141</a:t>
            </a:r>
            <a:endParaRPr lang="en-US" altLang="ko-KR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51300" y="0"/>
            <a:ext cx="30353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12325"/>
            <a:ext cx="31115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51300" y="9712325"/>
            <a:ext cx="30353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fld id="{3CCB1160-95BA-43F5-8A38-970867445629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955342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115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r>
              <a:rPr lang="ko-KR" altLang="en-US"/>
              <a:t>EE141</a:t>
            </a:r>
            <a:endParaRPr lang="en-US" altLang="ko-KR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51300" y="0"/>
            <a:ext cx="30353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4088" y="760413"/>
            <a:ext cx="5181600" cy="3886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625" y="4899025"/>
            <a:ext cx="5214938" cy="4560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smtClean="0"/>
              <a:t>Click to edit Master text styles</a:t>
            </a:r>
          </a:p>
          <a:p>
            <a:pPr lvl="1"/>
            <a:r>
              <a:rPr lang="en-US" altLang="ko-KR" noProof="0" smtClean="0"/>
              <a:t>Second level</a:t>
            </a:r>
          </a:p>
          <a:p>
            <a:pPr lvl="2"/>
            <a:r>
              <a:rPr lang="en-US" altLang="ko-KR" noProof="0" smtClean="0"/>
              <a:t>Third level</a:t>
            </a:r>
          </a:p>
          <a:p>
            <a:pPr lvl="3"/>
            <a:r>
              <a:rPr lang="en-US" altLang="ko-KR" noProof="0" smtClean="0"/>
              <a:t>Fourth level</a:t>
            </a:r>
          </a:p>
          <a:p>
            <a:pPr lvl="4"/>
            <a:r>
              <a:rPr lang="en-US" altLang="ko-KR" noProof="0" smtClean="0"/>
              <a:t>Fifth level</a:t>
            </a:r>
          </a:p>
        </p:txBody>
      </p:sp>
      <p:sp>
        <p:nvSpPr>
          <p:cNvPr id="440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12325"/>
            <a:ext cx="31115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40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51300" y="9712325"/>
            <a:ext cx="30353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fld id="{403C42A9-E316-4AA1-B844-5021B4B92E18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1433497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r>
              <a:rPr lang="ko-KR" altLang="en-US" sz="1400" i="0" smtClean="0">
                <a:latin typeface="Times New Roman" pitchFamily="18" charset="0"/>
              </a:rPr>
              <a:t>EE141</a:t>
            </a:r>
            <a:endParaRPr lang="en-US" altLang="ko-KR" sz="1400" i="0" smtClean="0">
              <a:latin typeface="Times New Roman" pitchFamily="18" charset="0"/>
            </a:endParaRPr>
          </a:p>
        </p:txBody>
      </p:sp>
      <p:sp>
        <p:nvSpPr>
          <p:cNvPr id="4813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fld id="{0DD09AAB-6945-4B2F-AFC4-B1FD614E8BDE}" type="slidenum">
              <a:rPr lang="ko-KR" altLang="en-US" sz="1400" i="0" smtClean="0">
                <a:latin typeface="Times New Roman" pitchFamily="18" charset="0"/>
              </a:rPr>
              <a:pPr/>
              <a:t>1</a:t>
            </a:fld>
            <a:endParaRPr lang="en-US" altLang="ko-KR" sz="1400" i="0" smtClean="0">
              <a:latin typeface="Times New Roman" pitchFamily="18" charset="0"/>
            </a:endParaRPr>
          </a:p>
        </p:txBody>
      </p:sp>
      <p:sp>
        <p:nvSpPr>
          <p:cNvPr id="481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ltGray">
          <a:xfrm>
            <a:off x="0" y="6597650"/>
            <a:ext cx="9144000" cy="260350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latinLnBrk="1" hangingPunct="1"/>
            <a:endParaRPr kumimoji="1" lang="ko-KR" altLang="en-US" sz="1800" b="1" i="0">
              <a:solidFill>
                <a:schemeClr val="bg1"/>
              </a:solidFill>
              <a:ea typeface="HY헤드라인M" pitchFamily="18" charset="-127"/>
              <a:sym typeface="Wingdings 2" pitchFamily="18" charset="2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ltGray">
          <a:xfrm>
            <a:off x="0" y="6742113"/>
            <a:ext cx="9144000" cy="0"/>
          </a:xfrm>
          <a:prstGeom prst="line">
            <a:avLst/>
          </a:prstGeom>
          <a:noFill/>
          <a:ln w="38100">
            <a:solidFill>
              <a:srgbClr val="777777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2020888" y="1352550"/>
            <a:ext cx="0" cy="635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2020888" y="1700213"/>
            <a:ext cx="564515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7666038" y="1352550"/>
            <a:ext cx="0" cy="635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ltGray">
          <a:xfrm>
            <a:off x="22225" y="0"/>
            <a:ext cx="9144000" cy="534988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r" eaLnBrk="1" latinLnBrk="1" hangingPunct="1"/>
            <a:r>
              <a:rPr kumimoji="1" lang="en-US" altLang="ko-KR" sz="1600" b="1">
                <a:solidFill>
                  <a:schemeClr val="bg1"/>
                </a:solidFill>
                <a:ea typeface="돋움" pitchFamily="50" charset="-127"/>
              </a:rPr>
              <a:t>Pusan National University </a:t>
            </a:r>
            <a:endParaRPr kumimoji="1" lang="en-US" altLang="ko-KR" sz="1000" b="1" i="0">
              <a:solidFill>
                <a:schemeClr val="bg1"/>
              </a:solidFill>
              <a:ea typeface="돋움" pitchFamily="50" charset="-127"/>
            </a:endParaRPr>
          </a:p>
        </p:txBody>
      </p: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0" y="84138"/>
            <a:ext cx="6565900" cy="357187"/>
            <a:chOff x="0" y="53"/>
            <a:chExt cx="5569" cy="225"/>
          </a:xfrm>
        </p:grpSpPr>
        <p:sp>
          <p:nvSpPr>
            <p:cNvPr id="11" name="Line 11"/>
            <p:cNvSpPr>
              <a:spLocks noChangeShapeType="1"/>
            </p:cNvSpPr>
            <p:nvPr userDrawn="1"/>
          </p:nvSpPr>
          <p:spPr bwMode="ltGray">
            <a:xfrm>
              <a:off x="0" y="27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Line 12"/>
            <p:cNvSpPr>
              <a:spLocks noChangeShapeType="1"/>
            </p:cNvSpPr>
            <p:nvPr userDrawn="1"/>
          </p:nvSpPr>
          <p:spPr bwMode="ltGray">
            <a:xfrm>
              <a:off x="0" y="23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Line 13"/>
            <p:cNvSpPr>
              <a:spLocks noChangeShapeType="1"/>
            </p:cNvSpPr>
            <p:nvPr userDrawn="1"/>
          </p:nvSpPr>
          <p:spPr bwMode="ltGray">
            <a:xfrm>
              <a:off x="0" y="18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Line 14"/>
            <p:cNvSpPr>
              <a:spLocks noChangeShapeType="1"/>
            </p:cNvSpPr>
            <p:nvPr userDrawn="1"/>
          </p:nvSpPr>
          <p:spPr bwMode="ltGray">
            <a:xfrm>
              <a:off x="0" y="14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Line 15"/>
            <p:cNvSpPr>
              <a:spLocks noChangeShapeType="1"/>
            </p:cNvSpPr>
            <p:nvPr userDrawn="1"/>
          </p:nvSpPr>
          <p:spPr bwMode="ltGray">
            <a:xfrm>
              <a:off x="0" y="9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Line 16"/>
            <p:cNvSpPr>
              <a:spLocks noChangeShapeType="1"/>
            </p:cNvSpPr>
            <p:nvPr userDrawn="1"/>
          </p:nvSpPr>
          <p:spPr bwMode="ltGray">
            <a:xfrm>
              <a:off x="0" y="5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2066925" y="1700213"/>
            <a:ext cx="265747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latinLnBrk="1" hangingPunct="1"/>
            <a:endParaRPr kumimoji="1" lang="ko-KR" altLang="en-US" sz="1600" b="1">
              <a:solidFill>
                <a:srgbClr val="777777"/>
              </a:solidFill>
              <a:ea typeface="돋움" pitchFamily="50" charset="-127"/>
            </a:endParaRPr>
          </a:p>
        </p:txBody>
      </p:sp>
      <p:pic>
        <p:nvPicPr>
          <p:cNvPr id="18" name="Picture 18" descr="sub06_img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363" y="1036638"/>
            <a:ext cx="885825" cy="167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2076450" y="1092200"/>
            <a:ext cx="581660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eaLnBrk="1" latinLnBrk="1" hangingPunct="1">
              <a:defRPr/>
            </a:pPr>
            <a:r>
              <a:rPr kumimoji="1" lang="en-US" altLang="ko-KR" sz="3400" b="1" smtClean="0">
                <a:solidFill>
                  <a:srgbClr val="C00000"/>
                </a:solidFill>
                <a:latin typeface="Arial Black" pitchFamily="34" charset="0"/>
                <a:ea typeface="돋움" pitchFamily="50" charset="-127"/>
              </a:rPr>
              <a:t>Data Communications</a:t>
            </a:r>
          </a:p>
        </p:txBody>
      </p:sp>
      <p:sp>
        <p:nvSpPr>
          <p:cNvPr id="481282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2066303" y="1916084"/>
            <a:ext cx="5599113" cy="661988"/>
          </a:xfrm>
        </p:spPr>
        <p:txBody>
          <a:bodyPr rIns="90000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48128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 b="1"/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0014929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1800"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icrosoft Sans Serif" pitchFamily="34" charset="0"/>
                <a:cs typeface="Microsoft Sans Serif" pitchFamily="34" charset="0"/>
              </a:defRPr>
            </a:lvl1pPr>
            <a:lvl2pPr>
              <a:defRPr>
                <a:latin typeface="Microsoft Sans Serif" pitchFamily="34" charset="0"/>
                <a:cs typeface="Microsoft Sans Serif" pitchFamily="34" charset="0"/>
              </a:defRPr>
            </a:lvl2pPr>
            <a:lvl3pPr>
              <a:defRPr>
                <a:latin typeface="Microsoft Sans Serif" pitchFamily="34" charset="0"/>
                <a:cs typeface="Microsoft Sans Serif" pitchFamily="34" charset="0"/>
              </a:defRPr>
            </a:lvl3pPr>
            <a:lvl4pPr>
              <a:defRPr>
                <a:latin typeface="Microsoft Sans Serif" pitchFamily="34" charset="0"/>
                <a:cs typeface="Microsoft Sans Serif" pitchFamily="34" charset="0"/>
              </a:defRPr>
            </a:lvl4pPr>
            <a:lvl5pPr>
              <a:defRPr>
                <a:latin typeface="Microsoft Sans Serif" pitchFamily="34" charset="0"/>
                <a:cs typeface="Microsoft Sans Serif" pitchFamily="34" charset="0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521421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70049434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1800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84175" y="765175"/>
            <a:ext cx="4202113" cy="5616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38688" y="765175"/>
            <a:ext cx="4202112" cy="5616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6478766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2948103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713296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201416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690032066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507126227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049930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8000" y="-11113"/>
            <a:ext cx="2286000" cy="6392863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0" y="-11113"/>
            <a:ext cx="6705600" cy="6392863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85575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-11113"/>
            <a:ext cx="9144000" cy="549276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384175" y="765175"/>
            <a:ext cx="4202113" cy="56165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38688" y="765175"/>
            <a:ext cx="4202112" cy="56165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36167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제목, 내용 및 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-11113"/>
            <a:ext cx="9144000" cy="549276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84175" y="765175"/>
            <a:ext cx="4202113" cy="56165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4738688" y="765175"/>
            <a:ext cx="4202112" cy="27320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4738688" y="3649663"/>
            <a:ext cx="4202112" cy="2732087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666847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0" y="0"/>
            <a:ext cx="9144000" cy="549275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latinLnBrk="1" hangingPunct="1"/>
            <a:endParaRPr kumimoji="1" lang="ko-KR" altLang="en-US" sz="1800" b="1" i="0">
              <a:solidFill>
                <a:schemeClr val="bg1"/>
              </a:solidFill>
              <a:ea typeface="돋움" pitchFamily="50" charset="-127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ltGray">
          <a:xfrm>
            <a:off x="0" y="-11113"/>
            <a:ext cx="9144000" cy="549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36000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Master</a:t>
            </a:r>
            <a:endParaRPr lang="ko-KR" altLang="en-US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4175" y="765175"/>
            <a:ext cx="8556625" cy="561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First</a:t>
            </a:r>
            <a:endParaRPr lang="ko-KR" altLang="en-US" smtClean="0"/>
          </a:p>
          <a:p>
            <a:pPr lvl="1"/>
            <a:r>
              <a:rPr lang="en-US" altLang="ko-KR" smtClean="0"/>
              <a:t>Second</a:t>
            </a:r>
            <a:endParaRPr lang="ko-KR" altLang="en-US" smtClean="0"/>
          </a:p>
          <a:p>
            <a:pPr lvl="2"/>
            <a:r>
              <a:rPr lang="en-US" altLang="ko-KR" smtClean="0"/>
              <a:t>Third</a:t>
            </a:r>
            <a:endParaRPr lang="ko-KR" altLang="en-US" smtClean="0"/>
          </a:p>
          <a:p>
            <a:pPr lvl="3"/>
            <a:r>
              <a:rPr lang="en-US" altLang="ko-KR" smtClean="0"/>
              <a:t>Fourth</a:t>
            </a:r>
            <a:endParaRPr lang="ko-KR" altLang="en-US" smtClean="0"/>
          </a:p>
          <a:p>
            <a:pPr lvl="4"/>
            <a:r>
              <a:rPr lang="en-US" altLang="ko-KR" smtClean="0"/>
              <a:t>Fifth</a:t>
            </a:r>
            <a:endParaRPr lang="ko-KR" altLang="en-US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0" y="6624638"/>
            <a:ext cx="9144000" cy="260350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latinLnBrk="1" hangingPunct="1"/>
            <a:r>
              <a:rPr kumimoji="1" lang="ko-KR" altLang="en-US" sz="1200" b="1" i="0">
                <a:solidFill>
                  <a:schemeClr val="bg1"/>
                </a:solidFill>
                <a:latin typeface="HY목판L" pitchFamily="18" charset="-127"/>
                <a:ea typeface="HY목판L" pitchFamily="18" charset="-127"/>
              </a:rPr>
              <a:t>     </a:t>
            </a:r>
            <a:r>
              <a:rPr kumimoji="1" lang="en-US" altLang="ko-KR" sz="1200" b="1" i="0">
                <a:solidFill>
                  <a:schemeClr val="bg1"/>
                </a:solidFill>
                <a:latin typeface="HY목판L" pitchFamily="18" charset="-127"/>
                <a:ea typeface="HY목판L" pitchFamily="18" charset="-127"/>
              </a:rPr>
              <a:t>Advanced Broadcasting &amp; Communications  Lab.</a:t>
            </a:r>
            <a:endParaRPr kumimoji="1" lang="en-US" altLang="ko-KR" sz="1800" b="1" i="0">
              <a:solidFill>
                <a:schemeClr val="bg1"/>
              </a:solidFill>
              <a:latin typeface="HY목판L" pitchFamily="18" charset="-127"/>
              <a:ea typeface="HY목판L" pitchFamily="18" charset="-127"/>
              <a:sym typeface="Wingdings 2" pitchFamily="18" charset="2"/>
            </a:endParaRPr>
          </a:p>
        </p:txBody>
      </p:sp>
      <p:sp>
        <p:nvSpPr>
          <p:cNvPr id="1030" name="Oval 6"/>
          <p:cNvSpPr>
            <a:spLocks noChangeArrowheads="1"/>
          </p:cNvSpPr>
          <p:nvPr/>
        </p:nvSpPr>
        <p:spPr bwMode="ltGray">
          <a:xfrm>
            <a:off x="8228013" y="6616700"/>
            <a:ext cx="431800" cy="219075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r" eaLnBrk="1" latinLnBrk="1" hangingPunct="1"/>
            <a:fld id="{CEE226F8-AF74-4623-8521-365EFC50DC76}" type="slidenum">
              <a:rPr kumimoji="1" lang="ko-KR" altLang="en-US" sz="1200" b="1" i="0">
                <a:solidFill>
                  <a:schemeClr val="bg1"/>
                </a:solidFill>
                <a:latin typeface="Verdana" pitchFamily="34" charset="0"/>
                <a:ea typeface="HY각헤드라인M" pitchFamily="18" charset="-127"/>
              </a:rPr>
              <a:pPr algn="r" eaLnBrk="1" latinLnBrk="1" hangingPunct="1"/>
              <a:t>‹#›</a:t>
            </a:fld>
            <a:endParaRPr kumimoji="1" lang="en-US" altLang="ko-KR" sz="1200" b="1" i="0">
              <a:solidFill>
                <a:schemeClr val="bg1"/>
              </a:solidFill>
              <a:latin typeface="Verdana" pitchFamily="34" charset="0"/>
              <a:ea typeface="HY각헤드라인M" pitchFamily="18" charset="-127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ltGray">
          <a:xfrm>
            <a:off x="4238625" y="6742113"/>
            <a:ext cx="3806825" cy="0"/>
          </a:xfrm>
          <a:prstGeom prst="line">
            <a:avLst/>
          </a:prstGeom>
          <a:noFill/>
          <a:ln w="38100">
            <a:solidFill>
              <a:srgbClr val="777777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0" y="84138"/>
            <a:ext cx="5969000" cy="357187"/>
            <a:chOff x="0" y="53"/>
            <a:chExt cx="5569" cy="225"/>
          </a:xfrm>
        </p:grpSpPr>
        <p:sp>
          <p:nvSpPr>
            <p:cNvPr id="1037" name="Line 9"/>
            <p:cNvSpPr>
              <a:spLocks noChangeShapeType="1"/>
            </p:cNvSpPr>
            <p:nvPr userDrawn="1"/>
          </p:nvSpPr>
          <p:spPr bwMode="ltGray">
            <a:xfrm>
              <a:off x="0" y="27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38" name="Line 10"/>
            <p:cNvSpPr>
              <a:spLocks noChangeShapeType="1"/>
            </p:cNvSpPr>
            <p:nvPr userDrawn="1"/>
          </p:nvSpPr>
          <p:spPr bwMode="ltGray">
            <a:xfrm>
              <a:off x="0" y="23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39" name="Line 11"/>
            <p:cNvSpPr>
              <a:spLocks noChangeShapeType="1"/>
            </p:cNvSpPr>
            <p:nvPr userDrawn="1"/>
          </p:nvSpPr>
          <p:spPr bwMode="ltGray">
            <a:xfrm>
              <a:off x="0" y="18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40" name="Line 12"/>
            <p:cNvSpPr>
              <a:spLocks noChangeShapeType="1"/>
            </p:cNvSpPr>
            <p:nvPr userDrawn="1"/>
          </p:nvSpPr>
          <p:spPr bwMode="ltGray">
            <a:xfrm>
              <a:off x="0" y="14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41" name="Line 13"/>
            <p:cNvSpPr>
              <a:spLocks noChangeShapeType="1"/>
            </p:cNvSpPr>
            <p:nvPr userDrawn="1"/>
          </p:nvSpPr>
          <p:spPr bwMode="ltGray">
            <a:xfrm>
              <a:off x="0" y="9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42" name="Line 14"/>
            <p:cNvSpPr>
              <a:spLocks noChangeShapeType="1"/>
            </p:cNvSpPr>
            <p:nvPr userDrawn="1"/>
          </p:nvSpPr>
          <p:spPr bwMode="ltGray">
            <a:xfrm>
              <a:off x="0" y="5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033" name="Group 15"/>
          <p:cNvGrpSpPr>
            <a:grpSpLocks/>
          </p:cNvGrpSpPr>
          <p:nvPr/>
        </p:nvGrpSpPr>
        <p:grpSpPr bwMode="auto">
          <a:xfrm>
            <a:off x="166688" y="84138"/>
            <a:ext cx="1776412" cy="427037"/>
            <a:chOff x="135" y="621"/>
            <a:chExt cx="1035" cy="269"/>
          </a:xfrm>
        </p:grpSpPr>
        <p:sp>
          <p:nvSpPr>
            <p:cNvPr id="1034" name="Text Box 16"/>
            <p:cNvSpPr txBox="1">
              <a:spLocks noChangeArrowheads="1"/>
            </p:cNvSpPr>
            <p:nvPr userDrawn="1"/>
          </p:nvSpPr>
          <p:spPr bwMode="auto">
            <a:xfrm>
              <a:off x="135" y="656"/>
              <a:ext cx="56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kumimoji="1" lang="en-US" altLang="ko-KR" sz="1600" b="1" smtClean="0">
                  <a:solidFill>
                    <a:srgbClr val="99CC00"/>
                  </a:solidFill>
                  <a:latin typeface="Arial Black" pitchFamily="34" charset="0"/>
                  <a:ea typeface="돋움" pitchFamily="50" charset="-127"/>
                </a:rPr>
                <a:t>power</a:t>
              </a:r>
            </a:p>
          </p:txBody>
        </p:sp>
        <p:sp>
          <p:nvSpPr>
            <p:cNvPr id="1035" name="Text Box 17"/>
            <p:cNvSpPr txBox="1">
              <a:spLocks noChangeArrowheads="1"/>
            </p:cNvSpPr>
            <p:nvPr userDrawn="1"/>
          </p:nvSpPr>
          <p:spPr bwMode="auto">
            <a:xfrm>
              <a:off x="632" y="621"/>
              <a:ext cx="53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kumimoji="1" lang="en-US" altLang="ko-KR" sz="2200" b="1" smtClean="0">
                  <a:solidFill>
                    <a:schemeClr val="bg1"/>
                  </a:solidFill>
                  <a:latin typeface="Arial Black" pitchFamily="34" charset="0"/>
                  <a:ea typeface="돋움" pitchFamily="50" charset="-127"/>
                </a:rPr>
                <a:t>PNU</a:t>
              </a:r>
            </a:p>
          </p:txBody>
        </p:sp>
        <p:sp>
          <p:nvSpPr>
            <p:cNvPr id="1036" name="Text Box 18"/>
            <p:cNvSpPr txBox="1">
              <a:spLocks noChangeArrowheads="1"/>
            </p:cNvSpPr>
            <p:nvPr userDrawn="1"/>
          </p:nvSpPr>
          <p:spPr bwMode="auto">
            <a:xfrm>
              <a:off x="152" y="623"/>
              <a:ext cx="62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kumimoji="1" lang="ko-KR" altLang="en-US" sz="900" b="1" smtClean="0">
                  <a:solidFill>
                    <a:schemeClr val="bg1"/>
                  </a:solidFill>
                  <a:latin typeface="Arial Black" pitchFamily="34" charset="0"/>
                  <a:ea typeface="돋움" pitchFamily="50" charset="-127"/>
                </a:rPr>
                <a:t>세계로</a:t>
              </a:r>
              <a:r>
                <a:rPr kumimoji="1" lang="ko-KR" altLang="en-US" sz="900" b="1" smtClean="0">
                  <a:solidFill>
                    <a:schemeClr val="bg2"/>
                  </a:solidFill>
                  <a:latin typeface="Arial Black" pitchFamily="34" charset="0"/>
                  <a:ea typeface="돋움" pitchFamily="50" charset="-127"/>
                </a:rPr>
                <a:t> </a:t>
              </a:r>
              <a:r>
                <a:rPr kumimoji="1" lang="ko-KR" altLang="en-US" sz="900" b="1" smtClean="0">
                  <a:solidFill>
                    <a:schemeClr val="bg1"/>
                  </a:solidFill>
                  <a:latin typeface="Arial Black" pitchFamily="34" charset="0"/>
                  <a:ea typeface="돋움" pitchFamily="50" charset="-127"/>
                </a:rPr>
                <a:t>미래로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  <p:sldLayoutId id="2147483882" r:id="rId2"/>
    <p:sldLayoutId id="2147483883" r:id="rId3"/>
    <p:sldLayoutId id="2147483884" r:id="rId4"/>
    <p:sldLayoutId id="2147483885" r:id="rId5"/>
    <p:sldLayoutId id="2147483886" r:id="rId6"/>
    <p:sldLayoutId id="2147483887" r:id="rId7"/>
    <p:sldLayoutId id="2147483888" r:id="rId8"/>
    <p:sldLayoutId id="2147483889" r:id="rId9"/>
    <p:sldLayoutId id="2147483890" r:id="rId10"/>
    <p:sldLayoutId id="2147483891" r:id="rId11"/>
    <p:sldLayoutId id="2147483892" r:id="rId12"/>
    <p:sldLayoutId id="2147483893" r:id="rId13"/>
  </p:sldLayoutIdLst>
  <p:transition spd="med"/>
  <p:txStyles>
    <p:titleStyle>
      <a:lvl1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+mj-ea"/>
          <a:cs typeface="Microsoft Sans Serif" pitchFamily="34" charset="0"/>
        </a:defRPr>
      </a:lvl1pPr>
      <a:lvl2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2pPr>
      <a:lvl3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3pPr>
      <a:lvl4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4pPr>
      <a:lvl5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5pPr>
      <a:lvl6pPr marL="4572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6pPr>
      <a:lvl7pPr marL="9144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7pPr>
      <a:lvl8pPr marL="13716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8pPr>
      <a:lvl9pPr marL="18288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Blip>
          <a:blip r:embed="rId15"/>
        </a:buBlip>
        <a:defRPr kumimoji="1" sz="24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Blip>
          <a:blip r:embed="rId16"/>
        </a:buBlip>
        <a:defRPr kumimoji="1" sz="20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w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6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6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6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6.w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6.w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6.w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36.w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36.w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36.w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36.w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36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36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36.w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36.w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36.w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36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36.w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36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5"/>
          <p:cNvSpPr>
            <a:spLocks noGrp="1" noChangeArrowheads="1"/>
          </p:cNvSpPr>
          <p:nvPr>
            <p:ph type="subTitle" idx="1"/>
          </p:nvPr>
        </p:nvSpPr>
        <p:spPr>
          <a:xfrm>
            <a:off x="795338" y="5151438"/>
            <a:ext cx="4111625" cy="1298575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1600" smtClean="0">
                <a:latin typeface="Times New Roman" pitchFamily="18" charset="0"/>
              </a:rPr>
              <a:t>School of Computer Science and Engineering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smtClean="0">
                <a:latin typeface="Times New Roman" pitchFamily="18" charset="0"/>
              </a:rPr>
              <a:t>Pusan National University</a:t>
            </a:r>
          </a:p>
          <a:p>
            <a:pPr eaLnBrk="1" hangingPunct="1">
              <a:lnSpc>
                <a:spcPct val="90000"/>
              </a:lnSpc>
            </a:pPr>
            <a:endParaRPr lang="en-US" altLang="ko-KR" sz="160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600" smtClean="0">
                <a:latin typeface="Times New Roman" pitchFamily="18" charset="0"/>
              </a:rPr>
              <a:t>Jeong Goo Kim</a:t>
            </a:r>
          </a:p>
          <a:p>
            <a:pPr eaLnBrk="1" hangingPunct="1">
              <a:lnSpc>
                <a:spcPct val="90000"/>
              </a:lnSpc>
            </a:pPr>
            <a:endParaRPr lang="ko-KR" altLang="en-US" smtClean="0">
              <a:latin typeface="Times New Roman" pitchFamily="18" charset="0"/>
            </a:endParaRPr>
          </a:p>
        </p:txBody>
      </p:sp>
      <p:sp>
        <p:nvSpPr>
          <p:cNvPr id="18435" name="Rectangle 16"/>
          <p:cNvSpPr>
            <a:spLocks noGrp="1" noChangeArrowheads="1"/>
          </p:cNvSpPr>
          <p:nvPr>
            <p:ph type="ctrTitle"/>
          </p:nvPr>
        </p:nvSpPr>
        <p:spPr>
          <a:xfrm>
            <a:off x="260350" y="2609851"/>
            <a:ext cx="4953000" cy="2333624"/>
          </a:xfrm>
        </p:spPr>
        <p:txBody>
          <a:bodyPr/>
          <a:lstStyle/>
          <a:p>
            <a:pPr algn="ctr" eaLnBrk="1" hangingPunct="1"/>
            <a:r>
              <a:rPr lang="en-US" altLang="ko-KR" sz="4000" i="1" smtClean="0">
                <a:latin typeface="+mj-lt"/>
              </a:rPr>
              <a:t>Chapter  14</a:t>
            </a:r>
            <a:r>
              <a:rPr lang="en-US" altLang="ko-KR" sz="4000" b="0" smtClean="0"/>
              <a:t> </a:t>
            </a:r>
            <a:br>
              <a:rPr lang="en-US" altLang="ko-KR" sz="4000" b="0" smtClean="0"/>
            </a:br>
            <a:r>
              <a:rPr lang="en-US" altLang="ko-KR" sz="4000" b="0" smtClean="0">
                <a:solidFill>
                  <a:srgbClr val="C00000"/>
                </a:solidFill>
                <a:latin typeface="+mj-lt"/>
              </a:rPr>
              <a:t/>
            </a:r>
            <a:br>
              <a:rPr lang="en-US" altLang="ko-KR" sz="4000" b="0" smtClean="0">
                <a:solidFill>
                  <a:srgbClr val="C00000"/>
                </a:solidFill>
                <a:latin typeface="+mj-lt"/>
              </a:rPr>
            </a:br>
            <a:r>
              <a:rPr lang="en-US" altLang="ko-KR" sz="4000" i="1" smtClean="0">
                <a:solidFill>
                  <a:srgbClr val="C00000"/>
                </a:solidFill>
                <a:latin typeface="+mj-lt"/>
              </a:rPr>
              <a:t>Other Wired Network</a:t>
            </a:r>
            <a:endParaRPr lang="en-US" altLang="ko-KR" sz="4000" i="1">
              <a:solidFill>
                <a:srgbClr val="C00000"/>
              </a:solidFill>
              <a:latin typeface="+mj-lt"/>
              <a:cs typeface="Arial" pitchFamily="34" charset="0"/>
            </a:endParaRPr>
          </a:p>
        </p:txBody>
      </p:sp>
      <p:pic>
        <p:nvPicPr>
          <p:cNvPr id="15364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3350" y="2165350"/>
            <a:ext cx="3494088" cy="438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itchFamily="18" charset="0"/>
                <a:cs typeface="Times" pitchFamily="18" charset="0"/>
              </a:rPr>
              <a:t>Ch. 14  Outline</a:t>
            </a:r>
            <a:endParaRPr lang="ko-KR" altLang="en-US" sz="20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" pitchFamily="18" charset="0"/>
              <a:cs typeface="Times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2" indent="0" algn="just">
              <a:spcBef>
                <a:spcPts val="0"/>
              </a:spcBef>
              <a:buFontTx/>
              <a:buNone/>
              <a:defRPr/>
            </a:pPr>
            <a:r>
              <a:rPr lang="en-US" altLang="ko-KR" sz="32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Outline</a:t>
            </a:r>
            <a:endParaRPr lang="en-US" altLang="ko-KR" sz="32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endParaRPr lang="en-US" altLang="ko-KR" sz="360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"/>
            </a:endParaRPr>
          </a:p>
          <a:p>
            <a:pPr marL="0" indent="0" algn="just">
              <a:spcBef>
                <a:spcPts val="0"/>
              </a:spcBef>
              <a:buNone/>
              <a:defRPr/>
            </a:pPr>
            <a:r>
              <a:rPr lang="en-US" altLang="ko-KR" sz="2800" b="1" i="1" smtClean="0">
                <a:solidFill>
                  <a:srgbClr val="C00000"/>
                </a:solidFill>
                <a:latin typeface="Times"/>
              </a:rPr>
              <a:t>14.1   </a:t>
            </a:r>
            <a:r>
              <a:rPr lang="en-US" altLang="ko-KR" sz="2800" b="1" i="1" smtClean="0">
                <a:latin typeface="Times"/>
              </a:rPr>
              <a:t>Telephone Network</a:t>
            </a:r>
            <a:endParaRPr lang="en-US" altLang="ko-KR" sz="2800" b="1" i="1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endParaRPr lang="en-US" altLang="ko-KR" sz="2800" b="1" i="1" smtClean="0">
              <a:solidFill>
                <a:srgbClr val="C00000"/>
              </a:solidFill>
              <a:latin typeface="Times"/>
            </a:endParaRPr>
          </a:p>
          <a:p>
            <a:pPr marL="0" indent="0" algn="just">
              <a:spcBef>
                <a:spcPts val="0"/>
              </a:spcBef>
              <a:buNone/>
              <a:defRPr/>
            </a:pPr>
            <a:r>
              <a:rPr lang="en-US" altLang="ko-KR" sz="2800" b="1" i="1" smtClean="0">
                <a:solidFill>
                  <a:srgbClr val="C00000"/>
                </a:solidFill>
                <a:latin typeface="Times"/>
              </a:rPr>
              <a:t>14.2  </a:t>
            </a:r>
            <a:r>
              <a:rPr lang="en-US" altLang="ko-KR" sz="2800" b="1" i="1" smtClean="0">
                <a:latin typeface="Times"/>
              </a:rPr>
              <a:t>Cable Network</a:t>
            </a:r>
          </a:p>
          <a:p>
            <a:pPr marL="0" indent="0" algn="just">
              <a:spcBef>
                <a:spcPts val="0"/>
              </a:spcBef>
              <a:buNone/>
              <a:defRPr/>
            </a:pPr>
            <a:endParaRPr lang="en-US" altLang="ko-KR" sz="2800" b="1" i="1">
              <a:solidFill>
                <a:srgbClr val="C00000"/>
              </a:solidFill>
              <a:latin typeface="Times"/>
            </a:endParaRPr>
          </a:p>
          <a:p>
            <a:pPr marL="0" indent="0" algn="just">
              <a:spcBef>
                <a:spcPts val="0"/>
              </a:spcBef>
              <a:buNone/>
              <a:defRPr/>
            </a:pPr>
            <a:r>
              <a:rPr lang="en-US" altLang="ko-KR" sz="2800" b="1" i="1" smtClean="0">
                <a:solidFill>
                  <a:srgbClr val="C00000"/>
                </a:solidFill>
                <a:latin typeface="Times"/>
              </a:rPr>
              <a:t>14.3  </a:t>
            </a:r>
            <a:r>
              <a:rPr lang="en-US" altLang="ko-KR" sz="2800" b="1" i="1" smtClean="0">
                <a:latin typeface="Times"/>
              </a:rPr>
              <a:t>SONET</a:t>
            </a:r>
            <a:endParaRPr lang="en-US" altLang="ko-KR" sz="2800" b="1" i="1" smtClean="0">
              <a:solidFill>
                <a:srgbClr val="C00000"/>
              </a:solidFill>
              <a:latin typeface="Times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endParaRPr lang="en-US" altLang="ko-KR" sz="2800" b="1" i="1" smtClean="0">
              <a:solidFill>
                <a:srgbClr val="C00000"/>
              </a:solidFill>
              <a:latin typeface="Times"/>
            </a:endParaRPr>
          </a:p>
          <a:p>
            <a:pPr marL="0" indent="0" algn="just">
              <a:spcBef>
                <a:spcPts val="0"/>
              </a:spcBef>
              <a:buNone/>
              <a:defRPr/>
            </a:pPr>
            <a:r>
              <a:rPr lang="en-US" altLang="ko-KR" sz="2800" b="1" i="1" smtClean="0">
                <a:solidFill>
                  <a:srgbClr val="C00000"/>
                </a:solidFill>
                <a:latin typeface="Times"/>
              </a:rPr>
              <a:t>14.4  </a:t>
            </a:r>
            <a:r>
              <a:rPr lang="en-US" altLang="ko-KR" sz="2800" b="1" i="1" smtClean="0">
                <a:latin typeface="Times"/>
              </a:rPr>
              <a:t>ATM</a:t>
            </a:r>
            <a:endParaRPr lang="en-US" altLang="ko-KR" sz="2800" b="1" i="1">
              <a:solidFill>
                <a:srgbClr val="C00000"/>
              </a:solidFill>
              <a:latin typeface="Times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endParaRPr lang="en-US" altLang="ko-KR" sz="2800" b="1" i="1" smtClean="0">
              <a:solidFill>
                <a:srgbClr val="C00000"/>
              </a:solidFill>
              <a:latin typeface="Time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14.1  Telephone Network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47675"/>
            <a:ext cx="8429625" cy="61341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800" b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14.1 Telephone Network</a:t>
            </a:r>
          </a:p>
          <a:p>
            <a:pPr algn="just"/>
            <a:r>
              <a:rPr lang="en-US" altLang="ko-KR">
                <a:latin typeface="Times New Roman" pitchFamily="18" charset="0"/>
                <a:cs typeface="Times New Roman" pitchFamily="18" charset="0"/>
              </a:rPr>
              <a:t>has begun in the late 1800s. </a:t>
            </a:r>
          </a:p>
          <a:p>
            <a:pPr algn="just"/>
            <a:r>
              <a:rPr lang="en-US" altLang="ko-KR">
                <a:latin typeface="Times New Roman" pitchFamily="18" charset="0"/>
                <a:cs typeface="Times New Roman" pitchFamily="18" charset="0"/>
              </a:rPr>
              <a:t>was originally an analog system </a:t>
            </a:r>
          </a:p>
          <a:p>
            <a:pPr algn="just"/>
            <a:r>
              <a:rPr lang="en-US" altLang="ko-KR">
                <a:latin typeface="Times New Roman" pitchFamily="18" charset="0"/>
                <a:cs typeface="Times New Roman" pitchFamily="18" charset="0"/>
              </a:rPr>
              <a:t>is now digital as well as analog </a:t>
            </a: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14.1.1 Major Componentsk</a:t>
            </a:r>
            <a:endParaRPr lang="en-US" altLang="ko-KR" sz="24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r>
              <a:rPr lang="en-US" altLang="ko-KR" sz="2000" b="1" i="1">
                <a:latin typeface="Times New Roman" pitchFamily="18" charset="0"/>
              </a:rPr>
              <a:t>local loops, trunks</a:t>
            </a:r>
            <a:r>
              <a:rPr lang="en-US" altLang="ko-KR" sz="2000">
                <a:latin typeface="Times New Roman" pitchFamily="18" charset="0"/>
              </a:rPr>
              <a:t>, and </a:t>
            </a:r>
            <a:r>
              <a:rPr lang="en-US" altLang="ko-KR" sz="2000" b="1" i="1">
                <a:latin typeface="Times New Roman" pitchFamily="18" charset="0"/>
              </a:rPr>
              <a:t>switching offices</a:t>
            </a:r>
            <a:r>
              <a:rPr lang="en-US" altLang="ko-KR" sz="2000">
                <a:latin typeface="Times New Roman" pitchFamily="18" charset="0"/>
              </a:rPr>
              <a:t>. </a:t>
            </a:r>
            <a:endParaRPr lang="en-US" altLang="ko-KR" sz="2000" smtClean="0">
              <a:latin typeface="Times New Roman" pitchFamily="18" charset="0"/>
            </a:endParaRPr>
          </a:p>
          <a:p>
            <a:pPr algn="just">
              <a:defRPr/>
            </a:pPr>
            <a:r>
              <a:rPr lang="en-US" altLang="ko-KR" sz="2000" smtClean="0">
                <a:latin typeface="Times New Roman" pitchFamily="18" charset="0"/>
              </a:rPr>
              <a:t>switching offices; end </a:t>
            </a:r>
            <a:r>
              <a:rPr lang="en-US" altLang="ko-KR" sz="2000">
                <a:latin typeface="Times New Roman" pitchFamily="18" charset="0"/>
              </a:rPr>
              <a:t>offices, tandem offices, and regional offices</a:t>
            </a:r>
            <a:r>
              <a:rPr lang="en-US" altLang="ko-KR" sz="2000" smtClean="0">
                <a:latin typeface="Times New Roman" pitchFamily="18" charset="0"/>
              </a:rPr>
              <a:t>.</a:t>
            </a:r>
          </a:p>
          <a:p>
            <a:pPr algn="just">
              <a:defRPr/>
            </a:pPr>
            <a:endParaRPr lang="en-US" altLang="ko-KR" sz="200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</a:rPr>
              <a:t>Fig. 14.1 </a:t>
            </a:r>
            <a:r>
              <a:rPr lang="en-US" altLang="ko-KR" sz="2000" smtClean="0">
                <a:latin typeface="Times New Roman" pitchFamily="18" charset="0"/>
              </a:rPr>
              <a:t>A telephone system</a:t>
            </a:r>
            <a:endParaRPr lang="en-US" altLang="ko-KR" sz="2000">
              <a:latin typeface="Times New Roman" pitchFamily="18" charset="0"/>
            </a:endParaRPr>
          </a:p>
          <a:p>
            <a:pPr algn="just"/>
            <a:endParaRPr lang="en-US" altLang="ko-KR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altLang="ko-KR" b="1" i="1" smtClean="0">
              <a:latin typeface="Times-Roman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4075692"/>
            <a:ext cx="6272259" cy="18627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14.1  Telephone Network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47675"/>
            <a:ext cx="8429625" cy="61341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14.1.2 LATAs</a:t>
            </a:r>
            <a:endParaRPr lang="en-US" altLang="ko-KR" sz="24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r>
              <a:rPr lang="en-US" altLang="ko-KR" sz="2000">
                <a:latin typeface="Times New Roman" pitchFamily="18" charset="0"/>
              </a:rPr>
              <a:t>local-access transport areas (LATAs). </a:t>
            </a:r>
            <a:endParaRPr lang="en-US" altLang="ko-KR" sz="200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sz="2000" b="1" i="1" smtClean="0">
                <a:solidFill>
                  <a:srgbClr val="C00000"/>
                </a:solidFill>
                <a:latin typeface="+mj-lt"/>
              </a:rPr>
              <a:t>Fig. 14.2  </a:t>
            </a:r>
            <a:r>
              <a:rPr lang="en-US" altLang="ko-KR" sz="2000" smtClean="0">
                <a:latin typeface="+mj-lt"/>
              </a:rPr>
              <a:t>Switching </a:t>
            </a:r>
            <a:r>
              <a:rPr lang="en-US" altLang="ko-KR" sz="2000">
                <a:latin typeface="+mj-lt"/>
              </a:rPr>
              <a:t>offices in a LATA</a:t>
            </a:r>
          </a:p>
          <a:p>
            <a:pPr algn="just"/>
            <a:endParaRPr lang="en-US" altLang="ko-KR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altLang="ko-KR" b="1" i="1" smtClean="0">
              <a:latin typeface="Times-Roman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133600"/>
            <a:ext cx="7641738" cy="2219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5161940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14.1  Telephone Network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47675"/>
            <a:ext cx="8429625" cy="6134100"/>
          </a:xfrm>
        </p:spPr>
        <p:txBody>
          <a:bodyPr/>
          <a:lstStyle/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algn="just">
              <a:defRPr/>
            </a:pPr>
            <a:r>
              <a:rPr lang="en-US" altLang="ko-KR" sz="2000" smtClean="0">
                <a:latin typeface="Times New Roman" pitchFamily="18" charset="0"/>
              </a:rPr>
              <a:t>Point of Presence</a:t>
            </a:r>
          </a:p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>
              <a:latin typeface="Times New Roman" pitchFamily="18" charset="0"/>
            </a:endParaRPr>
          </a:p>
          <a:p>
            <a:pPr algn="just">
              <a:lnSpc>
                <a:spcPct val="150000"/>
              </a:lnSpc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sz="2000" b="1" i="1" smtClean="0">
                <a:solidFill>
                  <a:srgbClr val="C00000"/>
                </a:solidFill>
                <a:latin typeface="+mj-lt"/>
              </a:rPr>
              <a:t>Fig. 14.2  </a:t>
            </a:r>
            <a:r>
              <a:rPr lang="en-US" altLang="ko-KR" sz="2000">
                <a:latin typeface="+mj-lt"/>
              </a:rPr>
              <a:t>Points of presence (POPs)</a:t>
            </a:r>
          </a:p>
          <a:p>
            <a:pPr algn="just"/>
            <a:endParaRPr lang="en-US" altLang="ko-KR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altLang="ko-KR" b="1" i="1" smtClean="0">
              <a:latin typeface="Times-Roman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1265752"/>
            <a:ext cx="7686022" cy="4711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2193700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14.1  Telephone Network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47675"/>
            <a:ext cx="8429625" cy="61341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14.1.3 Signaling</a:t>
            </a:r>
            <a:endParaRPr lang="en-US" altLang="ko-KR" sz="24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r>
              <a:rPr lang="en-US" altLang="ko-KR" sz="2000" smtClean="0">
                <a:latin typeface="Times New Roman" pitchFamily="18" charset="0"/>
              </a:rPr>
              <a:t>operation to connect </a:t>
            </a:r>
            <a:r>
              <a:rPr lang="en-US" altLang="ko-KR" sz="2000">
                <a:latin typeface="Times New Roman" pitchFamily="18" charset="0"/>
              </a:rPr>
              <a:t>the two parties</a:t>
            </a:r>
            <a:endParaRPr lang="en-US" altLang="ko-KR" sz="2000" smtClean="0">
              <a:latin typeface="Times New Roman" pitchFamily="18" charset="0"/>
            </a:endParaRPr>
          </a:p>
          <a:p>
            <a:pPr algn="just">
              <a:defRPr/>
            </a:pPr>
            <a:r>
              <a:rPr lang="en-US" altLang="ko-KR" sz="2000" b="1" i="1" smtClean="0">
                <a:latin typeface="Times New Roman" pitchFamily="18" charset="0"/>
              </a:rPr>
              <a:t>in-band </a:t>
            </a:r>
            <a:r>
              <a:rPr lang="en-US" altLang="ko-KR" sz="2000" smtClean="0">
                <a:latin typeface="Times New Roman" pitchFamily="18" charset="0"/>
              </a:rPr>
              <a:t>and </a:t>
            </a:r>
            <a:r>
              <a:rPr lang="en-US" altLang="ko-KR" sz="2000" b="1" i="1" smtClean="0">
                <a:latin typeface="Times New Roman" pitchFamily="18" charset="0"/>
              </a:rPr>
              <a:t>out-of-band signaling</a:t>
            </a:r>
          </a:p>
          <a:p>
            <a:pPr algn="just">
              <a:defRPr/>
            </a:pPr>
            <a:endParaRPr lang="en-US" altLang="ko-KR" sz="200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</a:t>
            </a:r>
            <a:r>
              <a:rPr lang="en-US" altLang="ko-KR" sz="2000" b="1" i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14. </a:t>
            </a: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  </a:t>
            </a:r>
            <a:r>
              <a:rPr lang="en-US" altLang="ko-KR" sz="2000">
                <a:latin typeface="Times New Roman" pitchFamily="18" charset="0"/>
                <a:cs typeface="Times New Roman" pitchFamily="18" charset="0"/>
              </a:rPr>
              <a:t>Data transfer and signaling network</a:t>
            </a:r>
          </a:p>
          <a:p>
            <a:pPr algn="just"/>
            <a:endParaRPr lang="en-US" altLang="ko-KR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altLang="ko-KR" b="1" i="1" smtClean="0">
              <a:latin typeface="Times-Roman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75" y="2407157"/>
            <a:ext cx="6991936" cy="33554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6676268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14.1  Telephone Network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647699"/>
            <a:ext cx="8429625" cy="5934075"/>
          </a:xfrm>
        </p:spPr>
        <p:txBody>
          <a:bodyPr/>
          <a:lstStyle/>
          <a:p>
            <a:pPr algn="just">
              <a:defRPr/>
            </a:pPr>
            <a:r>
              <a:rPr lang="en-US" altLang="ko-KR" sz="2000" smtClean="0">
                <a:latin typeface="Times New Roman" pitchFamily="18" charset="0"/>
              </a:rPr>
              <a:t>Signaling system seven (SS7)</a:t>
            </a:r>
          </a:p>
          <a:p>
            <a:pPr algn="just">
              <a:defRPr/>
            </a:pPr>
            <a:endParaRPr lang="en-US" altLang="ko-KR" sz="200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14.5  </a:t>
            </a:r>
            <a:r>
              <a:rPr lang="en-US" altLang="ko-KR" sz="2000" smtClean="0">
                <a:latin typeface="Times New Roman" pitchFamily="18" charset="0"/>
                <a:cs typeface="Times New Roman" pitchFamily="18" charset="0"/>
              </a:rPr>
              <a:t>Layers in SS7</a:t>
            </a:r>
            <a:endParaRPr lang="en-US" altLang="ko-KR" sz="200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altLang="ko-KR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altLang="ko-KR" b="1" i="1" smtClean="0">
              <a:latin typeface="Times-Roman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585" y="1914525"/>
            <a:ext cx="4830509" cy="3775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4468970"/>
            <a:ext cx="3771900" cy="1220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9596161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14.1  Telephone Network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47675"/>
            <a:ext cx="8429625" cy="61341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14.1.4 Services</a:t>
            </a:r>
            <a:endParaRPr lang="en-US" altLang="ko-KR" sz="24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r>
              <a:rPr lang="en-US" altLang="ko-KR" sz="2000" smtClean="0">
                <a:latin typeface="Times New Roman" pitchFamily="18" charset="0"/>
              </a:rPr>
              <a:t>Analog Services</a:t>
            </a:r>
          </a:p>
          <a:p>
            <a:pPr algn="just">
              <a:defRPr/>
            </a:pPr>
            <a:r>
              <a:rPr lang="en-US" altLang="ko-KR" sz="2000" smtClean="0">
                <a:latin typeface="Times New Roman" pitchFamily="18" charset="0"/>
              </a:rPr>
              <a:t>Digital Services</a:t>
            </a:r>
          </a:p>
          <a:p>
            <a:pPr lvl="1" algn="just">
              <a:defRPr/>
            </a:pPr>
            <a:r>
              <a:rPr lang="en-US" altLang="ko-KR" sz="1800" smtClean="0">
                <a:latin typeface="Times New Roman" pitchFamily="18" charset="0"/>
              </a:rPr>
              <a:t>Switched/56</a:t>
            </a:r>
          </a:p>
          <a:p>
            <a:pPr lvl="1" algn="just">
              <a:defRPr/>
            </a:pPr>
            <a:r>
              <a:rPr lang="en-US" altLang="ko-KR" sz="1600" smtClean="0">
                <a:latin typeface="Times New Roman" pitchFamily="18" charset="0"/>
              </a:rPr>
              <a:t>Digital data service (DDS)</a:t>
            </a:r>
          </a:p>
          <a:p>
            <a:pPr lvl="1" algn="just">
              <a:defRPr/>
            </a:pPr>
            <a:endParaRPr lang="en-US" altLang="ko-KR" sz="1600" smtClean="0">
              <a:latin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14.1.5 Dial-Up Service</a:t>
            </a:r>
            <a:endParaRPr lang="en-US" altLang="ko-KR" sz="24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r>
              <a:rPr lang="en-US" altLang="ko-KR" sz="2000" smtClean="0">
                <a:latin typeface="Times New Roman" pitchFamily="18" charset="0"/>
              </a:rPr>
              <a:t>uses a modem</a:t>
            </a:r>
          </a:p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</a:t>
            </a:r>
            <a:r>
              <a:rPr lang="en-US" altLang="ko-KR" sz="2000" b="1" i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14. </a:t>
            </a: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6  </a:t>
            </a:r>
            <a:r>
              <a:rPr lang="en-US" altLang="ko-KR" sz="2000" smtClean="0">
                <a:latin typeface="Times New Roman" pitchFamily="18" charset="0"/>
                <a:cs typeface="Times New Roman" pitchFamily="18" charset="0"/>
              </a:rPr>
              <a:t>Telephone line bandwidth</a:t>
            </a:r>
            <a:endParaRPr lang="en-US" altLang="ko-KR" sz="200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altLang="ko-KR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altLang="ko-KR" b="1" i="1" smtClean="0">
              <a:latin typeface="Times-Roman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275" y="3906266"/>
            <a:ext cx="7107414" cy="2358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3656423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14.1  Telephone Network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47675"/>
            <a:ext cx="8429625" cy="6134100"/>
          </a:xfrm>
        </p:spPr>
        <p:txBody>
          <a:bodyPr/>
          <a:lstStyle/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14.7</a:t>
            </a:r>
            <a:r>
              <a:rPr lang="en-US" altLang="ko-KR" sz="2000" smtClean="0">
                <a:latin typeface="Times New Roman" pitchFamily="18" charset="0"/>
                <a:cs typeface="Times New Roman" pitchFamily="18" charset="0"/>
              </a:rPr>
              <a:t>  Modulation/demodulation</a:t>
            </a:r>
          </a:p>
          <a:p>
            <a:pPr marL="0" indent="0" algn="ctr">
              <a:buNone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</a:t>
            </a:r>
            <a:r>
              <a:rPr lang="en-US" altLang="ko-KR" sz="2000" b="1" i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14.8</a:t>
            </a:r>
            <a:r>
              <a:rPr lang="en-US" altLang="ko-KR" sz="2000" smtClean="0">
                <a:latin typeface="Times New Roman" pitchFamily="18" charset="0"/>
                <a:cs typeface="Times New Roman" pitchFamily="18" charset="0"/>
              </a:rPr>
              <a:t>  Dial-up network to provide Internet access</a:t>
            </a:r>
            <a:endParaRPr lang="en-US" altLang="ko-KR" b="1" i="1" smtClean="0">
              <a:latin typeface="Times-Roman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905" y="873280"/>
            <a:ext cx="7968433" cy="1399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011" y="3861192"/>
            <a:ext cx="8074789" cy="1434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675" y="3251888"/>
            <a:ext cx="6345238" cy="539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041" y="5346509"/>
            <a:ext cx="6393872" cy="530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109497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14.1  Telephone Network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47675"/>
            <a:ext cx="8429625" cy="61341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14.1.5 Digital Subscriber Line (DSL)</a:t>
            </a:r>
            <a:endParaRPr lang="en-US" altLang="ko-KR" sz="24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altLang="ko-KR" sz="2000">
                <a:latin typeface="Times New Roman" pitchFamily="18" charset="0"/>
              </a:rPr>
              <a:t>to provide higher-speed access to the Internet. </a:t>
            </a:r>
            <a:endParaRPr lang="en-US" altLang="ko-KR" sz="2000" smtClean="0">
              <a:latin typeface="Times New Roman" pitchFamily="18" charset="0"/>
            </a:endParaRPr>
          </a:p>
          <a:p>
            <a:pPr>
              <a:defRPr/>
            </a:pPr>
            <a:r>
              <a:rPr lang="en-US" altLang="ko-KR" sz="2000" smtClean="0">
                <a:latin typeface="Times New Roman" pitchFamily="18" charset="0"/>
              </a:rPr>
              <a:t>ADSL</a:t>
            </a:r>
            <a:r>
              <a:rPr lang="en-US" altLang="ko-KR" sz="2000">
                <a:latin typeface="Times New Roman" pitchFamily="18" charset="0"/>
              </a:rPr>
              <a:t>, VDSL, HDSL, and </a:t>
            </a:r>
            <a:r>
              <a:rPr lang="en-US" altLang="ko-KR" sz="2000" smtClean="0">
                <a:latin typeface="Times New Roman" pitchFamily="18" charset="0"/>
              </a:rPr>
              <a:t>SDS L (xDSL). </a:t>
            </a:r>
            <a:endParaRPr lang="en-US" altLang="ko-KR" sz="2000">
              <a:latin typeface="Times New Roman" pitchFamily="18" charset="0"/>
            </a:endParaRPr>
          </a:p>
          <a:p>
            <a:pPr algn="just">
              <a:defRPr/>
            </a:pPr>
            <a:r>
              <a:rPr lang="en-US" altLang="ko-KR" sz="2000" smtClean="0">
                <a:latin typeface="Times New Roman" pitchFamily="18" charset="0"/>
              </a:rPr>
              <a:t>ADSL</a:t>
            </a:r>
          </a:p>
          <a:p>
            <a:pPr lvl="1" algn="just">
              <a:defRPr/>
            </a:pPr>
            <a:r>
              <a:rPr lang="en-US" altLang="ko-KR" sz="1800" smtClean="0">
                <a:latin typeface="Times New Roman" pitchFamily="18" charset="0"/>
              </a:rPr>
              <a:t>1.1 MHz Bandwidth</a:t>
            </a:r>
          </a:p>
          <a:p>
            <a:pPr lvl="1" algn="just">
              <a:defRPr/>
            </a:pPr>
            <a:r>
              <a:rPr lang="en-US" altLang="ko-KR" sz="1800" smtClean="0">
                <a:latin typeface="Times New Roman" pitchFamily="18" charset="0"/>
              </a:rPr>
              <a:t>Upload 1.4 Mbps (500 kbps)</a:t>
            </a:r>
          </a:p>
          <a:p>
            <a:pPr lvl="1" algn="just">
              <a:defRPr/>
            </a:pPr>
            <a:r>
              <a:rPr lang="en-US" altLang="ko-KR" sz="1800" smtClean="0">
                <a:latin typeface="Times New Roman" pitchFamily="18" charset="0"/>
              </a:rPr>
              <a:t>Download 13.4 Mbps (8 Mbps)</a:t>
            </a:r>
          </a:p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</a:t>
            </a:r>
            <a:r>
              <a:rPr lang="en-US" altLang="ko-KR" sz="2000" b="1" i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14. </a:t>
            </a: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6  </a:t>
            </a:r>
            <a:r>
              <a:rPr lang="en-US" altLang="ko-KR" sz="2000" smtClean="0">
                <a:latin typeface="Times New Roman" pitchFamily="18" charset="0"/>
                <a:cs typeface="Times New Roman" pitchFamily="18" charset="0"/>
              </a:rPr>
              <a:t>Telephone line bandwidth</a:t>
            </a:r>
            <a:endParaRPr lang="en-US" altLang="ko-KR" sz="200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altLang="ko-KR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altLang="ko-KR" b="1" i="1" smtClean="0">
              <a:latin typeface="Times-Roman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864" y="3141435"/>
            <a:ext cx="7839075" cy="1762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0466" y="4913610"/>
            <a:ext cx="5685872" cy="1264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379414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14.2  Cable Network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47675"/>
            <a:ext cx="8429625" cy="61341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8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14.2 Cable Network</a:t>
            </a:r>
            <a:endParaRPr lang="en-US" altLang="ko-KR" sz="28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14.2.1 Traditional Cable Networks</a:t>
            </a:r>
            <a:endParaRPr lang="en-US" altLang="ko-KR" sz="24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r>
              <a:rPr lang="en-US" altLang="ko-KR" sz="2000">
                <a:latin typeface="Times New Roman" pitchFamily="18" charset="0"/>
              </a:rPr>
              <a:t>started to distribute broadcast video signals to locations with poor or no reception in the late 1940s</a:t>
            </a:r>
            <a:r>
              <a:rPr lang="en-US" altLang="ko-KR" sz="2000" smtClean="0">
                <a:latin typeface="Times New Roman" pitchFamily="18" charset="0"/>
              </a:rPr>
              <a:t> .</a:t>
            </a:r>
          </a:p>
          <a:p>
            <a:pPr algn="just">
              <a:defRPr/>
            </a:pPr>
            <a:r>
              <a:rPr lang="en-US" altLang="ko-KR" sz="2000">
                <a:latin typeface="Times New Roman" pitchFamily="18" charset="0"/>
              </a:rPr>
              <a:t>was called community antenna television (CATV</a:t>
            </a:r>
            <a:r>
              <a:rPr lang="en-US" altLang="ko-KR" sz="2000" smtClean="0">
                <a:latin typeface="Times New Roman" pitchFamily="18" charset="0"/>
              </a:rPr>
              <a:t>)</a:t>
            </a:r>
          </a:p>
          <a:p>
            <a:pPr algn="just">
              <a:defRPr/>
            </a:pPr>
            <a:endParaRPr lang="en-US" altLang="ko-KR" sz="200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</a:rPr>
              <a:t>Fig. 14.10  </a:t>
            </a:r>
            <a:r>
              <a:rPr lang="en-US" altLang="ko-KR" sz="2000" smtClean="0">
                <a:latin typeface="Times New Roman" pitchFamily="18" charset="0"/>
              </a:rPr>
              <a:t>Traditional cable TV network</a:t>
            </a:r>
            <a:endParaRPr lang="en-US" altLang="ko-KR" sz="2000">
              <a:latin typeface="Times New Roman" pitchFamily="18" charset="0"/>
            </a:endParaRPr>
          </a:p>
          <a:p>
            <a:pPr algn="just"/>
            <a:endParaRPr lang="en-US" altLang="ko-KR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altLang="ko-KR" b="1" i="1" smtClean="0">
              <a:latin typeface="Times-Roman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562" y="3343275"/>
            <a:ext cx="8402637" cy="254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672055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14.2  Cable Network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47675"/>
            <a:ext cx="8429625" cy="61341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14.2.2 HFC Networks</a:t>
            </a:r>
            <a:endParaRPr lang="en-US" altLang="ko-KR" sz="24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r>
              <a:rPr lang="en-US" altLang="ko-KR" sz="2000" b="1" i="1">
                <a:latin typeface="Times New Roman" pitchFamily="18" charset="0"/>
              </a:rPr>
              <a:t>hybrid fiber-coaxial </a:t>
            </a:r>
            <a:r>
              <a:rPr lang="en-US" altLang="ko-KR" sz="2000">
                <a:latin typeface="Times New Roman" pitchFamily="18" charset="0"/>
              </a:rPr>
              <a:t>(HFC) network. </a:t>
            </a:r>
            <a:endParaRPr lang="en-US" altLang="ko-KR" sz="2000" smtClean="0">
              <a:latin typeface="Times New Roman" pitchFamily="18" charset="0"/>
            </a:endParaRPr>
          </a:p>
          <a:p>
            <a:pPr algn="just">
              <a:defRPr/>
            </a:pPr>
            <a:r>
              <a:rPr lang="en-US" altLang="ko-KR" sz="2000" smtClean="0">
                <a:latin typeface="Times New Roman" pitchFamily="18" charset="0"/>
              </a:rPr>
              <a:t>uses </a:t>
            </a:r>
            <a:r>
              <a:rPr lang="en-US" altLang="ko-KR" sz="2000">
                <a:latin typeface="Times New Roman" pitchFamily="18" charset="0"/>
              </a:rPr>
              <a:t>a combination of </a:t>
            </a:r>
            <a:r>
              <a:rPr lang="en-US" altLang="ko-KR" sz="2000" b="1" i="1">
                <a:latin typeface="Times New Roman" pitchFamily="18" charset="0"/>
              </a:rPr>
              <a:t>fiber-optic</a:t>
            </a:r>
            <a:r>
              <a:rPr lang="en-US" altLang="ko-KR" sz="2000">
                <a:latin typeface="Times New Roman" pitchFamily="18" charset="0"/>
              </a:rPr>
              <a:t> and </a:t>
            </a:r>
            <a:r>
              <a:rPr lang="en-US" altLang="ko-KR" sz="2000" b="1" i="1">
                <a:latin typeface="Times New Roman" pitchFamily="18" charset="0"/>
              </a:rPr>
              <a:t>coaxial</a:t>
            </a:r>
            <a:r>
              <a:rPr lang="en-US" altLang="ko-KR" sz="2000">
                <a:latin typeface="Times New Roman" pitchFamily="18" charset="0"/>
              </a:rPr>
              <a:t> cable</a:t>
            </a:r>
            <a:r>
              <a:rPr lang="en-US" altLang="ko-KR" sz="2000" smtClean="0">
                <a:latin typeface="Times New Roman" pitchFamily="18" charset="0"/>
              </a:rPr>
              <a:t>.</a:t>
            </a:r>
          </a:p>
          <a:p>
            <a:pPr algn="just">
              <a:defRPr/>
            </a:pPr>
            <a:endParaRPr lang="en-US" altLang="ko-KR" sz="200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</a:rPr>
              <a:t>Fig. 14.11</a:t>
            </a:r>
            <a:r>
              <a:rPr lang="en-US" altLang="ko-KR" sz="2000" smtClean="0">
                <a:latin typeface="Times New Roman" pitchFamily="18" charset="0"/>
              </a:rPr>
              <a:t>   HFC network</a:t>
            </a:r>
            <a:endParaRPr lang="en-US" altLang="ko-KR" sz="2000">
              <a:latin typeface="Times New Roman" pitchFamily="18" charset="0"/>
            </a:endParaRPr>
          </a:p>
          <a:p>
            <a:pPr algn="just"/>
            <a:endParaRPr lang="en-US" altLang="ko-KR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altLang="ko-KR" b="1" i="1" smtClean="0">
              <a:latin typeface="Times-Roman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09800"/>
            <a:ext cx="8183563" cy="253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2598278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14.2  Cable Network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47675"/>
            <a:ext cx="8429625" cy="61341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14.2.3 Cable TV for Data Transfer</a:t>
            </a:r>
            <a:endParaRPr lang="en-US" altLang="ko-KR" sz="24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r>
              <a:rPr lang="en-US" altLang="ko-KR" sz="2000" smtClean="0">
                <a:latin typeface="Times New Roman" pitchFamily="18" charset="0"/>
              </a:rPr>
              <a:t>is</a:t>
            </a:r>
            <a:r>
              <a:rPr lang="ko-KR" altLang="en-US" sz="2000" smtClean="0">
                <a:latin typeface="Times New Roman" pitchFamily="18" charset="0"/>
              </a:rPr>
              <a:t> </a:t>
            </a:r>
            <a:r>
              <a:rPr lang="en-US" altLang="ko-KR" sz="2000" smtClean="0">
                <a:latin typeface="Times New Roman" pitchFamily="18" charset="0"/>
              </a:rPr>
              <a:t>competing with DSL(UTP)</a:t>
            </a:r>
          </a:p>
          <a:p>
            <a:pPr algn="just">
              <a:defRPr/>
            </a:pPr>
            <a:r>
              <a:rPr lang="en-US" altLang="ko-KR" sz="2000" smtClean="0">
                <a:latin typeface="Times New Roman" pitchFamily="18" charset="0"/>
              </a:rPr>
              <a:t>is coaxial  cable network</a:t>
            </a:r>
            <a:r>
              <a:rPr lang="en-US" altLang="ko-KR" sz="2000">
                <a:latin typeface="Times New Roman" pitchFamily="18" charset="0"/>
              </a:rPr>
              <a:t>. </a:t>
            </a:r>
            <a:endParaRPr lang="en-US" altLang="ko-KR" sz="200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</a:rPr>
              <a:t>Fig. 14.12</a:t>
            </a:r>
            <a:r>
              <a:rPr lang="en-US" altLang="ko-KR" sz="2000" smtClean="0">
                <a:latin typeface="Times New Roman" pitchFamily="18" charset="0"/>
              </a:rPr>
              <a:t>   Division of coaxial cable band by CATV</a:t>
            </a:r>
          </a:p>
          <a:p>
            <a:pPr marL="0" indent="0" algn="ctr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</a:rPr>
              <a:t>Fig</a:t>
            </a:r>
            <a:r>
              <a:rPr lang="en-US" altLang="ko-KR" sz="2000" b="1" i="1">
                <a:solidFill>
                  <a:srgbClr val="C00000"/>
                </a:solidFill>
                <a:latin typeface="Times New Roman" pitchFamily="18" charset="0"/>
              </a:rPr>
              <a:t>. </a:t>
            </a: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</a:rPr>
              <a:t>14.13</a:t>
            </a:r>
            <a:r>
              <a:rPr lang="en-US" altLang="ko-KR" sz="2000" smtClean="0">
                <a:latin typeface="Times New Roman" pitchFamily="18" charset="0"/>
              </a:rPr>
              <a:t>   Cable modem transmission system (CMTS)</a:t>
            </a:r>
          </a:p>
          <a:p>
            <a:pPr marL="0" indent="0" algn="ctr">
              <a:buNone/>
              <a:defRPr/>
            </a:pPr>
            <a:endParaRPr lang="en-US" altLang="ko-KR" sz="2000" smtClean="0">
              <a:latin typeface="Times New Roman" pitchFamily="18" charset="0"/>
            </a:endParaRPr>
          </a:p>
          <a:p>
            <a:pPr algn="just"/>
            <a:endParaRPr lang="en-US" altLang="ko-KR" b="1" i="1" smtClean="0">
              <a:latin typeface="Times-Roman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052918"/>
            <a:ext cx="8234362" cy="1210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025" y="4054475"/>
            <a:ext cx="8240712" cy="216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571148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14.3 SONET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47675"/>
            <a:ext cx="8429625" cy="61341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8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14.3 SONET</a:t>
            </a:r>
          </a:p>
          <a:p>
            <a:pPr algn="just">
              <a:defRPr/>
            </a:pPr>
            <a:r>
              <a:rPr lang="en-US" altLang="ko-KR" sz="2000" smtClean="0">
                <a:latin typeface="Times New Roman" pitchFamily="18" charset="0"/>
              </a:rPr>
              <a:t>is used in wide area network (WAN</a:t>
            </a:r>
            <a:r>
              <a:rPr lang="en-US" altLang="ko-KR" sz="2000" smtClean="0">
                <a:latin typeface="Times New Roman" pitchFamily="18" charset="0"/>
              </a:rPr>
              <a:t>)</a:t>
            </a:r>
          </a:p>
          <a:p>
            <a:pPr algn="just">
              <a:defRPr/>
            </a:pPr>
            <a:r>
              <a:rPr lang="en-US" altLang="ko-KR" sz="2000" smtClean="0">
                <a:latin typeface="Times New Roman" pitchFamily="18" charset="0"/>
              </a:rPr>
              <a:t>Synchronous Otical Network(ANSI), Synchronous Digital Hierarchy(ITU-T)</a:t>
            </a:r>
            <a:endParaRPr lang="en-US" altLang="ko-KR" sz="2000" smtClean="0">
              <a:latin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14.3.1 Architecture</a:t>
            </a:r>
            <a:endParaRPr lang="en-US" altLang="ko-KR" sz="24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  <a:defRPr/>
            </a:pP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</a:rPr>
              <a:t>Table  14.1  </a:t>
            </a:r>
            <a:r>
              <a:rPr lang="en-US" altLang="ko-KR" sz="2000" smtClean="0">
                <a:latin typeface="Times New Roman" pitchFamily="18" charset="0"/>
              </a:rPr>
              <a:t>SONET rates</a:t>
            </a:r>
            <a:endParaRPr lang="en-US" altLang="ko-KR" sz="2000">
              <a:latin typeface="Times New Roman" pitchFamily="18" charset="0"/>
            </a:endParaRPr>
          </a:p>
          <a:p>
            <a:pPr algn="just"/>
            <a:endParaRPr lang="en-US" altLang="ko-KR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altLang="ko-KR" b="1" i="1" smtClean="0">
              <a:latin typeface="Times-Roman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091" y="2518754"/>
            <a:ext cx="6753225" cy="4077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0026452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14.3 SONET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47675"/>
            <a:ext cx="8429625" cy="6134100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sz="2000" b="1" i="1" smtClean="0">
                <a:solidFill>
                  <a:srgbClr val="C00000"/>
                </a:solidFill>
                <a:latin typeface="Times New Roman" pitchFamily="18" charset="0"/>
              </a:rPr>
              <a:t>Fig. 14.14  </a:t>
            </a:r>
            <a:r>
              <a:rPr lang="en-US" altLang="ko-KR" sz="2000" smtClean="0">
                <a:latin typeface="Times New Roman" pitchFamily="18" charset="0"/>
              </a:rPr>
              <a:t>A simple network using SONET equipment</a:t>
            </a:r>
            <a:endParaRPr lang="en-US" altLang="ko-KR" sz="2000">
              <a:latin typeface="Times New Roman" pitchFamily="18" charset="0"/>
            </a:endParaRPr>
          </a:p>
          <a:p>
            <a:pPr algn="just"/>
            <a:endParaRPr lang="en-US" altLang="ko-KR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altLang="ko-KR" b="1" i="1" smtClean="0">
              <a:latin typeface="Times-Roman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2466975"/>
            <a:ext cx="8170863" cy="172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38" y="971550"/>
            <a:ext cx="6791325" cy="909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700" y="4448175"/>
            <a:ext cx="5786438" cy="1293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415761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14.3 SONET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215106" y="647700"/>
            <a:ext cx="8636000" cy="59055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14.3.2 SONET Layers</a:t>
            </a: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i="1" smtClean="0">
                <a:solidFill>
                  <a:srgbClr val="C00000"/>
                </a:solidFill>
                <a:latin typeface="Times New Roman" pitchFamily="18" charset="0"/>
              </a:rPr>
              <a:t>Fig. 14.15  </a:t>
            </a:r>
            <a:r>
              <a:rPr lang="en-US" altLang="ko-KR" smtClean="0">
                <a:latin typeface="Times New Roman" pitchFamily="18" charset="0"/>
              </a:rPr>
              <a:t>SONET layers compared with OSI or the Internet layers</a:t>
            </a:r>
            <a:endParaRPr lang="en-US" altLang="ko-KR">
              <a:latin typeface="Times New Roman" pitchFamily="18" charset="0"/>
            </a:endParaRPr>
          </a:p>
          <a:p>
            <a:pPr algn="just"/>
            <a:endParaRPr lang="en-US" altLang="ko-KR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altLang="ko-KR" b="1" i="1" smtClean="0">
              <a:latin typeface="Times-Roman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0" y="1798638"/>
            <a:ext cx="5954713" cy="2163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0" y="4237038"/>
            <a:ext cx="5954713" cy="1096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3344356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14.3 SONET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180976" y="676275"/>
            <a:ext cx="8636000" cy="5905500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i="1" smtClean="0">
                <a:solidFill>
                  <a:srgbClr val="C00000"/>
                </a:solidFill>
                <a:latin typeface="Times New Roman" pitchFamily="18" charset="0"/>
              </a:rPr>
              <a:t>Fig. 14.16  </a:t>
            </a:r>
            <a:r>
              <a:rPr lang="en-US" altLang="ko-KR" smtClean="0">
                <a:latin typeface="Times New Roman" pitchFamily="18" charset="0"/>
              </a:rPr>
              <a:t>Device-Layer relationship in SONET</a:t>
            </a:r>
            <a:endParaRPr lang="en-US" altLang="ko-KR" b="1" i="1" smtClean="0">
              <a:latin typeface="Times-Roman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5" y="981077"/>
            <a:ext cx="7499365" cy="2295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169" y="3657600"/>
            <a:ext cx="7362077" cy="2055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7943440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14.3 SONET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180976" y="676275"/>
            <a:ext cx="8636000" cy="59055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14.3.3 SONET Frames</a:t>
            </a: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i="1" smtClean="0">
                <a:solidFill>
                  <a:srgbClr val="C00000"/>
                </a:solidFill>
                <a:latin typeface="Times New Roman" pitchFamily="18" charset="0"/>
              </a:rPr>
              <a:t>Fig. 14.17  </a:t>
            </a:r>
            <a:r>
              <a:rPr lang="en-US" altLang="ko-KR" smtClean="0">
                <a:latin typeface="Times New Roman" pitchFamily="18" charset="0"/>
              </a:rPr>
              <a:t>STS-1 and STS-</a:t>
            </a:r>
            <a:r>
              <a:rPr lang="en-US" altLang="ko-KR" i="1" smtClean="0">
                <a:latin typeface="Times New Roman" pitchFamily="18" charset="0"/>
              </a:rPr>
              <a:t>n</a:t>
            </a:r>
            <a:r>
              <a:rPr lang="en-US" altLang="ko-KR" smtClean="0">
                <a:latin typeface="Times New Roman" pitchFamily="18" charset="0"/>
              </a:rPr>
              <a:t> frames</a:t>
            </a:r>
            <a:endParaRPr lang="en-US" altLang="ko-KR">
              <a:latin typeface="Times New Roman" pitchFamily="18" charset="0"/>
            </a:endParaRPr>
          </a:p>
          <a:p>
            <a:pPr algn="just"/>
            <a:endParaRPr lang="en-US" altLang="ko-KR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altLang="ko-KR" b="1" i="1" smtClean="0">
              <a:latin typeface="Times-Roman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1462033"/>
            <a:ext cx="3952875" cy="2149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125" y="3757530"/>
            <a:ext cx="6545638" cy="2149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8819148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14.3 SONET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285751" y="571500"/>
            <a:ext cx="8636000" cy="5905500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i="1" smtClean="0">
                <a:solidFill>
                  <a:srgbClr val="C00000"/>
                </a:solidFill>
                <a:latin typeface="Times New Roman" pitchFamily="18" charset="0"/>
              </a:rPr>
              <a:t>Fig. 14.18  </a:t>
            </a:r>
            <a:r>
              <a:rPr lang="en-US" altLang="ko-KR" smtClean="0">
                <a:latin typeface="Times New Roman" pitchFamily="18" charset="0"/>
              </a:rPr>
              <a:t>STS frames in transition</a:t>
            </a:r>
            <a:endParaRPr lang="en-US" altLang="ko-KR">
              <a:latin typeface="Times New Roman" pitchFamily="18" charset="0"/>
            </a:endParaRPr>
          </a:p>
          <a:p>
            <a:pPr algn="just"/>
            <a:endParaRPr lang="en-US" altLang="ko-KR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altLang="ko-KR" b="1" i="1" smtClean="0">
              <a:latin typeface="Times-Roman"/>
            </a:endParaRP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6100" y="823957"/>
            <a:ext cx="3368675" cy="2157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3778" y="3589025"/>
            <a:ext cx="5042697" cy="244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2914963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Homework</a:t>
            </a:r>
            <a:endParaRPr lang="en-US" altLang="ko-KR" sz="24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619125"/>
            <a:ext cx="8429625" cy="5953125"/>
          </a:xfrm>
        </p:spPr>
        <p:txBody>
          <a:bodyPr/>
          <a:lstStyle/>
          <a:p>
            <a:pPr marL="457200" indent="-457200" eaLnBrk="1" hangingPunct="1">
              <a:buFontTx/>
              <a:buNone/>
            </a:pPr>
            <a:r>
              <a:rPr lang="en-US" altLang="ko-KR" b="1" smtClean="0">
                <a:solidFill>
                  <a:srgbClr val="C00000"/>
                </a:solidFill>
                <a:latin typeface="Times New Roman" pitchFamily="18" charset="0"/>
              </a:rPr>
              <a:t>Ex. 14.1</a:t>
            </a:r>
          </a:p>
          <a:p>
            <a:pPr marL="457200" indent="-457200" eaLnBrk="1" hangingPunct="1">
              <a:buNone/>
            </a:pPr>
            <a:r>
              <a:rPr lang="en-US" altLang="ko-KR" b="1" smtClean="0">
                <a:solidFill>
                  <a:srgbClr val="C00000"/>
                </a:solidFill>
                <a:latin typeface="Times New Roman" pitchFamily="18" charset="0"/>
              </a:rPr>
              <a:t> 	</a:t>
            </a:r>
            <a:r>
              <a:rPr lang="en-US" altLang="ko-KR">
                <a:latin typeface="Times New Roman" pitchFamily="18" charset="0"/>
                <a:cs typeface="Times New Roman" pitchFamily="18" charset="0"/>
              </a:rPr>
              <a:t>Find the data rate of an STS-1 signal.</a:t>
            </a:r>
          </a:p>
          <a:p>
            <a:pPr marL="457200" indent="-457200" eaLnBrk="1" hangingPunct="1">
              <a:buFontTx/>
              <a:buNone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457200" indent="-457200" eaLnBrk="1" hangingPunct="1">
              <a:buFontTx/>
              <a:buNone/>
            </a:pPr>
            <a:endParaRPr lang="en-US" altLang="ko-KR" b="1">
              <a:solidFill>
                <a:srgbClr val="C00000"/>
              </a:solidFill>
              <a:latin typeface="Times New Roman" pitchFamily="18" charset="0"/>
            </a:endParaRPr>
          </a:p>
          <a:p>
            <a:pPr marL="457200" indent="-457200" eaLnBrk="1" hangingPunct="1">
              <a:buFontTx/>
              <a:buNone/>
            </a:pPr>
            <a:r>
              <a:rPr lang="en-US" altLang="ko-KR" b="1">
                <a:solidFill>
                  <a:srgbClr val="C00000"/>
                </a:solidFill>
                <a:latin typeface="Times New Roman" pitchFamily="18" charset="0"/>
              </a:rPr>
              <a:t>Ex. </a:t>
            </a:r>
            <a:r>
              <a:rPr lang="en-US" altLang="ko-KR" b="1" smtClean="0">
                <a:solidFill>
                  <a:srgbClr val="C00000"/>
                </a:solidFill>
                <a:latin typeface="Times New Roman" pitchFamily="18" charset="0"/>
              </a:rPr>
              <a:t>14.2</a:t>
            </a:r>
            <a:endParaRPr lang="en-US" altLang="ko-KR" b="1">
              <a:solidFill>
                <a:srgbClr val="C00000"/>
              </a:solidFill>
              <a:latin typeface="Times New Roman" pitchFamily="18" charset="0"/>
            </a:endParaRPr>
          </a:p>
          <a:p>
            <a:pPr marL="457200" indent="-457200" eaLnBrk="1" hangingPunct="1">
              <a:buNone/>
            </a:pPr>
            <a:r>
              <a:rPr lang="en-US" altLang="ko-KR" b="1">
                <a:solidFill>
                  <a:srgbClr val="C00000"/>
                </a:solidFill>
                <a:latin typeface="Times New Roman" pitchFamily="18" charset="0"/>
              </a:rPr>
              <a:t> 	</a:t>
            </a:r>
            <a:r>
              <a:rPr lang="en-US" altLang="ko-KR">
                <a:latin typeface="Times New Roman" pitchFamily="18" charset="0"/>
                <a:cs typeface="Times New Roman" pitchFamily="18" charset="0"/>
              </a:rPr>
              <a:t>Find the data rate of an STS-1 signal.</a:t>
            </a:r>
          </a:p>
          <a:p>
            <a:pPr marL="457200" indent="-457200" eaLnBrk="1" hangingPunct="1">
              <a:buFontTx/>
              <a:buNone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457200" indent="-457200" eaLnBrk="1" hangingPunct="1">
              <a:buFontTx/>
              <a:buNone/>
            </a:pPr>
            <a:endParaRPr lang="en-US" altLang="ko-KR" b="1">
              <a:solidFill>
                <a:srgbClr val="C00000"/>
              </a:solidFill>
              <a:latin typeface="Times New Roman" pitchFamily="18" charset="0"/>
            </a:endParaRPr>
          </a:p>
          <a:p>
            <a:pPr marL="457200" indent="-457200" eaLnBrk="1" hangingPunct="1">
              <a:buFontTx/>
              <a:buNone/>
            </a:pPr>
            <a:r>
              <a:rPr lang="en-US" altLang="ko-KR" b="1">
                <a:solidFill>
                  <a:srgbClr val="C00000"/>
                </a:solidFill>
                <a:latin typeface="Times New Roman" pitchFamily="18" charset="0"/>
              </a:rPr>
              <a:t>Ex. </a:t>
            </a:r>
            <a:r>
              <a:rPr lang="en-US" altLang="ko-KR" b="1" smtClean="0">
                <a:solidFill>
                  <a:srgbClr val="C00000"/>
                </a:solidFill>
                <a:latin typeface="Times New Roman" pitchFamily="18" charset="0"/>
              </a:rPr>
              <a:t>14.3</a:t>
            </a:r>
            <a:endParaRPr lang="en-US" altLang="ko-KR" b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ko-KR">
                <a:latin typeface="Times New Roman" pitchFamily="18" charset="0"/>
              </a:rPr>
              <a:t> </a:t>
            </a:r>
            <a:r>
              <a:rPr lang="en-US" altLang="ko-KR" smtClean="0">
                <a:latin typeface="Times New Roman" pitchFamily="18" charset="0"/>
              </a:rPr>
              <a:t>      </a:t>
            </a:r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What </a:t>
            </a:r>
            <a:r>
              <a:rPr lang="en-US" altLang="ko-KR">
                <a:latin typeface="Times New Roman" pitchFamily="18" charset="0"/>
                <a:cs typeface="Times New Roman" pitchFamily="18" charset="0"/>
              </a:rPr>
              <a:t>is the duration of an STS-1 frame? STS-3 frame? </a:t>
            </a:r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STS-n</a:t>
            </a:r>
            <a:br>
              <a:rPr lang="en-US" altLang="ko-KR" smtClean="0">
                <a:latin typeface="Times New Roman" pitchFamily="18" charset="0"/>
                <a:cs typeface="Times New Roman" pitchFamily="18" charset="0"/>
              </a:rPr>
            </a:br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altLang="ko-KR">
                <a:latin typeface="Times New Roman" pitchFamily="18" charset="0"/>
                <a:cs typeface="Times New Roman" pitchFamily="18" charset="0"/>
              </a:rPr>
              <a:t>frame</a:t>
            </a:r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pPr marL="0" indent="0" algn="just">
              <a:buNone/>
            </a:pPr>
            <a:r>
              <a:rPr lang="en-US" altLang="ko-KR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b="1" i="1" smtClean="0">
                <a:latin typeface="Times New Roman" pitchFamily="18" charset="0"/>
                <a:cs typeface="Times New Roman" pitchFamily="18" charset="0"/>
              </a:rPr>
              <a:t>       In </a:t>
            </a:r>
            <a:r>
              <a:rPr lang="en-US" altLang="ko-KR" b="1" i="1">
                <a:latin typeface="Times New Roman" pitchFamily="18" charset="0"/>
                <a:cs typeface="Times New Roman" pitchFamily="18" charset="0"/>
              </a:rPr>
              <a:t>SONET</a:t>
            </a:r>
            <a:r>
              <a:rPr lang="en-US" altLang="ko-KR">
                <a:latin typeface="Times New Roman" pitchFamily="18" charset="0"/>
                <a:cs typeface="Times New Roman" pitchFamily="18" charset="0"/>
              </a:rPr>
              <a:t>, 8000 frames are sent per second. This means </a:t>
            </a:r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that</a:t>
            </a:r>
            <a:br>
              <a:rPr lang="en-US" altLang="ko-KR" smtClean="0">
                <a:latin typeface="Times New Roman" pitchFamily="18" charset="0"/>
                <a:cs typeface="Times New Roman" pitchFamily="18" charset="0"/>
              </a:rPr>
            </a:br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altLang="ko-KR">
                <a:latin typeface="Times New Roman" pitchFamily="18" charset="0"/>
                <a:cs typeface="Times New Roman" pitchFamily="18" charset="0"/>
              </a:rPr>
              <a:t>the duration of an STS-1, STS-3, or STS-n frame is the </a:t>
            </a:r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same</a:t>
            </a:r>
            <a:br>
              <a:rPr lang="en-US" altLang="ko-KR" smtClean="0">
                <a:latin typeface="Times New Roman" pitchFamily="18" charset="0"/>
                <a:cs typeface="Times New Roman" pitchFamily="18" charset="0"/>
              </a:rPr>
            </a:br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        and </a:t>
            </a:r>
            <a:r>
              <a:rPr lang="en-US" altLang="ko-KR">
                <a:latin typeface="Times New Roman" pitchFamily="18" charset="0"/>
                <a:cs typeface="Times New Roman" pitchFamily="18" charset="0"/>
              </a:rPr>
              <a:t>equal to 1/8000 s, or 125 μs.</a:t>
            </a:r>
          </a:p>
          <a:p>
            <a:pPr marL="0" indent="0" algn="just">
              <a:buNone/>
            </a:pP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75" y="1617166"/>
            <a:ext cx="7753350" cy="754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450" y="3360645"/>
            <a:ext cx="7619998" cy="8964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116052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14.3 SONET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180976" y="676275"/>
            <a:ext cx="8636000" cy="59055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STS-1 Frame Format</a:t>
            </a: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i="1" smtClean="0">
                <a:solidFill>
                  <a:srgbClr val="C00000"/>
                </a:solidFill>
                <a:latin typeface="Times New Roman" pitchFamily="18" charset="0"/>
              </a:rPr>
              <a:t>Fig. 14.19  </a:t>
            </a:r>
            <a:r>
              <a:rPr lang="en-US" altLang="ko-KR" smtClean="0">
                <a:latin typeface="Times New Roman" pitchFamily="18" charset="0"/>
              </a:rPr>
              <a:t>STS-1 frames overheads</a:t>
            </a:r>
            <a:endParaRPr lang="en-US" altLang="ko-KR">
              <a:latin typeface="Times New Roman" pitchFamily="18" charset="0"/>
            </a:endParaRPr>
          </a:p>
          <a:p>
            <a:pPr algn="just"/>
            <a:endParaRPr lang="en-US" altLang="ko-KR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altLang="ko-KR" b="1" i="1" smtClean="0">
              <a:latin typeface="Times-Roman"/>
            </a:endParaRP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4051300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464" y="2143125"/>
            <a:ext cx="7688136" cy="35885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3761181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14.3 SONET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180976" y="676275"/>
            <a:ext cx="8636000" cy="59055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STS-1 Frame: section overhead</a:t>
            </a: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i="1" smtClean="0">
                <a:solidFill>
                  <a:srgbClr val="C00000"/>
                </a:solidFill>
                <a:latin typeface="Times New Roman" pitchFamily="18" charset="0"/>
              </a:rPr>
              <a:t>Fig. 14.20  </a:t>
            </a:r>
            <a:r>
              <a:rPr lang="en-US" altLang="ko-KR" smtClean="0">
                <a:latin typeface="Times New Roman" pitchFamily="18" charset="0"/>
              </a:rPr>
              <a:t>STS-1 frame: section overheads</a:t>
            </a:r>
            <a:endParaRPr lang="en-US" altLang="ko-KR">
              <a:latin typeface="Times New Roman" pitchFamily="18" charset="0"/>
            </a:endParaRPr>
          </a:p>
          <a:p>
            <a:pPr algn="just"/>
            <a:endParaRPr lang="en-US" altLang="ko-KR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altLang="ko-KR" b="1" i="1" smtClean="0">
              <a:latin typeface="Times-Roman"/>
            </a:endParaRP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4051300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150" y="1905441"/>
            <a:ext cx="5817950" cy="1981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4896" y="4051300"/>
            <a:ext cx="2417007" cy="1719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8305013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14.3 SONET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152401" y="657225"/>
            <a:ext cx="8636000" cy="59055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STS-1 Frame: line overhead</a:t>
            </a: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i="1" smtClean="0">
                <a:solidFill>
                  <a:srgbClr val="C00000"/>
                </a:solidFill>
                <a:latin typeface="Times New Roman" pitchFamily="18" charset="0"/>
              </a:rPr>
              <a:t>Fig. 14.21  </a:t>
            </a:r>
            <a:r>
              <a:rPr lang="en-US" altLang="ko-KR" smtClean="0">
                <a:latin typeface="Times New Roman" pitchFamily="18" charset="0"/>
              </a:rPr>
              <a:t>STS-1 frame: line overheads</a:t>
            </a:r>
            <a:endParaRPr lang="en-US" altLang="ko-KR">
              <a:latin typeface="Times New Roman" pitchFamily="18" charset="0"/>
            </a:endParaRPr>
          </a:p>
          <a:p>
            <a:pPr algn="just"/>
            <a:endParaRPr lang="en-US" altLang="ko-KR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altLang="ko-KR" b="1" i="1" smtClean="0">
              <a:latin typeface="Times-Roman"/>
            </a:endParaRP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4051300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4571999" y="3432174"/>
            <a:ext cx="457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3186" y="1803146"/>
            <a:ext cx="5325264" cy="2959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5275" y="4117973"/>
            <a:ext cx="4177770" cy="15639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508627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14.3 SONET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90525" y="647700"/>
            <a:ext cx="8340726" cy="59055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STS-1 Frame: path overhead</a:t>
            </a: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i="1" smtClean="0">
                <a:solidFill>
                  <a:srgbClr val="C00000"/>
                </a:solidFill>
                <a:latin typeface="Times New Roman" pitchFamily="18" charset="0"/>
              </a:rPr>
              <a:t>Fig. 14.22  </a:t>
            </a:r>
            <a:r>
              <a:rPr lang="en-US" altLang="ko-KR" smtClean="0">
                <a:latin typeface="Times New Roman" pitchFamily="18" charset="0"/>
              </a:rPr>
              <a:t>STS-1 frame: path overheads</a:t>
            </a:r>
            <a:endParaRPr lang="en-US" altLang="ko-KR">
              <a:latin typeface="Times New Roman" pitchFamily="18" charset="0"/>
            </a:endParaRPr>
          </a:p>
          <a:p>
            <a:pPr algn="just"/>
            <a:endParaRPr lang="en-US" altLang="ko-KR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altLang="ko-KR" b="1" i="1" smtClean="0">
              <a:latin typeface="Times-Roman"/>
            </a:endParaRP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4051300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980" y="1562656"/>
            <a:ext cx="3480471" cy="4419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0482" y="2655441"/>
            <a:ext cx="3406331" cy="23261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735435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14.3 SONET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180976" y="676275"/>
            <a:ext cx="8636000" cy="59055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Overhead summary</a:t>
            </a:r>
          </a:p>
          <a:p>
            <a:pPr marL="0" indent="0">
              <a:buNone/>
              <a:defRPr/>
            </a:pPr>
            <a:r>
              <a:rPr lang="en-US" altLang="ko-KR" smtClean="0">
                <a:solidFill>
                  <a:srgbClr val="C00000"/>
                </a:solidFill>
                <a:latin typeface="Times New Roman" pitchFamily="18" charset="0"/>
              </a:rPr>
              <a:t>Table 14.2  </a:t>
            </a:r>
            <a:r>
              <a:rPr lang="en-US" altLang="ko-KR" i="1" smtClean="0">
                <a:latin typeface="Times New Roman" pitchFamily="18" charset="0"/>
              </a:rPr>
              <a:t>SONETs overhead</a:t>
            </a:r>
            <a:endParaRPr lang="en-US" altLang="ko-KR" i="1">
              <a:latin typeface="Times New Roman" pitchFamily="18" charset="0"/>
            </a:endParaRPr>
          </a:p>
          <a:p>
            <a:pPr algn="just"/>
            <a:endParaRPr lang="en-US" altLang="ko-KR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altLang="ko-KR" b="1" i="1" smtClean="0">
              <a:latin typeface="Times-Roman"/>
            </a:endParaRP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4051300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035" y="1826260"/>
            <a:ext cx="8016240" cy="445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8879934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Homework</a:t>
            </a:r>
            <a:endParaRPr lang="en-US" altLang="ko-KR" sz="24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619125"/>
            <a:ext cx="8429625" cy="5953125"/>
          </a:xfrm>
        </p:spPr>
        <p:txBody>
          <a:bodyPr/>
          <a:lstStyle/>
          <a:p>
            <a:pPr marL="457200" indent="-457200" eaLnBrk="1" hangingPunct="1">
              <a:buFontTx/>
              <a:buNone/>
            </a:pPr>
            <a:r>
              <a:rPr lang="en-US" altLang="ko-KR" b="1" smtClean="0">
                <a:solidFill>
                  <a:srgbClr val="C00000"/>
                </a:solidFill>
                <a:latin typeface="Times New Roman" pitchFamily="18" charset="0"/>
              </a:rPr>
              <a:t>Ex. 14.4</a:t>
            </a:r>
          </a:p>
          <a:p>
            <a:pPr marL="457200" indent="-457200" eaLnBrk="1" hangingPunct="1">
              <a:buNone/>
            </a:pPr>
            <a:r>
              <a:rPr lang="en-US" altLang="ko-KR" b="1" smtClean="0">
                <a:solidFill>
                  <a:srgbClr val="C00000"/>
                </a:solidFill>
                <a:latin typeface="Times New Roman" pitchFamily="18" charset="0"/>
              </a:rPr>
              <a:t> 	</a:t>
            </a:r>
            <a:r>
              <a:rPr lang="en-US" altLang="ko-KR">
                <a:latin typeface="Times New Roman" pitchFamily="18" charset="0"/>
                <a:cs typeface="Times New Roman" pitchFamily="18" charset="0"/>
              </a:rPr>
              <a:t>Find the data rate of an STS-1 signal</a:t>
            </a:r>
            <a:r>
              <a:rPr lang="en-US" altLang="ko-KR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altLang="ko-KR">
                <a:latin typeface="Times New Roman" pitchFamily="18" charset="0"/>
                <a:cs typeface="Times New Roman" pitchFamily="18" charset="0"/>
              </a:rPr>
              <a:t>(without considering the overheads)?</a:t>
            </a:r>
          </a:p>
          <a:p>
            <a:pPr marL="457200" indent="-457200" eaLnBrk="1" hangingPunct="1">
              <a:buNone/>
            </a:pPr>
            <a:endParaRPr lang="en-US" altLang="ko-KR">
              <a:latin typeface="Times New Roman" pitchFamily="18" charset="0"/>
              <a:cs typeface="Times New Roman" pitchFamily="18" charset="0"/>
            </a:endParaRPr>
          </a:p>
          <a:p>
            <a:pPr marL="457200" indent="-457200" eaLnBrk="1" hangingPunct="1">
              <a:buFontTx/>
              <a:buNone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450" y="1831480"/>
            <a:ext cx="7905750" cy="787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602236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14.3 SONET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180976" y="676275"/>
            <a:ext cx="8636000" cy="59055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Encapsulation</a:t>
            </a: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smtClean="0">
                <a:solidFill>
                  <a:srgbClr val="C00000"/>
                </a:solidFill>
                <a:latin typeface="Times New Roman" pitchFamily="18" charset="0"/>
              </a:rPr>
              <a:t>Fig. 14.23  </a:t>
            </a:r>
            <a:r>
              <a:rPr lang="en-US" altLang="ko-KR" i="1" smtClean="0">
                <a:latin typeface="Times New Roman" pitchFamily="18" charset="0"/>
              </a:rPr>
              <a:t>Offsetting of SPE related to frame boundary</a:t>
            </a:r>
            <a:endParaRPr lang="en-US" altLang="ko-KR" i="1" smtClean="0">
              <a:latin typeface="Times-Roman"/>
            </a:endParaRP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4051300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432175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2643" y="975314"/>
            <a:ext cx="4938713" cy="4994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7279357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14.3 SONET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180976" y="676275"/>
            <a:ext cx="8636000" cy="5905500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smtClean="0">
                <a:solidFill>
                  <a:srgbClr val="C00000"/>
                </a:solidFill>
                <a:latin typeface="Times New Roman" pitchFamily="18" charset="0"/>
              </a:rPr>
              <a:t>Fig. 14.24  </a:t>
            </a:r>
            <a:r>
              <a:rPr lang="en-US" altLang="ko-KR" i="1" smtClean="0">
                <a:latin typeface="Times New Roman" pitchFamily="18" charset="0"/>
              </a:rPr>
              <a:t>The use of H1 and H2 to show the start of SPE</a:t>
            </a:r>
          </a:p>
          <a:p>
            <a:pPr marL="0" indent="0" algn="ctr">
              <a:buNone/>
              <a:defRPr/>
            </a:pPr>
            <a:endParaRPr lang="en-US" altLang="ko-KR" i="1">
              <a:latin typeface="Times New Roman" pitchFamily="18" charset="0"/>
            </a:endParaRPr>
          </a:p>
          <a:p>
            <a:pPr marL="0" indent="0" algn="just">
              <a:buNone/>
            </a:pPr>
            <a:r>
              <a:rPr lang="en-US" altLang="ko-KR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Ex. 14.5 </a:t>
            </a:r>
          </a:p>
          <a:p>
            <a:pPr marL="0" indent="0" algn="just">
              <a:buNone/>
            </a:pPr>
            <a:r>
              <a:rPr lang="en-US" altLang="ko-KR" sz="2000" smtClean="0">
                <a:latin typeface="Times New Roman" pitchFamily="18" charset="0"/>
                <a:cs typeface="Times New Roman" pitchFamily="18" charset="0"/>
              </a:rPr>
              <a:t>     What </a:t>
            </a:r>
            <a:r>
              <a:rPr lang="en-US" altLang="ko-KR" sz="2000">
                <a:latin typeface="Times New Roman" pitchFamily="18" charset="0"/>
                <a:cs typeface="Times New Roman" pitchFamily="18" charset="0"/>
              </a:rPr>
              <a:t>are the values of H1 and H2 if an SPE starts at byte number 650?</a:t>
            </a:r>
          </a:p>
          <a:p>
            <a:pPr marL="0" indent="0">
              <a:buNone/>
            </a:pPr>
            <a:r>
              <a:rPr lang="en-US" altLang="ko-KR" sz="2000" smtClean="0">
                <a:latin typeface="Times New Roman" pitchFamily="18" charset="0"/>
                <a:cs typeface="Times New Roman" pitchFamily="18" charset="0"/>
              </a:rPr>
              <a:t>     The </a:t>
            </a:r>
            <a:r>
              <a:rPr lang="en-US" altLang="ko-KR" sz="2000">
                <a:latin typeface="Times New Roman" pitchFamily="18" charset="0"/>
                <a:cs typeface="Times New Roman" pitchFamily="18" charset="0"/>
              </a:rPr>
              <a:t>number 650 can be expressed in four hexadecimal digits as 0x028A. </a:t>
            </a:r>
            <a:r>
              <a:rPr lang="en-US" altLang="ko-KR" sz="200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altLang="ko-KR" sz="2000" smtClean="0">
                <a:latin typeface="Times New Roman" pitchFamily="18" charset="0"/>
                <a:cs typeface="Times New Roman" pitchFamily="18" charset="0"/>
              </a:rPr>
            </a:br>
            <a:r>
              <a:rPr lang="en-US" altLang="ko-KR" sz="2000" smtClean="0">
                <a:latin typeface="Times New Roman" pitchFamily="18" charset="0"/>
                <a:cs typeface="Times New Roman" pitchFamily="18" charset="0"/>
              </a:rPr>
              <a:t>     This </a:t>
            </a:r>
            <a:r>
              <a:rPr lang="en-US" altLang="ko-KR" sz="2000">
                <a:latin typeface="Times New Roman" pitchFamily="18" charset="0"/>
                <a:cs typeface="Times New Roman" pitchFamily="18" charset="0"/>
              </a:rPr>
              <a:t>means the value of H1 is 0x02 and the value of H2 is 0x8A.</a:t>
            </a:r>
          </a:p>
          <a:p>
            <a:pPr marL="0" indent="0" algn="ctr">
              <a:buNone/>
              <a:defRPr/>
            </a:pPr>
            <a:endParaRPr lang="en-US" altLang="ko-KR" i="1" smtClean="0">
              <a:latin typeface="Times-Roman"/>
            </a:endParaRP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4051300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432175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4571999" y="3432174"/>
            <a:ext cx="457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80" y="865319"/>
            <a:ext cx="7000875" cy="29282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501484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14.3 SONET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180976" y="676275"/>
            <a:ext cx="8636000" cy="5905500"/>
          </a:xfrm>
        </p:spPr>
        <p:txBody>
          <a:bodyPr/>
          <a:lstStyle/>
          <a:p>
            <a:pPr marL="0" lvl="2" indent="0">
              <a:buNone/>
              <a:defRPr/>
            </a:pPr>
            <a:r>
              <a:rPr lang="en-US" altLang="ko-KR" sz="24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14.3.4 STS Multiplexing</a:t>
            </a:r>
            <a:endParaRPr lang="en-US" altLang="ko-KR" sz="24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r>
              <a:rPr lang="en-US" altLang="ko-KR" sz="2000" smtClean="0">
                <a:latin typeface="Times New Roman" pitchFamily="18" charset="0"/>
              </a:rPr>
              <a:t>In SONET, all clocks in the network are locked to a master clock.</a:t>
            </a:r>
            <a:endParaRPr lang="en-US" altLang="ko-KR" sz="2000"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smtClean="0">
                <a:solidFill>
                  <a:srgbClr val="C00000"/>
                </a:solidFill>
                <a:latin typeface="Times New Roman" pitchFamily="18" charset="0"/>
              </a:rPr>
              <a:t>Fig. 14.25  </a:t>
            </a:r>
            <a:r>
              <a:rPr lang="en-US" altLang="ko-KR" i="1" smtClean="0">
                <a:latin typeface="Times New Roman" pitchFamily="18" charset="0"/>
              </a:rPr>
              <a:t>STS multiplexing/demultiplesing</a:t>
            </a: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>
              <a:solidFill>
                <a:srgbClr val="C00000"/>
              </a:solidFill>
              <a:latin typeface="Times New Roman" pitchFamily="18" charset="0"/>
            </a:endParaRP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4051300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432175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189" y="2374900"/>
            <a:ext cx="8322586" cy="1824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922392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14.3 SONET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180976" y="676275"/>
            <a:ext cx="8636000" cy="59055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ko-KR" b="1" i="1" smtClean="0">
                <a:solidFill>
                  <a:srgbClr val="C00000"/>
                </a:solidFill>
                <a:latin typeface="Times New Roman" pitchFamily="18" charset="0"/>
              </a:rPr>
              <a:t>Byte Interleaving</a:t>
            </a:r>
          </a:p>
          <a:p>
            <a:pPr marL="0" indent="0">
              <a:buNone/>
              <a:defRPr/>
            </a:pPr>
            <a:endParaRPr lang="en-US" altLang="ko-KR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smtClean="0">
                <a:solidFill>
                  <a:srgbClr val="C00000"/>
                </a:solidFill>
                <a:latin typeface="Times New Roman" pitchFamily="18" charset="0"/>
              </a:rPr>
              <a:t>Fig. 14.26  </a:t>
            </a:r>
            <a:r>
              <a:rPr lang="en-US" altLang="ko-KR" i="1" smtClean="0">
                <a:latin typeface="Times New Roman" pitchFamily="18" charset="0"/>
              </a:rPr>
              <a:t>Byte interleaving</a:t>
            </a:r>
            <a:endParaRPr lang="en-US" altLang="ko-KR" i="1">
              <a:latin typeface="Times New Roman" pitchFamily="18" charset="0"/>
            </a:endParaRP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4051300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432175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475" y="1978077"/>
            <a:ext cx="6921850" cy="2908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2089130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14.3 SONET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180976" y="676275"/>
            <a:ext cx="8636000" cy="5905500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ko-KR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smtClean="0">
                <a:solidFill>
                  <a:srgbClr val="C00000"/>
                </a:solidFill>
                <a:latin typeface="Times New Roman" pitchFamily="18" charset="0"/>
              </a:rPr>
              <a:t>Fig. 14.27  </a:t>
            </a:r>
            <a:r>
              <a:rPr lang="en-US" altLang="ko-KR" i="1" smtClean="0">
                <a:latin typeface="Times New Roman" pitchFamily="18" charset="0"/>
              </a:rPr>
              <a:t>An STS-3 frame</a:t>
            </a:r>
            <a:endParaRPr lang="en-US" altLang="ko-KR" i="1">
              <a:latin typeface="Times New Roman" pitchFamily="18" charset="0"/>
            </a:endParaRP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4051300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432175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247" y="1296023"/>
            <a:ext cx="7098306" cy="4558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5775202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14.3 SONET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180976" y="676275"/>
            <a:ext cx="8636000" cy="59055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Concatenated Signal</a:t>
            </a:r>
          </a:p>
          <a:p>
            <a:pPr algn="just">
              <a:defRPr/>
            </a:pPr>
            <a:r>
              <a:rPr lang="en-US" altLang="ko-KR" smtClean="0">
                <a:latin typeface="Times New Roman" pitchFamily="18" charset="0"/>
              </a:rPr>
              <a:t>An STS-3c signal can carry 44 ATM cells as its SPE</a:t>
            </a: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smtClean="0">
                <a:solidFill>
                  <a:srgbClr val="C00000"/>
                </a:solidFill>
                <a:latin typeface="Times New Roman" pitchFamily="18" charset="0"/>
              </a:rPr>
              <a:t>Fig. 14.28  </a:t>
            </a:r>
            <a:r>
              <a:rPr lang="en-US" altLang="ko-KR" i="1" smtClean="0">
                <a:latin typeface="Times New Roman" pitchFamily="18" charset="0"/>
              </a:rPr>
              <a:t>A concatenated STS-3c signal</a:t>
            </a:r>
            <a:endParaRPr lang="en-US" altLang="ko-KR" b="1" i="1" smtClean="0">
              <a:latin typeface="Times-Roman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725" y="1994839"/>
            <a:ext cx="6792790" cy="396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3761181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14.3 SONET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180976" y="676275"/>
            <a:ext cx="8636000" cy="59055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Add/Drop Multiplexer</a:t>
            </a: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smtClean="0">
                <a:solidFill>
                  <a:srgbClr val="C00000"/>
                </a:solidFill>
                <a:latin typeface="Times New Roman" pitchFamily="18" charset="0"/>
              </a:rPr>
              <a:t>Fig. 14.29  </a:t>
            </a:r>
            <a:r>
              <a:rPr lang="en-US" altLang="ko-KR" i="1" smtClean="0">
                <a:latin typeface="Times New Roman" pitchFamily="18" charset="0"/>
              </a:rPr>
              <a:t>Dropping and adding grames in a add/drop multiplexer</a:t>
            </a:r>
            <a:endParaRPr lang="en-US" altLang="ko-KR" b="1" i="1" smtClean="0">
              <a:latin typeface="Times-Roman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950" y="2476905"/>
            <a:ext cx="7579450" cy="2780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1067899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14.3 SONET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180976" y="676275"/>
            <a:ext cx="8636000" cy="5905500"/>
          </a:xfrm>
        </p:spPr>
        <p:txBody>
          <a:bodyPr/>
          <a:lstStyle/>
          <a:p>
            <a:pPr marL="0" lvl="2" indent="0">
              <a:buNone/>
              <a:defRPr/>
            </a:pPr>
            <a:r>
              <a:rPr lang="en-US" altLang="ko-KR" sz="24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14.3.5 SONET Networks</a:t>
            </a:r>
            <a:endParaRPr lang="en-US" altLang="ko-KR" sz="24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r>
              <a:rPr lang="en-US" altLang="ko-KR" sz="2000" smtClean="0">
                <a:latin typeface="Times New Roman" pitchFamily="18" charset="0"/>
              </a:rPr>
              <a:t>can be used as a high-speed backbone carrying loads from other networks</a:t>
            </a: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smtClean="0">
                <a:solidFill>
                  <a:srgbClr val="C00000"/>
                </a:solidFill>
                <a:latin typeface="Times New Roman" pitchFamily="18" charset="0"/>
              </a:rPr>
              <a:t>Fig. 14.30  </a:t>
            </a:r>
            <a:r>
              <a:rPr lang="en-US" altLang="ko-KR" i="1" smtClean="0">
                <a:latin typeface="Times New Roman" pitchFamily="18" charset="0"/>
              </a:rPr>
              <a:t>Taxonomy of SONET networks</a:t>
            </a:r>
            <a:endParaRPr lang="en-US" altLang="ko-KR" b="1">
              <a:solidFill>
                <a:srgbClr val="C00000"/>
              </a:solidFill>
              <a:latin typeface="Times New Roman" pitchFamily="18" charset="0"/>
            </a:endParaRP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4051300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432175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145" y="2314861"/>
            <a:ext cx="8040255" cy="2638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5100421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14.3 SONET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180976" y="676275"/>
            <a:ext cx="8636000" cy="5905500"/>
          </a:xfrm>
        </p:spPr>
        <p:txBody>
          <a:bodyPr/>
          <a:lstStyle/>
          <a:p>
            <a:pPr marL="0" lvl="2" indent="0">
              <a:buNone/>
              <a:defRPr/>
            </a:pPr>
            <a:r>
              <a:rPr lang="en-US" altLang="ko-KR" sz="24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Linear Networks</a:t>
            </a:r>
            <a:endParaRPr lang="en-US" altLang="ko-KR" sz="2400" b="1" i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  <a:defRPr/>
            </a:pPr>
            <a:r>
              <a:rPr lang="en-US" altLang="ko-KR" sz="2000" b="1" i="1" smtClean="0">
                <a:latin typeface="Times New Roman" pitchFamily="18" charset="0"/>
              </a:rPr>
              <a:t>Point-to-point networks</a:t>
            </a: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sz="2000" b="1" smtClean="0">
                <a:solidFill>
                  <a:srgbClr val="C00000"/>
                </a:solidFill>
                <a:latin typeface="Times New Roman" pitchFamily="18" charset="0"/>
              </a:rPr>
              <a:t>Fig. 14.31  </a:t>
            </a:r>
            <a:r>
              <a:rPr lang="en-US" altLang="ko-KR" sz="2000" i="1" smtClean="0">
                <a:latin typeface="Times New Roman" pitchFamily="18" charset="0"/>
              </a:rPr>
              <a:t>A point-to-point SONET network</a:t>
            </a:r>
          </a:p>
          <a:p>
            <a:pPr marL="0" indent="0" algn="just">
              <a:buNone/>
              <a:defRPr/>
            </a:pPr>
            <a:r>
              <a:rPr lang="en-US" altLang="ko-KR" sz="2000" b="1" i="1" smtClean="0">
                <a:latin typeface="Times New Roman" pitchFamily="18" charset="0"/>
              </a:rPr>
              <a:t>Multipoint </a:t>
            </a:r>
            <a:r>
              <a:rPr lang="en-US" altLang="ko-KR" sz="2000" b="1" i="1">
                <a:latin typeface="Times New Roman" pitchFamily="18" charset="0"/>
              </a:rPr>
              <a:t>networks</a:t>
            </a:r>
          </a:p>
          <a:p>
            <a:pPr marL="0" indent="0" algn="just">
              <a:buNone/>
              <a:defRPr/>
            </a:pPr>
            <a:endParaRPr lang="en-US" altLang="ko-KR" sz="2000" b="1" i="1" smtClean="0">
              <a:latin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sz="2000" b="1" i="1">
              <a:latin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sz="2000" b="1" i="1"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sz="2000" b="1">
                <a:solidFill>
                  <a:srgbClr val="C00000"/>
                </a:solidFill>
                <a:latin typeface="Times New Roman" pitchFamily="18" charset="0"/>
              </a:rPr>
              <a:t>Fig. </a:t>
            </a:r>
            <a:r>
              <a:rPr lang="en-US" altLang="ko-KR" sz="2000" b="1" smtClean="0">
                <a:solidFill>
                  <a:srgbClr val="C00000"/>
                </a:solidFill>
                <a:latin typeface="Times New Roman" pitchFamily="18" charset="0"/>
              </a:rPr>
              <a:t>14.32  </a:t>
            </a:r>
            <a:r>
              <a:rPr lang="en-US" altLang="ko-KR" sz="2000" i="1">
                <a:latin typeface="Times New Roman" pitchFamily="18" charset="0"/>
              </a:rPr>
              <a:t>A </a:t>
            </a:r>
            <a:r>
              <a:rPr lang="en-US" altLang="ko-KR" sz="2000" i="1" smtClean="0">
                <a:latin typeface="Times New Roman" pitchFamily="18" charset="0"/>
              </a:rPr>
              <a:t>multipoint </a:t>
            </a:r>
            <a:r>
              <a:rPr lang="en-US" altLang="ko-KR" sz="2000" i="1">
                <a:latin typeface="Times New Roman" pitchFamily="18" charset="0"/>
              </a:rPr>
              <a:t>SONET network</a:t>
            </a:r>
          </a:p>
          <a:p>
            <a:pPr marL="0" indent="0" algn="ctr">
              <a:buNone/>
              <a:defRPr/>
            </a:pPr>
            <a:endParaRPr lang="en-US" altLang="ko-KR" sz="2000" i="1" smtClean="0">
              <a:latin typeface="Times New Roman" pitchFamily="18" charset="0"/>
            </a:endParaRP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4051300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432175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539" y="1672699"/>
            <a:ext cx="8310636" cy="1192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919" y="3827462"/>
            <a:ext cx="6619875" cy="2378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055473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14.3 SONET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180976" y="676275"/>
            <a:ext cx="8636000" cy="5905500"/>
          </a:xfrm>
        </p:spPr>
        <p:txBody>
          <a:bodyPr/>
          <a:lstStyle/>
          <a:p>
            <a:pPr marL="0" indent="0" algn="just">
              <a:buNone/>
              <a:defRPr/>
            </a:pPr>
            <a:r>
              <a:rPr lang="en-US" altLang="ko-KR" sz="2000" b="1" i="1" smtClean="0">
                <a:latin typeface="Times New Roman" pitchFamily="18" charset="0"/>
              </a:rPr>
              <a:t>Automatic Protection Switching</a:t>
            </a: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sz="2000" b="1" i="1" smtClean="0">
              <a:latin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sz="2000" b="1" i="1">
              <a:latin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sz="2000" b="1" i="1"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sz="2000" b="1" smtClean="0">
                <a:solidFill>
                  <a:srgbClr val="C00000"/>
                </a:solidFill>
                <a:latin typeface="Times New Roman" pitchFamily="18" charset="0"/>
              </a:rPr>
              <a:t>Fig</a:t>
            </a:r>
            <a:r>
              <a:rPr lang="en-US" altLang="ko-KR" sz="2000" b="1">
                <a:solidFill>
                  <a:srgbClr val="C00000"/>
                </a:solidFill>
                <a:latin typeface="Times New Roman" pitchFamily="18" charset="0"/>
              </a:rPr>
              <a:t>. </a:t>
            </a:r>
            <a:r>
              <a:rPr lang="en-US" altLang="ko-KR" sz="2000" b="1" smtClean="0">
                <a:solidFill>
                  <a:srgbClr val="C00000"/>
                </a:solidFill>
                <a:latin typeface="Times New Roman" pitchFamily="18" charset="0"/>
              </a:rPr>
              <a:t>14.33  </a:t>
            </a:r>
            <a:r>
              <a:rPr lang="en-US" altLang="ko-KR" sz="2000" i="1">
                <a:latin typeface="Times New Roman" pitchFamily="18" charset="0"/>
              </a:rPr>
              <a:t>Automatic Protection </a:t>
            </a:r>
            <a:r>
              <a:rPr lang="en-US" altLang="ko-KR" sz="2000" i="1" smtClean="0">
                <a:latin typeface="Times New Roman" pitchFamily="18" charset="0"/>
              </a:rPr>
              <a:t>Switching in linear </a:t>
            </a:r>
            <a:r>
              <a:rPr lang="en-US" altLang="ko-KR" sz="2000" i="1">
                <a:latin typeface="Times New Roman" pitchFamily="18" charset="0"/>
              </a:rPr>
              <a:t>network</a:t>
            </a:r>
          </a:p>
          <a:p>
            <a:pPr marL="0" indent="0" algn="ctr">
              <a:buNone/>
              <a:defRPr/>
            </a:pPr>
            <a:endParaRPr lang="en-US" altLang="ko-KR" sz="2000" i="1" smtClean="0">
              <a:latin typeface="Times New Roman" pitchFamily="18" charset="0"/>
            </a:endParaRP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4051300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432175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346450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976" y="1346272"/>
            <a:ext cx="3775424" cy="1616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976" y="3905250"/>
            <a:ext cx="3775424" cy="1496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75" y="2803171"/>
            <a:ext cx="3878390" cy="25981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420186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14.3 SONET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180976" y="676275"/>
            <a:ext cx="8636000" cy="5905500"/>
          </a:xfrm>
        </p:spPr>
        <p:txBody>
          <a:bodyPr/>
          <a:lstStyle/>
          <a:p>
            <a:pPr marL="0" lvl="2" indent="0">
              <a:buNone/>
              <a:defRPr/>
            </a:pPr>
            <a:r>
              <a:rPr lang="en-US" altLang="ko-KR" sz="24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Ring Networks</a:t>
            </a:r>
            <a:endParaRPr lang="en-US" altLang="ko-KR" sz="2400" b="1" i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  <a:defRPr/>
            </a:pPr>
            <a:r>
              <a:rPr lang="en-US" altLang="ko-KR" sz="2000" b="1" i="1" smtClean="0">
                <a:latin typeface="Times New Roman" pitchFamily="18" charset="0"/>
              </a:rPr>
              <a:t>Unidirectional Path Switching Ring (UPSR)</a:t>
            </a: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sz="2000" b="1" i="1" smtClean="0">
              <a:latin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sz="2000" b="1" i="1">
              <a:latin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sz="2000" b="1" i="1"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sz="2000" b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sz="2000" b="1" smtClean="0">
                <a:solidFill>
                  <a:srgbClr val="C00000"/>
                </a:solidFill>
                <a:latin typeface="Times New Roman" pitchFamily="18" charset="0"/>
              </a:rPr>
              <a:t>Fig</a:t>
            </a:r>
            <a:r>
              <a:rPr lang="en-US" altLang="ko-KR" sz="2000" b="1">
                <a:solidFill>
                  <a:srgbClr val="C00000"/>
                </a:solidFill>
                <a:latin typeface="Times New Roman" pitchFamily="18" charset="0"/>
              </a:rPr>
              <a:t>. </a:t>
            </a:r>
            <a:r>
              <a:rPr lang="en-US" altLang="ko-KR" sz="2000" b="1" smtClean="0">
                <a:solidFill>
                  <a:srgbClr val="C00000"/>
                </a:solidFill>
                <a:latin typeface="Times New Roman" pitchFamily="18" charset="0"/>
              </a:rPr>
              <a:t>14.34  </a:t>
            </a:r>
            <a:r>
              <a:rPr lang="en-US" altLang="ko-KR" sz="2000" i="1">
                <a:latin typeface="Times New Roman" pitchFamily="18" charset="0"/>
              </a:rPr>
              <a:t>A Unidirectional Path Switching Ring</a:t>
            </a:r>
          </a:p>
          <a:p>
            <a:pPr marL="0" indent="0" algn="ctr">
              <a:buNone/>
              <a:defRPr/>
            </a:pPr>
            <a:endParaRPr lang="en-US" altLang="ko-KR" sz="2000" i="1" smtClean="0">
              <a:latin typeface="Times New Roman" pitchFamily="18" charset="0"/>
            </a:endParaRP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4051300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432175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24" y="1735890"/>
            <a:ext cx="6400801" cy="445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8473174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14.3 SONET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180976" y="676275"/>
            <a:ext cx="8636000" cy="5905500"/>
          </a:xfrm>
        </p:spPr>
        <p:txBody>
          <a:bodyPr/>
          <a:lstStyle/>
          <a:p>
            <a:pPr marL="0" indent="0" algn="just">
              <a:buNone/>
              <a:defRPr/>
            </a:pPr>
            <a:r>
              <a:rPr lang="en-US" altLang="ko-KR" sz="2000" b="1" i="1" smtClean="0">
                <a:latin typeface="Times New Roman" pitchFamily="18" charset="0"/>
              </a:rPr>
              <a:t>Bidirectional Line Switching Ring (BLSR)</a:t>
            </a: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sz="2000" b="1" i="1" smtClean="0">
              <a:latin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sz="2000" b="1" i="1">
              <a:latin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sz="2000" b="1" i="1"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sz="2000" b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sz="2000" b="1" smtClean="0">
                <a:solidFill>
                  <a:srgbClr val="C00000"/>
                </a:solidFill>
                <a:latin typeface="Times New Roman" pitchFamily="18" charset="0"/>
              </a:rPr>
              <a:t>Fig</a:t>
            </a:r>
            <a:r>
              <a:rPr lang="en-US" altLang="ko-KR" sz="2000" b="1">
                <a:solidFill>
                  <a:srgbClr val="C00000"/>
                </a:solidFill>
                <a:latin typeface="Times New Roman" pitchFamily="18" charset="0"/>
              </a:rPr>
              <a:t>. </a:t>
            </a:r>
            <a:r>
              <a:rPr lang="en-US" altLang="ko-KR" sz="2000" b="1" smtClean="0">
                <a:solidFill>
                  <a:srgbClr val="C00000"/>
                </a:solidFill>
                <a:latin typeface="Times New Roman" pitchFamily="18" charset="0"/>
              </a:rPr>
              <a:t>14.35  </a:t>
            </a:r>
            <a:r>
              <a:rPr lang="en-US" altLang="ko-KR" sz="2000" i="1">
                <a:latin typeface="Times New Roman" pitchFamily="18" charset="0"/>
              </a:rPr>
              <a:t>A Bidirectional Line Switching </a:t>
            </a:r>
            <a:r>
              <a:rPr lang="en-US" altLang="ko-KR" sz="2000" i="1" smtClean="0">
                <a:latin typeface="Times New Roman" pitchFamily="18" charset="0"/>
              </a:rPr>
              <a:t>Ring</a:t>
            </a:r>
            <a:endParaRPr lang="en-US" altLang="ko-KR" sz="2000" i="1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sz="2000" i="1" smtClean="0">
              <a:latin typeface="Times New Roman" pitchFamily="18" charset="0"/>
            </a:endParaRP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4051300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432175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462" y="1855315"/>
            <a:ext cx="6734175" cy="4259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2607193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14.3 SONET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180976" y="676275"/>
            <a:ext cx="8636000" cy="5905500"/>
          </a:xfrm>
        </p:spPr>
        <p:txBody>
          <a:bodyPr/>
          <a:lstStyle/>
          <a:p>
            <a:pPr marL="0" indent="0" algn="just">
              <a:buNone/>
              <a:defRPr/>
            </a:pPr>
            <a:r>
              <a:rPr lang="en-US" altLang="ko-KR" sz="2000" b="1" i="1" smtClean="0">
                <a:latin typeface="Times New Roman" pitchFamily="18" charset="0"/>
              </a:rPr>
              <a:t>Combination of Ring </a:t>
            </a: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sz="2000" b="1" i="1" smtClean="0">
              <a:latin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sz="2000" b="1" i="1">
              <a:latin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sz="2000" b="1" i="1"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sz="2000" b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sz="2000" b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sz="2000" b="1" smtClean="0">
                <a:solidFill>
                  <a:srgbClr val="C00000"/>
                </a:solidFill>
                <a:latin typeface="Times New Roman" pitchFamily="18" charset="0"/>
              </a:rPr>
              <a:t>Fig</a:t>
            </a:r>
            <a:r>
              <a:rPr lang="en-US" altLang="ko-KR" sz="2000" b="1">
                <a:solidFill>
                  <a:srgbClr val="C00000"/>
                </a:solidFill>
                <a:latin typeface="Times New Roman" pitchFamily="18" charset="0"/>
              </a:rPr>
              <a:t>. </a:t>
            </a:r>
            <a:r>
              <a:rPr lang="en-US" altLang="ko-KR" sz="2000" b="1" smtClean="0">
                <a:solidFill>
                  <a:srgbClr val="C00000"/>
                </a:solidFill>
                <a:latin typeface="Times New Roman" pitchFamily="18" charset="0"/>
              </a:rPr>
              <a:t>14.36  </a:t>
            </a:r>
            <a:r>
              <a:rPr lang="en-US" altLang="ko-KR" sz="2000" i="1">
                <a:latin typeface="Times New Roman" pitchFamily="18" charset="0"/>
              </a:rPr>
              <a:t>A Combination of Ring </a:t>
            </a:r>
            <a:endParaRPr lang="en-US" altLang="ko-KR" sz="2000" i="1" smtClean="0">
              <a:latin typeface="Times New Roman" pitchFamily="18" charset="0"/>
            </a:endParaRP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4051300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432175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4297226" y="3014556"/>
            <a:ext cx="457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927" y="1310184"/>
            <a:ext cx="6474096" cy="4621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212373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14.3 SONET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180976" y="676275"/>
            <a:ext cx="8636000" cy="5905500"/>
          </a:xfrm>
        </p:spPr>
        <p:txBody>
          <a:bodyPr/>
          <a:lstStyle/>
          <a:p>
            <a:pPr marL="0" lvl="2" indent="0">
              <a:buNone/>
              <a:defRPr/>
            </a:pPr>
            <a:r>
              <a:rPr lang="en-US" altLang="ko-KR" sz="24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Mesh Networks</a:t>
            </a:r>
            <a:endParaRPr lang="en-US" altLang="ko-KR" sz="2400" b="1" i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sz="2000" b="1" i="1" smtClean="0">
              <a:latin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sz="2000" b="1" i="1">
              <a:latin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sz="2000" b="1" i="1"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sz="2000" b="1" smtClean="0">
                <a:solidFill>
                  <a:srgbClr val="C00000"/>
                </a:solidFill>
                <a:latin typeface="Times New Roman" pitchFamily="18" charset="0"/>
              </a:rPr>
              <a:t>Fig</a:t>
            </a:r>
            <a:r>
              <a:rPr lang="en-US" altLang="ko-KR" sz="2000" b="1">
                <a:solidFill>
                  <a:srgbClr val="C00000"/>
                </a:solidFill>
                <a:latin typeface="Times New Roman" pitchFamily="18" charset="0"/>
              </a:rPr>
              <a:t>. </a:t>
            </a:r>
            <a:r>
              <a:rPr lang="en-US" altLang="ko-KR" sz="2000" b="1" smtClean="0">
                <a:solidFill>
                  <a:srgbClr val="C00000"/>
                </a:solidFill>
                <a:latin typeface="Times New Roman" pitchFamily="18" charset="0"/>
              </a:rPr>
              <a:t>14.37  </a:t>
            </a:r>
            <a:r>
              <a:rPr lang="en-US" altLang="ko-KR" sz="2000" i="1">
                <a:latin typeface="Times New Roman" pitchFamily="18" charset="0"/>
              </a:rPr>
              <a:t>A </a:t>
            </a:r>
            <a:r>
              <a:rPr lang="en-US" altLang="ko-KR" sz="2000" i="1" smtClean="0">
                <a:latin typeface="Times New Roman" pitchFamily="18" charset="0"/>
              </a:rPr>
              <a:t>Mesh SONET networks</a:t>
            </a:r>
            <a:endParaRPr lang="en-US" altLang="ko-KR" sz="2000" i="1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sz="2000" i="1" smtClean="0">
              <a:latin typeface="Times New Roman" pitchFamily="18" charset="0"/>
            </a:endParaRP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4051300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432175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" y="2038350"/>
            <a:ext cx="4670425" cy="2381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788" y="2038350"/>
            <a:ext cx="2241550" cy="2381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262263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14.3 SONET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180976" y="676275"/>
            <a:ext cx="8636000" cy="5905500"/>
          </a:xfrm>
        </p:spPr>
        <p:txBody>
          <a:bodyPr/>
          <a:lstStyle/>
          <a:p>
            <a:pPr marL="0" lvl="2" indent="0">
              <a:buNone/>
              <a:defRPr/>
            </a:pPr>
            <a:r>
              <a:rPr lang="en-US" altLang="ko-KR" sz="24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14.3.6 Virtual Tributaries</a:t>
            </a:r>
          </a:p>
          <a:p>
            <a:pPr algn="just">
              <a:defRPr/>
            </a:pPr>
            <a:r>
              <a:rPr lang="en-US" altLang="ko-KR" sz="2000">
                <a:latin typeface="Times New Roman" pitchFamily="18" charset="0"/>
              </a:rPr>
              <a:t>To make SONET backward-compatible with the current </a:t>
            </a:r>
            <a:r>
              <a:rPr lang="en-US" altLang="ko-KR" sz="2000" smtClean="0">
                <a:latin typeface="Times New Roman" pitchFamily="18" charset="0"/>
              </a:rPr>
              <a:t>hierarchy.</a:t>
            </a:r>
          </a:p>
          <a:p>
            <a:pPr algn="just">
              <a:defRPr/>
            </a:pPr>
            <a:r>
              <a:rPr lang="en-US" altLang="ko-KR" sz="2000">
                <a:latin typeface="Times New Roman" pitchFamily="18" charset="0"/>
              </a:rPr>
              <a:t>we can subdivide the SPE and call each component a VT.</a:t>
            </a:r>
            <a:r>
              <a:rPr lang="en-US" altLang="ko-KR" sz="2000" smtClean="0">
                <a:latin typeface="Times New Roman" pitchFamily="18" charset="0"/>
              </a:rPr>
              <a:t> </a:t>
            </a: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lvl="2" indent="0" algn="ctr">
              <a:buNone/>
              <a:defRPr/>
            </a:pPr>
            <a:r>
              <a:rPr lang="en-US" altLang="ko-KR" sz="2400" b="1" smtClean="0">
                <a:solidFill>
                  <a:srgbClr val="C00000"/>
                </a:solidFill>
                <a:latin typeface="Times New Roman" pitchFamily="18" charset="0"/>
              </a:rPr>
              <a:t>Fig. 14.38  </a:t>
            </a:r>
            <a:r>
              <a:rPr lang="en-US" altLang="ko-KR" sz="2400" i="1">
                <a:latin typeface="Times New Roman" pitchFamily="18" charset="0"/>
                <a:cs typeface="Times New Roman" pitchFamily="18" charset="0"/>
              </a:rPr>
              <a:t>Virtual </a:t>
            </a:r>
            <a:r>
              <a:rPr lang="en-US" altLang="ko-KR" sz="2400" i="1" smtClean="0">
                <a:latin typeface="Times New Roman" pitchFamily="18" charset="0"/>
                <a:cs typeface="Times New Roman" pitchFamily="18" charset="0"/>
              </a:rPr>
              <a:t>Tributaries</a:t>
            </a:r>
            <a:endParaRPr lang="en-US" altLang="ko-KR" sz="2400" i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4051300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432175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712" y="2803525"/>
            <a:ext cx="6632575" cy="266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4328502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14.3 SONET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254000" y="685800"/>
            <a:ext cx="8636000" cy="5905500"/>
          </a:xfrm>
        </p:spPr>
        <p:txBody>
          <a:bodyPr/>
          <a:lstStyle/>
          <a:p>
            <a:pPr marL="0" lvl="2" indent="0">
              <a:buNone/>
              <a:defRPr/>
            </a:pPr>
            <a:r>
              <a:rPr lang="en-US" altLang="ko-KR" sz="2400" b="1" i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Types of VTs</a:t>
            </a: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sz="2000" b="1" i="1">
              <a:solidFill>
                <a:srgbClr val="C00000"/>
              </a:solidFill>
              <a:latin typeface="Times New Roman" pitchFamily="18" charset="0"/>
            </a:endParaRPr>
          </a:p>
          <a:p>
            <a:pPr marL="0" lvl="2" indent="0" algn="ctr">
              <a:buNone/>
              <a:defRPr/>
            </a:pPr>
            <a:r>
              <a:rPr lang="en-US" altLang="ko-KR" sz="2400" b="1" smtClean="0">
                <a:solidFill>
                  <a:srgbClr val="C00000"/>
                </a:solidFill>
                <a:latin typeface="Times New Roman" pitchFamily="18" charset="0"/>
              </a:rPr>
              <a:t>Fig. 14.39  </a:t>
            </a:r>
            <a:r>
              <a:rPr lang="en-US" altLang="ko-KR" sz="2400" i="1">
                <a:latin typeface="Times New Roman" pitchFamily="18" charset="0"/>
                <a:cs typeface="Times New Roman" pitchFamily="18" charset="0"/>
              </a:rPr>
              <a:t>Virtual </a:t>
            </a:r>
            <a:r>
              <a:rPr lang="en-US" altLang="ko-KR" sz="2400" i="1" smtClean="0">
                <a:latin typeface="Times New Roman" pitchFamily="18" charset="0"/>
                <a:cs typeface="Times New Roman" pitchFamily="18" charset="0"/>
              </a:rPr>
              <a:t>Tributary types</a:t>
            </a:r>
            <a:endParaRPr lang="en-US" altLang="ko-KR" sz="2400" i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4051300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432175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3343" y="3882584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0163" y="1783299"/>
            <a:ext cx="5206780" cy="2324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743" y="4558418"/>
            <a:ext cx="6498306" cy="997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2234698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14.4 ATM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47675"/>
            <a:ext cx="8429625" cy="61341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8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14.4 ATM</a:t>
            </a:r>
          </a:p>
          <a:p>
            <a:pPr algn="just">
              <a:defRPr/>
            </a:pPr>
            <a:r>
              <a:rPr lang="en-US" altLang="ko-KR" smtClean="0">
                <a:latin typeface="Times New Roman" pitchFamily="18" charset="0"/>
              </a:rPr>
              <a:t>Asynchronous Transfer Mode </a:t>
            </a:r>
          </a:p>
          <a:p>
            <a:pPr algn="just">
              <a:defRPr/>
            </a:pPr>
            <a:r>
              <a:rPr lang="en-US" altLang="ko-KR" smtClean="0">
                <a:latin typeface="+mj-lt"/>
              </a:rPr>
              <a:t>is a switched wid</a:t>
            </a:r>
            <a:r>
              <a:rPr lang="en-US" altLang="ko-KR">
                <a:latin typeface="+mj-lt"/>
              </a:rPr>
              <a:t> wide area </a:t>
            </a:r>
            <a:r>
              <a:rPr lang="en-US" altLang="ko-KR" smtClean="0">
                <a:latin typeface="+mj-lt"/>
              </a:rPr>
              <a:t>network</a:t>
            </a:r>
          </a:p>
          <a:p>
            <a:pPr algn="just">
              <a:defRPr/>
            </a:pPr>
            <a:r>
              <a:rPr lang="en-US" altLang="ko-KR" smtClean="0">
                <a:latin typeface="+mj-lt"/>
              </a:rPr>
              <a:t>is based </a:t>
            </a:r>
            <a:r>
              <a:rPr lang="en-US" altLang="ko-KR">
                <a:latin typeface="+mj-lt"/>
              </a:rPr>
              <a:t>on the cell relay protocol designed by the ATM forum </a:t>
            </a:r>
            <a:endParaRPr lang="en-US" altLang="ko-KR" smtClean="0">
              <a:latin typeface="+mj-lt"/>
            </a:endParaRPr>
          </a:p>
          <a:p>
            <a:pPr algn="just">
              <a:defRPr/>
            </a:pPr>
            <a:r>
              <a:rPr lang="en-US" altLang="ko-KR" smtClean="0">
                <a:latin typeface="+mj-lt"/>
              </a:rPr>
              <a:t>is adopted </a:t>
            </a:r>
            <a:r>
              <a:rPr lang="en-US" altLang="ko-KR">
                <a:latin typeface="+mj-lt"/>
              </a:rPr>
              <a:t>by the ITU-T. </a:t>
            </a:r>
            <a:endParaRPr lang="en-US" altLang="ko-KR" smtClean="0">
              <a:latin typeface="+mj-lt"/>
            </a:endParaRPr>
          </a:p>
          <a:p>
            <a:pPr algn="just">
              <a:defRPr/>
            </a:pPr>
            <a:r>
              <a:rPr lang="en-US" altLang="ko-KR" smtClean="0">
                <a:latin typeface="+mj-lt"/>
              </a:rPr>
              <a:t>The </a:t>
            </a:r>
            <a:r>
              <a:rPr lang="en-US" altLang="ko-KR">
                <a:latin typeface="+mj-lt"/>
              </a:rPr>
              <a:t>combination of ATM and SONET will allow high-speed interconnection of all the world’s networks. </a:t>
            </a:r>
            <a:endParaRPr lang="en-US" altLang="ko-KR" smtClean="0">
              <a:latin typeface="+mj-lt"/>
            </a:endParaRPr>
          </a:p>
          <a:p>
            <a:pPr algn="just"/>
            <a:endParaRPr lang="en-US" altLang="ko-KR" b="1" i="1" smtClean="0">
              <a:latin typeface="Times-Roman"/>
            </a:endParaRPr>
          </a:p>
        </p:txBody>
      </p:sp>
    </p:spTree>
    <p:extLst>
      <p:ext uri="{BB962C8B-B14F-4D97-AF65-F5344CB8AC3E}">
        <p14:creationId xmlns:p14="http://schemas.microsoft.com/office/powerpoint/2010/main" val="335241121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14.4 ATM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47675"/>
            <a:ext cx="8429625" cy="61341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14.4.1 Design Goals</a:t>
            </a:r>
          </a:p>
          <a:p>
            <a:pPr marL="514350" indent="-514350" algn="just">
              <a:buAutoNum type="arabicPeriod"/>
              <a:defRPr/>
            </a:pPr>
            <a:r>
              <a:rPr lang="en-US" altLang="ko-KR">
                <a:latin typeface="Times New Roman" pitchFamily="18" charset="0"/>
              </a:rPr>
              <a:t>The need for a transmission system to optimize the use of high-data-rate.</a:t>
            </a:r>
          </a:p>
          <a:p>
            <a:pPr marL="514350" indent="-514350" algn="just">
              <a:buAutoNum type="arabicPeriod"/>
              <a:defRPr/>
            </a:pPr>
            <a:r>
              <a:rPr lang="en-US" altLang="ko-KR">
                <a:latin typeface="Times New Roman" pitchFamily="18" charset="0"/>
              </a:rPr>
              <a:t>The system must interface with existing systems. </a:t>
            </a:r>
          </a:p>
          <a:p>
            <a:pPr marL="514350" indent="-514350" algn="just">
              <a:buAutoNum type="arabicPeriod"/>
              <a:defRPr/>
            </a:pPr>
            <a:r>
              <a:rPr lang="en-US" altLang="ko-KR">
                <a:latin typeface="Times New Roman" pitchFamily="18" charset="0"/>
              </a:rPr>
              <a:t>The design must be implemented inexpensively.</a:t>
            </a:r>
          </a:p>
          <a:p>
            <a:pPr marL="514350" indent="-514350" algn="just">
              <a:buAutoNum type="arabicPeriod"/>
              <a:defRPr/>
            </a:pPr>
            <a:r>
              <a:rPr lang="en-US" altLang="ko-KR">
                <a:latin typeface="Times New Roman" pitchFamily="18" charset="0"/>
              </a:rPr>
              <a:t>The new system must be able to work with and support the existing hierarchies </a:t>
            </a:r>
          </a:p>
          <a:p>
            <a:pPr marL="514350" indent="-514350" algn="just">
              <a:buAutoNum type="arabicPeriod"/>
              <a:defRPr/>
            </a:pPr>
            <a:r>
              <a:rPr lang="en-US" altLang="ko-KR">
                <a:latin typeface="Times New Roman" pitchFamily="18" charset="0"/>
              </a:rPr>
              <a:t>The new system must be connection-oriented. </a:t>
            </a:r>
          </a:p>
          <a:p>
            <a:pPr marL="514350" indent="-514350" algn="just">
              <a:buAutoNum type="arabicPeriod"/>
              <a:defRPr/>
            </a:pPr>
            <a:r>
              <a:rPr lang="en-US" altLang="ko-KR">
                <a:latin typeface="Times New Roman" pitchFamily="18" charset="0"/>
              </a:rPr>
              <a:t>Last but not least, one objective is to move as many of the functions to hardware as possible</a:t>
            </a:r>
            <a:r>
              <a:rPr lang="en-US" altLang="ko-KR" smtClean="0">
                <a:latin typeface="Times New Roman" pitchFamily="18" charset="0"/>
              </a:rPr>
              <a:t>.</a:t>
            </a:r>
            <a:endParaRPr lang="en-US" altLang="ko-KR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10322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14.4 ATM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47675"/>
            <a:ext cx="8429625" cy="61341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14.4.2 Problems</a:t>
            </a:r>
          </a:p>
          <a:p>
            <a:pPr algn="just">
              <a:defRPr/>
            </a:pPr>
            <a:r>
              <a:rPr lang="en-US" altLang="ko-KR">
                <a:latin typeface="Times New Roman" pitchFamily="18" charset="0"/>
              </a:rPr>
              <a:t>examine some of the problems associated with existing systems. </a:t>
            </a:r>
            <a:endParaRPr lang="en-US" altLang="ko-KR" smtClean="0">
              <a:latin typeface="Times New Roman" pitchFamily="18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136" y="1850471"/>
            <a:ext cx="8033264" cy="1626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1605101" y="3619560"/>
            <a:ext cx="53432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ctr">
              <a:buNone/>
              <a:defRPr/>
            </a:pPr>
            <a:r>
              <a:rPr lang="en-US" altLang="ko-KR" b="1">
                <a:solidFill>
                  <a:srgbClr val="C00000"/>
                </a:solidFill>
                <a:latin typeface="Times New Roman" pitchFamily="18" charset="0"/>
              </a:rPr>
              <a:t>Fig. </a:t>
            </a:r>
            <a:r>
              <a:rPr lang="en-US" altLang="ko-KR" b="1" smtClean="0">
                <a:solidFill>
                  <a:srgbClr val="C00000"/>
                </a:solidFill>
                <a:latin typeface="Times New Roman" pitchFamily="18" charset="0"/>
              </a:rPr>
              <a:t>14.40  </a:t>
            </a:r>
            <a:r>
              <a:rPr lang="en-US" altLang="ko-KR" smtClean="0">
                <a:latin typeface="Times New Roman" pitchFamily="18" charset="0"/>
              </a:rPr>
              <a:t>Multiplexing using different frame size</a:t>
            </a:r>
            <a:endParaRPr lang="en-US" altLang="ko-KR">
              <a:latin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733" y="4547806"/>
            <a:ext cx="7144069" cy="1452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직사각형 6"/>
          <p:cNvSpPr/>
          <p:nvPr/>
        </p:nvSpPr>
        <p:spPr>
          <a:xfrm>
            <a:off x="2397907" y="6115110"/>
            <a:ext cx="391004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ctr">
              <a:buNone/>
              <a:defRPr/>
            </a:pPr>
            <a:r>
              <a:rPr lang="en-US" altLang="ko-KR" b="1">
                <a:solidFill>
                  <a:srgbClr val="C00000"/>
                </a:solidFill>
                <a:latin typeface="Times New Roman" pitchFamily="18" charset="0"/>
              </a:rPr>
              <a:t>Fig. </a:t>
            </a:r>
            <a:r>
              <a:rPr lang="en-US" altLang="ko-KR" b="1" smtClean="0">
                <a:solidFill>
                  <a:srgbClr val="C00000"/>
                </a:solidFill>
                <a:latin typeface="Times New Roman" pitchFamily="18" charset="0"/>
              </a:rPr>
              <a:t>14.41  </a:t>
            </a:r>
            <a:r>
              <a:rPr lang="en-US" altLang="ko-KR" smtClean="0">
                <a:latin typeface="Times New Roman" pitchFamily="18" charset="0"/>
              </a:rPr>
              <a:t>Multiplexing using  cells</a:t>
            </a:r>
            <a:endParaRPr lang="en-US" altLang="ko-KR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649873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14.4 ATM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2659077" y="4638735"/>
            <a:ext cx="32353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ctr">
              <a:buNone/>
              <a:defRPr/>
            </a:pPr>
            <a:r>
              <a:rPr lang="en-US" altLang="ko-KR" b="1">
                <a:solidFill>
                  <a:srgbClr val="C00000"/>
                </a:solidFill>
                <a:latin typeface="Times New Roman" pitchFamily="18" charset="0"/>
              </a:rPr>
              <a:t>Fig. </a:t>
            </a:r>
            <a:r>
              <a:rPr lang="en-US" altLang="ko-KR" b="1" smtClean="0">
                <a:solidFill>
                  <a:srgbClr val="C00000"/>
                </a:solidFill>
                <a:latin typeface="Times New Roman" pitchFamily="18" charset="0"/>
              </a:rPr>
              <a:t>14.42  </a:t>
            </a:r>
            <a:r>
              <a:rPr lang="en-US" altLang="ko-KR" smtClean="0">
                <a:latin typeface="Times New Roman" pitchFamily="18" charset="0"/>
              </a:rPr>
              <a:t>ATM multiplexing</a:t>
            </a:r>
            <a:endParaRPr lang="en-US" altLang="ko-KR">
              <a:latin typeface="Times New Roman" pitchFamily="18" charset="0"/>
            </a:endParaRPr>
          </a:p>
        </p:txBody>
      </p:sp>
      <p:pic>
        <p:nvPicPr>
          <p:cNvPr id="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125" y="2170725"/>
            <a:ext cx="8429625" cy="21926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5363" y="2786856"/>
            <a:ext cx="5260975" cy="477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0406691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14.4 ATM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87350" y="447675"/>
            <a:ext cx="8429625" cy="6134100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14.4.3 Architecture</a:t>
            </a:r>
          </a:p>
          <a:p>
            <a:pPr algn="just">
              <a:defRPr/>
            </a:pPr>
            <a:r>
              <a:rPr lang="en-US" altLang="ko-KR" b="1" i="1" smtClean="0">
                <a:latin typeface="Times New Roman" pitchFamily="18" charset="0"/>
              </a:rPr>
              <a:t>UNI (user-to-network interface) </a:t>
            </a:r>
            <a:r>
              <a:rPr lang="en-US" altLang="ko-KR" smtClean="0">
                <a:latin typeface="Times New Roman" pitchFamily="18" charset="0"/>
              </a:rPr>
              <a:t>: between user device and switches connection</a:t>
            </a:r>
          </a:p>
          <a:p>
            <a:pPr algn="just">
              <a:defRPr/>
            </a:pPr>
            <a:r>
              <a:rPr lang="en-US" altLang="ko-KR" b="1" i="1" smtClean="0">
                <a:latin typeface="Times New Roman" pitchFamily="18" charset="0"/>
              </a:rPr>
              <a:t>NNI (network-to-network interface) </a:t>
            </a:r>
            <a:r>
              <a:rPr lang="en-US" altLang="ko-KR" smtClean="0">
                <a:latin typeface="Times New Roman" pitchFamily="18" charset="0"/>
              </a:rPr>
              <a:t>: inter-switches connection</a:t>
            </a:r>
          </a:p>
          <a:p>
            <a:pPr algn="just">
              <a:defRPr/>
            </a:pPr>
            <a:endParaRPr lang="en-US" altLang="ko-KR" smtClean="0">
              <a:latin typeface="Times New Roman" pitchFamily="18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964902" y="6238935"/>
            <a:ext cx="49284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ctr">
              <a:buNone/>
              <a:defRPr/>
            </a:pPr>
            <a:r>
              <a:rPr lang="en-US" altLang="ko-KR" b="1">
                <a:solidFill>
                  <a:srgbClr val="C00000"/>
                </a:solidFill>
                <a:latin typeface="Times New Roman" pitchFamily="18" charset="0"/>
              </a:rPr>
              <a:t>Fig. </a:t>
            </a:r>
            <a:r>
              <a:rPr lang="en-US" altLang="ko-KR" b="1" smtClean="0">
                <a:solidFill>
                  <a:srgbClr val="C00000"/>
                </a:solidFill>
                <a:latin typeface="Times New Roman" pitchFamily="18" charset="0"/>
              </a:rPr>
              <a:t>14.43  </a:t>
            </a:r>
            <a:r>
              <a:rPr lang="en-US" altLang="ko-KR" b="1" smtClean="0">
                <a:latin typeface="Times New Roman" pitchFamily="18" charset="0"/>
              </a:rPr>
              <a:t>Architecture of an ATM network</a:t>
            </a:r>
            <a:endParaRPr lang="en-US" altLang="ko-KR">
              <a:latin typeface="Times New Roman" pitchFamily="18" charset="0"/>
            </a:endParaRP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299" y="2421689"/>
            <a:ext cx="7267575" cy="381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929895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14.4 ATM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2673526" y="2609910"/>
            <a:ext cx="335880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ctr">
              <a:buNone/>
              <a:defRPr/>
            </a:pPr>
            <a:r>
              <a:rPr lang="en-US" altLang="ko-KR" b="1">
                <a:solidFill>
                  <a:srgbClr val="C00000"/>
                </a:solidFill>
                <a:latin typeface="Times New Roman" pitchFamily="18" charset="0"/>
              </a:rPr>
              <a:t>Fig. </a:t>
            </a:r>
            <a:r>
              <a:rPr lang="en-US" altLang="ko-KR" b="1" smtClean="0">
                <a:solidFill>
                  <a:srgbClr val="C00000"/>
                </a:solidFill>
                <a:latin typeface="Times New Roman" pitchFamily="18" charset="0"/>
              </a:rPr>
              <a:t>14.44  </a:t>
            </a:r>
            <a:r>
              <a:rPr lang="en-US" altLang="ko-KR" smtClean="0">
                <a:latin typeface="Times New Roman" pitchFamily="18" charset="0"/>
              </a:rPr>
              <a:t> TP , VPs, and VCs</a:t>
            </a:r>
            <a:endParaRPr lang="en-US" altLang="ko-KR">
              <a:latin typeface="Times New Roman" pitchFamily="18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473076" y="5743942"/>
            <a:ext cx="65311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ctr">
              <a:buNone/>
              <a:defRPr/>
            </a:pPr>
            <a:r>
              <a:rPr lang="en-US" altLang="ko-KR" b="1">
                <a:solidFill>
                  <a:srgbClr val="C00000"/>
                </a:solidFill>
                <a:latin typeface="Times New Roman" pitchFamily="18" charset="0"/>
              </a:rPr>
              <a:t>Fig. </a:t>
            </a:r>
            <a:r>
              <a:rPr lang="en-US" altLang="ko-KR" b="1" smtClean="0">
                <a:solidFill>
                  <a:srgbClr val="C00000"/>
                </a:solidFill>
                <a:latin typeface="Times New Roman" pitchFamily="18" charset="0"/>
              </a:rPr>
              <a:t>14.45  </a:t>
            </a:r>
            <a:r>
              <a:rPr lang="en-US" altLang="ko-KR" smtClean="0">
                <a:latin typeface="Times New Roman" pitchFamily="18" charset="0"/>
              </a:rPr>
              <a:t>Virtual connection identifiers in UNIs and NNIs</a:t>
            </a:r>
            <a:endParaRPr lang="en-US" altLang="ko-KR">
              <a:latin typeface="Times New Roman" pitchFamily="18" charset="0"/>
            </a:endParaRP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487" y="752815"/>
            <a:ext cx="5838825" cy="1637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735" y="3849345"/>
            <a:ext cx="3691148" cy="1759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7222" y="3819845"/>
            <a:ext cx="3739421" cy="1759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22846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14.4 ATM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3361441" y="2383774"/>
            <a:ext cx="28285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ctr">
              <a:buNone/>
              <a:defRPr/>
            </a:pPr>
            <a:r>
              <a:rPr lang="en-US" altLang="ko-KR" b="1">
                <a:solidFill>
                  <a:srgbClr val="C00000"/>
                </a:solidFill>
                <a:latin typeface="Times New Roman" pitchFamily="18" charset="0"/>
              </a:rPr>
              <a:t>Fig. </a:t>
            </a:r>
            <a:r>
              <a:rPr lang="en-US" altLang="ko-KR" b="1" smtClean="0">
                <a:solidFill>
                  <a:srgbClr val="C00000"/>
                </a:solidFill>
                <a:latin typeface="Times New Roman" pitchFamily="18" charset="0"/>
              </a:rPr>
              <a:t>14.46  </a:t>
            </a:r>
            <a:r>
              <a:rPr lang="en-US" altLang="ko-KR" smtClean="0">
                <a:latin typeface="Times New Roman" pitchFamily="18" charset="0"/>
              </a:rPr>
              <a:t> An ATM cell</a:t>
            </a:r>
            <a:endParaRPr lang="en-US" altLang="ko-KR">
              <a:latin typeface="Times New Roman" pitchFamily="18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931100" y="6215878"/>
            <a:ext cx="361509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ctr">
              <a:buNone/>
              <a:defRPr/>
            </a:pPr>
            <a:r>
              <a:rPr lang="en-US" altLang="ko-KR" b="1">
                <a:solidFill>
                  <a:srgbClr val="C00000"/>
                </a:solidFill>
                <a:latin typeface="Times New Roman" pitchFamily="18" charset="0"/>
              </a:rPr>
              <a:t>Fig. </a:t>
            </a:r>
            <a:r>
              <a:rPr lang="en-US" altLang="ko-KR" b="1" smtClean="0">
                <a:solidFill>
                  <a:srgbClr val="C00000"/>
                </a:solidFill>
                <a:latin typeface="Times New Roman" pitchFamily="18" charset="0"/>
              </a:rPr>
              <a:t>14.47  </a:t>
            </a:r>
            <a:r>
              <a:rPr lang="en-US" altLang="ko-KR" smtClean="0">
                <a:latin typeface="Times New Roman" pitchFamily="18" charset="0"/>
              </a:rPr>
              <a:t>Routing with a switch</a:t>
            </a:r>
            <a:endParaRPr lang="en-US" altLang="ko-KR">
              <a:latin typeface="Times New Roman" pitchFamily="18" charset="0"/>
            </a:endParaRP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9643" y="657136"/>
            <a:ext cx="5676786" cy="166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5883" y="2967779"/>
            <a:ext cx="4399217" cy="3208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7072" y="4571792"/>
            <a:ext cx="2167662" cy="503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9643" y="5318928"/>
            <a:ext cx="2167662" cy="503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232497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14.4 ATM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448004" y="6215878"/>
            <a:ext cx="25812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ctr">
              <a:buNone/>
              <a:defRPr/>
            </a:pPr>
            <a:r>
              <a:rPr lang="en-US" altLang="ko-KR" b="1">
                <a:solidFill>
                  <a:srgbClr val="C00000"/>
                </a:solidFill>
                <a:latin typeface="Times New Roman" pitchFamily="18" charset="0"/>
              </a:rPr>
              <a:t>Fig. </a:t>
            </a:r>
            <a:r>
              <a:rPr lang="en-US" altLang="ko-KR" b="1" smtClean="0">
                <a:solidFill>
                  <a:srgbClr val="C00000"/>
                </a:solidFill>
                <a:latin typeface="Times New Roman" pitchFamily="18" charset="0"/>
              </a:rPr>
              <a:t>14.48  </a:t>
            </a:r>
            <a:r>
              <a:rPr lang="en-US" altLang="ko-KR" smtClean="0">
                <a:latin typeface="Times New Roman" pitchFamily="18" charset="0"/>
              </a:rPr>
              <a:t>ATM layers</a:t>
            </a:r>
            <a:endParaRPr lang="en-US" altLang="ko-KR">
              <a:latin typeface="Times New Roman" pitchFamily="18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759" y="4112344"/>
            <a:ext cx="7425001" cy="2058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19" y="683344"/>
            <a:ext cx="7473941" cy="2903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3127766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latin typeface="Times New Roman" pitchFamily="18" charset="0"/>
                <a:cs typeface="Times New Roman" pitchFamily="18" charset="0"/>
              </a:rPr>
              <a:t>14.4 ATM</a:t>
            </a:r>
            <a:endParaRPr lang="en-US" altLang="ko-KR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751836" y="6215878"/>
            <a:ext cx="19736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ctr">
              <a:buNone/>
              <a:defRPr/>
            </a:pPr>
            <a:r>
              <a:rPr lang="en-US" altLang="ko-KR" b="1">
                <a:solidFill>
                  <a:srgbClr val="C00000"/>
                </a:solidFill>
                <a:latin typeface="Times New Roman" pitchFamily="18" charset="0"/>
              </a:rPr>
              <a:t>Fig. </a:t>
            </a:r>
            <a:r>
              <a:rPr lang="en-US" altLang="ko-KR" b="1" smtClean="0">
                <a:solidFill>
                  <a:srgbClr val="C00000"/>
                </a:solidFill>
                <a:latin typeface="Times New Roman" pitchFamily="18" charset="0"/>
              </a:rPr>
              <a:t>14.49  </a:t>
            </a:r>
            <a:r>
              <a:rPr lang="en-US" altLang="ko-KR" smtClean="0">
                <a:latin typeface="Times New Roman" pitchFamily="18" charset="0"/>
              </a:rPr>
              <a:t>AAL5</a:t>
            </a:r>
            <a:endParaRPr lang="en-US" altLang="ko-KR">
              <a:latin typeface="Times New Roman" pitchFamily="18" charset="0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929" y="813414"/>
            <a:ext cx="8035552" cy="36598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08" y="5127827"/>
            <a:ext cx="4093221" cy="5646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4759" y="4979201"/>
            <a:ext cx="2485170" cy="964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2529355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Homework</a:t>
            </a:r>
            <a:endParaRPr lang="en-US" altLang="ko-KR" sz="24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713976"/>
          </a:xfrm>
        </p:spPr>
        <p:txBody>
          <a:bodyPr/>
          <a:lstStyle/>
          <a:p>
            <a:pPr marL="457200" indent="-457200" eaLnBrk="1" hangingPunct="1">
              <a:buFontTx/>
              <a:buNone/>
            </a:pPr>
            <a:r>
              <a:rPr lang="en-US" altLang="ko-KR" sz="4400" b="1" smtClean="0">
                <a:solidFill>
                  <a:srgbClr val="C00000"/>
                </a:solidFill>
                <a:latin typeface="Times New Roman" pitchFamily="18" charset="0"/>
              </a:rPr>
              <a:t>Always Thanks!</a:t>
            </a:r>
          </a:p>
          <a:p>
            <a:pPr marL="457200" indent="-457200" eaLnBrk="1" hangingPunct="1">
              <a:buFontTx/>
              <a:buNone/>
            </a:pPr>
            <a:endParaRPr lang="en-US" altLang="ko-KR" b="1">
              <a:solidFill>
                <a:srgbClr val="C00000"/>
              </a:solidFill>
              <a:latin typeface="Times New Roman" pitchFamily="18" charset="0"/>
            </a:endParaRPr>
          </a:p>
          <a:p>
            <a:pPr marL="457200" indent="-457200" eaLnBrk="1" hangingPunct="1">
              <a:buFontTx/>
              <a:buNone/>
            </a:pPr>
            <a:r>
              <a:rPr lang="en-US" altLang="ko-KR" sz="4800" b="1" smtClean="0">
                <a:solidFill>
                  <a:srgbClr val="C00000"/>
                </a:solidFill>
                <a:latin typeface="Times New Roman" pitchFamily="18" charset="0"/>
              </a:rPr>
              <a:t>Have a Nice Summer Vacation!!</a:t>
            </a:r>
            <a:endParaRPr lang="en-US" altLang="ko-KR" sz="4800" b="1" smtClean="0">
              <a:solidFill>
                <a:srgbClr val="C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488172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Times New Roman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22970</TotalTime>
  <Words>1084</Words>
  <Application>Microsoft Office PowerPoint</Application>
  <PresentationFormat>화면 슬라이드 쇼(4:3)</PresentationFormat>
  <Paragraphs>650</Paragraphs>
  <Slides>52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52</vt:i4>
      </vt:variant>
    </vt:vector>
  </HeadingPairs>
  <TitlesOfParts>
    <vt:vector size="53" baseType="lpstr">
      <vt:lpstr>기본 디자인</vt:lpstr>
      <vt:lpstr>Chapter  14   Other Wired Network</vt:lpstr>
      <vt:lpstr>Ch. 14  Outline</vt:lpstr>
      <vt:lpstr>14.1  Telephone Network</vt:lpstr>
      <vt:lpstr>14.1  Telephone Network</vt:lpstr>
      <vt:lpstr>14.1  Telephone Network</vt:lpstr>
      <vt:lpstr>14.1  Telephone Network</vt:lpstr>
      <vt:lpstr>14.1  Telephone Network</vt:lpstr>
      <vt:lpstr>14.1  Telephone Network</vt:lpstr>
      <vt:lpstr>14.1  Telephone Network</vt:lpstr>
      <vt:lpstr>14.1  Telephone Network</vt:lpstr>
      <vt:lpstr>14.2  Cable Network</vt:lpstr>
      <vt:lpstr>14.2  Cable Network</vt:lpstr>
      <vt:lpstr>14.2  Cable Network</vt:lpstr>
      <vt:lpstr>14.3 SONET</vt:lpstr>
      <vt:lpstr>14.3 SONET</vt:lpstr>
      <vt:lpstr>14.3 SONET</vt:lpstr>
      <vt:lpstr>14.3 SONET</vt:lpstr>
      <vt:lpstr>14.3 SONET</vt:lpstr>
      <vt:lpstr>14.3 SONET</vt:lpstr>
      <vt:lpstr>Homework</vt:lpstr>
      <vt:lpstr>14.3 SONET</vt:lpstr>
      <vt:lpstr>14.3 SONET</vt:lpstr>
      <vt:lpstr>14.3 SONET</vt:lpstr>
      <vt:lpstr>14.3 SONET</vt:lpstr>
      <vt:lpstr>14.3 SONET</vt:lpstr>
      <vt:lpstr>Homework</vt:lpstr>
      <vt:lpstr>14.3 SONET</vt:lpstr>
      <vt:lpstr>14.3 SONET</vt:lpstr>
      <vt:lpstr>14.3 SONET</vt:lpstr>
      <vt:lpstr>14.3 SONET</vt:lpstr>
      <vt:lpstr>14.3 SONET</vt:lpstr>
      <vt:lpstr>14.3 SONET</vt:lpstr>
      <vt:lpstr>14.3 SONET</vt:lpstr>
      <vt:lpstr>14.3 SONET</vt:lpstr>
      <vt:lpstr>14.3 SONET</vt:lpstr>
      <vt:lpstr>14.3 SONET</vt:lpstr>
      <vt:lpstr>14.3 SONET</vt:lpstr>
      <vt:lpstr>14.3 SONET</vt:lpstr>
      <vt:lpstr>14.3 SONET</vt:lpstr>
      <vt:lpstr>14.3 SONET</vt:lpstr>
      <vt:lpstr>14.3 SONET</vt:lpstr>
      <vt:lpstr>14.3 SONET</vt:lpstr>
      <vt:lpstr>14.4 ATM</vt:lpstr>
      <vt:lpstr>14.4 ATM</vt:lpstr>
      <vt:lpstr>14.4 ATM</vt:lpstr>
      <vt:lpstr>14.4 ATM</vt:lpstr>
      <vt:lpstr>14.4 ATM</vt:lpstr>
      <vt:lpstr>14.4 ATM</vt:lpstr>
      <vt:lpstr>14.4 ATM</vt:lpstr>
      <vt:lpstr>14.4 ATM</vt:lpstr>
      <vt:lpstr>14.4 ATM</vt:lpstr>
      <vt:lpstr>Homework</vt:lpstr>
    </vt:vector>
  </TitlesOfParts>
  <Company>UC Berkeley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kaat</dc:creator>
  <cp:lastModifiedBy>김정구</cp:lastModifiedBy>
  <cp:revision>1244</cp:revision>
  <cp:lastPrinted>1998-01-20T18:41:17Z</cp:lastPrinted>
  <dcterms:created xsi:type="dcterms:W3CDTF">1997-04-13T14:24:48Z</dcterms:created>
  <dcterms:modified xsi:type="dcterms:W3CDTF">2013-06-11T01:44:06Z</dcterms:modified>
</cp:coreProperties>
</file>