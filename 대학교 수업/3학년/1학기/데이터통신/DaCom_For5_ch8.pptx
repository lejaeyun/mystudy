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6"/>
  </p:notesMasterIdLst>
  <p:handoutMasterIdLst>
    <p:handoutMasterId r:id="rId37"/>
  </p:handoutMasterIdLst>
  <p:sldIdLst>
    <p:sldId id="256" r:id="rId2"/>
    <p:sldId id="429" r:id="rId3"/>
    <p:sldId id="448" r:id="rId4"/>
    <p:sldId id="449" r:id="rId5"/>
    <p:sldId id="551" r:id="rId6"/>
    <p:sldId id="552" r:id="rId7"/>
    <p:sldId id="553" r:id="rId8"/>
    <p:sldId id="554" r:id="rId9"/>
    <p:sldId id="555" r:id="rId10"/>
    <p:sldId id="579" r:id="rId11"/>
    <p:sldId id="557" r:id="rId12"/>
    <p:sldId id="558" r:id="rId13"/>
    <p:sldId id="559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80" r:id="rId33"/>
    <p:sldId id="578" r:id="rId34"/>
    <p:sldId id="550" r:id="rId3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 varScale="1">
        <p:scale>
          <a:sx n="109" d="100"/>
          <a:sy n="109" d="100"/>
        </p:scale>
        <p:origin x="1296" y="8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emf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357188" y="2743201"/>
            <a:ext cx="4630737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dirty="0" smtClean="0">
                <a:latin typeface="+mj-lt"/>
              </a:rPr>
              <a:t>Chapter  8</a:t>
            </a:r>
            <a:r>
              <a:rPr lang="en-US" altLang="ko-KR" sz="4000" b="0" dirty="0" smtClean="0"/>
              <a:t> </a:t>
            </a:r>
            <a:br>
              <a:rPr lang="en-US" altLang="ko-KR" sz="4000" b="0" dirty="0" smtClean="0"/>
            </a:br>
            <a:r>
              <a:rPr lang="en-US" altLang="ko-KR" sz="4000" b="0" dirty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dirty="0" smtClean="0">
                <a:solidFill>
                  <a:srgbClr val="C00000"/>
                </a:solidFill>
                <a:latin typeface="+mj-lt"/>
              </a:rPr>
              <a:t>Switching</a:t>
            </a:r>
            <a:br>
              <a:rPr lang="en-US" altLang="ko-KR" sz="4000" i="1" dirty="0" smtClean="0">
                <a:solidFill>
                  <a:srgbClr val="C00000"/>
                </a:solidFill>
                <a:latin typeface="+mj-lt"/>
              </a:rPr>
            </a:br>
            <a:endParaRPr lang="en-US" altLang="ko-KR" sz="4000" i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8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8.1   </a:t>
            </a:r>
            <a:r>
              <a:rPr lang="en-US" altLang="ko-KR" sz="2800" b="1" i="1" dirty="0" smtClean="0">
                <a:latin typeface="Times"/>
              </a:rPr>
              <a:t>Introduction</a:t>
            </a:r>
            <a:endParaRPr lang="en-US" altLang="ko-KR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8</a:t>
            </a: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.2  </a:t>
            </a:r>
            <a:r>
              <a:rPr lang="en-US" altLang="ko-KR" sz="2800" b="1" i="1" dirty="0" smtClean="0">
                <a:latin typeface="Times"/>
              </a:rPr>
              <a:t>Circuit-Switched Network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2800" b="1" i="1" dirty="0">
                <a:solidFill>
                  <a:srgbClr val="C00000"/>
                </a:solidFill>
                <a:latin typeface="Times"/>
              </a:rPr>
              <a:t>8</a:t>
            </a: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.3  </a:t>
            </a:r>
            <a:r>
              <a:rPr lang="en-US" altLang="ko-KR" sz="2800" b="1" i="1" dirty="0" smtClean="0">
                <a:latin typeface="Times"/>
              </a:rPr>
              <a:t>Packet-Switching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latin typeface="Times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dirty="0" smtClean="0">
                <a:solidFill>
                  <a:srgbClr val="C00000"/>
                </a:solidFill>
                <a:latin typeface="Times"/>
              </a:rPr>
              <a:t>8.4  </a:t>
            </a:r>
            <a:r>
              <a:rPr lang="en-US" altLang="ko-KR" sz="2800" b="1" i="1" dirty="0" smtClean="0">
                <a:latin typeface="Times"/>
              </a:rPr>
              <a:t>Structure of a Switch</a:t>
            </a:r>
            <a:endParaRPr lang="en-US" altLang="ko-KR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dirty="0">
              <a:solidFill>
                <a:srgbClr val="33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8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three methods of switching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circuit switching,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packet </a:t>
            </a:r>
            <a:r>
              <a:rPr lang="en-US" altLang="ko-KR" dirty="0">
                <a:latin typeface="Times New Roman" pitchFamily="18" charset="0"/>
              </a:rPr>
              <a:t>switching,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and </a:t>
            </a:r>
            <a:r>
              <a:rPr lang="en-US" altLang="ko-KR" dirty="0">
                <a:latin typeface="Times New Roman" pitchFamily="18" charset="0"/>
              </a:rPr>
              <a:t>message switching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ko-KR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8.1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8.1 Introduction 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network is a set of connected devices</a:t>
            </a:r>
            <a:r>
              <a:rPr lang="en-US" altLang="ko-KR" dirty="0">
                <a:latin typeface="Times-Roman"/>
              </a:rPr>
              <a:t>. </a:t>
            </a:r>
            <a:endParaRPr lang="en-US" altLang="ko-KR" dirty="0" smtClean="0">
              <a:latin typeface="+mj-lt"/>
            </a:endParaRPr>
          </a:p>
          <a:p>
            <a:pPr algn="just"/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switched network consists of a series of interlinked nodes, called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switches</a:t>
            </a:r>
            <a:r>
              <a:rPr lang="en-US" altLang="ko-KR" dirty="0">
                <a:latin typeface="Times-Roman"/>
              </a:rPr>
              <a:t>. 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Switched network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765369"/>
            <a:ext cx="5543007" cy="290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8.1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8.1.1 Three Methods of Switching</a:t>
            </a:r>
          </a:p>
          <a:p>
            <a:pPr>
              <a:spcAft>
                <a:spcPts val="600"/>
              </a:spcAft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spcAft>
                <a:spcPts val="600"/>
              </a:spcAft>
            </a:pPr>
            <a:endParaRPr lang="en-US" altLang="ko-KR" dirty="0">
              <a:latin typeface="Times New Roman" pitchFamily="18" charset="0"/>
            </a:endParaRPr>
          </a:p>
          <a:p>
            <a:pPr>
              <a:spcAft>
                <a:spcPts val="600"/>
              </a:spcAft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dirty="0" smtClean="0">
                <a:latin typeface="Times New Roman" pitchFamily="18" charset="0"/>
              </a:rPr>
              <a:t> 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Taxonomy of switched networks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4" y="2514596"/>
            <a:ext cx="8183899" cy="283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8791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8.1  Introduction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8.1.2 Switching and TCP/IP Layers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Times New Roman" pitchFamily="18" charset="0"/>
              </a:rPr>
              <a:t>Switching can happen at several layers of the TCP/IP protocol suite: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at </a:t>
            </a:r>
            <a:r>
              <a:rPr lang="en-US" altLang="ko-KR" dirty="0">
                <a:latin typeface="Times New Roman" pitchFamily="18" charset="0"/>
              </a:rPr>
              <a:t>the physical layer,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at </a:t>
            </a:r>
            <a:r>
              <a:rPr lang="en-US" altLang="ko-KR" dirty="0">
                <a:latin typeface="Times New Roman" pitchFamily="18" charset="0"/>
              </a:rPr>
              <a:t>the data-link layer, </a:t>
            </a:r>
            <a:endParaRPr lang="en-US" altLang="ko-KR" dirty="0" smtClean="0"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latin typeface="Times New Roman" pitchFamily="18" charset="0"/>
              </a:rPr>
              <a:t>and </a:t>
            </a:r>
            <a:r>
              <a:rPr lang="en-US" altLang="ko-KR" dirty="0">
                <a:latin typeface="Times New Roman" pitchFamily="18" charset="0"/>
              </a:rPr>
              <a:t>at the network layer. </a:t>
            </a: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695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  <a:p>
            <a:pPr>
              <a:defRPr/>
            </a:pPr>
            <a:r>
              <a:rPr lang="en-US" altLang="ko-KR" dirty="0">
                <a:latin typeface="+mj-lt"/>
              </a:rPr>
              <a:t>consists of a set of switches connected by physical links</a:t>
            </a:r>
            <a:r>
              <a:rPr lang="en-US" altLang="ko-KR" dirty="0" smtClean="0">
                <a:latin typeface="+mj-lt"/>
              </a:rPr>
              <a:t>.</a:t>
            </a:r>
          </a:p>
          <a:p>
            <a:pPr algn="just"/>
            <a:r>
              <a:rPr lang="en-US" altLang="ko-KR" dirty="0">
                <a:latin typeface="+mj-lt"/>
              </a:rPr>
              <a:t>each connection uses only one dedicated channel on each link. </a:t>
            </a:r>
          </a:p>
          <a:p>
            <a:pPr algn="just"/>
            <a:r>
              <a:rPr lang="en-US" altLang="ko-KR" dirty="0" smtClean="0">
                <a:latin typeface="+mj-lt"/>
              </a:rPr>
              <a:t>each </a:t>
            </a:r>
            <a:r>
              <a:rPr lang="en-US" altLang="ko-KR" dirty="0">
                <a:latin typeface="+mj-lt"/>
              </a:rPr>
              <a:t>link is normally divided into n channels by using FDM or TDM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8.3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trivial circuit-switched network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9" y="2883664"/>
            <a:ext cx="5699167" cy="319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47126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8.4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Circuit-switched network used in Example 8.1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43075"/>
            <a:ext cx="8459747" cy="322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26768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825" y="555625"/>
            <a:ext cx="8429625" cy="5997575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Circuit-switched network used in Example 8.2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79" y="1749458"/>
            <a:ext cx="6556716" cy="2751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59569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825" y="555625"/>
            <a:ext cx="8429625" cy="5997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8.2.1 Three Phase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circuit-switched network requires three phases: 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connection setup, 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data transfer, </a:t>
            </a:r>
          </a:p>
          <a:p>
            <a:pPr lvl="1" algn="just">
              <a:defRPr/>
            </a:pPr>
            <a:r>
              <a:rPr lang="en-US" altLang="ko-KR" dirty="0" smtClean="0">
                <a:latin typeface="Times New Roman" pitchFamily="18" charset="0"/>
              </a:rPr>
              <a:t>and connection teardown.</a:t>
            </a:r>
          </a:p>
          <a:p>
            <a:pPr marL="0" indent="0" algn="just">
              <a:buNone/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84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77825" y="555625"/>
            <a:ext cx="8429625" cy="5997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8.2.2 Efficiency 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It can be argued that circuit-switched networks are </a:t>
            </a:r>
            <a:r>
              <a:rPr lang="en-US" altLang="ko-KR" b="1" i="1" dirty="0">
                <a:latin typeface="Times New Roman" pitchFamily="18" charset="0"/>
              </a:rPr>
              <a:t>not</a:t>
            </a:r>
            <a:r>
              <a:rPr lang="en-US" altLang="ko-KR" dirty="0">
                <a:latin typeface="Times New Roman" pitchFamily="18" charset="0"/>
              </a:rPr>
              <a:t> as </a:t>
            </a:r>
            <a:r>
              <a:rPr lang="en-US" altLang="ko-KR" b="1" i="1" dirty="0">
                <a:latin typeface="Times New Roman" pitchFamily="18" charset="0"/>
              </a:rPr>
              <a:t>efficient</a:t>
            </a:r>
            <a:r>
              <a:rPr lang="en-US" altLang="ko-KR" dirty="0">
                <a:latin typeface="Times New Roman" pitchFamily="18" charset="0"/>
              </a:rPr>
              <a:t> as the other two types of networks because resources are allocated during the entire duration of the connection. These resources are unavailable to other connections. In a telephone network, people normally terminate the communication when they have finished their conversation.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8.2.3 Delay </a:t>
            </a:r>
            <a:endParaRPr lang="en-US" altLang="ko-KR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Although a circuit-switched network normally has low efficiency, the </a:t>
            </a:r>
            <a:r>
              <a:rPr lang="en-US" altLang="ko-KR" b="1" i="1" dirty="0">
                <a:latin typeface="Times New Roman" pitchFamily="18" charset="0"/>
              </a:rPr>
              <a:t>delay</a:t>
            </a:r>
            <a:r>
              <a:rPr lang="en-US" altLang="ko-KR" dirty="0">
                <a:latin typeface="Times New Roman" pitchFamily="18" charset="0"/>
              </a:rPr>
              <a:t> in this type of network </a:t>
            </a:r>
            <a:r>
              <a:rPr lang="en-US" altLang="ko-KR" b="1" i="1" dirty="0">
                <a:latin typeface="Times New Roman" pitchFamily="18" charset="0"/>
              </a:rPr>
              <a:t>is minimal</a:t>
            </a:r>
            <a:r>
              <a:rPr lang="en-US" altLang="ko-KR" dirty="0">
                <a:latin typeface="Times New Roman" pitchFamily="18" charset="0"/>
              </a:rPr>
              <a:t>. During data transfer the data are not delayed at each switch; the resources are allocated for the duration of the connection. Figure 8.6 shows the idea of delay in a circuit-switched network when only two switches are involved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3782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8.2 Circuit-Switched Networks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8.6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Delay in a circuit-switched </a:t>
            </a:r>
            <a:r>
              <a:rPr lang="en-US" altLang="ko-KR" dirty="0" smtClean="0">
                <a:latin typeface="+mj-lt"/>
              </a:rPr>
              <a:t>network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83" y="847913"/>
            <a:ext cx="7747951" cy="4098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13" y="1367729"/>
            <a:ext cx="6226521" cy="429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13" y="1825378"/>
            <a:ext cx="6226521" cy="43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713" y="2371964"/>
            <a:ext cx="6226521" cy="1464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789" y="3943678"/>
            <a:ext cx="6226521" cy="43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97173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8.3 Packet Switching 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packet-switched network,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message is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divided into packets of fixed or variable size. 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size of the packet is determined by the network and the </a:t>
            </a:r>
            <a:r>
              <a:rPr lang="en-US" altLang="ko-KR" dirty="0">
                <a:latin typeface="+mj-lt"/>
                <a:cs typeface="Times New Roman" pitchFamily="18" charset="0"/>
              </a:rPr>
              <a:t>governing </a:t>
            </a:r>
            <a:r>
              <a:rPr lang="en-US" altLang="ko-KR" dirty="0" smtClean="0">
                <a:latin typeface="+mj-lt"/>
              </a:rPr>
              <a:t>protocol.</a:t>
            </a:r>
          </a:p>
        </p:txBody>
      </p:sp>
    </p:spTree>
    <p:extLst>
      <p:ext uri="{BB962C8B-B14F-4D97-AF65-F5344CB8AC3E}">
        <p14:creationId xmlns:p14="http://schemas.microsoft.com/office/powerpoint/2010/main" val="2310919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8.3.1  Datagram Networks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In a datagram network, each packet is treated independently of all others.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Even </a:t>
            </a:r>
            <a:r>
              <a:rPr lang="en-US" altLang="ko-KR" dirty="0">
                <a:latin typeface="Times New Roman" pitchFamily="18" charset="0"/>
              </a:rPr>
              <a:t>if a packet is part of a multipacket transmission, the network treats it as though it existed alone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</a:rPr>
              <a:t>Packets in this approach are referred to as datagrams.</a:t>
            </a:r>
          </a:p>
        </p:txBody>
      </p:sp>
    </p:spTree>
    <p:extLst>
      <p:ext uri="{BB962C8B-B14F-4D97-AF65-F5344CB8AC3E}">
        <p14:creationId xmlns:p14="http://schemas.microsoft.com/office/powerpoint/2010/main" val="36803322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8.7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A Datagram network with four switches (routers)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36088"/>
            <a:ext cx="8008476" cy="302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0" y="2183325"/>
            <a:ext cx="1502550" cy="26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17" y="2065200"/>
            <a:ext cx="2551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761" y="2579839"/>
            <a:ext cx="255150" cy="25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336" y="2071962"/>
            <a:ext cx="250425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198080"/>
            <a:ext cx="2551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82" y="2709777"/>
            <a:ext cx="2551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220" y="3519246"/>
            <a:ext cx="2551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944" y="3857648"/>
            <a:ext cx="2551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664" y="3256185"/>
            <a:ext cx="250425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023" y="3719092"/>
            <a:ext cx="255150" cy="25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49029"/>
            <a:ext cx="1502550" cy="25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30773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8.8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dirty="0">
                <a:latin typeface="+mj-lt"/>
              </a:rPr>
              <a:t>Routing table in a datagram </a:t>
            </a:r>
            <a:r>
              <a:rPr lang="en-US" altLang="ko-KR" dirty="0" smtClean="0">
                <a:latin typeface="+mj-lt"/>
              </a:rPr>
              <a:t>network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559" y="1009650"/>
            <a:ext cx="2661066" cy="427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81806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8.9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dirty="0">
                <a:latin typeface="+mj-lt"/>
              </a:rPr>
              <a:t>Delays in a datagram </a:t>
            </a:r>
            <a:r>
              <a:rPr lang="en-US" altLang="ko-KR" dirty="0" smtClean="0">
                <a:latin typeface="+mj-lt"/>
              </a:rPr>
              <a:t>network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518" y="1371600"/>
            <a:ext cx="6622882" cy="3483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75" y="2102816"/>
            <a:ext cx="1567373" cy="51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939" y="4062251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515" y="2616739"/>
            <a:ext cx="1150424" cy="57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549" y="3563937"/>
            <a:ext cx="1150424" cy="57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430" y="2133600"/>
            <a:ext cx="401553" cy="2457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78119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939" y="3124530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75193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8.3.2  Virtual-Circuit Networks</a:t>
            </a: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is a cross between a circuit-switched network and a datagram network. 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has </a:t>
            </a:r>
            <a:r>
              <a:rPr lang="en-US" altLang="ko-KR" dirty="0">
                <a:latin typeface="Times New Roman" pitchFamily="18" charset="0"/>
              </a:rPr>
              <a:t>some characteristics of both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8.10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Virtual-circuit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network</a:t>
            </a: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2763609"/>
            <a:ext cx="6533963" cy="314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0956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8.11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Virtual-circuit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identifier</a:t>
            </a: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8.12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dirty="0">
                <a:latin typeface="+mj-lt"/>
              </a:rPr>
              <a:t>Switch and table for a virtual-circuit </a:t>
            </a:r>
            <a:r>
              <a:rPr lang="en-US" altLang="ko-KR" dirty="0" smtClean="0">
                <a:latin typeface="+mj-lt"/>
              </a:rPr>
              <a:t>network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669189"/>
            <a:ext cx="5210174" cy="1388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2" y="2832440"/>
            <a:ext cx="4914900" cy="332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03" y="3976114"/>
            <a:ext cx="2099903" cy="215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738" y="4005201"/>
            <a:ext cx="1195474" cy="215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926" y="4857207"/>
            <a:ext cx="215860" cy="1193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97374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23825" y="755650"/>
            <a:ext cx="902017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8.13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Source-to-destination data transfer in </a:t>
            </a:r>
            <a:r>
              <a:rPr lang="en-US" altLang="ko-KR" dirty="0" smtClean="0">
                <a:latin typeface="+mj-lt"/>
              </a:rPr>
              <a:t>a virtual-circuit network</a:t>
            </a:r>
            <a:endParaRPr lang="en-US" altLang="ko-KR" dirty="0">
              <a:latin typeface="+mj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80781"/>
            <a:ext cx="7128544" cy="4836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4509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23825" y="755650"/>
            <a:ext cx="902017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8.14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Setup request </a:t>
            </a:r>
            <a:r>
              <a:rPr lang="en-US" altLang="ko-KR" dirty="0" smtClean="0">
                <a:latin typeface="+mj-lt"/>
              </a:rPr>
              <a:t>in a virtual-circuit network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636085"/>
            <a:ext cx="7619910" cy="389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843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23825" y="755650"/>
            <a:ext cx="902017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8.15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Setup acknowledgment</a:t>
            </a:r>
            <a:r>
              <a:rPr lang="en-US" altLang="ko-KR" dirty="0" smtClean="0">
                <a:latin typeface="+mj-lt"/>
              </a:rPr>
              <a:t> in a virtual-circuit network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1952817"/>
            <a:ext cx="7191375" cy="344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447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8.3 Packet Switching 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23825" y="755650"/>
            <a:ext cx="902017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</a:t>
            </a: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8.16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ko-KR" dirty="0" smtClean="0">
                <a:latin typeface="+mj-lt"/>
              </a:rPr>
              <a:t>Delay in a virtual-circuit network</a:t>
            </a:r>
            <a:endParaRPr lang="en-US" altLang="ko-KR" dirty="0">
              <a:latin typeface="+mj-lt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607" y="1285875"/>
            <a:ext cx="6286018" cy="4245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710" y="2919704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710" y="3473543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454" y="4006943"/>
            <a:ext cx="1905000" cy="5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306" y="2109443"/>
            <a:ext cx="5725147" cy="37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306" y="2490443"/>
            <a:ext cx="5728896" cy="37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306" y="4559086"/>
            <a:ext cx="5728896" cy="37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943" y="2101944"/>
            <a:ext cx="41186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270" y="4311743"/>
            <a:ext cx="411864" cy="87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57" y="2085355"/>
            <a:ext cx="411864" cy="284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375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8.4.1 Structure of Circuit Switches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</a:t>
            </a:r>
            <a:r>
              <a:rPr lang="en-US" altLang="ko-KR" dirty="0">
                <a:latin typeface="Times New Roman" pitchFamily="18" charset="0"/>
              </a:rPr>
              <a:t>space-division switch </a:t>
            </a:r>
            <a:r>
              <a:rPr lang="en-US" altLang="ko-KR" dirty="0" smtClean="0">
                <a:latin typeface="Times New Roman" pitchFamily="18" charset="0"/>
              </a:rPr>
              <a:t>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</a:t>
            </a:r>
            <a:r>
              <a:rPr lang="en-US" altLang="ko-KR" dirty="0">
                <a:latin typeface="Times New Roman" pitchFamily="18" charset="0"/>
              </a:rPr>
              <a:t>time-division switch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8.17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Crossbar switch with three inputs and four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outputs</a:t>
            </a: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3208636"/>
            <a:ext cx="5619750" cy="270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06869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8.18 </a:t>
            </a:r>
            <a:r>
              <a:rPr lang="en-US" altLang="ko-KR" dirty="0">
                <a:latin typeface="+mj-lt"/>
              </a:rPr>
              <a:t>Multistage</a:t>
            </a:r>
            <a:r>
              <a:rPr lang="en-US" altLang="ko-KR" dirty="0" smtClean="0">
                <a:latin typeface="+mj-lt"/>
                <a:cs typeface="Times New Roman" pitchFamily="18" charset="0"/>
              </a:rPr>
              <a:t> switch</a:t>
            </a:r>
            <a:endParaRPr lang="en-US" altLang="ko-KR" dirty="0">
              <a:latin typeface="+mj-lt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2039738"/>
            <a:ext cx="8291821" cy="322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5447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8.19 </a:t>
            </a:r>
            <a:r>
              <a:rPr lang="en-US" altLang="ko-KR" dirty="0">
                <a:latin typeface="+mj-lt"/>
              </a:rPr>
              <a:t>Time-slot </a:t>
            </a:r>
            <a:r>
              <a:rPr lang="en-US" altLang="ko-KR" dirty="0" smtClean="0">
                <a:latin typeface="+mj-lt"/>
              </a:rPr>
              <a:t>interchange</a:t>
            </a:r>
            <a:endParaRPr lang="en-US" altLang="ko-KR" dirty="0"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62" y="1600200"/>
            <a:ext cx="8414238" cy="3392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1894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8.20 </a:t>
            </a:r>
            <a:r>
              <a:rPr lang="en-US" altLang="ko-KR" dirty="0">
                <a:latin typeface="+mj-lt"/>
              </a:rPr>
              <a:t>Time-space-time </a:t>
            </a:r>
            <a:r>
              <a:rPr lang="en-US" altLang="ko-KR" dirty="0" smtClean="0">
                <a:latin typeface="+mj-lt"/>
              </a:rPr>
              <a:t>switch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600200"/>
            <a:ext cx="6540255" cy="3660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91757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8.4.1 Structure of Packet Switches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has four components: input ports, output ports, the routing processor, and the switching fabric, as shown in Figure 8.21.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8.21 </a:t>
            </a:r>
            <a:r>
              <a:rPr lang="en-US" altLang="ko-KR" dirty="0">
                <a:latin typeface="+mj-lt"/>
              </a:rPr>
              <a:t>Packet switch </a:t>
            </a:r>
            <a:r>
              <a:rPr lang="en-US" altLang="ko-KR" dirty="0" smtClean="0">
                <a:latin typeface="+mj-lt"/>
              </a:rPr>
              <a:t>components</a:t>
            </a: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2806384"/>
            <a:ext cx="6356218" cy="2801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7022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8.22 </a:t>
            </a:r>
            <a:r>
              <a:rPr lang="en-US" altLang="ko-KR" dirty="0" smtClean="0">
                <a:latin typeface="+mj-lt"/>
              </a:rPr>
              <a:t>Input port</a:t>
            </a: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8.23 </a:t>
            </a:r>
            <a:r>
              <a:rPr lang="en-US" altLang="ko-KR" dirty="0" smtClean="0">
                <a:latin typeface="+mj-lt"/>
              </a:rPr>
              <a:t>Output </a:t>
            </a:r>
            <a:r>
              <a:rPr lang="en-US" altLang="ko-KR" dirty="0">
                <a:latin typeface="+mj-lt"/>
              </a:rPr>
              <a:t>port</a:t>
            </a: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19" y="790575"/>
            <a:ext cx="7161865" cy="163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60" y="4133850"/>
            <a:ext cx="7306780" cy="1629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2196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8.24 </a:t>
            </a:r>
            <a:r>
              <a:rPr lang="en-US" altLang="ko-KR" dirty="0" smtClean="0">
                <a:latin typeface="+mj-lt"/>
              </a:rPr>
              <a:t>A banyan switch</a:t>
            </a:r>
            <a:endParaRPr lang="en-US" altLang="ko-KR" dirty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38250"/>
            <a:ext cx="6155086" cy="39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39884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8.25 </a:t>
            </a:r>
            <a:r>
              <a:rPr lang="en-US" altLang="ko-KR" dirty="0">
                <a:latin typeface="+mj-lt"/>
              </a:rPr>
              <a:t>Example of routing in a banyan </a:t>
            </a:r>
            <a:r>
              <a:rPr lang="en-US" altLang="ko-KR" dirty="0" smtClean="0">
                <a:latin typeface="+mj-lt"/>
              </a:rPr>
              <a:t>switch (part a)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962" y="1178169"/>
            <a:ext cx="5125425" cy="420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162" y="1787769"/>
            <a:ext cx="4966876" cy="2626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0243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8.25 </a:t>
            </a:r>
            <a:r>
              <a:rPr lang="en-US" altLang="ko-KR" dirty="0">
                <a:latin typeface="+mj-lt"/>
              </a:rPr>
              <a:t>Example of routing in a banyan </a:t>
            </a:r>
            <a:r>
              <a:rPr lang="en-US" altLang="ko-KR" dirty="0" smtClean="0">
                <a:latin typeface="+mj-lt"/>
              </a:rPr>
              <a:t>switch (part </a:t>
            </a:r>
            <a:r>
              <a:rPr lang="en-US" altLang="ko-KR" dirty="0" smtClean="0">
                <a:latin typeface="+mj-lt"/>
              </a:rPr>
              <a:t>b)</a:t>
            </a:r>
            <a:endParaRPr lang="en-US" altLang="ko-KR" dirty="0">
              <a:latin typeface="+mj-lt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375" y="1117863"/>
            <a:ext cx="5125425" cy="420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71344"/>
            <a:ext cx="4779001" cy="124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54559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8.4 Structure of Switch</a:t>
            </a: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06400" y="727075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 smtClean="0">
              <a:latin typeface="+mj-lt"/>
            </a:endParaRPr>
          </a:p>
          <a:p>
            <a:pPr marL="0" indent="0" algn="ctr">
              <a:buNone/>
              <a:defRPr/>
            </a:pPr>
            <a:endParaRPr lang="en-US" altLang="ko-KR" dirty="0">
              <a:latin typeface="+mj-lt"/>
            </a:endParaRPr>
          </a:p>
          <a:p>
            <a:pPr marL="0" indent="0" algn="ctr">
              <a:buNone/>
              <a:defRPr/>
            </a:pPr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Fig. </a:t>
            </a:r>
            <a:r>
              <a:rPr lang="en-US" altLang="ko-KR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8.26 </a:t>
            </a:r>
            <a:r>
              <a:rPr lang="en-US" altLang="ko-KR" dirty="0">
                <a:latin typeface="+mj-lt"/>
              </a:rPr>
              <a:t>Batcher-</a:t>
            </a:r>
            <a:r>
              <a:rPr lang="en-US" altLang="ko-KR" dirty="0" smtClean="0">
                <a:latin typeface="+mj-lt"/>
              </a:rPr>
              <a:t>banyan switch</a:t>
            </a:r>
            <a:endParaRPr lang="en-US" altLang="ko-KR" dirty="0"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86" y="2034550"/>
            <a:ext cx="8028814" cy="307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245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237-252</a:t>
            </a:r>
            <a:endParaRPr lang="en-US" altLang="ko-KR" dirty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9. Introduction to Data-Link Layer</a:t>
            </a: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17319</TotalTime>
  <Words>767</Words>
  <Application>Microsoft Office PowerPoint</Application>
  <PresentationFormat>화면 슬라이드 쇼(4:3)</PresentationFormat>
  <Paragraphs>377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8" baseType="lpstr">
      <vt:lpstr>HY각헤드라인M</vt:lpstr>
      <vt:lpstr>HY목판L</vt:lpstr>
      <vt:lpstr>HY헤드라인M</vt:lpstr>
      <vt:lpstr>Times-Roman</vt:lpstr>
      <vt:lpstr>굴림</vt:lpstr>
      <vt:lpstr>돋움</vt:lpstr>
      <vt:lpstr>Arial</vt:lpstr>
      <vt:lpstr>Arial Black</vt:lpstr>
      <vt:lpstr>Microsoft Sans Serif</vt:lpstr>
      <vt:lpstr>Times</vt:lpstr>
      <vt:lpstr>Times New Roman</vt:lpstr>
      <vt:lpstr>Verdana</vt:lpstr>
      <vt:lpstr>Wingdings 2</vt:lpstr>
      <vt:lpstr>기본 디자인</vt:lpstr>
      <vt:lpstr>Chapter  8   Switching </vt:lpstr>
      <vt:lpstr>Ch. 8 Outline</vt:lpstr>
      <vt:lpstr>Ch. 8 Objective</vt:lpstr>
      <vt:lpstr>8.1  Introduction</vt:lpstr>
      <vt:lpstr>8.1  Introduction</vt:lpstr>
      <vt:lpstr>8.1  Introduction</vt:lpstr>
      <vt:lpstr>8.2 Circuit-Switched Networks </vt:lpstr>
      <vt:lpstr>8.2 Circuit-Switched Networks </vt:lpstr>
      <vt:lpstr>8.2 Circuit-Switched Networks </vt:lpstr>
      <vt:lpstr>8.2 Circuit-Switched Networks </vt:lpstr>
      <vt:lpstr>8.2 Circuit-Switched Networks </vt:lpstr>
      <vt:lpstr>8.2 Circuit-Switched Networks </vt:lpstr>
      <vt:lpstr>8.3 Packet Switching </vt:lpstr>
      <vt:lpstr>8.3 Packet Switching </vt:lpstr>
      <vt:lpstr>8.3 Packet Switching</vt:lpstr>
      <vt:lpstr>8.3 Packet Switching</vt:lpstr>
      <vt:lpstr>8.3 Packet Switching</vt:lpstr>
      <vt:lpstr>8.3 Packet Switching </vt:lpstr>
      <vt:lpstr>8.3 Packet Switching </vt:lpstr>
      <vt:lpstr>8.3 Packet Switching </vt:lpstr>
      <vt:lpstr>8.3 Packet Switching </vt:lpstr>
      <vt:lpstr>8.3 Packet Switching </vt:lpstr>
      <vt:lpstr>8.3 Packet Switching 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8.4 Structure of Switch</vt:lpstr>
      <vt:lpstr>Homework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user</cp:lastModifiedBy>
  <cp:revision>1083</cp:revision>
  <cp:lastPrinted>1998-01-20T18:41:17Z</cp:lastPrinted>
  <dcterms:created xsi:type="dcterms:W3CDTF">1997-04-13T14:24:48Z</dcterms:created>
  <dcterms:modified xsi:type="dcterms:W3CDTF">2020-05-14T03:23:13Z</dcterms:modified>
</cp:coreProperties>
</file>