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50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83" r:id="rId8"/>
    <p:sldId id="288" r:id="rId9"/>
    <p:sldId id="287" r:id="rId10"/>
  </p:sldIdLst>
  <p:sldSz cx="9906000" cy="6858000" type="A4"/>
  <p:notesSz cx="7099300" cy="10234613"/>
  <p:custShowLst>
    <p:custShow name="재구성한 쇼1" id="0">
      <p:sldLst>
        <p:sld r:id="rId3"/>
        <p:sld r:id="rId5"/>
        <p:sld r:id="rId6"/>
      </p:sldLst>
    </p:custShow>
  </p:custShow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b="1" kern="1200">
        <a:solidFill>
          <a:schemeClr val="tx1"/>
        </a:solidFill>
        <a:latin typeface="Arial" panose="020B0604020202020204" pitchFamily="34" charset="0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7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pos="1578">
          <p15:clr>
            <a:srgbClr val="A4A3A4"/>
          </p15:clr>
        </p15:guide>
        <p15:guide id="4" pos="1714">
          <p15:clr>
            <a:srgbClr val="A4A3A4"/>
          </p15:clr>
        </p15:guide>
        <p15:guide id="5" pos="3710">
          <p15:clr>
            <a:srgbClr val="A4A3A4"/>
          </p15:clr>
        </p15:guide>
        <p15:guide id="6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009AC6"/>
    <a:srgbClr val="66CCF5"/>
    <a:srgbClr val="0099D7"/>
    <a:srgbClr val="0099E7"/>
    <a:srgbClr val="66CCF0"/>
    <a:srgbClr val="1E03E9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0" autoAdjust="0"/>
    <p:restoredTop sz="99762" autoAdjust="0"/>
  </p:normalViewPr>
  <p:slideViewPr>
    <p:cSldViewPr snapToObjects="1">
      <p:cViewPr varScale="1">
        <p:scale>
          <a:sx n="114" d="100"/>
          <a:sy n="114" d="100"/>
        </p:scale>
        <p:origin x="1104" y="90"/>
      </p:cViewPr>
      <p:guideLst>
        <p:guide orient="horz" pos="1797"/>
        <p:guide orient="horz" pos="890"/>
        <p:guide pos="1578"/>
        <p:guide pos="1714"/>
        <p:guide pos="3710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8" d="100"/>
          <a:sy n="78" d="100"/>
        </p:scale>
        <p:origin x="3984" y="114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>
            <a:lvl1pPr algn="l" defTabSz="951271" eaLnBrk="1" latinLnBrk="1" hangingPunct="1"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>
            <a:lvl1pPr algn="r" defTabSz="951271" eaLnBrk="1" latinLnBrk="1" hangingPunct="1"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b" anchorCtr="0" compatLnSpc="1">
            <a:prstTxWarp prst="textNoShape">
              <a:avLst/>
            </a:prstTxWarp>
          </a:bodyPr>
          <a:lstStyle>
            <a:lvl1pPr algn="l" defTabSz="951271" eaLnBrk="1" latinLnBrk="1" hangingPunct="1"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b" anchorCtr="0" compatLnSpc="1">
            <a:prstTxWarp prst="textNoShape">
              <a:avLst/>
            </a:prstTxWarp>
          </a:bodyPr>
          <a:lstStyle>
            <a:lvl1pPr algn="r" defTabSz="950913" eaLnBrk="1" latinLnBrk="1" hangingPunct="1">
              <a:defRPr sz="1300" b="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E4643B1-C289-495A-984E-0B13D219DD3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>
            <a:lvl1pPr algn="l" defTabSz="951271" eaLnBrk="1" latinLnBrk="1" hangingPunct="1"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>
            <a:lvl1pPr algn="r" defTabSz="951271" eaLnBrk="1" latinLnBrk="1" hangingPunct="1"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355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727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b" anchorCtr="0" compatLnSpc="1">
            <a:prstTxWarp prst="textNoShape">
              <a:avLst/>
            </a:prstTxWarp>
          </a:bodyPr>
          <a:lstStyle>
            <a:lvl1pPr algn="l" defTabSz="951271" eaLnBrk="1" latinLnBrk="1" hangingPunct="1"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27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67" tIns="47534" rIns="95067" bIns="47534" numCol="1" anchor="b" anchorCtr="0" compatLnSpc="1">
            <a:prstTxWarp prst="textNoShape">
              <a:avLst/>
            </a:prstTxWarp>
          </a:bodyPr>
          <a:lstStyle>
            <a:lvl1pPr algn="r" defTabSz="950913" eaLnBrk="1" latinLnBrk="1" hangingPunct="1">
              <a:defRPr sz="1300" b="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2CCE601-AF88-4FDF-BAC7-0DA5047B3FE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906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endParaRPr lang="ko-KR" altLang="ko-KR" sz="1800">
              <a:solidFill>
                <a:schemeClr val="bg1"/>
              </a:solidFill>
              <a:ea typeface="HY헤드라인M" panose="02030600000101010101" pitchFamily="18" charset="-127"/>
              <a:sym typeface="Wingdings 2" panose="05020102010507070707" pitchFamily="18" charset="2"/>
            </a:endParaRP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ltGray">
          <a:xfrm>
            <a:off x="0" y="6742113"/>
            <a:ext cx="9906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1879600" y="2217738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9600" y="2565400"/>
            <a:ext cx="41535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6033120" y="2217738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ltGray">
          <a:xfrm>
            <a:off x="0" y="0"/>
            <a:ext cx="9906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en-US" altLang="ko-KR" sz="1600" i="1">
                <a:solidFill>
                  <a:schemeClr val="bg1"/>
                </a:solidFill>
              </a:rPr>
              <a:t>Pusan National University </a:t>
            </a:r>
            <a:endParaRPr lang="en-US" altLang="ko-KR" sz="1000">
              <a:solidFill>
                <a:schemeClr val="bg1"/>
              </a:solidFill>
            </a:endParaRPr>
          </a:p>
        </p:txBody>
      </p:sp>
      <p:grpSp>
        <p:nvGrpSpPr>
          <p:cNvPr id="10" name="Group 25"/>
          <p:cNvGrpSpPr>
            <a:grpSpLocks/>
          </p:cNvGrpSpPr>
          <p:nvPr/>
        </p:nvGrpSpPr>
        <p:grpSpPr bwMode="auto">
          <a:xfrm>
            <a:off x="0" y="84138"/>
            <a:ext cx="7113588" cy="357187"/>
            <a:chOff x="0" y="53"/>
            <a:chExt cx="5569" cy="225"/>
          </a:xfrm>
        </p:grpSpPr>
        <p:sp>
          <p:nvSpPr>
            <p:cNvPr id="11" name="Line 16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9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20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21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22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23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Rectangle 27"/>
          <p:cNvSpPr>
            <a:spLocks noChangeArrowheads="1"/>
          </p:cNvSpPr>
          <p:nvPr/>
        </p:nvSpPr>
        <p:spPr bwMode="auto">
          <a:xfrm>
            <a:off x="1930400" y="2565400"/>
            <a:ext cx="28781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endParaRPr lang="ko-KR" altLang="ko-KR" sz="1600" i="1">
              <a:solidFill>
                <a:srgbClr val="777777"/>
              </a:solidFill>
            </a:endParaRPr>
          </a:p>
        </p:txBody>
      </p:sp>
      <p:pic>
        <p:nvPicPr>
          <p:cNvPr id="18" name="Picture 29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901825"/>
            <a:ext cx="958850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31"/>
          <p:cNvSpPr txBox="1">
            <a:spLocks noChangeArrowheads="1"/>
          </p:cNvSpPr>
          <p:nvPr/>
        </p:nvSpPr>
        <p:spPr bwMode="auto">
          <a:xfrm>
            <a:off x="2022475" y="1985963"/>
            <a:ext cx="1851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3400" i="1">
                <a:solidFill>
                  <a:srgbClr val="99CC00"/>
                </a:solidFill>
                <a:latin typeface="Arial Black" pitchFamily="34" charset="0"/>
              </a:rPr>
              <a:t>power</a:t>
            </a:r>
          </a:p>
        </p:txBody>
      </p:sp>
      <p:sp>
        <p:nvSpPr>
          <p:cNvPr id="20" name="Text Box 32"/>
          <p:cNvSpPr txBox="1">
            <a:spLocks noChangeArrowheads="1"/>
          </p:cNvSpPr>
          <p:nvPr/>
        </p:nvSpPr>
        <p:spPr bwMode="auto">
          <a:xfrm>
            <a:off x="3584575" y="1844675"/>
            <a:ext cx="1706563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4600" i="1">
                <a:latin typeface="Arial Black" pitchFamily="34" charset="0"/>
              </a:rPr>
              <a:t>PNU</a:t>
            </a:r>
          </a:p>
        </p:txBody>
      </p:sp>
      <p:sp>
        <p:nvSpPr>
          <p:cNvPr id="21" name="Text Box 33"/>
          <p:cNvSpPr txBox="1">
            <a:spLocks noChangeArrowheads="1"/>
          </p:cNvSpPr>
          <p:nvPr/>
        </p:nvSpPr>
        <p:spPr bwMode="auto">
          <a:xfrm>
            <a:off x="2071688" y="1916113"/>
            <a:ext cx="18732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1600" i="1">
                <a:solidFill>
                  <a:schemeClr val="bg2"/>
                </a:solidFill>
                <a:latin typeface="Arial Black" pitchFamily="34" charset="0"/>
              </a:rPr>
              <a:t> </a:t>
            </a:r>
            <a:r>
              <a:rPr lang="ko-KR" altLang="en-US" sz="1600" i="1">
                <a:solidFill>
                  <a:schemeClr val="bg2"/>
                </a:solidFill>
                <a:latin typeface="Arial Black" pitchFamily="34" charset="0"/>
              </a:rPr>
              <a:t>세계로   미래로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930400" y="2781300"/>
            <a:ext cx="4030712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ko-K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886200"/>
            <a:ext cx="4030712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65510562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9024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0378564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15925" y="765175"/>
            <a:ext cx="45577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26038" y="765175"/>
            <a:ext cx="4559300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2376528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457363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5667324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211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4042091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5085591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8372133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29500" y="-11113"/>
            <a:ext cx="2476500" cy="63928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7277100" cy="63928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5940700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906000" cy="54927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15925" y="765175"/>
            <a:ext cx="4557713" cy="5616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26038" y="765175"/>
            <a:ext cx="4559300" cy="5616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1437172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906000" cy="54927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15925" y="765175"/>
            <a:ext cx="4557713" cy="5616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126038" y="765175"/>
            <a:ext cx="4559300" cy="27320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5126038" y="3649663"/>
            <a:ext cx="4559300" cy="27320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96717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1423865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16280444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4505885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60388" y="2122488"/>
            <a:ext cx="4279900" cy="4186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92688" y="2122488"/>
            <a:ext cx="4281487" cy="4186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6116016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51031068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624419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512071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4216793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5889222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2187754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96125" y="812800"/>
            <a:ext cx="2178050" cy="54959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60388" y="812800"/>
            <a:ext cx="6383337" cy="54959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8490682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1"/>
          <p:cNvSpPr>
            <a:spLocks noChangeArrowheads="1"/>
          </p:cNvSpPr>
          <p:nvPr/>
        </p:nvSpPr>
        <p:spPr bwMode="ltGray">
          <a:xfrm>
            <a:off x="0" y="0"/>
            <a:ext cx="9906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ko-KR" sz="1800">
              <a:solidFill>
                <a:schemeClr val="bg1"/>
              </a:solidFill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906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486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5925" y="765175"/>
            <a:ext cx="9269413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7"/>
          <p:cNvSpPr>
            <a:spLocks noChangeArrowheads="1"/>
          </p:cNvSpPr>
          <p:nvPr/>
        </p:nvSpPr>
        <p:spPr bwMode="ltGray">
          <a:xfrm>
            <a:off x="0" y="6624638"/>
            <a:ext cx="9906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120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 Advanced Broadcasting &amp; Communications Lab.</a:t>
            </a:r>
            <a:endParaRPr lang="en-US" altLang="ko-KR" sz="180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anose="05020102010507070707" pitchFamily="18" charset="2"/>
            </a:endParaRPr>
          </a:p>
        </p:txBody>
      </p:sp>
      <p:sp>
        <p:nvSpPr>
          <p:cNvPr id="1030" name="Oval 8"/>
          <p:cNvSpPr>
            <a:spLocks noChangeArrowheads="1"/>
          </p:cNvSpPr>
          <p:nvPr/>
        </p:nvSpPr>
        <p:spPr bwMode="ltGray">
          <a:xfrm>
            <a:off x="8913813" y="6616700"/>
            <a:ext cx="468312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fld id="{4FE61435-DDBD-4FAE-9128-B6F5041718E7}" type="slidenum">
              <a:rPr lang="en-US" altLang="ko-KR" sz="1200" smtClean="0">
                <a:solidFill>
                  <a:schemeClr val="bg1"/>
                </a:solidFill>
                <a:latin typeface="Verdana" panose="020B0604030504040204" pitchFamily="34" charset="0"/>
                <a:ea typeface="HY각헤드라인M" pitchFamily="18" charset="-127"/>
              </a:rPr>
              <a:pPr algn="r" eaLnBrk="1" latinLnBrk="1" hangingPunct="1">
                <a:defRPr/>
              </a:pPr>
              <a:t>‹#›</a:t>
            </a:fld>
            <a:endParaRPr lang="en-US" altLang="ko-KR" sz="1200">
              <a:solidFill>
                <a:schemeClr val="bg1"/>
              </a:solidFill>
              <a:latin typeface="Verdana" panose="020B0604030504040204" pitchFamily="34" charset="0"/>
              <a:ea typeface="HY각헤드라인M" pitchFamily="18" charset="-127"/>
            </a:endParaRP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ltGray">
          <a:xfrm>
            <a:off x="4592638" y="6742113"/>
            <a:ext cx="4122737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32" name="Group 28"/>
          <p:cNvGrpSpPr>
            <a:grpSpLocks/>
          </p:cNvGrpSpPr>
          <p:nvPr/>
        </p:nvGrpSpPr>
        <p:grpSpPr bwMode="auto">
          <a:xfrm>
            <a:off x="0" y="84138"/>
            <a:ext cx="6465888" cy="357187"/>
            <a:chOff x="0" y="53"/>
            <a:chExt cx="5569" cy="225"/>
          </a:xfrm>
        </p:grpSpPr>
        <p:sp>
          <p:nvSpPr>
            <p:cNvPr id="1037" name="Line 2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8" name="Line 3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9" name="Line 3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0" name="Line 3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1" name="Line 3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2" name="Line 3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33" name="Group 43"/>
          <p:cNvGrpSpPr>
            <a:grpSpLocks/>
          </p:cNvGrpSpPr>
          <p:nvPr/>
        </p:nvGrpSpPr>
        <p:grpSpPr bwMode="auto">
          <a:xfrm>
            <a:off x="180975" y="84138"/>
            <a:ext cx="1643063" cy="427037"/>
            <a:chOff x="135" y="621"/>
            <a:chExt cx="1035" cy="269"/>
          </a:xfrm>
        </p:grpSpPr>
        <p:sp>
          <p:nvSpPr>
            <p:cNvPr id="1034" name="Text Box 38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en-US" altLang="ko-KR" sz="1600" i="1">
                  <a:solidFill>
                    <a:srgbClr val="99CC00"/>
                  </a:solidFill>
                  <a:latin typeface="Arial Black" pitchFamily="34" charset="0"/>
                </a:rPr>
                <a:t>power</a:t>
              </a:r>
            </a:p>
          </p:txBody>
        </p:sp>
        <p:sp>
          <p:nvSpPr>
            <p:cNvPr id="1035" name="Text Box 39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en-US" altLang="ko-KR" sz="2200" i="1">
                  <a:solidFill>
                    <a:schemeClr val="bg1"/>
                  </a:solidFill>
                  <a:latin typeface="Arial Black" pitchFamily="34" charset="0"/>
                </a:rPr>
                <a:t>PNU</a:t>
              </a:r>
            </a:p>
          </p:txBody>
        </p:sp>
        <p:sp>
          <p:nvSpPr>
            <p:cNvPr id="1036" name="Text Box 40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돋움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i="1">
                  <a:solidFill>
                    <a:schemeClr val="bg1"/>
                  </a:solidFill>
                  <a:latin typeface="Arial Black" pitchFamily="34" charset="0"/>
                </a:rPr>
                <a:t>세계로</a:t>
              </a:r>
              <a:r>
                <a:rPr lang="ko-KR" altLang="en-US" sz="900" i="1">
                  <a:solidFill>
                    <a:schemeClr val="bg2"/>
                  </a:solidFill>
                  <a:latin typeface="Arial Black" pitchFamily="34" charset="0"/>
                </a:rPr>
                <a:t> </a:t>
              </a:r>
              <a:r>
                <a:rPr lang="ko-KR" altLang="en-US" sz="900" i="1">
                  <a:solidFill>
                    <a:schemeClr val="bg1"/>
                  </a:solidFill>
                  <a:latin typeface="Arial Black" pitchFamily="34" charset="0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  <p:sldLayoutId id="2147484167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+mn-lt"/>
          <a:ea typeface="돋움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돋움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돋움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돋움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돋움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돋움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돋움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돋움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ltGray">
          <a:xfrm>
            <a:off x="0" y="6538913"/>
            <a:ext cx="9906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1200">
                <a:solidFill>
                  <a:schemeClr val="bg1"/>
                </a:solidFill>
              </a:rPr>
              <a:t>Broadcasting &amp; Communication Systems Lab.</a:t>
            </a:r>
            <a:endParaRPr lang="en-US" altLang="ko-KR" sz="1800">
              <a:solidFill>
                <a:schemeClr val="bg1"/>
              </a:solidFill>
              <a:sym typeface="Wingdings 2" panose="05020102010507070707" pitchFamily="18" charset="2"/>
            </a:endParaRPr>
          </a:p>
        </p:txBody>
      </p:sp>
      <p:sp>
        <p:nvSpPr>
          <p:cNvPr id="2051" name="Oval 6"/>
          <p:cNvSpPr>
            <a:spLocks noChangeArrowheads="1"/>
          </p:cNvSpPr>
          <p:nvPr/>
        </p:nvSpPr>
        <p:spPr bwMode="ltGray">
          <a:xfrm>
            <a:off x="9261475" y="6569075"/>
            <a:ext cx="468313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fld id="{9BE08633-9121-465B-829C-FACCEAA064F2}" type="slidenum">
              <a:rPr lang="en-US" altLang="ko-KR" sz="1200" smtClean="0">
                <a:solidFill>
                  <a:schemeClr val="bg1"/>
                </a:solidFill>
                <a:latin typeface="Verdana" panose="020B0604030504040204" pitchFamily="34" charset="0"/>
                <a:ea typeface="HY각헤드라인M" pitchFamily="18" charset="-127"/>
              </a:rPr>
              <a:pPr algn="r" eaLnBrk="1" latinLnBrk="1" hangingPunct="1">
                <a:defRPr/>
              </a:pPr>
              <a:t>‹#›</a:t>
            </a:fld>
            <a:endParaRPr lang="en-US" altLang="ko-KR" sz="1200">
              <a:solidFill>
                <a:schemeClr val="bg1"/>
              </a:solidFill>
              <a:latin typeface="Verdana" panose="020B0604030504040204" pitchFamily="34" charset="0"/>
              <a:ea typeface="HY각헤드라인M" pitchFamily="18" charset="-127"/>
            </a:endParaRPr>
          </a:p>
        </p:txBody>
      </p:sp>
      <p:sp>
        <p:nvSpPr>
          <p:cNvPr id="2052" name="Line 7"/>
          <p:cNvSpPr>
            <a:spLocks noChangeShapeType="1"/>
          </p:cNvSpPr>
          <p:nvPr/>
        </p:nvSpPr>
        <p:spPr bwMode="ltGray">
          <a:xfrm>
            <a:off x="3625850" y="6669088"/>
            <a:ext cx="5430838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3" name="Line 21"/>
          <p:cNvSpPr>
            <a:spLocks noChangeShapeType="1"/>
          </p:cNvSpPr>
          <p:nvPr/>
        </p:nvSpPr>
        <p:spPr bwMode="auto">
          <a:xfrm>
            <a:off x="2360613" y="1835150"/>
            <a:ext cx="7545387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4" name="Rectangle 24"/>
          <p:cNvSpPr>
            <a:spLocks noChangeArrowheads="1"/>
          </p:cNvSpPr>
          <p:nvPr/>
        </p:nvSpPr>
        <p:spPr bwMode="ltGray">
          <a:xfrm>
            <a:off x="0" y="0"/>
            <a:ext cx="9906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endParaRPr lang="ko-KR" altLang="ko-KR" sz="1000">
              <a:solidFill>
                <a:schemeClr val="bg1"/>
              </a:solidFill>
            </a:endParaRPr>
          </a:p>
        </p:txBody>
      </p:sp>
      <p:grpSp>
        <p:nvGrpSpPr>
          <p:cNvPr id="2055" name="Group 25"/>
          <p:cNvGrpSpPr>
            <a:grpSpLocks/>
          </p:cNvGrpSpPr>
          <p:nvPr/>
        </p:nvGrpSpPr>
        <p:grpSpPr bwMode="auto">
          <a:xfrm>
            <a:off x="0" y="84138"/>
            <a:ext cx="5961063" cy="357187"/>
            <a:chOff x="0" y="53"/>
            <a:chExt cx="5569" cy="225"/>
          </a:xfrm>
        </p:grpSpPr>
        <p:sp>
          <p:nvSpPr>
            <p:cNvPr id="2059" name="Line 26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60" name="Line 27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61" name="Line 28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62" name="Line 29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63" name="Line 30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64" name="Line 31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56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0388" y="2122488"/>
            <a:ext cx="8713787" cy="418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5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560388" y="812800"/>
            <a:ext cx="87137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Contents</a:t>
            </a:r>
          </a:p>
        </p:txBody>
      </p:sp>
      <p:sp>
        <p:nvSpPr>
          <p:cNvPr id="2058" name="Text Box 37"/>
          <p:cNvSpPr txBox="1">
            <a:spLocks noChangeArrowheads="1"/>
          </p:cNvSpPr>
          <p:nvPr/>
        </p:nvSpPr>
        <p:spPr bwMode="auto">
          <a:xfrm>
            <a:off x="6248400" y="0"/>
            <a:ext cx="3657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1800">
                <a:solidFill>
                  <a:schemeClr val="bg1"/>
                </a:solidFill>
              </a:rPr>
              <a:t>제목 삽입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  <p:sldLayoutId id="2147484176" r:id="rId9"/>
    <p:sldLayoutId id="2147484177" r:id="rId10"/>
    <p:sldLayoutId id="2147484178" r:id="rId11"/>
  </p:sldLayoutIdLst>
  <p:transition spd="med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Arial" charset="0"/>
          <a:ea typeface="-갯마을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Arial" charset="0"/>
          <a:ea typeface="-갯마을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Arial" charset="0"/>
          <a:ea typeface="-갯마을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Arial" charset="0"/>
          <a:ea typeface="-갯마을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Arial" charset="0"/>
          <a:ea typeface="-갯마을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Arial" charset="0"/>
          <a:ea typeface="-갯마을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Arial" charset="0"/>
          <a:ea typeface="-갯마을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 i="1">
          <a:solidFill>
            <a:schemeClr val="tx1"/>
          </a:solidFill>
          <a:latin typeface="Arial" charset="0"/>
          <a:ea typeface="-갯마을M" pitchFamily="18" charset="-127"/>
        </a:defRPr>
      </a:lvl9pPr>
    </p:titleStyle>
    <p:bodyStyle>
      <a:lvl1pPr marL="533400" indent="-5334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</a:defRPr>
      </a:lvl2pPr>
      <a:lvl3pPr marL="1295400" indent="-3810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1600" b="1">
          <a:solidFill>
            <a:schemeClr val="tx1"/>
          </a:solidFill>
          <a:latin typeface="+mn-lt"/>
          <a:ea typeface="+mn-ea"/>
        </a:defRPr>
      </a:lvl3pPr>
      <a:lvl4pPr marL="17145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1400" b="1">
          <a:solidFill>
            <a:schemeClr val="tx1"/>
          </a:solidFill>
          <a:latin typeface="+mn-lt"/>
          <a:ea typeface="+mn-ea"/>
        </a:defRPr>
      </a:lvl4pPr>
      <a:lvl5pPr marL="21717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1400" b="1">
          <a:solidFill>
            <a:schemeClr val="tx1"/>
          </a:solidFill>
          <a:latin typeface="+mn-lt"/>
          <a:ea typeface="+mn-ea"/>
        </a:defRPr>
      </a:lvl5pPr>
      <a:lvl6pPr marL="2628900" indent="-342900" algn="l" rtl="0" fontAlgn="base" latinLnBrk="1">
        <a:spcBef>
          <a:spcPct val="20000"/>
        </a:spcBef>
        <a:spcAft>
          <a:spcPct val="0"/>
        </a:spcAft>
        <a:buFont typeface="Wingdings" pitchFamily="2" charset="2"/>
        <a:buChar char="l"/>
        <a:defRPr kumimoji="1" sz="1400" b="1">
          <a:solidFill>
            <a:schemeClr val="tx1"/>
          </a:solidFill>
          <a:latin typeface="+mn-lt"/>
          <a:ea typeface="+mn-ea"/>
        </a:defRPr>
      </a:lvl6pPr>
      <a:lvl7pPr marL="3086100" indent="-342900" algn="l" rtl="0" fontAlgn="base" latinLnBrk="1">
        <a:spcBef>
          <a:spcPct val="20000"/>
        </a:spcBef>
        <a:spcAft>
          <a:spcPct val="0"/>
        </a:spcAft>
        <a:buFont typeface="Wingdings" pitchFamily="2" charset="2"/>
        <a:buChar char="l"/>
        <a:defRPr kumimoji="1" sz="1400" b="1">
          <a:solidFill>
            <a:schemeClr val="tx1"/>
          </a:solidFill>
          <a:latin typeface="+mn-lt"/>
          <a:ea typeface="+mn-ea"/>
        </a:defRPr>
      </a:lvl7pPr>
      <a:lvl8pPr marL="3543300" indent="-342900" algn="l" rtl="0" fontAlgn="base" latinLnBrk="1">
        <a:spcBef>
          <a:spcPct val="20000"/>
        </a:spcBef>
        <a:spcAft>
          <a:spcPct val="0"/>
        </a:spcAft>
        <a:buFont typeface="Wingdings" pitchFamily="2" charset="2"/>
        <a:buChar char="l"/>
        <a:defRPr kumimoji="1" sz="1400" b="1">
          <a:solidFill>
            <a:schemeClr val="tx1"/>
          </a:solidFill>
          <a:latin typeface="+mn-lt"/>
          <a:ea typeface="+mn-ea"/>
        </a:defRPr>
      </a:lvl8pPr>
      <a:lvl9pPr marL="4000500" indent="-342900" algn="l" rtl="0" fontAlgn="base" latinLnBrk="1">
        <a:spcBef>
          <a:spcPct val="20000"/>
        </a:spcBef>
        <a:spcAft>
          <a:spcPct val="0"/>
        </a:spcAft>
        <a:buFont typeface="Wingdings" pitchFamily="2" charset="2"/>
        <a:buChar char="l"/>
        <a:defRPr kumimoji="1" sz="1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o.pusan.ac.kr/" TargetMode="External"/><Relationship Id="rId2" Type="http://schemas.openxmlformats.org/officeDocument/2006/relationships/hyperlink" Target="https://abc.pusan.ac.kr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30400" y="2708275"/>
            <a:ext cx="4174728" cy="1065213"/>
          </a:xfrm>
        </p:spPr>
        <p:txBody>
          <a:bodyPr/>
          <a:lstStyle/>
          <a:p>
            <a:pPr algn="ctr" eaLnBrk="1" hangingPunct="1"/>
            <a:r>
              <a:rPr lang="en-US" altLang="ko-KR" dirty="0">
                <a:solidFill>
                  <a:srgbClr val="A50021"/>
                </a:solidFill>
                <a:latin typeface="Arial Black" panose="020B0A04020102020204" pitchFamily="34" charset="0"/>
                <a:ea typeface="HY견고딕" panose="02030600000101010101" pitchFamily="18" charset="-127"/>
              </a:rPr>
              <a:t>Data Communications</a:t>
            </a:r>
            <a:br>
              <a:rPr lang="en-US" altLang="ko-KR" dirty="0">
                <a:solidFill>
                  <a:srgbClr val="A50021"/>
                </a:solidFill>
                <a:latin typeface="Arial Black" panose="020B0A04020102020204" pitchFamily="34" charset="0"/>
                <a:ea typeface="HY견고딕" panose="02030600000101010101" pitchFamily="18" charset="-127"/>
              </a:rPr>
            </a:br>
            <a:r>
              <a:rPr lang="en-US" altLang="ko-KR" dirty="0">
                <a:solidFill>
                  <a:srgbClr val="A50021"/>
                </a:solidFill>
                <a:latin typeface="Arial Black" panose="020B0A04020102020204" pitchFamily="34" charset="0"/>
                <a:ea typeface="HY견고딕" panose="02030600000101010101" pitchFamily="18" charset="-127"/>
              </a:rPr>
              <a:t>Spring, 2020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39888" y="4221162"/>
            <a:ext cx="4753272" cy="201614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dirty="0"/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dirty="0"/>
          </a:p>
          <a:p>
            <a:pPr eaLnBrk="1" hangingPunct="1">
              <a:lnSpc>
                <a:spcPct val="90000"/>
              </a:lnSpc>
            </a:pPr>
            <a:r>
              <a:rPr lang="en-US" altLang="ko-KR" dirty="0" err="1"/>
              <a:t>Jeong</a:t>
            </a:r>
            <a:r>
              <a:rPr lang="en-US" altLang="ko-KR" dirty="0"/>
              <a:t> Goo Kim</a:t>
            </a:r>
          </a:p>
          <a:p>
            <a:pPr eaLnBrk="1" hangingPunct="1">
              <a:lnSpc>
                <a:spcPct val="90000"/>
              </a:lnSpc>
            </a:pPr>
            <a:endParaRPr lang="en-US" altLang="ko-KR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144" y="2276872"/>
            <a:ext cx="3384376" cy="424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Course Information</a:t>
            </a:r>
            <a:endParaRPr lang="ko-KR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836613"/>
            <a:ext cx="9345613" cy="5329237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ko-KR" b="1" dirty="0"/>
              <a:t>Class Day/Time:  </a:t>
            </a:r>
            <a:r>
              <a:rPr lang="en-US" altLang="ko-KR" sz="2000" dirty="0"/>
              <a:t>Tuesday, Thursday / 13:30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ko-KR" b="1" dirty="0"/>
              <a:t>Classroom</a:t>
            </a:r>
            <a:r>
              <a:rPr lang="en-US" altLang="ko-KR" dirty="0"/>
              <a:t>:  </a:t>
            </a:r>
            <a:r>
              <a:rPr lang="en-US" altLang="ko-KR" sz="2000" dirty="0"/>
              <a:t>Engineering Bldg. #6, Room 6202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ko-KR" b="1" dirty="0"/>
              <a:t>Instructor</a:t>
            </a:r>
            <a:r>
              <a:rPr lang="en-US" altLang="ko-KR" dirty="0"/>
              <a:t>:  </a:t>
            </a:r>
            <a:r>
              <a:rPr lang="en-US" altLang="ko-KR" sz="2000" dirty="0" err="1"/>
              <a:t>Jeong</a:t>
            </a:r>
            <a:r>
              <a:rPr lang="en-US" altLang="ko-KR" sz="2000" dirty="0"/>
              <a:t> Goo Kim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ko-KR" dirty="0"/>
              <a:t>Office: Research &amp; Lab. Bldg. #1, Room 420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ko-KR" dirty="0"/>
              <a:t>Phone: 510-3733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ko-KR" dirty="0"/>
              <a:t>E-mail: kimjg@pusan.ac.kr</a:t>
            </a:r>
            <a:endParaRPr lang="en-US" altLang="ko-KR" b="1" dirty="0"/>
          </a:p>
          <a:p>
            <a:pPr eaLnBrk="1" hangingPunct="1">
              <a:spcBef>
                <a:spcPct val="40000"/>
              </a:spcBef>
            </a:pPr>
            <a:r>
              <a:rPr lang="en-US" altLang="ko-KR" b="1" dirty="0"/>
              <a:t>Office Hours</a:t>
            </a:r>
            <a:r>
              <a:rPr lang="en-US" altLang="ko-KR" dirty="0"/>
              <a:t>: </a:t>
            </a:r>
            <a:r>
              <a:rPr lang="en-US" altLang="ko-KR" sz="2000" dirty="0"/>
              <a:t>Tuesday, Thursday  16:50 – 17:50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ko-KR" b="1" dirty="0"/>
              <a:t>Homework</a:t>
            </a:r>
            <a:r>
              <a:rPr lang="en-US" altLang="ko-KR" dirty="0"/>
              <a:t>:  </a:t>
            </a:r>
            <a:r>
              <a:rPr lang="en-US" altLang="ko-KR" sz="2000" dirty="0"/>
              <a:t>Due one week from day assigned (unless otherwise specified) </a:t>
            </a:r>
            <a:endParaRPr lang="en-US" altLang="ko-KR" sz="2000" b="1" dirty="0"/>
          </a:p>
          <a:p>
            <a:pPr eaLnBrk="1" hangingPunct="1">
              <a:spcBef>
                <a:spcPct val="40000"/>
              </a:spcBef>
            </a:pPr>
            <a:r>
              <a:rPr lang="en-US" altLang="ko-KR" b="1" dirty="0"/>
              <a:t>Grading</a:t>
            </a:r>
            <a:r>
              <a:rPr lang="en-US" altLang="ko-KR" dirty="0"/>
              <a:t>: </a:t>
            </a:r>
            <a:r>
              <a:rPr lang="en-US" altLang="ko-KR" sz="2000" dirty="0"/>
              <a:t>Attendance:    10 %                 Homework:           25%          </a:t>
            </a:r>
            <a:br>
              <a:rPr lang="en-US" altLang="ko-KR" sz="2000" dirty="0"/>
            </a:br>
            <a:r>
              <a:rPr lang="en-US" altLang="ko-KR" dirty="0"/>
              <a:t>                 </a:t>
            </a:r>
            <a:r>
              <a:rPr lang="en-US" altLang="ko-KR" sz="2000" dirty="0"/>
              <a:t>Final Exam:    30%                 Mid Term Exam:   30% </a:t>
            </a:r>
            <a:br>
              <a:rPr lang="en-US" altLang="ko-KR" sz="2000" dirty="0"/>
            </a:br>
            <a:r>
              <a:rPr lang="en-US" altLang="ko-KR" sz="2000" dirty="0"/>
              <a:t>                    Presentation:   5%</a:t>
            </a:r>
            <a:br>
              <a:rPr lang="en-US" altLang="ko-KR" dirty="0"/>
            </a:br>
            <a:endParaRPr lang="en-US" altLang="ko-KR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Course Information</a:t>
            </a:r>
            <a:endParaRPr lang="ko-KR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925" y="928688"/>
            <a:ext cx="9269413" cy="5629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b="1" dirty="0"/>
              <a:t>Course Objectives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Study on data transmission principle, transmission media and data encoding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Study on data link control, multiplexing, and Interfacing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Study on circuit switching, packet switching , and routing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Study on local area network and wireless LAN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b="1" dirty="0"/>
              <a:t>TEXT</a:t>
            </a:r>
            <a:r>
              <a:rPr lang="en-US" altLang="ko-KR" dirty="0"/>
              <a:t> 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</a:pPr>
            <a:r>
              <a:rPr lang="en-US" altLang="ko-KR" dirty="0"/>
              <a:t>Behrouz A. </a:t>
            </a:r>
            <a:r>
              <a:rPr lang="en-US" altLang="ko-KR" dirty="0" err="1"/>
              <a:t>Forouzan</a:t>
            </a:r>
            <a:r>
              <a:rPr lang="en-US" altLang="ko-KR" dirty="0"/>
              <a:t>, Data Communications and Networking(10E), McGraw Hill, 2014 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</a:pPr>
            <a:r>
              <a:rPr lang="ko-KR" altLang="en-US" dirty="0"/>
              <a:t>또는 </a:t>
            </a:r>
            <a:r>
              <a:rPr lang="ko-KR" altLang="en-US" dirty="0" err="1"/>
              <a:t>이재광옮김</a:t>
            </a:r>
            <a:r>
              <a:rPr lang="en-US" altLang="ko-KR" dirty="0"/>
              <a:t>, </a:t>
            </a:r>
            <a:r>
              <a:rPr lang="ko-KR" altLang="en-US" dirty="0"/>
              <a:t>데이터 통신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판</a:t>
            </a:r>
            <a:r>
              <a:rPr lang="en-US" altLang="ko-KR" dirty="0"/>
              <a:t>, , </a:t>
            </a:r>
            <a:r>
              <a:rPr lang="ko-KR" altLang="en-US" dirty="0" err="1"/>
              <a:t>맥그로힐에듀케이션코리아</a:t>
            </a:r>
            <a:r>
              <a:rPr lang="ko-KR" altLang="en-US" dirty="0"/>
              <a:t> 유한회사</a:t>
            </a:r>
            <a:r>
              <a:rPr lang="en-US" altLang="ko-KR" dirty="0"/>
              <a:t>, 2017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en-US" altLang="ko-KR" b="1" dirty="0"/>
              <a:t>Useful References (Books):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 W. Stallings, Data and Computer Communications(8E), Prentice Hall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A. </a:t>
            </a:r>
            <a:r>
              <a:rPr lang="en-US" altLang="ko-KR" dirty="0" err="1"/>
              <a:t>Tannenbaum</a:t>
            </a:r>
            <a:r>
              <a:rPr lang="en-US" altLang="ko-KR" dirty="0"/>
              <a:t>, Computer Networks(4E), Prentice-Hall,  2003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dirty="0">
                <a:latin typeface="한컴돋움" pitchFamily="18" charset="2"/>
              </a:rPr>
              <a:t>이정태 외</a:t>
            </a:r>
            <a:r>
              <a:rPr lang="en-US" altLang="ko-KR" dirty="0">
                <a:latin typeface="한컴돋움" pitchFamily="18" charset="2"/>
              </a:rPr>
              <a:t>, </a:t>
            </a:r>
            <a:r>
              <a:rPr lang="ko-KR" altLang="en-US" dirty="0">
                <a:latin typeface="한컴돋움" pitchFamily="18" charset="2"/>
              </a:rPr>
              <a:t>컴퓨터 네트워크 소프트웨어 및 시스템</a:t>
            </a:r>
            <a:r>
              <a:rPr lang="en-US" altLang="ko-KR" dirty="0">
                <a:latin typeface="한컴돋움" pitchFamily="18" charset="2"/>
              </a:rPr>
              <a:t>(3E), </a:t>
            </a:r>
            <a:r>
              <a:rPr lang="ko-KR" altLang="en-US" dirty="0" err="1">
                <a:latin typeface="한컴돋움" pitchFamily="18" charset="2"/>
              </a:rPr>
              <a:t>사이텍미디어</a:t>
            </a:r>
            <a:r>
              <a:rPr lang="en-US" altLang="ko-KR" dirty="0">
                <a:latin typeface="한컴돋움" pitchFamily="18" charset="2"/>
              </a:rPr>
              <a:t>, 2004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b="1" dirty="0"/>
              <a:t>All the information </a:t>
            </a:r>
            <a:r>
              <a:rPr lang="en-US" altLang="ko-KR" sz="2000" dirty="0"/>
              <a:t>on this class will be posted at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2000" dirty="0"/>
              <a:t>		          </a:t>
            </a:r>
            <a:r>
              <a:rPr lang="en-US" altLang="ko-KR" sz="2000" dirty="0" err="1"/>
              <a:t>abclab</a:t>
            </a:r>
            <a:r>
              <a:rPr lang="en-US" altLang="ko-KR" sz="2000" dirty="0"/>
              <a:t>: </a:t>
            </a:r>
            <a:r>
              <a:rPr lang="en-US" altLang="ko-KR" sz="2000" u="sng" dirty="0">
                <a:solidFill>
                  <a:schemeClr val="accent2"/>
                </a:solidFill>
                <a:hlinkClick r:id="rId2"/>
              </a:rPr>
              <a:t>https://abc.pusan.ac.kr</a:t>
            </a:r>
            <a:r>
              <a:rPr lang="en-US" altLang="ko-KR" sz="2000" dirty="0"/>
              <a:t>, PLATO: </a:t>
            </a:r>
            <a:r>
              <a:rPr lang="en-US" altLang="ko-KR" sz="2000" u="sng" dirty="0">
                <a:solidFill>
                  <a:schemeClr val="accent2"/>
                </a:solidFill>
                <a:hlinkClick r:id="rId3"/>
              </a:rPr>
              <a:t>https://plato.pusan.ac.kr</a:t>
            </a:r>
            <a:r>
              <a:rPr lang="en-US" altLang="ko-KR" sz="2000" u="sng" dirty="0">
                <a:solidFill>
                  <a:schemeClr val="accent2"/>
                </a:solidFill>
              </a:rPr>
              <a:t> </a:t>
            </a:r>
            <a:endParaRPr lang="en-US" altLang="ko-KR" u="sng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0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1800">
                <a:latin typeface="Times New Roman" panose="02020603050405020304" pitchFamily="18" charset="0"/>
                <a:ea typeface="휴먼매직체" panose="02030504000101010101" pitchFamily="18" charset="-127"/>
              </a:rPr>
              <a:t>Class Schedule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5925" y="549275"/>
            <a:ext cx="4557713" cy="1036638"/>
          </a:xfrm>
        </p:spPr>
        <p:txBody>
          <a:bodyPr/>
          <a:lstStyle/>
          <a:p>
            <a:pPr eaLnBrk="1" hangingPunct="1"/>
            <a:r>
              <a:rPr lang="en-US" altLang="ko-KR" b="1"/>
              <a:t>Clas Schedule</a:t>
            </a:r>
            <a:br>
              <a:rPr lang="en-US" altLang="ko-KR"/>
            </a:br>
            <a:endParaRPr lang="en-US" altLang="ko-KR"/>
          </a:p>
        </p:txBody>
      </p:sp>
      <p:sp>
        <p:nvSpPr>
          <p:cNvPr id="32772" name="Rectangle 316"/>
          <p:cNvSpPr>
            <a:spLocks noChangeArrowheads="1"/>
          </p:cNvSpPr>
          <p:nvPr/>
        </p:nvSpPr>
        <p:spPr bwMode="auto">
          <a:xfrm>
            <a:off x="200025" y="6286500"/>
            <a:ext cx="97059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1800"/>
              <a:t>     Note</a:t>
            </a:r>
            <a:r>
              <a:rPr lang="en-US" altLang="ko-KR" sz="1800" b="0"/>
              <a:t>: Schedule may be changed according to the progress of classwork with notification</a:t>
            </a:r>
            <a:r>
              <a:rPr lang="en-US" altLang="ko-KR" sz="2000" b="0"/>
              <a:t> </a:t>
            </a:r>
          </a:p>
        </p:txBody>
      </p:sp>
      <p:sp>
        <p:nvSpPr>
          <p:cNvPr id="32773" name="Rectangle 331"/>
          <p:cNvSpPr>
            <a:spLocks noChangeArrowheads="1"/>
          </p:cNvSpPr>
          <p:nvPr/>
        </p:nvSpPr>
        <p:spPr bwMode="auto">
          <a:xfrm>
            <a:off x="0" y="277813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latinLnBrk="1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32774" name="Rectangle 637"/>
          <p:cNvSpPr>
            <a:spLocks noChangeArrowheads="1"/>
          </p:cNvSpPr>
          <p:nvPr/>
        </p:nvSpPr>
        <p:spPr bwMode="auto">
          <a:xfrm>
            <a:off x="0" y="6353175"/>
            <a:ext cx="215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latinLnBrk="1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b="0">
                <a:latin typeface="Arial" panose="020B0604020202020204" pitchFamily="34" charset="0"/>
              </a:rPr>
              <a:t> </a:t>
            </a:r>
            <a:endParaRPr lang="en-US" altLang="ko-KR" sz="1800" b="0">
              <a:latin typeface="굴림" panose="020B0600000101010101" pitchFamily="50" charset="-127"/>
            </a:endParaRPr>
          </a:p>
        </p:txBody>
      </p:sp>
      <p:sp>
        <p:nvSpPr>
          <p:cNvPr id="32775" name="Rectangle 652"/>
          <p:cNvSpPr>
            <a:spLocks noChangeArrowheads="1"/>
          </p:cNvSpPr>
          <p:nvPr/>
        </p:nvSpPr>
        <p:spPr bwMode="auto">
          <a:xfrm>
            <a:off x="0" y="6350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latinLnBrk="1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  <p:graphicFrame>
        <p:nvGraphicFramePr>
          <p:cNvPr id="122850" name="Group 9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874633"/>
              </p:ext>
            </p:extLst>
          </p:nvPr>
        </p:nvGraphicFramePr>
        <p:xfrm>
          <a:off x="490538" y="989013"/>
          <a:ext cx="8926512" cy="5392744"/>
        </p:xfrm>
        <a:graphic>
          <a:graphicData uri="http://schemas.openxmlformats.org/drawingml/2006/table">
            <a:tbl>
              <a:tblPr/>
              <a:tblGrid>
                <a:gridCol w="782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9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4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Week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 Contents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Note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1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Introduction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 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2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Network Models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3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Introduction to Physical Layer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HW Assignment #1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4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Digital and Analog Transmission</a:t>
                      </a: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 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5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Bandwidth Utilization: Multiplexing and Spectrum Spreading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6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Transmission Media,  Switching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HW Assignment #2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7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Introduction to Data Link Layer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8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 Midterm Exam.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9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Error Detection and Correction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10</a:t>
                      </a: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it-IT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Data Link Control,  Media Access Control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11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Wired LANs: Ethernet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HW Assignment #3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4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12</a:t>
                      </a: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Other Wired Networks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13</a:t>
                      </a: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Wireless LANs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14</a:t>
                      </a: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Other Wireless Networks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HW Assignment #4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15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HY견명조" pitchFamily="18" charset="-127"/>
                        </a:rPr>
                        <a:t> Final Exam.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HY견명조" pitchFamily="18" charset="-127"/>
                      </a:endParaRPr>
                    </a:p>
                  </a:txBody>
                  <a:tcPr marL="92075" marR="92075" marT="46043" marB="460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2846" name="Rectangle 958"/>
          <p:cNvSpPr>
            <a:spLocks noChangeArrowheads="1"/>
          </p:cNvSpPr>
          <p:nvPr/>
        </p:nvSpPr>
        <p:spPr bwMode="auto">
          <a:xfrm>
            <a:off x="0" y="6567488"/>
            <a:ext cx="215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latinLnBrk="1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b="0">
                <a:latin typeface="Arial" panose="020B0604020202020204" pitchFamily="34" charset="0"/>
                <a:ea typeface="돋움" panose="020B0600000101010101" pitchFamily="50" charset="-127"/>
              </a:rPr>
              <a:t> </a:t>
            </a:r>
            <a:endParaRPr lang="en-US" altLang="ko-KR" sz="1800" b="0">
              <a:latin typeface="굴림" panose="020B0600000101010101" pitchFamily="50" charset="-127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1800" dirty="0">
                <a:latin typeface="+mn-lt"/>
              </a:rPr>
              <a:t>Data Communications</a:t>
            </a:r>
            <a:endParaRPr lang="ko-KR" altLang="en-US" sz="1800" dirty="0">
              <a:latin typeface="+mn-lt"/>
            </a:endParaRPr>
          </a:p>
        </p:txBody>
      </p:sp>
      <p:sp>
        <p:nvSpPr>
          <p:cNvPr id="33795" name="내용 개체 틀 1"/>
          <p:cNvSpPr>
            <a:spLocks noGrp="1"/>
          </p:cNvSpPr>
          <p:nvPr>
            <p:ph idx="1"/>
          </p:nvPr>
        </p:nvSpPr>
        <p:spPr>
          <a:xfrm>
            <a:off x="415925" y="765175"/>
            <a:ext cx="9269413" cy="647700"/>
          </a:xfrm>
        </p:spPr>
        <p:txBody>
          <a:bodyPr/>
          <a:lstStyle/>
          <a:p>
            <a:r>
              <a:rPr lang="en-US" altLang="ko-KR"/>
              <a:t>Data Communications</a:t>
            </a:r>
            <a:endParaRPr lang="ko-KR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2101850"/>
            <a:ext cx="221456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763" y="2101850"/>
            <a:ext cx="2224087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425" y="3798888"/>
            <a:ext cx="3052763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613" y="4535488"/>
            <a:ext cx="1290637" cy="81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4946650"/>
            <a:ext cx="6045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4535488"/>
            <a:ext cx="1290638" cy="81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1800" dirty="0">
                <a:latin typeface="+mn-lt"/>
              </a:rPr>
              <a:t>Data Communications</a:t>
            </a:r>
            <a:endParaRPr lang="ko-KR" altLang="en-US" sz="1800" dirty="0">
              <a:latin typeface="+mn-lt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2133600"/>
            <a:ext cx="6699250" cy="41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내용 개체 틀 1"/>
          <p:cNvSpPr>
            <a:spLocks noGrp="1"/>
          </p:cNvSpPr>
          <p:nvPr>
            <p:ph idx="1"/>
          </p:nvPr>
        </p:nvSpPr>
        <p:spPr>
          <a:xfrm>
            <a:off x="415925" y="765175"/>
            <a:ext cx="9269413" cy="647700"/>
          </a:xfrm>
        </p:spPr>
        <p:txBody>
          <a:bodyPr/>
          <a:lstStyle/>
          <a:p>
            <a:r>
              <a:rPr lang="en-US" altLang="ko-KR"/>
              <a:t>OSI Model and TCP/IP Protocol</a:t>
            </a:r>
            <a:endParaRPr lang="ko-KR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dirty="0">
                <a:latin typeface="+mn-lt"/>
              </a:rPr>
              <a:t>Presentation subjec</a:t>
            </a:r>
            <a:r>
              <a:rPr lang="en-US" altLang="ko-KR" sz="1600" dirty="0"/>
              <a:t>t</a:t>
            </a:r>
            <a:endParaRPr lang="ko-KR" altLang="en-US" sz="1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5925" y="765175"/>
            <a:ext cx="9269413" cy="583217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ko-KR" dirty="0">
                <a:solidFill>
                  <a:srgbClr val="A5002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Presentation</a:t>
            </a:r>
          </a:p>
          <a:p>
            <a:pPr eaLnBrk="1" hangingPunct="1"/>
            <a:r>
              <a:rPr lang="en-US" altLang="ko-KR" dirty="0">
                <a:solidFill>
                  <a:srgbClr val="333399"/>
                </a:solidFill>
              </a:rPr>
              <a:t>Presentation method</a:t>
            </a:r>
          </a:p>
          <a:p>
            <a:pPr lvl="1" eaLnBrk="1" hangingPunct="1"/>
            <a:r>
              <a:rPr lang="en-US" altLang="ko-KR" dirty="0"/>
              <a:t>5 minutes speech</a:t>
            </a:r>
          </a:p>
          <a:p>
            <a:pPr eaLnBrk="1" hangingPunct="1"/>
            <a:r>
              <a:rPr lang="en-US" altLang="ko-KR" dirty="0">
                <a:solidFill>
                  <a:srgbClr val="333399"/>
                </a:solidFill>
              </a:rPr>
              <a:t>Topic</a:t>
            </a:r>
          </a:p>
          <a:p>
            <a:pPr lvl="1" eaLnBrk="1" hangingPunct="1"/>
            <a:r>
              <a:rPr lang="en-US" altLang="ko-KR" dirty="0"/>
              <a:t>Computer</a:t>
            </a:r>
          </a:p>
          <a:p>
            <a:pPr lvl="1" eaLnBrk="1" hangingPunct="1"/>
            <a:r>
              <a:rPr lang="en-US" altLang="ko-KR" dirty="0"/>
              <a:t>Data</a:t>
            </a:r>
          </a:p>
          <a:p>
            <a:pPr lvl="1" eaLnBrk="1" hangingPunct="1"/>
            <a:r>
              <a:rPr lang="en-US" altLang="ko-KR" dirty="0"/>
              <a:t>Communication</a:t>
            </a:r>
          </a:p>
          <a:p>
            <a:pPr lvl="1" eaLnBrk="1" hangingPunct="1"/>
            <a:r>
              <a:rPr lang="en-US" altLang="ko-KR" dirty="0"/>
              <a:t>Network</a:t>
            </a:r>
          </a:p>
          <a:p>
            <a:pPr lvl="1" eaLnBrk="1" hangingPunct="1"/>
            <a:r>
              <a:rPr lang="en-US" altLang="ko-KR" dirty="0"/>
              <a:t>Other related on data communication</a:t>
            </a:r>
          </a:p>
          <a:p>
            <a:pPr eaLnBrk="1" hangingPunct="1"/>
            <a:r>
              <a:rPr lang="en-US" altLang="ko-KR" dirty="0">
                <a:solidFill>
                  <a:srgbClr val="002060"/>
                </a:solidFill>
              </a:rPr>
              <a:t>Subtopic</a:t>
            </a:r>
          </a:p>
          <a:p>
            <a:pPr lvl="1" eaLnBrk="1" hangingPunct="1"/>
            <a:r>
              <a:rPr lang="en-US" altLang="ko-KR" dirty="0"/>
              <a:t>Figure</a:t>
            </a:r>
          </a:p>
          <a:p>
            <a:pPr lvl="1" eaLnBrk="1" hangingPunct="1"/>
            <a:r>
              <a:rPr lang="en-US" altLang="ko-KR" dirty="0"/>
              <a:t>History</a:t>
            </a:r>
          </a:p>
          <a:p>
            <a:pPr lvl="1" eaLnBrk="1" hangingPunct="1"/>
            <a:r>
              <a:rPr lang="en-US" altLang="ko-KR" dirty="0"/>
              <a:t>Technology</a:t>
            </a:r>
          </a:p>
          <a:p>
            <a:pPr lvl="1" eaLnBrk="1" hangingPunct="1"/>
            <a:r>
              <a:rPr lang="en-US" altLang="ko-KR" dirty="0"/>
              <a:t>Future</a:t>
            </a:r>
          </a:p>
          <a:p>
            <a:pPr lvl="1" eaLnBrk="1" hangingPunct="1"/>
            <a:r>
              <a:rPr lang="en-US" altLang="ko-KR" dirty="0"/>
              <a:t>And so on…</a:t>
            </a:r>
          </a:p>
          <a:p>
            <a:pPr marL="400050" lvl="1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70697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1600" dirty="0">
                <a:latin typeface="Times New Roman" panose="02020603050405020304" pitchFamily="18" charset="0"/>
              </a:rPr>
              <a:t>Homework</a:t>
            </a:r>
            <a:r>
              <a:rPr lang="en-US" altLang="ko-KR" sz="1800" dirty="0">
                <a:latin typeface="Times New Roman" panose="02020603050405020304" pitchFamily="18" charset="0"/>
              </a:rPr>
              <a:t> and Next Lecture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solidFill>
                  <a:srgbClr val="333399"/>
                </a:solidFill>
              </a:rPr>
              <a:t>Homework</a:t>
            </a:r>
          </a:p>
          <a:p>
            <a:pPr lvl="1" eaLnBrk="1" hangingPunct="1"/>
            <a:r>
              <a:rPr lang="en-US" altLang="ko-KR" dirty="0"/>
              <a:t>Read text book pp. 3-27</a:t>
            </a:r>
          </a:p>
          <a:p>
            <a:pPr eaLnBrk="1" hangingPunct="1"/>
            <a:endParaRPr lang="en-US" altLang="ko-KR" dirty="0">
              <a:solidFill>
                <a:srgbClr val="333399"/>
              </a:solidFill>
            </a:endParaRPr>
          </a:p>
          <a:p>
            <a:pPr eaLnBrk="1" hangingPunct="1"/>
            <a:r>
              <a:rPr lang="en-US" altLang="ko-KR" dirty="0">
                <a:solidFill>
                  <a:srgbClr val="333399"/>
                </a:solidFill>
              </a:rPr>
              <a:t>Next Lecture</a:t>
            </a:r>
            <a:endParaRPr lang="en-US" altLang="ko-KR" dirty="0"/>
          </a:p>
          <a:p>
            <a:pPr lvl="1" eaLnBrk="1" hangingPunct="1"/>
            <a:r>
              <a:rPr lang="en-US" altLang="ko-KR" dirty="0"/>
              <a:t>Chapter  1. Introduction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Arial"/>
        <a:ea typeface="-갯마을M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2362</TotalTime>
  <Words>452</Words>
  <Application>Microsoft Office PowerPoint</Application>
  <PresentationFormat>A4 용지(210x297mm)</PresentationFormat>
  <Paragraphs>100</Paragraphs>
  <Slides>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  <vt:variant>
        <vt:lpstr>재구성한 쇼</vt:lpstr>
      </vt:variant>
      <vt:variant>
        <vt:i4>1</vt:i4>
      </vt:variant>
    </vt:vector>
  </HeadingPairs>
  <TitlesOfParts>
    <vt:vector size="20" baseType="lpstr">
      <vt:lpstr>HY목판L</vt:lpstr>
      <vt:lpstr>HY헤드라인M</vt:lpstr>
      <vt:lpstr>굴림</vt:lpstr>
      <vt:lpstr>한컴돋움</vt:lpstr>
      <vt:lpstr>Arial</vt:lpstr>
      <vt:lpstr>Arial Black</vt:lpstr>
      <vt:lpstr>Times New Roman</vt:lpstr>
      <vt:lpstr>Verdana</vt:lpstr>
      <vt:lpstr>Wingdings</vt:lpstr>
      <vt:lpstr>기본 디자인</vt:lpstr>
      <vt:lpstr>1_기본 디자인</vt:lpstr>
      <vt:lpstr>Data Communications Spring, 2020</vt:lpstr>
      <vt:lpstr>Course Information</vt:lpstr>
      <vt:lpstr>Course Information</vt:lpstr>
      <vt:lpstr>Class Schedule</vt:lpstr>
      <vt:lpstr>Data Communications</vt:lpstr>
      <vt:lpstr>Data Communications</vt:lpstr>
      <vt:lpstr>Presentation subject</vt:lpstr>
      <vt:lpstr>Homework and Next Lecture</vt:lpstr>
      <vt:lpstr>재구성한 쇼1</vt:lpstr>
    </vt:vector>
  </TitlesOfParts>
  <Company>파워피티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이승일</dc:creator>
  <cp:lastModifiedBy>정 수민</cp:lastModifiedBy>
  <cp:revision>256</cp:revision>
  <dcterms:created xsi:type="dcterms:W3CDTF">2002-01-22T02:34:19Z</dcterms:created>
  <dcterms:modified xsi:type="dcterms:W3CDTF">2020-03-12T07:43:41Z</dcterms:modified>
</cp:coreProperties>
</file>