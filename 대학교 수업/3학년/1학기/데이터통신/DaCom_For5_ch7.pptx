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28"/>
  </p:notesMasterIdLst>
  <p:handoutMasterIdLst>
    <p:handoutMasterId r:id="rId29"/>
  </p:handoutMasterIdLst>
  <p:sldIdLst>
    <p:sldId id="256" r:id="rId2"/>
    <p:sldId id="429" r:id="rId3"/>
    <p:sldId id="448" r:id="rId4"/>
    <p:sldId id="449" r:id="rId5"/>
    <p:sldId id="579" r:id="rId6"/>
    <p:sldId id="580" r:id="rId7"/>
    <p:sldId id="581" r:id="rId8"/>
    <p:sldId id="582" r:id="rId9"/>
    <p:sldId id="583" r:id="rId10"/>
    <p:sldId id="584" r:id="rId11"/>
    <p:sldId id="585" r:id="rId12"/>
    <p:sldId id="586" r:id="rId13"/>
    <p:sldId id="587" r:id="rId14"/>
    <p:sldId id="588" r:id="rId15"/>
    <p:sldId id="589" r:id="rId16"/>
    <p:sldId id="590" r:id="rId17"/>
    <p:sldId id="591" r:id="rId18"/>
    <p:sldId id="592" r:id="rId19"/>
    <p:sldId id="595" r:id="rId20"/>
    <p:sldId id="593" r:id="rId21"/>
    <p:sldId id="594" r:id="rId22"/>
    <p:sldId id="596" r:id="rId23"/>
    <p:sldId id="597" r:id="rId24"/>
    <p:sldId id="598" r:id="rId25"/>
    <p:sldId id="599" r:id="rId26"/>
    <p:sldId id="550" r:id="rId27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-72" y="-20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357188" y="2743201"/>
            <a:ext cx="4630737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dirty="0" smtClean="0">
                <a:latin typeface="+mj-lt"/>
              </a:rPr>
              <a:t>Chapter  7</a:t>
            </a:r>
            <a:r>
              <a:rPr lang="en-US" altLang="ko-KR" sz="4000" b="0" dirty="0" smtClean="0"/>
              <a:t> </a:t>
            </a:r>
            <a:br>
              <a:rPr lang="en-US" altLang="ko-KR" sz="4000" b="0" dirty="0" smtClean="0"/>
            </a:br>
            <a:r>
              <a:rPr lang="en-US" altLang="ko-KR" sz="4000" b="0" dirty="0" smtClean="0">
                <a:solidFill>
                  <a:srgbClr val="0070C0"/>
                </a:solidFill>
              </a:rPr>
              <a:t/>
            </a:r>
            <a:br>
              <a:rPr lang="en-US" altLang="ko-KR" sz="4000" b="0" dirty="0" smtClean="0">
                <a:solidFill>
                  <a:srgbClr val="0070C0"/>
                </a:solidFill>
              </a:rPr>
            </a:br>
            <a:r>
              <a:rPr lang="en-US" altLang="ko-KR" sz="4000" i="1" dirty="0" smtClean="0">
                <a:solidFill>
                  <a:srgbClr val="C00000"/>
                </a:solidFill>
                <a:latin typeface="+mj-lt"/>
              </a:rPr>
              <a:t>Transmission Media</a:t>
            </a:r>
            <a:r>
              <a:rPr lang="en-US" altLang="ko-KR" sz="4000" i="1" dirty="0" smtClean="0">
                <a:solidFill>
                  <a:srgbClr val="333399"/>
                </a:solidFill>
                <a:latin typeface="+mj-lt"/>
              </a:rPr>
              <a:t/>
            </a:r>
            <a:br>
              <a:rPr lang="en-US" altLang="ko-KR" sz="4000" i="1" dirty="0" smtClean="0">
                <a:solidFill>
                  <a:srgbClr val="333399"/>
                </a:solidFill>
                <a:latin typeface="+mj-lt"/>
              </a:rPr>
            </a:br>
            <a:endParaRPr lang="en-US" altLang="ko-KR" sz="4000" i="1" dirty="0">
              <a:solidFill>
                <a:srgbClr val="333399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7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7.1   </a:t>
            </a:r>
            <a:r>
              <a:rPr lang="en-US" altLang="ko-KR" sz="2800" b="1" i="1" dirty="0" smtClean="0">
                <a:latin typeface="Times"/>
              </a:rPr>
              <a:t>Introduction</a:t>
            </a:r>
            <a:endParaRPr lang="en-US" altLang="ko-KR" sz="2800" b="1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7.2  </a:t>
            </a:r>
            <a:r>
              <a:rPr lang="en-US" altLang="ko-KR" sz="2800" b="1" i="1" dirty="0" smtClean="0">
                <a:latin typeface="Times"/>
              </a:rPr>
              <a:t>Guided Media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7.3  </a:t>
            </a:r>
            <a:r>
              <a:rPr lang="en-US" altLang="ko-KR" sz="2800" b="1" i="1" dirty="0" smtClean="0">
                <a:latin typeface="Times"/>
              </a:rPr>
              <a:t>Unguided Media</a:t>
            </a:r>
            <a:r>
              <a:rPr lang="en-US" altLang="ko-KR" sz="28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>
              <a:solidFill>
                <a:srgbClr val="3333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</a:t>
            </a:r>
            <a:r>
              <a:rPr lang="en-US" altLang="ko-KR" sz="2000" dirty="0" smtClean="0">
                <a:latin typeface="Times" pitchFamily="18" charset="0"/>
              </a:rPr>
              <a:t>7 </a:t>
            </a:r>
            <a:r>
              <a:rPr lang="en-US" altLang="ko-KR" sz="2000" dirty="0" smtClean="0">
                <a:latin typeface="Times" pitchFamily="18" charset="0"/>
              </a:rPr>
              <a:t>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392113"/>
            <a:ext cx="8429625" cy="6196012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Guided Media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twisted-pair cables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coaxial cables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Unguided Media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radio waves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microwaves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7.1 Introduction </a:t>
            </a:r>
          </a:p>
          <a:p>
            <a:pPr>
              <a:defRPr/>
            </a:pPr>
            <a:r>
              <a:rPr lang="en-US" altLang="ko-KR" dirty="0">
                <a:latin typeface="+mj-lt"/>
              </a:rPr>
              <a:t>Transmission media are actually located below the physical layer and are directly controlled by the physical layer</a:t>
            </a:r>
            <a:r>
              <a:rPr lang="en-US" altLang="ko-KR" dirty="0" smtClean="0">
                <a:latin typeface="+mj-lt"/>
              </a:rPr>
              <a:t>.</a:t>
            </a:r>
          </a:p>
          <a:p>
            <a:pPr>
              <a:defRPr/>
            </a:pPr>
            <a:r>
              <a:rPr lang="en-US" altLang="ko-KR" dirty="0" smtClean="0">
                <a:latin typeface="+mj-lt"/>
              </a:rPr>
              <a:t>They belong </a:t>
            </a:r>
            <a:r>
              <a:rPr lang="en-US" altLang="ko-KR" dirty="0">
                <a:latin typeface="+mj-lt"/>
              </a:rPr>
              <a:t>to layer zero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7.1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Transmission media and physical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layer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48063"/>
            <a:ext cx="8409916" cy="549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556" y="4267200"/>
            <a:ext cx="5067204" cy="1147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7.2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Classes of Transmission media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53" y="2154657"/>
            <a:ext cx="8656781" cy="2417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85562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7.2 Guided Media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provide a conduit from one device to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another</a:t>
            </a:r>
            <a:r>
              <a:rPr lang="en-US" altLang="ko-KR" dirty="0" smtClean="0">
                <a:latin typeface="Times-Roman"/>
              </a:rPr>
              <a:t>.</a:t>
            </a:r>
          </a:p>
          <a:p>
            <a:pPr>
              <a:defRPr/>
            </a:pPr>
            <a:r>
              <a:rPr lang="en-US" altLang="ko-KR" b="1" i="1" dirty="0">
                <a:latin typeface="+mj-lt"/>
                <a:cs typeface="Times New Roman" pitchFamily="18" charset="0"/>
              </a:rPr>
              <a:t>twisted-pair cable, coaxial cable, and fiber-optic cable</a:t>
            </a:r>
            <a:r>
              <a:rPr lang="en-US" altLang="ko-KR" sz="2800" dirty="0" smtClean="0">
                <a:latin typeface="+mj-lt"/>
              </a:rPr>
              <a:t>.</a:t>
            </a: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7.2.1 Twisted-Pair Cable</a:t>
            </a:r>
          </a:p>
          <a:p>
            <a:pPr>
              <a:defRPr/>
            </a:pPr>
            <a:r>
              <a:rPr lang="en-US" altLang="ko-KR" dirty="0" smtClean="0">
                <a:latin typeface="+mj-lt"/>
              </a:rPr>
              <a:t>Two wires</a:t>
            </a:r>
          </a:p>
          <a:p>
            <a:pPr lvl="1">
              <a:defRPr/>
            </a:pPr>
            <a:r>
              <a:rPr lang="en-US" altLang="ko-KR" dirty="0" smtClean="0">
                <a:latin typeface="+mj-lt"/>
              </a:rPr>
              <a:t>one </a:t>
            </a:r>
            <a:r>
              <a:rPr lang="en-US" altLang="ko-KR" b="1" i="1" dirty="0" smtClean="0">
                <a:latin typeface="+mj-lt"/>
              </a:rPr>
              <a:t>carry signal </a:t>
            </a:r>
            <a:r>
              <a:rPr lang="en-US" altLang="ko-KR" dirty="0" smtClean="0">
                <a:latin typeface="+mj-lt"/>
              </a:rPr>
              <a:t>the other is used as a </a:t>
            </a:r>
            <a:r>
              <a:rPr lang="en-US" altLang="ko-KR" b="1" i="1" dirty="0" smtClean="0">
                <a:latin typeface="+mj-lt"/>
              </a:rPr>
              <a:t>ground reference</a:t>
            </a: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7.3 </a:t>
            </a:r>
            <a:r>
              <a:rPr lang="en-US" altLang="ko-KR" dirty="0" smtClean="0">
                <a:latin typeface="Times New Roman" pitchFamily="18" charset="0"/>
              </a:rPr>
              <a:t>Twisted-pair cable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97" y="4672518"/>
            <a:ext cx="7619999" cy="1066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9004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7.4 </a:t>
            </a:r>
            <a:r>
              <a:rPr lang="en-US" altLang="ko-KR" dirty="0" smtClean="0">
                <a:latin typeface="Times New Roman" pitchFamily="18" charset="0"/>
              </a:rPr>
              <a:t>UTP and STP cables</a:t>
            </a:r>
            <a:endParaRPr lang="en-US" altLang="ko-KR" dirty="0">
              <a:latin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Table 7.1</a:t>
            </a:r>
            <a:r>
              <a:rPr lang="en-US" altLang="ko-KR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Categories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of unshielded twisted-pair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cables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48" y="872355"/>
            <a:ext cx="2849423" cy="184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619511"/>
            <a:ext cx="2954100" cy="205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" y="4046220"/>
            <a:ext cx="8206740" cy="258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24512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7.5 </a:t>
            </a:r>
            <a:r>
              <a:rPr lang="en-US" altLang="ko-KR" dirty="0" smtClean="0">
                <a:latin typeface="Times New Roman" pitchFamily="18" charset="0"/>
              </a:rPr>
              <a:t>UTP Connectors</a:t>
            </a:r>
          </a:p>
          <a:p>
            <a:pPr marL="0" indent="0" algn="r">
              <a:buNone/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r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r">
              <a:buNone/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r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r">
              <a:buNone/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r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r">
              <a:lnSpc>
                <a:spcPct val="200000"/>
              </a:lnSpc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Fig. 7.6</a:t>
            </a:r>
            <a:r>
              <a:rPr lang="en-US" altLang="ko-KR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UTP Performance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678464"/>
            <a:ext cx="1371304" cy="204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891" y="1137269"/>
            <a:ext cx="2397668" cy="163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44" y="3019425"/>
            <a:ext cx="4930944" cy="3608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44173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Applications</a:t>
            </a:r>
          </a:p>
          <a:p>
            <a:pPr>
              <a:defRPr/>
            </a:pPr>
            <a:r>
              <a:rPr lang="en-US" altLang="ko-KR" dirty="0" smtClean="0">
                <a:latin typeface="+mj-lt"/>
              </a:rPr>
              <a:t>DSL   </a:t>
            </a:r>
          </a:p>
          <a:p>
            <a:pPr>
              <a:defRPr/>
            </a:pPr>
            <a:r>
              <a:rPr lang="en-US" altLang="ko-KR" dirty="0" smtClean="0">
                <a:latin typeface="+mj-lt"/>
              </a:rPr>
              <a:t>LAN</a:t>
            </a:r>
          </a:p>
          <a:p>
            <a:pPr lvl="1">
              <a:defRPr/>
            </a:pPr>
            <a:r>
              <a:rPr lang="en-US" altLang="ko-KR" dirty="0" smtClean="0">
                <a:latin typeface="+mj-lt"/>
              </a:rPr>
              <a:t>10Base-T   (10 Mbps  Baseband Twister-pair)</a:t>
            </a:r>
          </a:p>
          <a:p>
            <a:pPr lvl="1">
              <a:defRPr/>
            </a:pPr>
            <a:r>
              <a:rPr lang="en-US" altLang="ko-KR" dirty="0" smtClean="0">
                <a:latin typeface="+mj-lt"/>
              </a:rPr>
              <a:t>100Base-T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100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Mbps  Baseband Twister-pair)</a:t>
            </a:r>
            <a:endParaRPr lang="en-US" altLang="ko-KR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1515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7.2.2 Coaxial Cable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carries signals of higher frequency ranges than those in twisted pair </a:t>
            </a:r>
            <a:r>
              <a:rPr lang="en-US" altLang="ko-KR" dirty="0" smtClean="0">
                <a:latin typeface="Times New Roman" pitchFamily="18" charset="0"/>
              </a:rPr>
              <a:t>cable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has a central core conductor of solid or stranded wire (usually copper) enclosed in an insulating sheath</a:t>
            </a: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7.7 </a:t>
            </a:r>
            <a:r>
              <a:rPr lang="en-US" altLang="ko-KR" dirty="0" smtClean="0">
                <a:latin typeface="Times New Roman" pitchFamily="18" charset="0"/>
              </a:rPr>
              <a:t>Coaxial cable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3310744"/>
            <a:ext cx="7170026" cy="2101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10522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Table 7.2 </a:t>
            </a:r>
            <a:r>
              <a:rPr lang="en-US" altLang="ko-KR" dirty="0" smtClean="0">
                <a:latin typeface="+mj-lt"/>
              </a:rPr>
              <a:t>Categories of Coaxial Cable</a:t>
            </a:r>
          </a:p>
          <a:p>
            <a:pPr marL="0" indent="0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+mj-lt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7.8 </a:t>
            </a:r>
            <a:r>
              <a:rPr lang="en-US" altLang="ko-KR" dirty="0" smtClean="0">
                <a:latin typeface="Times New Roman" pitchFamily="18" charset="0"/>
              </a:rPr>
              <a:t>BNC connectors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597" y="1162050"/>
            <a:ext cx="58102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947" y="3185898"/>
            <a:ext cx="2689503" cy="143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15" y="3687190"/>
            <a:ext cx="1264343" cy="157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215" y="4573254"/>
            <a:ext cx="2412235" cy="1383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5379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Performance</a:t>
            </a:r>
            <a:endParaRPr lang="en-US" altLang="ko-KR" b="1" i="1" dirty="0">
              <a:solidFill>
                <a:srgbClr val="C00000"/>
              </a:solidFill>
              <a:latin typeface="+mj-lt"/>
            </a:endParaRPr>
          </a:p>
          <a:p>
            <a:pPr marL="0" indent="0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+mj-lt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7.9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Coaxial cable performance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800" y="1371600"/>
            <a:ext cx="5808575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30141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7.2.3 Fiber-Optic Cable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is made of glass or plastic and transmits signals in the form of light.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7.10 </a:t>
            </a:r>
            <a:r>
              <a:rPr lang="en-US" altLang="ko-KR" dirty="0" smtClean="0">
                <a:latin typeface="Times New Roman" pitchFamily="18" charset="0"/>
              </a:rPr>
              <a:t>Banding of light ray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62" y="2296066"/>
            <a:ext cx="2547713" cy="2580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32" y="2429050"/>
            <a:ext cx="2585593" cy="25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507" y="2429050"/>
            <a:ext cx="2585593" cy="25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56448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7.11 </a:t>
            </a:r>
            <a:r>
              <a:rPr lang="en-US" altLang="ko-KR" dirty="0" smtClean="0">
                <a:latin typeface="Times New Roman" pitchFamily="18" charset="0"/>
              </a:rPr>
              <a:t>Optical Fiber</a:t>
            </a: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7.12 </a:t>
            </a:r>
            <a:r>
              <a:rPr lang="en-US" altLang="ko-KR" dirty="0" smtClean="0">
                <a:latin typeface="Times New Roman" pitchFamily="18" charset="0"/>
              </a:rPr>
              <a:t>Propagation Modes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64" y="903840"/>
            <a:ext cx="7805086" cy="1440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34" y="3648075"/>
            <a:ext cx="8244916" cy="2192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40631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7.13 </a:t>
            </a:r>
            <a:r>
              <a:rPr lang="en-US" altLang="ko-KR" dirty="0" smtClean="0">
                <a:latin typeface="Times New Roman" pitchFamily="18" charset="0"/>
              </a:rPr>
              <a:t>Modes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560" y="819276"/>
            <a:ext cx="5521240" cy="132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502" y="2440323"/>
            <a:ext cx="5521240" cy="1330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585" y="4017839"/>
            <a:ext cx="5406215" cy="132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24491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Table 7.3 </a:t>
            </a:r>
            <a:r>
              <a:rPr lang="en-US" altLang="ko-KR" dirty="0" smtClean="0">
                <a:latin typeface="Times New Roman" pitchFamily="18" charset="0"/>
              </a:rPr>
              <a:t>Fiber types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15" y="1185863"/>
            <a:ext cx="8328660" cy="1592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28257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    Fig</a:t>
            </a: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. 7.14 </a:t>
            </a:r>
            <a:r>
              <a:rPr lang="en-US" altLang="ko-KR" dirty="0">
                <a:latin typeface="Times New Roman" pitchFamily="18" charset="0"/>
              </a:rPr>
              <a:t>Fiber connection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                                                                Fig</a:t>
            </a: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7.15 </a:t>
            </a:r>
            <a:r>
              <a:rPr lang="en-US" altLang="ko-KR" dirty="0" smtClean="0">
                <a:latin typeface="Times New Roman" pitchFamily="18" charset="0"/>
              </a:rPr>
              <a:t>Fiber-optic cable </a:t>
            </a:r>
            <a:br>
              <a:rPr lang="en-US" altLang="ko-KR" dirty="0" smtClean="0">
                <a:latin typeface="Times New Roman" pitchFamily="18" charset="0"/>
              </a:rPr>
            </a:br>
            <a:r>
              <a:rPr lang="en-US" altLang="ko-KR" dirty="0" smtClean="0">
                <a:latin typeface="Times New Roman" pitchFamily="18" charset="0"/>
              </a:rPr>
              <a:t>                                                                                connector             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265732"/>
            <a:ext cx="4484396" cy="2942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443" y="835187"/>
            <a:ext cx="2666768" cy="1186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629" y="2325387"/>
            <a:ext cx="2860324" cy="1035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414" y="3862743"/>
            <a:ext cx="2967854" cy="126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05119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   </a:t>
            </a: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 Fig</a:t>
            </a: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7.16 </a:t>
            </a:r>
            <a:r>
              <a:rPr lang="en-US" altLang="ko-KR" dirty="0" smtClean="0">
                <a:latin typeface="Times New Roman" pitchFamily="18" charset="0"/>
              </a:rPr>
              <a:t>Optical fiber performance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341702"/>
            <a:ext cx="5765139" cy="4478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9119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7.2  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+mj-lt"/>
              </a:rPr>
              <a:t>Advantage and Disadvantages of Optical Fiber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Advantages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Higher bandwidth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Less signal attenuation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Immunity to electromagnetic interference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Resistance to corrosive materials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Light weight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Greater immunity to tapping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Disadvantages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Installation and maintenance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Unidirectional light propagation</a:t>
            </a:r>
          </a:p>
          <a:p>
            <a:pPr lvl="1">
              <a:defRPr/>
            </a:pPr>
            <a:r>
              <a:rPr lang="en-US" altLang="ko-KR" dirty="0" smtClean="0">
                <a:latin typeface="Times New Roman" pitchFamily="18" charset="0"/>
              </a:rPr>
              <a:t>Cost</a:t>
            </a:r>
          </a:p>
        </p:txBody>
      </p:sp>
    </p:spTree>
    <p:extLst>
      <p:ext uri="{BB962C8B-B14F-4D97-AF65-F5344CB8AC3E}">
        <p14:creationId xmlns:p14="http://schemas.microsoft.com/office/powerpoint/2010/main" val="31774863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7.3  Unguided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7.3 Unguided Media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transport waves without using a physical conductor</a:t>
            </a:r>
            <a:r>
              <a:rPr lang="en-US" altLang="ko-KR" dirty="0">
                <a:latin typeface="Times-Roman"/>
              </a:rPr>
              <a:t>.</a:t>
            </a:r>
            <a:endParaRPr lang="en-US" altLang="ko-KR" dirty="0" smtClean="0">
              <a:latin typeface="Times-Roman"/>
            </a:endParaRPr>
          </a:p>
          <a:p>
            <a:pPr>
              <a:defRPr/>
            </a:pPr>
            <a:r>
              <a:rPr lang="en-US" altLang="ko-KR" dirty="0">
                <a:latin typeface="+mj-lt"/>
              </a:rPr>
              <a:t>wireless </a:t>
            </a:r>
            <a:r>
              <a:rPr lang="en-US" altLang="ko-KR" dirty="0" smtClean="0">
                <a:latin typeface="+mj-lt"/>
              </a:rPr>
              <a:t>communication</a:t>
            </a: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>
              <a:defRPr/>
            </a:pPr>
            <a:endParaRPr lang="en-US" altLang="ko-KR" dirty="0">
              <a:latin typeface="+mj-lt"/>
            </a:endParaRP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7.17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Electromagnetic spectrum for wireless communication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609850"/>
            <a:ext cx="84010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67646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7.3  Unguided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>
              <a:defRPr/>
            </a:pPr>
            <a:endParaRPr lang="en-US" altLang="ko-KR" dirty="0">
              <a:latin typeface="+mj-lt"/>
            </a:endParaRP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7.18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Propagation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methods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4" y="1507441"/>
            <a:ext cx="7958137" cy="3340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59923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7.3  Unguided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Table.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7.4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Bands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1"/>
          <p:cNvGrpSpPr/>
          <p:nvPr/>
        </p:nvGrpSpPr>
        <p:grpSpPr>
          <a:xfrm>
            <a:off x="487680" y="1367790"/>
            <a:ext cx="8122920" cy="3870960"/>
            <a:chOff x="411480" y="1615440"/>
            <a:chExt cx="8122920" cy="3870960"/>
          </a:xfrm>
        </p:grpSpPr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" y="3017520"/>
              <a:ext cx="8107680" cy="2468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" y="1615440"/>
              <a:ext cx="8122920" cy="1432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220488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7.3  Unguided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7.3.1 Radio Waves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electromagnetic waves ranging in frequencies between 3 kHz and 1 GHz are normally called radio waves</a:t>
            </a:r>
            <a:r>
              <a:rPr lang="en-US" altLang="ko-KR" dirty="0" smtClean="0">
                <a:latin typeface="Times-Roman"/>
              </a:rPr>
              <a:t>.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used for multicast communications.</a:t>
            </a: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>
              <a:defRPr/>
            </a:pPr>
            <a:endParaRPr lang="en-US" altLang="ko-KR" dirty="0">
              <a:latin typeface="+mj-lt"/>
            </a:endParaRP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7.19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Omnidirectional antenna</a:t>
            </a:r>
          </a:p>
          <a:p>
            <a:pPr marL="0" indent="0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991" y="2857499"/>
            <a:ext cx="2427834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72002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7.3  Unguided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7.3.2 Microwaves 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electromagnetic </a:t>
            </a:r>
            <a:r>
              <a:rPr lang="en-US" altLang="ko-KR" dirty="0">
                <a:latin typeface="Times New Roman" pitchFamily="18" charset="0"/>
              </a:rPr>
              <a:t>waves having frequencies between 1 and 300 GHz are called microwaves. </a:t>
            </a:r>
            <a:endParaRPr lang="en-US" altLang="ko-KR" dirty="0" smtClean="0">
              <a:latin typeface="Times New Roman" pitchFamily="18" charset="0"/>
            </a:endParaRP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used for unicast communications.</a:t>
            </a: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>
              <a:defRPr/>
            </a:pPr>
            <a:endParaRPr lang="en-US" altLang="ko-KR" dirty="0">
              <a:latin typeface="+mj-lt"/>
            </a:endParaRPr>
          </a:p>
          <a:p>
            <a:pPr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7.20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Unidirectional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antenna</a:t>
            </a:r>
          </a:p>
          <a:p>
            <a:pPr marL="0" indent="0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76575"/>
            <a:ext cx="2416112" cy="2321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48" y="2648204"/>
            <a:ext cx="2981265" cy="2750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47710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7.3  Unguided Media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7.3.3 Infrared 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with </a:t>
            </a:r>
            <a:r>
              <a:rPr lang="en-US" altLang="ko-KR" dirty="0">
                <a:latin typeface="Times New Roman" pitchFamily="18" charset="0"/>
              </a:rPr>
              <a:t>frequencies from 300 GHz to 400 THz (wavelengths from 1 mm to 770 </a:t>
            </a:r>
            <a:r>
              <a:rPr lang="en-US" altLang="ko-KR" dirty="0" smtClean="0">
                <a:latin typeface="Times New Roman" pitchFamily="18" charset="0"/>
              </a:rPr>
              <a:t>nm)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used </a:t>
            </a:r>
            <a:r>
              <a:rPr lang="en-US" altLang="ko-KR" dirty="0">
                <a:latin typeface="Times New Roman" pitchFamily="18" charset="0"/>
              </a:rPr>
              <a:t>for short-range communication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a short-range communication system in one room cannot be affected by another system in the next room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3437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 Read textbook pp. </a:t>
            </a:r>
            <a:r>
              <a:rPr lang="en-US" altLang="ko-KR" dirty="0" smtClean="0">
                <a:latin typeface="Times New Roman" pitchFamily="18" charset="0"/>
              </a:rPr>
              <a:t>207-230</a:t>
            </a:r>
            <a:endParaRPr lang="en-US" altLang="ko-KR" dirty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</a:t>
            </a:r>
            <a:r>
              <a:rPr lang="en-US" altLang="ko-KR" dirty="0" smtClean="0">
                <a:latin typeface="Times New Roman" pitchFamily="18" charset="0"/>
              </a:rPr>
              <a:t>8. Switching</a:t>
            </a: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16636</TotalTime>
  <Words>531</Words>
  <Application>Microsoft Office PowerPoint</Application>
  <PresentationFormat>화면 슬라이드 쇼(4:3)</PresentationFormat>
  <Paragraphs>267</Paragraphs>
  <Slides>26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기본 디자인</vt:lpstr>
      <vt:lpstr>Chapter  7   Transmission Media </vt:lpstr>
      <vt:lpstr>Ch. 7 Outline</vt:lpstr>
      <vt:lpstr>Ch. 7 Objective</vt:lpstr>
      <vt:lpstr>7.1  Introduction</vt:lpstr>
      <vt:lpstr>7.1  Introduction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7.2  Guided Media</vt:lpstr>
      <vt:lpstr>7.3  Unguided Media</vt:lpstr>
      <vt:lpstr>7.3  Unguided Media</vt:lpstr>
      <vt:lpstr>7.3  Unguided Media</vt:lpstr>
      <vt:lpstr>7.3  Unguided Media</vt:lpstr>
      <vt:lpstr>7.3  Unguided Media</vt:lpstr>
      <vt:lpstr>7.3  Unguided Media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1068</cp:revision>
  <cp:lastPrinted>1998-01-20T18:41:17Z</cp:lastPrinted>
  <dcterms:created xsi:type="dcterms:W3CDTF">1997-04-13T14:24:48Z</dcterms:created>
  <dcterms:modified xsi:type="dcterms:W3CDTF">2013-04-03T02:13:29Z</dcterms:modified>
</cp:coreProperties>
</file>