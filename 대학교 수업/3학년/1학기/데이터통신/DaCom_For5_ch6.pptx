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35"/>
  </p:notesMasterIdLst>
  <p:handoutMasterIdLst>
    <p:handoutMasterId r:id="rId36"/>
  </p:handoutMasterIdLst>
  <p:sldIdLst>
    <p:sldId id="256" r:id="rId2"/>
    <p:sldId id="429" r:id="rId3"/>
    <p:sldId id="448" r:id="rId4"/>
    <p:sldId id="449" r:id="rId5"/>
    <p:sldId id="551" r:id="rId6"/>
    <p:sldId id="552" r:id="rId7"/>
    <p:sldId id="553" r:id="rId8"/>
    <p:sldId id="554" r:id="rId9"/>
    <p:sldId id="555" r:id="rId10"/>
    <p:sldId id="556" r:id="rId11"/>
    <p:sldId id="557" r:id="rId12"/>
    <p:sldId id="558" r:id="rId13"/>
    <p:sldId id="559" r:id="rId14"/>
    <p:sldId id="560" r:id="rId15"/>
    <p:sldId id="561" r:id="rId16"/>
    <p:sldId id="562" r:id="rId17"/>
    <p:sldId id="563" r:id="rId18"/>
    <p:sldId id="564" r:id="rId19"/>
    <p:sldId id="565" r:id="rId20"/>
    <p:sldId id="566" r:id="rId21"/>
    <p:sldId id="567" r:id="rId22"/>
    <p:sldId id="568" r:id="rId23"/>
    <p:sldId id="569" r:id="rId24"/>
    <p:sldId id="570" r:id="rId25"/>
    <p:sldId id="571" r:id="rId26"/>
    <p:sldId id="572" r:id="rId27"/>
    <p:sldId id="573" r:id="rId28"/>
    <p:sldId id="574" r:id="rId29"/>
    <p:sldId id="575" r:id="rId30"/>
    <p:sldId id="576" r:id="rId31"/>
    <p:sldId id="577" r:id="rId32"/>
    <p:sldId id="578" r:id="rId33"/>
    <p:sldId id="550" r:id="rId34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7E0000"/>
    <a:srgbClr val="7B84C6"/>
    <a:srgbClr val="FF8C3C"/>
    <a:srgbClr val="C66B5A"/>
    <a:srgbClr val="315263"/>
    <a:srgbClr val="001E4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018" autoAdjust="0"/>
    <p:restoredTop sz="94591" autoAdjust="0"/>
  </p:normalViewPr>
  <p:slideViewPr>
    <p:cSldViewPr snapToGrid="0">
      <p:cViewPr>
        <p:scale>
          <a:sx n="100" d="100"/>
          <a:sy n="100" d="100"/>
        </p:scale>
        <p:origin x="-24" y="-96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3CCB1160-95BA-43F5-8A38-970867445629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553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403C42A9-E316-4AA1-B844-5021B4B92E18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43349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1400" i="0" dirty="0" smtClean="0">
                <a:latin typeface="Times New Roman" pitchFamily="18" charset="0"/>
              </a:rPr>
              <a:t>EE141</a:t>
            </a:r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0DD09AAB-6945-4B2F-AFC4-B1FD614E8BDE}" type="slidenum">
              <a:rPr lang="ko-KR" altLang="en-US" sz="1400" i="0" smtClean="0">
                <a:latin typeface="Times New Roman" pitchFamily="18" charset="0"/>
              </a:rPr>
              <a:pPr/>
              <a:t>1</a:t>
            </a:fld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800" b="1" i="0" dirty="0">
              <a:solidFill>
                <a:schemeClr val="bg1"/>
              </a:solidFill>
              <a:ea typeface="HY헤드라인M" pitchFamily="18" charset="-127"/>
              <a:sym typeface="Wingdings 2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2088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020888" y="1700213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66603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r>
              <a:rPr kumimoji="1" lang="en-US" altLang="ko-KR" sz="1600" b="1" dirty="0">
                <a:solidFill>
                  <a:schemeClr val="bg1"/>
                </a:solidFill>
                <a:ea typeface="돋움" pitchFamily="50" charset="-127"/>
              </a:rPr>
              <a:t>Pusan National University </a:t>
            </a:r>
            <a:endParaRPr kumimoji="1" lang="en-US" altLang="ko-KR" sz="10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6925" y="1700213"/>
            <a:ext cx="26574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600" b="1" dirty="0">
              <a:solidFill>
                <a:srgbClr val="777777"/>
              </a:solidFill>
              <a:ea typeface="돋움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036638"/>
            <a:ext cx="885825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76450" y="1092200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dirty="0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066303" y="1916084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1492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2142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700494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478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4810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329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0141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00320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0712622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49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557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61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684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kumimoji="1" lang="ko-KR" altLang="en-US" sz="18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r>
              <a:rPr kumimoji="1" lang="ko-KR" altLang="en-US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 dirty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fld id="{CEE226F8-AF74-4623-8521-365EFC50DC76}" type="slidenum">
              <a:rPr kumimoji="1" lang="ko-KR" altLang="en-US" sz="1200" b="1" i="0">
                <a:solidFill>
                  <a:schemeClr val="bg1"/>
                </a:solidFill>
                <a:latin typeface="Verdana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 dirty="0">
              <a:solidFill>
                <a:schemeClr val="bg1"/>
              </a:solidFill>
              <a:latin typeface="Verdana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dirty="0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dirty="0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795338" y="5151438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dirty="0" smtClean="0">
              <a:latin typeface="Times New Roman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266700" y="2514601"/>
            <a:ext cx="4826001" cy="2333624"/>
          </a:xfrm>
        </p:spPr>
        <p:txBody>
          <a:bodyPr/>
          <a:lstStyle/>
          <a:p>
            <a:pPr algn="ctr" eaLnBrk="1" hangingPunct="1"/>
            <a:r>
              <a:rPr lang="en-US" altLang="ko-KR" sz="4000" i="1" dirty="0" smtClean="0">
                <a:latin typeface="+mj-lt"/>
              </a:rPr>
              <a:t>Chapter  6</a:t>
            </a:r>
            <a:r>
              <a:rPr lang="en-US" altLang="ko-KR" sz="4000" b="0" dirty="0" smtClean="0"/>
              <a:t> </a:t>
            </a:r>
            <a:br>
              <a:rPr lang="en-US" altLang="ko-KR" sz="4000" b="0" dirty="0" smtClean="0"/>
            </a:br>
            <a:r>
              <a:rPr lang="en-US" altLang="ko-KR" sz="4000" b="0" dirty="0" smtClean="0">
                <a:solidFill>
                  <a:srgbClr val="0070C0"/>
                </a:solidFill>
              </a:rPr>
              <a:t/>
            </a:r>
            <a:br>
              <a:rPr lang="en-US" altLang="ko-KR" sz="4000" b="0" dirty="0" smtClean="0">
                <a:solidFill>
                  <a:srgbClr val="0070C0"/>
                </a:solidFill>
              </a:rPr>
            </a:br>
            <a:r>
              <a:rPr lang="en-US" altLang="ko-KR" sz="4000" i="1" dirty="0" smtClean="0">
                <a:solidFill>
                  <a:srgbClr val="C00000"/>
                </a:solidFill>
                <a:latin typeface="+mj-lt"/>
              </a:rPr>
              <a:t>Bandwidth Utilization</a:t>
            </a:r>
            <a:endParaRPr lang="en-US" altLang="ko-KR" sz="4000" i="1" dirty="0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075" y="2165350"/>
            <a:ext cx="3494088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18" charset="0"/>
                <a:cs typeface="Times" pitchFamily="18" charset="0"/>
              </a:rPr>
              <a:t>Ch. 6 Outline</a:t>
            </a:r>
            <a:endPara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altLang="ko-KR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3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dirty="0">
                <a:solidFill>
                  <a:srgbClr val="C00000"/>
                </a:solidFill>
                <a:latin typeface="Times"/>
              </a:rPr>
              <a:t>6.1   </a:t>
            </a:r>
            <a:r>
              <a:rPr lang="en-US" altLang="ko-KR" sz="2800" b="1" i="1" dirty="0">
                <a:solidFill>
                  <a:srgbClr val="333399"/>
                </a:solidFill>
                <a:latin typeface="Times New Roman" pitchFamily="18" charset="0"/>
                <a:cs typeface="Times New Roman" pitchFamily="18" charset="0"/>
              </a:rPr>
              <a:t>MULTIPLEXING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"/>
              </a:rPr>
              <a:t>6.2   </a:t>
            </a:r>
            <a:r>
              <a:rPr lang="en-US" altLang="ko-KR" sz="2800" b="1" i="1" dirty="0">
                <a:solidFill>
                  <a:srgbClr val="333399"/>
                </a:solidFill>
                <a:latin typeface="Times New Roman" pitchFamily="18" charset="0"/>
                <a:cs typeface="Times New Roman" pitchFamily="18" charset="0"/>
              </a:rPr>
              <a:t>SPREAD SPECTRUM </a:t>
            </a:r>
            <a:endParaRPr lang="en-US" altLang="ko-KR" sz="2800" b="1" i="1" dirty="0" smtClean="0">
              <a:solidFill>
                <a:srgbClr val="3333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>
              <a:solidFill>
                <a:srgbClr val="333399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latin typeface="Times" pitchFamily="18" charset="0"/>
              </a:rPr>
              <a:t>Ch. 6 Objective</a:t>
            </a:r>
            <a:endParaRPr lang="en-US" altLang="ko-KR" sz="2000" dirty="0">
              <a:latin typeface="Times" pitchFamily="18" charset="0"/>
            </a:endParaRPr>
          </a:p>
        </p:txBody>
      </p:sp>
      <p:sp>
        <p:nvSpPr>
          <p:cNvPr id="17411" name="내용 개체 틀 2"/>
          <p:cNvSpPr>
            <a:spLocks noGrp="1"/>
          </p:cNvSpPr>
          <p:nvPr>
            <p:ph idx="1"/>
          </p:nvPr>
        </p:nvSpPr>
        <p:spPr>
          <a:xfrm>
            <a:off x="344488" y="392113"/>
            <a:ext cx="8429625" cy="6196012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</a:pPr>
            <a:r>
              <a:rPr lang="en-US" altLang="ko-K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Multiplexing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FDM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WDM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TDM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solidFill>
                  <a:srgbClr val="333399"/>
                </a:solidFill>
                <a:latin typeface="Times New Roman" pitchFamily="18" charset="0"/>
              </a:rPr>
              <a:t>spectrum spreading </a:t>
            </a:r>
            <a:endParaRPr lang="en-US" altLang="ko-KR" dirty="0" smtClean="0">
              <a:solidFill>
                <a:srgbClr val="333399"/>
              </a:solidFill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FHSS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DSSS</a:t>
            </a:r>
          </a:p>
          <a:p>
            <a:pPr lvl="1">
              <a:spcAft>
                <a:spcPts val="600"/>
              </a:spcAft>
            </a:pPr>
            <a:endParaRPr lang="en-US" altLang="ko-KR" dirty="0" smtClean="0">
              <a:solidFill>
                <a:srgbClr val="333399"/>
              </a:solidFill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endParaRPr lang="en-US" altLang="ko-KR" dirty="0" smtClean="0">
              <a:solidFill>
                <a:srgbClr val="333399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6.1 Multiplexing 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</a:rPr>
              <a:t>is the set of techniques that allows the simultaneous transmission of multiple signals across a single data </a:t>
            </a:r>
            <a:r>
              <a:rPr lang="en-US" altLang="ko-KR" dirty="0" smtClean="0">
                <a:latin typeface="Times New Roman" pitchFamily="18" charset="0"/>
              </a:rPr>
              <a:t>link.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6.1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+mj-lt"/>
              </a:rPr>
              <a:t>Dividing </a:t>
            </a:r>
            <a:r>
              <a:rPr lang="en-US" altLang="ko-KR" dirty="0">
                <a:latin typeface="+mj-lt"/>
              </a:rPr>
              <a:t>a link into </a:t>
            </a:r>
            <a:r>
              <a:rPr lang="en-US" altLang="ko-KR" dirty="0" smtClean="0">
                <a:latin typeface="+mj-lt"/>
              </a:rPr>
              <a:t>channels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grpSp>
        <p:nvGrpSpPr>
          <p:cNvPr id="12" name="Group 1"/>
          <p:cNvGrpSpPr/>
          <p:nvPr/>
        </p:nvGrpSpPr>
        <p:grpSpPr>
          <a:xfrm>
            <a:off x="457200" y="3607594"/>
            <a:ext cx="8312150" cy="1874838"/>
            <a:chOff x="457200" y="2514600"/>
            <a:chExt cx="8312150" cy="1874838"/>
          </a:xfrm>
        </p:grpSpPr>
        <p:pic>
          <p:nvPicPr>
            <p:cNvPr id="13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" y="2514600"/>
              <a:ext cx="8312150" cy="18748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1813" y="3535363"/>
              <a:ext cx="30829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6.2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Categories of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multiplexing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2390775"/>
            <a:ext cx="831850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537621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6.1.1 FDM 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</a:rPr>
              <a:t>is an analog technique that can be applied when the bandwidth of a link (in hertz) is greater than the combined bandwidths of the signals to be transmitted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6.3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+mj-lt"/>
              </a:rPr>
              <a:t>FDM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25" y="3400425"/>
            <a:ext cx="74422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51241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6.4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+mj-lt"/>
              </a:rPr>
              <a:t>FDM Process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1609725"/>
            <a:ext cx="8255000" cy="374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354436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6.5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+mj-lt"/>
              </a:rPr>
              <a:t>FDM demultiplexing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2" y="1698623"/>
            <a:ext cx="8556625" cy="369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87113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8070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6.6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+mj-lt"/>
              </a:rPr>
              <a:t>Example 6.1</a:t>
            </a: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6.7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+mj-lt"/>
              </a:rPr>
              <a:t>Example </a:t>
            </a:r>
            <a:r>
              <a:rPr lang="en-US" altLang="ko-KR" dirty="0" smtClean="0">
                <a:latin typeface="+mj-lt"/>
              </a:rPr>
              <a:t>6.2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4" y="1095375"/>
            <a:ext cx="8170863" cy="175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586163"/>
            <a:ext cx="7696200" cy="2338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99089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8070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6.8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+mj-lt"/>
              </a:rPr>
              <a:t>Example </a:t>
            </a:r>
            <a:r>
              <a:rPr lang="en-US" altLang="ko-KR" dirty="0" smtClean="0">
                <a:latin typeface="+mj-lt"/>
              </a:rPr>
              <a:t>6.3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5" y="1654175"/>
            <a:ext cx="6892925" cy="313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051439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8070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6.9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Analog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hierarch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30" y="1228725"/>
            <a:ext cx="8185170" cy="3787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07535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6.1.2 WDM 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</a:rPr>
              <a:t>is designed to use the high-data-rate capability of fiber-optic cable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6.10</a:t>
            </a:r>
            <a:r>
              <a:rPr lang="en-US" altLang="ko-KR" dirty="0" smtClean="0">
                <a:latin typeface="+mj-lt"/>
              </a:rPr>
              <a:t> WDM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209925"/>
            <a:ext cx="7623175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748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6.11</a:t>
            </a:r>
            <a:r>
              <a:rPr lang="en-US" altLang="ko-KR" dirty="0" smtClean="0">
                <a:latin typeface="+mj-lt"/>
              </a:rPr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Prisms in wave-length division multiplexing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76425"/>
            <a:ext cx="8401050" cy="193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42821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6.1.3 TDM 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</a:rPr>
              <a:t>is a digital process that allows several connections to share the high bandwidth of a </a:t>
            </a:r>
            <a:r>
              <a:rPr lang="en-US" altLang="ko-KR" dirty="0" smtClean="0">
                <a:latin typeface="Times New Roman" pitchFamily="18" charset="0"/>
              </a:rPr>
              <a:t>link.</a:t>
            </a:r>
            <a:endParaRPr lang="en-US" altLang="ko-KR" dirty="0" smtClean="0">
              <a:latin typeface="Times New Roman" pitchFamily="18" charset="0"/>
            </a:endParaRP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</a:rPr>
              <a:t>instead </a:t>
            </a:r>
            <a:r>
              <a:rPr lang="en-US" altLang="ko-KR" dirty="0">
                <a:latin typeface="Times New Roman" pitchFamily="18" charset="0"/>
              </a:rPr>
              <a:t>of sharing a portion of the bandwidth as in FDM, time is shared.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6.12</a:t>
            </a:r>
            <a:r>
              <a:rPr lang="en-US" altLang="ko-KR" dirty="0" smtClean="0">
                <a:latin typeface="+mj-lt"/>
              </a:rPr>
              <a:t> TDM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3429000"/>
            <a:ext cx="7423150" cy="262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021601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6.13</a:t>
            </a:r>
            <a:r>
              <a:rPr lang="en-US" altLang="ko-KR" dirty="0" smtClean="0">
                <a:latin typeface="+mj-lt"/>
              </a:rPr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Synchronous time-division multiplexing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93" y="1295400"/>
            <a:ext cx="7922035" cy="3055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143" y="2133600"/>
            <a:ext cx="925424" cy="706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871" y="2133600"/>
            <a:ext cx="925424" cy="706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133600"/>
            <a:ext cx="925424" cy="706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 1"/>
          <p:cNvGrpSpPr/>
          <p:nvPr/>
        </p:nvGrpSpPr>
        <p:grpSpPr>
          <a:xfrm>
            <a:off x="3210625" y="4474274"/>
            <a:ext cx="2433687" cy="1310756"/>
            <a:chOff x="6443612" y="962047"/>
            <a:chExt cx="2433687" cy="1310756"/>
          </a:xfrm>
        </p:grpSpPr>
        <p:pic>
          <p:nvPicPr>
            <p:cNvPr id="11" name="Picture 8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3294" y="962047"/>
              <a:ext cx="934322" cy="790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9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3612" y="1841996"/>
              <a:ext cx="2433687" cy="430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5924659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6.14</a:t>
            </a:r>
            <a:r>
              <a:rPr lang="en-US" altLang="ko-KR" dirty="0" smtClean="0">
                <a:latin typeface="+mj-lt"/>
              </a:rPr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Example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6.6</a:t>
            </a:r>
          </a:p>
          <a:p>
            <a:pPr marL="0" indent="0" algn="ctr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6.15</a:t>
            </a:r>
            <a:r>
              <a:rPr lang="en-US" altLang="ko-KR" dirty="0" smtClean="0"/>
              <a:t>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Interleaving</a:t>
            </a: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98" y="711507"/>
            <a:ext cx="7505086" cy="1898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146" y="1187780"/>
            <a:ext cx="3315254" cy="279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80" y="3866166"/>
            <a:ext cx="8130669" cy="2245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49504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6.16</a:t>
            </a:r>
            <a:r>
              <a:rPr lang="en-US" altLang="ko-KR" dirty="0" smtClean="0">
                <a:latin typeface="+mj-lt"/>
              </a:rPr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Example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6.8</a:t>
            </a:r>
          </a:p>
          <a:p>
            <a:pPr marL="0" indent="0" algn="ctr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6.17</a:t>
            </a:r>
            <a:r>
              <a:rPr lang="en-US" altLang="ko-KR" dirty="0" smtClean="0"/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Example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6.9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32" y="666750"/>
            <a:ext cx="7620764" cy="2233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951449"/>
            <a:ext cx="8351696" cy="2106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88864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6.18</a:t>
            </a:r>
            <a:r>
              <a:rPr lang="en-US" altLang="ko-KR" dirty="0" smtClean="0">
                <a:latin typeface="+mj-lt"/>
              </a:rPr>
              <a:t>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Empty slots</a:t>
            </a:r>
          </a:p>
          <a:p>
            <a:pPr marL="0" indent="0" algn="ctr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6.19</a:t>
            </a:r>
            <a:r>
              <a:rPr lang="en-US" altLang="ko-KR" dirty="0" smtClean="0"/>
              <a:t>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Multilevel multiplexing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29" y="676274"/>
            <a:ext cx="7604238" cy="2139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204" y="3571875"/>
            <a:ext cx="6816102" cy="2496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43414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6.20</a:t>
            </a:r>
            <a:r>
              <a:rPr lang="en-US" altLang="ko-KR" dirty="0" smtClean="0">
                <a:latin typeface="+mj-lt"/>
              </a:rPr>
              <a:t>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Multiple-slot multiplexing</a:t>
            </a:r>
          </a:p>
          <a:p>
            <a:pPr marL="0" indent="0" algn="ctr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6.21</a:t>
            </a:r>
            <a:r>
              <a:rPr lang="en-US" altLang="ko-KR" dirty="0" smtClean="0"/>
              <a:t>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Pulse stuffing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628650"/>
            <a:ext cx="7497458" cy="2306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781425"/>
            <a:ext cx="6101696" cy="2139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636996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6.22</a:t>
            </a:r>
            <a:r>
              <a:rPr lang="en-US" altLang="ko-KR" dirty="0" smtClean="0">
                <a:latin typeface="+mj-lt"/>
              </a:rPr>
              <a:t> Framing bits </a:t>
            </a: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Table 6.1</a:t>
            </a:r>
            <a:r>
              <a:rPr lang="en-US" altLang="ko-KR" dirty="0" smtClean="0"/>
              <a:t>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DS and T line rates</a:t>
            </a: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16" y="684202"/>
            <a:ext cx="7305509" cy="2096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16" y="4251960"/>
            <a:ext cx="8282940" cy="1691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66488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6.23</a:t>
            </a:r>
            <a:r>
              <a:rPr lang="en-US" altLang="ko-KR" dirty="0" smtClean="0">
                <a:latin typeface="+mj-lt"/>
              </a:rPr>
              <a:t> Digital hierarchy </a:t>
            </a: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96" y="1323975"/>
            <a:ext cx="8082204" cy="3768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964341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6.24</a:t>
            </a:r>
            <a:r>
              <a:rPr lang="en-US" altLang="ko-KR" dirty="0" smtClean="0">
                <a:latin typeface="+mj-lt"/>
              </a:rPr>
              <a:t> T-1 line </a:t>
            </a: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909" y="1743075"/>
            <a:ext cx="8599577" cy="3197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78421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6.25</a:t>
            </a:r>
            <a:r>
              <a:rPr lang="en-US" altLang="ko-KR" dirty="0" smtClean="0">
                <a:latin typeface="+mj-lt"/>
              </a:rPr>
              <a:t> T-1 line frame structure</a:t>
            </a: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49" y="620355"/>
            <a:ext cx="8008476" cy="530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77535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Table 6.2</a:t>
            </a:r>
            <a:r>
              <a:rPr lang="en-US" altLang="ko-KR" dirty="0" smtClean="0">
                <a:latin typeface="+mj-lt"/>
              </a:rPr>
              <a:t> E line rates</a:t>
            </a: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352550"/>
            <a:ext cx="5600700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98080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6.1  Multiplexing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6.26</a:t>
            </a:r>
            <a:r>
              <a:rPr lang="en-US" altLang="ko-KR" dirty="0" smtClean="0">
                <a:latin typeface="+mj-lt"/>
              </a:rPr>
              <a:t> TDM slot comparison</a:t>
            </a: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65" y="990600"/>
            <a:ext cx="7697035" cy="203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65" y="3733800"/>
            <a:ext cx="7697035" cy="203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5949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6.2  Spread Spectrum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6.2 Spread Spectrum  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</a:rPr>
              <a:t>In wireless applications, stations must be able to share this medium without </a:t>
            </a:r>
            <a:r>
              <a:rPr lang="en-US" altLang="ko-KR" b="1" i="1" dirty="0">
                <a:latin typeface="Times New Roman" pitchFamily="18" charset="0"/>
              </a:rPr>
              <a:t>interception</a:t>
            </a:r>
            <a:r>
              <a:rPr lang="en-US" altLang="ko-KR" dirty="0">
                <a:latin typeface="Times New Roman" pitchFamily="18" charset="0"/>
              </a:rPr>
              <a:t> by an </a:t>
            </a:r>
            <a:r>
              <a:rPr lang="en-US" altLang="ko-KR" b="1" i="1" dirty="0">
                <a:latin typeface="Times New Roman" pitchFamily="18" charset="0"/>
              </a:rPr>
              <a:t>eavesdropper</a:t>
            </a:r>
            <a:r>
              <a:rPr lang="en-US" altLang="ko-KR" dirty="0">
                <a:latin typeface="Times New Roman" pitchFamily="18" charset="0"/>
              </a:rPr>
              <a:t> and without being subject to </a:t>
            </a:r>
            <a:r>
              <a:rPr lang="en-US" altLang="ko-KR" b="1" i="1" dirty="0">
                <a:latin typeface="Times New Roman" pitchFamily="18" charset="0"/>
              </a:rPr>
              <a:t>jamming</a:t>
            </a:r>
            <a:r>
              <a:rPr lang="en-US" altLang="ko-KR" dirty="0">
                <a:latin typeface="Times New Roman" pitchFamily="18" charset="0"/>
              </a:rPr>
              <a:t> from a malicious </a:t>
            </a:r>
            <a:r>
              <a:rPr lang="en-US" altLang="ko-KR" dirty="0" smtClean="0">
                <a:latin typeface="Times New Roman" pitchFamily="18" charset="0"/>
              </a:rPr>
              <a:t>intruder. </a:t>
            </a:r>
            <a:r>
              <a:rPr lang="en-US" altLang="ko-KR" dirty="0">
                <a:latin typeface="Times New Roman" pitchFamily="18" charset="0"/>
              </a:rPr>
              <a:t>To achieve these goals, </a:t>
            </a:r>
            <a:r>
              <a:rPr lang="en-US" altLang="ko-KR" b="1" i="1" dirty="0">
                <a:solidFill>
                  <a:srgbClr val="C00000"/>
                </a:solidFill>
                <a:latin typeface="Times New Roman" pitchFamily="18" charset="0"/>
              </a:rPr>
              <a:t>spread spectrum techniques</a:t>
            </a:r>
            <a:r>
              <a:rPr lang="en-US" altLang="ko-KR" dirty="0">
                <a:latin typeface="Times New Roman" pitchFamily="18" charset="0"/>
              </a:rPr>
              <a:t> add </a:t>
            </a:r>
            <a:r>
              <a:rPr lang="en-US" altLang="ko-KR" dirty="0" smtClean="0">
                <a:latin typeface="Times New Roman" pitchFamily="18" charset="0"/>
              </a:rPr>
              <a:t>redundancy.</a:t>
            </a:r>
          </a:p>
          <a:p>
            <a:pPr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6.27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Spread spectrum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69" y="3752850"/>
            <a:ext cx="7285037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37439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4" y="3205791"/>
            <a:ext cx="4152899" cy="3300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6.2  Spread Spectrum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6.2.1 Frequency Hopping Spread Spectrum (FHSS)  </a:t>
            </a: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</a:rPr>
              <a:t>uses M different carrier frequencies that are modulated by the source signal.</a:t>
            </a: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</a:rPr>
              <a:t>A </a:t>
            </a:r>
            <a:r>
              <a:rPr lang="en-US" altLang="ko-KR" b="1" i="1" dirty="0" smtClean="0">
                <a:latin typeface="Times New Roman" pitchFamily="18" charset="0"/>
              </a:rPr>
              <a:t>pseudorandom code generator</a:t>
            </a:r>
            <a:r>
              <a:rPr lang="en-US" altLang="ko-KR" dirty="0" smtClean="0">
                <a:latin typeface="Times New Roman" pitchFamily="18" charset="0"/>
              </a:rPr>
              <a:t>, called </a:t>
            </a:r>
            <a:r>
              <a:rPr lang="en-US" altLang="ko-KR" b="1" i="1" dirty="0" smtClean="0">
                <a:latin typeface="Times New Roman" pitchFamily="18" charset="0"/>
              </a:rPr>
              <a:t>pseudorandom noise</a:t>
            </a:r>
            <a:r>
              <a:rPr lang="en-US" altLang="ko-KR" dirty="0" smtClean="0">
                <a:latin typeface="Times New Roman" pitchFamily="18" charset="0"/>
              </a:rPr>
              <a:t>(</a:t>
            </a:r>
            <a:r>
              <a:rPr lang="en-US" altLang="ko-KR" b="1" i="1" dirty="0" smtClean="0">
                <a:latin typeface="Times New Roman" pitchFamily="18" charset="0"/>
              </a:rPr>
              <a:t>PN</a:t>
            </a:r>
            <a:r>
              <a:rPr lang="en-US" altLang="ko-KR" dirty="0" smtClean="0">
                <a:latin typeface="Times New Roman" pitchFamily="18" charset="0"/>
              </a:rPr>
              <a:t>), creates a </a:t>
            </a:r>
            <a:r>
              <a:rPr lang="en-US" altLang="ko-KR" i="1" dirty="0" smtClean="0">
                <a:latin typeface="Times New Roman" pitchFamily="18" charset="0"/>
              </a:rPr>
              <a:t>k</a:t>
            </a:r>
            <a:r>
              <a:rPr lang="en-US" altLang="ko-KR" dirty="0" smtClean="0">
                <a:latin typeface="Times New Roman" pitchFamily="18" charset="0"/>
              </a:rPr>
              <a:t>-bit pattern for every </a:t>
            </a:r>
            <a:r>
              <a:rPr lang="en-US" altLang="ko-KR" b="1" i="1" dirty="0" smtClean="0">
                <a:latin typeface="Times New Roman" pitchFamily="18" charset="0"/>
              </a:rPr>
              <a:t>hopping period </a:t>
            </a:r>
            <a:r>
              <a:rPr lang="en-US" altLang="ko-KR" i="1" dirty="0" smtClean="0">
                <a:latin typeface="Times New Roman" pitchFamily="18" charset="0"/>
              </a:rPr>
              <a:t>T</a:t>
            </a:r>
            <a:r>
              <a:rPr lang="en-US" altLang="ko-KR" i="1" baseline="-25000" dirty="0" smtClean="0">
                <a:latin typeface="Times New Roman" pitchFamily="18" charset="0"/>
              </a:rPr>
              <a:t>h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Fig. 6.28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FHSS</a:t>
            </a:r>
            <a:endParaRPr lang="en-US" altLang="ko-KR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21409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6.2  Spread Spectrum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</a:t>
            </a: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6.29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Frequency selection in FHSS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1419225"/>
            <a:ext cx="7321550" cy="435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7360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6.2  Spread Spectrum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</a:t>
            </a: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6.30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FHSS cycles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1600"/>
            <a:ext cx="6575425" cy="449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640285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6.2  Spread Spectrum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</a:t>
            </a: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6.31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Bandwidth sharing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2057400"/>
            <a:ext cx="3417888" cy="321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025" y="2168525"/>
            <a:ext cx="3424238" cy="321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54769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6.2  Spread Spectrum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6.2.2 Direct Sequence Spread Spectrum (DSSS)  </a:t>
            </a: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</a:rPr>
              <a:t>replace </a:t>
            </a:r>
            <a:r>
              <a:rPr lang="en-US" altLang="ko-KR" dirty="0">
                <a:latin typeface="Times New Roman" pitchFamily="18" charset="0"/>
              </a:rPr>
              <a:t>each data bit with </a:t>
            </a:r>
            <a:r>
              <a:rPr lang="en-US" altLang="ko-KR" i="1" dirty="0">
                <a:latin typeface="Times New Roman" pitchFamily="18" charset="0"/>
              </a:rPr>
              <a:t>n</a:t>
            </a:r>
            <a:r>
              <a:rPr lang="en-US" altLang="ko-KR" dirty="0">
                <a:latin typeface="Times New Roman" pitchFamily="18" charset="0"/>
              </a:rPr>
              <a:t> bits using a </a:t>
            </a:r>
            <a:r>
              <a:rPr lang="en-US" altLang="ko-KR" b="1" i="1" dirty="0">
                <a:latin typeface="Times New Roman" pitchFamily="18" charset="0"/>
              </a:rPr>
              <a:t>spreading </a:t>
            </a:r>
            <a:r>
              <a:rPr lang="en-US" altLang="ko-KR" b="1" i="1" dirty="0" smtClean="0">
                <a:latin typeface="Times New Roman" pitchFamily="18" charset="0"/>
              </a:rPr>
              <a:t>code.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</a:rPr>
              <a:t>each bit is assigned a code of </a:t>
            </a:r>
            <a:r>
              <a:rPr lang="en-US" altLang="ko-KR" i="1" dirty="0">
                <a:latin typeface="Times New Roman" pitchFamily="18" charset="0"/>
              </a:rPr>
              <a:t>n</a:t>
            </a:r>
            <a:r>
              <a:rPr lang="en-US" altLang="ko-KR" dirty="0">
                <a:latin typeface="Times New Roman" pitchFamily="18" charset="0"/>
              </a:rPr>
              <a:t> bits, called</a:t>
            </a:r>
            <a:r>
              <a:rPr lang="en-US" altLang="ko-KR" b="1" i="1" dirty="0">
                <a:latin typeface="Times New Roman" pitchFamily="18" charset="0"/>
              </a:rPr>
              <a:t> chips</a:t>
            </a:r>
            <a:r>
              <a:rPr lang="en-US" altLang="ko-KR" dirty="0">
                <a:latin typeface="Times New Roman" pitchFamily="18" charset="0"/>
              </a:rPr>
              <a:t>, where the chip rate is </a:t>
            </a:r>
            <a:r>
              <a:rPr lang="en-US" altLang="ko-KR" i="1" dirty="0">
                <a:latin typeface="Times New Roman" pitchFamily="18" charset="0"/>
              </a:rPr>
              <a:t>n</a:t>
            </a:r>
            <a:r>
              <a:rPr lang="en-US" altLang="ko-KR" dirty="0">
                <a:latin typeface="Times New Roman" pitchFamily="18" charset="0"/>
              </a:rPr>
              <a:t> times that of the data </a:t>
            </a:r>
            <a:r>
              <a:rPr lang="en-US" altLang="ko-KR" dirty="0" smtClean="0">
                <a:latin typeface="Times New Roman" pitchFamily="18" charset="0"/>
              </a:rPr>
              <a:t>bit.</a:t>
            </a: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Fig. 6.32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DSSS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3356182"/>
            <a:ext cx="6619874" cy="2254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012330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6.2  Spread Spectrum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Fig. 6.32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DSSS example with </a:t>
            </a:r>
            <a:r>
              <a:rPr lang="en-US" altLang="ko-KR" b="1" i="1" dirty="0" smtClean="0">
                <a:latin typeface="Times New Roman" pitchFamily="18" charset="0"/>
                <a:cs typeface="Times New Roman" pitchFamily="18" charset="0"/>
              </a:rPr>
              <a:t>Barker sequence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=11.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9" y="2001687"/>
            <a:ext cx="8139211" cy="322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276045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713976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Homework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 Read textbook pp. </a:t>
            </a:r>
            <a:r>
              <a:rPr lang="en-US" altLang="ko-KR" dirty="0" smtClean="0">
                <a:latin typeface="Times New Roman" pitchFamily="18" charset="0"/>
              </a:rPr>
              <a:t>185-203</a:t>
            </a:r>
            <a:endParaRPr lang="en-US" altLang="ko-KR" dirty="0"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</a:rPr>
              <a:t>Next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Lecture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Chapter </a:t>
            </a:r>
            <a:r>
              <a:rPr lang="en-US" altLang="ko-KR" dirty="0" smtClean="0">
                <a:latin typeface="Times New Roman" pitchFamily="18" charset="0"/>
              </a:rPr>
              <a:t>7. Transmission Media</a:t>
            </a:r>
          </a:p>
          <a:p>
            <a:pPr marL="0" indent="0">
              <a:buNone/>
              <a:defRPr/>
            </a:pPr>
            <a:endParaRPr lang="en-US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605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14541</TotalTime>
  <Words>547</Words>
  <Application>Microsoft Office PowerPoint</Application>
  <PresentationFormat>화면 슬라이드 쇼(4:3)</PresentationFormat>
  <Paragraphs>381</Paragraphs>
  <Slides>33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4" baseType="lpstr">
      <vt:lpstr>기본 디자인</vt:lpstr>
      <vt:lpstr>Chapter  6   Bandwidth Utilization</vt:lpstr>
      <vt:lpstr>Ch. 6 Outline</vt:lpstr>
      <vt:lpstr>Ch. 6 Objective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6.1  Multiplexing</vt:lpstr>
      <vt:lpstr>6.2  Spread Spectrum</vt:lpstr>
      <vt:lpstr>6.2  Spread Spectrum</vt:lpstr>
      <vt:lpstr>6.2  Spread Spectrum</vt:lpstr>
      <vt:lpstr>6.2  Spread Spectrum</vt:lpstr>
      <vt:lpstr>6.2  Spread Spectrum</vt:lpstr>
      <vt:lpstr>6.2  Spread Spectrum</vt:lpstr>
      <vt:lpstr>6.2  Spread Spectrum</vt:lpstr>
      <vt:lpstr>Homework</vt:lpstr>
    </vt:vector>
  </TitlesOfParts>
  <Company>UC Berkeley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김정구</cp:lastModifiedBy>
  <cp:revision>1057</cp:revision>
  <cp:lastPrinted>1998-01-20T18:41:17Z</cp:lastPrinted>
  <dcterms:created xsi:type="dcterms:W3CDTF">1997-04-13T14:24:48Z</dcterms:created>
  <dcterms:modified xsi:type="dcterms:W3CDTF">2013-04-10T06:53:31Z</dcterms:modified>
</cp:coreProperties>
</file>