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29" r:id="rId3"/>
    <p:sldId id="449" r:id="rId4"/>
    <p:sldId id="655" r:id="rId5"/>
    <p:sldId id="656" r:id="rId6"/>
    <p:sldId id="657" r:id="rId7"/>
    <p:sldId id="658" r:id="rId8"/>
    <p:sldId id="659" r:id="rId9"/>
    <p:sldId id="660" r:id="rId10"/>
    <p:sldId id="661" r:id="rId11"/>
    <p:sldId id="662" r:id="rId12"/>
    <p:sldId id="663" r:id="rId13"/>
    <p:sldId id="664" r:id="rId14"/>
    <p:sldId id="665" r:id="rId15"/>
    <p:sldId id="666" r:id="rId16"/>
    <p:sldId id="667" r:id="rId17"/>
    <p:sldId id="668" r:id="rId18"/>
    <p:sldId id="669" r:id="rId19"/>
    <p:sldId id="670" r:id="rId20"/>
    <p:sldId id="671" r:id="rId21"/>
    <p:sldId id="672" r:id="rId22"/>
    <p:sldId id="673" r:id="rId23"/>
    <p:sldId id="674" r:id="rId24"/>
    <p:sldId id="550" r:id="rId2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477" autoAdjust="0"/>
  </p:normalViewPr>
  <p:slideViewPr>
    <p:cSldViewPr snapToGrid="0">
      <p:cViewPr>
        <p:scale>
          <a:sx n="100" d="100"/>
          <a:sy n="100" d="100"/>
        </p:scale>
        <p:origin x="24" y="-20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smtClean="0">
                <a:latin typeface="Times New Roman" pitchFamily="18" charset="0"/>
              </a:rPr>
              <a:t>EE141</a:t>
            </a:r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260350" y="2609851"/>
            <a:ext cx="4953000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smtClean="0">
                <a:latin typeface="+mj-lt"/>
              </a:rPr>
              <a:t>Chapter  13</a:t>
            </a:r>
            <a:r>
              <a:rPr lang="en-US" altLang="ko-KR" sz="4000" b="0" smtClean="0"/>
              <a:t> </a:t>
            </a:r>
            <a:br>
              <a:rPr lang="en-US" altLang="ko-KR" sz="4000" b="0" smtClean="0"/>
            </a:br>
            <a:r>
              <a:rPr lang="en-US" altLang="ko-KR" sz="4000" b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Wired LANs:</a:t>
            </a:r>
            <a:br>
              <a:rPr lang="en-US" altLang="ko-KR" sz="4000" i="1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Ethernet</a:t>
            </a:r>
            <a:endParaRPr lang="en-US" altLang="ko-KR" sz="4000" i="1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13  Outline</a:t>
            </a:r>
            <a:endParaRPr lang="ko-KR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13.1   </a:t>
            </a:r>
            <a:r>
              <a:rPr lang="en-US" altLang="ko-KR" sz="2800" b="1" i="1" smtClean="0">
                <a:latin typeface="Times"/>
              </a:rPr>
              <a:t>Ethernet Protocol</a:t>
            </a:r>
            <a:endParaRPr lang="en-US" altLang="ko-KR" sz="2800" b="1" i="1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13.2  </a:t>
            </a:r>
            <a:r>
              <a:rPr lang="en-US" altLang="ko-KR" sz="2800" b="1" i="1" smtClean="0">
                <a:latin typeface="Times"/>
              </a:rPr>
              <a:t>Standard Ethernet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13.3  </a:t>
            </a:r>
            <a:r>
              <a:rPr lang="en-US" altLang="ko-KR" sz="2800" b="1" i="1" smtClean="0">
                <a:latin typeface="Times"/>
              </a:rPr>
              <a:t>Fast Ethernet</a:t>
            </a: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13.4  </a:t>
            </a:r>
            <a:r>
              <a:rPr lang="en-US" altLang="ko-KR" sz="2800" b="1" i="1" smtClean="0">
                <a:latin typeface="Times"/>
              </a:rPr>
              <a:t>Gigabit </a:t>
            </a:r>
            <a:r>
              <a:rPr lang="en-US" altLang="ko-KR" sz="2800" b="1" i="1">
                <a:latin typeface="Times"/>
              </a:rPr>
              <a:t>Ethernet</a:t>
            </a: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13.5  </a:t>
            </a:r>
            <a:r>
              <a:rPr lang="en-US" altLang="ko-KR" sz="2800" b="1" i="1" smtClean="0">
                <a:latin typeface="Times"/>
              </a:rPr>
              <a:t>10 Gigabit </a:t>
            </a:r>
            <a:r>
              <a:rPr lang="en-US" altLang="ko-KR" sz="2800" b="1" i="1">
                <a:latin typeface="Times"/>
              </a:rPr>
              <a:t>Ethernet</a:t>
            </a: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i="1" smtClean="0">
              <a:solidFill>
                <a:srgbClr val="C00000"/>
              </a:solidFill>
              <a:latin typeface="Time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13.1  Ethernet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13.1 Ethernet Protocol</a:t>
            </a:r>
          </a:p>
          <a:p>
            <a:pPr algn="just"/>
            <a:r>
              <a:rPr lang="en-US" altLang="ko-KR" smtClean="0">
                <a:latin typeface="+mj-lt"/>
              </a:rPr>
              <a:t>was developed at Xerox PARC between 1973 and 1974.</a:t>
            </a:r>
          </a:p>
          <a:p>
            <a:pPr algn="just"/>
            <a:r>
              <a:rPr lang="en-US" altLang="ko-KR" smtClean="0">
                <a:latin typeface="+mj-lt"/>
              </a:rPr>
              <a:t>was inspired by </a:t>
            </a:r>
            <a:r>
              <a:rPr lang="en-US" altLang="ko-KR" b="1" i="1" smtClean="0">
                <a:latin typeface="+mj-lt"/>
              </a:rPr>
              <a:t>ALOHAnet</a:t>
            </a:r>
            <a:r>
              <a:rPr lang="en-US" altLang="ko-KR" smtClean="0">
                <a:latin typeface="+mj-lt"/>
              </a:rPr>
              <a:t>, which </a:t>
            </a:r>
            <a:r>
              <a:rPr lang="en-US" altLang="ko-KR" b="1" i="1" smtClean="0">
                <a:latin typeface="+mj-lt"/>
              </a:rPr>
              <a:t>Robert </a:t>
            </a:r>
            <a:r>
              <a:rPr lang="en-US" altLang="ko-KR" b="1" i="1">
                <a:latin typeface="+mj-lt"/>
              </a:rPr>
              <a:t>Metcalfe </a:t>
            </a:r>
            <a:r>
              <a:rPr lang="en-US" altLang="ko-KR">
                <a:latin typeface="+mj-lt"/>
              </a:rPr>
              <a:t>had studied as part of his PhD </a:t>
            </a:r>
            <a:r>
              <a:rPr lang="en-US" altLang="ko-KR" smtClean="0">
                <a:latin typeface="+mj-lt"/>
              </a:rPr>
              <a:t>dissertation</a:t>
            </a:r>
          </a:p>
          <a:p>
            <a:pPr algn="just"/>
            <a:r>
              <a:rPr lang="en-US" altLang="ko-KR" smtClean="0">
                <a:latin typeface="+mj-lt"/>
              </a:rPr>
              <a:t>is based on </a:t>
            </a:r>
            <a:r>
              <a:rPr lang="en-US" altLang="ko-KR" b="1" i="1" smtClean="0">
                <a:latin typeface="+mj-lt"/>
              </a:rPr>
              <a:t>CSMA/CD</a:t>
            </a:r>
          </a:p>
          <a:p>
            <a:pPr algn="just"/>
            <a:r>
              <a:rPr lang="en-US" altLang="ko-KR" b="1" i="1" smtClean="0">
                <a:latin typeface="+mj-lt"/>
              </a:rPr>
              <a:t>Metcalfe</a:t>
            </a:r>
            <a:r>
              <a:rPr lang="en-US" altLang="ko-KR" smtClean="0">
                <a:latin typeface="+mj-lt"/>
              </a:rPr>
              <a:t> named </a:t>
            </a:r>
            <a:r>
              <a:rPr lang="en-US" altLang="ko-KR">
                <a:latin typeface="+mj-lt"/>
              </a:rPr>
              <a:t>it after the disproven </a:t>
            </a:r>
            <a:r>
              <a:rPr lang="en-US" altLang="ko-KR" b="1" i="1" smtClean="0">
                <a:latin typeface="+mj-lt"/>
              </a:rPr>
              <a:t>Luminiferous </a:t>
            </a:r>
            <a:r>
              <a:rPr lang="en-US" altLang="ko-KR" b="1" i="1">
                <a:latin typeface="+mj-lt"/>
              </a:rPr>
              <a:t>ether </a:t>
            </a:r>
            <a:r>
              <a:rPr lang="en-US" altLang="ko-KR">
                <a:latin typeface="+mj-lt"/>
              </a:rPr>
              <a:t>as an </a:t>
            </a:r>
            <a:r>
              <a:rPr lang="en-US" altLang="ko-KR" smtClean="0">
                <a:latin typeface="+mj-lt"/>
              </a:rPr>
              <a:t>“omnipresent</a:t>
            </a:r>
            <a:r>
              <a:rPr lang="en-US" altLang="ko-KR">
                <a:latin typeface="+mj-lt"/>
              </a:rPr>
              <a:t>, completely-passive medium for the propagation of electromagnetic </a:t>
            </a:r>
            <a:r>
              <a:rPr lang="en-US" altLang="ko-KR" smtClean="0">
                <a:latin typeface="+mj-lt"/>
              </a:rPr>
              <a:t>waves.”</a:t>
            </a:r>
          </a:p>
          <a:p>
            <a:pPr algn="just"/>
            <a:r>
              <a:rPr lang="en-US" altLang="ko-KR" smtClean="0">
                <a:latin typeface="+mj-lt"/>
              </a:rPr>
              <a:t>By </a:t>
            </a:r>
            <a:r>
              <a:rPr lang="en-US" altLang="ko-KR">
                <a:latin typeface="+mj-lt"/>
              </a:rPr>
              <a:t>2010, the market for Ethernet equipment amounted to over </a:t>
            </a:r>
            <a:r>
              <a:rPr lang="en-US" altLang="ko-KR" b="1" i="1">
                <a:latin typeface="+mj-lt"/>
              </a:rPr>
              <a:t>$16 billion per </a:t>
            </a:r>
            <a:r>
              <a:rPr lang="en-US" altLang="ko-KR" b="1" i="1" smtClean="0">
                <a:latin typeface="+mj-lt"/>
              </a:rPr>
              <a:t>year.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13.1  Ethernet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57567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13.1.1 IEEE Project 802</a:t>
            </a:r>
          </a:p>
          <a:p>
            <a:r>
              <a:rPr lang="en-US" altLang="ko-KR" smtClean="0">
                <a:latin typeface="Times New Roman" pitchFamily="18" charset="0"/>
              </a:rPr>
              <a:t>In 1985, the Computer Society of the IEEE started a project, called Project 802, to set standards to enable intercommunication among equipment from a variety of manufacturers. </a:t>
            </a:r>
          </a:p>
          <a:p>
            <a:endParaRPr lang="en-US" altLang="ko-KR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13.1</a:t>
            </a:r>
            <a:r>
              <a:rPr lang="en-US" altLang="ko-KR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IEEE standard for LANs</a:t>
            </a:r>
          </a:p>
          <a:p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97" y="2682875"/>
            <a:ext cx="7680325" cy="316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32169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13.1  Ethernet Protocol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57567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13.1.2 Ethernet Evolution</a:t>
            </a: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13.2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Ethernet evolution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8" y="2057400"/>
            <a:ext cx="7977967" cy="2230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79844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 Standard Ethernet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13.2.1 Characteristics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 13.3</a:t>
            </a:r>
            <a:r>
              <a:rPr lang="en-US" altLang="ko-KR" sz="2400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Ethernet frame</a:t>
            </a:r>
            <a:endParaRPr lang="en-US" altLang="ko-KR" i="1" smtClean="0">
              <a:latin typeface="+mj-lt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8" y="2914650"/>
            <a:ext cx="8697912" cy="156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863" y="2609850"/>
            <a:ext cx="3055937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8" y="4667250"/>
            <a:ext cx="8218487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39184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13.2.2 Addressing</a:t>
            </a:r>
          </a:p>
          <a:p>
            <a:r>
              <a:rPr lang="en-US" altLang="ko-KR" smtClean="0">
                <a:latin typeface="Times New Roman" pitchFamily="18" charset="0"/>
              </a:rPr>
              <a:t>The NIC(network interface card) provides </a:t>
            </a:r>
            <a:r>
              <a:rPr lang="en-US" altLang="ko-KR">
                <a:latin typeface="Times New Roman" pitchFamily="18" charset="0"/>
              </a:rPr>
              <a:t>the station with a </a:t>
            </a:r>
            <a:r>
              <a:rPr lang="en-US" altLang="ko-KR" smtClean="0">
                <a:latin typeface="Times New Roman" pitchFamily="18" charset="0"/>
              </a:rPr>
              <a:t>6-byte link-layer </a:t>
            </a:r>
            <a:r>
              <a:rPr lang="en-US" altLang="ko-KR">
                <a:latin typeface="Times New Roman" pitchFamily="18" charset="0"/>
              </a:rPr>
              <a:t>address. </a:t>
            </a:r>
            <a:endParaRPr lang="en-US" altLang="ko-KR" smtClean="0">
              <a:latin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13.2</a:t>
            </a:r>
          </a:p>
          <a:p>
            <a:pPr marL="0" indent="0" algn="just">
              <a:buNone/>
            </a:pPr>
            <a:r>
              <a:rPr lang="en-US" altLang="ko-KR">
                <a:cs typeface="Courier New" pitchFamily="49" charset="0"/>
              </a:rPr>
              <a:t>   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4A:30:10:21:10:1A    47:20:1B:2E:08:EE    FF:FF:FF:FF:FF:FF</a:t>
            </a:r>
          </a:p>
          <a:p>
            <a:endParaRPr lang="en-US" altLang="ko-KR" smtClean="0">
              <a:latin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 13.4</a:t>
            </a:r>
            <a:r>
              <a:rPr lang="en-US" altLang="ko-KR" sz="2400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Unicast and multicast addresses </a:t>
            </a:r>
            <a:endParaRPr lang="en-US" altLang="ko-KR" smtClean="0">
              <a:latin typeface="+mj-lt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4778375"/>
            <a:ext cx="8050212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381375"/>
            <a:ext cx="3119437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Straight Connector 2"/>
          <p:cNvCxnSpPr>
            <a:cxnSpLocks noChangeShapeType="1"/>
          </p:cNvCxnSpPr>
          <p:nvPr/>
        </p:nvCxnSpPr>
        <p:spPr bwMode="auto">
          <a:xfrm flipH="1">
            <a:off x="2362200" y="3914775"/>
            <a:ext cx="0" cy="97155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812847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38150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 13.5</a:t>
            </a:r>
            <a:r>
              <a:rPr lang="en-US" altLang="ko-KR" sz="2400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Implementation of standard Ethernet</a:t>
            </a:r>
            <a:endParaRPr lang="en-US" altLang="ko-KR" smtClean="0">
              <a:latin typeface="+mj-lt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960438"/>
            <a:ext cx="7523163" cy="199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3105150"/>
            <a:ext cx="5586413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38" y="2997200"/>
            <a:ext cx="2343150" cy="262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03501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13.2.3 Access Method</a:t>
            </a:r>
          </a:p>
          <a:p>
            <a:r>
              <a:rPr lang="en-US" altLang="ko-KR">
                <a:latin typeface="Times New Roman" pitchFamily="18" charset="0"/>
              </a:rPr>
              <a:t>CSMA/CD with 1-persistent method </a:t>
            </a:r>
            <a:endParaRPr lang="en-US" altLang="ko-KR" smtClean="0">
              <a:latin typeface="Times New Roman" pitchFamily="18" charset="0"/>
            </a:endParaRPr>
          </a:p>
          <a:p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13.2.4 Efficiency of Standard Ethernet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smtClean="0">
                <a:latin typeface="Times New Roman" pitchFamily="18" charset="0"/>
              </a:rPr>
              <a:t>                     </a:t>
            </a:r>
            <a:r>
              <a:rPr lang="en-US" altLang="ko-KR" b="1" i="1" smtClean="0">
                <a:latin typeface="Times New Roman" pitchFamily="18" charset="0"/>
              </a:rPr>
              <a:t>Efficiency</a:t>
            </a:r>
            <a:r>
              <a:rPr lang="en-US" altLang="ko-KR" smtClean="0">
                <a:latin typeface="Times New Roman" pitchFamily="18" charset="0"/>
              </a:rPr>
              <a:t> = 1 / (1 + 6.4 </a:t>
            </a:r>
            <a:r>
              <a:rPr lang="en-US" altLang="ko-KR" smtClean="0">
                <a:latin typeface="Times New Roman"/>
                <a:cs typeface="Times New Roman"/>
              </a:rPr>
              <a:t>× </a:t>
            </a:r>
            <a:r>
              <a:rPr lang="en-US" altLang="ko-KR" i="1" smtClean="0">
                <a:latin typeface="Times New Roman"/>
                <a:cs typeface="Times New Roman"/>
              </a:rPr>
              <a:t>a</a:t>
            </a:r>
            <a:r>
              <a:rPr lang="en-US" altLang="ko-KR" smtClean="0">
                <a:latin typeface="Times New Roman"/>
                <a:cs typeface="Times New Roman"/>
              </a:rPr>
              <a:t> )</a:t>
            </a:r>
          </a:p>
          <a:p>
            <a:pPr marL="457200" lvl="1" indent="0">
              <a:buNone/>
            </a:pPr>
            <a:r>
              <a:rPr lang="en-US" altLang="ko-KR" smtClean="0">
                <a:latin typeface="Times New Roman"/>
                <a:cs typeface="Times New Roman"/>
              </a:rPr>
              <a:t>here,  </a:t>
            </a:r>
            <a:r>
              <a:rPr lang="en-US" altLang="ko-KR" i="1" smtClean="0">
                <a:latin typeface="Times New Roman"/>
                <a:cs typeface="Times New Roman"/>
              </a:rPr>
              <a:t>a</a:t>
            </a:r>
            <a:r>
              <a:rPr lang="en-US" altLang="ko-KR" smtClean="0">
                <a:latin typeface="Times New Roman"/>
                <a:cs typeface="Times New Roman"/>
              </a:rPr>
              <a:t> = (propagation delay) / (transmission delay)</a:t>
            </a:r>
            <a:br>
              <a:rPr lang="en-US" altLang="ko-KR" smtClean="0">
                <a:latin typeface="Times New Roman"/>
                <a:cs typeface="Times New Roman"/>
              </a:rPr>
            </a:br>
            <a:r>
              <a:rPr lang="en-US" altLang="ko-KR" smtClean="0">
                <a:latin typeface="Times New Roman"/>
                <a:cs typeface="Times New Roman"/>
              </a:rPr>
              <a:t>and means the number of frames that can fit on the medium</a:t>
            </a:r>
            <a:endParaRPr lang="en-US" altLang="ko-KR" smtClean="0">
              <a:latin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13.3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Group 1"/>
          <p:cNvGrpSpPr/>
          <p:nvPr/>
        </p:nvGrpSpPr>
        <p:grpSpPr>
          <a:xfrm>
            <a:off x="700466" y="4416477"/>
            <a:ext cx="8386869" cy="1031823"/>
            <a:chOff x="147045" y="2895600"/>
            <a:chExt cx="8386869" cy="103182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045" y="2895600"/>
              <a:ext cx="8386869" cy="1031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Rectangle 10"/>
            <p:cNvSpPr/>
            <p:nvPr/>
          </p:nvSpPr>
          <p:spPr bwMode="auto">
            <a:xfrm>
              <a:off x="182880" y="2895600"/>
              <a:ext cx="7863840" cy="838200"/>
            </a:xfrm>
            <a:prstGeom prst="rect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200" b="1" i="1" kern="1200">
                  <a:solidFill>
                    <a:schemeClr val="tx1"/>
                  </a:solidFill>
                  <a:latin typeface="Baby Kruffy" pitchFamily="2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3039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13.2.5 Implementation</a:t>
            </a:r>
          </a:p>
          <a:p>
            <a:pPr marL="0" lvl="2" indent="0">
              <a:buNone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Table 13.1</a:t>
            </a:r>
            <a:r>
              <a:rPr lang="en-US" altLang="ko-KR" sz="2400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Summary of </a:t>
            </a:r>
            <a:r>
              <a:rPr lang="en-US" altLang="ko-KR" sz="2400">
                <a:latin typeface="Times New Roman" pitchFamily="18" charset="0"/>
                <a:cs typeface="Times New Roman" pitchFamily="18" charset="0"/>
              </a:rPr>
              <a:t>standard </a:t>
            </a: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Ethernet Implementation</a:t>
            </a:r>
          </a:p>
          <a:p>
            <a:pPr marL="0" lvl="2" indent="0">
              <a:buNone/>
            </a:pP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buNone/>
            </a:pPr>
            <a:endParaRPr lang="en-US" altLang="ko-KR" sz="2400" smtClean="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buNone/>
            </a:pP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buNone/>
            </a:pPr>
            <a:endParaRPr lang="en-US" altLang="ko-KR" sz="2400" smtClean="0"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Encoding and Decoding</a:t>
            </a:r>
            <a:endParaRPr lang="en-US" altLang="ko-KR" sz="24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13.6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Encoding in a Standard Ethernet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0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1"/>
          <p:cNvGrpSpPr/>
          <p:nvPr/>
        </p:nvGrpSpPr>
        <p:grpSpPr>
          <a:xfrm>
            <a:off x="142875" y="1562100"/>
            <a:ext cx="8839200" cy="1781275"/>
            <a:chOff x="40479" y="2575560"/>
            <a:chExt cx="9027321" cy="2101315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79" y="2590799"/>
              <a:ext cx="9027321" cy="20860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Rectangle 17"/>
            <p:cNvSpPr/>
            <p:nvPr/>
          </p:nvSpPr>
          <p:spPr bwMode="auto">
            <a:xfrm>
              <a:off x="228600" y="2575560"/>
              <a:ext cx="8595360" cy="1920240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3964756"/>
            <a:ext cx="6317758" cy="2192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78585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10Base5: Thick Ethernet</a:t>
            </a:r>
            <a:endParaRPr lang="en-US" altLang="ko-KR" sz="24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13.7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10Base5 implementation</a:t>
            </a: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10Base2: Thin </a:t>
            </a:r>
            <a:r>
              <a:rPr lang="en-US" altLang="ko-KR" sz="24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Ethernet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13.8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10Base2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688" y="962763"/>
            <a:ext cx="6370812" cy="1677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314392"/>
            <a:ext cx="2296877" cy="130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617" y="3413364"/>
            <a:ext cx="4529554" cy="27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31" y="4370694"/>
            <a:ext cx="2230288" cy="1268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8969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10Base-T: Twisted-Pair Ethernet</a:t>
            </a:r>
            <a:endParaRPr lang="en-US" altLang="ko-KR" sz="24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13.9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10Base-T implementation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10Base-F: Fiber </a:t>
            </a:r>
            <a:r>
              <a:rPr lang="en-US" altLang="ko-KR" sz="24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Ethernet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13.8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10Base2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828" y="670582"/>
            <a:ext cx="3927596" cy="238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02408"/>
            <a:ext cx="2903242" cy="135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168" y="3921713"/>
            <a:ext cx="4224316" cy="2149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4478345"/>
            <a:ext cx="2189287" cy="1308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81812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13.2.6 Changes in the Standard</a:t>
            </a:r>
          </a:p>
          <a:p>
            <a:r>
              <a:rPr lang="en-US" altLang="ko-KR">
                <a:latin typeface="Times New Roman" pitchFamily="18" charset="0"/>
              </a:rPr>
              <a:t>evolution of the Ethernet to become compatible with other high-data-rate LANs.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Bridged Ethernet</a:t>
            </a:r>
            <a:endParaRPr lang="en-US" altLang="ko-KR" b="1" i="1">
              <a:solidFill>
                <a:srgbClr val="C00000"/>
              </a:solidFill>
              <a:latin typeface="Times New Roman" pitchFamily="18" charset="0"/>
            </a:endParaRPr>
          </a:p>
          <a:p>
            <a:r>
              <a:rPr lang="en-US" altLang="ko-KR" sz="2000" smtClean="0">
                <a:latin typeface="Times New Roman" pitchFamily="18" charset="0"/>
              </a:rPr>
              <a:t>Raising the Bandwidth</a:t>
            </a:r>
          </a:p>
          <a:p>
            <a:r>
              <a:rPr lang="en-US" altLang="ko-KR" sz="2000" smtClean="0">
                <a:latin typeface="Times New Roman" pitchFamily="18" charset="0"/>
              </a:rPr>
              <a:t>Separating Collision Domains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13.11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Sharing bandwidth</a:t>
            </a: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3762939"/>
            <a:ext cx="3370214" cy="177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283" y="3781990"/>
            <a:ext cx="3652534" cy="177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63249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13.12 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A network with and without bridging</a:t>
            </a: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04" y="1543935"/>
            <a:ext cx="8294493" cy="106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04" y="4133850"/>
            <a:ext cx="8294493" cy="1046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2117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13.13 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Collision domains</a:t>
            </a: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639832" cy="135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598" y="2514600"/>
            <a:ext cx="4697035" cy="333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1099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Switched Ethernet</a:t>
            </a:r>
            <a:endParaRPr lang="en-US" altLang="ko-KR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13.14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Switched Ethernet</a:t>
            </a: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08" y="1600200"/>
            <a:ext cx="7619492" cy="3738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18935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13.2  Standard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Full-Duplex Ethernet</a:t>
            </a:r>
            <a:endParaRPr lang="en-US" altLang="ko-KR" b="1" i="1">
              <a:solidFill>
                <a:srgbClr val="C00000"/>
              </a:solidFill>
              <a:latin typeface="Times New Roman" pitchFamily="18" charset="0"/>
            </a:endParaRPr>
          </a:p>
          <a:p>
            <a:r>
              <a:rPr lang="en-US" altLang="ko-KR" sz="2000" smtClean="0">
                <a:latin typeface="Times New Roman" pitchFamily="18" charset="0"/>
              </a:rPr>
              <a:t>No Need for CSMA/CD</a:t>
            </a:r>
          </a:p>
          <a:p>
            <a:r>
              <a:rPr lang="en-US" altLang="ko-KR" sz="2000" smtClean="0">
                <a:latin typeface="Times New Roman" pitchFamily="18" charset="0"/>
              </a:rPr>
              <a:t>MAC Control Layer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endParaRPr lang="en-US" altLang="ko-KR" sz="24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13.15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Full-duplex switched Ethernet</a:t>
            </a: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9" y="2425072"/>
            <a:ext cx="6372225" cy="36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74555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13.3  Fast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13.3 Fast Ethernet</a:t>
            </a:r>
          </a:p>
          <a:p>
            <a:r>
              <a:rPr lang="en-US" altLang="ko-KR">
                <a:latin typeface="Times New Roman" pitchFamily="18" charset="0"/>
                <a:cs typeface="Times New Roman" pitchFamily="18" charset="0"/>
              </a:rPr>
              <a:t>In the 1990s, Ethernet made a big jump by increasing the transmission rate to 100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Mbps.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to compete with higher transmission rate LAN such as FDDI.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The goals of Fast Ethernet 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upgrade the data rate to 100 Mbps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Make it compatible with Standard Ethernet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Keep the same 48-bit address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Keep the same frame format</a:t>
            </a:r>
          </a:p>
          <a:p>
            <a:pPr marL="0" indent="0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2767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13.3  Fast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13.3.1  Access Method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passive hub and star topology, limit to 250m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link-layer switch with full-duplex connection</a:t>
            </a:r>
          </a:p>
          <a:p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Autonegotiation 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To allow incompatible devices to connect to one another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To allow on device to have multiple capabilities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To allow a station to check a hub’s capabilities</a:t>
            </a:r>
          </a:p>
          <a:p>
            <a:pPr marL="0" indent="0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52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13.3  Fast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13.3.2  Physical Layer</a:t>
            </a:r>
          </a:p>
          <a:p>
            <a:pPr marL="0" indent="0">
              <a:buNone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13.16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Encoding for fast Ethernet</a:t>
            </a:r>
          </a:p>
          <a:p>
            <a:pPr marL="0" indent="0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13.2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Summary of Fast Ethernet implementation</a:t>
            </a:r>
          </a:p>
          <a:p>
            <a:pPr marL="0" indent="0">
              <a:buNone/>
            </a:pPr>
            <a:endParaRPr lang="en-US" altLang="ko-KR" sz="200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1209674"/>
            <a:ext cx="2829171" cy="2366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824" y="1225381"/>
            <a:ext cx="2830950" cy="235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473" y="1233989"/>
            <a:ext cx="2913853" cy="2360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1"/>
          <p:cNvGrpSpPr/>
          <p:nvPr/>
        </p:nvGrpSpPr>
        <p:grpSpPr>
          <a:xfrm>
            <a:off x="304800" y="5137195"/>
            <a:ext cx="8432616" cy="1275502"/>
            <a:chOff x="232541" y="2613070"/>
            <a:chExt cx="8432616" cy="1275502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41" y="2613071"/>
              <a:ext cx="8432616" cy="1275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Rectangle 17"/>
            <p:cNvSpPr/>
            <p:nvPr/>
          </p:nvSpPr>
          <p:spPr bwMode="auto">
            <a:xfrm>
              <a:off x="381000" y="2613070"/>
              <a:ext cx="8138160" cy="1188720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9011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13.4  Gigabit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13.4 Gigabit Ethernet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IEEE standard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802.3z </a:t>
            </a:r>
            <a:endParaRPr lang="en-US" altLang="ko-KR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upgrade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the data rate to 1 Gbps, </a:t>
            </a:r>
            <a:endParaRPr lang="en-US" altLang="ko-KR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keep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the address length, the frame format, and the maximum and minimum frame length the same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support autonegotiation as defined in Fast Ethernet</a:t>
            </a: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13.4.1 MAC Sublayer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full-duplex</a:t>
            </a: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no collision, no CSMA/CD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allmost all implementation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half-duplex</a:t>
            </a: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rare</a:t>
            </a: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collision might be occur, CSMA/CD should be used</a:t>
            </a:r>
          </a:p>
        </p:txBody>
      </p:sp>
    </p:spTree>
    <p:extLst>
      <p:ext uri="{BB962C8B-B14F-4D97-AF65-F5344CB8AC3E}">
        <p14:creationId xmlns:p14="http://schemas.microsoft.com/office/powerpoint/2010/main" val="36116786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13.4  Gigabit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13.4.2 Physical Sublayer</a:t>
            </a: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endParaRPr lang="en-US" altLang="ko-KR">
              <a:solidFill>
                <a:srgbClr val="FF0000"/>
              </a:solidFill>
              <a:latin typeface="Times-BoldItalic"/>
            </a:endParaRPr>
          </a:p>
          <a:p>
            <a:endParaRPr lang="en-US" altLang="ko-KR" smtClean="0">
              <a:solidFill>
                <a:srgbClr val="FF0000"/>
              </a:solidFill>
              <a:latin typeface="Times-BoldItalic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13.17</a:t>
            </a:r>
            <a:r>
              <a:rPr lang="en-US" altLang="ko-KR" sz="2000" b="1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Encoding in Gigabit Ethernet</a:t>
            </a:r>
          </a:p>
          <a:p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Table 13.3</a:t>
            </a:r>
            <a:r>
              <a:rPr lang="en-US" altLang="ko-KR" sz="2000" b="1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Summary of Gigabit Ethernet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243602"/>
            <a:ext cx="2859189" cy="2328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468" y="1157877"/>
            <a:ext cx="2965682" cy="2381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1"/>
          <p:cNvGrpSpPr/>
          <p:nvPr/>
        </p:nvGrpSpPr>
        <p:grpSpPr>
          <a:xfrm>
            <a:off x="307288" y="5076823"/>
            <a:ext cx="8386869" cy="1549368"/>
            <a:chOff x="461141" y="2666999"/>
            <a:chExt cx="8386869" cy="1549368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141" y="2667000"/>
              <a:ext cx="8386869" cy="1549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Rectangle 17"/>
            <p:cNvSpPr/>
            <p:nvPr/>
          </p:nvSpPr>
          <p:spPr bwMode="auto">
            <a:xfrm>
              <a:off x="624840" y="2666999"/>
              <a:ext cx="8138160" cy="1447801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2686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13.5  10-Gigabit Ethernet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13.5 10-Gigabit Ethernet</a:t>
            </a:r>
          </a:p>
          <a:p>
            <a:r>
              <a:rPr lang="en-US" altLang="ko-KR">
                <a:latin typeface="Times New Roman" pitchFamily="18" charset="0"/>
                <a:cs typeface="Times New Roman" pitchFamily="18" charset="0"/>
              </a:rPr>
              <a:t>upgrade the data rate to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Gbps</a:t>
            </a:r>
            <a:endParaRPr lang="en-US" altLang="ko-KR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IEEE standard 802.3ae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enlarge the coverage distance to metropolitan areas. </a:t>
            </a:r>
          </a:p>
          <a:p>
            <a:pPr marL="342900" lvl="2" indent="-342900">
              <a:lnSpc>
                <a:spcPct val="20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13.5.1 Implementation</a:t>
            </a:r>
          </a:p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full-duplex</a:t>
            </a: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no collision, no CSMA/CD</a:t>
            </a:r>
          </a:p>
          <a:p>
            <a:pPr lvl="1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Table 13.3</a:t>
            </a:r>
            <a:r>
              <a:rPr lang="en-US" altLang="ko-KR" sz="20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Summary of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10-Gigabit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Ethernet implementation</a:t>
            </a:r>
          </a:p>
          <a:p>
            <a:pPr lvl="1"/>
            <a:endParaRPr lang="en-US" altLang="ko-KR" sz="180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1"/>
          <p:cNvGrpSpPr/>
          <p:nvPr/>
        </p:nvGrpSpPr>
        <p:grpSpPr>
          <a:xfrm>
            <a:off x="509792" y="4857750"/>
            <a:ext cx="8295376" cy="1594937"/>
            <a:chOff x="357392" y="2667000"/>
            <a:chExt cx="8295376" cy="1594937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92" y="2667000"/>
              <a:ext cx="8295376" cy="159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18"/>
            <p:cNvSpPr/>
            <p:nvPr/>
          </p:nvSpPr>
          <p:spPr bwMode="auto">
            <a:xfrm>
              <a:off x="381000" y="2743199"/>
              <a:ext cx="8138160" cy="1447801"/>
            </a:xfrm>
            <a:prstGeom prst="rect">
              <a:avLst/>
            </a:prstGeom>
            <a:noFill/>
            <a:ln w="10160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by Kruff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95395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 	</a:t>
            </a:r>
            <a:r>
              <a:rPr lang="en-US" altLang="ko-KR" smtClean="0">
                <a:latin typeface="Times New Roman" pitchFamily="18" charset="0"/>
              </a:rPr>
              <a:t>Solve Problems  P13-3, P13-3, P13-5, P13-8, P13-10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	</a:t>
            </a:r>
            <a:r>
              <a:rPr lang="en-US" altLang="ko-KR" smtClean="0">
                <a:latin typeface="Times New Roman" pitchFamily="18" charset="0"/>
              </a:rPr>
              <a:t>Read textbook pp. 387-432</a:t>
            </a: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>
                <a:latin typeface="Times New Roman" pitchFamily="18" charset="0"/>
              </a:rPr>
              <a:t>     Chapter </a:t>
            </a:r>
            <a:r>
              <a:rPr lang="en-US" altLang="ko-KR" smtClean="0">
                <a:latin typeface="Times New Roman" pitchFamily="18" charset="0"/>
              </a:rPr>
              <a:t>14. Other Wired Networks</a:t>
            </a:r>
            <a:endParaRPr lang="en-US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21313</TotalTime>
  <Words>668</Words>
  <Application>Microsoft Office PowerPoint</Application>
  <PresentationFormat>화면 슬라이드 쇼(4:3)</PresentationFormat>
  <Paragraphs>251</Paragraphs>
  <Slides>24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기본 디자인</vt:lpstr>
      <vt:lpstr>Chapter  13   Wired LANs: Ethernet</vt:lpstr>
      <vt:lpstr>Ch. 13  Outline</vt:lpstr>
      <vt:lpstr>13.1  Ethernet Protocol</vt:lpstr>
      <vt:lpstr>13.1  Ethernet Protocol</vt:lpstr>
      <vt:lpstr>13.1  Ethernet Protocol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13.2  Standard Ethernet</vt:lpstr>
      <vt:lpstr>13.3  Fast Ethernet</vt:lpstr>
      <vt:lpstr>13.3  Fast Ethernet</vt:lpstr>
      <vt:lpstr>13.3  Fast Ethernet</vt:lpstr>
      <vt:lpstr>13.4  Gigabit Ethernet</vt:lpstr>
      <vt:lpstr>13.4  Gigabit Ethernet</vt:lpstr>
      <vt:lpstr>13.5  10-Gigabit Ethernet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1214</cp:revision>
  <cp:lastPrinted>1998-01-20T18:41:17Z</cp:lastPrinted>
  <dcterms:created xsi:type="dcterms:W3CDTF">1997-04-13T14:24:48Z</dcterms:created>
  <dcterms:modified xsi:type="dcterms:W3CDTF">2013-06-04T02:38:27Z</dcterms:modified>
</cp:coreProperties>
</file>