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23"/>
  </p:notesMasterIdLst>
  <p:handoutMasterIdLst>
    <p:handoutMasterId r:id="rId24"/>
  </p:handoutMasterIdLst>
  <p:sldIdLst>
    <p:sldId id="256" r:id="rId2"/>
    <p:sldId id="429" r:id="rId3"/>
    <p:sldId id="448" r:id="rId4"/>
    <p:sldId id="449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59" r:id="rId14"/>
    <p:sldId id="565" r:id="rId15"/>
    <p:sldId id="566" r:id="rId16"/>
    <p:sldId id="560" r:id="rId17"/>
    <p:sldId id="561" r:id="rId18"/>
    <p:sldId id="562" r:id="rId19"/>
    <p:sldId id="563" r:id="rId20"/>
    <p:sldId id="564" r:id="rId21"/>
    <p:sldId id="550" r:id="rId22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-72" y="-20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357188" y="2743201"/>
            <a:ext cx="4630737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dirty="0" smtClean="0">
                <a:latin typeface="+mj-lt"/>
              </a:rPr>
              <a:t>Chapter  9</a:t>
            </a:r>
            <a:r>
              <a:rPr lang="en-US" altLang="ko-KR" sz="4000" b="0" dirty="0" smtClean="0"/>
              <a:t> </a:t>
            </a:r>
            <a:br>
              <a:rPr lang="en-US" altLang="ko-KR" sz="4000" b="0" dirty="0" smtClean="0"/>
            </a:br>
            <a:r>
              <a:rPr lang="en-US" altLang="ko-KR" sz="4000" b="0" dirty="0" smtClean="0">
                <a:solidFill>
                  <a:srgbClr val="C00000"/>
                </a:solidFill>
                <a:latin typeface="+mj-lt"/>
              </a:rPr>
              <a:t/>
            </a:r>
            <a:br>
              <a:rPr lang="en-US" altLang="ko-KR" sz="4000" b="0" dirty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dirty="0" smtClean="0">
                <a:solidFill>
                  <a:srgbClr val="C00000"/>
                </a:solidFill>
                <a:latin typeface="+mj-lt"/>
              </a:rPr>
              <a:t>Introduction to Data-Link Layer</a:t>
            </a:r>
            <a:br>
              <a:rPr lang="en-US" altLang="ko-KR" sz="4000" i="1" dirty="0" smtClean="0">
                <a:solidFill>
                  <a:srgbClr val="C00000"/>
                </a:solidFill>
                <a:latin typeface="+mj-lt"/>
              </a:rPr>
            </a:br>
            <a:endParaRPr lang="en-US" altLang="ko-KR" sz="4000" i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9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>
                <a:solidFill>
                  <a:srgbClr val="C00000"/>
                </a:solidFill>
                <a:latin typeface="Times"/>
              </a:rPr>
              <a:t>9</a:t>
            </a: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.1   </a:t>
            </a:r>
            <a:r>
              <a:rPr lang="en-US" altLang="ko-KR" sz="2800" b="1" i="1" dirty="0" smtClean="0">
                <a:latin typeface="Times"/>
              </a:rPr>
              <a:t>Introduction</a:t>
            </a:r>
            <a:endParaRPr lang="en-US" altLang="ko-KR" sz="2800" b="1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2800" b="1" i="1" dirty="0">
                <a:solidFill>
                  <a:srgbClr val="C00000"/>
                </a:solidFill>
                <a:latin typeface="Times"/>
              </a:rPr>
              <a:t>9</a:t>
            </a: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.2  </a:t>
            </a:r>
            <a:r>
              <a:rPr lang="en-US" altLang="ko-KR" sz="2800" b="1" i="1" dirty="0" smtClean="0">
                <a:latin typeface="Times"/>
              </a:rPr>
              <a:t>Link-Layer Addressing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9 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392113"/>
            <a:ext cx="8429625" cy="6196012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defining the concept of links and nodes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the services provided by the data-link layer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point-to-point and broadcast links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two sub-layers at the data-link layer </a:t>
            </a:r>
            <a:endParaRPr lang="en-US" altLang="ko-KR" dirty="0" smtClean="0">
              <a:latin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link-layer </a:t>
            </a:r>
            <a:r>
              <a:rPr lang="en-US" altLang="ko-KR" dirty="0" smtClean="0">
                <a:latin typeface="Times New Roman" pitchFamily="18" charset="0"/>
              </a:rPr>
              <a:t>addressing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rationale behind the existence of an addressing mechanism at the data-link </a:t>
            </a:r>
            <a:r>
              <a:rPr lang="en-US" altLang="ko-KR" dirty="0" smtClean="0">
                <a:latin typeface="Times New Roman" pitchFamily="18" charset="0"/>
              </a:rPr>
              <a:t>layer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three types of link-layer </a:t>
            </a:r>
            <a:r>
              <a:rPr lang="en-US" altLang="ko-KR" dirty="0" smtClean="0">
                <a:latin typeface="Times New Roman" pitchFamily="18" charset="0"/>
              </a:rPr>
              <a:t>addresses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Address Resolution Protocol (ARP</a:t>
            </a:r>
            <a:r>
              <a:rPr lang="en-US" altLang="ko-KR" dirty="0" smtClean="0">
                <a:latin typeface="Times New Roman" pitchFamily="18" charset="0"/>
              </a:rPr>
              <a:t>)</a:t>
            </a:r>
            <a:endParaRPr lang="en-US" altLang="ko-KR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74675"/>
            <a:ext cx="8429625" cy="6007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9.1 Introduction 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9.1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Communication at the data-link </a:t>
            </a:r>
            <a:r>
              <a:rPr lang="en-US" altLang="ko-KR" dirty="0" smtClean="0">
                <a:latin typeface="+mj-lt"/>
              </a:rPr>
              <a:t>layer</a:t>
            </a: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4" y="1220387"/>
            <a:ext cx="4657725" cy="494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642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9.1.1 Nodes and Link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Communication </a:t>
            </a:r>
            <a:r>
              <a:rPr lang="en-US" altLang="ko-KR" dirty="0">
                <a:latin typeface="Times New Roman" pitchFamily="18" charset="0"/>
              </a:rPr>
              <a:t>at the </a:t>
            </a:r>
            <a:r>
              <a:rPr lang="en-US" altLang="ko-KR" b="1" i="1" dirty="0">
                <a:latin typeface="Times New Roman" pitchFamily="18" charset="0"/>
              </a:rPr>
              <a:t>data-link layer </a:t>
            </a:r>
            <a:r>
              <a:rPr lang="en-US" altLang="ko-KR" dirty="0">
                <a:latin typeface="Times New Roman" pitchFamily="18" charset="0"/>
              </a:rPr>
              <a:t>is </a:t>
            </a:r>
            <a:r>
              <a:rPr lang="en-US" altLang="ko-KR" b="1" i="1" dirty="0">
                <a:latin typeface="Times New Roman" pitchFamily="18" charset="0"/>
              </a:rPr>
              <a:t>node-to-node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LANs and WANs are connected by routers. </a:t>
            </a:r>
            <a:endParaRPr lang="en-US" altLang="ko-KR" dirty="0" smtClean="0">
              <a:latin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It </a:t>
            </a:r>
            <a:r>
              <a:rPr lang="en-US" altLang="ko-KR" dirty="0">
                <a:latin typeface="Times New Roman" pitchFamily="18" charset="0"/>
              </a:rPr>
              <a:t>is customary to refer to the two end hosts and the routers as </a:t>
            </a:r>
            <a:r>
              <a:rPr lang="en-US" altLang="ko-KR" b="1" i="1" dirty="0">
                <a:latin typeface="Times New Roman" pitchFamily="18" charset="0"/>
              </a:rPr>
              <a:t>nodes</a:t>
            </a:r>
            <a:r>
              <a:rPr lang="en-US" altLang="ko-KR" dirty="0">
                <a:latin typeface="Times New Roman" pitchFamily="18" charset="0"/>
              </a:rPr>
              <a:t> and the networks in between as </a:t>
            </a:r>
            <a:r>
              <a:rPr lang="en-US" altLang="ko-KR" b="1" i="1" dirty="0">
                <a:latin typeface="Times New Roman" pitchFamily="18" charset="0"/>
              </a:rPr>
              <a:t>links</a:t>
            </a:r>
            <a:r>
              <a:rPr lang="en-US" altLang="ko-KR" dirty="0">
                <a:latin typeface="Times New Roman" pitchFamily="18" charset="0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dirty="0" smtClean="0">
                <a:latin typeface="Times New Roman" pitchFamily="18" charset="0"/>
              </a:rPr>
              <a:t> 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9.2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Nodes and Links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3397794"/>
            <a:ext cx="7650162" cy="2706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38791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9.1.2 Services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The data-link layer provides services to the network layer; it receives services from the physical layer.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Framing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Flow Control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Error control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Congestion Control</a:t>
            </a:r>
          </a:p>
          <a:p>
            <a:pPr lvl="1">
              <a:spcAft>
                <a:spcPts val="600"/>
              </a:spcAft>
            </a:pP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9.3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A communication with only three nodes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3851250"/>
            <a:ext cx="7098306" cy="226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35627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9.1.3 Two Categories of Links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a point-to-point </a:t>
            </a:r>
            <a:r>
              <a:rPr lang="en-US" altLang="ko-KR" dirty="0" smtClean="0">
                <a:latin typeface="Times New Roman" pitchFamily="18" charset="0"/>
              </a:rPr>
              <a:t>link.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a </a:t>
            </a:r>
            <a:r>
              <a:rPr lang="en-US" altLang="ko-KR" dirty="0">
                <a:latin typeface="Times New Roman" pitchFamily="18" charset="0"/>
              </a:rPr>
              <a:t>broadcast link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9.1.4 </a:t>
            </a:r>
            <a:r>
              <a:rPr lang="en-US" altLang="ko-K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altLang="ko-KR" sz="2400" b="1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Sublayer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data link control (DLC)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media </a:t>
            </a:r>
            <a:r>
              <a:rPr lang="en-US" altLang="ko-KR" dirty="0">
                <a:latin typeface="Times New Roman" pitchFamily="18" charset="0"/>
              </a:rPr>
              <a:t>access control (MAC).</a:t>
            </a:r>
          </a:p>
          <a:p>
            <a:pPr lvl="1">
              <a:spcAft>
                <a:spcPts val="600"/>
              </a:spcAft>
            </a:pP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9.4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Dividing the data-link layer into two </a:t>
            </a:r>
            <a:r>
              <a:rPr lang="en-US" altLang="ko-KR" dirty="0" err="1" smtClean="0">
                <a:latin typeface="+mj-lt"/>
              </a:rPr>
              <a:t>sublayers</a:t>
            </a:r>
            <a:endParaRPr lang="en-US" altLang="ko-KR" dirty="0"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4" y="3848926"/>
            <a:ext cx="3341351" cy="1721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8" y="3750287"/>
            <a:ext cx="3341351" cy="1721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94169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546" y="2125049"/>
            <a:ext cx="5129415" cy="408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9.2 Link-Layer Addressing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Link layer address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Link address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Physical address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MAC address</a:t>
            </a: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9.5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IP addresses and link-layer addresses in a small </a:t>
            </a:r>
            <a:r>
              <a:rPr lang="en-US" altLang="ko-KR" dirty="0" smtClean="0">
                <a:latin typeface="+mj-lt"/>
              </a:rPr>
              <a:t>internet</a:t>
            </a:r>
            <a:endParaRPr lang="en-US" altLang="ko-KR" dirty="0">
              <a:latin typeface="+mj-lt"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33" y="2688108"/>
            <a:ext cx="1832015" cy="486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493" y="3175056"/>
            <a:ext cx="493759" cy="183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33" y="5255572"/>
            <a:ext cx="1832015" cy="51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7497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9.2.1 Three Types of Addresses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unicast,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multicast</a:t>
            </a:r>
            <a:r>
              <a:rPr lang="en-US" altLang="ko-KR" dirty="0">
                <a:latin typeface="Times New Roman" pitchFamily="18" charset="0"/>
              </a:rPr>
              <a:t>,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and </a:t>
            </a:r>
            <a:r>
              <a:rPr lang="en-US" altLang="ko-KR" dirty="0">
                <a:latin typeface="Times New Roman" pitchFamily="18" charset="0"/>
              </a:rPr>
              <a:t>broadcast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50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9.2.2 Address Resolution Protocol (ARP)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is </a:t>
            </a:r>
            <a:r>
              <a:rPr lang="en-US" altLang="ko-KR" dirty="0">
                <a:latin typeface="Times New Roman" pitchFamily="18" charset="0"/>
              </a:rPr>
              <a:t>helpful in moving a frame through a link; we need the link-layer address of the next </a:t>
            </a:r>
            <a:r>
              <a:rPr lang="en-US" altLang="ko-KR" dirty="0" smtClean="0">
                <a:latin typeface="Times New Roman" pitchFamily="18" charset="0"/>
              </a:rPr>
              <a:t>node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9.6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Position </a:t>
            </a:r>
            <a:r>
              <a:rPr lang="en-US" altLang="ko-KR" dirty="0">
                <a:latin typeface="+mj-lt"/>
              </a:rPr>
              <a:t>of ARP in TCP/IP protocol </a:t>
            </a:r>
            <a:r>
              <a:rPr lang="en-US" altLang="ko-KR" dirty="0" smtClean="0">
                <a:latin typeface="+mj-lt"/>
              </a:rPr>
              <a:t>suite</a:t>
            </a:r>
            <a:endParaRPr lang="en-US" altLang="ko-KR" dirty="0">
              <a:latin typeface="+mj-lt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3033418"/>
            <a:ext cx="6238875" cy="2243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22637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9.7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ARP </a:t>
            </a:r>
            <a:r>
              <a:rPr lang="en-US" altLang="ko-KR" dirty="0" smtClean="0">
                <a:latin typeface="+mj-lt"/>
              </a:rPr>
              <a:t>operation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854" y="809051"/>
            <a:ext cx="7043738" cy="245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07" y="3426894"/>
            <a:ext cx="7067831" cy="2440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62738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Caching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The storing of information in a small, fast memory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Packet Format </a:t>
            </a: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9.8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ARP Packet</a:t>
            </a:r>
            <a:endParaRPr lang="en-US" altLang="ko-KR" dirty="0">
              <a:latin typeface="+mj-lt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645" y="2828086"/>
            <a:ext cx="5629460" cy="319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2140614"/>
            <a:ext cx="3067050" cy="516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4663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9.4 </a:t>
            </a:r>
          </a:p>
          <a:p>
            <a:pPr algn="just"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9.9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Example 9.4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153305"/>
            <a:ext cx="6486525" cy="100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442" y="2457723"/>
            <a:ext cx="5694917" cy="171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4452938"/>
            <a:ext cx="5029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5899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algn="just"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838248"/>
            <a:ext cx="5772150" cy="5137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37742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9.4 </a:t>
            </a:r>
          </a:p>
          <a:p>
            <a:pPr algn="just"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9.9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Example 9.4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153305"/>
            <a:ext cx="6486525" cy="100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442" y="2457723"/>
            <a:ext cx="5694917" cy="171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153" y="4400306"/>
            <a:ext cx="4954531" cy="149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37742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9.2.3 An Example of Communication 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9.10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The internet for our </a:t>
            </a:r>
            <a:r>
              <a:rPr lang="en-US" altLang="ko-KR" dirty="0" smtClean="0">
                <a:latin typeface="+mj-lt"/>
              </a:rPr>
              <a:t>example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43200"/>
            <a:ext cx="7533687" cy="139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02427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Activities at Alice’s Site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9.11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Flow of packets at </a:t>
            </a:r>
            <a:r>
              <a:rPr lang="en-US" altLang="ko-KR" dirty="0" smtClean="0">
                <a:latin typeface="+mj-lt"/>
              </a:rPr>
              <a:t>Alice’s computer</a:t>
            </a:r>
            <a:endParaRPr lang="en-US" altLang="ko-KR" dirty="0"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37" y="1357299"/>
            <a:ext cx="6533562" cy="1213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714" y="2778478"/>
            <a:ext cx="6067785" cy="3279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2389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Activities at Router R1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9.12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Flow of </a:t>
            </a:r>
            <a:r>
              <a:rPr lang="en-US" altLang="ko-KR" dirty="0" smtClean="0">
                <a:latin typeface="+mj-lt"/>
              </a:rPr>
              <a:t>activities at router R1</a:t>
            </a:r>
            <a:endParaRPr lang="en-US" altLang="ko-KR" dirty="0">
              <a:latin typeface="+mj-l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195" y="2600325"/>
            <a:ext cx="6371202" cy="3499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953" y="1342816"/>
            <a:ext cx="6771687" cy="1257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52604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Activities at Router R2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9.13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Flow of </a:t>
            </a:r>
            <a:r>
              <a:rPr lang="en-US" altLang="ko-KR" dirty="0" smtClean="0">
                <a:latin typeface="+mj-lt"/>
              </a:rPr>
              <a:t>activities at router R2</a:t>
            </a:r>
            <a:endParaRPr lang="en-US" altLang="ko-KR" dirty="0"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38743"/>
            <a:ext cx="6724650" cy="1248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115" y="2516092"/>
            <a:ext cx="6331485" cy="3488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18445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9.2  Link-Layer Addressing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536575"/>
            <a:ext cx="8429625" cy="60452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Activities at Bob’s Site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9.14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Flow of </a:t>
            </a:r>
            <a:r>
              <a:rPr lang="en-US" altLang="ko-KR" dirty="0" smtClean="0">
                <a:latin typeface="+mj-lt"/>
              </a:rPr>
              <a:t>activities at Bob’s site</a:t>
            </a:r>
            <a:endParaRPr lang="en-US" altLang="ko-KR" dirty="0">
              <a:latin typeface="+mj-l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25137"/>
            <a:ext cx="7533687" cy="139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571750"/>
            <a:ext cx="3223729" cy="345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46463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 Read textbook pp. </a:t>
            </a:r>
            <a:r>
              <a:rPr lang="en-US" altLang="ko-KR" dirty="0" smtClean="0">
                <a:latin typeface="Times New Roman" pitchFamily="18" charset="0"/>
              </a:rPr>
              <a:t>257-287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</a:t>
            </a:r>
            <a:r>
              <a:rPr lang="en-US" altLang="ko-KR" dirty="0" smtClean="0">
                <a:latin typeface="Times New Roman" pitchFamily="18" charset="0"/>
              </a:rPr>
              <a:t>10. Error Detection and Correction</a:t>
            </a: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17556</TotalTime>
  <Words>454</Words>
  <Application>Microsoft Office PowerPoint</Application>
  <PresentationFormat>화면 슬라이드 쇼(4:3)</PresentationFormat>
  <Paragraphs>218</Paragraphs>
  <Slides>21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기본 디자인</vt:lpstr>
      <vt:lpstr>Chapter  9   Introduction to Data-Link Layer </vt:lpstr>
      <vt:lpstr>Ch. 9 Outline</vt:lpstr>
      <vt:lpstr>Ch. 9 Objective</vt:lpstr>
      <vt:lpstr>9.1  Introduction</vt:lpstr>
      <vt:lpstr>9.1  Introduction</vt:lpstr>
      <vt:lpstr>9.1  Introduction</vt:lpstr>
      <vt:lpstr>9.1  Introduction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9.2  Link-Layer Addressing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1093</cp:revision>
  <cp:lastPrinted>1998-01-20T18:41:17Z</cp:lastPrinted>
  <dcterms:created xsi:type="dcterms:W3CDTF">1997-04-13T14:24:48Z</dcterms:created>
  <dcterms:modified xsi:type="dcterms:W3CDTF">2013-05-09T02:20:09Z</dcterms:modified>
</cp:coreProperties>
</file>