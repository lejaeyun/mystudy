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58" r:id="rId1"/>
  </p:sldMasterIdLst>
  <p:notesMasterIdLst>
    <p:notesMasterId r:id="rId23"/>
  </p:notesMasterIdLst>
  <p:handoutMasterIdLst>
    <p:handoutMasterId r:id="rId24"/>
  </p:handoutMasterIdLst>
  <p:sldIdLst>
    <p:sldId id="256" r:id="rId2"/>
    <p:sldId id="429" r:id="rId3"/>
    <p:sldId id="448" r:id="rId4"/>
    <p:sldId id="449" r:id="rId5"/>
    <p:sldId id="592" r:id="rId6"/>
    <p:sldId id="593" r:id="rId7"/>
    <p:sldId id="594" r:id="rId8"/>
    <p:sldId id="595" r:id="rId9"/>
    <p:sldId id="596" r:id="rId10"/>
    <p:sldId id="597" r:id="rId11"/>
    <p:sldId id="598" r:id="rId12"/>
    <p:sldId id="599" r:id="rId13"/>
    <p:sldId id="600" r:id="rId14"/>
    <p:sldId id="601" r:id="rId15"/>
    <p:sldId id="602" r:id="rId16"/>
    <p:sldId id="603" r:id="rId17"/>
    <p:sldId id="604" r:id="rId18"/>
    <p:sldId id="605" r:id="rId19"/>
    <p:sldId id="606" r:id="rId20"/>
    <p:sldId id="607" r:id="rId21"/>
    <p:sldId id="550" r:id="rId22"/>
  </p:sldIdLst>
  <p:sldSz cx="9144000" cy="6858000" type="screen4x3"/>
  <p:notesSz cx="7099300" cy="10234613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5pPr>
    <a:lvl6pPr marL="22860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6pPr>
    <a:lvl7pPr marL="27432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7pPr>
    <a:lvl8pPr marL="32004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8pPr>
    <a:lvl9pPr marL="3657600" algn="l" defTabSz="914400" rtl="0" eaLnBrk="1" latinLnBrk="1" hangingPunct="1">
      <a:defRPr sz="2000" i="1" kern="1200">
        <a:solidFill>
          <a:schemeClr val="tx1"/>
        </a:solidFill>
        <a:latin typeface="Arial" pitchFamily="34" charset="0"/>
        <a:ea typeface="굴림" pitchFamily="50" charset="-127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99"/>
    <a:srgbClr val="7E0000"/>
    <a:srgbClr val="7B84C6"/>
    <a:srgbClr val="FF8C3C"/>
    <a:srgbClr val="C66B5A"/>
    <a:srgbClr val="315263"/>
    <a:srgbClr val="001E4A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>
    <p:restoredLeft sz="20018" autoAdjust="0"/>
    <p:restoredTop sz="94591" autoAdjust="0"/>
  </p:normalViewPr>
  <p:slideViewPr>
    <p:cSldViewPr snapToGrid="0">
      <p:cViewPr>
        <p:scale>
          <a:sx n="100" d="100"/>
          <a:sy n="100" d="100"/>
        </p:scale>
        <p:origin x="-24" y="-78"/>
      </p:cViewPr>
      <p:guideLst>
        <p:guide orient="horz" pos="1536"/>
        <p:guide pos="397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115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r>
              <a:rPr lang="ko-KR" altLang="en-US" dirty="0"/>
              <a:t>EE141</a:t>
            </a:r>
            <a:endParaRPr lang="en-US" altLang="ko-KR" dirty="0"/>
          </a:p>
        </p:txBody>
      </p:sp>
      <p:sp>
        <p:nvSpPr>
          <p:cNvPr id="4505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51300" y="0"/>
            <a:ext cx="30353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506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12325"/>
            <a:ext cx="31115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506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51300" y="9712325"/>
            <a:ext cx="30353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fld id="{3CCB1160-95BA-43F5-8A38-970867445629}" type="slidenum">
              <a:rPr lang="ko-KR" altLang="en-US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49553422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115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r>
              <a:rPr lang="ko-KR" altLang="en-US" dirty="0"/>
              <a:t>EE141</a:t>
            </a:r>
            <a:endParaRPr lang="en-US" altLang="ko-KR" dirty="0"/>
          </a:p>
        </p:txBody>
      </p:sp>
      <p:sp>
        <p:nvSpPr>
          <p:cNvPr id="440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51300" y="0"/>
            <a:ext cx="3035300" cy="508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71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54088" y="760413"/>
            <a:ext cx="5181600" cy="3886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625" y="4899025"/>
            <a:ext cx="5214938" cy="45608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noProof="0" smtClean="0"/>
              <a:t>Click to edit Master text styles</a:t>
            </a:r>
          </a:p>
          <a:p>
            <a:pPr lvl="1"/>
            <a:r>
              <a:rPr lang="en-US" altLang="ko-KR" noProof="0" smtClean="0"/>
              <a:t>Second level</a:t>
            </a:r>
          </a:p>
          <a:p>
            <a:pPr lvl="2"/>
            <a:r>
              <a:rPr lang="en-US" altLang="ko-KR" noProof="0" smtClean="0"/>
              <a:t>Third level</a:t>
            </a:r>
          </a:p>
          <a:p>
            <a:pPr lvl="3"/>
            <a:r>
              <a:rPr lang="en-US" altLang="ko-KR" noProof="0" smtClean="0"/>
              <a:t>Fourth level</a:t>
            </a:r>
          </a:p>
          <a:p>
            <a:pPr lvl="4"/>
            <a:r>
              <a:rPr lang="en-US" altLang="ko-KR" noProof="0" smtClean="0"/>
              <a:t>Fifth level</a:t>
            </a:r>
          </a:p>
        </p:txBody>
      </p:sp>
      <p:sp>
        <p:nvSpPr>
          <p:cNvPr id="440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12325"/>
            <a:ext cx="31115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440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51300" y="9712325"/>
            <a:ext cx="3035300" cy="509588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vert="horz" wrap="square" lIns="99734" tIns="49865" rIns="99734" bIns="49865" numCol="1" anchor="b" anchorCtr="0" compatLnSpc="1">
            <a:prstTxWarp prst="textNoShape">
              <a:avLst/>
            </a:prstTxWarp>
          </a:bodyPr>
          <a:lstStyle>
            <a:lvl1pPr algn="r" defTabSz="998538">
              <a:defRPr sz="1400" i="0">
                <a:latin typeface="Times New Roman" pitchFamily="18" charset="0"/>
                <a:ea typeface="굴림" pitchFamily="50" charset="-127"/>
              </a:defRPr>
            </a:lvl1pPr>
          </a:lstStyle>
          <a:p>
            <a:pPr>
              <a:defRPr/>
            </a:pPr>
            <a:fld id="{403C42A9-E316-4AA1-B844-5021B4B92E18}" type="slidenum">
              <a:rPr lang="ko-KR" altLang="en-US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314334970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2"/>
          <p:cNvSpPr>
            <a:spLocks noGrp="1" noChangeArrowheads="1"/>
          </p:cNvSpPr>
          <p:nvPr>
            <p:ph type="hdr" sz="quarter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r>
              <a:rPr lang="ko-KR" altLang="en-US" sz="1400" i="0" dirty="0" smtClean="0">
                <a:latin typeface="Times New Roman" pitchFamily="18" charset="0"/>
              </a:rPr>
              <a:t>EE141</a:t>
            </a:r>
            <a:endParaRPr lang="en-US" altLang="ko-KR" sz="1400" i="0" dirty="0" smtClean="0">
              <a:latin typeface="Times New Roman" pitchFamily="18" charset="0"/>
            </a:endParaRPr>
          </a:p>
        </p:txBody>
      </p:sp>
      <p:sp>
        <p:nvSpPr>
          <p:cNvPr id="4813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 defTabSz="998538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defTabSz="998538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fld id="{0DD09AAB-6945-4B2F-AFC4-B1FD614E8BDE}" type="slidenum">
              <a:rPr lang="ko-KR" altLang="en-US" sz="1400" i="0" smtClean="0">
                <a:latin typeface="Times New Roman" pitchFamily="18" charset="0"/>
              </a:rPr>
              <a:pPr/>
              <a:t>1</a:t>
            </a:fld>
            <a:endParaRPr lang="en-US" altLang="ko-KR" sz="1400" i="0" dirty="0" smtClean="0">
              <a:latin typeface="Times New Roman" pitchFamily="18" charset="0"/>
            </a:endParaRPr>
          </a:p>
        </p:txBody>
      </p:sp>
      <p:sp>
        <p:nvSpPr>
          <p:cNvPr id="4813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3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en-US" dirty="0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ltGray">
          <a:xfrm>
            <a:off x="0" y="6597650"/>
            <a:ext cx="9144000" cy="260350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latinLnBrk="1" hangingPunct="1"/>
            <a:endParaRPr kumimoji="1" lang="ko-KR" altLang="en-US" sz="1800" b="1" i="0" dirty="0">
              <a:solidFill>
                <a:schemeClr val="bg1"/>
              </a:solidFill>
              <a:ea typeface="HY헤드라인M" pitchFamily="18" charset="-127"/>
              <a:sym typeface="Wingdings 2" pitchFamily="18" charset="2"/>
            </a:endParaRPr>
          </a:p>
        </p:txBody>
      </p:sp>
      <p:sp>
        <p:nvSpPr>
          <p:cNvPr id="5" name="Line 5"/>
          <p:cNvSpPr>
            <a:spLocks noChangeShapeType="1"/>
          </p:cNvSpPr>
          <p:nvPr/>
        </p:nvSpPr>
        <p:spPr bwMode="ltGray">
          <a:xfrm>
            <a:off x="0" y="6742113"/>
            <a:ext cx="9144000" cy="0"/>
          </a:xfrm>
          <a:prstGeom prst="line">
            <a:avLst/>
          </a:prstGeom>
          <a:noFill/>
          <a:ln w="38100">
            <a:solidFill>
              <a:srgbClr val="777777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Line 6"/>
          <p:cNvSpPr>
            <a:spLocks noChangeShapeType="1"/>
          </p:cNvSpPr>
          <p:nvPr/>
        </p:nvSpPr>
        <p:spPr bwMode="auto">
          <a:xfrm>
            <a:off x="2020888" y="1352550"/>
            <a:ext cx="0" cy="635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7" name="Line 7"/>
          <p:cNvSpPr>
            <a:spLocks noChangeShapeType="1"/>
          </p:cNvSpPr>
          <p:nvPr/>
        </p:nvSpPr>
        <p:spPr bwMode="auto">
          <a:xfrm>
            <a:off x="2020888" y="1700213"/>
            <a:ext cx="5645150" cy="0"/>
          </a:xfrm>
          <a:prstGeom prst="line">
            <a:avLst/>
          </a:prstGeom>
          <a:noFill/>
          <a:ln w="9525">
            <a:solidFill>
              <a:schemeClr val="bg2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8" name="Line 8"/>
          <p:cNvSpPr>
            <a:spLocks noChangeShapeType="1"/>
          </p:cNvSpPr>
          <p:nvPr/>
        </p:nvSpPr>
        <p:spPr bwMode="auto">
          <a:xfrm>
            <a:off x="7666038" y="1352550"/>
            <a:ext cx="0" cy="635000"/>
          </a:xfrm>
          <a:prstGeom prst="line">
            <a:avLst/>
          </a:prstGeom>
          <a:noFill/>
          <a:ln w="38100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9" name="Rectangle 9"/>
          <p:cNvSpPr>
            <a:spLocks noChangeArrowheads="1"/>
          </p:cNvSpPr>
          <p:nvPr/>
        </p:nvSpPr>
        <p:spPr bwMode="ltGray">
          <a:xfrm>
            <a:off x="22225" y="0"/>
            <a:ext cx="9144000" cy="534988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r" eaLnBrk="1" latinLnBrk="1" hangingPunct="1"/>
            <a:r>
              <a:rPr kumimoji="1" lang="en-US" altLang="ko-KR" sz="1600" b="1" dirty="0">
                <a:solidFill>
                  <a:schemeClr val="bg1"/>
                </a:solidFill>
                <a:ea typeface="돋움" pitchFamily="50" charset="-127"/>
              </a:rPr>
              <a:t>Pusan National University </a:t>
            </a:r>
            <a:endParaRPr kumimoji="1" lang="en-US" altLang="ko-KR" sz="1000" b="1" i="0" dirty="0">
              <a:solidFill>
                <a:schemeClr val="bg1"/>
              </a:solidFill>
              <a:ea typeface="돋움" pitchFamily="50" charset="-127"/>
            </a:endParaRPr>
          </a:p>
        </p:txBody>
      </p:sp>
      <p:grpSp>
        <p:nvGrpSpPr>
          <p:cNvPr id="10" name="Group 10"/>
          <p:cNvGrpSpPr>
            <a:grpSpLocks/>
          </p:cNvGrpSpPr>
          <p:nvPr/>
        </p:nvGrpSpPr>
        <p:grpSpPr bwMode="auto">
          <a:xfrm>
            <a:off x="0" y="84138"/>
            <a:ext cx="6565900" cy="357187"/>
            <a:chOff x="0" y="53"/>
            <a:chExt cx="5569" cy="225"/>
          </a:xfrm>
        </p:grpSpPr>
        <p:sp>
          <p:nvSpPr>
            <p:cNvPr id="11" name="Line 11"/>
            <p:cNvSpPr>
              <a:spLocks noChangeShapeType="1"/>
            </p:cNvSpPr>
            <p:nvPr userDrawn="1"/>
          </p:nvSpPr>
          <p:spPr bwMode="ltGray">
            <a:xfrm>
              <a:off x="0" y="27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2" name="Line 12"/>
            <p:cNvSpPr>
              <a:spLocks noChangeShapeType="1"/>
            </p:cNvSpPr>
            <p:nvPr userDrawn="1"/>
          </p:nvSpPr>
          <p:spPr bwMode="ltGray">
            <a:xfrm>
              <a:off x="0" y="23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3" name="Line 13"/>
            <p:cNvSpPr>
              <a:spLocks noChangeShapeType="1"/>
            </p:cNvSpPr>
            <p:nvPr userDrawn="1"/>
          </p:nvSpPr>
          <p:spPr bwMode="ltGray">
            <a:xfrm>
              <a:off x="0" y="18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4" name="Line 14"/>
            <p:cNvSpPr>
              <a:spLocks noChangeShapeType="1"/>
            </p:cNvSpPr>
            <p:nvPr userDrawn="1"/>
          </p:nvSpPr>
          <p:spPr bwMode="ltGray">
            <a:xfrm>
              <a:off x="0" y="14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5" name="Line 15"/>
            <p:cNvSpPr>
              <a:spLocks noChangeShapeType="1"/>
            </p:cNvSpPr>
            <p:nvPr userDrawn="1"/>
          </p:nvSpPr>
          <p:spPr bwMode="ltGray">
            <a:xfrm>
              <a:off x="0" y="9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6" name="Line 16"/>
            <p:cNvSpPr>
              <a:spLocks noChangeShapeType="1"/>
            </p:cNvSpPr>
            <p:nvPr userDrawn="1"/>
          </p:nvSpPr>
          <p:spPr bwMode="ltGray">
            <a:xfrm>
              <a:off x="0" y="5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</p:grpSp>
      <p:sp>
        <p:nvSpPr>
          <p:cNvPr id="17" name="Rectangle 17"/>
          <p:cNvSpPr>
            <a:spLocks noChangeArrowheads="1"/>
          </p:cNvSpPr>
          <p:nvPr/>
        </p:nvSpPr>
        <p:spPr bwMode="auto">
          <a:xfrm>
            <a:off x="2066925" y="1700213"/>
            <a:ext cx="2657475" cy="287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latinLnBrk="1" hangingPunct="1"/>
            <a:endParaRPr kumimoji="1" lang="ko-KR" altLang="en-US" sz="1600" b="1" dirty="0">
              <a:solidFill>
                <a:srgbClr val="777777"/>
              </a:solidFill>
              <a:ea typeface="돋움" pitchFamily="50" charset="-127"/>
            </a:endParaRPr>
          </a:p>
        </p:txBody>
      </p:sp>
      <p:pic>
        <p:nvPicPr>
          <p:cNvPr id="18" name="Picture 18" descr="sub06_img1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8363" y="1036638"/>
            <a:ext cx="885825" cy="167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Box 19"/>
          <p:cNvSpPr txBox="1">
            <a:spLocks noChangeArrowheads="1"/>
          </p:cNvSpPr>
          <p:nvPr/>
        </p:nvSpPr>
        <p:spPr bwMode="auto">
          <a:xfrm>
            <a:off x="2076450" y="1092200"/>
            <a:ext cx="5816600" cy="615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1pPr>
            <a:lvl2pPr marL="742950" indent="-28575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2pPr>
            <a:lvl3pPr marL="1143000" indent="-22860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3pPr>
            <a:lvl4pPr marL="1600200" indent="-22860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4pPr>
            <a:lvl5pPr marL="2057400" indent="-228600"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 i="1">
                <a:solidFill>
                  <a:schemeClr val="tx1"/>
                </a:solidFill>
                <a:latin typeface="Arial" pitchFamily="34" charset="0"/>
                <a:ea typeface="굴림" pitchFamily="50" charset="-127"/>
              </a:defRPr>
            </a:lvl9pPr>
          </a:lstStyle>
          <a:p>
            <a:pPr eaLnBrk="1" latinLnBrk="1" hangingPunct="1">
              <a:defRPr/>
            </a:pPr>
            <a:r>
              <a:rPr kumimoji="1" lang="en-US" altLang="ko-KR" sz="3400" b="1" dirty="0" smtClean="0">
                <a:solidFill>
                  <a:srgbClr val="C00000"/>
                </a:solidFill>
                <a:latin typeface="Arial Black" pitchFamily="34" charset="0"/>
                <a:ea typeface="돋움" pitchFamily="50" charset="-127"/>
              </a:rPr>
              <a:t>Data Communications</a:t>
            </a:r>
          </a:p>
        </p:txBody>
      </p:sp>
      <p:sp>
        <p:nvSpPr>
          <p:cNvPr id="481282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2066303" y="1916084"/>
            <a:ext cx="5599113" cy="661988"/>
          </a:xfrm>
        </p:spPr>
        <p:txBody>
          <a:bodyPr rIns="90000"/>
          <a:lstStyle>
            <a:lvl1pPr algn="l">
              <a:defRPr sz="2400">
                <a:solidFill>
                  <a:schemeClr val="tx1"/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48128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 b="1"/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70014929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1800">
                <a:latin typeface="Microsoft Sans Serif" pitchFamily="34" charset="0"/>
                <a:cs typeface="Microsoft Sans Serif" pitchFamily="34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Microsoft Sans Serif" pitchFamily="34" charset="0"/>
                <a:cs typeface="Microsoft Sans Serif" pitchFamily="34" charset="0"/>
              </a:defRPr>
            </a:lvl1pPr>
            <a:lvl2pPr>
              <a:defRPr>
                <a:latin typeface="Microsoft Sans Serif" pitchFamily="34" charset="0"/>
                <a:cs typeface="Microsoft Sans Serif" pitchFamily="34" charset="0"/>
              </a:defRPr>
            </a:lvl2pPr>
            <a:lvl3pPr>
              <a:defRPr>
                <a:latin typeface="Microsoft Sans Serif" pitchFamily="34" charset="0"/>
                <a:cs typeface="Microsoft Sans Serif" pitchFamily="34" charset="0"/>
              </a:defRPr>
            </a:lvl3pPr>
            <a:lvl4pPr>
              <a:defRPr>
                <a:latin typeface="Microsoft Sans Serif" pitchFamily="34" charset="0"/>
                <a:cs typeface="Microsoft Sans Serif" pitchFamily="34" charset="0"/>
              </a:defRPr>
            </a:lvl4pPr>
            <a:lvl5pPr>
              <a:defRPr>
                <a:latin typeface="Microsoft Sans Serif" pitchFamily="34" charset="0"/>
                <a:cs typeface="Microsoft Sans Serif" pitchFamily="34" charset="0"/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4521421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170049434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1800"/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84175" y="765175"/>
            <a:ext cx="4202113" cy="5616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38688" y="765175"/>
            <a:ext cx="4202112" cy="56165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26478766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2948103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3713296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82014162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690032066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507126227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4049930"/>
      </p:ext>
    </p:extLst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858000" y="-11113"/>
            <a:ext cx="2286000" cy="6392863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0" y="-11113"/>
            <a:ext cx="6705600" cy="6392863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67855759"/>
      </p:ext>
    </p:extLst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-11113"/>
            <a:ext cx="9144000" cy="549276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384175" y="765175"/>
            <a:ext cx="4202113" cy="56165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38688" y="765175"/>
            <a:ext cx="4202112" cy="56165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6361672"/>
      </p:ext>
    </p:extLst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제목, 내용 및 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0" y="-11113"/>
            <a:ext cx="9144000" cy="549276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384175" y="765175"/>
            <a:ext cx="4202113" cy="5616575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4738688" y="765175"/>
            <a:ext cx="4202112" cy="27320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4738688" y="3649663"/>
            <a:ext cx="4202112" cy="2732087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66668472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ChangeArrowheads="1"/>
          </p:cNvSpPr>
          <p:nvPr/>
        </p:nvSpPr>
        <p:spPr bwMode="ltGray">
          <a:xfrm>
            <a:off x="0" y="0"/>
            <a:ext cx="9144000" cy="549275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ctr" eaLnBrk="1" latinLnBrk="1" hangingPunct="1"/>
            <a:endParaRPr kumimoji="1" lang="ko-KR" altLang="en-US" sz="1800" b="1" i="0" dirty="0">
              <a:solidFill>
                <a:schemeClr val="bg1"/>
              </a:solidFill>
              <a:ea typeface="돋움" pitchFamily="50" charset="-127"/>
            </a:endParaRP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title"/>
          </p:nvPr>
        </p:nvSpPr>
        <p:spPr bwMode="ltGray">
          <a:xfrm>
            <a:off x="0" y="-11113"/>
            <a:ext cx="9144000" cy="549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36000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Master</a:t>
            </a:r>
            <a:endParaRPr lang="ko-KR" altLang="en-US" smtClean="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4175" y="765175"/>
            <a:ext cx="8556625" cy="5616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 smtClean="0"/>
              <a:t>First</a:t>
            </a:r>
            <a:endParaRPr lang="ko-KR" altLang="en-US" smtClean="0"/>
          </a:p>
          <a:p>
            <a:pPr lvl="1"/>
            <a:r>
              <a:rPr lang="en-US" altLang="ko-KR" smtClean="0"/>
              <a:t>Second</a:t>
            </a:r>
            <a:endParaRPr lang="ko-KR" altLang="en-US" smtClean="0"/>
          </a:p>
          <a:p>
            <a:pPr lvl="2"/>
            <a:r>
              <a:rPr lang="en-US" altLang="ko-KR" smtClean="0"/>
              <a:t>Third</a:t>
            </a:r>
            <a:endParaRPr lang="ko-KR" altLang="en-US" smtClean="0"/>
          </a:p>
          <a:p>
            <a:pPr lvl="3"/>
            <a:r>
              <a:rPr lang="en-US" altLang="ko-KR" smtClean="0"/>
              <a:t>Fourth</a:t>
            </a:r>
            <a:endParaRPr lang="ko-KR" altLang="en-US" smtClean="0"/>
          </a:p>
          <a:p>
            <a:pPr lvl="4"/>
            <a:r>
              <a:rPr lang="en-US" altLang="ko-KR" smtClean="0"/>
              <a:t>Fifth</a:t>
            </a:r>
            <a:endParaRPr lang="ko-KR" altLang="en-US" smtClean="0"/>
          </a:p>
        </p:txBody>
      </p:sp>
      <p:sp>
        <p:nvSpPr>
          <p:cNvPr id="1029" name="Rectangle 5"/>
          <p:cNvSpPr>
            <a:spLocks noChangeArrowheads="1"/>
          </p:cNvSpPr>
          <p:nvPr/>
        </p:nvSpPr>
        <p:spPr bwMode="ltGray">
          <a:xfrm>
            <a:off x="0" y="6624638"/>
            <a:ext cx="9144000" cy="260350"/>
          </a:xfrm>
          <a:prstGeom prst="rect">
            <a:avLst/>
          </a:prstGeom>
          <a:solidFill>
            <a:srgbClr val="2929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1" latinLnBrk="1" hangingPunct="1"/>
            <a:r>
              <a:rPr kumimoji="1" lang="ko-KR" altLang="en-US" sz="1200" b="1" i="0" dirty="0">
                <a:solidFill>
                  <a:schemeClr val="bg1"/>
                </a:solidFill>
                <a:latin typeface="HY목판L" pitchFamily="18" charset="-127"/>
                <a:ea typeface="HY목판L" pitchFamily="18" charset="-127"/>
              </a:rPr>
              <a:t>     </a:t>
            </a:r>
            <a:r>
              <a:rPr kumimoji="1" lang="en-US" altLang="ko-KR" sz="1200" b="1" i="0" dirty="0">
                <a:solidFill>
                  <a:schemeClr val="bg1"/>
                </a:solidFill>
                <a:latin typeface="HY목판L" pitchFamily="18" charset="-127"/>
                <a:ea typeface="HY목판L" pitchFamily="18" charset="-127"/>
              </a:rPr>
              <a:t>Advanced Broadcasting &amp; Communications  Lab.</a:t>
            </a:r>
            <a:endParaRPr kumimoji="1" lang="en-US" altLang="ko-KR" sz="1800" b="1" i="0" dirty="0">
              <a:solidFill>
                <a:schemeClr val="bg1"/>
              </a:solidFill>
              <a:latin typeface="HY목판L" pitchFamily="18" charset="-127"/>
              <a:ea typeface="HY목판L" pitchFamily="18" charset="-127"/>
              <a:sym typeface="Wingdings 2" pitchFamily="18" charset="2"/>
            </a:endParaRPr>
          </a:p>
        </p:txBody>
      </p:sp>
      <p:sp>
        <p:nvSpPr>
          <p:cNvPr id="1030" name="Oval 6"/>
          <p:cNvSpPr>
            <a:spLocks noChangeArrowheads="1"/>
          </p:cNvSpPr>
          <p:nvPr/>
        </p:nvSpPr>
        <p:spPr bwMode="ltGray">
          <a:xfrm>
            <a:off x="8228013" y="6616700"/>
            <a:ext cx="431800" cy="219075"/>
          </a:xfrm>
          <a:prstGeom prst="ellips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algn="r" eaLnBrk="1" latinLnBrk="1" hangingPunct="1"/>
            <a:fld id="{CEE226F8-AF74-4623-8521-365EFC50DC76}" type="slidenum">
              <a:rPr kumimoji="1" lang="ko-KR" altLang="en-US" sz="1200" b="1" i="0">
                <a:solidFill>
                  <a:schemeClr val="bg1"/>
                </a:solidFill>
                <a:latin typeface="Verdana" pitchFamily="34" charset="0"/>
                <a:ea typeface="HY각헤드라인M" pitchFamily="18" charset="-127"/>
              </a:rPr>
              <a:pPr algn="r" eaLnBrk="1" latinLnBrk="1" hangingPunct="1"/>
              <a:t>‹#›</a:t>
            </a:fld>
            <a:endParaRPr kumimoji="1" lang="en-US" altLang="ko-KR" sz="1200" b="1" i="0" dirty="0">
              <a:solidFill>
                <a:schemeClr val="bg1"/>
              </a:solidFill>
              <a:latin typeface="Verdana" pitchFamily="34" charset="0"/>
              <a:ea typeface="HY각헤드라인M" pitchFamily="18" charset="-127"/>
            </a:endParaRPr>
          </a:p>
        </p:txBody>
      </p:sp>
      <p:sp>
        <p:nvSpPr>
          <p:cNvPr id="1031" name="Line 7"/>
          <p:cNvSpPr>
            <a:spLocks noChangeShapeType="1"/>
          </p:cNvSpPr>
          <p:nvPr/>
        </p:nvSpPr>
        <p:spPr bwMode="ltGray">
          <a:xfrm>
            <a:off x="4238625" y="6742113"/>
            <a:ext cx="3806825" cy="0"/>
          </a:xfrm>
          <a:prstGeom prst="line">
            <a:avLst/>
          </a:prstGeom>
          <a:noFill/>
          <a:ln w="38100">
            <a:solidFill>
              <a:srgbClr val="777777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dirty="0"/>
          </a:p>
        </p:txBody>
      </p:sp>
      <p:grpSp>
        <p:nvGrpSpPr>
          <p:cNvPr id="1032" name="Group 8"/>
          <p:cNvGrpSpPr>
            <a:grpSpLocks/>
          </p:cNvGrpSpPr>
          <p:nvPr/>
        </p:nvGrpSpPr>
        <p:grpSpPr bwMode="auto">
          <a:xfrm>
            <a:off x="0" y="84138"/>
            <a:ext cx="5969000" cy="357187"/>
            <a:chOff x="0" y="53"/>
            <a:chExt cx="5569" cy="225"/>
          </a:xfrm>
        </p:grpSpPr>
        <p:sp>
          <p:nvSpPr>
            <p:cNvPr id="1037" name="Line 9"/>
            <p:cNvSpPr>
              <a:spLocks noChangeShapeType="1"/>
            </p:cNvSpPr>
            <p:nvPr userDrawn="1"/>
          </p:nvSpPr>
          <p:spPr bwMode="ltGray">
            <a:xfrm>
              <a:off x="0" y="27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38" name="Line 10"/>
            <p:cNvSpPr>
              <a:spLocks noChangeShapeType="1"/>
            </p:cNvSpPr>
            <p:nvPr userDrawn="1"/>
          </p:nvSpPr>
          <p:spPr bwMode="ltGray">
            <a:xfrm>
              <a:off x="0" y="23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39" name="Line 11"/>
            <p:cNvSpPr>
              <a:spLocks noChangeShapeType="1"/>
            </p:cNvSpPr>
            <p:nvPr userDrawn="1"/>
          </p:nvSpPr>
          <p:spPr bwMode="ltGray">
            <a:xfrm>
              <a:off x="0" y="18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40" name="Line 12"/>
            <p:cNvSpPr>
              <a:spLocks noChangeShapeType="1"/>
            </p:cNvSpPr>
            <p:nvPr userDrawn="1"/>
          </p:nvSpPr>
          <p:spPr bwMode="ltGray">
            <a:xfrm>
              <a:off x="0" y="14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41" name="Line 13"/>
            <p:cNvSpPr>
              <a:spLocks noChangeShapeType="1"/>
            </p:cNvSpPr>
            <p:nvPr userDrawn="1"/>
          </p:nvSpPr>
          <p:spPr bwMode="ltGray">
            <a:xfrm>
              <a:off x="0" y="98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  <p:sp>
          <p:nvSpPr>
            <p:cNvPr id="1042" name="Line 14"/>
            <p:cNvSpPr>
              <a:spLocks noChangeShapeType="1"/>
            </p:cNvSpPr>
            <p:nvPr userDrawn="1"/>
          </p:nvSpPr>
          <p:spPr bwMode="ltGray">
            <a:xfrm>
              <a:off x="0" y="53"/>
              <a:ext cx="5569" cy="0"/>
            </a:xfrm>
            <a:prstGeom prst="line">
              <a:avLst/>
            </a:prstGeom>
            <a:noFill/>
            <a:ln w="38100">
              <a:solidFill>
                <a:srgbClr val="777777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ko-KR" altLang="en-US" dirty="0"/>
            </a:p>
          </p:txBody>
        </p:sp>
      </p:grpSp>
      <p:grpSp>
        <p:nvGrpSpPr>
          <p:cNvPr id="1033" name="Group 15"/>
          <p:cNvGrpSpPr>
            <a:grpSpLocks/>
          </p:cNvGrpSpPr>
          <p:nvPr/>
        </p:nvGrpSpPr>
        <p:grpSpPr bwMode="auto">
          <a:xfrm>
            <a:off x="166688" y="84138"/>
            <a:ext cx="1776412" cy="427037"/>
            <a:chOff x="135" y="621"/>
            <a:chExt cx="1035" cy="269"/>
          </a:xfrm>
        </p:grpSpPr>
        <p:sp>
          <p:nvSpPr>
            <p:cNvPr id="1034" name="Text Box 16"/>
            <p:cNvSpPr txBox="1">
              <a:spLocks noChangeArrowheads="1"/>
            </p:cNvSpPr>
            <p:nvPr userDrawn="1"/>
          </p:nvSpPr>
          <p:spPr bwMode="auto">
            <a:xfrm>
              <a:off x="135" y="656"/>
              <a:ext cx="562" cy="2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kumimoji="1" lang="en-US" altLang="ko-KR" sz="1600" b="1" dirty="0" smtClean="0">
                  <a:solidFill>
                    <a:srgbClr val="99CC00"/>
                  </a:solidFill>
                  <a:latin typeface="Arial Black" pitchFamily="34" charset="0"/>
                  <a:ea typeface="돋움" pitchFamily="50" charset="-127"/>
                </a:rPr>
                <a:t>power</a:t>
              </a:r>
            </a:p>
          </p:txBody>
        </p:sp>
        <p:sp>
          <p:nvSpPr>
            <p:cNvPr id="1035" name="Text Box 17"/>
            <p:cNvSpPr txBox="1">
              <a:spLocks noChangeArrowheads="1"/>
            </p:cNvSpPr>
            <p:nvPr userDrawn="1"/>
          </p:nvSpPr>
          <p:spPr bwMode="auto">
            <a:xfrm>
              <a:off x="632" y="621"/>
              <a:ext cx="538" cy="2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kumimoji="1" lang="en-US" altLang="ko-KR" sz="2200" b="1" dirty="0" smtClean="0">
                  <a:solidFill>
                    <a:schemeClr val="bg1"/>
                  </a:solidFill>
                  <a:latin typeface="Arial Black" pitchFamily="34" charset="0"/>
                  <a:ea typeface="돋움" pitchFamily="50" charset="-127"/>
                </a:rPr>
                <a:t>PNU</a:t>
              </a:r>
            </a:p>
          </p:txBody>
        </p:sp>
        <p:sp>
          <p:nvSpPr>
            <p:cNvPr id="1036" name="Text Box 18"/>
            <p:cNvSpPr txBox="1">
              <a:spLocks noChangeArrowheads="1"/>
            </p:cNvSpPr>
            <p:nvPr userDrawn="1"/>
          </p:nvSpPr>
          <p:spPr bwMode="auto">
            <a:xfrm>
              <a:off x="152" y="623"/>
              <a:ext cx="622" cy="1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1pPr>
              <a:lvl2pPr marL="742950" indent="-28575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2pPr>
              <a:lvl3pPr marL="11430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3pPr>
              <a:lvl4pPr marL="16002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4pPr>
              <a:lvl5pPr marL="2057400" indent="-228600"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000" i="1">
                  <a:solidFill>
                    <a:schemeClr val="tx1"/>
                  </a:solidFill>
                  <a:latin typeface="Arial" pitchFamily="34" charset="0"/>
                  <a:ea typeface="굴림" pitchFamily="50" charset="-127"/>
                </a:defRPr>
              </a:lvl9pPr>
            </a:lstStyle>
            <a:p>
              <a:pPr eaLnBrk="1" latinLnBrk="1" hangingPunct="1">
                <a:defRPr/>
              </a:pPr>
              <a:r>
                <a:rPr kumimoji="1" lang="ko-KR" altLang="en-US" sz="900" b="1" dirty="0" smtClean="0">
                  <a:solidFill>
                    <a:schemeClr val="bg1"/>
                  </a:solidFill>
                  <a:latin typeface="Arial Black" pitchFamily="34" charset="0"/>
                  <a:ea typeface="돋움" pitchFamily="50" charset="-127"/>
                </a:rPr>
                <a:t>세계로</a:t>
              </a:r>
              <a:r>
                <a:rPr kumimoji="1" lang="ko-KR" altLang="en-US" sz="900" b="1" dirty="0" smtClean="0">
                  <a:solidFill>
                    <a:schemeClr val="bg2"/>
                  </a:solidFill>
                  <a:latin typeface="Arial Black" pitchFamily="34" charset="0"/>
                  <a:ea typeface="돋움" pitchFamily="50" charset="-127"/>
                </a:rPr>
                <a:t> </a:t>
              </a:r>
              <a:r>
                <a:rPr kumimoji="1" lang="ko-KR" altLang="en-US" sz="900" b="1" dirty="0" smtClean="0">
                  <a:solidFill>
                    <a:schemeClr val="bg1"/>
                  </a:solidFill>
                  <a:latin typeface="Arial Black" pitchFamily="34" charset="0"/>
                  <a:ea typeface="돋움" pitchFamily="50" charset="-127"/>
                </a:rPr>
                <a:t>미래로</a:t>
              </a:r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1" r:id="rId1"/>
    <p:sldLayoutId id="2147483882" r:id="rId2"/>
    <p:sldLayoutId id="2147483883" r:id="rId3"/>
    <p:sldLayoutId id="2147483884" r:id="rId4"/>
    <p:sldLayoutId id="2147483885" r:id="rId5"/>
    <p:sldLayoutId id="2147483886" r:id="rId6"/>
    <p:sldLayoutId id="2147483887" r:id="rId7"/>
    <p:sldLayoutId id="2147483888" r:id="rId8"/>
    <p:sldLayoutId id="2147483889" r:id="rId9"/>
    <p:sldLayoutId id="2147483890" r:id="rId10"/>
    <p:sldLayoutId id="2147483891" r:id="rId11"/>
    <p:sldLayoutId id="2147483892" r:id="rId12"/>
    <p:sldLayoutId id="2147483893" r:id="rId13"/>
  </p:sldLayoutIdLst>
  <p:transition spd="med"/>
  <p:txStyles>
    <p:titleStyle>
      <a:lvl1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+mj-ea"/>
          <a:cs typeface="Microsoft Sans Serif" pitchFamily="34" charset="0"/>
        </a:defRPr>
      </a:lvl1pPr>
      <a:lvl2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2pPr>
      <a:lvl3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3pPr>
      <a:lvl4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4pPr>
      <a:lvl5pPr algn="r" rtl="0" eaLnBrk="0" fontAlgn="base" latinLnBrk="1" hangingPunct="0">
        <a:spcBef>
          <a:spcPct val="0"/>
        </a:spcBef>
        <a:spcAft>
          <a:spcPct val="0"/>
        </a:spcAft>
        <a:defRPr kumimoji="1" sz="4400" b="1">
          <a:solidFill>
            <a:schemeClr val="bg1"/>
          </a:solidFill>
          <a:latin typeface="Microsoft Sans Serif" pitchFamily="34" charset="0"/>
          <a:ea typeface="굴림" pitchFamily="50" charset="-127"/>
          <a:cs typeface="Microsoft Sans Serif" pitchFamily="34" charset="0"/>
        </a:defRPr>
      </a:lvl5pPr>
      <a:lvl6pPr marL="4572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6pPr>
      <a:lvl7pPr marL="9144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7pPr>
      <a:lvl8pPr marL="13716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8pPr>
      <a:lvl9pPr marL="1828800" algn="r" rtl="0" fontAlgn="base" latinLnBrk="1">
        <a:spcBef>
          <a:spcPct val="0"/>
        </a:spcBef>
        <a:spcAft>
          <a:spcPct val="0"/>
        </a:spcAft>
        <a:defRPr kumimoji="1" b="1">
          <a:solidFill>
            <a:schemeClr val="bg1"/>
          </a:solidFill>
          <a:latin typeface="Times New Roman" pitchFamily="18" charset="0"/>
          <a:ea typeface="굴림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Blip>
          <a:blip r:embed="rId15"/>
        </a:buBlip>
        <a:defRPr kumimoji="1" sz="24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Blip>
          <a:blip r:embed="rId16"/>
        </a:buBlip>
        <a:defRPr kumimoji="1" sz="20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har char="•"/>
        <a:defRPr kumimoji="1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har char="–"/>
        <a:defRPr kumimoji="1" sz="16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Microsoft Sans Serif" pitchFamily="34" charset="0"/>
          <a:ea typeface="+mn-ea"/>
          <a:cs typeface="Microsoft Sans Serif" pitchFamily="34" charset="0"/>
        </a:defRPr>
      </a:lvl5pPr>
      <a:lvl6pPr marL="25146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 latinLnBrk="1">
        <a:spcBef>
          <a:spcPct val="20000"/>
        </a:spcBef>
        <a:spcAft>
          <a:spcPct val="0"/>
        </a:spcAft>
        <a:buChar char="»"/>
        <a:defRPr kumimoji="1" sz="16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emf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15"/>
          <p:cNvSpPr>
            <a:spLocks noGrp="1" noChangeArrowheads="1"/>
          </p:cNvSpPr>
          <p:nvPr>
            <p:ph type="subTitle" idx="1"/>
          </p:nvPr>
        </p:nvSpPr>
        <p:spPr>
          <a:xfrm>
            <a:off x="795338" y="4865688"/>
            <a:ext cx="4111625" cy="1298575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altLang="ko-KR" sz="1600" dirty="0" smtClean="0">
                <a:latin typeface="Times New Roman" pitchFamily="18" charset="0"/>
              </a:rPr>
              <a:t>School of Computer Science and Engineering</a:t>
            </a:r>
          </a:p>
          <a:p>
            <a:pPr eaLnBrk="1" hangingPunct="1">
              <a:lnSpc>
                <a:spcPct val="90000"/>
              </a:lnSpc>
            </a:pPr>
            <a:r>
              <a:rPr lang="en-US" altLang="ko-KR" sz="1600" dirty="0" smtClean="0">
                <a:latin typeface="Times New Roman" pitchFamily="18" charset="0"/>
              </a:rPr>
              <a:t>Pusan National University</a:t>
            </a:r>
          </a:p>
          <a:p>
            <a:pPr eaLnBrk="1" hangingPunct="1">
              <a:lnSpc>
                <a:spcPct val="90000"/>
              </a:lnSpc>
            </a:pPr>
            <a:endParaRPr lang="en-US" altLang="ko-KR" sz="1600" dirty="0" smtClean="0">
              <a:latin typeface="Times New Roman" pitchFamily="18" charset="0"/>
            </a:endParaRPr>
          </a:p>
          <a:p>
            <a:pPr eaLnBrk="1" hangingPunct="1">
              <a:lnSpc>
                <a:spcPct val="90000"/>
              </a:lnSpc>
            </a:pPr>
            <a:r>
              <a:rPr lang="en-US" altLang="ko-KR" sz="1600" dirty="0" smtClean="0">
                <a:latin typeface="Times New Roman" pitchFamily="18" charset="0"/>
              </a:rPr>
              <a:t>Jeong Goo Kim</a:t>
            </a:r>
          </a:p>
          <a:p>
            <a:pPr eaLnBrk="1" hangingPunct="1">
              <a:lnSpc>
                <a:spcPct val="90000"/>
              </a:lnSpc>
            </a:pPr>
            <a:endParaRPr lang="ko-KR" altLang="en-US" dirty="0" smtClean="0">
              <a:latin typeface="Times New Roman" pitchFamily="18" charset="0"/>
            </a:endParaRPr>
          </a:p>
        </p:txBody>
      </p:sp>
      <p:sp>
        <p:nvSpPr>
          <p:cNvPr id="18435" name="Rectangle 16"/>
          <p:cNvSpPr>
            <a:spLocks noGrp="1" noChangeArrowheads="1"/>
          </p:cNvSpPr>
          <p:nvPr>
            <p:ph type="ctrTitle"/>
          </p:nvPr>
        </p:nvSpPr>
        <p:spPr>
          <a:xfrm>
            <a:off x="461963" y="2747963"/>
            <a:ext cx="4630737" cy="1381125"/>
          </a:xfrm>
        </p:spPr>
        <p:txBody>
          <a:bodyPr/>
          <a:lstStyle/>
          <a:p>
            <a:pPr algn="ctr" eaLnBrk="1" hangingPunct="1"/>
            <a:r>
              <a:rPr lang="en-US" altLang="ko-KR" sz="3200" i="1" dirty="0" smtClean="0">
                <a:solidFill>
                  <a:srgbClr val="C00000"/>
                </a:solidFill>
                <a:latin typeface="+mj-lt"/>
              </a:rPr>
              <a:t>Chapter  5</a:t>
            </a:r>
            <a:r>
              <a:rPr lang="en-US" altLang="ko-KR" sz="3200" b="0" dirty="0" smtClean="0">
                <a:solidFill>
                  <a:srgbClr val="0070C0"/>
                </a:solidFill>
              </a:rPr>
              <a:t> </a:t>
            </a:r>
            <a:br>
              <a:rPr lang="en-US" altLang="ko-KR" sz="3200" b="0" dirty="0" smtClean="0">
                <a:solidFill>
                  <a:srgbClr val="0070C0"/>
                </a:solidFill>
              </a:rPr>
            </a:br>
            <a:r>
              <a:rPr lang="en-US" altLang="ko-KR" sz="3200" i="1" dirty="0" smtClean="0">
                <a:solidFill>
                  <a:srgbClr val="333399"/>
                </a:solidFill>
                <a:latin typeface="+mj-lt"/>
              </a:rPr>
              <a:t>Analog</a:t>
            </a:r>
            <a:r>
              <a:rPr lang="en-US" altLang="ko-KR" sz="3200" i="1" dirty="0">
                <a:solidFill>
                  <a:srgbClr val="333399"/>
                </a:solidFill>
                <a:latin typeface="+mj-lt"/>
                <a:cs typeface="Arial" pitchFamily="34" charset="0"/>
              </a:rPr>
              <a:t/>
            </a:r>
            <a:br>
              <a:rPr lang="en-US" altLang="ko-KR" sz="3200" i="1" dirty="0">
                <a:solidFill>
                  <a:srgbClr val="333399"/>
                </a:solidFill>
                <a:latin typeface="+mj-lt"/>
                <a:cs typeface="Arial" pitchFamily="34" charset="0"/>
              </a:rPr>
            </a:br>
            <a:r>
              <a:rPr lang="en-US" altLang="ko-KR" sz="3200" i="1" dirty="0">
                <a:solidFill>
                  <a:srgbClr val="333399"/>
                </a:solidFill>
                <a:latin typeface="+mj-lt"/>
                <a:cs typeface="Arial" pitchFamily="34" charset="0"/>
              </a:rPr>
              <a:t>Transmission</a:t>
            </a:r>
          </a:p>
        </p:txBody>
      </p:sp>
      <p:pic>
        <p:nvPicPr>
          <p:cNvPr id="15364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3350" y="2165350"/>
            <a:ext cx="3494088" cy="438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altLang="ko-KR" sz="2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itchFamily="18" charset="0"/>
                <a:cs typeface="Times" pitchFamily="18" charset="0"/>
              </a:rPr>
              <a:t>Ch. 5  Outline</a:t>
            </a:r>
            <a:endParaRPr lang="ko-KR" altLang="en-US" sz="20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" pitchFamily="18" charset="0"/>
              <a:cs typeface="Times" pitchFamily="18" charset="0"/>
            </a:endParaRP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2" indent="0" algn="just">
              <a:spcBef>
                <a:spcPts val="0"/>
              </a:spcBef>
              <a:buFontTx/>
              <a:buNone/>
              <a:defRPr/>
            </a:pPr>
            <a:r>
              <a:rPr lang="en-US" altLang="ko-KR" sz="32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Outline</a:t>
            </a:r>
            <a:endParaRPr lang="en-US" altLang="ko-KR" sz="3200" b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endParaRPr lang="en-US" altLang="ko-KR" sz="3600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"/>
            </a:endParaRP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r>
              <a:rPr lang="en-US" altLang="ko-KR" sz="3200" b="1" i="1" dirty="0" smtClean="0">
                <a:solidFill>
                  <a:srgbClr val="C00000"/>
                </a:solidFill>
                <a:latin typeface="Times"/>
              </a:rPr>
              <a:t>5.1   </a:t>
            </a:r>
            <a:r>
              <a:rPr lang="en-US" altLang="ko-KR" sz="3200" b="1" i="1" dirty="0" smtClean="0">
                <a:solidFill>
                  <a:srgbClr val="333399"/>
                </a:solidFill>
                <a:latin typeface="Times New Roman" pitchFamily="18" charset="0"/>
                <a:cs typeface="Times New Roman" pitchFamily="18" charset="0"/>
              </a:rPr>
              <a:t>Digital-to-Analog Conversion </a:t>
            </a:r>
          </a:p>
          <a:p>
            <a:pPr marL="0" indent="0" algn="just">
              <a:spcBef>
                <a:spcPts val="0"/>
              </a:spcBef>
              <a:buFontTx/>
              <a:buNone/>
              <a:defRPr/>
            </a:pPr>
            <a:r>
              <a:rPr lang="en-US" altLang="ko-KR" sz="3200" b="1" i="1" dirty="0" smtClean="0">
                <a:solidFill>
                  <a:srgbClr val="C00000"/>
                </a:solidFill>
                <a:latin typeface="Times"/>
              </a:rPr>
              <a:t>5.2   </a:t>
            </a:r>
            <a:r>
              <a:rPr lang="en-US" altLang="ko-KR" sz="3200" b="1" i="1" dirty="0" smtClean="0">
                <a:solidFill>
                  <a:srgbClr val="333399"/>
                </a:solidFill>
                <a:latin typeface="Times New Roman" pitchFamily="18" charset="0"/>
                <a:cs typeface="Times New Roman" pitchFamily="18" charset="0"/>
              </a:rPr>
              <a:t>Analog-to-Analog Conversion</a:t>
            </a:r>
            <a:r>
              <a:rPr lang="en-US" altLang="ko-KR" sz="3200" b="1" i="1" dirty="0" smtClean="0">
                <a:solidFill>
                  <a:srgbClr val="3366FF"/>
                </a:solidFill>
                <a:latin typeface="Times New Roman" pitchFamily="18" charset="0"/>
                <a:cs typeface="Times New Roman" pitchFamily="18" charset="0"/>
              </a:rPr>
              <a:t>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2">
              <a:defRPr/>
            </a:pPr>
            <a:r>
              <a:rPr lang="en-US" altLang="ko-KR" sz="2000" dirty="0" smtClean="0">
                <a:latin typeface="Times" pitchFamily="18" charset="0"/>
              </a:rPr>
              <a:t>Ch. 5 Objective</a:t>
            </a:r>
            <a:endParaRPr lang="en-US" altLang="ko-KR" sz="2000" dirty="0">
              <a:latin typeface="Times" pitchFamily="18" charset="0"/>
            </a:endParaRPr>
          </a:p>
        </p:txBody>
      </p:sp>
      <p:sp>
        <p:nvSpPr>
          <p:cNvPr id="17411" name="내용 개체 틀 2"/>
          <p:cNvSpPr>
            <a:spLocks noGrp="1"/>
          </p:cNvSpPr>
          <p:nvPr>
            <p:ph idx="1"/>
          </p:nvPr>
        </p:nvSpPr>
        <p:spPr>
          <a:xfrm>
            <a:off x="344488" y="392113"/>
            <a:ext cx="8429625" cy="6196012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</a:pPr>
            <a:r>
              <a:rPr lang="en-US" altLang="ko-KR" sz="36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Objective</a:t>
            </a:r>
          </a:p>
          <a:p>
            <a:pPr>
              <a:spcAft>
                <a:spcPts val="600"/>
              </a:spcAft>
            </a:pPr>
            <a:r>
              <a:rPr lang="en-US" altLang="ko-KR" dirty="0" smtClean="0">
                <a:solidFill>
                  <a:srgbClr val="333399"/>
                </a:solidFill>
                <a:latin typeface="Times New Roman" pitchFamily="18" charset="0"/>
              </a:rPr>
              <a:t>Digital-to-Analog conversion (digital modulation)</a:t>
            </a:r>
          </a:p>
          <a:p>
            <a:pPr lvl="1">
              <a:spcAft>
                <a:spcPts val="600"/>
              </a:spcAft>
            </a:pPr>
            <a:r>
              <a:rPr lang="en-US" altLang="ko-KR" dirty="0" smtClean="0">
                <a:solidFill>
                  <a:srgbClr val="333399"/>
                </a:solidFill>
                <a:latin typeface="Times New Roman" pitchFamily="18" charset="0"/>
              </a:rPr>
              <a:t>ASK</a:t>
            </a:r>
          </a:p>
          <a:p>
            <a:pPr lvl="1">
              <a:spcAft>
                <a:spcPts val="600"/>
              </a:spcAft>
            </a:pPr>
            <a:r>
              <a:rPr lang="en-US" altLang="ko-KR" dirty="0" smtClean="0">
                <a:solidFill>
                  <a:srgbClr val="333399"/>
                </a:solidFill>
                <a:latin typeface="Times New Roman" pitchFamily="18" charset="0"/>
              </a:rPr>
              <a:t>FSK</a:t>
            </a:r>
          </a:p>
          <a:p>
            <a:pPr lvl="1">
              <a:spcAft>
                <a:spcPts val="600"/>
              </a:spcAft>
            </a:pPr>
            <a:r>
              <a:rPr lang="en-US" altLang="ko-KR" dirty="0" smtClean="0">
                <a:solidFill>
                  <a:srgbClr val="333399"/>
                </a:solidFill>
                <a:latin typeface="Times New Roman" pitchFamily="18" charset="0"/>
              </a:rPr>
              <a:t>PSK</a:t>
            </a:r>
          </a:p>
          <a:p>
            <a:pPr lvl="1">
              <a:spcAft>
                <a:spcPts val="600"/>
              </a:spcAft>
            </a:pPr>
            <a:r>
              <a:rPr lang="en-US" altLang="ko-KR" dirty="0" smtClean="0">
                <a:solidFill>
                  <a:srgbClr val="333399"/>
                </a:solidFill>
                <a:latin typeface="Times New Roman" pitchFamily="18" charset="0"/>
              </a:rPr>
              <a:t>QAM</a:t>
            </a:r>
          </a:p>
          <a:p>
            <a:pPr>
              <a:spcAft>
                <a:spcPts val="600"/>
              </a:spcAft>
            </a:pPr>
            <a:r>
              <a:rPr lang="en-US" altLang="ko-KR" dirty="0" smtClean="0">
                <a:solidFill>
                  <a:srgbClr val="333399"/>
                </a:solidFill>
                <a:latin typeface="Times New Roman" pitchFamily="18" charset="0"/>
              </a:rPr>
              <a:t>Analog-to-Analog conversion (Analog </a:t>
            </a:r>
            <a:r>
              <a:rPr lang="en-US" altLang="ko-KR" dirty="0" err="1" smtClean="0">
                <a:solidFill>
                  <a:srgbClr val="333399"/>
                </a:solidFill>
                <a:latin typeface="Times New Roman" pitchFamily="18" charset="0"/>
              </a:rPr>
              <a:t>modualation</a:t>
            </a:r>
            <a:r>
              <a:rPr lang="en-US" altLang="ko-KR" dirty="0" smtClean="0">
                <a:solidFill>
                  <a:srgbClr val="333399"/>
                </a:solidFill>
                <a:latin typeface="Times New Roman" pitchFamily="18" charset="0"/>
              </a:rPr>
              <a:t>)</a:t>
            </a:r>
            <a:endParaRPr lang="en-US" altLang="ko-KR" dirty="0">
              <a:solidFill>
                <a:srgbClr val="333399"/>
              </a:solidFill>
              <a:latin typeface="Times New Roman" pitchFamily="18" charset="0"/>
            </a:endParaRPr>
          </a:p>
          <a:p>
            <a:pPr lvl="1">
              <a:spcAft>
                <a:spcPts val="600"/>
              </a:spcAft>
            </a:pPr>
            <a:r>
              <a:rPr lang="en-US" altLang="ko-KR" dirty="0" smtClean="0">
                <a:solidFill>
                  <a:srgbClr val="333399"/>
                </a:solidFill>
                <a:latin typeface="Times New Roman" pitchFamily="18" charset="0"/>
              </a:rPr>
              <a:t>AM</a:t>
            </a:r>
          </a:p>
          <a:p>
            <a:pPr lvl="1">
              <a:spcAft>
                <a:spcPts val="600"/>
              </a:spcAft>
            </a:pPr>
            <a:r>
              <a:rPr lang="en-US" altLang="ko-KR" dirty="0" smtClean="0">
                <a:solidFill>
                  <a:srgbClr val="333399"/>
                </a:solidFill>
                <a:latin typeface="Times New Roman" pitchFamily="18" charset="0"/>
              </a:rPr>
              <a:t>FM</a:t>
            </a:r>
          </a:p>
          <a:p>
            <a:pPr lvl="1">
              <a:spcAft>
                <a:spcPts val="600"/>
              </a:spcAft>
            </a:pPr>
            <a:r>
              <a:rPr lang="en-US" altLang="ko-KR" dirty="0" smtClean="0">
                <a:solidFill>
                  <a:srgbClr val="333399"/>
                </a:solidFill>
                <a:latin typeface="Times New Roman" pitchFamily="18" charset="0"/>
              </a:rPr>
              <a:t>PM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5.1  Digital-to-Analog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5.1 Digital-to-Analog Conversion </a:t>
            </a: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is the process of </a:t>
            </a:r>
            <a:r>
              <a:rPr lang="en-US" altLang="ko-KR" dirty="0" smtClean="0">
                <a:latin typeface="+mj-lt"/>
              </a:rPr>
              <a:t>changing </a:t>
            </a:r>
            <a:r>
              <a:rPr lang="en-US" altLang="ko-KR" dirty="0">
                <a:latin typeface="+mj-lt"/>
              </a:rPr>
              <a:t>one of the characteristics of an analog signal based on the information in digital data</a:t>
            </a:r>
            <a:endParaRPr lang="en-US" altLang="ko-KR" dirty="0" smtClean="0">
              <a:latin typeface="+mj-lt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5.1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Digital-to-analog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conversion</a:t>
            </a: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91259" y="2781300"/>
            <a:ext cx="5823941" cy="18120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123" y="3185239"/>
            <a:ext cx="1163136" cy="475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5200" y="3279964"/>
            <a:ext cx="1163136" cy="4758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1" name="Picture 4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10128" y="2979224"/>
            <a:ext cx="2176272" cy="7765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5.1  Digital-to-Analog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5.2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dirty="0">
                <a:latin typeface="+mj-lt"/>
              </a:rPr>
              <a:t>Types of digital to analog conversion</a:t>
            </a:r>
            <a:endParaRPr lang="en-US" altLang="ko-KR" dirty="0">
              <a:latin typeface="+mj-lt"/>
              <a:cs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+mj-lt"/>
            </a:endParaRPr>
          </a:p>
        </p:txBody>
      </p:sp>
      <p:pic>
        <p:nvPicPr>
          <p:cNvPr id="1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950" y="1905000"/>
            <a:ext cx="8401050" cy="2887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00529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5.1  Digital-to-Analog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5.1.1 Aspects of Digital-to-Analog Conversion </a:t>
            </a:r>
          </a:p>
          <a:p>
            <a:pPr marL="342900" lvl="2" indent="-342900">
              <a:lnSpc>
                <a:spcPct val="150000"/>
              </a:lnSpc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Data Element vs. Signal Element</a:t>
            </a:r>
          </a:p>
          <a:p>
            <a:pPr marL="342900" lvl="2" indent="-342900">
              <a:lnSpc>
                <a:spcPct val="150000"/>
              </a:lnSpc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Data rate vs. Signal rate</a:t>
            </a:r>
          </a:p>
          <a:p>
            <a:pPr marL="342900" lvl="2" indent="-342900">
              <a:lnSpc>
                <a:spcPct val="150000"/>
              </a:lnSpc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Ex. 5.1</a:t>
            </a:r>
          </a:p>
          <a:p>
            <a:pPr marL="342900" lvl="2" indent="-342900">
              <a:lnSpc>
                <a:spcPct val="150000"/>
              </a:lnSpc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Ex. 5.2</a:t>
            </a:r>
          </a:p>
          <a:p>
            <a:pPr marL="342900" lvl="2" indent="-342900">
              <a:lnSpc>
                <a:spcPct val="150000"/>
              </a:lnSpc>
              <a:buNone/>
              <a:defRPr/>
            </a:pPr>
            <a:endParaRPr lang="en-US" altLang="ko-KR" sz="2400" b="1" i="1" dirty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342900" lvl="2" indent="-342900">
              <a:lnSpc>
                <a:spcPct val="150000"/>
              </a:lnSpc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Bandwidth</a:t>
            </a:r>
          </a:p>
          <a:p>
            <a:pPr marL="342900" lvl="2" indent="-342900">
              <a:lnSpc>
                <a:spcPct val="150000"/>
              </a:lnSpc>
              <a:buNone/>
              <a:defRPr/>
            </a:pPr>
            <a:r>
              <a:rPr lang="en-US" altLang="ko-KR" sz="2400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Carrier Signal</a:t>
            </a: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325" y="2762250"/>
            <a:ext cx="7110413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3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7325" y="3343275"/>
            <a:ext cx="71628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8005295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5.1  Digital-to-Analog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5.1.2 Amplitude Shift Keying (ASK)</a:t>
            </a:r>
          </a:p>
          <a:p>
            <a:pPr algn="just">
              <a:defRPr/>
            </a:pPr>
            <a:r>
              <a:rPr lang="en-US" altLang="ko-KR" dirty="0" smtClean="0">
                <a:latin typeface="Times New Roman" pitchFamily="18" charset="0"/>
              </a:rPr>
              <a:t>the </a:t>
            </a:r>
            <a:r>
              <a:rPr lang="en-US" altLang="ko-KR" dirty="0">
                <a:latin typeface="Times New Roman" pitchFamily="18" charset="0"/>
              </a:rPr>
              <a:t>amplitude of the carrier signal is varied to create signal elements.</a:t>
            </a:r>
          </a:p>
          <a:p>
            <a:pPr marL="0" indent="0" algn="just">
              <a:buNone/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just"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Binary ASK (BASK)</a:t>
            </a:r>
          </a:p>
          <a:p>
            <a:pPr algn="just">
              <a:defRPr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Fig. 5.3 </a:t>
            </a:r>
            <a:r>
              <a:rPr lang="en-US" altLang="ko-KR" b="1" i="1" dirty="0" smtClean="0">
                <a:latin typeface="Times New Roman" pitchFamily="18" charset="0"/>
              </a:rPr>
              <a:t>BASK</a:t>
            </a:r>
            <a:endParaRPr lang="en-US" altLang="ko-KR" dirty="0" smtClean="0">
              <a:latin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550" y="3172327"/>
            <a:ext cx="5518150" cy="2369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15452" y="3415529"/>
            <a:ext cx="1680847" cy="13492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2994809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5.1  Digital-to-Analog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algn="just">
              <a:defRPr/>
            </a:pPr>
            <a:r>
              <a:rPr lang="en-US" altLang="ko-KR" b="1" i="1" dirty="0" smtClean="0">
                <a:latin typeface="Times New Roman" pitchFamily="18" charset="0"/>
              </a:rPr>
              <a:t>Bandwidth for ASK</a:t>
            </a:r>
          </a:p>
          <a:p>
            <a:pPr marL="0" indent="0" algn="ctr">
              <a:buNone/>
              <a:defRPr/>
            </a:pPr>
            <a:r>
              <a:rPr lang="en-US" altLang="ko-KR" b="1" i="1" dirty="0" smtClean="0">
                <a:latin typeface="Times New Roman" pitchFamily="18" charset="0"/>
              </a:rPr>
              <a:t>B = </a:t>
            </a:r>
            <a:r>
              <a:rPr lang="en-US" altLang="ko-KR" dirty="0" smtClean="0">
                <a:latin typeface="Times New Roman" pitchFamily="18" charset="0"/>
              </a:rPr>
              <a:t>(1</a:t>
            </a:r>
            <a:r>
              <a:rPr lang="en-US" altLang="ko-KR" b="1" i="1" dirty="0" smtClean="0">
                <a:latin typeface="Times New Roman" pitchFamily="18" charset="0"/>
              </a:rPr>
              <a:t>+d</a:t>
            </a:r>
            <a:r>
              <a:rPr lang="en-US" altLang="ko-KR" dirty="0" smtClean="0">
                <a:latin typeface="Times New Roman" pitchFamily="18" charset="0"/>
              </a:rPr>
              <a:t>)</a:t>
            </a:r>
            <a:r>
              <a:rPr lang="en-US" altLang="ko-KR" b="1" i="1" dirty="0" smtClean="0">
                <a:latin typeface="Times New Roman" pitchFamily="18" charset="0"/>
              </a:rPr>
              <a:t> </a:t>
            </a:r>
            <a:r>
              <a:rPr lang="en-US" altLang="ko-KR" dirty="0" smtClean="0">
                <a:latin typeface="Times New Roman"/>
                <a:cs typeface="Times New Roman"/>
              </a:rPr>
              <a:t>×</a:t>
            </a:r>
            <a:r>
              <a:rPr lang="en-US" altLang="ko-KR" b="1" i="1" dirty="0" smtClean="0">
                <a:latin typeface="Times New Roman"/>
                <a:cs typeface="Times New Roman"/>
              </a:rPr>
              <a:t> S,        </a:t>
            </a:r>
            <a:r>
              <a:rPr lang="en-US" altLang="ko-KR" dirty="0" smtClean="0">
                <a:latin typeface="Times New Roman"/>
                <a:cs typeface="Times New Roman"/>
              </a:rPr>
              <a:t>0 ≤ </a:t>
            </a:r>
            <a:r>
              <a:rPr lang="en-US" altLang="ko-KR" i="1" dirty="0" smtClean="0">
                <a:latin typeface="Times New Roman"/>
                <a:cs typeface="Times New Roman"/>
              </a:rPr>
              <a:t>d</a:t>
            </a:r>
            <a:r>
              <a:rPr lang="en-US" altLang="ko-KR" dirty="0" smtClean="0">
                <a:latin typeface="Times New Roman"/>
                <a:cs typeface="Times New Roman"/>
              </a:rPr>
              <a:t> ≤ 1,  </a:t>
            </a:r>
            <a:r>
              <a:rPr lang="en-US" altLang="ko-KR" i="1" dirty="0" smtClean="0">
                <a:latin typeface="Times New Roman"/>
                <a:cs typeface="Times New Roman"/>
              </a:rPr>
              <a:t>S</a:t>
            </a:r>
            <a:r>
              <a:rPr lang="en-US" altLang="ko-KR" dirty="0" smtClean="0">
                <a:latin typeface="Times New Roman"/>
                <a:cs typeface="Times New Roman"/>
              </a:rPr>
              <a:t>: signal rate</a:t>
            </a:r>
          </a:p>
          <a:p>
            <a:pPr algn="just">
              <a:defRPr/>
            </a:pPr>
            <a:endParaRPr lang="en-US" altLang="ko-KR" i="1" dirty="0" smtClean="0">
              <a:latin typeface="Times New Roman" pitchFamily="18" charset="0"/>
            </a:endParaRPr>
          </a:p>
          <a:p>
            <a:pPr algn="just">
              <a:defRPr/>
            </a:pPr>
            <a:r>
              <a:rPr lang="en-US" altLang="ko-KR" b="1" i="1" dirty="0" smtClean="0">
                <a:latin typeface="Times New Roman" pitchFamily="18" charset="0"/>
              </a:rPr>
              <a:t>Implementation</a:t>
            </a:r>
          </a:p>
          <a:p>
            <a:pPr algn="just"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Fig. 5.4 </a:t>
            </a:r>
            <a:r>
              <a:rPr lang="en-US" altLang="ko-KR" b="1" i="1" dirty="0" smtClean="0">
                <a:latin typeface="Times New Roman" pitchFamily="18" charset="0"/>
              </a:rPr>
              <a:t>Implementation of  BASK</a:t>
            </a:r>
            <a:endParaRPr lang="en-US" altLang="ko-KR" dirty="0" smtClean="0">
              <a:latin typeface="Times New Roman" pitchFamily="18" charset="0"/>
            </a:endParaRPr>
          </a:p>
        </p:txBody>
      </p:sp>
      <p:pic>
        <p:nvPicPr>
          <p:cNvPr id="8" name="Picture 10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3700" y="2808288"/>
            <a:ext cx="8255000" cy="2392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779218792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5.1  Digital-to-Analog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algn="just">
              <a:defRPr/>
            </a:pPr>
            <a:r>
              <a:rPr lang="en-US" altLang="ko-KR" b="1" i="1" dirty="0" smtClean="0">
                <a:latin typeface="Times New Roman" pitchFamily="18" charset="0"/>
              </a:rPr>
              <a:t>Ex. 5.3</a:t>
            </a:r>
          </a:p>
          <a:p>
            <a:pPr algn="just">
              <a:defRPr/>
            </a:pPr>
            <a:endParaRPr lang="en-US" altLang="ko-KR" i="1" dirty="0" smtClean="0">
              <a:latin typeface="Times New Roman" pitchFamily="18" charset="0"/>
            </a:endParaRPr>
          </a:p>
          <a:p>
            <a:pPr algn="just">
              <a:defRPr/>
            </a:pPr>
            <a:r>
              <a:rPr lang="en-US" altLang="ko-KR" b="1" i="1" dirty="0" smtClean="0">
                <a:latin typeface="Times New Roman" pitchFamily="18" charset="0"/>
              </a:rPr>
              <a:t>Ex. 5.4</a:t>
            </a:r>
          </a:p>
          <a:p>
            <a:pPr algn="just"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Fig. 5.5 </a:t>
            </a:r>
            <a:r>
              <a:rPr lang="en-US" altLang="ko-KR" dirty="0">
                <a:latin typeface="Times New Roman" pitchFamily="18" charset="0"/>
                <a:cs typeface="Times New Roman" pitchFamily="18" charset="0"/>
              </a:rPr>
              <a:t>Bandwidth of a full-duplex ASK in Example </a:t>
            </a:r>
            <a:r>
              <a:rPr lang="en-US" altLang="ko-KR" dirty="0" smtClean="0">
                <a:latin typeface="Times New Roman" pitchFamily="18" charset="0"/>
                <a:cs typeface="Times New Roman" pitchFamily="18" charset="0"/>
              </a:rPr>
              <a:t>5.4</a:t>
            </a:r>
          </a:p>
          <a:p>
            <a:pPr marL="0" indent="0" algn="ctr">
              <a:buNone/>
              <a:defRPr/>
            </a:pPr>
            <a:endParaRPr lang="en-US" altLang="ko-KR" dirty="0">
              <a:latin typeface="Times New Roman" pitchFamily="18" charset="0"/>
              <a:cs typeface="Times New Roman" pitchFamily="18" charset="0"/>
            </a:endParaRPr>
          </a:p>
          <a:p>
            <a:pPr marL="0" indent="0"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Multilevel ASK</a:t>
            </a:r>
          </a:p>
        </p:txBody>
      </p:sp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8490" y="857250"/>
            <a:ext cx="7204710" cy="4152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88490" y="2522538"/>
            <a:ext cx="4899025" cy="166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24682405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5.1  Digital-to-Analog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5.1.3 Frequency Shift Keying (FSK)</a:t>
            </a:r>
          </a:p>
          <a:p>
            <a:pPr algn="just">
              <a:defRPr/>
            </a:pPr>
            <a:r>
              <a:rPr lang="en-US" altLang="ko-KR" dirty="0">
                <a:latin typeface="Times New Roman" pitchFamily="18" charset="0"/>
              </a:rPr>
              <a:t>the frequency of the carrier signal is varied to represent data</a:t>
            </a:r>
            <a:r>
              <a:rPr lang="en-US" altLang="ko-KR" dirty="0" smtClean="0">
                <a:latin typeface="Times New Roman" pitchFamily="18" charset="0"/>
              </a:rPr>
              <a:t>.</a:t>
            </a:r>
            <a:endParaRPr lang="en-US" altLang="ko-KR" dirty="0">
              <a:latin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just"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Binary FSK (BFSK)</a:t>
            </a:r>
          </a:p>
          <a:p>
            <a:pPr marL="0" indent="0" algn="just">
              <a:buNone/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Fig. 5.6 </a:t>
            </a:r>
            <a:r>
              <a:rPr lang="en-US" altLang="ko-KR" b="1" i="1" dirty="0" smtClean="0">
                <a:latin typeface="Times New Roman" pitchFamily="18" charset="0"/>
              </a:rPr>
              <a:t>BFSK</a:t>
            </a:r>
            <a:endParaRPr lang="en-US" altLang="ko-KR" dirty="0" smtClean="0">
              <a:latin typeface="Times New Roman" pitchFamily="18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2925" y="2951095"/>
            <a:ext cx="5219700" cy="24163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70117" y="3408551"/>
            <a:ext cx="1917012" cy="1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5750912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5.1  Digital-to-Analog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816600"/>
          </a:xfrm>
        </p:spPr>
        <p:txBody>
          <a:bodyPr/>
          <a:lstStyle/>
          <a:p>
            <a:pPr marL="0" indent="0" algn="just">
              <a:buNone/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lnSpc>
                <a:spcPct val="150000"/>
              </a:lnSpc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Fig. 5.7 </a:t>
            </a:r>
            <a:r>
              <a:rPr lang="en-US" altLang="ko-KR" b="1" i="1" dirty="0" smtClean="0">
                <a:latin typeface="Times New Roman" pitchFamily="18" charset="0"/>
              </a:rPr>
              <a:t>Implementation of BFSK</a:t>
            </a:r>
          </a:p>
          <a:p>
            <a:pPr marL="0" indent="0"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Multilevel FSK</a:t>
            </a:r>
          </a:p>
          <a:p>
            <a:pPr marL="0" indent="0">
              <a:buNone/>
              <a:defRPr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>
              <a:buNone/>
              <a:defRPr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algn="ctr"/>
            <a:r>
              <a:rPr lang="en-US" altLang="ko-KR" b="1" i="1" dirty="0">
                <a:solidFill>
                  <a:srgbClr val="C00000"/>
                </a:solidFill>
                <a:latin typeface="Times New Roman" pitchFamily="18" charset="0"/>
              </a:rPr>
              <a:t>Fig. </a:t>
            </a: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5.8 </a:t>
            </a:r>
            <a:r>
              <a:rPr lang="en-US" altLang="ko-KR" b="1" i="1" dirty="0">
                <a:latin typeface="Times New Roman" pitchFamily="18" charset="0"/>
                <a:cs typeface="Times New Roman" pitchFamily="18" charset="0"/>
              </a:rPr>
              <a:t>Bandwidth of MFSK used in Example 5.6</a:t>
            </a:r>
          </a:p>
          <a:p>
            <a:pPr marL="0" indent="0">
              <a:buNone/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</p:txBody>
      </p:sp>
      <p:pic>
        <p:nvPicPr>
          <p:cNvPr id="6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450" y="701967"/>
            <a:ext cx="7248524" cy="21555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100" y="4095750"/>
            <a:ext cx="7742238" cy="184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3343424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5.1  Digital-to-Analog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82612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5.1.4 Phase Shift Keying (PSK)</a:t>
            </a:r>
          </a:p>
          <a:p>
            <a:pPr>
              <a:defRPr/>
            </a:pPr>
            <a:r>
              <a:rPr lang="en-US" altLang="ko-KR" dirty="0">
                <a:latin typeface="Times New Roman" pitchFamily="18" charset="0"/>
              </a:rPr>
              <a:t>the phase of the carrier is varied to represent two or more different signal elements</a:t>
            </a:r>
            <a:r>
              <a:rPr lang="en-US" altLang="ko-KR" dirty="0" smtClean="0">
                <a:latin typeface="Times New Roman" pitchFamily="18" charset="0"/>
              </a:rPr>
              <a:t>.</a:t>
            </a:r>
          </a:p>
          <a:p>
            <a:pPr>
              <a:defRPr/>
            </a:pPr>
            <a:endParaRPr lang="en-US" altLang="ko-KR" dirty="0">
              <a:latin typeface="Times New Roman" pitchFamily="18" charset="0"/>
            </a:endParaRPr>
          </a:p>
          <a:p>
            <a:pPr marL="0" indent="0" algn="just"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Binary PSK (BPSK)</a:t>
            </a:r>
          </a:p>
          <a:p>
            <a:pPr marL="0" indent="0" algn="just">
              <a:buNone/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Fig. 5.9 </a:t>
            </a:r>
            <a:r>
              <a:rPr lang="en-US" altLang="ko-KR" b="1" i="1" dirty="0" smtClean="0">
                <a:latin typeface="Times New Roman" pitchFamily="18" charset="0"/>
              </a:rPr>
              <a:t>BPSK</a:t>
            </a:r>
            <a:endParaRPr lang="en-US" altLang="ko-KR" dirty="0" smtClean="0">
              <a:latin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40" y="3412677"/>
            <a:ext cx="5738784" cy="24642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92555" y="3881774"/>
            <a:ext cx="2452415" cy="17951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68446833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5.1  Digital-to-Analog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826125"/>
          </a:xfrm>
        </p:spPr>
        <p:txBody>
          <a:bodyPr/>
          <a:lstStyle/>
          <a:p>
            <a:pPr marL="0" indent="0" algn="just">
              <a:buNone/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Fig. 5.10 </a:t>
            </a:r>
            <a:r>
              <a:rPr lang="en-US" altLang="ko-KR" b="1" i="1" dirty="0">
                <a:latin typeface="Times New Roman" pitchFamily="18" charset="0"/>
                <a:cs typeface="Times New Roman" pitchFamily="18" charset="0"/>
              </a:rPr>
              <a:t>Implementation of BASK</a:t>
            </a:r>
          </a:p>
        </p:txBody>
      </p:sp>
      <p:pic>
        <p:nvPicPr>
          <p:cNvPr id="8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822" y="1685925"/>
            <a:ext cx="8080375" cy="256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130079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5.1  Digital-to-Analog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826125"/>
          </a:xfrm>
        </p:spPr>
        <p:txBody>
          <a:bodyPr/>
          <a:lstStyle/>
          <a:p>
            <a:pPr marL="0" indent="0" algn="just">
              <a:buNone/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algn="ctr">
              <a:defRPr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Fig. 5.11 </a:t>
            </a:r>
            <a:r>
              <a:rPr lang="en-US" altLang="ko-KR" b="1" i="1" dirty="0">
                <a:latin typeface="Times New Roman" pitchFamily="18" charset="0"/>
                <a:cs typeface="Times New Roman" pitchFamily="18" charset="0"/>
              </a:rPr>
              <a:t>QPSK and its implementation</a:t>
            </a:r>
          </a:p>
        </p:txBody>
      </p:sp>
      <p:pic>
        <p:nvPicPr>
          <p:cNvPr id="5" name="Picture 7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1400" y="876300"/>
            <a:ext cx="7258050" cy="4913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2095375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5.1  Digital-to-Analog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826125"/>
          </a:xfrm>
        </p:spPr>
        <p:txBody>
          <a:bodyPr/>
          <a:lstStyle/>
          <a:p>
            <a:pPr marL="0" indent="0" algn="just">
              <a:buNone/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algn="ctr">
              <a:defRPr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Fig. 5.12 </a:t>
            </a:r>
            <a:r>
              <a:rPr lang="en-US" altLang="ko-KR" b="1" i="1" dirty="0">
                <a:latin typeface="Times New Roman" pitchFamily="18" charset="0"/>
                <a:cs typeface="Times New Roman" pitchFamily="18" charset="0"/>
              </a:rPr>
              <a:t>Concept of a constellation diagram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44811" y="714375"/>
            <a:ext cx="2770187" cy="3419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38323" y="4381500"/>
            <a:ext cx="5287963" cy="14493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8813569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5.1  Digital-to-Analog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82612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5.1.5 Quadrature Amplitude Modulation (QAM)</a:t>
            </a:r>
          </a:p>
          <a:p>
            <a:pPr>
              <a:defRPr/>
            </a:pPr>
            <a:r>
              <a:rPr lang="en-US" altLang="ko-KR" dirty="0" smtClean="0">
                <a:latin typeface="Times New Roman" pitchFamily="18" charset="0"/>
              </a:rPr>
              <a:t>is a combination of ASK and PSK.</a:t>
            </a:r>
          </a:p>
          <a:p>
            <a:pPr>
              <a:defRPr/>
            </a:pPr>
            <a:endParaRPr lang="en-US" altLang="ko-KR" dirty="0">
              <a:latin typeface="Times New Roman" pitchFamily="18" charset="0"/>
            </a:endParaRPr>
          </a:p>
          <a:p>
            <a:pPr marL="0" indent="0" algn="just">
              <a:buNone/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 smtClean="0">
              <a:solidFill>
                <a:srgbClr val="C00000"/>
              </a:solidFill>
              <a:latin typeface="Times New Roman" pitchFamily="18" charset="0"/>
            </a:endParaRPr>
          </a:p>
          <a:p>
            <a:pPr algn="just">
              <a:defRPr/>
            </a:pPr>
            <a:endParaRPr lang="en-US" altLang="ko-KR" b="1" i="1" dirty="0">
              <a:solidFill>
                <a:srgbClr val="C00000"/>
              </a:solidFill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Fig. 5.14 </a:t>
            </a:r>
            <a:r>
              <a:rPr lang="en-US" altLang="ko-KR" b="1" i="1" dirty="0">
                <a:latin typeface="Times New Roman" pitchFamily="18" charset="0"/>
                <a:cs typeface="Times New Roman" pitchFamily="18" charset="0"/>
              </a:rPr>
              <a:t>Constellation diagrams for some QAMs </a:t>
            </a:r>
            <a:endParaRPr lang="en-US" altLang="ko-KR" dirty="0" smtClean="0">
              <a:latin typeface="Times New Roman" pitchFamily="18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1388" y="1895475"/>
            <a:ext cx="4457700" cy="202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11388" y="4027487"/>
            <a:ext cx="4457700" cy="202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124671329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5.2  Analog-to-Analog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61657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8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5.2 Analog-to-Analog Conversion </a:t>
            </a:r>
          </a:p>
          <a:p>
            <a:pPr algn="just">
              <a:defRPr/>
            </a:pPr>
            <a:r>
              <a:rPr lang="en-US" altLang="ko-KR" dirty="0" smtClean="0">
                <a:latin typeface="+mj-lt"/>
              </a:rPr>
              <a:t>is </a:t>
            </a:r>
            <a:r>
              <a:rPr lang="en-US" altLang="ko-KR" dirty="0">
                <a:latin typeface="+mj-lt"/>
              </a:rPr>
              <a:t>the representation of analog information by an analog signal</a:t>
            </a:r>
            <a:r>
              <a:rPr lang="en-US" altLang="ko-KR" dirty="0" smtClean="0">
                <a:latin typeface="+mj-lt"/>
              </a:rPr>
              <a:t> data.</a:t>
            </a:r>
          </a:p>
          <a:p>
            <a:pPr algn="just">
              <a:defRPr/>
            </a:pPr>
            <a:r>
              <a:rPr lang="en-US" altLang="ko-KR" dirty="0">
                <a:latin typeface="+mj-lt"/>
              </a:rPr>
              <a:t>is needed if the medium is bandpass in nature or if only a bandpass channel is available to us.</a:t>
            </a:r>
            <a:endParaRPr lang="en-US" altLang="ko-KR" dirty="0" smtClean="0">
              <a:latin typeface="+mj-lt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endParaRPr lang="en-US" altLang="ko-KR" b="1" dirty="0" smtClean="0">
              <a:solidFill>
                <a:srgbClr val="C00000"/>
              </a:solidFill>
              <a:latin typeface="Times New Roman" pitchFamily="18" charset="0"/>
              <a:cs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Fig. 5.15</a:t>
            </a:r>
            <a:r>
              <a:rPr lang="en-US" altLang="ko-KR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ko-KR" b="1" i="1" dirty="0">
                <a:latin typeface="Times New Roman" pitchFamily="18" charset="0"/>
                <a:cs typeface="Times New Roman" pitchFamily="18" charset="0"/>
              </a:rPr>
              <a:t>Types of analog-to-analog modulation</a:t>
            </a: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</p:txBody>
      </p:sp>
      <p:pic>
        <p:nvPicPr>
          <p:cNvPr id="12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1474" y="3495675"/>
            <a:ext cx="8391525" cy="2162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761905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5.2  Analog-to-Analog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542925"/>
            <a:ext cx="8429625" cy="597217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5.2.1 Amplitude Modulation (AM) </a:t>
            </a:r>
          </a:p>
          <a:p>
            <a:pPr algn="just">
              <a:defRPr/>
            </a:pPr>
            <a:r>
              <a:rPr lang="en-US" altLang="ko-KR" dirty="0">
                <a:latin typeface="Times New Roman" pitchFamily="18" charset="0"/>
              </a:rPr>
              <a:t>its amplitude varies with the changing amplitudes of the modulating signal</a:t>
            </a:r>
            <a:r>
              <a:rPr lang="en-US" altLang="ko-KR" dirty="0" smtClean="0">
                <a:latin typeface="+mj-lt"/>
              </a:rPr>
              <a:t>.</a:t>
            </a: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Fig. 5.16 </a:t>
            </a:r>
            <a:r>
              <a:rPr lang="en-US" altLang="ko-KR" dirty="0" smtClean="0">
                <a:latin typeface="Times New Roman" pitchFamily="18" charset="0"/>
              </a:rPr>
              <a:t>AM</a:t>
            </a: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9116" y="2355054"/>
            <a:ext cx="4327709" cy="314007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6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34276" y="2897186"/>
            <a:ext cx="2352900" cy="24749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19480084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5.2  Analog-to-Analog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542925"/>
            <a:ext cx="8429625" cy="597217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5.2.2 Frequency Modulation (FM) </a:t>
            </a:r>
          </a:p>
          <a:p>
            <a:pPr algn="just">
              <a:defRPr/>
            </a:pPr>
            <a:r>
              <a:rPr lang="en-US" altLang="ko-KR" dirty="0">
                <a:latin typeface="Times New Roman" pitchFamily="18" charset="0"/>
              </a:rPr>
              <a:t>the frequency of the carrier signal is modulated to follow the changing voltage level (amplitude) of the modulating </a:t>
            </a:r>
            <a:r>
              <a:rPr lang="en-US" altLang="ko-KR" dirty="0" smtClean="0">
                <a:latin typeface="Times New Roman" pitchFamily="18" charset="0"/>
              </a:rPr>
              <a:t>signal</a:t>
            </a: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i="1" dirty="0">
                <a:solidFill>
                  <a:srgbClr val="C00000"/>
                </a:solidFill>
                <a:latin typeface="Times New Roman" pitchFamily="18" charset="0"/>
              </a:rPr>
              <a:t>Fig. </a:t>
            </a: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5.18 </a:t>
            </a:r>
            <a:r>
              <a:rPr lang="en-US" altLang="ko-KR" dirty="0" smtClean="0">
                <a:latin typeface="Times New Roman" pitchFamily="18" charset="0"/>
              </a:rPr>
              <a:t>FM</a:t>
            </a: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+mj-lt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850" y="2261941"/>
            <a:ext cx="4362450" cy="33578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" name="Picture 4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96066" y="3203967"/>
            <a:ext cx="2428380" cy="21264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932458960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latin typeface="Times New Roman" pitchFamily="18" charset="0"/>
                <a:cs typeface="Times New Roman" pitchFamily="18" charset="0"/>
              </a:rPr>
              <a:t>5.2  Analog-to-Analog Conversion</a:t>
            </a:r>
            <a:endParaRPr lang="en-US" altLang="ko-KR" sz="24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542925"/>
            <a:ext cx="8429625" cy="5972175"/>
          </a:xfrm>
        </p:spPr>
        <p:txBody>
          <a:bodyPr/>
          <a:lstStyle/>
          <a:p>
            <a:pPr marL="342900" lvl="2" indent="-342900">
              <a:lnSpc>
                <a:spcPct val="150000"/>
              </a:lnSpc>
              <a:buFontTx/>
              <a:buNone/>
              <a:defRPr/>
            </a:pPr>
            <a:r>
              <a:rPr lang="en-US" altLang="ko-KR" sz="2400" b="1" dirty="0" smtClean="0">
                <a:solidFill>
                  <a:srgbClr val="C00000"/>
                </a:solidFill>
                <a:latin typeface="Times New Roman" pitchFamily="18" charset="0"/>
                <a:cs typeface="Times New Roman" pitchFamily="18" charset="0"/>
              </a:rPr>
              <a:t>5.2.3 Phase Modulation (PM) </a:t>
            </a:r>
          </a:p>
          <a:p>
            <a:pPr algn="just">
              <a:defRPr/>
            </a:pPr>
            <a:r>
              <a:rPr lang="en-US" altLang="ko-KR" dirty="0">
                <a:latin typeface="Times New Roman" pitchFamily="18" charset="0"/>
              </a:rPr>
              <a:t>the phase of the carrier signal is modulated to follow the changing voltage level (amplitude) of the modulating </a:t>
            </a:r>
            <a:r>
              <a:rPr lang="en-US" altLang="ko-KR" dirty="0" smtClean="0">
                <a:latin typeface="Times New Roman" pitchFamily="18" charset="0"/>
              </a:rPr>
              <a:t>signal.</a:t>
            </a: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marL="0" indent="0" algn="ctr">
              <a:buNone/>
              <a:defRPr/>
            </a:pPr>
            <a:r>
              <a:rPr lang="en-US" altLang="ko-KR" b="1" i="1" dirty="0">
                <a:solidFill>
                  <a:srgbClr val="C00000"/>
                </a:solidFill>
                <a:latin typeface="Times New Roman" pitchFamily="18" charset="0"/>
              </a:rPr>
              <a:t>Fig. </a:t>
            </a:r>
            <a:r>
              <a:rPr lang="en-US" altLang="ko-KR" b="1" i="1" dirty="0" smtClean="0">
                <a:solidFill>
                  <a:srgbClr val="C00000"/>
                </a:solidFill>
                <a:latin typeface="Times New Roman" pitchFamily="18" charset="0"/>
              </a:rPr>
              <a:t>5.20 </a:t>
            </a:r>
            <a:r>
              <a:rPr lang="en-US" altLang="ko-KR" dirty="0" smtClean="0">
                <a:latin typeface="Times New Roman" pitchFamily="18" charset="0"/>
              </a:rPr>
              <a:t>PM</a:t>
            </a: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+mj-lt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 algn="just">
              <a:defRPr/>
            </a:pPr>
            <a:endParaRPr lang="en-US" altLang="ko-KR" dirty="0" smtClean="0">
              <a:latin typeface="Times New Roman" pitchFamily="18" charset="0"/>
            </a:endParaRP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4875" y="2257425"/>
            <a:ext cx="3733800" cy="302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68957" y="2800350"/>
            <a:ext cx="2402427" cy="2479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164390487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342900" lvl="2" indent="-342900">
              <a:lnSpc>
                <a:spcPct val="150000"/>
              </a:lnSpc>
              <a:defRPr/>
            </a:pPr>
            <a:r>
              <a:rPr lang="en-US" altLang="ko-KR" sz="24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cs typeface="Times New Roman" pitchFamily="18" charset="0"/>
              </a:rPr>
              <a:t>Homework</a:t>
            </a:r>
            <a:endParaRPr lang="en-US" altLang="ko-KR" sz="24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0483" name="내용 개체 틀 2"/>
          <p:cNvSpPr>
            <a:spLocks noGrp="1"/>
          </p:cNvSpPr>
          <p:nvPr>
            <p:ph idx="1"/>
          </p:nvPr>
        </p:nvSpPr>
        <p:spPr>
          <a:xfrm>
            <a:off x="368300" y="755650"/>
            <a:ext cx="8429625" cy="5713976"/>
          </a:xfrm>
        </p:spPr>
        <p:txBody>
          <a:bodyPr/>
          <a:lstStyle/>
          <a:p>
            <a:pPr marL="457200" indent="-457200" eaLnBrk="1" hangingPunct="1">
              <a:buFontTx/>
              <a:buNone/>
            </a:pP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</a:rPr>
              <a:t>Homework</a:t>
            </a:r>
          </a:p>
          <a:p>
            <a:pPr marL="457200" indent="-457200" eaLnBrk="1" hangingPunct="1">
              <a:buFontTx/>
              <a:buNone/>
            </a:pPr>
            <a:r>
              <a:rPr lang="en-US" altLang="ko-KR" dirty="0">
                <a:latin typeface="Times New Roman" pitchFamily="18" charset="0"/>
              </a:rPr>
              <a:t>      Read textbook pp. </a:t>
            </a:r>
            <a:r>
              <a:rPr lang="en-US" altLang="ko-KR" dirty="0" smtClean="0">
                <a:latin typeface="Times New Roman" pitchFamily="18" charset="0"/>
              </a:rPr>
              <a:t>155-181</a:t>
            </a:r>
            <a:endParaRPr lang="en-US" altLang="ko-KR" dirty="0">
              <a:latin typeface="Times New Roman" pitchFamily="18" charset="0"/>
            </a:endParaRPr>
          </a:p>
          <a:p>
            <a:pPr marL="457200" indent="-457200" eaLnBrk="1" hangingPunct="1">
              <a:buFontTx/>
              <a:buNone/>
            </a:pPr>
            <a:r>
              <a:rPr lang="en-US" altLang="ko-KR" b="1" dirty="0" smtClean="0">
                <a:solidFill>
                  <a:srgbClr val="C00000"/>
                </a:solidFill>
                <a:latin typeface="Times New Roman" pitchFamily="18" charset="0"/>
              </a:rPr>
              <a:t>Next </a:t>
            </a:r>
            <a:r>
              <a:rPr lang="en-US" altLang="ko-KR" b="1" dirty="0">
                <a:solidFill>
                  <a:srgbClr val="C00000"/>
                </a:solidFill>
                <a:latin typeface="Times New Roman" pitchFamily="18" charset="0"/>
              </a:rPr>
              <a:t>Lecture</a:t>
            </a:r>
          </a:p>
          <a:p>
            <a:pPr marL="457200" indent="-457200" eaLnBrk="1" hangingPunct="1">
              <a:buFontTx/>
              <a:buNone/>
            </a:pPr>
            <a:r>
              <a:rPr lang="en-US" altLang="ko-KR" dirty="0">
                <a:latin typeface="Times New Roman" pitchFamily="18" charset="0"/>
              </a:rPr>
              <a:t>     Chapter </a:t>
            </a:r>
            <a:r>
              <a:rPr lang="en-US" altLang="ko-KR" dirty="0" smtClean="0">
                <a:latin typeface="Times New Roman" pitchFamily="18" charset="0"/>
              </a:rPr>
              <a:t>6. Bandwidth Utilization: </a:t>
            </a:r>
            <a:br>
              <a:rPr lang="en-US" altLang="ko-KR" dirty="0" smtClean="0">
                <a:latin typeface="Times New Roman" pitchFamily="18" charset="0"/>
              </a:rPr>
            </a:br>
            <a:r>
              <a:rPr lang="en-US" altLang="ko-KR" dirty="0" smtClean="0">
                <a:latin typeface="Times New Roman" pitchFamily="18" charset="0"/>
              </a:rPr>
              <a:t>                 Multiplexing and Spectrum Spreading</a:t>
            </a:r>
            <a:endParaRPr lang="en-US" altLang="ko-KR" dirty="0">
              <a:latin typeface="Times New Roman" pitchFamily="18" charset="0"/>
            </a:endParaRPr>
          </a:p>
          <a:p>
            <a:pPr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>
              <a:defRPr/>
            </a:pPr>
            <a:endParaRPr lang="en-US" altLang="ko-KR" dirty="0" smtClean="0">
              <a:latin typeface="Times New Roman" pitchFamily="18" charset="0"/>
            </a:endParaRPr>
          </a:p>
          <a:p>
            <a:pPr>
              <a:defRPr/>
            </a:pPr>
            <a:endParaRPr lang="en-US" altLang="ko-KR" dirty="0">
              <a:latin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160526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기본 디자인">
      <a:majorFont>
        <a:latin typeface="Times New Roman"/>
        <a:ea typeface="굴림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1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14418</TotalTime>
  <Words>507</Words>
  <Application>Microsoft Office PowerPoint</Application>
  <PresentationFormat>화면 슬라이드 쇼(4:3)</PresentationFormat>
  <Paragraphs>258</Paragraphs>
  <Slides>21</Slides>
  <Notes>1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21</vt:i4>
      </vt:variant>
    </vt:vector>
  </HeadingPairs>
  <TitlesOfParts>
    <vt:vector size="22" baseType="lpstr">
      <vt:lpstr>기본 디자인</vt:lpstr>
      <vt:lpstr>Chapter  5  Analog Transmission</vt:lpstr>
      <vt:lpstr>Ch. 5  Outline</vt:lpstr>
      <vt:lpstr>Ch. 5 Objective</vt:lpstr>
      <vt:lpstr>5.1  Digital-to-Analog Conversion</vt:lpstr>
      <vt:lpstr>5.1  Digital-to-Analog Conversion</vt:lpstr>
      <vt:lpstr>5.1  Digital-to-Analog Conversion</vt:lpstr>
      <vt:lpstr>5.1  Digital-to-Analog Conversion</vt:lpstr>
      <vt:lpstr>5.1  Digital-to-Analog Conversion</vt:lpstr>
      <vt:lpstr>5.1  Digital-to-Analog Conversion</vt:lpstr>
      <vt:lpstr>5.1  Digital-to-Analog Conversion</vt:lpstr>
      <vt:lpstr>5.1  Digital-to-Analog Conversion</vt:lpstr>
      <vt:lpstr>5.1  Digital-to-Analog Conversion</vt:lpstr>
      <vt:lpstr>5.1  Digital-to-Analog Conversion</vt:lpstr>
      <vt:lpstr>5.1  Digital-to-Analog Conversion</vt:lpstr>
      <vt:lpstr>5.1  Digital-to-Analog Conversion</vt:lpstr>
      <vt:lpstr>5.1  Digital-to-Analog Conversion</vt:lpstr>
      <vt:lpstr>5.2  Analog-to-Analog Conversion</vt:lpstr>
      <vt:lpstr>5.2  Analog-to-Analog Conversion</vt:lpstr>
      <vt:lpstr>5.2  Analog-to-Analog Conversion</vt:lpstr>
      <vt:lpstr>5.2  Analog-to-Analog Conversion</vt:lpstr>
      <vt:lpstr>Homework</vt:lpstr>
    </vt:vector>
  </TitlesOfParts>
  <Company>UC Berkeley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 Slide Title</dc:title>
  <dc:creator>kaat</dc:creator>
  <cp:lastModifiedBy>김정구</cp:lastModifiedBy>
  <cp:revision>1044</cp:revision>
  <cp:lastPrinted>1998-01-20T18:41:17Z</cp:lastPrinted>
  <dcterms:created xsi:type="dcterms:W3CDTF">1997-04-13T14:24:48Z</dcterms:created>
  <dcterms:modified xsi:type="dcterms:W3CDTF">2013-04-08T07:41:25Z</dcterms:modified>
</cp:coreProperties>
</file>