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78" r:id="rId10"/>
    <p:sldId id="279" r:id="rId11"/>
    <p:sldId id="280" r:id="rId12"/>
    <p:sldId id="281" r:id="rId13"/>
    <p:sldId id="285" r:id="rId14"/>
    <p:sldId id="294" r:id="rId15"/>
    <p:sldId id="295" r:id="rId16"/>
    <p:sldId id="297" r:id="rId17"/>
    <p:sldId id="296" r:id="rId18"/>
    <p:sldId id="286" r:id="rId19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09" autoAdjust="0"/>
    <p:restoredTop sz="90929"/>
  </p:normalViewPr>
  <p:slideViewPr>
    <p:cSldViewPr>
      <p:cViewPr varScale="1">
        <p:scale>
          <a:sx n="115" d="100"/>
          <a:sy n="115" d="100"/>
        </p:scale>
        <p:origin x="1116" y="108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B37D81E7-6068-4E99-9112-D45029A43A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4BC0C80-04C8-4A36-A5EF-9AAF54EA0C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64416-015F-47C8-A566-09155BA0FB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075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C986E7-22DC-41E4-8C73-3E5A8341FE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35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AADC2-7CC5-4AD0-BFA2-D79EDCF2BEE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06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F1FED-7AAC-4EA7-BD0A-FAF444030C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20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E43B77-A6ED-453D-9624-7C0138591A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409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7EA48-0794-4481-B797-7B28BA7E60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719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514E1-FDBE-425E-9335-4DF131A59C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104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23263-62CE-4EA1-ADE9-782C97E8C0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2643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A5AF3-4535-460A-A1BF-248FD9992A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147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6F408-5B90-4FD6-B1BF-CFDB685C19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25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55A5D3-477C-489B-B477-C2450DADB08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11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algn="r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4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DAC1D0FD-1A24-4DB0-9664-15CACDEB64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3" name="Picture 22" descr="C:\Documents and Settings\Administrator\Application Data\Microsoft\Media Catalog\Untitled-2 copy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6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accent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accent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accent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accent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accent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accent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accent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accent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en-US" altLang="ko-KR" sz="3600" b="1" smtClean="0"/>
              <a:t>Signature, Strong Typing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43913B-388D-4A3D-B999-8B365E84A790}" type="slidenum">
              <a:rPr lang="en-US" altLang="ko-KR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Signature I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Specification of an operation, the number, order and types of the arguments in the domain of an operation</a:t>
            </a:r>
          </a:p>
          <a:p>
            <a:pPr eaLnBrk="1" hangingPunct="1"/>
            <a:r>
              <a:rPr lang="en-US" altLang="ko-KR" smtClean="0"/>
              <a:t>+ :  integer x integer </a:t>
            </a:r>
            <a:r>
              <a:rPr lang="en-US" altLang="ko-KR" smtClean="0">
                <a:sym typeface="Wingdings" panose="05000000000000000000" pitchFamily="2" charset="2"/>
              </a:rPr>
              <a:t> integer</a:t>
            </a:r>
          </a:p>
          <a:p>
            <a:pPr eaLnBrk="1" hangingPunct="1"/>
            <a:r>
              <a:rPr lang="en-US" altLang="ko-KR" smtClean="0">
                <a:sym typeface="Wingdings" panose="05000000000000000000" pitchFamily="2" charset="2"/>
              </a:rPr>
              <a:t>= : integer x integer  Boolean</a:t>
            </a:r>
          </a:p>
          <a:p>
            <a:pPr eaLnBrk="1" hangingPunct="1"/>
            <a:r>
              <a:rPr lang="en-US" altLang="ko-KR" smtClean="0">
                <a:sym typeface="Wingdings" panose="05000000000000000000" pitchFamily="2" charset="2"/>
              </a:rPr>
              <a:t>SQRT : real  real</a:t>
            </a:r>
          </a:p>
          <a:p>
            <a:pPr eaLnBrk="1" hangingPunct="1"/>
            <a:r>
              <a:rPr lang="en-US" altLang="ko-KR" smtClean="0">
                <a:sym typeface="Wingdings" panose="05000000000000000000" pitchFamily="2" charset="2"/>
              </a:rPr>
              <a:t> op name : arg type x arg type x … arg type  result type</a:t>
            </a:r>
          </a:p>
          <a:p>
            <a:pPr eaLnBrk="1" hangingPunct="1"/>
            <a:r>
              <a:rPr lang="en-US" altLang="ko-KR" smtClean="0">
                <a:sym typeface="Wingdings" panose="05000000000000000000" pitchFamily="2" charset="2"/>
              </a:rPr>
              <a:t>Function prototype (C)  </a:t>
            </a:r>
            <a:endParaRPr lang="en-US" altLang="ko-KR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495A24-3C9A-4F22-B5CA-0EC1DD052977}" type="slidenum">
              <a:rPr lang="en-US" altLang="ko-KR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Signature II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mtClean="0"/>
              <a:t>Situations that make difficult specifying an operation as a mathematical function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mtClean="0"/>
              <a:t>Operations that are undefined for certain inputs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800" smtClean="0"/>
              <a:t>Square-root, overflow</a:t>
            </a:r>
            <a:r>
              <a:rPr lang="ko-KR" altLang="en-US" sz="1800" smtClean="0"/>
              <a:t>나 </a:t>
            </a:r>
            <a:r>
              <a:rPr lang="en-US" altLang="ko-KR" sz="1800" smtClean="0"/>
              <a:t>underflow</a:t>
            </a:r>
            <a:r>
              <a:rPr lang="ko-KR" altLang="en-US" sz="1800" smtClean="0"/>
              <a:t>를 초래하는 연산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mtClean="0"/>
              <a:t>Implicit arguments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800" smtClean="0"/>
              <a:t>Global variables, non-local identifier reference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mtClean="0"/>
              <a:t>Side effect</a:t>
            </a:r>
            <a:r>
              <a:rPr lang="en-US" altLang="ko-KR" sz="1600" smtClean="0"/>
              <a:t>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800" smtClean="0"/>
              <a:t>An operation may return an explicit result, but it also modify the values stored in other objects, both programmer- and system-defined … modification of input arguments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mtClean="0"/>
              <a:t>Self-modification (history sensitivity)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600" smtClean="0"/>
              <a:t>   </a:t>
            </a:r>
            <a:r>
              <a:rPr lang="en-US" altLang="ko-KR" sz="1800" smtClean="0"/>
              <a:t>modify its own internal structure, either local data that are retained between executions or its code… random number generator .. Java, LISP …. Java</a:t>
            </a:r>
            <a:r>
              <a:rPr lang="ko-KR" altLang="en-US" sz="1800" smtClean="0"/>
              <a:t>에서 어떻게</a:t>
            </a:r>
            <a:r>
              <a:rPr lang="en-US" altLang="ko-KR" sz="1800" smtClean="0"/>
              <a:t>???? --- static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630FDC-BFE9-4DB8-8AA9-DA45F69E35FF}" type="slidenum">
              <a:rPr lang="en-US" altLang="ko-KR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Declarations 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 float A, B;</a:t>
            </a:r>
          </a:p>
          <a:p>
            <a:pPr eaLnBrk="1" hangingPunct="1"/>
            <a:r>
              <a:rPr lang="en-US" altLang="ko-KR" smtClean="0"/>
              <a:t> $abc = ‘a string’; $abc = 7;</a:t>
            </a:r>
          </a:p>
          <a:p>
            <a:pPr eaLnBrk="1" hangingPunct="1"/>
            <a:r>
              <a:rPr lang="en-US" altLang="ko-KR" smtClean="0"/>
              <a:t> imax =7</a:t>
            </a:r>
          </a:p>
          <a:p>
            <a:pPr eaLnBrk="1" hangingPunct="1"/>
            <a:r>
              <a:rPr lang="en-US" altLang="ko-KR" smtClean="0"/>
              <a:t>DECLARE X FIXED DECIMAL (5,3)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977EF-14D3-43A3-923E-7DA85007CDC6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Purposes for Declarations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Choice of storage representation</a:t>
            </a:r>
          </a:p>
          <a:p>
            <a:pPr eaLnBrk="1" hangingPunct="1"/>
            <a:r>
              <a:rPr lang="en-US" altLang="ko-KR" smtClean="0"/>
              <a:t>Storage management</a:t>
            </a:r>
          </a:p>
          <a:p>
            <a:pPr lvl="1" eaLnBrk="1" hangingPunct="1"/>
            <a:r>
              <a:rPr lang="en-US" altLang="ko-KR" smtClean="0"/>
              <a:t>Lifetimes of data objects </a:t>
            </a:r>
            <a:r>
              <a:rPr lang="en-US" altLang="ko-KR" smtClean="0">
                <a:sym typeface="Wingdings" panose="05000000000000000000" pitchFamily="2" charset="2"/>
              </a:rPr>
              <a:t> memory class of C, C++</a:t>
            </a:r>
            <a:endParaRPr lang="en-US" altLang="ko-KR" smtClean="0"/>
          </a:p>
          <a:p>
            <a:pPr eaLnBrk="1" hangingPunct="1"/>
            <a:r>
              <a:rPr lang="en-US" altLang="ko-KR" smtClean="0"/>
              <a:t>Polymorphic operations</a:t>
            </a:r>
          </a:p>
          <a:p>
            <a:pPr lvl="1" eaLnBrk="1" hangingPunct="1"/>
            <a:r>
              <a:rPr lang="en-US" altLang="ko-KR" smtClean="0"/>
              <a:t>Resolving overload (generic) at compile time</a:t>
            </a:r>
          </a:p>
          <a:p>
            <a:pPr eaLnBrk="1" hangingPunct="1"/>
            <a:r>
              <a:rPr lang="en-US" altLang="ko-KR" smtClean="0"/>
              <a:t>Type checking</a:t>
            </a:r>
          </a:p>
          <a:p>
            <a:pPr eaLnBrk="1" hangingPunct="1"/>
            <a:endParaRPr lang="en-US" altLang="ko-KR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F50C15-01DC-493B-AF5A-23A5503664E4}" type="slidenum">
              <a:rPr lang="en-US" altLang="ko-KR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Type checking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Type error</a:t>
            </a:r>
          </a:p>
          <a:p>
            <a:pPr eaLnBrk="1" hangingPunct="1"/>
            <a:r>
              <a:rPr lang="en-US" altLang="ko-KR" smtClean="0"/>
              <a:t>Runtime (dynamic type) checking </a:t>
            </a:r>
            <a:r>
              <a:rPr lang="en-US" altLang="ko-KR" smtClean="0">
                <a:sym typeface="Wingdings" panose="05000000000000000000" pitchFamily="2" charset="2"/>
              </a:rPr>
              <a:t> Compile time (static type) checking</a:t>
            </a:r>
          </a:p>
          <a:p>
            <a:pPr eaLnBrk="1" hangingPunct="1"/>
            <a:r>
              <a:rPr lang="en-US" altLang="ko-KR" smtClean="0">
                <a:sym typeface="Wingdings" panose="05000000000000000000" pitchFamily="2" charset="2"/>
              </a:rPr>
              <a:t>Dynamic type checking, typeless  flexibility in program design (polymorphism) </a:t>
            </a:r>
          </a:p>
          <a:p>
            <a:pPr lvl="1" eaLnBrk="1" hangingPunct="1"/>
            <a:r>
              <a:rPr lang="en-US" altLang="ko-KR" smtClean="0"/>
              <a:t>Disadvantage </a:t>
            </a:r>
          </a:p>
          <a:p>
            <a:pPr lvl="2" eaLnBrk="1" hangingPunct="1"/>
            <a:r>
              <a:rPr lang="en-US" altLang="ko-KR" smtClean="0"/>
              <a:t>Difficult to debug </a:t>
            </a:r>
          </a:p>
          <a:p>
            <a:pPr lvl="2" eaLnBrk="1" hangingPunct="1"/>
            <a:r>
              <a:rPr lang="en-US" altLang="ko-KR" smtClean="0"/>
              <a:t>Type information must be kept during program execution</a:t>
            </a:r>
          </a:p>
          <a:p>
            <a:pPr lvl="2" eaLnBrk="1" hangingPunct="1"/>
            <a:r>
              <a:rPr lang="en-US" altLang="ko-KR" smtClean="0"/>
              <a:t>Slowdown the execution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9C963A-0552-45A0-911C-5A59E62D6FF5}" type="slidenum">
              <a:rPr lang="en-US" altLang="ko-KR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Information for Static type checking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For each operation, the number, order, and data types of its arguments and results (i.e signature)</a:t>
            </a:r>
          </a:p>
          <a:p>
            <a:pPr eaLnBrk="1" hangingPunct="1"/>
            <a:r>
              <a:rPr lang="en-US" altLang="ko-KR" smtClean="0"/>
              <a:t>The type of data object associated with a variable must be invariant … For each variable, the type of data object named</a:t>
            </a:r>
          </a:p>
          <a:p>
            <a:pPr eaLnBrk="1" hangingPunct="1"/>
            <a:r>
              <a:rPr lang="en-US" altLang="ko-KR" smtClean="0"/>
              <a:t>The type of each constant data object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BD66D1-8B29-459F-8529-A729EF145D3C}" type="slidenum">
              <a:rPr lang="en-US" altLang="ko-KR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Static type checking ….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In most languages, static type checking is not possible</a:t>
            </a:r>
          </a:p>
          <a:p>
            <a:pPr lvl="1" eaLnBrk="1" hangingPunct="1"/>
            <a:r>
              <a:rPr lang="en-US" altLang="ko-KR" smtClean="0"/>
              <a:t>By dynamic type checking … high cost</a:t>
            </a:r>
          </a:p>
          <a:p>
            <a:pPr lvl="1" eaLnBrk="1" hangingPunct="1"/>
            <a:r>
              <a:rPr lang="en-US" altLang="ko-KR" smtClean="0"/>
              <a:t>By leaving the operations unchecked …cause serious and subtle program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665456-A759-4E9A-95EF-4E6A39F9E89C}" type="slidenum">
              <a:rPr lang="en-US" altLang="ko-KR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90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mtClean="0"/>
              <a:t>Strong Typing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7772400" cy="2819400"/>
          </a:xfrm>
        </p:spPr>
        <p:txBody>
          <a:bodyPr/>
          <a:lstStyle/>
          <a:p>
            <a:pPr eaLnBrk="1" fontAlgn="t" hangingPunct="1">
              <a:buClr>
                <a:schemeClr val="tx1"/>
              </a:buClr>
            </a:pPr>
            <a:r>
              <a:rPr lang="ko-KR" altLang="en-US" smtClean="0">
                <a:latin typeface="굴림" panose="020B0600000101010101" pitchFamily="50" charset="-127"/>
              </a:rPr>
              <a:t>컴파일 과정에서 모든 </a:t>
            </a:r>
            <a:r>
              <a:rPr lang="ko-KR" altLang="en-US" u="sng" smtClean="0">
                <a:latin typeface="굴림" panose="020B0600000101010101" pitchFamily="50" charset="-127"/>
              </a:rPr>
              <a:t>형 검증이</a:t>
            </a:r>
            <a:r>
              <a:rPr lang="ko-KR" altLang="en-US" smtClean="0">
                <a:latin typeface="굴림" panose="020B0600000101010101" pitchFamily="50" charset="-127"/>
              </a:rPr>
              <a:t> 끝나는 </a:t>
            </a:r>
            <a:r>
              <a:rPr lang="en-US" altLang="ko-KR" smtClean="0">
                <a:latin typeface="굴림" panose="020B0600000101010101" pitchFamily="50" charset="-127"/>
              </a:rPr>
              <a:t>(static type checking) </a:t>
            </a:r>
            <a:r>
              <a:rPr lang="ko-KR" altLang="en-US" smtClean="0">
                <a:latin typeface="굴림" panose="020B0600000101010101" pitchFamily="50" charset="-127"/>
              </a:rPr>
              <a:t>언어를</a:t>
            </a:r>
            <a:r>
              <a:rPr lang="en-US" altLang="ko-KR" smtClean="0">
                <a:latin typeface="굴림" panose="020B0600000101010101" pitchFamily="50" charset="-127"/>
              </a:rPr>
              <a:t>strongly typed</a:t>
            </a:r>
            <a:r>
              <a:rPr lang="ko-KR" altLang="en-US" smtClean="0">
                <a:latin typeface="굴림" panose="020B0600000101010101" pitchFamily="50" charset="-127"/>
              </a:rPr>
              <a:t>언어라고 한다</a:t>
            </a:r>
            <a:r>
              <a:rPr lang="en-US" altLang="ko-KR" smtClean="0">
                <a:latin typeface="굴림" panose="020B0600000101010101" pitchFamily="50" charset="-127"/>
              </a:rPr>
              <a:t>.</a:t>
            </a:r>
          </a:p>
          <a:p>
            <a:pPr eaLnBrk="1" fontAlgn="t" hangingPunct="1">
              <a:buClr>
                <a:schemeClr val="tx1"/>
              </a:buClr>
            </a:pPr>
            <a:r>
              <a:rPr lang="en-US" altLang="ko-KR" smtClean="0">
                <a:latin typeface="굴림" panose="020B0600000101010101" pitchFamily="50" charset="-127"/>
              </a:rPr>
              <a:t>Algol 68</a:t>
            </a:r>
            <a:r>
              <a:rPr lang="ko-KR" altLang="en-US" smtClean="0">
                <a:latin typeface="굴림" panose="020B0600000101010101" pitchFamily="50" charset="-127"/>
              </a:rPr>
              <a:t>은 </a:t>
            </a:r>
            <a:r>
              <a:rPr lang="en-US" altLang="ko-KR" smtClean="0">
                <a:latin typeface="굴림" panose="020B0600000101010101" pitchFamily="50" charset="-127"/>
              </a:rPr>
              <a:t>strongly typed </a:t>
            </a:r>
            <a:r>
              <a:rPr lang="ko-KR" altLang="en-US" smtClean="0">
                <a:latin typeface="굴림" panose="020B0600000101010101" pitchFamily="50" charset="-127"/>
              </a:rPr>
              <a:t>언어이지만</a:t>
            </a:r>
            <a:r>
              <a:rPr lang="en-US" altLang="ko-KR" smtClean="0">
                <a:latin typeface="굴림" panose="020B0600000101010101" pitchFamily="50" charset="-127"/>
              </a:rPr>
              <a:t>, PASCAL</a:t>
            </a:r>
            <a:r>
              <a:rPr lang="ko-KR" altLang="en-US" smtClean="0">
                <a:latin typeface="굴림" panose="020B0600000101010101" pitchFamily="50" charset="-127"/>
              </a:rPr>
              <a:t>은 아니다</a:t>
            </a:r>
            <a:r>
              <a:rPr lang="en-US" altLang="ko-KR" smtClean="0">
                <a:latin typeface="굴림" panose="020B0600000101010101" pitchFamily="50" charset="-127"/>
              </a:rPr>
              <a:t>.</a:t>
            </a:r>
            <a:r>
              <a:rPr lang="en-US" altLang="ko-KR" sz="2000" smtClean="0">
                <a:latin typeface="굴림" panose="020B0600000101010101" pitchFamily="50" charset="-127"/>
              </a:rPr>
              <a:t> </a:t>
            </a:r>
          </a:p>
          <a:p>
            <a:pPr eaLnBrk="1" fontAlgn="t" hangingPunct="1">
              <a:buClr>
                <a:schemeClr val="tx1"/>
              </a:buClr>
            </a:pPr>
            <a:endParaRPr lang="en-US" altLang="ko-KR" sz="2000" smtClean="0">
              <a:latin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C29276-BF13-4760-A7CF-25F2E199A640}" type="slidenum">
              <a:rPr lang="en-US" altLang="ko-KR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ko-KR" smtClean="0"/>
              <a:t>Pascal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772400" cy="4343400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</a:pPr>
            <a:r>
              <a:rPr lang="en-US" altLang="ko-KR" smtClean="0"/>
              <a:t>⒜ </a:t>
            </a:r>
            <a:r>
              <a:rPr lang="en-US" altLang="ko-KR" sz="2000" smtClean="0"/>
              <a:t>PASCAL</a:t>
            </a:r>
            <a:r>
              <a:rPr lang="ko-KR" altLang="en-US" sz="2000" smtClean="0"/>
              <a:t>에서 프로시듀어나 함수가 인자로 사용될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ko-KR" altLang="en-US" sz="2000" smtClean="0"/>
              <a:t>      경우 번역 과정에서 형 검증을 할 수  없다</a:t>
            </a:r>
            <a:r>
              <a:rPr lang="en-US" altLang="ko-KR" sz="2000" smtClean="0"/>
              <a:t>.</a:t>
            </a:r>
            <a:r>
              <a:rPr lang="en-US" altLang="ko-KR" smtClean="0"/>
              <a:t> </a:t>
            </a:r>
          </a:p>
          <a:p>
            <a:pPr lvl="1" algn="just" eaLnBrk="1" hangingPunct="1"/>
            <a:r>
              <a:rPr lang="en-US" altLang="ko-KR" sz="1800" b="1" u="sng" smtClean="0"/>
              <a:t>precedure</a:t>
            </a:r>
            <a:r>
              <a:rPr lang="en-US" altLang="ko-KR" sz="1800" b="1" smtClean="0"/>
              <a:t> who_knows( i, j : integer; </a:t>
            </a:r>
            <a:r>
              <a:rPr lang="en-US" altLang="ko-KR" sz="1800" b="1" u="sng" smtClean="0"/>
              <a:t>procedure</a:t>
            </a:r>
            <a:r>
              <a:rPr lang="en-US" altLang="ko-KR" sz="1800" b="1" smtClean="0"/>
              <a:t> f );</a:t>
            </a:r>
          </a:p>
          <a:p>
            <a:pPr lvl="1" algn="just" eaLnBrk="1" hangingPunct="1">
              <a:buFontTx/>
              <a:buNone/>
            </a:pPr>
            <a:r>
              <a:rPr lang="en-US" altLang="ko-KR" sz="1800" b="1" smtClean="0"/>
              <a:t>    var k : boolean;</a:t>
            </a:r>
          </a:p>
          <a:p>
            <a:pPr lvl="1" algn="just" eaLnBrk="1" hangingPunct="1">
              <a:buFontTx/>
              <a:buNone/>
            </a:pPr>
            <a:r>
              <a:rPr lang="en-US" altLang="ko-KR" sz="1800" b="1" smtClean="0"/>
              <a:t>    begin</a:t>
            </a:r>
          </a:p>
          <a:p>
            <a:pPr lvl="1" algn="just" eaLnBrk="1" hangingPunct="1">
              <a:buFontTx/>
              <a:buNone/>
            </a:pPr>
            <a:r>
              <a:rPr lang="en-US" altLang="ko-KR" sz="1800" b="1" smtClean="0"/>
              <a:t>        k := j &lt; i;</a:t>
            </a:r>
          </a:p>
          <a:p>
            <a:pPr lvl="1" algn="just" eaLnBrk="1" hangingPunct="1">
              <a:buFontTx/>
              <a:buNone/>
            </a:pPr>
            <a:r>
              <a:rPr lang="en-US" altLang="ko-KR" sz="1800" b="1" smtClean="0"/>
              <a:t>        </a:t>
            </a:r>
            <a:r>
              <a:rPr lang="en-US" altLang="ko-KR" sz="1800" b="1" u="sng" smtClean="0"/>
              <a:t>if</a:t>
            </a:r>
            <a:r>
              <a:rPr lang="en-US" altLang="ko-KR" sz="1800" b="1" smtClean="0"/>
              <a:t> k then f(k) else f(i)</a:t>
            </a:r>
          </a:p>
          <a:p>
            <a:pPr lvl="1" algn="just" eaLnBrk="1" hangingPunct="1">
              <a:buFontTx/>
              <a:buNone/>
            </a:pPr>
            <a:r>
              <a:rPr lang="en-US" altLang="ko-KR" sz="1800" b="1" smtClean="0"/>
              <a:t>    end</a:t>
            </a:r>
          </a:p>
          <a:p>
            <a:pPr lvl="1" algn="just" eaLnBrk="1" hangingPunct="1">
              <a:buFontTx/>
              <a:buNone/>
            </a:pPr>
            <a:endParaRPr lang="en-US" altLang="ko-KR" sz="1800" b="1" smtClean="0"/>
          </a:p>
          <a:p>
            <a:pPr lvl="1" algn="just" eaLnBrk="1" hangingPunct="1">
              <a:buClr>
                <a:schemeClr val="tx1"/>
              </a:buClr>
              <a:buFontTx/>
              <a:buChar char="•"/>
            </a:pPr>
            <a:r>
              <a:rPr lang="ko-KR" altLang="en-US" smtClean="0"/>
              <a:t>위의 프로그램에서 컴파일러는 </a:t>
            </a:r>
            <a:r>
              <a:rPr lang="en-US" altLang="ko-KR" smtClean="0"/>
              <a:t>f(k)</a:t>
            </a:r>
            <a:r>
              <a:rPr lang="ko-KR" altLang="en-US" smtClean="0"/>
              <a:t>와 </a:t>
            </a:r>
            <a:r>
              <a:rPr lang="en-US" altLang="ko-KR" smtClean="0"/>
              <a:t>f(i)</a:t>
            </a:r>
            <a:r>
              <a:rPr lang="ko-KR" altLang="en-US" smtClean="0"/>
              <a:t>가 오류인지 아닌지 알 수 없다</a:t>
            </a:r>
            <a:r>
              <a:rPr lang="en-US" altLang="ko-KR" smtClean="0"/>
              <a:t>. </a:t>
            </a:r>
            <a:r>
              <a:rPr lang="ko-KR" altLang="en-US" smtClean="0"/>
              <a:t>그 이유는 실질 인자</a:t>
            </a:r>
            <a:r>
              <a:rPr lang="en-US" altLang="ko-KR" smtClean="0"/>
              <a:t>(actual parameter)</a:t>
            </a:r>
            <a:r>
              <a:rPr lang="ko-KR" altLang="en-US" smtClean="0"/>
              <a:t>가 무엇인지에 따라 오류 여부가 결정되기 때문이다</a:t>
            </a:r>
            <a:r>
              <a:rPr lang="en-US" altLang="ko-KR" smtClean="0"/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61C0A-B93C-45F2-993B-3055FB030DDC}" type="slidenum">
              <a:rPr lang="en-US" altLang="ko-KR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ko-KR" sz="3200" b="1" smtClean="0"/>
              <a:t>Algol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772400" cy="3886200"/>
          </a:xfrm>
        </p:spPr>
        <p:txBody>
          <a:bodyPr/>
          <a:lstStyle/>
          <a:p>
            <a:pPr algn="just" eaLnBrk="1" hangingPunct="1"/>
            <a:r>
              <a:rPr lang="en-US" altLang="ko-KR" smtClean="0">
                <a:ea typeface="신명조" charset="-127"/>
              </a:rPr>
              <a:t>Algol 68</a:t>
            </a:r>
            <a:r>
              <a:rPr lang="ko-KR" altLang="en-US" smtClean="0">
                <a:ea typeface="신명조" charset="-127"/>
              </a:rPr>
              <a:t>은 그와 같은 문제가 발생하지 않는다</a:t>
            </a:r>
            <a:r>
              <a:rPr lang="en-US" altLang="ko-KR" smtClean="0">
                <a:ea typeface="신명조" charset="-127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ko-KR" sz="1400" b="1" smtClean="0">
              <a:ea typeface="신명조" charset="-127"/>
            </a:endParaRPr>
          </a:p>
          <a:p>
            <a:pPr lvl="1" algn="just" eaLnBrk="1" hangingPunct="1"/>
            <a:r>
              <a:rPr lang="en-US" altLang="ko-KR" sz="1800" b="1" u="sng" smtClean="0">
                <a:ea typeface="신명조" charset="-127"/>
              </a:rPr>
              <a:t>proc</a:t>
            </a:r>
            <a:r>
              <a:rPr lang="en-US" altLang="ko-KR" sz="1800" b="1" smtClean="0">
                <a:ea typeface="신명조" charset="-127"/>
              </a:rPr>
              <a:t> who_knows = ( int i, int j, proc(bool) void f) void :</a:t>
            </a:r>
          </a:p>
          <a:p>
            <a:pPr lvl="1" algn="just" eaLnBrk="1" hangingPunct="1">
              <a:buFontTx/>
              <a:buNone/>
            </a:pPr>
            <a:r>
              <a:rPr lang="en-US" altLang="ko-KR" sz="1800" b="1" smtClean="0">
                <a:ea typeface="신명조" charset="-127"/>
              </a:rPr>
              <a:t>       begin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bool k;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k := j &lt; i;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if k then f(k)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   else f(j)   error !!!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  fi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end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</a:t>
            </a:r>
            <a:r>
              <a:rPr lang="en-US" altLang="ko-KR" sz="1800" b="1" smtClean="0">
                <a:ea typeface="신명조" charset="-127"/>
                <a:sym typeface="Wingdings" panose="05000000000000000000" pitchFamily="2" charset="2"/>
              </a:rPr>
              <a:t> C</a:t>
            </a:r>
            <a:r>
              <a:rPr lang="ko-KR" altLang="en-US" sz="1800" b="1" smtClean="0">
                <a:ea typeface="신명조" charset="-127"/>
                <a:sym typeface="Wingdings" panose="05000000000000000000" pitchFamily="2" charset="2"/>
              </a:rPr>
              <a:t>언어는</a:t>
            </a:r>
            <a:r>
              <a:rPr lang="en-US" altLang="ko-KR" sz="1800" b="1" smtClean="0">
                <a:ea typeface="신명조" charset="-127"/>
                <a:sym typeface="Wingdings" panose="05000000000000000000" pitchFamily="2" charset="2"/>
              </a:rPr>
              <a:t>?</a:t>
            </a:r>
            <a:endParaRPr lang="en-US" altLang="ko-KR" sz="1800" b="1" smtClean="0">
              <a:ea typeface="신명조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A13D6E-07EE-4CAD-814A-C09CD3E6EB91}" type="slidenum">
              <a:rPr lang="en-US" altLang="ko-KR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2400" b="1" smtClean="0">
                <a:latin typeface="Courier New" panose="02070309020205020404" pitchFamily="49" charset="0"/>
              </a:rPr>
              <a:t>다른 비교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32766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400" b="1" smtClean="0">
                <a:latin typeface="굴림" panose="020B0600000101010101" pitchFamily="50" charset="-127"/>
              </a:rPr>
              <a:t>     </a:t>
            </a:r>
            <a:r>
              <a:rPr lang="en-US" altLang="ko-KR" sz="1800" b="1" smtClean="0">
                <a:latin typeface="굴림" panose="020B0600000101010101" pitchFamily="50" charset="-127"/>
              </a:rPr>
              <a:t>(B)</a:t>
            </a:r>
          </a:p>
          <a:p>
            <a:pPr algn="just" eaLnBrk="1" hangingPunct="1"/>
            <a:r>
              <a:rPr lang="en-US" altLang="ko-KR" sz="1400" b="1" smtClean="0">
                <a:latin typeface="굴림" panose="020B0600000101010101" pitchFamily="50" charset="-127"/>
              </a:rPr>
              <a:t> </a:t>
            </a:r>
            <a:r>
              <a:rPr lang="en-US" altLang="ko-KR" sz="1800" b="1" smtClean="0">
                <a:latin typeface="굴림" panose="020B0600000101010101" pitchFamily="50" charset="-127"/>
              </a:rPr>
              <a:t>PASCAL</a:t>
            </a:r>
            <a:r>
              <a:rPr lang="ko-KR" altLang="en-US" sz="1800" b="1" smtClean="0">
                <a:latin typeface="굴림" panose="020B0600000101010101" pitchFamily="50" charset="-127"/>
              </a:rPr>
              <a:t>에서 </a:t>
            </a:r>
            <a:r>
              <a:rPr lang="en-US" altLang="ko-KR" sz="1800" b="1" smtClean="0">
                <a:latin typeface="굴림" panose="020B0600000101010101" pitchFamily="50" charset="-127"/>
              </a:rPr>
              <a:t>a, b, c</a:t>
            </a:r>
            <a:r>
              <a:rPr lang="ko-KR" altLang="en-US" sz="1800" b="1" smtClean="0">
                <a:latin typeface="굴림" panose="020B0600000101010101" pitchFamily="50" charset="-127"/>
              </a:rPr>
              <a:t>가 </a:t>
            </a:r>
            <a:r>
              <a:rPr lang="en-US" altLang="ko-KR" sz="1800" b="1" smtClean="0">
                <a:latin typeface="굴림" panose="020B0600000101010101" pitchFamily="50" charset="-127"/>
              </a:rPr>
              <a:t>1..10</a:t>
            </a:r>
            <a:r>
              <a:rPr lang="ko-KR" altLang="en-US" sz="1800" b="1" smtClean="0">
                <a:latin typeface="굴림" panose="020B0600000101010101" pitchFamily="50" charset="-127"/>
              </a:rPr>
              <a:t>인 </a:t>
            </a:r>
            <a:r>
              <a:rPr lang="en-US" altLang="ko-KR" sz="1800" b="1" smtClean="0">
                <a:latin typeface="굴림" panose="020B0600000101010101" pitchFamily="50" charset="-127"/>
              </a:rPr>
              <a:t>subrange </a:t>
            </a:r>
            <a:r>
              <a:rPr lang="ko-KR" altLang="en-US" sz="1800" b="1" smtClean="0">
                <a:latin typeface="굴림" panose="020B0600000101010101" pitchFamily="50" charset="-127"/>
              </a:rPr>
              <a:t>형일 경우에</a:t>
            </a:r>
            <a:r>
              <a:rPr lang="en-US" altLang="ko-KR" sz="1800" b="1" smtClean="0">
                <a:latin typeface="굴림" panose="020B0600000101010101" pitchFamily="50" charset="-127"/>
              </a:rPr>
              <a:t>, "a := b + c"</a:t>
            </a:r>
            <a:r>
              <a:rPr lang="ko-KR" altLang="en-US" sz="1800" b="1" smtClean="0">
                <a:latin typeface="굴림" panose="020B0600000101010101" pitchFamily="50" charset="-127"/>
              </a:rPr>
              <a:t>가 오류일지 아닐 지는 수행 시에만 알 수 있다</a:t>
            </a:r>
          </a:p>
          <a:p>
            <a:pPr algn="just" eaLnBrk="1" hangingPunct="1"/>
            <a:r>
              <a:rPr lang="ko-KR" altLang="en-US" sz="1800" b="1" smtClean="0">
                <a:latin typeface="굴림" panose="020B0600000101010101" pitchFamily="50" charset="-127"/>
              </a:rPr>
              <a:t> </a:t>
            </a:r>
            <a:r>
              <a:rPr lang="en-US" altLang="ko-KR" sz="1800" b="1" smtClean="0">
                <a:latin typeface="굴림" panose="020B0600000101010101" pitchFamily="50" charset="-127"/>
              </a:rPr>
              <a:t>Algol68</a:t>
            </a:r>
            <a:r>
              <a:rPr lang="ko-KR" altLang="en-US" sz="1800" b="1" smtClean="0">
                <a:latin typeface="굴림" panose="020B0600000101010101" pitchFamily="50" charset="-127"/>
              </a:rPr>
              <a:t>에서는 위의 문제를 </a:t>
            </a:r>
            <a:r>
              <a:rPr lang="en-US" altLang="ko-KR" sz="1800" b="1" smtClean="0">
                <a:latin typeface="굴림" panose="020B0600000101010101" pitchFamily="50" charset="-127"/>
              </a:rPr>
              <a:t>type</a:t>
            </a:r>
            <a:r>
              <a:rPr lang="ko-KR" altLang="en-US" sz="1800" b="1" smtClean="0">
                <a:latin typeface="굴림" panose="020B0600000101010101" pitchFamily="50" charset="-127"/>
              </a:rPr>
              <a:t>이 맞지 않는 것으로 보지 않고</a:t>
            </a:r>
            <a:r>
              <a:rPr lang="en-US" altLang="ko-KR" sz="1800" b="1" smtClean="0">
                <a:latin typeface="굴림" panose="020B0600000101010101" pitchFamily="50" charset="-127"/>
              </a:rPr>
              <a:t>, value</a:t>
            </a:r>
            <a:r>
              <a:rPr lang="ko-KR" altLang="en-US" sz="1800" b="1" smtClean="0">
                <a:latin typeface="굴림" panose="020B0600000101010101" pitchFamily="50" charset="-127"/>
              </a:rPr>
              <a:t>가 맞지 않는 것으로 취급한다</a:t>
            </a:r>
            <a:r>
              <a:rPr lang="en-US" altLang="ko-KR" sz="1800" b="1" smtClean="0">
                <a:latin typeface="굴림" panose="020B0600000101010101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5DA3F1-FA8A-4E10-8B67-2A32D28C18B2}" type="slidenum">
              <a:rPr lang="en-US" altLang="ko-KR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2800" b="1" smtClean="0">
                <a:latin typeface="Courier New" panose="02070309020205020404" pitchFamily="49" charset="0"/>
              </a:rPr>
              <a:t>다른 비교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3276600"/>
          </a:xfrm>
        </p:spPr>
        <p:txBody>
          <a:bodyPr/>
          <a:lstStyle/>
          <a:p>
            <a:pPr algn="just" eaLnBrk="1" hangingPunct="1">
              <a:buClr>
                <a:schemeClr val="tx1"/>
              </a:buClr>
            </a:pPr>
            <a:r>
              <a:rPr lang="en-US" altLang="ko-KR" sz="2000" b="1" smtClean="0">
                <a:latin typeface="굴림" panose="020B0600000101010101" pitchFamily="50" charset="-127"/>
              </a:rPr>
              <a:t>⒞</a:t>
            </a:r>
            <a:r>
              <a:rPr lang="en-US" altLang="ko-KR" b="1" smtClean="0">
                <a:latin typeface="굴림" panose="020B0600000101010101" pitchFamily="50" charset="-127"/>
              </a:rPr>
              <a:t> </a:t>
            </a:r>
          </a:p>
          <a:p>
            <a:pPr lvl="1" algn="just" eaLnBrk="1" hangingPunct="1">
              <a:buClr>
                <a:schemeClr val="tx1"/>
              </a:buClr>
            </a:pPr>
            <a:r>
              <a:rPr lang="en-US" altLang="ko-KR" sz="1800" smtClean="0">
                <a:latin typeface="굴림" panose="020B0600000101010101" pitchFamily="50" charset="-127"/>
              </a:rPr>
              <a:t>PASCAL</a:t>
            </a:r>
            <a:r>
              <a:rPr lang="ko-KR" altLang="en-US" sz="1800" smtClean="0">
                <a:latin typeface="굴림" panose="020B0600000101010101" pitchFamily="50" charset="-127"/>
              </a:rPr>
              <a:t>의 </a:t>
            </a:r>
            <a:r>
              <a:rPr lang="en-US" altLang="ko-KR" sz="1800" smtClean="0">
                <a:latin typeface="굴림" panose="020B0600000101010101" pitchFamily="50" charset="-127"/>
              </a:rPr>
              <a:t>variant record</a:t>
            </a:r>
            <a:r>
              <a:rPr lang="ko-KR" altLang="en-US" sz="1800" smtClean="0">
                <a:latin typeface="굴림" panose="020B0600000101010101" pitchFamily="50" charset="-127"/>
              </a:rPr>
              <a:t>는 번역시에 검증 못함</a:t>
            </a:r>
          </a:p>
          <a:p>
            <a:pPr lvl="1" algn="just" eaLnBrk="1" hangingPunct="1"/>
            <a:r>
              <a:rPr lang="en-US" altLang="ko-KR" sz="1800" smtClean="0">
                <a:latin typeface="굴림" panose="020B0600000101010101" pitchFamily="50" charset="-127"/>
              </a:rPr>
              <a:t>Algol 68</a:t>
            </a:r>
            <a:r>
              <a:rPr lang="ko-KR" altLang="en-US" sz="1800" smtClean="0">
                <a:latin typeface="굴림" panose="020B0600000101010101" pitchFamily="50" charset="-127"/>
              </a:rPr>
              <a:t>의 </a:t>
            </a:r>
            <a:r>
              <a:rPr lang="en-US" altLang="ko-KR" sz="1800" smtClean="0">
                <a:latin typeface="굴림" panose="020B0600000101010101" pitchFamily="50" charset="-127"/>
              </a:rPr>
              <a:t>union</a:t>
            </a:r>
            <a:r>
              <a:rPr lang="ko-KR" altLang="en-US" sz="1800" smtClean="0">
                <a:latin typeface="굴림" panose="020B0600000101010101" pitchFamily="50" charset="-127"/>
              </a:rPr>
              <a:t>은 그렇지 않다</a:t>
            </a:r>
            <a:r>
              <a:rPr lang="en-US" altLang="ko-KR" sz="1800" smtClean="0">
                <a:latin typeface="굴림" panose="020B0600000101010101" pitchFamily="50" charset="-127"/>
              </a:rPr>
              <a:t>. </a:t>
            </a:r>
            <a:r>
              <a:rPr lang="ko-KR" altLang="en-US" sz="1800" smtClean="0">
                <a:latin typeface="굴림" panose="020B0600000101010101" pitchFamily="50" charset="-127"/>
              </a:rPr>
              <a:t>수행 시 검증이 필요한 것은 프로그래머가 명시적으로 프로그램해야 한다</a:t>
            </a:r>
            <a:r>
              <a:rPr lang="en-US" altLang="ko-KR" sz="1800" smtClean="0">
                <a:latin typeface="굴림" panose="020B0600000101010101" pitchFamily="50" charset="-127"/>
              </a:rPr>
              <a:t>.</a:t>
            </a:r>
          </a:p>
          <a:p>
            <a:pPr algn="just" eaLnBrk="1" hangingPunct="1"/>
            <a:r>
              <a:rPr lang="en-US" altLang="ko-KR" sz="2000" b="1" smtClean="0">
                <a:latin typeface="굴림" panose="020B0600000101010101" pitchFamily="50" charset="-127"/>
              </a:rPr>
              <a:t>⒟</a:t>
            </a:r>
          </a:p>
          <a:p>
            <a:pPr lvl="1" algn="just" eaLnBrk="1" hangingPunct="1"/>
            <a:r>
              <a:rPr lang="en-US" altLang="ko-KR" sz="1400" b="1" smtClean="0">
                <a:latin typeface="굴림" panose="020B0600000101010101" pitchFamily="50" charset="-127"/>
              </a:rPr>
              <a:t> </a:t>
            </a:r>
            <a:r>
              <a:rPr lang="en-US" altLang="ko-KR" sz="1800" smtClean="0">
                <a:latin typeface="굴림" panose="020B0600000101010101" pitchFamily="50" charset="-127"/>
              </a:rPr>
              <a:t>PASCAL</a:t>
            </a:r>
            <a:r>
              <a:rPr lang="ko-KR" altLang="en-US" sz="1800" smtClean="0">
                <a:latin typeface="굴림" panose="020B0600000101010101" pitchFamily="50" charset="-127"/>
              </a:rPr>
              <a:t>에서는 형 일치</a:t>
            </a:r>
            <a:r>
              <a:rPr lang="en-US" altLang="ko-KR" sz="1800" smtClean="0">
                <a:latin typeface="굴림" panose="020B0600000101010101" pitchFamily="50" charset="-127"/>
              </a:rPr>
              <a:t>(type-compatibility)</a:t>
            </a:r>
            <a:r>
              <a:rPr lang="ko-KR" altLang="en-US" sz="1800" smtClean="0">
                <a:latin typeface="굴림" panose="020B0600000101010101" pitchFamily="50" charset="-127"/>
              </a:rPr>
              <a:t>에 대한 규칙이 없지만</a:t>
            </a:r>
            <a:r>
              <a:rPr lang="en-US" altLang="ko-KR" sz="1800" smtClean="0">
                <a:latin typeface="굴림" panose="020B0600000101010101" pitchFamily="50" charset="-127"/>
              </a:rPr>
              <a:t>,  Algol 68</a:t>
            </a:r>
            <a:r>
              <a:rPr lang="ko-KR" altLang="en-US" sz="1800" smtClean="0">
                <a:latin typeface="굴림" panose="020B0600000101010101" pitchFamily="50" charset="-127"/>
              </a:rPr>
              <a:t>은 명확히 정의되어 있다</a:t>
            </a:r>
            <a:r>
              <a:rPr lang="en-US" altLang="ko-KR" sz="1800" smtClean="0">
                <a:latin typeface="굴림" panose="020B0600000101010101" pitchFamily="50" charset="-127"/>
              </a:rPr>
              <a:t>.</a:t>
            </a:r>
          </a:p>
          <a:p>
            <a:pPr eaLnBrk="1" hangingPunct="1"/>
            <a:endParaRPr lang="en-US" altLang="ko-KR" sz="1800" smtClean="0">
              <a:latin typeface="굴림" panose="020B0600000101010101" pitchFamily="50" charset="-127"/>
            </a:endParaRPr>
          </a:p>
          <a:p>
            <a:pPr algn="just" eaLnBrk="1" hangingPunct="1"/>
            <a:endParaRPr lang="en-US" altLang="ko-KR" sz="1800" smtClean="0">
              <a:latin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840F5A-9A08-45AB-A6B7-6C06FAE8FA11}" type="slidenum">
              <a:rPr lang="en-US" altLang="ko-KR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3200" b="1" smtClean="0">
                <a:latin typeface="Courier New" panose="02070309020205020404" pitchFamily="49" charset="0"/>
              </a:rPr>
              <a:t>형 일치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3657600"/>
          </a:xfrm>
        </p:spPr>
        <p:txBody>
          <a:bodyPr/>
          <a:lstStyle/>
          <a:p>
            <a:pPr algn="just" eaLnBrk="1" hangingPunct="1"/>
            <a:r>
              <a:rPr lang="ko-KR" altLang="en-US" sz="2000" b="1" smtClean="0">
                <a:latin typeface="굴림" panose="020B0600000101010101" pitchFamily="50" charset="-127"/>
              </a:rPr>
              <a:t>이름 일치</a:t>
            </a:r>
            <a:r>
              <a:rPr lang="en-US" altLang="ko-KR" sz="2000" b="1" smtClean="0">
                <a:latin typeface="굴림" panose="020B0600000101010101" pitchFamily="50" charset="-127"/>
              </a:rPr>
              <a:t>(Name equivalence)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400" b="1" smtClean="0">
                <a:latin typeface="굴림" panose="020B0600000101010101" pitchFamily="50" charset="-127"/>
              </a:rPr>
              <a:t>       </a:t>
            </a:r>
            <a:r>
              <a:rPr lang="ko-KR" altLang="en-US" sz="1800" smtClean="0">
                <a:latin typeface="굴림" panose="020B0600000101010101" pitchFamily="50" charset="-127"/>
              </a:rPr>
              <a:t>두 변수의 형은 동일한 사용자 정의나 내장형 이름일 경우</a:t>
            </a:r>
            <a:r>
              <a:rPr lang="en-US" altLang="ko-KR" sz="1800" smtClean="0">
                <a:latin typeface="굴림" panose="020B0600000101010101" pitchFamily="50" charset="-127"/>
              </a:rPr>
              <a:t>, </a:t>
            </a:r>
            <a:r>
              <a:rPr lang="ko-KR" altLang="en-US" sz="1800" smtClean="0">
                <a:latin typeface="굴림" panose="020B0600000101010101" pitchFamily="50" charset="-127"/>
              </a:rPr>
              <a:t>또는 같은 선언에 나타난 경우에만 일치한다</a:t>
            </a:r>
            <a:r>
              <a:rPr lang="en-US" altLang="ko-KR" sz="1800" smtClean="0">
                <a:latin typeface="굴림" panose="020B0600000101010101" pitchFamily="50" charset="-127"/>
              </a:rPr>
              <a:t>. </a:t>
            </a:r>
            <a:r>
              <a:rPr lang="ko-KR" altLang="en-US" sz="1800" smtClean="0">
                <a:latin typeface="굴림" panose="020B0600000101010101" pitchFamily="50" charset="-127"/>
              </a:rPr>
              <a:t>따라서 </a:t>
            </a:r>
            <a:r>
              <a:rPr lang="en-US" altLang="ko-KR" sz="1800" smtClean="0">
                <a:latin typeface="굴림" panose="020B0600000101010101" pitchFamily="50" charset="-127"/>
              </a:rPr>
              <a:t>d, e.b</a:t>
            </a:r>
            <a:r>
              <a:rPr lang="ko-KR" altLang="en-US" sz="1800" smtClean="0">
                <a:latin typeface="굴림" panose="020B0600000101010101" pitchFamily="50" charset="-127"/>
              </a:rPr>
              <a:t>와 </a:t>
            </a:r>
            <a:r>
              <a:rPr lang="en-US" altLang="ko-KR" sz="1800" smtClean="0">
                <a:latin typeface="굴림" panose="020B0600000101010101" pitchFamily="50" charset="-127"/>
              </a:rPr>
              <a:t>f.b</a:t>
            </a:r>
            <a:r>
              <a:rPr lang="ko-KR" altLang="en-US" sz="1800" smtClean="0">
                <a:latin typeface="굴림" panose="020B0600000101010101" pitchFamily="50" charset="-127"/>
              </a:rPr>
              <a:t>는 같은 형이고</a:t>
            </a:r>
            <a:r>
              <a:rPr lang="en-US" altLang="ko-KR" sz="1800" smtClean="0">
                <a:latin typeface="굴림" panose="020B0600000101010101" pitchFamily="50" charset="-127"/>
              </a:rPr>
              <a:t>, a</a:t>
            </a:r>
            <a:r>
              <a:rPr lang="ko-KR" altLang="en-US" sz="1800" smtClean="0">
                <a:latin typeface="굴림" panose="020B0600000101010101" pitchFamily="50" charset="-127"/>
              </a:rPr>
              <a:t>와 </a:t>
            </a:r>
            <a:r>
              <a:rPr lang="en-US" altLang="ko-KR" sz="1800" smtClean="0">
                <a:latin typeface="굴림" panose="020B0600000101010101" pitchFamily="50" charset="-127"/>
              </a:rPr>
              <a:t>b</a:t>
            </a:r>
            <a:r>
              <a:rPr lang="ko-KR" altLang="en-US" sz="1800" smtClean="0">
                <a:latin typeface="굴림" panose="020B0600000101010101" pitchFamily="50" charset="-127"/>
              </a:rPr>
              <a:t>는 같은 형이며</a:t>
            </a:r>
            <a:r>
              <a:rPr lang="en-US" altLang="ko-KR" sz="1800" smtClean="0">
                <a:latin typeface="굴림" panose="020B0600000101010101" pitchFamily="50" charset="-127"/>
              </a:rPr>
              <a:t>, e</a:t>
            </a:r>
            <a:r>
              <a:rPr lang="ko-KR" altLang="en-US" sz="1800" smtClean="0">
                <a:latin typeface="굴림" panose="020B0600000101010101" pitchFamily="50" charset="-127"/>
              </a:rPr>
              <a:t>와 </a:t>
            </a:r>
            <a:r>
              <a:rPr lang="en-US" altLang="ko-KR" sz="1800" smtClean="0">
                <a:latin typeface="굴림" panose="020B0600000101010101" pitchFamily="50" charset="-127"/>
              </a:rPr>
              <a:t>f  </a:t>
            </a:r>
            <a:r>
              <a:rPr lang="ko-KR" altLang="en-US" sz="1800" smtClean="0">
                <a:latin typeface="굴림" panose="020B0600000101010101" pitchFamily="50" charset="-127"/>
              </a:rPr>
              <a:t>같은 형이다</a:t>
            </a:r>
            <a:r>
              <a:rPr lang="en-US" altLang="ko-KR" sz="1800" smtClean="0">
                <a:latin typeface="굴림" panose="020B0600000101010101" pitchFamily="50" charset="-127"/>
              </a:rPr>
              <a:t>. </a:t>
            </a:r>
            <a:r>
              <a:rPr lang="ko-KR" altLang="en-US" sz="1800" smtClean="0">
                <a:latin typeface="굴림" panose="020B0600000101010101" pitchFamily="50" charset="-127"/>
              </a:rPr>
              <a:t>그러나 </a:t>
            </a:r>
            <a:r>
              <a:rPr lang="en-US" altLang="ko-KR" sz="1800" smtClean="0">
                <a:latin typeface="굴림" panose="020B0600000101010101" pitchFamily="50" charset="-127"/>
              </a:rPr>
              <a:t>a</a:t>
            </a:r>
            <a:r>
              <a:rPr lang="ko-KR" altLang="en-US" sz="1800" smtClean="0">
                <a:latin typeface="굴림" panose="020B0600000101010101" pitchFamily="50" charset="-127"/>
              </a:rPr>
              <a:t>와 </a:t>
            </a:r>
            <a:r>
              <a:rPr lang="en-US" altLang="ko-KR" sz="1800" smtClean="0">
                <a:latin typeface="굴림" panose="020B0600000101010101" pitchFamily="50" charset="-127"/>
              </a:rPr>
              <a:t>c</a:t>
            </a:r>
            <a:r>
              <a:rPr lang="ko-KR" altLang="en-US" sz="1800" smtClean="0">
                <a:latin typeface="굴림" panose="020B0600000101010101" pitchFamily="50" charset="-127"/>
              </a:rPr>
              <a:t>는 같은 형이 아니다</a:t>
            </a:r>
            <a:r>
              <a:rPr lang="en-US" altLang="ko-KR" sz="1800" smtClean="0">
                <a:latin typeface="굴림" panose="020B0600000101010101" pitchFamily="50" charset="-127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ko-KR" sz="1800" smtClean="0">
              <a:latin typeface="굴림" panose="020B0600000101010101" pitchFamily="50" charset="-127"/>
            </a:endParaRPr>
          </a:p>
          <a:p>
            <a:pPr algn="just" eaLnBrk="1" hangingPunct="1"/>
            <a:r>
              <a:rPr lang="ko-KR" altLang="en-US" sz="2000" b="1" smtClean="0">
                <a:latin typeface="굴림" panose="020B0600000101010101" pitchFamily="50" charset="-127"/>
              </a:rPr>
              <a:t>구조적 일치</a:t>
            </a:r>
            <a:r>
              <a:rPr lang="en-US" altLang="ko-KR" sz="2000" b="1" smtClean="0">
                <a:latin typeface="굴림" panose="020B0600000101010101" pitchFamily="50" charset="-127"/>
              </a:rPr>
              <a:t>(Structural equivalence)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400" b="1" smtClean="0">
                <a:latin typeface="굴림" panose="020B0600000101010101" pitchFamily="50" charset="-127"/>
              </a:rPr>
              <a:t>       </a:t>
            </a:r>
            <a:r>
              <a:rPr lang="ko-KR" altLang="en-US" sz="1800" smtClean="0">
                <a:latin typeface="굴림" panose="020B0600000101010101" pitchFamily="50" charset="-127"/>
              </a:rPr>
              <a:t>두 변수는 같은 구조를 가지면 같은 형이다</a:t>
            </a:r>
            <a:r>
              <a:rPr lang="en-US" altLang="ko-KR" sz="1800" smtClean="0">
                <a:latin typeface="굴림" panose="020B0600000101010101" pitchFamily="50" charset="-127"/>
              </a:rPr>
              <a:t>. </a:t>
            </a:r>
            <a:r>
              <a:rPr lang="ko-KR" altLang="en-US" sz="1800" smtClean="0">
                <a:latin typeface="굴림" panose="020B0600000101010101" pitchFamily="50" charset="-127"/>
              </a:rPr>
              <a:t>이 경우 </a:t>
            </a:r>
            <a:r>
              <a:rPr lang="en-US" altLang="ko-KR" sz="1800" smtClean="0">
                <a:latin typeface="굴림" panose="020B0600000101010101" pitchFamily="50" charset="-127"/>
              </a:rPr>
              <a:t>a, b, c, d, e.b</a:t>
            </a:r>
            <a:r>
              <a:rPr lang="ko-KR" altLang="en-US" sz="1800" smtClean="0">
                <a:latin typeface="굴림" panose="020B0600000101010101" pitchFamily="50" charset="-127"/>
              </a:rPr>
              <a:t>와 </a:t>
            </a:r>
            <a:r>
              <a:rPr lang="en-US" altLang="ko-KR" sz="1800" smtClean="0">
                <a:latin typeface="굴림" panose="020B0600000101010101" pitchFamily="50" charset="-127"/>
              </a:rPr>
              <a:t>f.b</a:t>
            </a:r>
            <a:r>
              <a:rPr lang="ko-KR" altLang="en-US" sz="1800" smtClean="0">
                <a:latin typeface="굴림" panose="020B0600000101010101" pitchFamily="50" charset="-127"/>
              </a:rPr>
              <a:t>는 같은 형이다</a:t>
            </a:r>
            <a:r>
              <a:rPr lang="en-US" altLang="ko-KR" sz="1800" smtClean="0">
                <a:latin typeface="굴림" panose="020B0600000101010101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18BB54-B699-469C-9322-63B517170485}" type="slidenum">
              <a:rPr lang="en-US" altLang="ko-KR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2800" b="1" smtClean="0">
                <a:latin typeface="Courier New" panose="02070309020205020404" pitchFamily="49" charset="0"/>
              </a:rPr>
              <a:t>실제 예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3581400"/>
          </a:xfrm>
        </p:spPr>
        <p:txBody>
          <a:bodyPr/>
          <a:lstStyle/>
          <a:p>
            <a:pPr algn="just" eaLnBrk="1" hangingPunct="1"/>
            <a:r>
              <a:rPr lang="en-US" altLang="ko-KR" sz="2000" smtClean="0">
                <a:latin typeface="굴림" panose="020B0600000101010101" pitchFamily="50" charset="-127"/>
              </a:rPr>
              <a:t>Algol 68</a:t>
            </a:r>
            <a:r>
              <a:rPr lang="ko-KR" altLang="en-US" sz="2000" smtClean="0">
                <a:latin typeface="굴림" panose="020B0600000101010101" pitchFamily="50" charset="-127"/>
              </a:rPr>
              <a:t>은 구조적 일치 기법으로 형 일치를 검증하도록 정의되어 있다</a:t>
            </a:r>
            <a:r>
              <a:rPr lang="en-US" altLang="ko-KR" sz="2000" smtClean="0">
                <a:latin typeface="굴림" panose="020B0600000101010101" pitchFamily="50" charset="-127"/>
              </a:rPr>
              <a:t>. </a:t>
            </a:r>
          </a:p>
          <a:p>
            <a:pPr algn="just" eaLnBrk="1" hangingPunct="1"/>
            <a:r>
              <a:rPr lang="en-US" altLang="ko-KR" sz="2000" smtClean="0">
                <a:latin typeface="굴림" panose="020B0600000101010101" pitchFamily="50" charset="-127"/>
              </a:rPr>
              <a:t> PASCAL</a:t>
            </a:r>
            <a:r>
              <a:rPr lang="ko-KR" altLang="en-US" sz="2000" smtClean="0">
                <a:latin typeface="굴림" panose="020B0600000101010101" pitchFamily="50" charset="-127"/>
              </a:rPr>
              <a:t>은 컴파일러 구현과정에서 정의되도록 되어있다</a:t>
            </a:r>
            <a:r>
              <a:rPr lang="en-US" altLang="ko-KR" sz="2000" smtClean="0">
                <a:latin typeface="굴림" panose="020B0600000101010101" pitchFamily="50" charset="-127"/>
              </a:rPr>
              <a:t>.</a:t>
            </a:r>
            <a:r>
              <a:rPr lang="en-US" altLang="ko-KR" sz="2000" b="1" smtClean="0">
                <a:latin typeface="굴림" panose="020B0600000101010101" pitchFamily="50" charset="-127"/>
              </a:rPr>
              <a:t> </a:t>
            </a:r>
          </a:p>
          <a:p>
            <a:pPr lvl="1" algn="just" eaLnBrk="1" hangingPunct="1"/>
            <a:r>
              <a:rPr lang="ko-KR" altLang="en-US" sz="1800" smtClean="0">
                <a:latin typeface="굴림" panose="020B0600000101010101" pitchFamily="50" charset="-127"/>
              </a:rPr>
              <a:t>따라서 같은 </a:t>
            </a:r>
            <a:r>
              <a:rPr lang="en-US" altLang="ko-KR" sz="1800" smtClean="0">
                <a:latin typeface="굴림" panose="020B0600000101010101" pitchFamily="50" charset="-127"/>
              </a:rPr>
              <a:t>PASCAL </a:t>
            </a:r>
            <a:r>
              <a:rPr lang="ko-KR" altLang="en-US" sz="1800" smtClean="0">
                <a:latin typeface="굴림" panose="020B0600000101010101" pitchFamily="50" charset="-127"/>
              </a:rPr>
              <a:t>프로그램도 컴파일러에 따라 결과가 다를 수 있다</a:t>
            </a:r>
            <a:r>
              <a:rPr lang="en-US" altLang="ko-KR" sz="1800" smtClean="0">
                <a:latin typeface="굴림" panose="020B0600000101010101" pitchFamily="50" charset="-127"/>
              </a:rPr>
              <a:t>. </a:t>
            </a:r>
          </a:p>
          <a:p>
            <a:pPr lvl="1" algn="just" eaLnBrk="1" hangingPunct="1"/>
            <a:r>
              <a:rPr lang="ko-KR" altLang="en-US" sz="1800" smtClean="0">
                <a:latin typeface="굴림" panose="020B0600000101010101" pitchFamily="50" charset="-127"/>
              </a:rPr>
              <a:t>대부분의 </a:t>
            </a:r>
            <a:r>
              <a:rPr lang="en-US" altLang="ko-KR" sz="1800" smtClean="0">
                <a:latin typeface="굴림" panose="020B0600000101010101" pitchFamily="50" charset="-127"/>
              </a:rPr>
              <a:t>PASCAL </a:t>
            </a:r>
            <a:r>
              <a:rPr lang="ko-KR" altLang="en-US" sz="1800" smtClean="0">
                <a:latin typeface="굴림" panose="020B0600000101010101" pitchFamily="50" charset="-127"/>
              </a:rPr>
              <a:t>컴파일러는 구조적 일치를 사용하지만</a:t>
            </a:r>
            <a:r>
              <a:rPr lang="en-US" altLang="ko-KR" sz="1800" smtClean="0">
                <a:latin typeface="굴림" panose="020B0600000101010101" pitchFamily="50" charset="-127"/>
              </a:rPr>
              <a:t>, </a:t>
            </a:r>
            <a:r>
              <a:rPr lang="ko-KR" altLang="en-US" sz="1800" smtClean="0">
                <a:latin typeface="굴림" panose="020B0600000101010101" pitchFamily="50" charset="-127"/>
              </a:rPr>
              <a:t>인자 교환</a:t>
            </a:r>
            <a:r>
              <a:rPr lang="en-US" altLang="ko-KR" sz="1800" smtClean="0">
                <a:latin typeface="굴림" panose="020B0600000101010101" pitchFamily="50" charset="-127"/>
              </a:rPr>
              <a:t>(parameter passing)</a:t>
            </a:r>
            <a:r>
              <a:rPr lang="ko-KR" altLang="en-US" sz="1800" smtClean="0">
                <a:latin typeface="굴림" panose="020B0600000101010101" pitchFamily="50" charset="-127"/>
              </a:rPr>
              <a:t>에서는 이름일치를 사용한다</a:t>
            </a:r>
            <a:r>
              <a:rPr lang="en-US" altLang="ko-KR" sz="1800" smtClean="0">
                <a:latin typeface="굴림" panose="020B0600000101010101" pitchFamily="50" charset="-127"/>
              </a:rPr>
              <a:t>. </a:t>
            </a:r>
            <a:r>
              <a:rPr lang="ko-KR" altLang="en-US" sz="1800" smtClean="0">
                <a:latin typeface="굴림" panose="020B0600000101010101" pitchFamily="50" charset="-127"/>
              </a:rPr>
              <a:t>이름일치를 사용할 경우 정수 값을 정수의 </a:t>
            </a:r>
            <a:r>
              <a:rPr lang="en-US" altLang="ko-KR" sz="1800" smtClean="0">
                <a:latin typeface="굴림" panose="020B0600000101010101" pitchFamily="50" charset="-127"/>
              </a:rPr>
              <a:t>subrange</a:t>
            </a:r>
            <a:r>
              <a:rPr lang="ko-KR" altLang="en-US" sz="1800" smtClean="0">
                <a:latin typeface="굴림" panose="020B0600000101010101" pitchFamily="50" charset="-127"/>
              </a:rPr>
              <a:t>형인 변수에 형 변환</a:t>
            </a:r>
            <a:r>
              <a:rPr lang="en-US" altLang="ko-KR" sz="1800" smtClean="0">
                <a:latin typeface="굴림" panose="020B0600000101010101" pitchFamily="50" charset="-127"/>
              </a:rPr>
              <a:t>(type conversion) </a:t>
            </a:r>
            <a:r>
              <a:rPr lang="ko-KR" altLang="en-US" sz="1800" smtClean="0">
                <a:latin typeface="굴림" panose="020B0600000101010101" pitchFamily="50" charset="-127"/>
              </a:rPr>
              <a:t>없이는 기억시킬</a:t>
            </a:r>
            <a:r>
              <a:rPr lang="en-US" altLang="ko-KR" sz="1800" smtClean="0">
                <a:latin typeface="굴림" panose="020B0600000101010101" pitchFamily="50" charset="-127"/>
              </a:rPr>
              <a:t>(assign) </a:t>
            </a:r>
            <a:r>
              <a:rPr lang="ko-KR" altLang="en-US" sz="1800" smtClean="0">
                <a:latin typeface="굴림" panose="020B0600000101010101" pitchFamily="50" charset="-127"/>
              </a:rPr>
              <a:t>수 없다</a:t>
            </a:r>
            <a:r>
              <a:rPr lang="en-US" altLang="ko-KR" sz="1800" smtClean="0">
                <a:latin typeface="굴림" panose="020B0600000101010101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smtClean="0"/>
              <a:t>차이는 </a:t>
            </a:r>
            <a:r>
              <a:rPr lang="en-US" altLang="ko-KR" smtClean="0"/>
              <a:t>?</a:t>
            </a:r>
            <a:endParaRPr lang="ko-KR" altLang="en-US" smtClean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extLst/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latin typeface="굴림" panose="020B0600000101010101" pitchFamily="50" charset="-127"/>
              </a:rPr>
              <a:t> </a:t>
            </a:r>
            <a:r>
              <a:rPr lang="en-US" altLang="ko-KR" sz="900" dirty="0" smtClean="0">
                <a:latin typeface="굴림" panose="020B0600000101010101" pitchFamily="50" charset="-127"/>
              </a:rPr>
              <a:t>Type TI=integer</a:t>
            </a:r>
            <a:endParaRPr lang="ko-KR" altLang="en-US" sz="900" dirty="0" smtClean="0"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latin typeface="굴림" panose="020B0600000101010101" pitchFamily="50" charset="-127"/>
              </a:rPr>
              <a:t> </a:t>
            </a:r>
            <a:r>
              <a:rPr lang="en-US" altLang="ko-KR" sz="900" dirty="0" smtClean="0">
                <a:latin typeface="굴림" panose="020B0600000101010101" pitchFamily="50" charset="-127"/>
              </a:rPr>
              <a:t>Type TTI=TI</a:t>
            </a:r>
            <a:endParaRPr lang="ko-KR" altLang="en-US" sz="900" dirty="0" smtClean="0">
              <a:latin typeface="굴림" panose="020B0600000101010101" pitchFamily="50" charset="-127"/>
            </a:endParaRPr>
          </a:p>
          <a:p>
            <a:pPr eaLnBrk="1" hangingPunct="1">
              <a:defRPr/>
            </a:pPr>
            <a:endParaRPr lang="ko-KR" altLang="en-US" sz="900" dirty="0" smtClean="0"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latin typeface="굴림" panose="020B0600000101010101" pitchFamily="50" charset="-127"/>
              </a:rPr>
              <a:t> </a:t>
            </a:r>
            <a:r>
              <a:rPr lang="en-US" altLang="ko-KR" sz="900" dirty="0" smtClean="0">
                <a:latin typeface="굴림" panose="020B0600000101010101" pitchFamily="50" charset="-127"/>
              </a:rPr>
              <a:t>a=integer</a:t>
            </a:r>
            <a:endParaRPr lang="ko-KR" altLang="en-US" sz="900" dirty="0" smtClean="0"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latin typeface="굴림" panose="020B0600000101010101" pitchFamily="50" charset="-127"/>
              </a:rPr>
              <a:t> </a:t>
            </a:r>
            <a:r>
              <a:rPr lang="en-US" altLang="ko-KR" sz="900" dirty="0" smtClean="0">
                <a:latin typeface="굴림" panose="020B0600000101010101" pitchFamily="50" charset="-127"/>
              </a:rPr>
              <a:t>b=TTI</a:t>
            </a:r>
            <a:endParaRPr lang="ko-KR" altLang="en-US" sz="900" dirty="0" smtClean="0"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latin typeface="굴림" panose="020B0600000101010101" pitchFamily="50" charset="-127"/>
              </a:rPr>
              <a:t> </a:t>
            </a:r>
            <a:r>
              <a:rPr lang="en-US" altLang="ko-KR" sz="900" dirty="0" smtClean="0">
                <a:latin typeface="굴림" panose="020B0600000101010101" pitchFamily="50" charset="-127"/>
              </a:rPr>
              <a:t>f= ref float</a:t>
            </a:r>
            <a:endParaRPr lang="ko-KR" altLang="en-US" sz="900" dirty="0" smtClean="0"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g= ref float</a:t>
            </a:r>
            <a:endParaRPr lang="ko-KR" altLang="en-US" sz="900" dirty="0" smtClean="0">
              <a:solidFill>
                <a:srgbClr val="000000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eaLnBrk="1" hangingPunct="1">
              <a:defRPr/>
            </a:pPr>
            <a:endParaRPr lang="ko-KR" altLang="en-US" sz="900" dirty="0" smtClean="0">
              <a:solidFill>
                <a:srgbClr val="000000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-------------------------------------</a:t>
            </a:r>
            <a:endParaRPr lang="ko-KR" altLang="en-US" sz="900" dirty="0" smtClean="0">
              <a:solidFill>
                <a:srgbClr val="000000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ko-KR" sz="900" dirty="0" err="1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typedef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</a:t>
            </a:r>
            <a:r>
              <a:rPr lang="en-US" altLang="ko-KR" sz="900" dirty="0" err="1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struct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{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        </a:t>
            </a:r>
            <a:r>
              <a:rPr lang="en-US" altLang="ko-KR" sz="900" dirty="0" err="1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int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data[100];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        </a:t>
            </a:r>
            <a:r>
              <a:rPr lang="en-US" altLang="ko-KR" sz="900" dirty="0" err="1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int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count;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        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} Stack;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</a:t>
            </a:r>
            <a:r>
              <a:rPr lang="en-US" altLang="ko-KR" sz="900" dirty="0" err="1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typedef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</a:t>
            </a:r>
            <a:r>
              <a:rPr lang="en-US" altLang="ko-KR" sz="900" dirty="0" err="1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struct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{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        </a:t>
            </a:r>
            <a:r>
              <a:rPr lang="en-US" altLang="ko-KR" sz="900" dirty="0" err="1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int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data[100];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        </a:t>
            </a:r>
            <a:r>
              <a:rPr lang="en-US" altLang="ko-KR" sz="900" dirty="0" err="1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int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count;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        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} Set;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</a:t>
            </a:r>
            <a:r>
              <a:rPr lang="en-US" altLang="ko-KR" sz="900" dirty="0" smtClean="0">
                <a:solidFill>
                  <a:prstClr val="black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Stack x, y;</a:t>
            </a:r>
            <a:endParaRPr lang="ko-KR" altLang="en-US" sz="900" dirty="0" smtClean="0">
              <a:solidFill>
                <a:prstClr val="black"/>
              </a:solidFill>
              <a:highlight>
                <a:srgbClr val="FFFFFF"/>
              </a:highlight>
              <a:latin typeface="굴림" panose="020B0600000101010101" pitchFamily="50" charset="-127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ko-KR" altLang="en-US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   </a:t>
            </a:r>
            <a:r>
              <a:rPr lang="en-US" altLang="ko-KR" sz="900" dirty="0" smtClean="0">
                <a:solidFill>
                  <a:srgbClr val="000000"/>
                </a:solidFill>
                <a:highlight>
                  <a:srgbClr val="FFFFFF"/>
                </a:highlight>
                <a:latin typeface="굴림" panose="020B0600000101010101" pitchFamily="50" charset="-127"/>
              </a:rPr>
              <a:t>Set r, s;</a:t>
            </a:r>
            <a:endParaRPr lang="ko-KR" altLang="en-US" sz="9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96F4E5-4C1D-4148-91C2-156A1FBA2EF4}" type="slidenum">
              <a:rPr lang="en-US" altLang="ko-KR"/>
              <a:pPr>
                <a:defRPr/>
              </a:pPr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6889CB-4B72-423F-8F3C-399DD65430DA}" type="slidenum">
              <a:rPr lang="en-US" altLang="ko-KR"/>
              <a:pPr>
                <a:defRPr/>
              </a:pPr>
              <a:t>17</a:t>
            </a:fld>
            <a:endParaRPr lang="en-US" altLang="ko-KR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2800" b="1" smtClean="0">
                <a:latin typeface="굴림" panose="020B0600000101010101" pitchFamily="50" charset="-127"/>
              </a:rPr>
              <a:t>형 일치</a:t>
            </a:r>
            <a:r>
              <a:rPr lang="en-US" altLang="ko-KR" sz="2800" b="1" smtClean="0">
                <a:latin typeface="굴림" panose="020B0600000101010101" pitchFamily="50" charset="-127"/>
              </a:rPr>
              <a:t>(Type compatibility)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362200"/>
            <a:ext cx="7772400" cy="3581400"/>
          </a:xfrm>
        </p:spPr>
        <p:txBody>
          <a:bodyPr/>
          <a:lstStyle/>
          <a:p>
            <a:pPr algn="just" eaLnBrk="1" hangingPunct="1"/>
            <a:r>
              <a:rPr lang="ko-KR" altLang="en-US" sz="2000" smtClean="0">
                <a:ea typeface="신명조" charset="-127"/>
              </a:rPr>
              <a:t>프로그램의 예</a:t>
            </a:r>
          </a:p>
          <a:p>
            <a:pPr lvl="1" algn="just" eaLnBrk="1" hangingPunct="1"/>
            <a:r>
              <a:rPr lang="ko-KR" altLang="en-US" sz="1400" b="1" smtClean="0">
                <a:ea typeface="신명조" charset="-127"/>
              </a:rPr>
              <a:t>  </a:t>
            </a:r>
            <a:r>
              <a:rPr lang="en-US" altLang="ko-KR" sz="1800" b="1" smtClean="0">
                <a:ea typeface="신명조" charset="-127"/>
              </a:rPr>
              <a:t>type t = </a:t>
            </a:r>
            <a:r>
              <a:rPr lang="en-US" altLang="ko-KR" sz="1800" b="1" u="sng" smtClean="0">
                <a:ea typeface="신명조" charset="-127"/>
              </a:rPr>
              <a:t>array</a:t>
            </a:r>
            <a:r>
              <a:rPr lang="en-US" altLang="ko-KR" sz="1800" b="1" smtClean="0">
                <a:ea typeface="신명조" charset="-127"/>
              </a:rPr>
              <a:t>[1..20] </a:t>
            </a:r>
            <a:r>
              <a:rPr lang="en-US" altLang="ko-KR" sz="1800" b="1" u="sng" smtClean="0">
                <a:ea typeface="신명조" charset="-127"/>
              </a:rPr>
              <a:t>of</a:t>
            </a:r>
            <a:r>
              <a:rPr lang="en-US" altLang="ko-KR" sz="1800" b="1" smtClean="0">
                <a:ea typeface="신명조" charset="-127"/>
              </a:rPr>
              <a:t> integer;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var a, b : </a:t>
            </a:r>
            <a:r>
              <a:rPr lang="en-US" altLang="ko-KR" sz="1800" b="1" u="sng" smtClean="0">
                <a:ea typeface="신명조" charset="-127"/>
              </a:rPr>
              <a:t>array</a:t>
            </a:r>
            <a:r>
              <a:rPr lang="en-US" altLang="ko-KR" sz="1800" b="1" smtClean="0">
                <a:ea typeface="신명조" charset="-127"/>
              </a:rPr>
              <a:t>[1..20] </a:t>
            </a:r>
            <a:r>
              <a:rPr lang="en-US" altLang="ko-KR" sz="1800" b="1" u="sng" smtClean="0">
                <a:ea typeface="신명조" charset="-127"/>
              </a:rPr>
              <a:t>of</a:t>
            </a:r>
            <a:r>
              <a:rPr lang="en-US" altLang="ko-KR" sz="1800" b="1" smtClean="0">
                <a:ea typeface="신명조" charset="-127"/>
              </a:rPr>
              <a:t> integer;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              c : </a:t>
            </a:r>
            <a:r>
              <a:rPr lang="en-US" altLang="ko-KR" sz="1800" b="1" u="sng" smtClean="0">
                <a:ea typeface="신명조" charset="-127"/>
              </a:rPr>
              <a:t>array</a:t>
            </a:r>
            <a:r>
              <a:rPr lang="en-US" altLang="ko-KR" sz="1800" b="1" smtClean="0">
                <a:ea typeface="신명조" charset="-127"/>
              </a:rPr>
              <a:t>[1..20] of integer;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                  d  : t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                  e, f : record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                           a : integer;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                           b : t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ko-KR" sz="1800" b="1" smtClean="0">
                <a:ea typeface="신명조" charset="-127"/>
              </a:rPr>
              <a:t>               end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57602E-654A-4B80-98E3-5D6DDC0150D4}" type="slidenum">
              <a:rPr lang="en-US" altLang="ko-KR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2800" b="1" smtClean="0">
                <a:latin typeface="Courier New" panose="02070309020205020404" pitchFamily="49" charset="0"/>
              </a:rPr>
              <a:t>숙제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14600"/>
            <a:ext cx="7772400" cy="2971800"/>
          </a:xfrm>
        </p:spPr>
        <p:txBody>
          <a:bodyPr/>
          <a:lstStyle/>
          <a:p>
            <a:pPr eaLnBrk="1" hangingPunct="1"/>
            <a:r>
              <a:rPr lang="en-US" altLang="ko-KR" sz="2000" smtClean="0"/>
              <a:t>pointer</a:t>
            </a:r>
            <a:r>
              <a:rPr lang="ko-KR" altLang="en-US" sz="2000" smtClean="0">
                <a:latin typeface="Courier New" panose="02070309020205020404" pitchFamily="49" charset="0"/>
              </a:rPr>
              <a:t>를 잘못 사용하면 생길 수 있는 오류와 이를 해결하는 각 프로그래밍 언어가 취하는 방법을 설명하라</a:t>
            </a:r>
            <a:r>
              <a:rPr lang="en-US" altLang="ko-KR" sz="2000" smtClean="0">
                <a:latin typeface="Courier New" panose="02070309020205020404" pitchFamily="49" charset="0"/>
              </a:rPr>
              <a:t>!!!</a:t>
            </a:r>
            <a:br>
              <a:rPr lang="en-US" altLang="ko-KR" sz="2000" smtClean="0">
                <a:latin typeface="Courier New" panose="02070309020205020404" pitchFamily="49" charset="0"/>
              </a:rPr>
            </a:br>
            <a:endParaRPr lang="en-US" altLang="ko-KR" sz="2000" smtClean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ko-KR" sz="1800" smtClean="0"/>
              <a:t>PL</a:t>
            </a:r>
            <a:r>
              <a:rPr lang="en-US" altLang="ko-KR" sz="1800" smtClean="0">
                <a:latin typeface="Courier New" panose="02070309020205020404" pitchFamily="49" charset="0"/>
              </a:rPr>
              <a:t> </a:t>
            </a:r>
            <a:r>
              <a:rPr lang="ko-KR" altLang="en-US" sz="1800" smtClean="0">
                <a:latin typeface="Courier New" panose="02070309020205020404" pitchFamily="49" charset="0"/>
              </a:rPr>
              <a:t>자습자료를 참고하면 됨 </a:t>
            </a:r>
            <a:r>
              <a:rPr lang="en-US" altLang="ko-KR" sz="1800" smtClean="0">
                <a:latin typeface="Courier New" panose="02070309020205020404" pitchFamily="49" charset="0"/>
              </a:rPr>
              <a:t>!!!!!</a:t>
            </a:r>
          </a:p>
          <a:p>
            <a:pPr eaLnBrk="1" hangingPunct="1"/>
            <a:r>
              <a:rPr lang="en-US" altLang="ko-KR" sz="2000" smtClean="0">
                <a:latin typeface="Courier New" panose="02070309020205020404" pitchFamily="49" charset="0"/>
              </a:rPr>
              <a:t>C </a:t>
            </a:r>
            <a:r>
              <a:rPr lang="ko-KR" altLang="en-US" sz="2000" smtClean="0">
                <a:latin typeface="Courier New" panose="02070309020205020404" pitchFamily="49" charset="0"/>
              </a:rPr>
              <a:t>언어에서 </a:t>
            </a:r>
            <a:r>
              <a:rPr lang="en-US" altLang="ko-KR" sz="2000" smtClean="0">
                <a:latin typeface="Courier New" panose="02070309020205020404" pitchFamily="49" charset="0"/>
              </a:rPr>
              <a:t>compile time</a:t>
            </a:r>
            <a:r>
              <a:rPr lang="ko-KR" altLang="en-US" sz="2000" smtClean="0">
                <a:latin typeface="Courier New" panose="02070309020205020404" pitchFamily="49" charset="0"/>
              </a:rPr>
              <a:t>에 </a:t>
            </a:r>
            <a:r>
              <a:rPr lang="en-US" altLang="ko-KR" sz="2000" smtClean="0">
                <a:latin typeface="Courier New" panose="02070309020205020404" pitchFamily="49" charset="0"/>
              </a:rPr>
              <a:t>type checking</a:t>
            </a:r>
            <a:r>
              <a:rPr lang="ko-KR" altLang="en-US" sz="2000" smtClean="0">
                <a:latin typeface="Courier New" panose="02070309020205020404" pitchFamily="49" charset="0"/>
              </a:rPr>
              <a:t>이 불가능한 예를 보여라</a:t>
            </a:r>
            <a:r>
              <a:rPr lang="en-US" altLang="ko-KR" sz="2000" smtClean="0">
                <a:latin typeface="Courier New" panose="02070309020205020404" pitchFamily="49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3866</TotalTime>
  <Words>1002</Words>
  <Application>Microsoft Office PowerPoint</Application>
  <PresentationFormat>화면 슬라이드 쇼(4:3)</PresentationFormat>
  <Paragraphs>146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굴림</vt:lpstr>
      <vt:lpstr>Arial</vt:lpstr>
      <vt:lpstr>Times New Roman</vt:lpstr>
      <vt:lpstr>Wingdings</vt:lpstr>
      <vt:lpstr>신명조</vt:lpstr>
      <vt:lpstr>Courier New</vt:lpstr>
      <vt:lpstr>기본 디자인</vt:lpstr>
      <vt:lpstr>Signature, Strong Typing</vt:lpstr>
      <vt:lpstr>Signature I</vt:lpstr>
      <vt:lpstr>Signature II</vt:lpstr>
      <vt:lpstr>Declarations </vt:lpstr>
      <vt:lpstr>Purposes for Declarations</vt:lpstr>
      <vt:lpstr>Type checking</vt:lpstr>
      <vt:lpstr>Information for Static type checking</vt:lpstr>
      <vt:lpstr>Static type checking ….</vt:lpstr>
      <vt:lpstr>Strong Typing</vt:lpstr>
      <vt:lpstr>Pascal</vt:lpstr>
      <vt:lpstr>Algol</vt:lpstr>
      <vt:lpstr>다른 비교</vt:lpstr>
      <vt:lpstr>다른 비교</vt:lpstr>
      <vt:lpstr>형 일치</vt:lpstr>
      <vt:lpstr>실제 예</vt:lpstr>
      <vt:lpstr>차이는 ?</vt:lpstr>
      <vt:lpstr>형 일치(Type compatibility)</vt:lpstr>
      <vt:lpstr>숙제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12</cp:revision>
  <dcterms:created xsi:type="dcterms:W3CDTF">2000-11-03T06:26:37Z</dcterms:created>
  <dcterms:modified xsi:type="dcterms:W3CDTF">2020-04-14T07:45:08Z</dcterms:modified>
</cp:coreProperties>
</file>