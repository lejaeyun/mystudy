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</p:sldIdLst>
  <p:sldSz cx="9144000" cy="6858000" type="screen4x3"/>
  <p:notesSz cx="6858000" cy="9144000"/>
  <p:defaultTextStyle>
    <a:defPPr>
      <a:defRPr lang="ko-KR"/>
    </a:defPPr>
    <a:lvl1pPr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37" autoAdjust="0"/>
    <p:restoredTop sz="90929"/>
  </p:normalViewPr>
  <p:slideViewPr>
    <p:cSldViewPr>
      <p:cViewPr varScale="1">
        <p:scale>
          <a:sx n="112" d="100"/>
          <a:sy n="112" d="100"/>
        </p:scale>
        <p:origin x="486" y="96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6B345182-126B-4239-AF56-19FF1E65F572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문자열 유형을 편집하려면 누르십시오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세째 수준</a:t>
            </a:r>
          </a:p>
          <a:p>
            <a:pPr lvl="3"/>
            <a:r>
              <a:rPr lang="ko-KR" altLang="en-US" smtClean="0"/>
              <a:t>네째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fld id="{6CCC535C-AF73-4903-9266-FC5A1372A267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Polymorphism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F60559-5CEF-4F3E-B4DB-33E01EE69CF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05182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Polymorphism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BC0A6A-BC81-4ABF-9757-E7C46A63B2D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10721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Polymorphism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322496-86E7-4ED6-8200-0AAF0DA77AD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99928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Polymorphism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23F756-5B17-4398-8798-5C7F7E52D2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26755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Polymorphism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4802F0-3FFF-4D9C-9884-2125266A98E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7495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Polymorphism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6C4315-8156-4E0D-ADE7-209F37D199C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6190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Polymorphism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6245F1-3359-4E95-8A90-17667420FD4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7365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Polymorphism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178911-9BE0-4516-A4CB-041EA52F739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25618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Polymorphism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2D9382-D315-49BC-A54F-544F024C90E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237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Polymorphism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85731B-292C-411B-AD8F-1058334F2D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7942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Polymorphism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4E6A5-56F9-426F-9B75-31CBDC7DA64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4373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ko-KR" altLang="ko-KR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altLang="ko-KR"/>
              <a:t>Polymorphism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fld id="{66632724-36AD-407C-8E1A-DD778A573B2A}" type="slidenum">
              <a:rPr lang="en-US" altLang="ko-KR"/>
              <a:pPr/>
              <a:t>‹#›</a:t>
            </a:fld>
            <a:endParaRPr lang="en-US" altLang="ko-KR"/>
          </a:p>
        </p:txBody>
      </p:sp>
      <p:pic>
        <p:nvPicPr>
          <p:cNvPr id="1046" name="Picture 22" descr="Untitled-2 copy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00200"/>
            <a:ext cx="7772400" cy="1143000"/>
          </a:xfrm>
        </p:spPr>
        <p:txBody>
          <a:bodyPr anchor="ctr"/>
          <a:lstStyle/>
          <a:p>
            <a:r>
              <a:rPr lang="en-US" altLang="ko-KR" sz="3600" b="1">
                <a:solidFill>
                  <a:srgbClr val="0000FF"/>
                </a:solidFill>
                <a:latin typeface="Courier New" panose="02070309020205020404" pitchFamily="49" charset="0"/>
              </a:rPr>
              <a:t>Polymorphism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505200"/>
            <a:ext cx="6400800" cy="2438400"/>
          </a:xfrm>
        </p:spPr>
        <p:txBody>
          <a:bodyPr/>
          <a:lstStyle/>
          <a:p>
            <a:r>
              <a:rPr lang="en-US" altLang="ko-KR" sz="1800" b="1">
                <a:solidFill>
                  <a:srgbClr val="000000"/>
                </a:solidFill>
                <a:latin typeface="Courier New" panose="02070309020205020404" pitchFamily="49" charset="0"/>
              </a:rPr>
              <a:t>Programming Language Design and Implementation </a:t>
            </a:r>
          </a:p>
          <a:p>
            <a:r>
              <a:rPr lang="en-US" altLang="ko-KR" sz="1800" b="1">
                <a:solidFill>
                  <a:srgbClr val="000000"/>
                </a:solidFill>
                <a:latin typeface="Courier New" panose="02070309020205020404" pitchFamily="49" charset="0"/>
              </a:rPr>
              <a:t>(4th Edition)</a:t>
            </a:r>
          </a:p>
          <a:p>
            <a:r>
              <a:rPr lang="en-US" altLang="ko-KR" sz="1800" b="1">
                <a:solidFill>
                  <a:srgbClr val="000000"/>
                </a:solidFill>
                <a:latin typeface="Courier New" panose="02070309020205020404" pitchFamily="49" charset="0"/>
              </a:rPr>
              <a:t>by T. Pratt and M. Zelkowitz</a:t>
            </a:r>
          </a:p>
          <a:p>
            <a:r>
              <a:rPr lang="en-US" altLang="ko-KR" sz="1800" b="1">
                <a:solidFill>
                  <a:srgbClr val="000000"/>
                </a:solidFill>
                <a:latin typeface="Courier New" panose="02070309020205020404" pitchFamily="49" charset="0"/>
              </a:rPr>
              <a:t>Prentice Hall, 2001</a:t>
            </a:r>
          </a:p>
          <a:p>
            <a:endParaRPr lang="en-US" altLang="ko-KR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800" b="1">
                <a:solidFill>
                  <a:srgbClr val="000000"/>
                </a:solidFill>
                <a:latin typeface="Courier New" panose="02070309020205020404" pitchFamily="49" charset="0"/>
              </a:rPr>
              <a:t>Section 7.3</a:t>
            </a:r>
            <a:endParaRPr lang="en-US" altLang="ko-K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Polymorphism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59EE6-3648-471D-A179-15118C78765A}" type="slidenum">
              <a:rPr lang="en-US" altLang="ko-KR"/>
              <a:pPr/>
              <a:t>2</a:t>
            </a:fld>
            <a:endParaRPr lang="en-US" altLang="ko-KR"/>
          </a:p>
        </p:txBody>
      </p:sp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Polymorphism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The use of parameters to subprograms is one of the oldest characteristics of programming languages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But they have an l-value. That is, they are a data object that requires storage.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Polymorphism</a:t>
            </a:r>
            <a:r>
              <a:rPr lang="en-US" altLang="ko-KR" sz="1800" b="1">
                <a:latin typeface="Courier New" panose="02070309020205020404" pitchFamily="49" charset="0"/>
              </a:rPr>
              <a:t> means a single operator or subprogram name can to refer to any of a number of function definitions depending on the data types of the arguments and results.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Similar to overloading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It is generally applied to functions where a type is one of the arguments.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Polymorphism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4E8A0-9650-4EF7-A8BC-D69D634D8AB4}" type="slidenum">
              <a:rPr lang="en-US" altLang="ko-KR"/>
              <a:pPr/>
              <a:t>3</a:t>
            </a:fld>
            <a:endParaRPr lang="en-US" altLang="ko-KR"/>
          </a:p>
        </p:txBody>
      </p:sp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9144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Polymorphism in ML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800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reverse([1,2,3]);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val it = [3,2,1]: int list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reverse([1.0, 2.0, 3.0]);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val it = [3.0,2.0,1.0]: real list;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reverse([1,2,3], [4,5,6], [7,8,9]];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val it = [[7,8,9],[4,5,6],[1,2,3]] : int list list;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Arguments to reverse are different list data types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fun identity(x) = x;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fn: 'a -&gt; 'a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identity(1);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val it = 1: int;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identity(1.5);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val it = 1.5: real;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But why is the following not polymorphic (or legal) in ML?</a:t>
            </a:r>
            <a:r>
              <a:rPr lang="en-US" altLang="ko-KR" sz="1800" b="1">
                <a:latin typeface="Courier New" panose="02070309020205020404" pitchFamily="49" charset="0"/>
              </a:rPr>
              <a:t> fun add(x,y) = x+y?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Polymorphism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5F32C-2BF6-4A5F-9CC5-EB1C0DFF51F0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Type inference in ML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343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ML is strongly typed, but if it can infer a type, it does not need an explicit type declaration: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fun add(x:int, y:int):int = x+y;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add is fully qualified. Any one declaration defines the operation.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All are equivalent: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fun add(x:int, y) = x+y;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fun add(x, y:int) = x+y;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fun add(x, y):int = x+y;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But fun add(x, y) = x+y; is ambiguous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At runtime, function is well defined, but ML uses static type inferencing to determine function to invoke before execution.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Polymorphism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79D4-BCED-4F00-99B7-E044D3BC9A76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Type inference examples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772400" cy="3352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ML does not allow automatic coersions between int and real, so what are signatures (if any) to the following?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fun add(x,y) = real(x) + y;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fun thing(x::y) = x+ hd(y);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fun thing(x::y) = truncate(x)+ hd(y);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fun thing(x::y:int list) = x+ hd(y);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Polymorphism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A001-27FA-4300-A220-325D75BA59F7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Polymorphism in arrays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Note: Implementation of arrays differs in most languages: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Pascal - arrays are explicit and bounds are part of type. Not polymorphic.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type matrix10 = array[1..10] of integer;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var x: matrix10;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Ada - polymorphic array bounds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type matrix is array (integer range &lt;&gt;) of integer;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y: matrix(1..30);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 arrays don't really exist - shorthand for pointer variables.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int C[10];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C[5] means *C+5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Polymorphism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9B112-FD71-4717-8B7D-6EB80A57ED16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Create polymorphism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7848600" cy="4419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Can often build parameterized objects for true polymorphism, e.g., stack of objects: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	Y: stack(int, 10)  </a:t>
            </a:r>
            <a:r>
              <a:rPr lang="en-US" altLang="ko-KR" sz="1600" b="1">
                <a:latin typeface="Courier New" panose="02070309020205020404" pitchFamily="49" charset="0"/>
                <a:sym typeface="Symbol" panose="05050102010706020507" pitchFamily="18" charset="2"/>
              </a:rPr>
              <a:t></a:t>
            </a:r>
            <a:r>
              <a:rPr lang="en-US" altLang="ko-KR" sz="1600" b="1">
                <a:latin typeface="Courier New" panose="02070309020205020404" pitchFamily="49" charset="0"/>
              </a:rPr>
              <a:t> up to 10 ints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	Z: stack(float, 20) </a:t>
            </a:r>
            <a:r>
              <a:rPr lang="en-US" altLang="ko-KR" sz="1600" b="1">
                <a:latin typeface="Courier New" panose="02070309020205020404" pitchFamily="49" charset="0"/>
                <a:sym typeface="Symbol" panose="05050102010706020507" pitchFamily="18" charset="2"/>
              </a:rPr>
              <a:t></a:t>
            </a:r>
            <a:r>
              <a:rPr lang="en-US" altLang="ko-KR" sz="1600" b="1">
                <a:latin typeface="Courier New" panose="02070309020205020404" pitchFamily="49" charset="0"/>
              </a:rPr>
              <a:t> up to 20 reals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Can do this in ML and Ada for any data types that don't involve calculations (i.e., only for operations that use pointer manipulation (stacking and unstacking)</a:t>
            </a:r>
          </a:p>
          <a:p>
            <a:pPr>
              <a:lnSpc>
                <a:spcPct val="90000"/>
              </a:lnSpc>
            </a:pPr>
            <a:r>
              <a:rPr lang="en-US" altLang="ko-KR" sz="1600" b="1">
                <a:latin typeface="Courier New" panose="02070309020205020404" pitchFamily="49" charset="0"/>
              </a:rPr>
              <a:t>Why?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Macros can be used to simulate this for languages without polymorphism, e.g. In Pascal: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sum(int,A,B) </a:t>
            </a:r>
            <a:r>
              <a:rPr lang="en-US" altLang="ko-KR" sz="1600" b="1">
                <a:latin typeface="Courier New" panose="02070309020205020404" pitchFamily="49" charset="0"/>
                <a:sym typeface="Symbol" panose="05050102010706020507" pitchFamily="18" charset="2"/>
              </a:rPr>
              <a:t></a:t>
            </a:r>
            <a:r>
              <a:rPr lang="en-US" altLang="ko-KR" sz="1600" b="1">
                <a:latin typeface="Courier New" panose="02070309020205020404" pitchFamily="49" charset="0"/>
              </a:rPr>
              <a:t> can be implemented as a macro with 4 sequences depending upon types of arguments: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	trunc(A)+B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	A+trunc(B)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	A+B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	trunc(A)+trunc(B)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6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Polymorphism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8342E-E0D3-4698-BE60-27E9B9F2F27F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Implementation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For statically typed languages (ML, C++), polymorphism is easy: Keep track of function argument types in symbol table of compiler.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For dynamically typed languages: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Two forms of arguments can be passed to a polymorphic function: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1. An immediate descriptor - when the value to a function is smaller than the size of the fixed field. For example, passing a Boolean, character, or small integer to a function uses less space than the fixed-size object permits. The actual value is placed in the argument location, and the extra bits in the field are used to tell the function what the type actually is.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2. A boxed descriptor occurs in all other cases.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Polymorphism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ABD7-E827-41C6-8E78-19248D68391F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Boxed descriptors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133600"/>
            <a:ext cx="7772400" cy="3581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The argument field will contain a type indicator stating the argument is boxed.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The rest of the field will be the address of the actual object (which will be elsewhere, such as in heap storage).</a:t>
            </a:r>
          </a:p>
          <a:p>
            <a:endParaRPr lang="en-US" altLang="ko-KR" sz="1800" b="1">
              <a:latin typeface="Courier New" panose="02070309020205020404" pitchFamily="49" charset="0"/>
            </a:endParaRPr>
          </a:p>
          <a:p>
            <a:r>
              <a:rPr lang="en-US" altLang="ko-KR" sz="1800" b="1">
                <a:latin typeface="Courier New" panose="02070309020205020404" pitchFamily="49" charset="0"/>
              </a:rPr>
              <a:t>At this address, the complete type information will be given, such as giving the entire structure of the composite data object.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Polymorphism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041D-E843-4604-A116-DBFA1CDF3CC4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Example of dynamic polymorphism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495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Assume argument descriptor field is 5 bytes.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Byte 1 is a data type indicator and Bytes 2 to 5 are the data.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The following arguments can be passed to a polymorphic function: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1. 32-bit Integer data. Byte 1=0 signifying integer, bytes 2 to 5 are the 32-bit integer value.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2. 8-bit character data. Byte 1=1 signifying character, byte 2= actual character argument, bytes 3 to 5 unused.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3. 1-bit Boolean data. Byte 1=2 and byte 2= 0 or 1.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4. Complex record structure. Byte 1=3 and bytes 2 to 5 are pointer to structure. The r-value at this pointer address contains more information about the actual argument.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26" name="Picture 2" descr="virtu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0"/>
            <a:ext cx="6781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Office\Templates\디자인\금동미륵보살.pot</Template>
  <TotalTime>3199</TotalTime>
  <Words>973</Words>
  <Application>Microsoft Office PowerPoint</Application>
  <PresentationFormat>화면 슬라이드 쇼(4:3)</PresentationFormat>
  <Paragraphs>114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굴림</vt:lpstr>
      <vt:lpstr>Times New Roman</vt:lpstr>
      <vt:lpstr>Wingdings</vt:lpstr>
      <vt:lpstr>Courier New</vt:lpstr>
      <vt:lpstr>Symbol</vt:lpstr>
      <vt:lpstr>기본 디자인</vt:lpstr>
      <vt:lpstr>Polymorphism</vt:lpstr>
      <vt:lpstr>Polymorphism</vt:lpstr>
      <vt:lpstr>Polymorphism in ML</vt:lpstr>
      <vt:lpstr>Type inference in ML</vt:lpstr>
      <vt:lpstr>Type inference examples</vt:lpstr>
      <vt:lpstr>Polymorphism in arrays</vt:lpstr>
      <vt:lpstr>Create polymorphism</vt:lpstr>
      <vt:lpstr>Implementation</vt:lpstr>
      <vt:lpstr>Boxed descriptors</vt:lpstr>
      <vt:lpstr>Example of dynamic polymorphism</vt:lpstr>
      <vt:lpstr>PowerPoint 프레젠테이션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5</cp:revision>
  <dcterms:created xsi:type="dcterms:W3CDTF">2000-11-03T06:26:37Z</dcterms:created>
  <dcterms:modified xsi:type="dcterms:W3CDTF">2020-05-25T08:34:15Z</dcterms:modified>
</cp:coreProperties>
</file>