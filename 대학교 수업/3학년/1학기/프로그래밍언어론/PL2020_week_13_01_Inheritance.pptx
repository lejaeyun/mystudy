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864EDFA1-308F-4757-9A69-F42ED3FCA3BA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0E7210DD-DE92-4BBD-8E76-AC36226DB39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933165-BD1E-43DD-AEE6-1A9B218978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297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6B5E83-86D9-44CB-BE18-C1760360D29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3878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6A582C-6826-4C66-9C3F-37C70A41F81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5732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4D5A71-C5E4-46EE-839A-56F03CCE520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897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CFB4F1-8261-4DEC-BFF1-4A1002B367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7125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1C3ED5-E4EE-4F85-9F29-44704CFC454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490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28A914-7777-40F7-A5AE-F47F662BA25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6959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291F8-3BBB-4F9B-AFEA-2BFA4DC358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2113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C5A2D-0E40-4C4A-ACED-5E10E7424CF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8796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4A539D-B593-4D71-88CD-F851ABE4899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0449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D1DB54-76C2-4CB2-BDB8-AD5FFB47384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935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US" altLang="ko-KR"/>
              <a:t>Inheritance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257ED4D3-76D3-4BB8-8AA3-40FCCA834333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Untitled-2 copy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143000"/>
          </a:xfrm>
        </p:spPr>
        <p:txBody>
          <a:bodyPr anchor="ctr"/>
          <a:lstStyle/>
          <a:p>
            <a:r>
              <a:rPr lang="en-US" altLang="ko-KR" sz="3600" b="1">
                <a:solidFill>
                  <a:srgbClr val="0000FF"/>
                </a:solidFill>
                <a:latin typeface="Courier New" panose="02070309020205020404" pitchFamily="49" charset="0"/>
              </a:rPr>
              <a:t>Inheritance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5200"/>
            <a:ext cx="6400800" cy="2133600"/>
          </a:xfrm>
        </p:spPr>
        <p:txBody>
          <a:bodyPr/>
          <a:lstStyle/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Programming Language Design and Implementation 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(4th Edition)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by T. Pratt and M. Zelkowitz</a:t>
            </a: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Prentice Hall, 2001</a:t>
            </a:r>
          </a:p>
          <a:p>
            <a:endParaRPr lang="en-US" altLang="ko-KR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ko-KR" sz="1800" b="1">
                <a:solidFill>
                  <a:srgbClr val="000000"/>
                </a:solidFill>
                <a:latin typeface="Courier New" panose="02070309020205020404" pitchFamily="49" charset="0"/>
              </a:rPr>
              <a:t>Section 7.1-7.2</a:t>
            </a:r>
          </a:p>
          <a:p>
            <a:endParaRPr lang="en-US" altLang="ko-K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6D6D5-2163-4C90-95E1-FB0F0D399EB4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Encapsulated data types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7772400" cy="4800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Remember from previously: An ADT with: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Type with set of values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Set of operations with signatures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Representation</a:t>
            </a:r>
            <a:r>
              <a:rPr lang="en-US" altLang="ko-KR" sz="1800" b="1">
                <a:latin typeface="Courier New" panose="02070309020205020404" pitchFamily="49" charset="0"/>
              </a:rPr>
              <a:t> - component structure of data type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Only the type name and operations are visible outside of the defining object.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Example</a:t>
            </a:r>
            <a:r>
              <a:rPr lang="en-US" altLang="ko-KR" sz="1800" b="1">
                <a:latin typeface="Courier New" panose="02070309020205020404" pitchFamily="49" charset="0"/>
              </a:rPr>
              <a:t>: StudentRecord is type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Externally visible: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void SetName(StudentRecord, Name)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name GetName(StudentRecord)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Internal to module: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char Name[20];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float GPA;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char Address[50];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CourseType Schedule[10];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198660" name="Picture 4" descr="C:\documents\pratt\330-jpg\038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953000"/>
            <a:ext cx="3733800" cy="1295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F284D-40F0-4A9D-9F85-C3C8813BFF03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Implementation of encapsulation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772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Usual Implementation </a:t>
            </a:r>
            <a:r>
              <a:rPr lang="en-US" altLang="ko-KR" sz="1600" b="1">
                <a:latin typeface="Courier New" panose="02070309020205020404" pitchFamily="49" charset="0"/>
              </a:rPr>
              <a:t>in Ada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package RationalNumber is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type rational is record 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</a:rPr>
              <a:t>-- User defined type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num, den: integer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end record;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procedure mult(x in rational;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</a:rPr>
              <a:t>-- Abstract operation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y in rational; z out rational);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end package;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package body RationalNumber is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</a:rPr>
              <a:t>-- Encapsulation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procedure mult(x in rational;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y in rational; z out rational)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begin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z.num := x.num * y.num;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z.den := x.den * y.den;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end package;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8A6FE-7DBA-4CD1-8FCF-7D3C9BF40BC1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Use of encapsulated data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Usual use of encapsulated RationalNumber: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Example: In main procedure do: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var A, B, C: rational;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A.num := 7; 		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 Should be illegal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A.den := 1;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Mult(A, B, C);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No enforcement of encapsulation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Any procedure has access to components of type rational. Can manipulate A.num and A.den without using procedures in package RationalNumber.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Let's look at alternative model to enforce encapsulation.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C121-D1DD-486D-89F0-798D9D9600ED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Private types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package RationalNumber is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type rational is private;  -- User defined type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procedure mult(x in rational; -- Abstract operation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y in rational; z out rational);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private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type rational is record  -- User defined type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num, den: integer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end record;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 package;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package body RationalNumber is -- Same as before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procedure mult(x in rational;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y in rational; z out rational)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begin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z.num := x.num * y.num;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z.den := x.den * y.den;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end;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 package;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DF37E-FB07-4903-90D5-0F901547E186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Private types add protection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now: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var A: rational;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A.num := 7; -- Now illegal. Private blocks use of num and den outside of package RationalNumber.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is role of private? 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Any declarations in private part is not visible outside of package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is difference in semantics of rational?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is difference in implementation of rational?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This solution encapsulates and hides implementation details of rational.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F902BC-857C-493B-B665-F31D6B5FDB0F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C++ RationalNumber example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8077200" cy="434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C++ creates objects of a user defined class.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Data storage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Set of operations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Type rational can be specified in C++ as: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rational{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public: void mult( rational x; rational y)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{ num = x.num * y.num;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den = x.den * y.den;}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protected: int num; int den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rational A, B, C;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A.mult(B,C) 		 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 invoke encapsulated function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A.num = B.num * C.num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 Illegal. No access to num and den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0066FF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B5B54-A08B-4FCC-AF1C-054ACCB34196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Storage for C++ classes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486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Visibility of objects: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public: globally known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private: locally known only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protected -- provides for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inheritance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204804" name="Picture 4" descr="C:\documents\pratt\330-jpg\039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7696200" cy="16271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D7736-7E4F-41B2-8C45-672F96ADA184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Inheritance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848600" cy="4724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Inheritance provides for passing information from one data object to another automatically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It provides a form of data scope similar to syntactic scope.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Inheritance through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data in object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oriented languages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is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explicit</a:t>
            </a:r>
            <a:r>
              <a:rPr lang="en-US" altLang="ko-KR" sz="1800" b="1">
                <a:latin typeface="Courier New" panose="02070309020205020404" pitchFamily="49" charset="0"/>
              </a:rPr>
              <a:t> through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derived types.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Static scope (above)  -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Names are known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implicitly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through nested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			procedure names</a:t>
            </a:r>
          </a:p>
        </p:txBody>
      </p:sp>
      <p:pic>
        <p:nvPicPr>
          <p:cNvPr id="205828" name="Picture 4" descr="C:\documents\pratt\330-jpg\039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667000"/>
            <a:ext cx="4572000" cy="245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30CA0-8FEF-49A7-89E3-0F8D7188F188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C++ derived classes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Consider C++ class rational discussed earlier</a:t>
            </a:r>
            <a:r>
              <a:rPr lang="en-US" altLang="ko-KR" sz="1800" b="1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complex: rational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public: void mult( complex x; complex y);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{ realpt.mult(x.realpt,y.realpt)-imagpt.mult(x.imagpt,y.imagpt) ...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void initial(complex x) {x.realpt.num = 0;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  x.realpt.den = 1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// complex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inherits</a:t>
            </a:r>
            <a:r>
              <a:rPr lang="en-US" altLang="ko-KR" sz="1800" b="1">
                <a:latin typeface="Courier New" panose="02070309020205020404" pitchFamily="49" charset="0"/>
              </a:rPr>
              <a:t> rational components.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private: rational realpt;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rational imagpt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. . 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complex M, N, P;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M.mult(N,P)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7F4D6-E8B8-41FB-A12D-2314D333DFD9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Power of inheritance</a:t>
            </a:r>
          </a:p>
        </p:txBody>
      </p:sp>
      <p:sp>
        <p:nvSpPr>
          <p:cNvPr id="20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rational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public: mult( ...)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protected: error( ...) { ... } ...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private: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complex:rational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public: mult( ...)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private: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complex 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Function </a:t>
            </a:r>
            <a:r>
              <a:rPr lang="en-US" altLang="ko-KR" sz="1800" b="1" i="1">
                <a:latin typeface="Courier New" panose="02070309020205020404" pitchFamily="49" charset="0"/>
              </a:rPr>
              <a:t>error</a:t>
            </a:r>
            <a:r>
              <a:rPr lang="en-US" altLang="ko-KR" sz="1800" b="1">
                <a:latin typeface="Courier New" panose="02070309020205020404" pitchFamily="49" charset="0"/>
              </a:rPr>
              <a:t> is passed (inherited) to class complex, so X.error is a valid function call. Any derived class can invoke error and a legal function will be executed.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what if we want error to print out the type of its argument? (i.e., want to know if error occurred in a rational or complex data?)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7873B-17E1-474F-B035-890939636E3D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Power of inheritance (continued)</a:t>
            </a:r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Inheritance is normally a static property: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Function </a:t>
            </a:r>
            <a:r>
              <a:rPr lang="en-US" altLang="ko-KR" sz="1800" b="1" i="1">
                <a:latin typeface="Courier New" panose="02070309020205020404" pitchFamily="49" charset="0"/>
              </a:rPr>
              <a:t>error</a:t>
            </a:r>
            <a:r>
              <a:rPr lang="en-US" altLang="ko-KR" sz="1800" b="1">
                <a:latin typeface="Courier New" panose="02070309020205020404" pitchFamily="49" charset="0"/>
              </a:rPr>
              <a:t> in class complex is known by compiler to be within class rational.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x.error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800" b="1">
                <a:latin typeface="Courier New" panose="02070309020205020404" pitchFamily="49" charset="0"/>
              </a:rPr>
              <a:t>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compiler knows where the error function is.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solidFill>
                <a:srgbClr val="0066FF"/>
              </a:solidFill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So how can rational::error know where it was invoked,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as either rational::error or complex::error?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One way -  Use function argument: error('rational') or error('complex')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Alternative: Use of virtual functions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A9B21-7258-4DBE-80DB-C40CEE969CCB}" type="slidenum">
              <a:rPr lang="en-US" altLang="ko-KR"/>
              <a:pPr/>
              <a:t>13</a:t>
            </a:fld>
            <a:endParaRPr lang="en-US" altLang="ko-KR"/>
          </a:p>
        </p:txBody>
      </p:sp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Virtual functions</a:t>
            </a:r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Base class: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class rational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error() { cout &lt;&lt; name() &lt;&lt; endl;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string name() { return “Rational”;}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Derived class: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class complex: rational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string name() { return “Complex”;}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But if </a:t>
            </a:r>
            <a:r>
              <a:rPr lang="en-US" altLang="ko-KR" sz="1600" b="1" i="1">
                <a:latin typeface="Courier New" panose="02070309020205020404" pitchFamily="49" charset="0"/>
              </a:rPr>
              <a:t>error</a:t>
            </a:r>
            <a:r>
              <a:rPr lang="en-US" altLang="ko-KR" sz="1600" b="1">
                <a:latin typeface="Courier New" panose="02070309020205020404" pitchFamily="49" charset="0"/>
              </a:rPr>
              <a:t> is called,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Rational</a:t>
            </a:r>
            <a:r>
              <a:rPr lang="en-US" altLang="ko-KR" sz="1600" b="1">
                <a:latin typeface="Courier New" panose="02070309020205020404" pitchFamily="49" charset="0"/>
              </a:rPr>
              <a:t> is always printed since the call rational::name is compiled into class rational for the call in the error function.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But if </a:t>
            </a:r>
            <a:r>
              <a:rPr lang="en-US" altLang="ko-KR" sz="1600" b="1" i="1">
                <a:latin typeface="Courier New" panose="02070309020205020404" pitchFamily="49" charset="0"/>
              </a:rPr>
              <a:t>name</a:t>
            </a:r>
            <a:r>
              <a:rPr lang="en-US" altLang="ko-KR" sz="1600" b="1">
                <a:latin typeface="Courier New" panose="02070309020205020404" pitchFamily="49" charset="0"/>
              </a:rPr>
              <a:t> is defined as: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virtual string name() { return “Rational”;}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then name() is defined as a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virtual function</a:t>
            </a:r>
            <a:r>
              <a:rPr lang="en-US" altLang="ko-KR" sz="1600" b="1">
                <a:latin typeface="Courier New" panose="02070309020205020404" pitchFamily="49" charset="0"/>
              </a:rPr>
              <a:t> and the function </a:t>
            </a:r>
            <a:r>
              <a:rPr lang="en-US" altLang="ko-KR" sz="1600" b="1" i="1">
                <a:latin typeface="Courier New" panose="02070309020205020404" pitchFamily="49" charset="0"/>
              </a:rPr>
              <a:t>name</a:t>
            </a:r>
            <a:r>
              <a:rPr lang="en-US" altLang="ko-KR" sz="1600" b="1">
                <a:latin typeface="Courier New" panose="02070309020205020404" pitchFamily="49" charset="0"/>
              </a:rPr>
              <a:t> in the current object is invoked when name() is called in rational::error.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D2558-4D97-4896-95FA-A7D60DB5484B}" type="slidenum">
              <a:rPr lang="en-US" altLang="ko-KR"/>
              <a:pPr/>
              <a:t>14</a:t>
            </a:fld>
            <a:endParaRPr lang="en-US" altLang="ko-KR"/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Implementing virtual functions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267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Virtual functions imply a runtime descriptor with a location of object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rational A;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complex B;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A.error()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 error will call name() in rational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B.error() 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 error will call name() in complex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210948" name="Picture 4" descr="C:\documents\pratt\330-jpg\039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67000"/>
            <a:ext cx="7848600" cy="2209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6C271-3488-4705-95D4-D55FDEC12BCC}" type="slidenum">
              <a:rPr lang="en-US" altLang="ko-KR"/>
              <a:pPr/>
              <a:t>15</a:t>
            </a:fld>
            <a:endParaRPr lang="en-US" altLang="ko-KR"/>
          </a:p>
        </p:txBody>
      </p:sp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Example of Dynamic Binding</a:t>
            </a:r>
            <a:endParaRPr lang="en-US" altLang="ko-KR" sz="2400" b="1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shape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public: virtual void area() = 0;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…}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triangle: shape{area() {…}}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square: shape{	area() {…}}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circle: shape{	area() {…}}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void foo(shape polygon){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…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data = polygon.area;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…}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What implementation of area is actually called?</a:t>
            </a:r>
            <a:endParaRPr lang="en-US" altLang="ko-KR" sz="1800" b="1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F8F57-AC7D-44BB-A401-46539FB64F1E}" type="slidenum">
              <a:rPr lang="en-US" altLang="ko-KR"/>
              <a:pPr/>
              <a:t>16</a:t>
            </a:fld>
            <a:endParaRPr lang="en-US" altLang="ko-KR"/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Additional C++ inheritance attributes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8077200" cy="4191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Problem</a:t>
            </a:r>
            <a:r>
              <a:rPr lang="en-US" altLang="ko-KR" sz="1800" b="1">
                <a:latin typeface="Courier New" panose="02070309020205020404" pitchFamily="49" charset="0"/>
              </a:rPr>
              <a:t>: Want to access data from the class object.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That is, in rational::error, print values for num and den of each component of class object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Can use additional virtual functions</a:t>
            </a:r>
          </a:p>
          <a:p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this</a:t>
            </a:r>
            <a:r>
              <a:rPr lang="en-US" altLang="ko-KR" sz="1800" b="1">
                <a:latin typeface="Courier New" panose="02070309020205020404" pitchFamily="49" charset="0"/>
              </a:rPr>
              <a:t> pointers: *this.counter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Accesses counter object in actual object passed to error.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r>
              <a:rPr lang="en-US" altLang="ko-KR" sz="1800" b="1">
                <a:latin typeface="Courier New" panose="02070309020205020404" pitchFamily="49" charset="0"/>
              </a:rPr>
              <a:t>A.error(string X) compiled as: rational::error(&amp;A, 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That is, passes class object A as well as string X.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1745-B41F-4D8C-B5E2-DED06DB90AF8}" type="slidenum">
              <a:rPr lang="en-US" altLang="ko-KR"/>
              <a:pPr/>
              <a:t>17</a:t>
            </a:fld>
            <a:endParaRPr lang="en-US" altLang="ko-KR"/>
          </a:p>
        </p:txBody>
      </p:sp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Friend classes</a:t>
            </a:r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Friend classes: Strict inheritance sometimes difficult to do (i.e., Too hard to do it right so find a way around it!)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class thing { ...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MyFcn(complex A) { ... A.realpt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But A.realpt is private data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Fudge solution by adding: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friend class thing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in complex class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Allows thing access to hidden components and avoid strict inheritance hierarchy of C++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0066FF"/>
                </a:solidFill>
                <a:latin typeface="Courier New" panose="02070309020205020404" pitchFamily="49" charset="0"/>
              </a:rPr>
              <a:t>Studies have shown this is most error prone feature of C++; redesign class hierarchy instead.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66820-B784-468B-BCD7-6BCBDFC44123}" type="slidenum">
              <a:rPr lang="en-US" altLang="ko-KR"/>
              <a:pPr/>
              <a:t>18</a:t>
            </a:fld>
            <a:endParaRPr lang="en-US" altLang="ko-KR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Mixin inheritance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Assume want to add feature X to both class A and B: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Usual way is to redefine both classes.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Mixin inheritance</a:t>
            </a:r>
            <a:r>
              <a:rPr lang="en-US" altLang="ko-KR" sz="1600" b="1">
                <a:latin typeface="Courier New" panose="02070309020205020404" pitchFamily="49" charset="0"/>
              </a:rPr>
              <a:t>: Have definition which is addition to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base class (Not part of C++)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For example, the following is possible syntax: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featureX mixin {int valcounter}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</a:rPr>
              <a:t>Add field to object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newclassA class A mod featureX;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newclassB class B mod featureX;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Can get similar effect with multiple inheritance: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class newclassA:A,featureX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class newclassB:B,featureX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  <p:pic>
        <p:nvPicPr>
          <p:cNvPr id="215044" name="Picture 4" descr="C:\documents\pratt\330-jpg\04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6629400" cy="12192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281C5-DED1-44BB-8196-C3EAA2306575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Inheritance principles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1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. Specialization</a:t>
            </a:r>
            <a:r>
              <a:rPr lang="en-US" altLang="ko-KR" sz="1600" b="1">
                <a:latin typeface="Courier New" panose="02070309020205020404" pitchFamily="49" charset="0"/>
              </a:rPr>
              <a:t>: Usual form of inheritance: Checking inherits properties of Account.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Opposite is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generalization</a:t>
            </a:r>
            <a:r>
              <a:rPr lang="en-US" altLang="ko-KR" sz="1600" b="1">
                <a:latin typeface="Courier New" panose="02070309020205020404" pitchFamily="49" charset="0"/>
              </a:rPr>
              <a:t>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Account is more general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than Checking.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2.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Decomposition</a:t>
            </a:r>
            <a:r>
              <a:rPr lang="en-US" altLang="ko-KR" sz="1600" b="1">
                <a:latin typeface="Courier New" panose="02070309020205020404" pitchFamily="49" charset="0"/>
              </a:rPr>
              <a:t>: Breaking an encapsulated object into parts. A rational object is a num and a den.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Opposite concept is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aggregation</a:t>
            </a:r>
            <a:r>
              <a:rPr lang="en-US" altLang="ko-KR" sz="1600" b="1"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3.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Instantiation</a:t>
            </a:r>
            <a:r>
              <a:rPr lang="en-US" altLang="ko-KR" sz="1600" b="1">
                <a:latin typeface="Courier New" panose="02070309020205020404" pitchFamily="49" charset="0"/>
              </a:rPr>
              <a:t>: Creation of instances of an object: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rational A, B, C;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</a:t>
            </a:r>
            <a:r>
              <a:rPr lang="en-US" altLang="ko-KR" sz="1600" b="1">
                <a:latin typeface="Courier New" panose="02070309020205020404" pitchFamily="49" charset="0"/>
              </a:rPr>
              <a:t> </a:t>
            </a:r>
            <a:r>
              <a:rPr lang="en-US" altLang="ko-KR" sz="1600" b="1">
                <a:solidFill>
                  <a:srgbClr val="0066FF"/>
                </a:solidFill>
                <a:latin typeface="Courier New" panose="02070309020205020404" pitchFamily="49" charset="0"/>
              </a:rPr>
              <a:t>Represents 3 instantiations of object rational.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4.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Individualization</a:t>
            </a:r>
            <a:r>
              <a:rPr lang="en-US" altLang="ko-KR" sz="1600" b="1">
                <a:latin typeface="Courier New" panose="02070309020205020404" pitchFamily="49" charset="0"/>
              </a:rPr>
              <a:t>: Related to specialization.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Separate objects by function, not structure. A stack and a set can both be an array and and an index pointer, but functionality different.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Opposite is </a:t>
            </a: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grouping.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</p:txBody>
      </p:sp>
      <p:pic>
        <p:nvPicPr>
          <p:cNvPr id="216068" name="Picture 4" descr="C:\documents\pratt\330-jpg\040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057400"/>
            <a:ext cx="2743200" cy="1143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F2824-A531-443A-B4C0-EAFB622DB7FF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Overloading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Two operators with the same name but different signatures are said to be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overloaded</a:t>
            </a:r>
            <a:r>
              <a:rPr lang="en-US" altLang="ko-KR" sz="1800" b="1">
                <a:latin typeface="Courier New" panose="020703090202050204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Older languages allowed overloading on built-in functions, e.g.,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real+real</a:t>
            </a:r>
            <a:r>
              <a:rPr lang="en-US" altLang="ko-KR" sz="1800" b="1">
                <a:latin typeface="Courier New" panose="02070309020205020404" pitchFamily="49" charset="0"/>
              </a:rPr>
              <a:t> is different from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integer+integer</a:t>
            </a:r>
            <a:r>
              <a:rPr lang="en-US" altLang="ko-KR" sz="1800" b="1">
                <a:latin typeface="Courier New" panose="02070309020205020404" pitchFamily="49" charset="0"/>
              </a:rPr>
              <a:t> is different from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integer+real</a:t>
            </a:r>
            <a:r>
              <a:rPr lang="en-US" altLang="ko-KR" sz="1800" b="1">
                <a:latin typeface="Courier New" panose="02070309020205020404" pitchFamily="49" charset="0"/>
              </a:rPr>
              <a:t> is different from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real+integer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C++ overloading;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cout &lt;&lt; 123 - the &lt;&lt; operator is given arguments cout and 123.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cout &lt;&lt; ``abc'' - the &lt;&lt; operator is given arguments cout and ``abc''.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E700A-A849-4E4B-8160-5382242EE708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Overloading (continued)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Non-primitive overloading: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myfunction (int a, int b)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myfunction (int a)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Each signature differs, so a different function is called.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Note that this is a static property determined by the compiler.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about the following: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myfunction (int a, int b=7)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myfunction (char a) { ... 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myfunction(3)?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myfunction('a')?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Inheritance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7E0B7-6E09-42EF-9403-76DE4EFC69B2}" type="slidenum">
              <a:rPr lang="en-US" altLang="ko-KR"/>
              <a:pPr/>
              <a:t>22</a:t>
            </a:fld>
            <a:endParaRPr lang="en-US" altLang="ko-KR"/>
          </a:p>
        </p:txBody>
      </p:sp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0"/>
            <a:ext cx="7772400" cy="11430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Overload resolution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In C++: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Given X(args) {...}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Given X(args) {...}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1. If signatures match exactly, second is a redeclaration of the first.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2. If the arguments match exactly, but the return types do not, the second is an error.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3. If the arguments do not match exactly, the second is an overloaded definition.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Related concepts</a:t>
            </a:r>
            <a:r>
              <a:rPr lang="en-US" altLang="ko-KR" sz="1600" b="1">
                <a:latin typeface="Courier New" panose="02070309020205020404" pitchFamily="49" charset="0"/>
              </a:rPr>
              <a:t>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Coercion</a:t>
            </a:r>
            <a:r>
              <a:rPr lang="en-US" altLang="ko-KR" sz="1600" b="1">
                <a:latin typeface="Courier New" panose="02070309020205020404" pitchFamily="49" charset="0"/>
              </a:rPr>
              <a:t>: Often implemented as part of built-in overloaded operators (already discussed)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Polymorphism</a:t>
            </a:r>
            <a:r>
              <a:rPr lang="en-US" altLang="ko-KR" sz="1600" b="1">
                <a:latin typeface="Courier New" panose="02070309020205020404" pitchFamily="49" charset="0"/>
              </a:rPr>
              <a:t>: Types are defined by a parameterized argument. (e.g., type mystring = string(N: integer);)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proc MyFunction(X: mystring(N)) {...}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call Myfunction(Mydata(17));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We will discuss polymorphism in more detail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3215</TotalTime>
  <Words>1850</Words>
  <Application>Microsoft Office PowerPoint</Application>
  <PresentationFormat>화면 슬라이드 쇼(4:3)</PresentationFormat>
  <Paragraphs>338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굴림</vt:lpstr>
      <vt:lpstr>Times New Roman</vt:lpstr>
      <vt:lpstr>Wingdings</vt:lpstr>
      <vt:lpstr>Courier New</vt:lpstr>
      <vt:lpstr>Symbol</vt:lpstr>
      <vt:lpstr>기본 디자인</vt:lpstr>
      <vt:lpstr>Inheritance</vt:lpstr>
      <vt:lpstr>Encapsulated data types</vt:lpstr>
      <vt:lpstr>Implementation of encapsulation</vt:lpstr>
      <vt:lpstr>Use of encapsulated data</vt:lpstr>
      <vt:lpstr>Private types</vt:lpstr>
      <vt:lpstr>Private types add protection</vt:lpstr>
      <vt:lpstr>C++ RationalNumber example</vt:lpstr>
      <vt:lpstr>Storage for C++ classes</vt:lpstr>
      <vt:lpstr>Inheritance</vt:lpstr>
      <vt:lpstr>C++ derived classes</vt:lpstr>
      <vt:lpstr>Power of inheritance</vt:lpstr>
      <vt:lpstr>Power of inheritance (continued)</vt:lpstr>
      <vt:lpstr>Virtual functions</vt:lpstr>
      <vt:lpstr>Implementing virtual functions</vt:lpstr>
      <vt:lpstr>Example of Dynamic Binding</vt:lpstr>
      <vt:lpstr>Additional C++ inheritance attributes</vt:lpstr>
      <vt:lpstr>Friend classes</vt:lpstr>
      <vt:lpstr>Mixin inheritance</vt:lpstr>
      <vt:lpstr>Inheritance principles</vt:lpstr>
      <vt:lpstr>Overloading</vt:lpstr>
      <vt:lpstr>Overloading (continued)</vt:lpstr>
      <vt:lpstr>Overload resolution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5</cp:revision>
  <dcterms:created xsi:type="dcterms:W3CDTF">2000-11-03T06:26:37Z</dcterms:created>
  <dcterms:modified xsi:type="dcterms:W3CDTF">2020-05-25T08:33:09Z</dcterms:modified>
</cp:coreProperties>
</file>