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ko-KR"/>
    </a:defPPr>
    <a:lvl1pPr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1pPr>
    <a:lvl2pPr marL="4572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2pPr>
    <a:lvl3pPr marL="9144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3pPr>
    <a:lvl4pPr marL="13716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4pPr>
    <a:lvl5pPr marL="18288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바탕" panose="02030600000101010101" pitchFamily="18" charset="-127"/>
        <a:ea typeface="바탕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344" y="96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5" d="100"/>
          <a:sy n="95" d="100"/>
        </p:scale>
        <p:origin x="-196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8EEB17A2-A1E2-48EB-A43D-E08C7715D005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30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문자열 유형을 편집하려면 누르십시오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세째 수준</a:t>
            </a:r>
          </a:p>
          <a:p>
            <a:pPr lvl="3"/>
            <a:r>
              <a:rPr lang="ko-KR" altLang="en-US" smtClean="0"/>
              <a:t>네째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</a:lstStyle>
          <a:p>
            <a:fld id="{FDC2F921-9326-4ED7-856E-E103F1DD093A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F7A018-748B-4E65-9064-6093BCDF5BDC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2078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364F6A-D4D8-4DE5-A6B3-FBF9E7DC7576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2099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1B4F6E-558F-4BEB-B474-8EB8C1556735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2119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4ABC28-5464-4F76-B2DA-3E704324708B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2140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3361A5-1D9F-45A4-BD75-F7C92C4E71D7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2160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9D123F-9041-43F5-8FE2-0D62EF56C5D9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21811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90F00A-624C-4AF7-BDEC-DF751A9904D9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22016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695465-D382-48BA-BEA5-E98EDCD5DFC3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22221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2738C3-8065-4D1B-8EC8-391EDFA49B11}" type="slidenum">
              <a:rPr lang="en-US" altLang="ko-KR"/>
              <a:pPr/>
              <a:t>13</a:t>
            </a:fld>
            <a:endParaRPr lang="en-US" altLang="ko-KR"/>
          </a:p>
        </p:txBody>
      </p:sp>
      <p:sp>
        <p:nvSpPr>
          <p:cNvPr id="22425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BC3083-FDAE-44FB-8F08-2B590E72768D}" type="slidenum">
              <a:rPr lang="en-US" altLang="ko-KR"/>
              <a:pPr/>
              <a:t>14</a:t>
            </a:fld>
            <a:endParaRPr lang="en-US" altLang="ko-KR"/>
          </a:p>
        </p:txBody>
      </p:sp>
      <p:sp>
        <p:nvSpPr>
          <p:cNvPr id="2263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FDFD0A-0D8D-4A2C-BF40-CF166E9B5C2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60948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5A6C04-CACD-4633-BFD2-E6377667B55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4793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D8AA0D-D9CA-4821-8175-2559DD357F3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2564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78D842-399F-4661-B702-5258F0ADC01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1895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F1B736-34D3-4E3C-8767-AAAD142E328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24502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D7373-22EE-4B15-987D-26367D8AEB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4782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BC8E73-F17E-41E5-871D-227FC0D31DE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74602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F7624E-1B2B-47F5-99C5-55EC190841D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08092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226A31-9660-49FD-BD28-DCC67B2A78E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64937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E9682F-F400-4961-8859-21FFD50E9C9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7153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978BDA-A03B-416A-8D34-BBC881BFD92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16261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ko-KR" altLang="ko-KR">
              <a:solidFill>
                <a:schemeClr val="hlink"/>
              </a:solidFill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  <a:ea typeface="+mn-ea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fld id="{4E361B73-057D-49CF-8F9D-27AAE0C25D6D}" type="slidenum">
              <a:rPr lang="en-US" altLang="ko-KR"/>
              <a:pPr/>
              <a:t>‹#›</a:t>
            </a:fld>
            <a:endParaRPr lang="en-US" altLang="ko-KR"/>
          </a:p>
        </p:txBody>
      </p:sp>
      <p:pic>
        <p:nvPicPr>
          <p:cNvPr id="1046" name="Picture 22" descr="Untitled-2 copy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28800"/>
            <a:ext cx="7772400" cy="1143000"/>
          </a:xfrm>
        </p:spPr>
        <p:txBody>
          <a:bodyPr anchor="ctr"/>
          <a:lstStyle/>
          <a:p>
            <a:r>
              <a:rPr lang="en-US" altLang="ko-KR" sz="2800" b="1">
                <a:solidFill>
                  <a:srgbClr val="0000FF"/>
                </a:solidFill>
              </a:rPr>
              <a:t>Recursive descent parsing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429000"/>
            <a:ext cx="6400800" cy="2286000"/>
          </a:xfrm>
        </p:spPr>
        <p:txBody>
          <a:bodyPr/>
          <a:lstStyle/>
          <a:p>
            <a:r>
              <a:rPr lang="en-US" altLang="ko-KR" sz="1800" b="1">
                <a:solidFill>
                  <a:srgbClr val="000000"/>
                </a:solidFill>
              </a:rPr>
              <a:t>Programming Language Design and Implementation (4th Edition)</a:t>
            </a:r>
          </a:p>
          <a:p>
            <a:r>
              <a:rPr lang="en-US" altLang="ko-KR" sz="1800" b="1">
                <a:solidFill>
                  <a:srgbClr val="000000"/>
                </a:solidFill>
              </a:rPr>
              <a:t>by T. Pratt and M. Zelkowitz</a:t>
            </a:r>
          </a:p>
          <a:p>
            <a:r>
              <a:rPr lang="en-US" altLang="ko-KR" sz="1800" b="1">
                <a:solidFill>
                  <a:srgbClr val="000000"/>
                </a:solidFill>
              </a:rPr>
              <a:t>Prentice Hall, 2001</a:t>
            </a:r>
          </a:p>
          <a:p>
            <a:endParaRPr lang="en-US" altLang="ko-KR" sz="1800" b="1">
              <a:solidFill>
                <a:srgbClr val="000000"/>
              </a:solidFill>
            </a:endParaRPr>
          </a:p>
          <a:p>
            <a:r>
              <a:rPr lang="en-US" altLang="ko-KR" sz="1800" b="1">
                <a:solidFill>
                  <a:srgbClr val="000000"/>
                </a:solidFill>
              </a:rPr>
              <a:t>Section 3.4</a:t>
            </a:r>
            <a:endParaRPr lang="en-US" altLang="ko-K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DD00C-0462-41E1-A168-CE0284B30B74}" type="slidenum">
              <a:rPr lang="en-US" altLang="ko-KR"/>
              <a:pPr/>
              <a:t>2</a:t>
            </a:fld>
            <a:endParaRPr lang="en-US" altLang="ko-KR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/>
              <a:t>Recursive descent parsing overview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9248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1500" b="1">
                <a:latin typeface="Courier New" panose="02070309020205020404" pitchFamily="49" charset="0"/>
              </a:rPr>
              <a:t>A simple parsing algorithm</a:t>
            </a:r>
          </a:p>
          <a:p>
            <a:pPr>
              <a:lnSpc>
                <a:spcPct val="90000"/>
              </a:lnSpc>
            </a:pPr>
            <a:r>
              <a:rPr lang="en-US" altLang="ko-KR" sz="1500" b="1">
                <a:latin typeface="Courier New" panose="02070309020205020404" pitchFamily="49" charset="0"/>
              </a:rPr>
              <a:t>Shows the relationship between the formal description of a programming language and the ability to generate executable code for programs in the language.</a:t>
            </a:r>
          </a:p>
          <a:p>
            <a:pPr>
              <a:lnSpc>
                <a:spcPct val="90000"/>
              </a:lnSpc>
            </a:pPr>
            <a:r>
              <a:rPr lang="en-US" altLang="ko-KR" sz="1500" b="1">
                <a:latin typeface="Courier New" panose="02070309020205020404" pitchFamily="49" charset="0"/>
              </a:rPr>
              <a:t>Use extended BNF for a grammar, e.g., expressions:</a:t>
            </a:r>
          </a:p>
          <a:p>
            <a:pPr>
              <a:lnSpc>
                <a:spcPct val="90000"/>
              </a:lnSpc>
            </a:pPr>
            <a:r>
              <a:rPr lang="en-US" altLang="ko-KR" sz="1500" b="1">
                <a:latin typeface="Courier New" panose="02070309020205020404" pitchFamily="49" charset="0"/>
              </a:rPr>
              <a:t>		</a:t>
            </a:r>
            <a:r>
              <a:rPr lang="en-US" altLang="ko-KR" sz="1500" b="1">
                <a:solidFill>
                  <a:srgbClr val="FF0000"/>
                </a:solidFill>
                <a:latin typeface="Courier New" panose="02070309020205020404" pitchFamily="49" charset="0"/>
              </a:rPr>
              <a:t>&lt;arithmetic expression&gt;::=&lt;term&gt;{[+|-]&lt;term&gt;}*</a:t>
            </a:r>
            <a:endParaRPr lang="en-US" altLang="ko-KR" sz="15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500" b="1">
                <a:latin typeface="Courier New" panose="02070309020205020404" pitchFamily="49" charset="0"/>
              </a:rPr>
              <a:t>Consider the recursive procedure to recognize this:</a:t>
            </a:r>
          </a:p>
          <a:p>
            <a:pPr>
              <a:lnSpc>
                <a:spcPct val="90000"/>
              </a:lnSpc>
            </a:pPr>
            <a:r>
              <a:rPr lang="en-US" altLang="ko-KR" sz="1500" b="1">
                <a:latin typeface="Courier New" panose="02070309020205020404" pitchFamily="49" charset="0"/>
              </a:rPr>
              <a:t>	procedure Expression;</a:t>
            </a:r>
          </a:p>
          <a:p>
            <a:pPr>
              <a:lnSpc>
                <a:spcPct val="90000"/>
              </a:lnSpc>
            </a:pPr>
            <a:r>
              <a:rPr lang="en-US" altLang="ko-KR" sz="1500" b="1">
                <a:latin typeface="Courier New" panose="02070309020205020404" pitchFamily="49" charset="0"/>
              </a:rPr>
              <a:t>		begin</a:t>
            </a:r>
          </a:p>
          <a:p>
            <a:pPr>
              <a:lnSpc>
                <a:spcPct val="90000"/>
              </a:lnSpc>
            </a:pPr>
            <a:r>
              <a:rPr lang="en-US" altLang="ko-KR" sz="1500" b="1">
                <a:latin typeface="Courier New" panose="02070309020205020404" pitchFamily="49" charset="0"/>
              </a:rPr>
              <a:t>		Term; /* Call Term to find first term */</a:t>
            </a:r>
          </a:p>
          <a:p>
            <a:pPr>
              <a:lnSpc>
                <a:spcPct val="90000"/>
              </a:lnSpc>
            </a:pPr>
            <a:r>
              <a:rPr lang="en-US" altLang="ko-KR" sz="1500" b="1">
                <a:latin typeface="Courier New" panose="02070309020205020404" pitchFamily="49" charset="0"/>
              </a:rPr>
              <a:t>		while ((nextchar=`+') or (nextchar=`-')) do</a:t>
            </a:r>
          </a:p>
          <a:p>
            <a:pPr>
              <a:lnSpc>
                <a:spcPct val="90000"/>
              </a:lnSpc>
            </a:pPr>
            <a:r>
              <a:rPr lang="en-US" altLang="ko-KR" sz="1500" b="1">
                <a:latin typeface="Courier New" panose="02070309020205020404" pitchFamily="49" charset="0"/>
              </a:rPr>
              <a:t>			begin</a:t>
            </a:r>
          </a:p>
          <a:p>
            <a:pPr>
              <a:lnSpc>
                <a:spcPct val="90000"/>
              </a:lnSpc>
            </a:pPr>
            <a:r>
              <a:rPr lang="en-US" altLang="ko-KR" sz="1500" b="1">
                <a:latin typeface="Courier New" panose="02070309020205020404" pitchFamily="49" charset="0"/>
              </a:rPr>
              <a:t>			nextchar:=getchar; /* Skip over operator */</a:t>
            </a:r>
          </a:p>
          <a:p>
            <a:pPr>
              <a:lnSpc>
                <a:spcPct val="90000"/>
              </a:lnSpc>
            </a:pPr>
            <a:r>
              <a:rPr lang="en-US" altLang="ko-KR" sz="1500" b="1">
                <a:latin typeface="Courier New" panose="02070309020205020404" pitchFamily="49" charset="0"/>
              </a:rPr>
              <a:t>			Term</a:t>
            </a:r>
          </a:p>
          <a:p>
            <a:pPr>
              <a:lnSpc>
                <a:spcPct val="90000"/>
              </a:lnSpc>
            </a:pPr>
            <a:r>
              <a:rPr lang="en-US" altLang="ko-KR" sz="1500" b="1">
                <a:latin typeface="Courier New" panose="02070309020205020404" pitchFamily="49" charset="0"/>
              </a:rPr>
              <a:t>			end</a:t>
            </a:r>
          </a:p>
          <a:p>
            <a:pPr>
              <a:lnSpc>
                <a:spcPct val="90000"/>
              </a:lnSpc>
            </a:pPr>
            <a:r>
              <a:rPr lang="en-US" altLang="ko-KR" sz="1500" b="1">
                <a:latin typeface="Courier New" panose="02070309020205020404" pitchFamily="49" charset="0"/>
              </a:rPr>
              <a:t>	end</a:t>
            </a:r>
            <a:endParaRPr lang="en-US" altLang="ko-KR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6C442-09D3-4595-B940-27453AF114E8}" type="slidenum">
              <a:rPr lang="en-US" altLang="ko-KR"/>
              <a:pPr/>
              <a:t>3</a:t>
            </a:fld>
            <a:endParaRPr lang="en-US" altLang="ko-KR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/>
              <a:t>Generating code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600" b="1">
                <a:latin typeface="Courier New" panose="02070309020205020404" pitchFamily="49" charset="0"/>
              </a:rPr>
              <a:t>Assume each procedure outputs its own postfix (Section 8.2, to be discussed later)</a:t>
            </a:r>
          </a:p>
          <a:p>
            <a:r>
              <a:rPr lang="en-US" altLang="ko-KR" sz="1600" b="1">
                <a:latin typeface="Courier New" panose="02070309020205020404" pitchFamily="49" charset="0"/>
              </a:rPr>
              <a:t>To generate code, need to output symbols at appropriate places in procedure.</a:t>
            </a:r>
          </a:p>
          <a:p>
            <a:r>
              <a:rPr lang="en-US" altLang="ko-KR" sz="1600" b="1">
                <a:latin typeface="Courier New" panose="02070309020205020404" pitchFamily="49" charset="0"/>
              </a:rPr>
              <a:t>	procedure Expression;</a:t>
            </a:r>
          </a:p>
          <a:p>
            <a:r>
              <a:rPr lang="en-US" altLang="ko-KR" sz="1600" b="1">
                <a:latin typeface="Courier New" panose="02070309020205020404" pitchFamily="49" charset="0"/>
              </a:rPr>
              <a:t>		begin</a:t>
            </a:r>
          </a:p>
          <a:p>
            <a:r>
              <a:rPr lang="en-US" altLang="ko-KR" sz="1600" b="1">
                <a:latin typeface="Courier New" panose="02070309020205020404" pitchFamily="49" charset="0"/>
              </a:rPr>
              <a:t>		Term; /* Call Term to find first term */</a:t>
            </a:r>
          </a:p>
          <a:p>
            <a:r>
              <a:rPr lang="en-US" altLang="ko-KR" sz="1600" b="1">
                <a:latin typeface="Courier New" panose="02070309020205020404" pitchFamily="49" charset="0"/>
              </a:rPr>
              <a:t>		while ((nextchar=`+') or (nextchar=`-')) do</a:t>
            </a:r>
          </a:p>
          <a:p>
            <a:r>
              <a:rPr lang="en-US" altLang="ko-KR" sz="1600" b="1">
                <a:latin typeface="Courier New" panose="02070309020205020404" pitchFamily="49" charset="0"/>
              </a:rPr>
              <a:t>			begin</a:t>
            </a:r>
          </a:p>
          <a:p>
            <a:r>
              <a:rPr lang="en-US" altLang="ko-KR" sz="1600" b="1">
                <a:latin typeface="Courier New" panose="02070309020205020404" pitchFamily="49" charset="0"/>
              </a:rPr>
              <a:t>			nextchar:=getchar; /* Skip over operator */</a:t>
            </a:r>
          </a:p>
          <a:p>
            <a:r>
              <a:rPr lang="en-US" altLang="ko-KR" sz="1600" b="1">
                <a:latin typeface="Courier New" panose="02070309020205020404" pitchFamily="49" charset="0"/>
              </a:rPr>
              <a:t>			Term; </a:t>
            </a:r>
            <a:r>
              <a:rPr lang="en-US" altLang="ko-KR" sz="1600" b="1">
                <a:solidFill>
                  <a:srgbClr val="0000FF"/>
                </a:solidFill>
                <a:latin typeface="Courier New" panose="02070309020205020404" pitchFamily="49" charset="0"/>
              </a:rPr>
              <a:t>output previous ‘+’ or ‘-’;</a:t>
            </a:r>
          </a:p>
          <a:p>
            <a:r>
              <a:rPr lang="en-US" altLang="ko-KR" sz="1600" b="1">
                <a:latin typeface="Courier New" panose="02070309020205020404" pitchFamily="49" charset="0"/>
              </a:rPr>
              <a:t>			end</a:t>
            </a:r>
          </a:p>
          <a:p>
            <a:r>
              <a:rPr lang="en-US" altLang="ko-KR" sz="1600" b="1">
                <a:latin typeface="Courier New" panose="02070309020205020404" pitchFamily="49" charset="0"/>
              </a:rPr>
              <a:t>		end</a:t>
            </a:r>
          </a:p>
          <a:p>
            <a:endParaRPr lang="en-US" altLang="ko-KR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68B4-2BF4-4C0D-A15D-D28D181F4CCD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/>
              <a:t>Generating code (continued)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828800"/>
            <a:ext cx="7772400" cy="4343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Each non-terminal of grammar becomes a procedure.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Each procedure outputs its own postfix.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Examples: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	procedure Term;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		begin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		Primary;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		while ((nextchar=`*') or (nextchar=`/')) do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			begin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			nextchar:=getchar; /* Skip over operator */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			Primary; </a:t>
            </a:r>
            <a:r>
              <a:rPr lang="en-US" altLang="ko-KR" sz="1600" b="1">
                <a:solidFill>
                  <a:srgbClr val="0000FF"/>
                </a:solidFill>
                <a:latin typeface="Courier New" panose="02070309020205020404" pitchFamily="49" charset="0"/>
              </a:rPr>
              <a:t>output previous ‘*’ or ‘/’;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			end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		end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	Procedure Identifier;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		begin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		</a:t>
            </a:r>
            <a:r>
              <a:rPr lang="en-US" altLang="ko-KR" sz="1600" b="1">
                <a:solidFill>
                  <a:srgbClr val="0000FF"/>
                </a:solidFill>
                <a:latin typeface="Courier New" panose="02070309020205020404" pitchFamily="49" charset="0"/>
              </a:rPr>
              <a:t>if nextchar= letter output letter else error</a:t>
            </a:r>
            <a:r>
              <a:rPr lang="en-US" altLang="ko-KR" sz="1600" b="1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		nextchar=getchar;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latin typeface="Courier New" panose="02070309020205020404" pitchFamily="49" charset="0"/>
              </a:rPr>
              <a:t>		end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Figure 3.13 of text has complete parser for expressions.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A6CEB-2BB7-4B8D-990A-99D27235713E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515938"/>
          </a:xfrm>
        </p:spPr>
        <p:txBody>
          <a:bodyPr/>
          <a:lstStyle/>
          <a:p>
            <a:r>
              <a:rPr lang="en-US" altLang="ko-KR" sz="4000" b="1"/>
              <a:t>Recursive Descent Parsing</a:t>
            </a:r>
          </a:p>
        </p:txBody>
      </p:sp>
      <p:sp>
        <p:nvSpPr>
          <p:cNvPr id="206851" name="Rectangle 3"/>
          <p:cNvSpPr>
            <a:spLocks noChangeArrowheads="1"/>
          </p:cNvSpPr>
          <p:nvPr/>
        </p:nvSpPr>
        <p:spPr bwMode="auto">
          <a:xfrm>
            <a:off x="684213" y="1125538"/>
            <a:ext cx="57483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ko-KR" sz="1800">
                <a:latin typeface="굴림" panose="020B0600000101010101" pitchFamily="50" charset="-127"/>
                <a:ea typeface="굴림" panose="020B0600000101010101" pitchFamily="50" charset="-127"/>
              </a:rPr>
              <a:t>Recall the expression grammar, after transformation</a:t>
            </a:r>
          </a:p>
        </p:txBody>
      </p:sp>
      <p:pic>
        <p:nvPicPr>
          <p:cNvPr id="2068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844675"/>
            <a:ext cx="3513137" cy="375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6853" name="Rectangle 5"/>
          <p:cNvSpPr>
            <a:spLocks noChangeArrowheads="1"/>
          </p:cNvSpPr>
          <p:nvPr/>
        </p:nvSpPr>
        <p:spPr bwMode="auto">
          <a:xfrm>
            <a:off x="4716463" y="1628775"/>
            <a:ext cx="3654425" cy="366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1800">
                <a:latin typeface="굴림" panose="020B0600000101010101" pitchFamily="50" charset="-127"/>
                <a:ea typeface="굴림" panose="020B0600000101010101" pitchFamily="50" charset="-127"/>
              </a:rPr>
              <a:t>This produces a parser with six</a:t>
            </a:r>
          </a:p>
          <a:p>
            <a:pPr algn="l"/>
            <a:r>
              <a:rPr lang="en-US" altLang="ko-KR" sz="1800" i="1" u="sng">
                <a:latin typeface="굴림" panose="020B0600000101010101" pitchFamily="50" charset="-127"/>
                <a:ea typeface="굴림" panose="020B0600000101010101" pitchFamily="50" charset="-127"/>
              </a:rPr>
              <a:t>mutually recursive</a:t>
            </a:r>
            <a:r>
              <a:rPr lang="en-US" altLang="ko-KR" sz="1800">
                <a:latin typeface="굴림" panose="020B0600000101010101" pitchFamily="50" charset="-127"/>
                <a:ea typeface="굴림" panose="020B0600000101010101" pitchFamily="50" charset="-127"/>
              </a:rPr>
              <a:t> routines:</a:t>
            </a:r>
          </a:p>
          <a:p>
            <a:pPr algn="l"/>
            <a:r>
              <a:rPr lang="en-US" altLang="ko-KR" sz="1800">
                <a:latin typeface="Arial" panose="020B0604020202020204" pitchFamily="34" charset="0"/>
                <a:ea typeface="굴림" panose="020B0600000101010101" pitchFamily="50" charset="-127"/>
              </a:rPr>
              <a:t>•</a:t>
            </a:r>
            <a:r>
              <a:rPr lang="en-US" altLang="ko-KR" sz="180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 i="1">
                <a:latin typeface="굴림" panose="020B0600000101010101" pitchFamily="50" charset="-127"/>
                <a:ea typeface="굴림" panose="020B0600000101010101" pitchFamily="50" charset="-127"/>
              </a:rPr>
              <a:t>Goal</a:t>
            </a:r>
          </a:p>
          <a:p>
            <a:pPr algn="l"/>
            <a:r>
              <a:rPr lang="en-US" altLang="ko-KR" sz="1800" i="1">
                <a:latin typeface="Arial" panose="020B0604020202020204" pitchFamily="34" charset="0"/>
                <a:ea typeface="굴림" panose="020B0600000101010101" pitchFamily="50" charset="-127"/>
              </a:rPr>
              <a:t>•</a:t>
            </a:r>
            <a:r>
              <a:rPr lang="en-US" altLang="ko-KR" sz="1800" i="1">
                <a:latin typeface="굴림" panose="020B0600000101010101" pitchFamily="50" charset="-127"/>
                <a:ea typeface="굴림" panose="020B0600000101010101" pitchFamily="50" charset="-127"/>
              </a:rPr>
              <a:t> Expr</a:t>
            </a:r>
          </a:p>
          <a:p>
            <a:pPr algn="l"/>
            <a:r>
              <a:rPr lang="en-US" altLang="ko-KR" sz="1800" i="1">
                <a:latin typeface="Arial" panose="020B0604020202020204" pitchFamily="34" charset="0"/>
                <a:ea typeface="굴림" panose="020B0600000101010101" pitchFamily="50" charset="-127"/>
              </a:rPr>
              <a:t>•</a:t>
            </a:r>
            <a:r>
              <a:rPr lang="en-US" altLang="ko-KR" sz="1800" i="1">
                <a:latin typeface="굴림" panose="020B0600000101010101" pitchFamily="50" charset="-127"/>
                <a:ea typeface="굴림" panose="020B0600000101010101" pitchFamily="50" charset="-127"/>
              </a:rPr>
              <a:t> EPrime</a:t>
            </a:r>
          </a:p>
          <a:p>
            <a:pPr algn="l"/>
            <a:r>
              <a:rPr lang="en-US" altLang="ko-KR" sz="1800" i="1">
                <a:latin typeface="Arial" panose="020B0604020202020204" pitchFamily="34" charset="0"/>
                <a:ea typeface="굴림" panose="020B0600000101010101" pitchFamily="50" charset="-127"/>
              </a:rPr>
              <a:t>•</a:t>
            </a:r>
            <a:r>
              <a:rPr lang="en-US" altLang="ko-KR" sz="1800" i="1">
                <a:latin typeface="굴림" panose="020B0600000101010101" pitchFamily="50" charset="-127"/>
                <a:ea typeface="굴림" panose="020B0600000101010101" pitchFamily="50" charset="-127"/>
              </a:rPr>
              <a:t> Term</a:t>
            </a:r>
          </a:p>
          <a:p>
            <a:pPr algn="l"/>
            <a:r>
              <a:rPr lang="en-US" altLang="ko-KR" sz="1800" i="1">
                <a:latin typeface="Arial" panose="020B0604020202020204" pitchFamily="34" charset="0"/>
                <a:ea typeface="굴림" panose="020B0600000101010101" pitchFamily="50" charset="-127"/>
              </a:rPr>
              <a:t>•</a:t>
            </a:r>
            <a:r>
              <a:rPr lang="en-US" altLang="ko-KR" sz="1800" i="1">
                <a:latin typeface="굴림" panose="020B0600000101010101" pitchFamily="50" charset="-127"/>
                <a:ea typeface="굴림" panose="020B0600000101010101" pitchFamily="50" charset="-127"/>
              </a:rPr>
              <a:t> TPrime</a:t>
            </a:r>
          </a:p>
          <a:p>
            <a:pPr algn="l"/>
            <a:r>
              <a:rPr lang="en-US" altLang="ko-KR" sz="1800" i="1">
                <a:latin typeface="Arial" panose="020B0604020202020204" pitchFamily="34" charset="0"/>
                <a:ea typeface="굴림" panose="020B0600000101010101" pitchFamily="50" charset="-127"/>
              </a:rPr>
              <a:t>•</a:t>
            </a:r>
            <a:r>
              <a:rPr lang="en-US" altLang="ko-KR" sz="1800" i="1">
                <a:latin typeface="굴림" panose="020B0600000101010101" pitchFamily="50" charset="-127"/>
                <a:ea typeface="굴림" panose="020B0600000101010101" pitchFamily="50" charset="-127"/>
              </a:rPr>
              <a:t> Factor</a:t>
            </a:r>
          </a:p>
          <a:p>
            <a:pPr algn="l"/>
            <a:r>
              <a:rPr lang="en-US" altLang="ko-KR" sz="1800">
                <a:latin typeface="굴림" panose="020B0600000101010101" pitchFamily="50" charset="-127"/>
                <a:ea typeface="굴림" panose="020B0600000101010101" pitchFamily="50" charset="-127"/>
              </a:rPr>
              <a:t>Each recognizes one NT or T</a:t>
            </a:r>
          </a:p>
          <a:p>
            <a:pPr algn="l"/>
            <a:endParaRPr lang="en-US" altLang="ko-KR" sz="18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l"/>
            <a:r>
              <a:rPr lang="en-US" altLang="ko-KR" sz="1800">
                <a:latin typeface="굴림" panose="020B0600000101010101" pitchFamily="50" charset="-127"/>
                <a:ea typeface="굴림" panose="020B0600000101010101" pitchFamily="50" charset="-127"/>
              </a:rPr>
              <a:t>The term </a:t>
            </a:r>
            <a:r>
              <a:rPr lang="en-US" altLang="ko-KR" sz="1800" i="1" u="sng">
                <a:latin typeface="굴림" panose="020B0600000101010101" pitchFamily="50" charset="-127"/>
                <a:ea typeface="굴림" panose="020B0600000101010101" pitchFamily="50" charset="-127"/>
              </a:rPr>
              <a:t>descent</a:t>
            </a:r>
            <a:r>
              <a:rPr lang="en-US" altLang="ko-KR" sz="1800">
                <a:latin typeface="굴림" panose="020B0600000101010101" pitchFamily="50" charset="-127"/>
                <a:ea typeface="굴림" panose="020B0600000101010101" pitchFamily="50" charset="-127"/>
              </a:rPr>
              <a:t> refers to the</a:t>
            </a:r>
          </a:p>
          <a:p>
            <a:pPr algn="l"/>
            <a:r>
              <a:rPr lang="en-US" altLang="ko-KR" sz="1800">
                <a:latin typeface="굴림" panose="020B0600000101010101" pitchFamily="50" charset="-127"/>
                <a:ea typeface="굴림" panose="020B0600000101010101" pitchFamily="50" charset="-127"/>
              </a:rPr>
              <a:t>direction in which the parse tree</a:t>
            </a:r>
          </a:p>
          <a:p>
            <a:pPr algn="l"/>
            <a:r>
              <a:rPr lang="en-US" altLang="ko-KR" sz="1800">
                <a:latin typeface="굴림" panose="020B0600000101010101" pitchFamily="50" charset="-127"/>
                <a:ea typeface="굴림" panose="020B0600000101010101" pitchFamily="50" charset="-127"/>
              </a:rPr>
              <a:t>is built.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5D3C9-DB75-47D0-AFFB-05FE46F71723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58813"/>
          </a:xfrm>
        </p:spPr>
        <p:txBody>
          <a:bodyPr/>
          <a:lstStyle/>
          <a:p>
            <a:r>
              <a:rPr lang="en-US" altLang="ko-KR" sz="4000" b="1"/>
              <a:t>Recursive Descent Parsing</a:t>
            </a:r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971550" y="1389063"/>
            <a:ext cx="58689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A couple of routines from the expression parser</a:t>
            </a:r>
          </a:p>
        </p:txBody>
      </p:sp>
      <p:pic>
        <p:nvPicPr>
          <p:cNvPr id="2089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989138"/>
            <a:ext cx="6794500" cy="421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3324E-2880-4241-9F28-1A0478498436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661025"/>
            <a:ext cx="7772400" cy="720725"/>
          </a:xfrm>
        </p:spPr>
        <p:txBody>
          <a:bodyPr/>
          <a:lstStyle/>
          <a:p>
            <a:r>
              <a:rPr lang="en-US" altLang="ko-KR" sz="2800"/>
              <a:t>Transition diagrams for the grammar </a:t>
            </a:r>
          </a:p>
        </p:txBody>
      </p:sp>
      <p:graphicFrame>
        <p:nvGraphicFramePr>
          <p:cNvPr id="210947" name="Object 3"/>
          <p:cNvGraphicFramePr>
            <a:graphicFrameLocks noChangeAspect="1"/>
          </p:cNvGraphicFramePr>
          <p:nvPr/>
        </p:nvGraphicFramePr>
        <p:xfrm>
          <a:off x="1143000" y="914400"/>
          <a:ext cx="4684713" cy="465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63" name="Visio" r:id="rId4" imgW="4303437" imgH="4273973" progId="Visio.Drawing.11">
                  <p:embed/>
                </p:oleObj>
              </mc:Choice>
              <mc:Fallback>
                <p:oleObj name="Visio" r:id="rId4" imgW="4303437" imgH="4273973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914400"/>
                        <a:ext cx="4684713" cy="465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48" name="Rectangle 4"/>
          <p:cNvSpPr>
            <a:spLocks noChangeArrowheads="1"/>
          </p:cNvSpPr>
          <p:nvPr/>
        </p:nvSpPr>
        <p:spPr bwMode="auto">
          <a:xfrm>
            <a:off x="3603625" y="2182813"/>
            <a:ext cx="295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10949" name="Rectangle 5"/>
          <p:cNvSpPr>
            <a:spLocks noChangeArrowheads="1"/>
          </p:cNvSpPr>
          <p:nvPr/>
        </p:nvSpPr>
        <p:spPr bwMode="auto">
          <a:xfrm>
            <a:off x="3635375" y="3983038"/>
            <a:ext cx="295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ko-KR" sz="2000"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</a:t>
            </a:r>
          </a:p>
        </p:txBody>
      </p:sp>
      <p:graphicFrame>
        <p:nvGraphicFramePr>
          <p:cNvPr id="210950" name="Group 6"/>
          <p:cNvGraphicFramePr>
            <a:graphicFrameLocks noGrp="1"/>
          </p:cNvGraphicFramePr>
          <p:nvPr/>
        </p:nvGraphicFramePr>
        <p:xfrm>
          <a:off x="6172200" y="2743200"/>
          <a:ext cx="2286000" cy="16002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668110534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7604473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967914239"/>
                    </a:ext>
                  </a:extLst>
                </a:gridCol>
              </a:tblGrid>
              <a:tr h="1600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66CC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66CC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E</a:t>
                      </a:r>
                    </a:p>
                    <a:p>
                      <a:pPr marL="0" marR="0" lvl="0" indent="0" algn="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E</a:t>
                      </a: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'</a:t>
                      </a:r>
                      <a:endParaRPr kumimoji="1" lang="en-US" altLang="ko-KR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50" charset="-127"/>
                      </a:endParaRPr>
                    </a:p>
                    <a:p>
                      <a:pPr marL="0" marR="0" lvl="0" indent="0" algn="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T</a:t>
                      </a:r>
                    </a:p>
                    <a:p>
                      <a:pPr marL="0" marR="0" lvl="0" indent="0" algn="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T</a:t>
                      </a: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'</a:t>
                      </a:r>
                      <a:endParaRPr kumimoji="1" lang="en-US" altLang="ko-KR" sz="2000" b="1" i="1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50" charset="-127"/>
                      </a:endParaRPr>
                    </a:p>
                    <a:p>
                      <a:pPr marL="0" marR="0" lvl="0" indent="0" algn="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F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66CC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66CC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  <a:sym typeface="Symbol" panose="05050102010706020507" pitchFamily="18" charset="2"/>
                        </a:rPr>
                        <a:t>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  <a:sym typeface="Symbol" panose="05050102010706020507" pitchFamily="18" charset="2"/>
                        </a:rPr>
                        <a:t>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  <a:sym typeface="Symbol" panose="05050102010706020507" pitchFamily="18" charset="2"/>
                        </a:rPr>
                        <a:t>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  <a:sym typeface="Symbol" panose="05050102010706020507" pitchFamily="18" charset="2"/>
                        </a:rPr>
                        <a:t>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  <a:sym typeface="Symbol" panose="05050102010706020507" pitchFamily="18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66CC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66CC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TE</a:t>
                      </a: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'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+TE</a:t>
                      </a: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' </a:t>
                      </a:r>
                      <a:r>
                        <a:rPr kumimoji="1" lang="en-US" altLang="ko-K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| </a:t>
                      </a:r>
                      <a:r>
                        <a:rPr kumimoji="1" lang="en-US" altLang="ko-K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FT</a:t>
                      </a: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'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*FT</a:t>
                      </a: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' </a:t>
                      </a:r>
                      <a:r>
                        <a:rPr kumimoji="1" lang="en-US" altLang="ko-K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  <a:cs typeface="Times New Roman" panose="02020603050405020304" pitchFamily="18" charset="0"/>
                        </a:rPr>
                        <a:t>| </a:t>
                      </a:r>
                      <a:r>
                        <a:rPr kumimoji="1" lang="en-US" altLang="ko-K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  <a:endParaRPr kumimoji="1" lang="en-US" altLang="ko-KR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(</a:t>
                      </a: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E</a:t>
                      </a:r>
                      <a:r>
                        <a:rPr kumimoji="1" lang="en-US" altLang="ko-K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)</a:t>
                      </a:r>
                      <a:r>
                        <a:rPr kumimoji="1" lang="en-US" altLang="ko-KR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 | </a:t>
                      </a:r>
                      <a:r>
                        <a:rPr kumimoji="1" lang="en-US" altLang="ko-K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50" charset="-127"/>
                        </a:rPr>
                        <a:t>id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831965"/>
                  </a:ext>
                </a:extLst>
              </a:tr>
            </a:tbl>
          </a:graphicData>
        </a:graphic>
      </p:graphicFrame>
      <p:sp>
        <p:nvSpPr>
          <p:cNvPr id="210962" name="Rectangle 18"/>
          <p:cNvSpPr>
            <a:spLocks noChangeArrowheads="1"/>
          </p:cNvSpPr>
          <p:nvPr/>
        </p:nvSpPr>
        <p:spPr bwMode="auto">
          <a:xfrm>
            <a:off x="6324600" y="2057400"/>
            <a:ext cx="1346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None/>
            </a:pPr>
            <a:r>
              <a:rPr lang="en-US" altLang="ko-KR" sz="2000" b="1">
                <a:solidFill>
                  <a:schemeClr val="hlink"/>
                </a:solidFill>
                <a:latin typeface="Times New Roman" panose="02020603050405020304" pitchFamily="18" charset="0"/>
                <a:ea typeface="굴림" panose="020B0600000101010101" pitchFamily="50" charset="-127"/>
                <a:sym typeface="Symbol" panose="05050102010706020507" pitchFamily="18" charset="2"/>
              </a:rPr>
              <a:t>Grammar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84447-24B3-44DF-AF35-ACF43B53135A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589588"/>
            <a:ext cx="7772400" cy="719137"/>
          </a:xfrm>
        </p:spPr>
        <p:txBody>
          <a:bodyPr/>
          <a:lstStyle/>
          <a:p>
            <a:r>
              <a:rPr lang="en-US" altLang="ko-KR" sz="2800"/>
              <a:t>Simplified transition diagrams.</a:t>
            </a:r>
          </a:p>
        </p:txBody>
      </p:sp>
      <p:grpSp>
        <p:nvGrpSpPr>
          <p:cNvPr id="212995" name="Group 3"/>
          <p:cNvGrpSpPr>
            <a:grpSpLocks/>
          </p:cNvGrpSpPr>
          <p:nvPr/>
        </p:nvGrpSpPr>
        <p:grpSpPr bwMode="auto">
          <a:xfrm>
            <a:off x="609600" y="990600"/>
            <a:ext cx="7594600" cy="4495800"/>
            <a:chOff x="384" y="672"/>
            <a:chExt cx="4784" cy="2832"/>
          </a:xfrm>
        </p:grpSpPr>
        <p:graphicFrame>
          <p:nvGraphicFramePr>
            <p:cNvPr id="212996" name="Object 4"/>
            <p:cNvGraphicFramePr>
              <a:graphicFrameLocks noChangeAspect="1"/>
            </p:cNvGraphicFramePr>
            <p:nvPr/>
          </p:nvGraphicFramePr>
          <p:xfrm>
            <a:off x="384" y="816"/>
            <a:ext cx="4784" cy="2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008" name="Visio" r:id="rId4" imgW="6958584" imgH="3432048" progId="Visio.Drawing.11">
                    <p:embed/>
                  </p:oleObj>
                </mc:Choice>
                <mc:Fallback>
                  <p:oleObj name="Visio" r:id="rId4" imgW="6958584" imgH="3432048" progId="Visio.Drawing.11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816"/>
                          <a:ext cx="4784" cy="2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2997" name="Rectangle 5"/>
            <p:cNvSpPr>
              <a:spLocks noChangeArrowheads="1"/>
            </p:cNvSpPr>
            <p:nvPr/>
          </p:nvSpPr>
          <p:spPr bwMode="auto">
            <a:xfrm>
              <a:off x="2304" y="768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 sz="2000"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12998" name="Rectangle 6"/>
            <p:cNvSpPr>
              <a:spLocks noChangeArrowheads="1"/>
            </p:cNvSpPr>
            <p:nvPr/>
          </p:nvSpPr>
          <p:spPr bwMode="auto">
            <a:xfrm>
              <a:off x="1920" y="1536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 sz="2000"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12999" name="Rectangle 7"/>
            <p:cNvSpPr>
              <a:spLocks noChangeArrowheads="1"/>
            </p:cNvSpPr>
            <p:nvPr/>
          </p:nvSpPr>
          <p:spPr bwMode="auto">
            <a:xfrm>
              <a:off x="4512" y="1536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 sz="2000"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13000" name="Rectangle 8"/>
            <p:cNvSpPr>
              <a:spLocks noChangeArrowheads="1"/>
            </p:cNvSpPr>
            <p:nvPr/>
          </p:nvSpPr>
          <p:spPr bwMode="auto">
            <a:xfrm>
              <a:off x="1926" y="2784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 sz="2000"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13001" name="Rectangle 9"/>
            <p:cNvSpPr>
              <a:spLocks noChangeArrowheads="1"/>
            </p:cNvSpPr>
            <p:nvPr/>
          </p:nvSpPr>
          <p:spPr bwMode="auto">
            <a:xfrm>
              <a:off x="4518" y="2784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 sz="2000"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13002" name="Rectangle 10"/>
            <p:cNvSpPr>
              <a:spLocks noChangeArrowheads="1"/>
            </p:cNvSpPr>
            <p:nvPr/>
          </p:nvSpPr>
          <p:spPr bwMode="auto">
            <a:xfrm>
              <a:off x="3408" y="1248"/>
              <a:ext cx="3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rPr>
                <a:t></a:t>
              </a:r>
            </a:p>
          </p:txBody>
        </p:sp>
        <p:sp>
          <p:nvSpPr>
            <p:cNvPr id="213003" name="Rectangle 11"/>
            <p:cNvSpPr>
              <a:spLocks noChangeArrowheads="1"/>
            </p:cNvSpPr>
            <p:nvPr/>
          </p:nvSpPr>
          <p:spPr bwMode="auto">
            <a:xfrm>
              <a:off x="2688" y="2496"/>
              <a:ext cx="3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rPr>
                <a:t></a:t>
              </a:r>
            </a:p>
          </p:txBody>
        </p:sp>
        <p:sp>
          <p:nvSpPr>
            <p:cNvPr id="213004" name="Rectangle 12"/>
            <p:cNvSpPr>
              <a:spLocks noChangeArrowheads="1"/>
            </p:cNvSpPr>
            <p:nvPr/>
          </p:nvSpPr>
          <p:spPr bwMode="auto">
            <a:xfrm>
              <a:off x="648" y="672"/>
              <a:ext cx="29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 sz="2000"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rPr>
                <a:t>(a)</a:t>
              </a:r>
            </a:p>
          </p:txBody>
        </p:sp>
        <p:sp>
          <p:nvSpPr>
            <p:cNvPr id="213005" name="Rectangle 13"/>
            <p:cNvSpPr>
              <a:spLocks noChangeArrowheads="1"/>
            </p:cNvSpPr>
            <p:nvPr/>
          </p:nvSpPr>
          <p:spPr bwMode="auto">
            <a:xfrm>
              <a:off x="3696" y="672"/>
              <a:ext cx="30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 sz="2000"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rPr>
                <a:t>(b)</a:t>
              </a:r>
            </a:p>
          </p:txBody>
        </p:sp>
        <p:sp>
          <p:nvSpPr>
            <p:cNvPr id="213006" name="Rectangle 14"/>
            <p:cNvSpPr>
              <a:spLocks noChangeArrowheads="1"/>
            </p:cNvSpPr>
            <p:nvPr/>
          </p:nvSpPr>
          <p:spPr bwMode="auto">
            <a:xfrm>
              <a:off x="715" y="3254"/>
              <a:ext cx="29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 sz="2000"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rPr>
                <a:t>(c)</a:t>
              </a:r>
            </a:p>
          </p:txBody>
        </p:sp>
        <p:sp>
          <p:nvSpPr>
            <p:cNvPr id="213007" name="Rectangle 15"/>
            <p:cNvSpPr>
              <a:spLocks noChangeArrowheads="1"/>
            </p:cNvSpPr>
            <p:nvPr/>
          </p:nvSpPr>
          <p:spPr bwMode="auto">
            <a:xfrm>
              <a:off x="3720" y="3254"/>
              <a:ext cx="30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ko-KR" sz="2000"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rPr>
                <a:t>(d)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C4A3-AD00-45CA-9598-CD742A6C47DD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73688"/>
            <a:ext cx="7772400" cy="863600"/>
          </a:xfrm>
        </p:spPr>
        <p:txBody>
          <a:bodyPr/>
          <a:lstStyle/>
          <a:p>
            <a:r>
              <a:rPr lang="en-US" altLang="ko-KR" sz="2800"/>
              <a:t>Simplified transition diagrams for arithmetic expressions.</a:t>
            </a:r>
          </a:p>
        </p:txBody>
      </p:sp>
      <p:grpSp>
        <p:nvGrpSpPr>
          <p:cNvPr id="215043" name="Group 3"/>
          <p:cNvGrpSpPr>
            <a:grpSpLocks/>
          </p:cNvGrpSpPr>
          <p:nvPr/>
        </p:nvGrpSpPr>
        <p:grpSpPr bwMode="auto">
          <a:xfrm>
            <a:off x="1828800" y="1271588"/>
            <a:ext cx="5029200" cy="3757612"/>
            <a:chOff x="1152" y="801"/>
            <a:chExt cx="3168" cy="2367"/>
          </a:xfrm>
        </p:grpSpPr>
        <p:graphicFrame>
          <p:nvGraphicFramePr>
            <p:cNvPr id="215044" name="Object 4"/>
            <p:cNvGraphicFramePr>
              <a:graphicFrameLocks noChangeAspect="1"/>
            </p:cNvGraphicFramePr>
            <p:nvPr/>
          </p:nvGraphicFramePr>
          <p:xfrm>
            <a:off x="1152" y="801"/>
            <a:ext cx="3168" cy="2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47" name="Visio" r:id="rId4" imgW="4296325" imgH="3209544" progId="Visio.Drawing.11">
                    <p:embed/>
                  </p:oleObj>
                </mc:Choice>
                <mc:Fallback>
                  <p:oleObj name="Visio" r:id="rId4" imgW="4296325" imgH="3209544" progId="Visio.Drawing.11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801"/>
                          <a:ext cx="3168" cy="2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045" name="Rectangle 5"/>
            <p:cNvSpPr>
              <a:spLocks noChangeArrowheads="1"/>
            </p:cNvSpPr>
            <p:nvPr/>
          </p:nvSpPr>
          <p:spPr bwMode="auto">
            <a:xfrm>
              <a:off x="2832" y="1142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None/>
              </a:pPr>
              <a:r>
                <a:rPr lang="en-US" altLang="ko-KR" sz="2000"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15046" name="Rectangle 6"/>
            <p:cNvSpPr>
              <a:spLocks noChangeArrowheads="1"/>
            </p:cNvSpPr>
            <p:nvPr/>
          </p:nvSpPr>
          <p:spPr bwMode="auto">
            <a:xfrm>
              <a:off x="2832" y="1910"/>
              <a:ext cx="1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20000"/>
                </a:spcBef>
                <a:buClr>
                  <a:srgbClr val="0066CC"/>
                </a:buClr>
                <a:buFont typeface="Wingdings" panose="05000000000000000000" pitchFamily="2" charset="2"/>
                <a:buNone/>
              </a:pPr>
              <a:r>
                <a:rPr lang="en-US" altLang="ko-KR" sz="2000">
                  <a:latin typeface="Times New Roman" panose="02020603050405020304" pitchFamily="18" charset="0"/>
                  <a:ea typeface="굴림" panose="020B0600000101010101" pitchFamily="50" charset="-127"/>
                  <a:sym typeface="Symbol" panose="05050102010706020507" pitchFamily="18" charset="2"/>
                </a:rPr>
                <a:t>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B86D9-1166-4772-901B-642CD85BB1CB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874713"/>
          </a:xfrm>
        </p:spPr>
        <p:txBody>
          <a:bodyPr/>
          <a:lstStyle/>
          <a:p>
            <a:r>
              <a:rPr lang="en-US" altLang="ko-KR" b="1"/>
              <a:t>Example transition diagrams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3683000" cy="4114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ko-KR" sz="2800"/>
              <a:t>An expression grammar with left recursion and ambiguity removed:</a:t>
            </a:r>
          </a:p>
          <a:p>
            <a:pPr>
              <a:lnSpc>
                <a:spcPct val="80000"/>
              </a:lnSpc>
            </a:pPr>
            <a:endParaRPr lang="en-US" altLang="ko-KR" sz="2800"/>
          </a:p>
          <a:p>
            <a:pPr>
              <a:lnSpc>
                <a:spcPct val="80000"/>
              </a:lnSpc>
            </a:pPr>
            <a:r>
              <a:rPr lang="en-US" altLang="ko-KR" sz="2800"/>
              <a:t>E’ -&gt; + T E’ | ε</a:t>
            </a:r>
          </a:p>
          <a:p>
            <a:pPr>
              <a:lnSpc>
                <a:spcPct val="80000"/>
              </a:lnSpc>
            </a:pPr>
            <a:r>
              <a:rPr lang="en-US" altLang="ko-KR" sz="2800"/>
              <a:t>T -&gt; F T’</a:t>
            </a:r>
          </a:p>
          <a:p>
            <a:pPr>
              <a:lnSpc>
                <a:spcPct val="80000"/>
              </a:lnSpc>
            </a:pPr>
            <a:r>
              <a:rPr lang="en-US" altLang="ko-KR" sz="2800"/>
              <a:t>T’ -&gt; * F T’ | ε</a:t>
            </a:r>
          </a:p>
          <a:p>
            <a:pPr>
              <a:lnSpc>
                <a:spcPct val="80000"/>
              </a:lnSpc>
            </a:pPr>
            <a:r>
              <a:rPr lang="en-US" altLang="ko-KR" sz="2800"/>
              <a:t>F -&gt; ( E ) | id</a:t>
            </a:r>
          </a:p>
          <a:p>
            <a:pPr>
              <a:lnSpc>
                <a:spcPct val="80000"/>
              </a:lnSpc>
            </a:pPr>
            <a:r>
              <a:rPr lang="en-US" altLang="ko-KR" sz="2800"/>
              <a:t>E -&gt; T E’</a:t>
            </a:r>
          </a:p>
        </p:txBody>
      </p:sp>
      <p:sp>
        <p:nvSpPr>
          <p:cNvPr id="217092" name="Rectangle 4"/>
          <p:cNvSpPr>
            <a:spLocks noChangeArrowheads="1"/>
          </p:cNvSpPr>
          <p:nvPr/>
        </p:nvSpPr>
        <p:spPr bwMode="auto">
          <a:xfrm>
            <a:off x="4643438" y="1600200"/>
            <a:ext cx="38989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l">
              <a:spcBef>
                <a:spcPct val="20000"/>
              </a:spcBef>
              <a:buClr>
                <a:srgbClr val="0066CC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l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l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l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r>
              <a:rPr lang="en-US" altLang="ko-KR"/>
              <a:t>Corresponding transition diagrams:</a:t>
            </a:r>
          </a:p>
        </p:txBody>
      </p:sp>
      <p:pic>
        <p:nvPicPr>
          <p:cNvPr id="2170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775" y="2636838"/>
            <a:ext cx="3513138" cy="368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E229B-635B-429A-ADFE-D3EB57C76E59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02550" cy="947738"/>
          </a:xfrm>
        </p:spPr>
        <p:txBody>
          <a:bodyPr/>
          <a:lstStyle/>
          <a:p>
            <a:r>
              <a:rPr lang="en-US" altLang="ko-KR" sz="3600" b="1"/>
              <a:t>Predictive parsing without recursion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628775"/>
            <a:ext cx="7772400" cy="7461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2400"/>
              <a:t>To get rid of the recursive procedure calls, we maintain our own stack.</a:t>
            </a:r>
          </a:p>
        </p:txBody>
      </p:sp>
      <p:pic>
        <p:nvPicPr>
          <p:cNvPr id="2191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565400"/>
            <a:ext cx="8778875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9C969-BFA2-4A17-9305-F292DC884108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587375"/>
          </a:xfrm>
        </p:spPr>
        <p:txBody>
          <a:bodyPr/>
          <a:lstStyle/>
          <a:p>
            <a:r>
              <a:rPr lang="en-US" altLang="ko-KR" sz="4000" b="1"/>
              <a:t>Example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484313"/>
            <a:ext cx="7772400" cy="10731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2400"/>
              <a:t>Use the table-driven predictive parser to parse</a:t>
            </a:r>
            <a:br>
              <a:rPr lang="en-US" altLang="ko-KR" sz="2400"/>
            </a:br>
            <a:r>
              <a:rPr lang="en-US" altLang="ko-KR" sz="2400"/>
              <a:t>id + id * id</a:t>
            </a:r>
          </a:p>
          <a:p>
            <a:pPr>
              <a:lnSpc>
                <a:spcPct val="90000"/>
              </a:lnSpc>
            </a:pPr>
            <a:r>
              <a:rPr lang="en-US" altLang="ko-KR" sz="2400"/>
              <a:t>Assuming parsing table</a:t>
            </a:r>
          </a:p>
        </p:txBody>
      </p:sp>
      <p:sp>
        <p:nvSpPr>
          <p:cNvPr id="221188" name="Rectangle 4"/>
          <p:cNvSpPr>
            <a:spLocks noChangeArrowheads="1"/>
          </p:cNvSpPr>
          <p:nvPr/>
        </p:nvSpPr>
        <p:spPr bwMode="auto">
          <a:xfrm>
            <a:off x="468313" y="5445125"/>
            <a:ext cx="8229600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l">
              <a:spcBef>
                <a:spcPct val="20000"/>
              </a:spcBef>
              <a:buClr>
                <a:srgbClr val="0066CC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l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l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l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2000"/>
              <a:t>Initial stack is $E</a:t>
            </a:r>
          </a:p>
          <a:p>
            <a:r>
              <a:rPr lang="en-US" altLang="ko-KR" sz="2000"/>
              <a:t>Initial input is id + id * id $</a:t>
            </a:r>
          </a:p>
        </p:txBody>
      </p:sp>
      <p:pic>
        <p:nvPicPr>
          <p:cNvPr id="2211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792413"/>
            <a:ext cx="8281987" cy="2652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A03D4-1EA7-4058-B1C3-BCDFBDF77103}" type="slidenum">
              <a:rPr lang="en-US" altLang="ko-KR"/>
              <a:pPr/>
              <a:t>13</a:t>
            </a:fld>
            <a:endParaRPr lang="en-US" altLang="ko-KR"/>
          </a:p>
        </p:txBody>
      </p:sp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LR parsing</a:t>
            </a:r>
          </a:p>
        </p:txBody>
      </p:sp>
      <p:pic>
        <p:nvPicPr>
          <p:cNvPr id="2232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75" y="1901825"/>
            <a:ext cx="6470650" cy="361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AF73-D8CB-4820-A07B-406B4E1AE9B1}" type="slidenum">
              <a:rPr lang="en-US" altLang="ko-KR"/>
              <a:pPr/>
              <a:t>14</a:t>
            </a:fld>
            <a:endParaRPr lang="en-US" altLang="ko-KR"/>
          </a:p>
        </p:txBody>
      </p:sp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587375"/>
          </a:xfrm>
        </p:spPr>
        <p:txBody>
          <a:bodyPr/>
          <a:lstStyle/>
          <a:p>
            <a:r>
              <a:rPr lang="en-US" altLang="ko-KR" sz="4000" b="1"/>
              <a:t>LR parsing example</a:t>
            </a:r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600200"/>
            <a:ext cx="1944687" cy="4525963"/>
          </a:xfrm>
        </p:spPr>
        <p:txBody>
          <a:bodyPr/>
          <a:lstStyle/>
          <a:p>
            <a:r>
              <a:rPr lang="en-US" altLang="ko-KR" sz="1800"/>
              <a:t>Grammar:</a:t>
            </a:r>
          </a:p>
          <a:p>
            <a:r>
              <a:rPr lang="en-US" altLang="ko-KR" sz="1800"/>
              <a:t>1. E -&gt; E + T</a:t>
            </a:r>
          </a:p>
          <a:p>
            <a:r>
              <a:rPr lang="en-US" altLang="ko-KR" sz="1800"/>
              <a:t>2. E -&gt; T</a:t>
            </a:r>
          </a:p>
          <a:p>
            <a:r>
              <a:rPr lang="en-US" altLang="ko-KR" sz="1800"/>
              <a:t>3. T -&gt; T * F</a:t>
            </a:r>
          </a:p>
          <a:p>
            <a:r>
              <a:rPr lang="en-US" altLang="ko-KR" sz="1800"/>
              <a:t>4. T -&gt; F</a:t>
            </a:r>
          </a:p>
          <a:p>
            <a:r>
              <a:rPr lang="en-US" altLang="ko-KR" sz="1800"/>
              <a:t>5. F -&gt; ( E )</a:t>
            </a:r>
          </a:p>
          <a:p>
            <a:r>
              <a:rPr lang="en-US" altLang="ko-KR" sz="1800"/>
              <a:t>6. F -&gt; id</a:t>
            </a:r>
          </a:p>
          <a:p>
            <a:endParaRPr lang="en-US" altLang="ko-KR" sz="2400"/>
          </a:p>
        </p:txBody>
      </p:sp>
      <p:pic>
        <p:nvPicPr>
          <p:cNvPr id="2252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1298575"/>
            <a:ext cx="6767512" cy="508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anose="02030600000101010101" pitchFamily="18" charset="-127"/>
            <a:ea typeface="바탕" panose="02030600000101010101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anose="02030600000101010101" pitchFamily="18" charset="-127"/>
            <a:ea typeface="바탕" panose="02030600000101010101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3231</TotalTime>
  <Words>653</Words>
  <Application>Microsoft Office PowerPoint</Application>
  <PresentationFormat>화면 슬라이드 쇼(4:3)</PresentationFormat>
  <Paragraphs>151</Paragraphs>
  <Slides>14</Slides>
  <Notes>10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굴림</vt:lpstr>
      <vt:lpstr>Times New Roman</vt:lpstr>
      <vt:lpstr>Wingdings</vt:lpstr>
      <vt:lpstr>Arial</vt:lpstr>
      <vt:lpstr>Courier New</vt:lpstr>
      <vt:lpstr>Symbol</vt:lpstr>
      <vt:lpstr>바탕</vt:lpstr>
      <vt:lpstr>기본 디자인</vt:lpstr>
      <vt:lpstr>Microsoft Visio 드로잉</vt:lpstr>
      <vt:lpstr>Recursive descent parsing</vt:lpstr>
      <vt:lpstr>Recursive descent parsing overview</vt:lpstr>
      <vt:lpstr>Generating code</vt:lpstr>
      <vt:lpstr>Generating code (continued)</vt:lpstr>
      <vt:lpstr>Recursive Descent Parsing</vt:lpstr>
      <vt:lpstr>Recursive Descent Parsing</vt:lpstr>
      <vt:lpstr>Transition diagrams for the grammar </vt:lpstr>
      <vt:lpstr>Simplified transition diagrams.</vt:lpstr>
      <vt:lpstr>Simplified transition diagrams for arithmetic expressions.</vt:lpstr>
      <vt:lpstr>Example transition diagrams</vt:lpstr>
      <vt:lpstr>Predictive parsing without recursion</vt:lpstr>
      <vt:lpstr>Example</vt:lpstr>
      <vt:lpstr>LR parsing</vt:lpstr>
      <vt:lpstr>LR parsing example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8</cp:revision>
  <dcterms:created xsi:type="dcterms:W3CDTF">2000-11-03T06:26:37Z</dcterms:created>
  <dcterms:modified xsi:type="dcterms:W3CDTF">2020-04-09T01:15:34Z</dcterms:modified>
</cp:coreProperties>
</file>