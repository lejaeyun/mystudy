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73" r:id="rId3"/>
    <p:sldId id="274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88" autoAdjust="0"/>
    <p:restoredTop sz="90929"/>
  </p:normalViewPr>
  <p:slideViewPr>
    <p:cSldViewPr>
      <p:cViewPr varScale="1">
        <p:scale>
          <a:sx n="113" d="100"/>
          <a:sy n="113" d="100"/>
        </p:scale>
        <p:origin x="750" y="114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95DA075F-85F9-4CE4-9294-9E2C8E8956A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문자열 유형을 편집하려면 누르십시오</a:t>
            </a:r>
            <a:r>
              <a:rPr lang="en-US" altLang="ko-KR" noProof="0" smtClean="0"/>
              <a:t>.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세째 수준</a:t>
            </a:r>
          </a:p>
          <a:p>
            <a:pPr lvl="3"/>
            <a:r>
              <a:rPr lang="ko-KR" altLang="en-US" noProof="0" smtClean="0"/>
              <a:t>네째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E1947D5-5C97-4EFB-A2A3-71D760C18F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Expressions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9CC7A5-3317-420F-B392-E6591A7EF99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2733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Expressions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7D9614-2DCB-4FBF-B4C5-91E3DA79B86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36377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Expressions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9FB87C-1925-4094-93A1-C46B7E16BE2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933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Expressions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ACED15-3D97-490D-8047-7095C24BF8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011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Expressions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143F85-C6C9-41B1-9160-62CC578AF1C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17245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Expressions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0B36B8-72A9-4502-A688-6459FF332A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87970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Expressions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492FEC-FCA9-4B70-AD44-64A70942719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102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Expressions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406A43-9AAD-47A3-A60B-3DBCBF1D671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5193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Expressions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9DB438-E3D7-4E21-88C5-0C2B7209EEF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24004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Expressions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36EE9-D9E5-4827-A844-0EA5C6B75BB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1666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Expressions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4B3B36-D0C6-4620-AF74-3DF5FDFE9A7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8769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4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 smtClean="0"/>
            </a:lvl1pPr>
          </a:lstStyle>
          <a:p>
            <a:pPr>
              <a:defRPr/>
            </a:pPr>
            <a:r>
              <a:rPr lang="en-US" altLang="ko-KR"/>
              <a:t>Expressions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4D99040-2129-4DB0-B6DA-5E9EC30B5E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33" name="Picture 22" descr="Untitled-2 copy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1752600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ko-KR" sz="4000" b="1" smtClean="0">
                <a:solidFill>
                  <a:srgbClr val="0000FF"/>
                </a:solidFill>
              </a:rPr>
              <a:t>Expressions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2057400"/>
          </a:xfrm>
        </p:spPr>
        <p:txBody>
          <a:bodyPr/>
          <a:lstStyle/>
          <a:p>
            <a:pPr eaLnBrk="1" hangingPunct="1"/>
            <a:r>
              <a:rPr lang="en-US" altLang="ko-KR" sz="1800" b="1" smtClean="0">
                <a:solidFill>
                  <a:srgbClr val="000000"/>
                </a:solidFill>
              </a:rPr>
              <a:t>Programming Language Design and Implementation (4th Edition)</a:t>
            </a:r>
          </a:p>
          <a:p>
            <a:pPr eaLnBrk="1" hangingPunct="1"/>
            <a:r>
              <a:rPr lang="en-US" altLang="ko-KR" sz="1800" b="1" smtClean="0">
                <a:solidFill>
                  <a:srgbClr val="000000"/>
                </a:solidFill>
              </a:rPr>
              <a:t>by T. Pratt and M. Zelkowitz</a:t>
            </a:r>
          </a:p>
          <a:p>
            <a:pPr eaLnBrk="1" hangingPunct="1"/>
            <a:r>
              <a:rPr lang="en-US" altLang="ko-KR" sz="1800" b="1" smtClean="0">
                <a:solidFill>
                  <a:srgbClr val="000000"/>
                </a:solidFill>
              </a:rPr>
              <a:t>Prentice Hall, 2001</a:t>
            </a:r>
          </a:p>
          <a:p>
            <a:pPr eaLnBrk="1" hangingPunct="1"/>
            <a:endParaRPr lang="en-US" altLang="ko-KR" sz="1800" b="1" smtClean="0">
              <a:solidFill>
                <a:srgbClr val="000000"/>
              </a:solidFill>
            </a:endParaRPr>
          </a:p>
          <a:p>
            <a:pPr eaLnBrk="1" hangingPunct="1"/>
            <a:r>
              <a:rPr lang="en-US" altLang="ko-KR" sz="1800" b="1" smtClean="0">
                <a:solidFill>
                  <a:srgbClr val="000000"/>
                </a:solidFill>
              </a:rPr>
              <a:t>Section 8.1-8.2</a:t>
            </a:r>
            <a:endParaRPr lang="en-US" altLang="ko-KR" sz="320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/>
              <a:t>Expressions</a:t>
            </a:r>
          </a:p>
        </p:txBody>
      </p:sp>
      <p:sp>
        <p:nvSpPr>
          <p:cNvPr id="512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07D24F2-7D3B-4DA6-9FB5-05D54E51BD64}" type="slidenum">
              <a:rPr lang="en-US" altLang="ko-KR" sz="1400">
                <a:latin typeface="Times New Roman" panose="02020603050405020304" pitchFamily="18" charset="0"/>
              </a:rPr>
              <a:pPr/>
              <a:t>2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800" b="1" smtClean="0">
                <a:latin typeface="Courier New" panose="02070309020205020404" pitchFamily="49" charset="0"/>
              </a:rPr>
              <a:t>Execution-time representation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ko-KR" sz="20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2000" b="1" smtClean="0">
                <a:latin typeface="Courier New" panose="02070309020205020404" pitchFamily="49" charset="0"/>
              </a:rPr>
              <a:t>Machine code sequence</a:t>
            </a:r>
          </a:p>
          <a:p>
            <a:pPr eaLnBrk="1" hangingPunct="1"/>
            <a:r>
              <a:rPr lang="en-US" altLang="ko-KR" sz="2000" b="1" smtClean="0">
                <a:latin typeface="Courier New" panose="02070309020205020404" pitchFamily="49" charset="0"/>
              </a:rPr>
              <a:t>Tree representation</a:t>
            </a:r>
          </a:p>
          <a:p>
            <a:pPr eaLnBrk="1" hangingPunct="1"/>
            <a:r>
              <a:rPr lang="en-US" altLang="ko-KR" sz="2000" b="1" smtClean="0">
                <a:latin typeface="Courier New" panose="02070309020205020404" pitchFamily="49" charset="0"/>
              </a:rPr>
              <a:t>Pre-fix or post-fix</a:t>
            </a:r>
          </a:p>
          <a:p>
            <a:pPr eaLnBrk="1" hangingPunct="1"/>
            <a:endParaRPr lang="en-US" altLang="ko-KR" sz="20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/>
              <a:t>Expressions</a:t>
            </a:r>
          </a:p>
        </p:txBody>
      </p:sp>
      <p:sp>
        <p:nvSpPr>
          <p:cNvPr id="614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F12EF99-8E60-4914-B954-E58D036017FE}" type="slidenum">
              <a:rPr lang="en-US" altLang="ko-KR" sz="1400">
                <a:latin typeface="Times New Roman" panose="02020603050405020304" pitchFamily="18" charset="0"/>
              </a:rPr>
              <a:pPr/>
              <a:t>3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800" b="1" smtClean="0">
                <a:latin typeface="Courier New" panose="02070309020205020404" pitchFamily="49" charset="0"/>
              </a:rPr>
              <a:t>Tree structure rules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sz="2000" b="1" smtClean="0">
                <a:latin typeface="Courier New" panose="02070309020205020404" pitchFamily="49" charset="0"/>
              </a:rPr>
              <a:t>Slow </a:t>
            </a:r>
            <a:r>
              <a:rPr lang="en-US" altLang="ko-KR" sz="2000" b="1" smtClean="0">
                <a:latin typeface="Courier New" panose="02070309020205020404" pitchFamily="49" charset="0"/>
                <a:sym typeface="Wingdings" panose="05000000000000000000" pitchFamily="2" charset="2"/>
              </a:rPr>
              <a:t></a:t>
            </a:r>
            <a:r>
              <a:rPr lang="en-US" altLang="ko-KR" sz="2000" b="1" smtClean="0">
                <a:latin typeface="Courier New" panose="02070309020205020404" pitchFamily="49" charset="0"/>
              </a:rPr>
              <a:t> software interpreter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 parse tree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2000" b="1" smtClean="0">
                <a:latin typeface="Courier New" panose="02070309020205020404" pitchFamily="49" charset="0"/>
              </a:rPr>
              <a:t>Problem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Uniform evaluation rules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Eager evaluation ? Lazy evaluation (LISP, PROLOG)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Z+(Y==0 ? X : X/Y)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Side effect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 a * fun(x) + 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Error conditions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Optimization, …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Short-circuit boolean expression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 if((A==0) || (B/A)&gt;C) {…}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 while((I&lt;=UB) &amp;&amp; (V[I]&gt;0)) {…}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/>
              <a:t>Expressions</a:t>
            </a:r>
          </a:p>
        </p:txBody>
      </p:sp>
      <p:sp>
        <p:nvSpPr>
          <p:cNvPr id="717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1C24AB8A-5D65-45B4-AE23-BFB31799E0DA}" type="slidenum">
              <a:rPr lang="en-US" altLang="ko-KR" sz="1400">
                <a:latin typeface="Times New Roman" panose="02020603050405020304" pitchFamily="18" charset="0"/>
              </a:rPr>
              <a:pPr/>
              <a:t>4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Postfix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7724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Infix notation</a:t>
            </a:r>
            <a:r>
              <a:rPr lang="en-US" altLang="ko-KR" sz="1800" b="1" smtClean="0">
                <a:latin typeface="Courier New" panose="02070309020205020404" pitchFamily="49" charset="0"/>
              </a:rPr>
              <a:t>: Operator appears between operands: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2 + 3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5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3 + 6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9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Implied precedence: 2 + 3 * 4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2 + (3 * 4 ),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not (2 + 3 ) * 4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Prefix notation</a:t>
            </a:r>
            <a:r>
              <a:rPr lang="en-US" altLang="ko-KR" sz="1800" b="1" smtClean="0">
                <a:latin typeface="Courier New" panose="02070309020205020404" pitchFamily="49" charset="0"/>
              </a:rPr>
              <a:t>: Operator precedes operands: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+ 2 3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5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+ 2 * 3 5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 </a:t>
            </a:r>
            <a:r>
              <a:rPr lang="en-US" altLang="ko-KR" sz="1800" b="1" smtClean="0">
                <a:latin typeface="Courier New" panose="02070309020205020404" pitchFamily="49" charset="0"/>
              </a:rPr>
              <a:t>(+ 2 ( * 3 5 ) )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+ 2 15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17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Postfix notation: Operator follows operands: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2 3 +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5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2 3 * 5 +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(( 2 3 * 5 +)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6 5  +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11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Called Polish postfix since few could pronounce Polish mathematician Lukasiewicz, who invented it.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An interesting, but unimportant mathematical curiosity when presented in 1920s. Only became important in 1950s when Burroughs rediscovered it for their ALGOL compiler.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/>
              <a:t>Expressions</a:t>
            </a:r>
          </a:p>
        </p:txBody>
      </p:sp>
      <p:sp>
        <p:nvSpPr>
          <p:cNvPr id="819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04774B9-C6AE-4A15-8A10-29C9F2E74B21}" type="slidenum">
              <a:rPr lang="en-US" altLang="ko-KR" sz="1400">
                <a:latin typeface="Times New Roman" panose="02020603050405020304" pitchFamily="18" charset="0"/>
              </a:rPr>
              <a:pPr/>
              <a:t>5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Evaluation of postfix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1. If argument is an operand, stack it.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2. If argument is an n-ary operator, then the n arguments are already onthe stack. Pop the n arguments from the stack and replace by the value of the operator applied to the arguments.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Example: 2 3 4 + 5 * +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1. 2 - stack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2. 3 - stack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3. 4 - stack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4. + - replace 3 and 4 on stack by 7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5. 5 - stack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6. * - replace 5 and 7 on stack by 35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7. + - replace 35 and 2 on stack by 37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/>
              <a:t>Expressions</a:t>
            </a:r>
          </a:p>
        </p:txBody>
      </p:sp>
      <p:sp>
        <p:nvSpPr>
          <p:cNvPr id="921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C63D0AA9-4764-4869-99CA-9E118C4174F5}" type="slidenum">
              <a:rPr lang="en-US" altLang="ko-KR" sz="1400">
                <a:latin typeface="Times New Roman" panose="02020603050405020304" pitchFamily="18" charset="0"/>
              </a:rPr>
              <a:pPr/>
              <a:t>6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Importance of Postfix to Compilers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05000"/>
            <a:ext cx="82296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Code generation same as expression evaluation.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To generate code for 2 3 4 + 5 * +, do: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1. 2 - stack L-value of 2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2. 3 - stack L-value of 3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3. 4 - stack L-value of 4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4. + - generate code to take R-value of top stack element (L-value of 4) and add to R-value of next stack element (L-value of 3) and place L-value of result on stack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5. 5 - stack L-value of 5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6. * - generate code to take R-value of top stack element (L-value of 5) and multiply to R-value of next stack element (L-value of 7) and place L-value of result on stack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7. + - generate code to take R-value of top stack element (L-value of 35) and add to R-value of next stack element (L-value of 2) and place L-value of result (37) on 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/>
              <a:t>Expressions</a:t>
            </a:r>
          </a:p>
        </p:txBody>
      </p:sp>
      <p:sp>
        <p:nvSpPr>
          <p:cNvPr id="1024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508AAA0-4156-4CCA-9C8D-349AE662D292}" type="slidenum">
              <a:rPr lang="en-US" altLang="ko-KR" sz="1400">
                <a:latin typeface="Times New Roman" panose="02020603050405020304" pitchFamily="18" charset="0"/>
              </a:rPr>
              <a:pPr/>
              <a:t>7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Forth - A language based on postfix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400" b="1" smtClean="0">
                <a:latin typeface="Courier New" panose="02070309020205020404" pitchFamily="49" charset="0"/>
              </a:rPr>
              <a:t>Postfix source language leads to an efficient execution model, even though generally interpreted. System runs on two stacks - a subroutine return stack and an expression evaluation stack. Run-time model very small making it useful on small embedded computers.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4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400" b="1" smtClean="0">
                <a:latin typeface="Courier New" panose="02070309020205020404" pitchFamily="49" charset="0"/>
              </a:rPr>
              <a:t>Forth was developed by Charles Moore around 1970. The name was a contraction of “Fourth Generation Programming Language” with the program name limited to five characters. The language was a replacement for FORTRAN on small minicomputers in the 1970s where space was at a premium and the only input-output device was often a very slow and cumbersome paper tape. Having a resident translator/interpreter made for easy program development on the target system.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smtClean="0">
                <a:solidFill>
                  <a:schemeClr val="tx2"/>
                </a:solidFill>
                <a:latin typeface="Courier New" panose="02070309020205020404" pitchFamily="49" charset="0"/>
              </a:rPr>
              <a:t>Reflection: self-modifying code, reflective ability, impure code(malware)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smtClean="0">
                <a:solidFill>
                  <a:schemeClr val="tx2"/>
                </a:solidFill>
                <a:latin typeface="Courier New" panose="02070309020205020404" pitchFamily="49" charset="0"/>
              </a:rPr>
              <a:t>FLOOR5 ( n -- n' )   DUP 6 &lt; IF DROP 5 ELSE 1 - THEN 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/>
              <a:t>Expressions</a:t>
            </a:r>
          </a:p>
        </p:txBody>
      </p:sp>
      <p:sp>
        <p:nvSpPr>
          <p:cNvPr id="1126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1AC1437-802F-46CA-9629-727DF81482B5}" type="slidenum">
              <a:rPr lang="en-US" altLang="ko-KR" sz="1400">
                <a:latin typeface="Times New Roman" panose="02020603050405020304" pitchFamily="18" charset="0"/>
              </a:rPr>
              <a:pPr/>
              <a:t>8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Example Forth program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Program to compute: 1</a:t>
            </a:r>
            <a:r>
              <a:rPr lang="en-US" altLang="ko-KR" sz="1800" b="1" baseline="30000" smtClean="0">
                <a:latin typeface="Courier New" panose="02070309020205020404" pitchFamily="49" charset="0"/>
              </a:rPr>
              <a:t>2</a:t>
            </a:r>
            <a:r>
              <a:rPr lang="en-US" altLang="ko-KR" sz="1800" b="1" smtClean="0">
                <a:latin typeface="Courier New" panose="02070309020205020404" pitchFamily="49" charset="0"/>
              </a:rPr>
              <a:t>+2</a:t>
            </a:r>
            <a:r>
              <a:rPr lang="en-US" altLang="ko-KR" sz="1800" b="1" baseline="30000" smtClean="0">
                <a:latin typeface="Courier New" panose="02070309020205020404" pitchFamily="49" charset="0"/>
              </a:rPr>
              <a:t>2</a:t>
            </a:r>
            <a:r>
              <a:rPr lang="en-US" altLang="ko-KR" sz="1800" b="1" smtClean="0">
                <a:latin typeface="Courier New" panose="02070309020205020404" pitchFamily="49" charset="0"/>
              </a:rPr>
              <a:t>+ ... +9</a:t>
            </a:r>
            <a:r>
              <a:rPr lang="en-US" altLang="ko-KR" sz="1800" b="1" baseline="30000" smtClean="0">
                <a:latin typeface="Courier New" panose="02070309020205020404" pitchFamily="49" charset="0"/>
              </a:rPr>
              <a:t>2</a:t>
            </a:r>
            <a:r>
              <a:rPr lang="en-US" altLang="ko-KR" sz="1800" b="1" smtClean="0">
                <a:latin typeface="Courier New" panose="02070309020205020404" pitchFamily="49" charset="0"/>
              </a:rPr>
              <a:t>+10</a:t>
            </a:r>
            <a:r>
              <a:rPr lang="en-US" altLang="ko-KR" sz="1800" b="1" baseline="30000" smtClean="0">
                <a:latin typeface="Courier New" panose="02070309020205020404" pitchFamily="49" charset="0"/>
              </a:rPr>
              <a:t>2</a:t>
            </a:r>
            <a:r>
              <a:rPr lang="en-US" altLang="ko-KR" sz="1800" b="1" smtClean="0">
                <a:latin typeface="Courier New" panose="02070309020205020404" pitchFamily="49" charset="0"/>
              </a:rPr>
              <a:t>$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[Notation: a,b,c is expression stack.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	c is stack(top)]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: SQR DUP * ;  (Defines square by: n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n,n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(n*n))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: DOSUM SWAP 1 + SWAP OVER SQR + 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Execution: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( N,S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N+1,S+(N+1)</a:t>
            </a:r>
            <a:r>
              <a:rPr lang="en-US" altLang="ko-KR" sz="1800" b="1" baseline="30000" smtClean="0">
                <a:latin typeface="Courier New" panose="02070309020205020404" pitchFamily="49" charset="0"/>
              </a:rPr>
              <a:t>2</a:t>
            </a:r>
            <a:r>
              <a:rPr lang="en-US" altLang="ko-KR" sz="1800" b="1" smtClean="0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( N,S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S,N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 </a:t>
            </a:r>
            <a:r>
              <a:rPr lang="en-US" altLang="ko-KR" sz="1800" b="1" smtClean="0">
                <a:latin typeface="Courier New" panose="02070309020205020404" pitchFamily="49" charset="0"/>
              </a:rPr>
              <a:t>S,(N+1)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(N+1),S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	(N+1),S, N+1)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(N+1),S, N+1)</a:t>
            </a:r>
            <a:r>
              <a:rPr lang="en-US" altLang="ko-KR" sz="1800" b="1" baseline="30000" smtClean="0">
                <a:latin typeface="Courier New" panose="02070309020205020404" pitchFamily="49" charset="0"/>
              </a:rPr>
              <a:t>2</a:t>
            </a:r>
            <a:r>
              <a:rPr lang="en-US" altLang="ko-KR" sz="1800" b="1" smtClean="0">
                <a:latin typeface="Courier New" panose="02070309020205020404" pitchFamily="49" charset="0"/>
              </a:rPr>
              <a:t>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	(N+1),S+(N+1)</a:t>
            </a:r>
            <a:r>
              <a:rPr lang="en-US" altLang="ko-KR" sz="1800" b="1" baseline="30000" smtClean="0">
                <a:latin typeface="Courier New" panose="02070309020205020404" pitchFamily="49" charset="0"/>
              </a:rPr>
              <a:t>2</a:t>
            </a:r>
            <a:r>
              <a:rPr lang="en-US" altLang="ko-KR" sz="1800" b="1" smtClean="0">
                <a:latin typeface="Courier New" panose="02070309020205020404" pitchFamily="49" charset="0"/>
              </a:rPr>
              <a:t>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3 6 DOSUM . . 22 4 ok  (Period (.) prints stack(top).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				Output is 22 = 4</a:t>
            </a:r>
            <a:r>
              <a:rPr lang="en-US" altLang="ko-KR" sz="1800" b="1" baseline="30000" smtClean="0">
                <a:latin typeface="Courier New" panose="02070309020205020404" pitchFamily="49" charset="0"/>
              </a:rPr>
              <a:t>2</a:t>
            </a:r>
            <a:r>
              <a:rPr lang="en-US" altLang="ko-KR" sz="1800" b="1" smtClean="0">
                <a:latin typeface="Courier New" panose="02070309020205020404" pitchFamily="49" charset="0"/>
              </a:rPr>
              <a:t>+6)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0 0 10 0 DO DOSUM LOOP . 385 ok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		(Apply DOSUM from 0 to 9 (Stop at 10)) }}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/>
              <a:t>Expressions</a:t>
            </a:r>
          </a:p>
        </p:txBody>
      </p:sp>
      <p:sp>
        <p:nvSpPr>
          <p:cNvPr id="1229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C52699D2-3D91-4733-B187-8F8FCFF50E3C}" type="slidenum">
              <a:rPr lang="en-US" altLang="ko-KR" sz="1400">
                <a:latin typeface="Times New Roman" panose="02020603050405020304" pitchFamily="18" charset="0"/>
              </a:rPr>
              <a:pPr/>
              <a:t>9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Postscript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Postscript is Forth with painting commands added.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1: %Same as Forth program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2: /Helvetica findfont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3: 20 scalefont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4: setfont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5: 200 400 moveto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6: /formatit {10 10 string cvrs show} def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7: /sqr {dup mul} def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8: /dosum {exch 1 add exch 1 index sqr add} def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9: 3 6 dosum 2 copy formatit (   ) show formatit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10: clear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11: 200 375 moveto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12: 0 0 0 1 9 {pop dosum} for formatit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13: showpage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/>
              <a:t>Expressions</a:t>
            </a:r>
          </a:p>
        </p:txBody>
      </p:sp>
      <p:sp>
        <p:nvSpPr>
          <p:cNvPr id="1331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2E12EEEB-283C-42ED-83C2-677E7098F73C}" type="slidenum">
              <a:rPr lang="en-US" altLang="ko-KR" sz="1400">
                <a:latin typeface="Times New Roman" panose="02020603050405020304" pitchFamily="18" charset="0"/>
              </a:rPr>
              <a:pPr/>
              <a:t>10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Postscript painting commands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6868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14: % Lets draw a truck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15: /box {newpath 0 0 moveto 0 1 lineto 3 1 lineto 3 0 lineto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16:  closepath} def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17: .1 setlinewidth 0 setgray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18: gsave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19: 72 72 scale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20: 2 5 translate box stroke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21: 3.2 0 translate .5 .5 scale box fill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22: 0 1 translate .6 .6 scale box fill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23: grestore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24: /tire {newpath 1 0 moveto 0 0 1 0 360 arc closepath} def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25: .5 setlinewidth 10 10 scale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26: 16 34 translate tire stroke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27: 3 0 translate tire stroke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28: 17 0 translate tire stroke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29: 3 0 translate tire stroke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30: 8 0 translate tire stroke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13: showpage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6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/>
              <a:t>Expressions</a:t>
            </a:r>
          </a:p>
        </p:txBody>
      </p:sp>
      <p:sp>
        <p:nvSpPr>
          <p:cNvPr id="1433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0D221F8-3EF9-4F8F-B40B-2DB4CB652501}" type="slidenum">
              <a:rPr lang="en-US" altLang="ko-KR" sz="1400">
                <a:latin typeface="Times New Roman" panose="02020603050405020304" pitchFamily="18" charset="0"/>
              </a:rPr>
              <a:pPr/>
              <a:t>11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990600"/>
          </a:xfrm>
        </p:spPr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Precedence of operators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Assumed order of evaluation for arithmetic expressions: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2*3+4*5 assumed to be 26 since assumed ordering is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(2*3)+(4*5).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This is specified by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precedence</a:t>
            </a:r>
            <a:r>
              <a:rPr lang="en-US" altLang="ko-KR" sz="1800" b="1" smtClean="0">
                <a:latin typeface="Courier New" panose="02070309020205020404" pitchFamily="49" charset="0"/>
              </a:rPr>
              <a:t> of operators.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In any expression, the highest precedence operations are evaluated first, and so on.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Most languages have an implied precedence.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APL and Smalltalk do not. Neither language emphasizes arithmetic data, so it is not clear what precedence means in this case.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C has 17 levels of precedence (given next)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400"/>
              <a:t>Expressions</a:t>
            </a:r>
          </a:p>
        </p:txBody>
      </p:sp>
      <p:sp>
        <p:nvSpPr>
          <p:cNvPr id="1536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64403997-C80F-4C4F-8BBE-C0311CED2781}" type="slidenum">
              <a:rPr lang="en-US" altLang="ko-KR" sz="1400">
                <a:latin typeface="Times New Roman" panose="02020603050405020304" pitchFamily="18" charset="0"/>
              </a:rPr>
              <a:pPr/>
              <a:t>12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C precedence levels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2296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Precedence Operators     Operator names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17         tokens, a[k], f()Literals, subscripting, function call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           .,-&gt;          Selection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16         ++, --        Postfix increment/decrement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15*        ++, --        Prefix inc/dec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          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</a:t>
            </a:r>
            <a:r>
              <a:rPr lang="en-US" altLang="ko-KR" sz="1600" b="1" smtClean="0">
                <a:latin typeface="Courier New" panose="02070309020205020404" pitchFamily="49" charset="0"/>
              </a:rPr>
              <a:t>, -, sizeof  Unary operators, storage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           !,&amp;,*         Logical negation, indirection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14         typename      Casts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13         *, /, %       Multiplicative operators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12         +,-           Additive operators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11         &lt;&lt;, &gt;&gt;        Shift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10         &lt;,&gt;,&lt;=, &gt;=    Relational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9          ==, !=        Equality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8          &amp;             Bitwise and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7         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</a:t>
            </a:r>
            <a:r>
              <a:rPr lang="en-US" altLang="ko-KR" sz="1600" b="1" smtClean="0">
                <a:latin typeface="Courier New" panose="02070309020205020404" pitchFamily="49" charset="0"/>
              </a:rPr>
              <a:t>             Bitwise xor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6          |             Bitwise or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5          &amp;&amp;            Logical and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4          ||            Logical or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3          ?:            Conditional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2          =, +=, -=, *=, Assignment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           /=, %=, &lt;&lt;=, &gt;&gt;=, &amp;=,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</a:t>
            </a:r>
            <a:r>
              <a:rPr lang="en-US" altLang="ko-KR" sz="1600" b="1" smtClean="0">
                <a:latin typeface="Courier New" panose="02070309020205020404" pitchFamily="49" charset="0"/>
              </a:rPr>
              <a:t>=, |=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1          ,             Sequential evaluation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6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3366</TotalTime>
  <Words>1350</Words>
  <Application>Microsoft Office PowerPoint</Application>
  <PresentationFormat>화면 슬라이드 쇼(4:3)</PresentationFormat>
  <Paragraphs>173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굴림</vt:lpstr>
      <vt:lpstr>Arial</vt:lpstr>
      <vt:lpstr>Wingdings</vt:lpstr>
      <vt:lpstr>Times New Roman</vt:lpstr>
      <vt:lpstr>Courier New</vt:lpstr>
      <vt:lpstr>Symbol</vt:lpstr>
      <vt:lpstr>기본 디자인</vt:lpstr>
      <vt:lpstr>Expressions</vt:lpstr>
      <vt:lpstr>Execution-time representation</vt:lpstr>
      <vt:lpstr>Tree structure rules</vt:lpstr>
      <vt:lpstr>Postfix</vt:lpstr>
      <vt:lpstr>Evaluation of postfix</vt:lpstr>
      <vt:lpstr>Importance of Postfix to Compilers</vt:lpstr>
      <vt:lpstr>Forth - A language based on postfix</vt:lpstr>
      <vt:lpstr>Example Forth program</vt:lpstr>
      <vt:lpstr>Postscript</vt:lpstr>
      <vt:lpstr>Postscript painting commands</vt:lpstr>
      <vt:lpstr>Precedence of operators</vt:lpstr>
      <vt:lpstr>C precedence levels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9</cp:revision>
  <dcterms:created xsi:type="dcterms:W3CDTF">2000-11-03T06:26:37Z</dcterms:created>
  <dcterms:modified xsi:type="dcterms:W3CDTF">2020-05-11T02:44:36Z</dcterms:modified>
</cp:coreProperties>
</file>