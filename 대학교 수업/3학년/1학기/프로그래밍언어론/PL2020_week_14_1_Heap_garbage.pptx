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0" r:id="rId3"/>
    <p:sldId id="261" r:id="rId4"/>
    <p:sldId id="262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9144000" cy="6858000" type="screen4x3"/>
  <p:notesSz cx="6858000" cy="9144000"/>
  <p:defaultTextStyle>
    <a:defPPr>
      <a:defRPr lang="ko-KR"/>
    </a:defPPr>
    <a:lvl1pPr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12" d="100"/>
          <a:sy n="112" d="100"/>
        </p:scale>
        <p:origin x="486" y="96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43FA5C56-8089-49A2-81AD-C1E55F9DEE5F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문자열 유형을 편집하려면 누르십시오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세째 수준</a:t>
            </a:r>
          </a:p>
          <a:p>
            <a:pPr lvl="3"/>
            <a:r>
              <a:rPr lang="ko-KR" altLang="en-US" smtClean="0"/>
              <a:t>네째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fld id="{FB76A974-E2DF-4E63-B452-957EB5E527F4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A942B5-4D02-4A60-8C04-42A74534DA8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771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350B2-BE3B-4D13-AB14-40AE230E7A6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8457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38785E-9E79-4C67-817B-ED27D3597A5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19151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E10C3B-FF53-4276-AEDE-BF7B9A80597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816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712201-9173-420B-A221-1062032E1E5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04948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6E6595-C87B-49D3-807E-848EACBF4D7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1817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69CDB7-F8B0-4F40-A42C-E2628600A47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385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6434CE-E293-4148-9306-3A50A7B8D48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32306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0DB8F7-2FCC-4B49-84E1-1E21A0ED797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78337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EB555F-1057-489E-AAD9-236BBB7DBAF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754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E921EC-DCD5-42E1-808B-1C1F3E3EC40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3278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ko-KR" altLang="ko-KR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fld id="{2A7AC3CF-DB57-42C0-87AC-2FF464673376}" type="slidenum">
              <a:rPr lang="en-US" altLang="ko-KR"/>
              <a:pPr/>
              <a:t>‹#›</a:t>
            </a:fld>
            <a:endParaRPr lang="en-US" altLang="ko-KR"/>
          </a:p>
        </p:txBody>
      </p:sp>
      <p:pic>
        <p:nvPicPr>
          <p:cNvPr id="1046" name="Picture 2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143000"/>
          </a:xfrm>
        </p:spPr>
        <p:txBody>
          <a:bodyPr anchor="ctr"/>
          <a:lstStyle/>
          <a:p>
            <a:r>
              <a:rPr lang="en-US" altLang="ko-KR" sz="4000" b="1">
                <a:solidFill>
                  <a:srgbClr val="0000FF"/>
                </a:solidFill>
              </a:rPr>
              <a:t>Heap storage &amp; Garbage collection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429000"/>
            <a:ext cx="6477000" cy="2590800"/>
          </a:xfrm>
        </p:spPr>
        <p:txBody>
          <a:bodyPr/>
          <a:lstStyle/>
          <a:p>
            <a:r>
              <a:rPr lang="en-US" altLang="ko-KR" sz="3200" b="1">
                <a:solidFill>
                  <a:srgbClr val="000000"/>
                </a:solidFill>
              </a:rPr>
              <a:t>Programming Language Design and Implementation (4th Edition)</a:t>
            </a:r>
          </a:p>
          <a:p>
            <a:r>
              <a:rPr lang="en-US" altLang="ko-KR" sz="3200" b="1">
                <a:solidFill>
                  <a:srgbClr val="000000"/>
                </a:solidFill>
              </a:rPr>
              <a:t>by T. Pratt and M. Zelkowitz</a:t>
            </a:r>
          </a:p>
          <a:p>
            <a:r>
              <a:rPr lang="en-US" altLang="ko-KR" sz="3200" b="1">
                <a:solidFill>
                  <a:srgbClr val="000000"/>
                </a:solidFill>
              </a:rPr>
              <a:t>Prentice Hall, 2001</a:t>
            </a:r>
          </a:p>
          <a:p>
            <a:endParaRPr lang="en-US" altLang="ko-K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F8F12-F670-41DE-9336-1946E46532BE}" type="slidenum">
              <a:rPr lang="en-US" altLang="ko-KR"/>
              <a:pPr/>
              <a:t>2</a:t>
            </a:fld>
            <a:endParaRPr lang="en-US" altLang="ko-KR"/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Heap storage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724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ko-KR" sz="24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Dynamic allocation and stacks are generally incompatible.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  <p:pic>
        <p:nvPicPr>
          <p:cNvPr id="190468" name="Picture 4" descr="0530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447800"/>
            <a:ext cx="5562600" cy="1676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469" name="Picture 5" descr="0530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343400"/>
            <a:ext cx="5486400" cy="159385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C8932-BEA4-4692-8E21-7C48566CBF8B}" type="slidenum">
              <a:rPr lang="en-US" altLang="ko-KR"/>
              <a:pPr/>
              <a:t>3</a:t>
            </a:fld>
            <a:endParaRPr lang="en-US" altLang="ko-KR"/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Stack and heap location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343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Pointer X points to stack storage in procedure Q's activation record that no longer is live (exists) when procedure Q terminates. Such a reference is called a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dangling reference</a:t>
            </a:r>
            <a:r>
              <a:rPr lang="en-US" altLang="ko-KR" sz="1800" b="1">
                <a:latin typeface="Courier New" panose="020703090202050204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Dynamic storage is usually a separate structure in C, Ada, Pascal ...</a:t>
            </a:r>
          </a:p>
        </p:txBody>
      </p:sp>
      <p:pic>
        <p:nvPicPr>
          <p:cNvPr id="191492" name="Picture 4" descr="0530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114800"/>
            <a:ext cx="5715000" cy="2057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0FD7B-E28D-4670-B111-4AEE11547477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Heap storage problems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01000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Major storage for ML, LISP and Prolog is a heap.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Get storage - allocate(x)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free storage - free(x)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Problems: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Dangling reference: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allocate(x);y = x;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free(x);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 </a:t>
            </a:r>
            <a:r>
              <a:rPr lang="en-US" altLang="ko-KR" sz="1800" b="1">
                <a:latin typeface="Courier New" panose="02070309020205020404" pitchFamily="49" charset="0"/>
              </a:rPr>
              <a:t>y still points to allocated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Inaccessible storage: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allocate(x);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allocate(x);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>
                <a:latin typeface="Courier New" panose="02070309020205020404" pitchFamily="49" charset="0"/>
              </a:rPr>
              <a:t> first allocation to x now lost.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	Memory fragmentation</a:t>
            </a:r>
            <a:r>
              <a:rPr lang="en-US" altLang="ko-KR" sz="1800" b="1">
                <a:latin typeface="Courier New" panose="02070309020205020404" pitchFamily="49" charset="0"/>
              </a:rPr>
              <a:t> …(next slide)</a:t>
            </a:r>
          </a:p>
        </p:txBody>
      </p:sp>
      <p:pic>
        <p:nvPicPr>
          <p:cNvPr id="192516" name="Picture 4" descr="0540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667000"/>
            <a:ext cx="3000375" cy="108743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517" name="Picture 5" descr="0540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962400"/>
            <a:ext cx="3038475" cy="11969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088B-35DE-464F-8AEB-7EC271DDFDB0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Memory fragmentation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724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Memory fragmentation: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allocate(a);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allocate(x);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allocate(y);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free(a);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allocate(z);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free(y);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allocate(b);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sz="1800" b="1">
                <a:latin typeface="Courier New" panose="02070309020205020404" pitchFamily="49" charset="0"/>
              </a:rPr>
              <a:t>No contiguous space for b</a:t>
            </a:r>
          </a:p>
          <a:p>
            <a:pPr>
              <a:buFont typeface="Symbol" panose="05050102010706020507" pitchFamily="18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  <p:pic>
        <p:nvPicPr>
          <p:cNvPr id="193540" name="Picture 4" descr="0540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648200"/>
            <a:ext cx="5867400" cy="15367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72E4-49F7-4133-95FB-30E502357304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Garbage collection goal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79248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Process to reclaim memory.(Solve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Fragmentation problem</a:t>
            </a:r>
            <a:r>
              <a:rPr lang="en-US" altLang="ko-KR" sz="1800" b="1">
                <a:latin typeface="Courier New" panose="02070309020205020404" pitchFamily="49" charset="0"/>
              </a:rPr>
              <a:t>.)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Algorithm</a:t>
            </a:r>
            <a:r>
              <a:rPr lang="en-US" altLang="ko-KR" sz="1800" b="1">
                <a:latin typeface="Courier New" panose="02070309020205020404" pitchFamily="49" charset="0"/>
              </a:rPr>
              <a:t>: You can do garbage collection if you know where every pointer is in a program. If you move the allocated storage, simply change the pointer to it.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This is true in LISP, ML, Java, Prolog </a:t>
            </a:r>
          </a:p>
          <a:p>
            <a:endParaRPr lang="en-US" altLang="ko-KR" sz="1800" b="1">
              <a:latin typeface="Courier New" panose="02070309020205020404" pitchFamily="49" charset="0"/>
            </a:endParaRPr>
          </a:p>
          <a:p>
            <a:r>
              <a:rPr lang="en-US" altLang="ko-KR" sz="1800" b="1">
                <a:latin typeface="Courier New" panose="02070309020205020404" pitchFamily="49" charset="0"/>
              </a:rPr>
              <a:t>Not true in C, C++, Pascal, Ada</a:t>
            </a:r>
          </a:p>
        </p:txBody>
      </p:sp>
      <p:pic>
        <p:nvPicPr>
          <p:cNvPr id="195588" name="Picture 4" descr="05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09800"/>
            <a:ext cx="6076950" cy="160813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BBDE7-398C-4EA3-9242-E10B23281F42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Garbage collection: Mark-sweep algorithm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First assume fixed size blocks of size k. (Later blocks of size n*k.)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This is the LISP case.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Two simple algorithms follow. (This is only an introduction to this topic. Many other algorithms exist)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Algorithm 1</a:t>
            </a:r>
            <a:r>
              <a:rPr lang="en-US" altLang="ko-KR" sz="1800" b="1">
                <a:latin typeface="Courier New" panose="02070309020205020404" pitchFamily="49" charset="0"/>
              </a:rPr>
              <a:t>: Fixed size blocks;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Two pass mark-sweep algorithm: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1. Keep a linked list (free list) of objects available to be allocated.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2. Allocate objects on demand.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3. Ignore free commands.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4. When out of space, perform garbage collection: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Pass 1. Mark every object still allocated.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Pass 2. Every unmarked objects added to free list of available blocks.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1F4-4B94-498E-8E84-AC37E12B137A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Heap storage errors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Error conditions: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Dangling reference - Cannot occur. Each valid reference will be marked during sweep pass 1.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Inaccessible storage - Will be reclaimed during sweep pass 2.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Fragmentation - Does not occur; fixed size objects.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4BE4-58E2-421F-A85B-3C605C205FE5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Garbage collection: reference counts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229600" cy="4800600"/>
          </a:xfrm>
        </p:spPr>
        <p:txBody>
          <a:bodyPr/>
          <a:lstStyle/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Algorithm 2</a:t>
            </a:r>
            <a:r>
              <a:rPr lang="en-US" altLang="ko-KR" sz="1600" b="1">
                <a:latin typeface="Courier New" panose="02070309020205020404" pitchFamily="49" charset="0"/>
              </a:rPr>
              <a:t>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1. Associate a reference counter field, initially 0, with every allocated object.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2. Each time a pointer is set to an object, up the reference counter by 1.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3. Each time a pointer no longer points to an object, decrease the reference counter by 1.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4. If reference counter ever is to 0, then free object.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Error conditions</a:t>
            </a:r>
            <a:r>
              <a:rPr lang="en-US" altLang="ko-KR" sz="1600" b="1">
                <a:latin typeface="Courier New" panose="02070309020205020404" pitchFamily="49" charset="0"/>
              </a:rPr>
              <a:t>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Dangling reference - Cannot occur. Reference count is 0 only when nothing points to it.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Fragmentation - Cannot occur. All objects are fixed size.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Inaccessible storage - Can still occur, but not easily.</a:t>
            </a:r>
            <a:r>
              <a:rPr lang="en-US" altLang="ko-KR" sz="1800" b="1">
                <a:latin typeface="Courier New" panose="02070309020205020404" pitchFamily="49" charset="0"/>
              </a:rPr>
              <a:t> </a:t>
            </a:r>
          </a:p>
        </p:txBody>
      </p:sp>
      <p:pic>
        <p:nvPicPr>
          <p:cNvPr id="198660" name="Picture 4" descr="056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800600"/>
            <a:ext cx="4295775" cy="1524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DEDF0-40FA-4AC6-BB85-F42F25FDAC58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Memory compaction: Variable-size elements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343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With variable sized blocks, the previous two algorithms will not work.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 the left heap below, a block of size 3 cannot be allocated, even though 7 blocks are free.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If the allocated blocks are moved to the start of the heap (compaction) and the free blocks collected, then a block of size up to 7 can be allocated.</a:t>
            </a:r>
          </a:p>
        </p:txBody>
      </p:sp>
      <p:pic>
        <p:nvPicPr>
          <p:cNvPr id="199684" name="Picture 4" descr="0570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800600"/>
            <a:ext cx="6248400" cy="14001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2887C-5043-4AA7-B82C-822C8155F755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Compaction algorithm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572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For variable sized blocks, in pass 2 of the mark-sweep algorithm: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>
                <a:latin typeface="Courier New" panose="02070309020205020404" pitchFamily="49" charset="0"/>
              </a:rPr>
              <a:t> Move blocks to top of storage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sym typeface="Symbol" panose="05050102010706020507" pitchFamily="18" charset="2"/>
              </a:rPr>
              <a:t></a:t>
            </a:r>
            <a:r>
              <a:rPr lang="en-US" altLang="ko-KR" sz="1800" b="1">
                <a:latin typeface="Courier New" panose="02070309020205020404" pitchFamily="49" charset="0"/>
              </a:rPr>
              <a:t> Need to reset pointers that point to the old storage location to now point to the new storage.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How to do this?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Use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tombstones</a:t>
            </a:r>
            <a:r>
              <a:rPr lang="en-US" altLang="ko-KR" sz="1800" b="1">
                <a:latin typeface="Courier New" panose="02070309020205020404" pitchFamily="49" charset="0"/>
              </a:rPr>
              <a:t> and two storage areas, an A area and a B area: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1. Fill area A.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2. When A fills, do mark-sweep algorithm.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3. Move all allocated storage to start of B area. Leave marker in A area so other pointers pointing to this object can be modified.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4. After everything moved, area A can discarded. Allocate in B and later compact from B back to 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AF15D-5759-40A9-9785-830E23237350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Compaction algorithm (continued)</a:t>
            </a:r>
          </a:p>
        </p:txBody>
      </p:sp>
      <p:pic>
        <p:nvPicPr>
          <p:cNvPr id="201731" name="Picture 3" descr="0570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86000"/>
            <a:ext cx="6700838" cy="23733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8967-C2FD-4A81-982C-D004493433F2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In place compaction</a:t>
            </a:r>
          </a:p>
        </p:txBody>
      </p:sp>
      <p:pic>
        <p:nvPicPr>
          <p:cNvPr id="202755" name="Picture 3" descr="058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0"/>
            <a:ext cx="6057900" cy="48482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3160</TotalTime>
  <Words>777</Words>
  <Application>Microsoft Office PowerPoint</Application>
  <PresentationFormat>화면 슬라이드 쇼(4:3)</PresentationFormat>
  <Paragraphs>121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굴림</vt:lpstr>
      <vt:lpstr>Times New Roman</vt:lpstr>
      <vt:lpstr>Wingdings</vt:lpstr>
      <vt:lpstr>Courier New</vt:lpstr>
      <vt:lpstr>Symbol</vt:lpstr>
      <vt:lpstr>기본 디자인</vt:lpstr>
      <vt:lpstr>Heap storage &amp; Garbage collection</vt:lpstr>
      <vt:lpstr>Heap storage</vt:lpstr>
      <vt:lpstr>Stack and heap location</vt:lpstr>
      <vt:lpstr>Heap storage problems</vt:lpstr>
      <vt:lpstr>Memory fragmentation</vt:lpstr>
      <vt:lpstr>Garbage collection goal</vt:lpstr>
      <vt:lpstr>Garbage collection: Mark-sweep algorithm</vt:lpstr>
      <vt:lpstr>Heap storage errors</vt:lpstr>
      <vt:lpstr>Garbage collection: reference counts</vt:lpstr>
      <vt:lpstr>Memory compaction: Variable-size elements</vt:lpstr>
      <vt:lpstr>Compaction algorithm</vt:lpstr>
      <vt:lpstr>Compaction algorithm (continued)</vt:lpstr>
      <vt:lpstr>In place compaction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4</cp:revision>
  <dcterms:created xsi:type="dcterms:W3CDTF">2000-11-03T06:26:37Z</dcterms:created>
  <dcterms:modified xsi:type="dcterms:W3CDTF">2020-06-01T09:30:55Z</dcterms:modified>
</cp:coreProperties>
</file>