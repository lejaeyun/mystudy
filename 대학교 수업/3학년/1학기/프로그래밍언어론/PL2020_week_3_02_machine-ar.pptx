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9" r:id="rId2"/>
    <p:sldId id="260" r:id="rId3"/>
    <p:sldId id="26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762" y="102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55B42430-CAFF-4986-93E7-59C6393B6A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223041A-2078-4627-A7B0-FBF5CBC19C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8A2A0-10A7-454C-891F-7DFD2A9DA6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641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1E435-4480-450E-AE6E-310E6513B0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7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89DBE-1D91-4C51-9003-3A90FB7F92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235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9FF18-F1AE-4325-A461-BA2DE91BCD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049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F0C16-9F87-4195-BFFB-747A1E6A28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398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65B85-FC8A-4151-8B5B-8F73269F42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11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12100-017F-43CE-B57A-ED6F6D6EF3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241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6FD03-7EB1-47A3-9693-5EE63B5923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113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27F30-BC18-446B-B5F0-11073A7A42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914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02F41-2932-4475-8B1F-030E532AD1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910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0532D-2CDA-4DA3-AE8B-AF2BA412E4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6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ko-KR" sz="2400" smtClean="0">
              <a:solidFill>
                <a:schemeClr val="hlink"/>
              </a:solidFill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endParaRPr lang="ko-KR" altLang="en-US" smtClean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/>
            </a:lvl1pPr>
          </a:lstStyle>
          <a:p>
            <a:pPr>
              <a:defRPr/>
            </a:pPr>
            <a:fld id="{EB543287-8E61-4C12-A291-C6FA59490A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Times New Roman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F8D890-9E76-4D98-88D7-23416F3EF188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b="1" smtClean="0">
                <a:solidFill>
                  <a:srgbClr val="0000FF"/>
                </a:solidFill>
              </a:rPr>
              <a:t>Machine architecture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819400"/>
            <a:ext cx="7772400" cy="33528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b="1" smtClean="0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b="1" smtClean="0">
                <a:solidFill>
                  <a:srgbClr val="000000"/>
                </a:solidFill>
              </a:rPr>
              <a:t>by T. Pratt and M. Zelkowitz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b="1" smtClean="0">
                <a:solidFill>
                  <a:srgbClr val="000000"/>
                </a:solidFill>
              </a:rPr>
              <a:t>Prentice Hall, 2001</a:t>
            </a:r>
          </a:p>
          <a:p>
            <a:pPr algn="ctr" eaLnBrk="1" hangingPunct="1"/>
            <a:endParaRPr lang="en-US" altLang="ko-KR" b="1" smtClean="0">
              <a:solidFill>
                <a:srgbClr val="000000"/>
              </a:solidFill>
            </a:endParaRPr>
          </a:p>
          <a:p>
            <a:pPr algn="ctr" eaLnBrk="1" hangingPunct="1"/>
            <a:endParaRPr lang="en-US" altLang="ko-KR" b="1" smtClean="0">
              <a:solidFill>
                <a:srgbClr val="000000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ko-KR" b="1" smtClean="0">
                <a:solidFill>
                  <a:srgbClr val="000000"/>
                </a:solidFill>
              </a:rPr>
              <a:t>Chapter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2148C7-66CD-4E77-A2BD-D7B10D703AF5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Typical machine design</a:t>
            </a:r>
          </a:p>
        </p:txBody>
      </p:sp>
      <p:pic>
        <p:nvPicPr>
          <p:cNvPr id="5124" name="Picture 3" descr="00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734300" cy="287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1066800" y="4876800"/>
            <a:ext cx="46482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kumimoji="0" lang="en-US" altLang="ko-KR"/>
              <a:t>Two cycles:</a:t>
            </a:r>
          </a:p>
          <a:p>
            <a:pPr latinLnBrk="0">
              <a:spcBef>
                <a:spcPct val="50000"/>
              </a:spcBef>
              <a:buClrTx/>
              <a:buFontTx/>
              <a:buChar char="•"/>
            </a:pPr>
            <a:r>
              <a:rPr kumimoji="0" lang="en-US" altLang="ko-KR"/>
              <a:t>Fetch cycle - get instruction</a:t>
            </a:r>
          </a:p>
          <a:p>
            <a:pPr latinLnBrk="0">
              <a:spcBef>
                <a:spcPct val="50000"/>
              </a:spcBef>
              <a:buClrTx/>
              <a:buFontTx/>
              <a:buChar char="•"/>
            </a:pPr>
            <a:r>
              <a:rPr kumimoji="0" lang="en-US" altLang="ko-KR"/>
              <a:t>Execute cycle - do operation</a:t>
            </a:r>
          </a:p>
          <a:p>
            <a:pPr latinLnBrk="0">
              <a:spcBef>
                <a:spcPct val="50000"/>
              </a:spcBef>
              <a:buClrTx/>
              <a:buFontTx/>
              <a:buNone/>
            </a:pPr>
            <a:endParaRPr kumimoji="0" lang="en-US" altLang="ko-K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smtClean="0"/>
          </a:p>
        </p:txBody>
      </p:sp>
      <p:sp>
        <p:nvSpPr>
          <p:cNvPr id="6147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fld id="{1C38398C-F5D6-42D5-A3DC-01043081C0A5}" type="slidenum">
              <a:rPr lang="en-US" altLang="ko-KR" smtClean="0"/>
              <a:pPr/>
              <a:t>3</a:t>
            </a:fld>
            <a:endParaRPr lang="en-US" altLang="ko-KR" smtClean="0"/>
          </a:p>
        </p:txBody>
      </p:sp>
      <p:pic>
        <p:nvPicPr>
          <p:cNvPr id="6148" name="Picture 2" descr="https://upload.wikimedia.org/wikipedia/commons/thumb/e/ea/MIPS_Architecture_%28Pipelined%29.svg/800px-MIPS_Architecture_%28Pipelined%29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81150"/>
            <a:ext cx="76200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71AD1E-5A8E-43D3-B85F-8E6899C2CE35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b="1" smtClean="0"/>
              <a:t>Typical machine execution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Typical fetch cycle</a:t>
            </a:r>
            <a:r>
              <a:rPr lang="en-US" altLang="ko-KR" sz="1600" b="1" smtClean="0">
                <a:latin typeface="Courier New" panose="02070309020205020404" pitchFamily="49" charset="0"/>
              </a:rPr>
              <a:t>: (M(x) means contents of x)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1. M(IC)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MAR [Memory Address register]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2. IC +1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IC  [Instruction Counter]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3. Read memory into MDR [Memory Data Register]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4. MDR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IR    [Instruction Register for decoding]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Typical execute cycle</a:t>
            </a:r>
            <a:r>
              <a:rPr lang="en-US" altLang="ko-KR" sz="1600" b="1" smtClean="0">
                <a:latin typeface="Courier New" panose="02070309020205020404" pitchFamily="49" charset="0"/>
              </a:rPr>
              <a:t>: (OP R,X, DISP is instruction)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1. IR decoded into OP R, EA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OP is operation code (e.g., 8 bits)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R is register (e.g., 4 bits -- 16 registers)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EA is effective address (e.g., 20 bits)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2. M(X)+DISP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MAR (EA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MAR)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3. Read memory into MDR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4. M(R)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ALU; M(MDR)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ALU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5. Do operation OP in ALU; ALU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600" b="1" smtClean="0">
                <a:latin typeface="Courier New" panose="02070309020205020404" pitchFamily="49" charset="0"/>
              </a:rPr>
              <a:t> 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For 500 MHZ</a:t>
            </a:r>
            <a:r>
              <a:rPr lang="en-US" altLang="ko-KR" sz="1600" b="1" smtClean="0">
                <a:latin typeface="Courier New" panose="02070309020205020404" pitchFamily="49" charset="0"/>
              </a:rPr>
              <a:t>: Each instruction 9-10 cycles (50 MIPS)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By overlapping fetch and execute cycles, get 60-70 MIPS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b="1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9C97D9-BAF0-4860-8246-C47DA26384D0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Typical machine translation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eaLnBrk="1" hangingPunct="1"/>
            <a:endParaRPr lang="en-US" altLang="ko-KR" sz="16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2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For example in C: As we see later, memory for data in blocks of storage pointed to by a register: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		X = Y + Z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could be translated as: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	load   	R1, R2, 28	[Location of Y]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	add     	R1, R2, 40 	[Location of Z]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	store   	R1, R2, 24	[Location of X]</a:t>
            </a:r>
          </a:p>
          <a:p>
            <a:pPr eaLnBrk="1" hangingPunct="1"/>
            <a:endParaRPr lang="en-US" altLang="ko-KR" b="1" smtClean="0"/>
          </a:p>
        </p:txBody>
      </p:sp>
      <p:pic>
        <p:nvPicPr>
          <p:cNvPr id="8197" name="Picture 4" descr="0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25336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3352800" y="1752600"/>
            <a:ext cx="5562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>
                <a:solidFill>
                  <a:srgbClr val="FF0000"/>
                </a:solidFill>
                <a:latin typeface="Courier New" panose="02070309020205020404" pitchFamily="49" charset="0"/>
              </a:rPr>
              <a:t>Instruction format:</a:t>
            </a:r>
            <a:r>
              <a:rPr kumimoji="0" lang="en-US" altLang="ko-KR">
                <a:latin typeface="Courier New" panose="02070309020205020404" pitchFamily="49" charset="0"/>
              </a:rPr>
              <a:t> </a:t>
            </a:r>
          </a:p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>
                <a:latin typeface="Courier New" panose="02070309020205020404" pitchFamily="49" charset="0"/>
              </a:rPr>
              <a:t>	Opcode	 register, index, offset</a:t>
            </a:r>
          </a:p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ko-KR">
                <a:latin typeface="Courier New" panose="02070309020205020404" pitchFamily="49" charset="0"/>
              </a:rPr>
              <a:t>	load  	 R1, R2, 24</a:t>
            </a:r>
            <a:endParaRPr kumimoji="0" lang="en-US" altLang="ko-KR" sz="2400">
              <a:latin typeface="Courier New" panose="02070309020205020404" pitchFamily="49" charset="0"/>
            </a:endParaRPr>
          </a:p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en-US" altLang="ko-KR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002318-57D0-4517-8DE6-4DD69F61E8B2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Software architectures</a:t>
            </a:r>
            <a:endParaRPr lang="en-US" altLang="ko-KR" b="1" smtClean="0">
              <a:latin typeface="Courier New" panose="02070309020205020404" pitchFamily="49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ko-KR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Previously 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Build program to use hardware efficiently. 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Often use of machine language for efficiency.</a:t>
            </a:r>
          </a:p>
          <a:p>
            <a:pPr eaLnBrk="1" hangingPunct="1"/>
            <a:endParaRPr lang="en-US" altLang="ko-KR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Today 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No longer write directly in machine language.  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Use of layers of software.</a:t>
            </a:r>
          </a:p>
          <a:p>
            <a:pPr eaLnBrk="1" hangingPunct="1"/>
            <a:r>
              <a:rPr lang="en-US" altLang="ko-KR" b="1" smtClean="0">
                <a:latin typeface="Courier New" panose="02070309020205020404" pitchFamily="49" charset="0"/>
              </a:rPr>
              <a:t>Concept of </a:t>
            </a:r>
            <a:r>
              <a:rPr lang="en-US" altLang="ko-KR" b="1" i="1" smtClean="0">
                <a:latin typeface="Courier New" panose="02070309020205020404" pitchFamily="49" charset="0"/>
              </a:rPr>
              <a:t>virtual machines</a:t>
            </a:r>
            <a:r>
              <a:rPr lang="en-US" altLang="ko-KR" b="1" smtClean="0">
                <a:latin typeface="Courier New" panose="02070309020205020404" pitchFamily="49" charset="0"/>
              </a:rPr>
              <a:t>. Each layer is a machine that provides functions for the next layer. </a:t>
            </a:r>
          </a:p>
          <a:p>
            <a:pPr eaLnBrk="1" hangingPunct="1"/>
            <a:endParaRPr lang="en-US" altLang="ko-KR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b="1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13A071-4503-4092-B32E-F93C3CAACD00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Virtual Machines</a:t>
            </a:r>
          </a:p>
        </p:txBody>
      </p:sp>
      <p:pic>
        <p:nvPicPr>
          <p:cNvPr id="10244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7640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2438400" y="15240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50000"/>
              </a:spcBef>
              <a:buClrTx/>
              <a:buFontTx/>
              <a:buNone/>
            </a:pPr>
            <a:r>
              <a:rPr kumimoji="0" lang="en-US" altLang="ko-KR">
                <a:latin typeface="Courier New" panose="02070309020205020404" pitchFamily="49" charset="0"/>
              </a:rPr>
              <a:t>Example: Web 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35CA84-D6FA-48B9-A10A-F429315FF6DD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Binding and Binding Time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01000" cy="4648200"/>
          </a:xfrm>
        </p:spPr>
        <p:txBody>
          <a:bodyPr/>
          <a:lstStyle/>
          <a:p>
            <a:pPr eaLnBrk="1" hangingPunct="1"/>
            <a:endParaRPr lang="en-US" altLang="ko-KR" sz="1600" b="1" smtClean="0"/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/>
              <a:t>Binding : program element</a:t>
            </a:r>
            <a:r>
              <a:rPr lang="ko-KR" altLang="en-US" b="1" smtClean="0"/>
              <a:t>에 속성 또는 수행에 필요한 요소를 연결하는 것</a:t>
            </a:r>
          </a:p>
          <a:p>
            <a:pPr eaLnBrk="1" hangingPunct="1">
              <a:buClr>
                <a:schemeClr val="tx1"/>
              </a:buClr>
            </a:pPr>
            <a:r>
              <a:rPr lang="ko-KR" altLang="en-US" b="1" smtClean="0"/>
              <a:t>예 </a:t>
            </a:r>
            <a:r>
              <a:rPr lang="en-US" altLang="ko-KR" b="1" smtClean="0"/>
              <a:t>:: </a:t>
            </a:r>
            <a:r>
              <a:rPr lang="ko-KR" altLang="en-US" b="1" smtClean="0"/>
              <a:t>변수 </a:t>
            </a:r>
            <a:r>
              <a:rPr lang="ko-KR" altLang="en-US" b="1" smtClean="0">
                <a:sym typeface="Wingdings" panose="05000000000000000000" pitchFamily="2" charset="2"/>
              </a:rPr>
              <a:t> 형</a:t>
            </a:r>
            <a:r>
              <a:rPr lang="en-US" altLang="ko-KR" b="1" smtClean="0">
                <a:sym typeface="Wingdings" panose="05000000000000000000" pitchFamily="2" charset="2"/>
              </a:rPr>
              <a:t>(type), </a:t>
            </a:r>
            <a:r>
              <a:rPr lang="ko-KR" altLang="en-US" b="1" smtClean="0">
                <a:sym typeface="Wingdings" panose="05000000000000000000" pitchFamily="2" charset="2"/>
              </a:rPr>
              <a:t>기억장소 </a:t>
            </a:r>
            <a:r>
              <a:rPr lang="en-US" altLang="ko-KR" b="1" smtClean="0">
                <a:sym typeface="Wingdings" panose="05000000000000000000" pitchFamily="2" charset="2"/>
              </a:rPr>
              <a:t>(memory) , </a:t>
            </a:r>
            <a:r>
              <a:rPr lang="ko-KR" altLang="en-US" b="1" smtClean="0">
                <a:sym typeface="Wingdings" panose="05000000000000000000" pitchFamily="2" charset="2"/>
              </a:rPr>
              <a:t>값</a:t>
            </a:r>
            <a:r>
              <a:rPr lang="en-US" altLang="ko-KR" b="1" smtClean="0">
                <a:sym typeface="Wingdings" panose="05000000000000000000" pitchFamily="2" charset="2"/>
              </a:rPr>
              <a:t>, </a:t>
            </a:r>
            <a:r>
              <a:rPr lang="en-US" altLang="ko-KR" b="1" smtClean="0">
                <a:latin typeface="Arial" panose="020B0604020202020204" pitchFamily="34" charset="0"/>
                <a:sym typeface="Wingdings" panose="05000000000000000000" pitchFamily="2" charset="2"/>
              </a:rPr>
              <a:t>…</a:t>
            </a:r>
            <a:endParaRPr lang="en-US" altLang="ko-KR" b="1" smtClean="0">
              <a:sym typeface="Wingdings" panose="05000000000000000000" pitchFamily="2" charset="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sym typeface="Wingdings" panose="05000000000000000000" pitchFamily="2" charset="2"/>
              </a:rPr>
              <a:t>Binding time : Binding</a:t>
            </a:r>
            <a:r>
              <a:rPr lang="ko-KR" altLang="en-US" b="1" smtClean="0">
                <a:sym typeface="Wingdings" panose="05000000000000000000" pitchFamily="2" charset="2"/>
              </a:rPr>
              <a:t>이 일어나는 시간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b="1" smtClean="0"/>
              <a:t>Execution time (run time)  ::  </a:t>
            </a:r>
            <a:r>
              <a:rPr lang="ko-KR" altLang="en-US" b="1" smtClean="0"/>
              <a:t>기억장소나 값</a:t>
            </a:r>
          </a:p>
          <a:p>
            <a:pPr lvl="2" eaLnBrk="1" hangingPunct="1"/>
            <a:r>
              <a:rPr lang="en-US" altLang="ko-KR" b="1" smtClean="0"/>
              <a:t>On entry to a subprogram or block :: C, C++</a:t>
            </a:r>
            <a:r>
              <a:rPr lang="ko-KR" altLang="en-US" b="1" smtClean="0"/>
              <a:t>의 형식인자와 실질인자의 연결</a:t>
            </a:r>
          </a:p>
          <a:p>
            <a:pPr lvl="2" eaLnBrk="1" hangingPunct="1"/>
            <a:r>
              <a:rPr lang="en-US" altLang="ko-KR" b="1" smtClean="0"/>
              <a:t>At arbitrary points during execution ::: LISP, SMALLTALK, ML, Java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b="1" smtClean="0"/>
              <a:t>Translation time</a:t>
            </a:r>
          </a:p>
          <a:p>
            <a:pPr lvl="2" eaLnBrk="1" hangingPunct="1"/>
            <a:r>
              <a:rPr lang="en-US" altLang="ko-KR" b="1" smtClean="0"/>
              <a:t>Bindings chosen by the programmer ::: </a:t>
            </a:r>
            <a:r>
              <a:rPr lang="ko-KR" altLang="en-US" b="1" smtClean="0"/>
              <a:t>변수이름</a:t>
            </a:r>
            <a:r>
              <a:rPr lang="en-US" altLang="ko-KR" b="1" smtClean="0"/>
              <a:t>, </a:t>
            </a:r>
            <a:r>
              <a:rPr lang="ko-KR" altLang="en-US" b="1" smtClean="0"/>
              <a:t>형</a:t>
            </a:r>
            <a:r>
              <a:rPr lang="en-US" altLang="ko-KR" b="1" smtClean="0"/>
              <a:t>, </a:t>
            </a:r>
          </a:p>
          <a:p>
            <a:pPr lvl="2" eaLnBrk="1" hangingPunct="1"/>
            <a:r>
              <a:rPr lang="en-US" altLang="ko-KR" b="1" smtClean="0"/>
              <a:t>Bindings chosen by the translator :::  C</a:t>
            </a:r>
            <a:r>
              <a:rPr lang="ko-KR" altLang="en-US" b="1" smtClean="0"/>
              <a:t>의 </a:t>
            </a:r>
            <a:r>
              <a:rPr lang="en-US" altLang="ko-KR" b="1" smtClean="0"/>
              <a:t>integer </a:t>
            </a:r>
            <a:r>
              <a:rPr lang="ko-KR" altLang="en-US" b="1" smtClean="0"/>
              <a:t>크기</a:t>
            </a:r>
            <a:r>
              <a:rPr lang="en-US" altLang="ko-KR" b="1" smtClean="0"/>
              <a:t>, memory class</a:t>
            </a:r>
            <a:r>
              <a:rPr lang="ko-KR" altLang="en-US" b="1" smtClean="0"/>
              <a:t>에 따른 기억위치</a:t>
            </a:r>
            <a:r>
              <a:rPr lang="en-US" altLang="ko-KR" b="1" smtClean="0"/>
              <a:t>, array</a:t>
            </a:r>
            <a:r>
              <a:rPr lang="ko-KR" altLang="en-US" b="1" smtClean="0"/>
              <a:t>의 저장방법 </a:t>
            </a:r>
            <a:r>
              <a:rPr lang="en-US" altLang="ko-KR" b="1" smtClean="0"/>
              <a:t>???</a:t>
            </a:r>
          </a:p>
          <a:p>
            <a:pPr lvl="2" eaLnBrk="1" hangingPunct="1"/>
            <a:r>
              <a:rPr lang="en-US" altLang="ko-KR" b="1" smtClean="0"/>
              <a:t>Bindings chosen by the loader (linker)  ::: external </a:t>
            </a:r>
            <a:r>
              <a:rPr lang="ko-KR" altLang="en-US" b="1" smtClean="0"/>
              <a:t>변수의 참조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A39997-C519-4933-8FA4-80D26AEA0760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Binding time (Cont.)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1600" b="1" smtClean="0"/>
              <a:t>Language Implementation time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One’s complement ? 2’s complement</a:t>
            </a:r>
          </a:p>
          <a:p>
            <a:pPr lvl="1" eaLnBrk="1" hangingPunct="1">
              <a:buClr>
                <a:schemeClr val="tx1"/>
              </a:buClr>
            </a:pPr>
            <a:r>
              <a:rPr lang="ko-KR" altLang="en-US" sz="1600" b="1" smtClean="0"/>
              <a:t>연산자의 구현 방법</a:t>
            </a:r>
            <a:r>
              <a:rPr lang="en-US" altLang="ko-KR" sz="1600" b="1" smtClean="0"/>
              <a:t>, ….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600" b="1" smtClean="0"/>
              <a:t>Language Definition time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Data structure types, statement forms, ..</a:t>
            </a:r>
          </a:p>
          <a:p>
            <a:pPr eaLnBrk="1" hangingPunct="1">
              <a:buClr>
                <a:schemeClr val="tx1"/>
              </a:buClr>
            </a:pPr>
            <a:endParaRPr lang="en-US" altLang="ko-KR" sz="1600" b="1" smtClean="0"/>
          </a:p>
          <a:p>
            <a:pPr eaLnBrk="1" hangingPunct="1">
              <a:buClr>
                <a:schemeClr val="tx1"/>
              </a:buClr>
            </a:pPr>
            <a:r>
              <a:rPr lang="ko-KR" altLang="en-US" sz="1600" b="1" smtClean="0"/>
              <a:t>예 </a:t>
            </a:r>
            <a:r>
              <a:rPr lang="en-US" altLang="ko-KR" sz="1600" b="1" smtClean="0"/>
              <a:t>::: X=X+10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X</a:t>
            </a:r>
            <a:r>
              <a:rPr lang="ko-KR" altLang="en-US" sz="1600" b="1" smtClean="0"/>
              <a:t>의 형 </a:t>
            </a:r>
          </a:p>
          <a:p>
            <a:pPr lvl="2" eaLnBrk="1" hangingPunct="1"/>
            <a:r>
              <a:rPr lang="en-US" altLang="ko-KR" sz="1600" b="1" smtClean="0"/>
              <a:t>translation time </a:t>
            </a:r>
            <a:r>
              <a:rPr lang="en-US" altLang="ko-KR" sz="1600" b="1" smtClean="0">
                <a:sym typeface="Wingdings" panose="05000000000000000000" pitchFamily="2" charset="2"/>
              </a:rPr>
              <a:t></a:t>
            </a:r>
            <a:r>
              <a:rPr lang="en-US" altLang="ko-KR" sz="1600" b="1" smtClean="0"/>
              <a:t>C, C++, Java, Ada</a:t>
            </a:r>
          </a:p>
          <a:p>
            <a:pPr lvl="2" eaLnBrk="1" hangingPunct="1"/>
            <a:r>
              <a:rPr lang="en-US" altLang="ko-KR" sz="1600" b="1" smtClean="0"/>
              <a:t>Run time </a:t>
            </a:r>
            <a:r>
              <a:rPr lang="en-US" altLang="ko-KR" sz="1600" b="1" smtClean="0">
                <a:sym typeface="Wingdings" panose="05000000000000000000" pitchFamily="2" charset="2"/>
              </a:rPr>
              <a:t> LISP, SMALLTALK, PERL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X</a:t>
            </a:r>
            <a:r>
              <a:rPr lang="ko-KR" altLang="en-US" sz="1600" b="1" smtClean="0"/>
              <a:t>에 넣을 수 있는 값의 집합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X</a:t>
            </a:r>
            <a:r>
              <a:rPr lang="ko-KR" altLang="en-US" sz="1600" b="1" smtClean="0"/>
              <a:t>의 값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10</a:t>
            </a:r>
            <a:r>
              <a:rPr lang="ko-KR" altLang="en-US" sz="1600" b="1" smtClean="0"/>
              <a:t>의 표현 </a:t>
            </a:r>
            <a:r>
              <a:rPr lang="en-US" altLang="ko-KR" sz="1600" b="1" smtClean="0"/>
              <a:t>… </a:t>
            </a:r>
            <a:r>
              <a:rPr lang="ko-KR" altLang="en-US" sz="1600" b="1" smtClean="0"/>
              <a:t>언어정의 시 </a:t>
            </a:r>
            <a:r>
              <a:rPr lang="en-US" altLang="ko-KR" sz="1600" b="1" smtClean="0"/>
              <a:t>(10</a:t>
            </a:r>
            <a:r>
              <a:rPr lang="en-US" altLang="ko-KR" sz="1600" b="1" smtClean="0">
                <a:sym typeface="Wingdings" panose="05000000000000000000" pitchFamily="2" charset="2"/>
              </a:rPr>
              <a:t> </a:t>
            </a:r>
            <a:r>
              <a:rPr lang="ko-KR" altLang="en-US" sz="1600" b="1" smtClean="0">
                <a:sym typeface="Wingdings" panose="05000000000000000000" pitchFamily="2" charset="2"/>
              </a:rPr>
              <a:t>정수</a:t>
            </a:r>
            <a:r>
              <a:rPr lang="en-US" altLang="ko-KR" sz="1600" b="1" smtClean="0">
                <a:sym typeface="Wingdings" panose="05000000000000000000" pitchFamily="2" charset="2"/>
              </a:rPr>
              <a:t>, ’10’)</a:t>
            </a:r>
            <a:r>
              <a:rPr lang="en-US" altLang="ko-KR" sz="1600" b="1" smtClean="0"/>
              <a:t>, </a:t>
            </a:r>
            <a:r>
              <a:rPr lang="ko-KR" altLang="en-US" sz="1600" b="1" smtClean="0"/>
              <a:t>언어구현 시 </a:t>
            </a:r>
            <a:r>
              <a:rPr lang="en-US" altLang="ko-KR" sz="1600" b="1" smtClean="0"/>
              <a:t>(10</a:t>
            </a:r>
            <a:r>
              <a:rPr lang="ko-KR" altLang="en-US" sz="1600" b="1" smtClean="0"/>
              <a:t>의 표현</a:t>
            </a:r>
            <a:r>
              <a:rPr lang="en-US" altLang="ko-KR" sz="1600" b="1" smtClean="0"/>
              <a:t>)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600" b="1" smtClean="0"/>
              <a:t>‘+’</a:t>
            </a:r>
            <a:r>
              <a:rPr lang="ko-KR" altLang="en-US" sz="1600" b="1" smtClean="0"/>
              <a:t>의 의미 </a:t>
            </a:r>
          </a:p>
          <a:p>
            <a:pPr lvl="2" eaLnBrk="1" hangingPunct="1"/>
            <a:r>
              <a:rPr lang="ko-KR" altLang="en-US" sz="1600" b="1" smtClean="0"/>
              <a:t>‘</a:t>
            </a:r>
            <a:r>
              <a:rPr lang="en-US" altLang="ko-KR" sz="1600" b="1" smtClean="0"/>
              <a:t>+’ </a:t>
            </a:r>
            <a:r>
              <a:rPr lang="en-US" altLang="ko-KR" sz="1600" b="1" smtClean="0">
                <a:sym typeface="Wingdings" panose="05000000000000000000" pitchFamily="2" charset="2"/>
              </a:rPr>
              <a:t> addition(</a:t>
            </a:r>
            <a:r>
              <a:rPr lang="ko-KR" altLang="en-US" sz="1600" b="1" smtClean="0">
                <a:sym typeface="Wingdings" panose="05000000000000000000" pitchFamily="2" charset="2"/>
              </a:rPr>
              <a:t>언어정의 시</a:t>
            </a:r>
            <a:r>
              <a:rPr lang="en-US" altLang="ko-KR" sz="1600" b="1" smtClean="0">
                <a:sym typeface="Wingdings" panose="05000000000000000000" pitchFamily="2" charset="2"/>
              </a:rPr>
              <a:t>), overload </a:t>
            </a:r>
            <a:r>
              <a:rPr lang="ko-KR" altLang="en-US" sz="1600" b="1" smtClean="0">
                <a:sym typeface="Wingdings" panose="05000000000000000000" pitchFamily="2" charset="2"/>
              </a:rPr>
              <a:t>해결 </a:t>
            </a:r>
            <a:r>
              <a:rPr lang="en-US" altLang="ko-KR" sz="1600" b="1" smtClean="0">
                <a:sym typeface="Wingdings" panose="05000000000000000000" pitchFamily="2" charset="2"/>
              </a:rPr>
              <a:t>(compile </a:t>
            </a:r>
            <a:r>
              <a:rPr lang="ko-KR" altLang="en-US" sz="1600" b="1" smtClean="0">
                <a:sym typeface="Wingdings" panose="05000000000000000000" pitchFamily="2" charset="2"/>
              </a:rPr>
              <a:t>시</a:t>
            </a:r>
            <a:r>
              <a:rPr lang="en-US" altLang="ko-KR" sz="1600" b="1" smtClean="0">
                <a:sym typeface="Wingdings" panose="05000000000000000000" pitchFamily="2" charset="2"/>
              </a:rPr>
              <a:t>), </a:t>
            </a:r>
            <a:r>
              <a:rPr lang="ko-KR" altLang="en-US" sz="1600" b="1" smtClean="0">
                <a:sym typeface="Wingdings" panose="05000000000000000000" pitchFamily="2" charset="2"/>
              </a:rPr>
              <a:t>더하기가 구현되는 방법 </a:t>
            </a:r>
            <a:r>
              <a:rPr lang="en-US" altLang="ko-KR" sz="1600" b="1" smtClean="0">
                <a:sym typeface="Wingdings" panose="05000000000000000000" pitchFamily="2" charset="2"/>
              </a:rPr>
              <a:t>(implementation time), </a:t>
            </a:r>
            <a:r>
              <a:rPr lang="ko-KR" altLang="en-US" sz="1600" b="1" smtClean="0">
                <a:sym typeface="Wingdings" panose="05000000000000000000" pitchFamily="2" charset="2"/>
              </a:rPr>
              <a:t>실제연산 </a:t>
            </a:r>
            <a:r>
              <a:rPr lang="en-US" altLang="ko-KR" sz="1600" b="1" smtClean="0">
                <a:sym typeface="Wingdings" panose="05000000000000000000" pitchFamily="2" charset="2"/>
              </a:rPr>
              <a:t>(execution time)</a:t>
            </a:r>
            <a:endParaRPr lang="en-US" altLang="ko-KR" sz="1600" b="1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27896C-9FE2-480B-B5EB-3702ECDA7021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smtClean="0"/>
              <a:t>Binding time and languages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ko-KR" b="1" smtClean="0"/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/>
              <a:t>C, C++, Ada, FORTRAN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b="1" smtClean="0"/>
              <a:t> 	 </a:t>
            </a:r>
            <a:r>
              <a:rPr lang="en-US" altLang="ko-KR" b="1" smtClean="0">
                <a:sym typeface="Wingdings" panose="05000000000000000000" pitchFamily="2" charset="2"/>
              </a:rPr>
              <a:t> translation time binding (early binding)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sym typeface="Wingdings" panose="05000000000000000000" pitchFamily="2" charset="2"/>
              </a:rPr>
              <a:t>LISP, ML, Perl, HTML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b="1" smtClean="0">
                <a:sym typeface="Wingdings" panose="05000000000000000000" pitchFamily="2" charset="2"/>
              </a:rPr>
              <a:t>	 runtime binding (late binding)</a:t>
            </a:r>
          </a:p>
          <a:p>
            <a:pPr eaLnBrk="1" hangingPunct="1">
              <a:buClr>
                <a:schemeClr val="tx1"/>
              </a:buClr>
            </a:pPr>
            <a:endParaRPr lang="en-US" altLang="ko-KR" b="1" smtClean="0">
              <a:sym typeface="Wingdings" panose="05000000000000000000" pitchFamily="2" charset="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sym typeface="Wingdings" panose="05000000000000000000" pitchFamily="2" charset="2"/>
              </a:rPr>
              <a:t>Binding and scope rule</a:t>
            </a:r>
          </a:p>
          <a:p>
            <a:pPr eaLnBrk="1" hangingPunct="1">
              <a:buClr>
                <a:schemeClr val="tx1"/>
              </a:buClr>
            </a:pPr>
            <a:endParaRPr lang="en-US" altLang="ko-KR" b="1" smtClean="0">
              <a:sym typeface="Wingdings" panose="05000000000000000000" pitchFamily="2" charset="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b="1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8ECC54-0F67-466F-BA5F-8D5F16B93CBD}" type="slidenum">
              <a:rPr lang="en-US" altLang="ko-KR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최근 경향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CISC -&gt; RISC -&gt; CISC (Pentium</a:t>
            </a:r>
            <a:r>
              <a:rPr lang="ko-KR" altLang="en-US" sz="1400" smtClean="0"/>
              <a:t>으로 </a:t>
            </a:r>
            <a:r>
              <a:rPr lang="en-US" altLang="ko-KR" sz="1400" smtClean="0"/>
              <a:t>CPU</a:t>
            </a:r>
            <a:r>
              <a:rPr lang="ko-KR" altLang="en-US" sz="1400" smtClean="0"/>
              <a:t>는 통일</a:t>
            </a:r>
            <a:r>
              <a:rPr lang="en-US" altLang="ko-KR" sz="1400" smtClean="0"/>
              <a:t>???)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Multi-core microprocessor : dual-core, twin core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400" smtClean="0"/>
              <a:t>Chip-level multiprocessing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400" smtClean="0"/>
              <a:t>Thread-level parallelism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1400" smtClean="0"/>
              <a:t>법률적 문제</a:t>
            </a:r>
            <a:r>
              <a:rPr lang="en-US" altLang="ko-KR" sz="1400" smtClean="0"/>
              <a:t>!!!!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sz="1400" smtClean="0"/>
              <a:t>분산처리</a:t>
            </a:r>
            <a:r>
              <a:rPr lang="en-US" altLang="ko-KR" sz="1400" smtClean="0"/>
              <a:t>, Multi-processing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P2P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Grid Computing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Global network </a:t>
            </a:r>
            <a:r>
              <a:rPr lang="ko-KR" altLang="en-US" sz="1400" smtClean="0"/>
              <a:t>환경에서 거대한 </a:t>
            </a:r>
            <a:r>
              <a:rPr lang="en-US" altLang="ko-KR" sz="1400" smtClean="0"/>
              <a:t>Grid</a:t>
            </a:r>
            <a:r>
              <a:rPr lang="ko-KR" altLang="en-US" sz="1400" smtClean="0"/>
              <a:t>에 기반한 분산 처리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400" smtClean="0"/>
              <a:t>Sensor network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400" smtClean="0"/>
              <a:t>Random, Small World, Scalable network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Service-oriented architecture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Event-driven approach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JINI of SUN, .Net of Microsoft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High-parallel  processing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400" smtClean="0"/>
              <a:t>GPU</a:t>
            </a:r>
            <a:r>
              <a:rPr lang="ko-KR" altLang="en-US" sz="1400" smtClean="0"/>
              <a:t>를 이용한 대용량 정보처리</a:t>
            </a:r>
            <a:r>
              <a:rPr lang="en-US" altLang="ko-KR" sz="1400" smtClean="0"/>
              <a:t>:  </a:t>
            </a:r>
            <a:r>
              <a:rPr lang="ko-KR" altLang="en-US" sz="1400" smtClean="0"/>
              <a:t>인공지능</a:t>
            </a:r>
            <a:r>
              <a:rPr lang="en-US" altLang="ko-KR" sz="1400" smtClean="0"/>
              <a:t>(</a:t>
            </a:r>
            <a:r>
              <a:rPr lang="ko-KR" altLang="en-US" sz="1400" smtClean="0"/>
              <a:t>기계학습</a:t>
            </a:r>
            <a:r>
              <a:rPr lang="en-US" altLang="ko-KR" sz="1400" smtClean="0"/>
              <a:t>), big-data </a:t>
            </a:r>
            <a:r>
              <a:rPr lang="ko-KR" altLang="en-US" sz="1400" smtClean="0"/>
              <a:t>처리  </a:t>
            </a:r>
            <a:endParaRPr lang="en-US" altLang="ko-KR" sz="1400" smtClean="0"/>
          </a:p>
          <a:p>
            <a:pPr eaLnBrk="1" hangingPunct="1">
              <a:lnSpc>
                <a:spcPct val="90000"/>
              </a:lnSpc>
            </a:pPr>
            <a:endParaRPr lang="en-US" altLang="ko-KR" sz="16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3263</TotalTime>
  <Words>738</Words>
  <Application>Microsoft Office PowerPoint</Application>
  <PresentationFormat>화면 슬라이드 쇼(4:3)</PresentationFormat>
  <Paragraphs>123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Times New Roman</vt:lpstr>
      <vt:lpstr>굴림</vt:lpstr>
      <vt:lpstr>Arial</vt:lpstr>
      <vt:lpstr>Wingdings</vt:lpstr>
      <vt:lpstr>Courier New</vt:lpstr>
      <vt:lpstr>Symbol</vt:lpstr>
      <vt:lpstr>기본 디자인</vt:lpstr>
      <vt:lpstr>Machine architecture</vt:lpstr>
      <vt:lpstr>Typical machine design</vt:lpstr>
      <vt:lpstr>PowerPoint 프레젠테이션</vt:lpstr>
      <vt:lpstr>Typical machine execution</vt:lpstr>
      <vt:lpstr>Typical machine translation</vt:lpstr>
      <vt:lpstr>Software architectures</vt:lpstr>
      <vt:lpstr>Virtual Machines</vt:lpstr>
      <vt:lpstr>Binding and Binding Time</vt:lpstr>
      <vt:lpstr>Binding time (Cont.)</vt:lpstr>
      <vt:lpstr>Binding time and languages</vt:lpstr>
      <vt:lpstr>최근 경향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21</cp:revision>
  <dcterms:created xsi:type="dcterms:W3CDTF">2000-11-03T06:26:37Z</dcterms:created>
  <dcterms:modified xsi:type="dcterms:W3CDTF">2020-03-25T03:09:48Z</dcterms:modified>
</cp:coreProperties>
</file>