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2" d="100"/>
          <a:sy n="112" d="100"/>
        </p:scale>
        <p:origin x="486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CBD7E31-2D65-4B40-9A6C-261E5B90024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D3EE3E4E-7008-4367-9505-9B937CCAB95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D3E32F-9593-4544-AB87-664A23BBA36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27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8D7E32-6AFD-48D7-B83E-B03CF96EA07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25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48A207-AA45-47E0-868E-3D16616B76E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779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B92058-0627-4EC6-B24C-38B43D8C4A5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38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CF8AB-4342-41E7-8444-C6A42C1D3F8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21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84455F-FA31-464B-BA31-CF4534756AC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892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3F0E6F-A834-41EC-A9EA-2BDE1375CE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886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22D34D-D4AD-49F2-991C-F2587CBBF83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702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DA9EE9-F17A-4940-A544-B918FE64837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371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B2CCBF-7C87-4292-94F3-5EB86884E0E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955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F39675-AF19-4CDD-AB79-9C568773A77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425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ko-KR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ko-KR"/>
              <a:t>Activation records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2E32C400-9283-4571-9D93-12311D696B5C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4000" b="1" smtClean="0">
                <a:solidFill>
                  <a:srgbClr val="0000FF"/>
                </a:solidFill>
              </a:rPr>
              <a:t>Activation records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pPr eaLnBrk="1" hangingPunct="1"/>
            <a:r>
              <a:rPr lang="en-US" altLang="ko-KR" sz="2400" b="1" smtClean="0">
                <a:solidFill>
                  <a:srgbClr val="000000"/>
                </a:solidFill>
              </a:rPr>
              <a:t>by T. Pratt and M. Zelkowitz</a:t>
            </a:r>
          </a:p>
          <a:p>
            <a:pPr eaLnBrk="1" hangingPunct="1"/>
            <a:r>
              <a:rPr lang="en-US" altLang="ko-KR" sz="2400" b="1" smtClean="0">
                <a:solidFill>
                  <a:srgbClr val="000000"/>
                </a:solidFill>
              </a:rPr>
              <a:t>Prentice Hall, 2001</a:t>
            </a:r>
          </a:p>
          <a:p>
            <a:pPr eaLnBrk="1" hangingPunct="1"/>
            <a:endParaRPr lang="en-US" altLang="ko-KR" sz="2400" b="1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ko-KR" sz="2400" b="1" smtClean="0">
                <a:solidFill>
                  <a:srgbClr val="000000"/>
                </a:solidFill>
              </a:rPr>
              <a:t>Section 9.1-9.2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307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E8DEF6D-51EE-4570-9F57-FED2ECAA411A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2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Subprogram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ko-KR" sz="2400" b="1" smtClean="0">
              <a:latin typeface="Courier New" panose="02070309020205020404" pitchFamily="49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Simple Call-Return Subprograms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Simple copy as Macros 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FORTRAN Types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Current-instruction pointer (CIP) 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Current-environment pointers(CEP)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 </a:t>
            </a:r>
            <a:r>
              <a:rPr lang="ko-KR" altLang="en-US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간단하게 설명 </a:t>
            </a:r>
            <a:endParaRPr lang="ko-KR" altLang="en-US" sz="1800" b="1" smtClean="0">
              <a:latin typeface="Courier New" panose="02070309020205020404" pitchFamily="49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ko-KR" altLang="en-US" sz="1800" b="1" smtClean="0">
              <a:latin typeface="Courier New" panose="02070309020205020404" pitchFamily="49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Recursive Call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409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B8A53295-9253-473E-BA3C-261CA8EBEDB1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Subprogram control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Remember that data storage for subprograms is in an activation record.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var X: integer;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X is of type integer.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L-value of X is some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specific offset in an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activation record.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Goal is to look at locating activation record for P.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Given an expression: X = Y + Z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Locate activation record containing Y.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Get L-value of Y from fixed location in activation record.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3. Repeat process for Z and then X.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  <p:pic>
        <p:nvPicPr>
          <p:cNvPr id="4102" name="Picture 4" descr="C:\documents\pratt\330-jpg\08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09800"/>
            <a:ext cx="3962400" cy="1447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512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8F09AF5A-2CC3-4E13-B5CB-10F1A860A602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Scope rules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Scope rules</a:t>
            </a:r>
            <a:r>
              <a:rPr lang="en-US" altLang="ko-KR" sz="1800" b="1" smtClean="0">
                <a:latin typeface="Courier New" panose="02070309020205020404" pitchFamily="49" charset="0"/>
              </a:rPr>
              <a:t>: The scope of a variable is the set of statements where the variable may be accessed (i.e., named) in a program.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Static scope</a:t>
            </a:r>
            <a:r>
              <a:rPr lang="en-US" altLang="ko-KR" sz="1800" b="1" smtClean="0">
                <a:latin typeface="Courier New" panose="02070309020205020404" pitchFamily="49" charset="0"/>
              </a:rPr>
              <a:t>: Scope is dependent on the syntax of the program.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Dynamic scope</a:t>
            </a:r>
            <a:r>
              <a:rPr lang="en-US" altLang="ko-KR" sz="1800" b="1" smtClean="0">
                <a:latin typeface="Courier New" panose="02070309020205020404" pitchFamily="49" charset="0"/>
              </a:rPr>
              <a:t>: Scope is determined by the execution of the program.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Static nested scope</a:t>
            </a:r>
            <a:r>
              <a:rPr lang="en-US" altLang="ko-KR" sz="1800" b="1" smtClean="0">
                <a:latin typeface="Courier New" panose="02070309020205020404" pitchFamily="49" charset="0"/>
              </a:rPr>
              <a:t>: A variable is accessible in the procedure it is declared in, and all procedures internal to that procedure, except a new declaration of that variable name in an internal procedure will eliminate the new variable's scope from the scope of the outer variable.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 variable declared in a procedure is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local</a:t>
            </a:r>
            <a:r>
              <a:rPr lang="en-US" altLang="ko-KR" sz="1800" b="1" smtClean="0">
                <a:latin typeface="Courier New" panose="02070309020205020404" pitchFamily="49" charset="0"/>
              </a:rPr>
              <a:t> in that procedure; otherwise it is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global</a:t>
            </a:r>
            <a:r>
              <a:rPr lang="en-US" altLang="ko-KR" sz="1800" b="1" smtClean="0">
                <a:latin typeface="Courier New" panose="02070309020205020404" pitchFamily="49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614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229F9F28-9516-446F-889E-A52E7A007EDF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5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Review of scope rules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191000"/>
            <a:ext cx="7772400" cy="19923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Q and T are declarations of procedures within P, so the scope of names Q and T is same as scope of declaration 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R and S are declarations of procedures in Q.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U is a declaration of a procedure in 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Storage managed by adding activation records, when procedure invoked, on a stack.</a:t>
            </a:r>
          </a:p>
        </p:txBody>
      </p:sp>
      <p:pic>
        <p:nvPicPr>
          <p:cNvPr id="6150" name="Picture 4" descr="C:\documents\pratt\330-jpg\0850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0"/>
            <a:ext cx="5410200" cy="2438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717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DAE6A8C-12A8-4326-BB46-52B352120D79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Activation record stack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657600"/>
            <a:ext cx="80772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Problem is:</a:t>
            </a:r>
            <a:r>
              <a:rPr lang="en-US" altLang="ko-KR" sz="1800" b="1" smtClean="0">
                <a:latin typeface="Courier New" panose="02070309020205020404" pitchFamily="49" charset="0"/>
              </a:rPr>
              <a:t> How to manage this execution stack?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Two pointers perform this function: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Dynamic link pointer</a:t>
            </a:r>
            <a:r>
              <a:rPr lang="en-US" altLang="ko-KR" sz="1800" b="1" smtClean="0">
                <a:latin typeface="Courier New" panose="02070309020205020404" pitchFamily="49" charset="0"/>
              </a:rPr>
              <a:t> points to activation record that called (invoked) the new activation record. It is used for returning from the procedure to the calling procedure.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Static link pointer</a:t>
            </a:r>
            <a:r>
              <a:rPr lang="en-US" altLang="ko-KR" sz="1800" b="1" smtClean="0">
                <a:latin typeface="Courier New" panose="02070309020205020404" pitchFamily="49" charset="0"/>
              </a:rPr>
              <a:t> points to the activation record that is global to the current activation record (i.e., points to the activation record of the procedure containing the declaration of this procedure).</a:t>
            </a:r>
          </a:p>
        </p:txBody>
      </p:sp>
      <p:pic>
        <p:nvPicPr>
          <p:cNvPr id="7174" name="Picture 4" descr="C:\documents\pratt\330-jpg\0850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00200"/>
            <a:ext cx="5562600" cy="1905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819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C03E6BE-A6AE-48CD-8408-01943A5294E5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Activation record structure</a:t>
            </a:r>
          </a:p>
        </p:txBody>
      </p:sp>
      <p:pic>
        <p:nvPicPr>
          <p:cNvPr id="8197" name="Picture 3" descr="C:\documents\pratt\JPG\8.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0200"/>
            <a:ext cx="6553200" cy="4419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921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5E96336-757A-4412-9B61-6B1FCD97C518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Example of activation record stack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7244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For following examples, assume following static program and stack:</a:t>
            </a:r>
          </a:p>
        </p:txBody>
      </p:sp>
      <p:pic>
        <p:nvPicPr>
          <p:cNvPr id="9222" name="Picture 4" descr="C:\documents\pratt\330-jpg\086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62200"/>
            <a:ext cx="5410200" cy="3886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024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26F9DC5-1BA3-4F9C-B553-3948D0330600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Activation record example 1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Example 1. In R: C := B+A; 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 C local, A and B global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For each variable, get pointer to proper activation record.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Assume AR is current activation record pointer (R).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B is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one</a:t>
            </a:r>
            <a:r>
              <a:rPr lang="en-US" altLang="ko-KR" sz="1800" b="1" smtClean="0">
                <a:latin typeface="Courier New" panose="02070309020205020404" pitchFamily="49" charset="0"/>
              </a:rPr>
              <a:t> level back: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	Follow AR.SL to get AR containing B.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	Get R-value of B from fixed offset L-value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A is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two</a:t>
            </a:r>
            <a:r>
              <a:rPr lang="en-US" altLang="ko-KR" sz="1800" b="1" smtClean="0">
                <a:latin typeface="Courier New" panose="02070309020205020404" pitchFamily="49" charset="0"/>
              </a:rPr>
              <a:t> levels back: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	Follow (AR.SL).SL to get activation record containing A.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	Add R-value of A from fixed offset L-value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3. C is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local</a:t>
            </a:r>
            <a:r>
              <a:rPr lang="en-US" altLang="ko-KR" sz="1800" b="1" smtClean="0">
                <a:latin typeface="Courier New" panose="02070309020205020404" pitchFamily="49" charset="0"/>
              </a:rPr>
              <a:t>. AR points to correct activation record.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	Store sum of B+A into L-value of 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126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54B2B9E1-A4A1-43A2-9F03-EA5E0DE7D602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Activation record example 2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Example 2. Execution in procedure Q: A := B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	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 B is local, A global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Assume AR is current activation record pointer (Q)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B is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now</a:t>
            </a:r>
            <a:r>
              <a:rPr lang="en-US" altLang="ko-KR" sz="1800" b="1" smtClean="0">
                <a:latin typeface="Courier New" panose="02070309020205020404" pitchFamily="49" charset="0"/>
              </a:rPr>
              <a:t> local. AR points to activation record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- Get R-value from local activation record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A is now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one</a:t>
            </a:r>
            <a:r>
              <a:rPr lang="en-US" altLang="ko-KR" sz="1800" b="1" smtClean="0">
                <a:latin typeface="Courier New" panose="02070309020205020404" pitchFamily="49" charset="0"/>
              </a:rPr>
              <a:t> level back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AR.SL is activation record of P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- Store R-value of B into L-value of A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Compiler knows static structure, so it can generate the number of static link chains it has to access in order to access the correct activation record containing the data object. </a:t>
            </a:r>
            <a:r>
              <a:rPr lang="en-US" altLang="ko-KR" sz="1800" b="1" smtClean="0">
                <a:latin typeface="Courier New" panose="02070309020205020404" pitchFamily="49" charset="0"/>
              </a:rPr>
              <a:t>This is a compile time, not a runtime calculation.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229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7894543C-540E-4929-B7B1-215BE1A6502E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11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Use of displays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1534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Problem with static links: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Many links to follow if deeply nested. </a:t>
            </a:r>
            <a:r>
              <a:rPr lang="en-US" altLang="ko-KR" sz="1800" b="1" smtClean="0">
                <a:solidFill>
                  <a:srgbClr val="0066FF"/>
                </a:solidFill>
                <a:latin typeface="Courier New" panose="02070309020205020404" pitchFamily="49" charset="0"/>
              </a:rPr>
              <a:t>(But how common is that?)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Use of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displays</a:t>
            </a:r>
            <a:r>
              <a:rPr lang="en-US" altLang="ko-KR" sz="1800" b="1" smtClean="0">
                <a:latin typeface="Courier New" panose="02070309020205020404" pitchFamily="49" charset="0"/>
              </a:rPr>
              <a:t> reduces access always to 2 instructions: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Access Display[I] = Act. Rec. pointer at level 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Get L-value of variable (fixed offset in act. rec.)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Activation record structure:</a:t>
            </a:r>
          </a:p>
        </p:txBody>
      </p:sp>
      <p:pic>
        <p:nvPicPr>
          <p:cNvPr id="12294" name="Picture 4" descr="C:\documents\pratt\330-jpg\0870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191000"/>
            <a:ext cx="5410200" cy="1981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331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1E75E27-8B9B-4E95-BE56-6BD36F641510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Display for previous example</a:t>
            </a:r>
          </a:p>
        </p:txBody>
      </p:sp>
      <p:pic>
        <p:nvPicPr>
          <p:cNvPr id="13317" name="Picture 3" descr="C:\documents\pratt\330-jpg\0870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4252913" cy="4648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433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7B86E26-C540-4B91-9E53-26A7A046CBE4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13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Accessing variables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153400" cy="434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Data access is always a 2-step process: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[If non-local]       Load Reg1, Display[I]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[For all]            Load Reg2, L-value offset (Reg1)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Size of activation record for a procedure</a:t>
            </a:r>
            <a:r>
              <a:rPr lang="en-US" altLang="ko-KR" sz="1800" b="1" smtClean="0">
                <a:latin typeface="Courier New" panose="02070309020205020404" pitchFamily="49" charset="0"/>
              </a:rPr>
              <a:t>: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Housekeeping storage (Fixed size = K):</a:t>
            </a:r>
          </a:p>
          <a:p>
            <a:pPr lvl="1" eaLnBrk="1" hangingPunct="1"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Dynamic Link</a:t>
            </a:r>
          </a:p>
          <a:p>
            <a:pPr lvl="1" eaLnBrk="1" hangingPunct="1"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Return address (in source program)</a:t>
            </a:r>
          </a:p>
          <a:p>
            <a:pPr lvl="1" eaLnBrk="1" hangingPunct="1"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End of activation record</a:t>
            </a:r>
          </a:p>
          <a:p>
            <a:pPr lvl="1" eaLnBrk="1" hangingPunct="1"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Registers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Display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Local data storage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536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1D709FAB-8B96-4D07-9E5D-7C55D6655560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14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Creating activation records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229600" cy="4724400"/>
          </a:xfrm>
        </p:spPr>
        <p:txBody>
          <a:bodyPr/>
          <a:lstStyle/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To create new activation record (e.g., P calls Q):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Assume have pointer to P's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1. Get EndStack pointer from P's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This is start of Q's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2. Add K+NewDisplaySize+LocalStorageSize.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3. Save as new EndStack in Q's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4. Set DL in Q to point to old activation record (P).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5. Fill in housekeeping in Q's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6. Set up new display in Q's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endParaRPr lang="en-US" altLang="ko-KR" sz="16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To create a new display to call from level I to level J: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Copy Display[1..J-1] from calling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Add new activation record pointer as Display[J].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To return: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Use dynamic link in current activation record to get old activation record.</a:t>
            </a: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Use return address in housekeeping area to jump to.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0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638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B090E4BE-9095-4462-903E-AF6E71F5E209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Blocks in C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2296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Blocks in C are handled as union record types: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P()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{ int I;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{int J;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. . .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{ int K; int L;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. . .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. . .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J and K cannot exist at the same time, so use the same space for them.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  <p:pic>
        <p:nvPicPr>
          <p:cNvPr id="16390" name="Picture 4" descr="C:\documents\pratt\330-jpg\089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495800"/>
            <a:ext cx="3200400" cy="1600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741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75C2067B-C151-4D61-A7E7-D5846D785464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Optimizations in activation record design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886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Instead of displays, use M registers only: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E.g., M1, M2, M3, M4 only.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What if a procedure is nested 5 deep?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1. Illegal program?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2. Spill to displays only in this case?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Note that C was designed for efficient execution: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No nested procedures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No need for displays or static links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But needs dynamic links.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843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73F90949-32AE-4D32-99D1-B4F88F444287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C++ storage access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General properties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Procedure allocations follow general rules of C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Allocate activation records on a stack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No need for static links, but need dynamic links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Class variables are allocated like structs in C.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[Structs in C++ can have function members. Functions in structs are by default public, while in a class are by default private.]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3. Static functions are not represented in runtime activation records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4. Objects requiring dynamic binding (i.e., virtual functions) are present in runtime activation records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1945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87EE152C-57BB-4D17-BC36-73A84A527A27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18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Sample C++ allocation example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class A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public: int x;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virtual void p() {...};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void q() {...p()...};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protected: int y;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private: int Z;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...}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class B:A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public: int w;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virtual void p() {...};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void r() {...p()...};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private: int v;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virtual void s() {...};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...}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2048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E0BEE9D-6A69-4DE8-B0D8-043E4824A8D4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Symbol table for example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Name	Type	Access		Mode		Location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X		var	public		static		A(1)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		func	public		dynamic	A(2)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Q		func	public		static		addr of proc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Y		var	protected	static		A(3)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Z		var	private	static		A(4)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W		var	public		static		B(5)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		func	public		dynamic	A(2)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R		func	public		static		Addr of proc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V		var	private	static		B(6)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S		func	private	dynamic	B(7)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21507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C82E1FE6-E262-4501-9D26-E3EE9985BBA8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5791200" y="2590800"/>
            <a:ext cx="21336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09" name="Rectangle 3"/>
          <p:cNvSpPr>
            <a:spLocks noChangeArrowheads="1"/>
          </p:cNvSpPr>
          <p:nvPr/>
        </p:nvSpPr>
        <p:spPr bwMode="auto">
          <a:xfrm>
            <a:off x="5791200" y="3124200"/>
            <a:ext cx="21336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5791200" y="3657600"/>
            <a:ext cx="21336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5791200" y="4191000"/>
            <a:ext cx="21336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12" name="Rectangle 6"/>
          <p:cNvSpPr>
            <a:spLocks noChangeArrowheads="1"/>
          </p:cNvSpPr>
          <p:nvPr/>
        </p:nvSpPr>
        <p:spPr bwMode="auto">
          <a:xfrm>
            <a:off x="5791200" y="4724400"/>
            <a:ext cx="21336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13" name="Rectangle 7"/>
          <p:cNvSpPr>
            <a:spLocks noChangeArrowheads="1"/>
          </p:cNvSpPr>
          <p:nvPr/>
        </p:nvSpPr>
        <p:spPr bwMode="auto">
          <a:xfrm>
            <a:off x="5791200" y="5257800"/>
            <a:ext cx="2133600" cy="45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14" name="Rectangle 8"/>
          <p:cNvSpPr>
            <a:spLocks noChangeArrowheads="1"/>
          </p:cNvSpPr>
          <p:nvPr/>
        </p:nvSpPr>
        <p:spPr bwMode="auto">
          <a:xfrm>
            <a:off x="5791200" y="2057400"/>
            <a:ext cx="21336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1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Class instance records at runtime</a:t>
            </a:r>
          </a:p>
        </p:txBody>
      </p:sp>
      <p:sp>
        <p:nvSpPr>
          <p:cNvPr id="21516" name="Rectangle 10"/>
          <p:cNvSpPr>
            <a:spLocks noChangeArrowheads="1"/>
          </p:cNvSpPr>
          <p:nvPr/>
        </p:nvSpPr>
        <p:spPr bwMode="auto">
          <a:xfrm>
            <a:off x="838200" y="2133600"/>
            <a:ext cx="2209800" cy="2514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17" name="Rectangle 11"/>
          <p:cNvSpPr>
            <a:spLocks noChangeArrowheads="1"/>
          </p:cNvSpPr>
          <p:nvPr/>
        </p:nvSpPr>
        <p:spPr bwMode="auto">
          <a:xfrm>
            <a:off x="838200" y="2819400"/>
            <a:ext cx="2209800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endParaRPr kumimoji="0" lang="ko-KR" altLang="ko-KR" sz="36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8" name="Line 12"/>
          <p:cNvSpPr>
            <a:spLocks noChangeShapeType="1"/>
          </p:cNvSpPr>
          <p:nvPr/>
        </p:nvSpPr>
        <p:spPr bwMode="auto">
          <a:xfrm>
            <a:off x="838200" y="3429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19" name="Text Box 13"/>
          <p:cNvSpPr txBox="1">
            <a:spLocks noChangeArrowheads="1"/>
          </p:cNvSpPr>
          <p:nvPr/>
        </p:nvSpPr>
        <p:spPr bwMode="auto">
          <a:xfrm>
            <a:off x="1066800" y="2438400"/>
            <a:ext cx="190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X: R-value</a:t>
            </a:r>
          </a:p>
        </p:txBody>
      </p:sp>
      <p:sp>
        <p:nvSpPr>
          <p:cNvPr id="21520" name="Rectangle 14"/>
          <p:cNvSpPr>
            <a:spLocks noChangeArrowheads="1"/>
          </p:cNvSpPr>
          <p:nvPr/>
        </p:nvSpPr>
        <p:spPr bwMode="auto">
          <a:xfrm>
            <a:off x="990600" y="36576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Y: R-value</a:t>
            </a:r>
          </a:p>
        </p:txBody>
      </p:sp>
      <p:sp>
        <p:nvSpPr>
          <p:cNvPr id="21521" name="Rectangle 15"/>
          <p:cNvSpPr>
            <a:spLocks noChangeArrowheads="1"/>
          </p:cNvSpPr>
          <p:nvPr/>
        </p:nvSpPr>
        <p:spPr bwMode="auto">
          <a:xfrm>
            <a:off x="990600" y="41910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Z: R-value</a:t>
            </a:r>
          </a:p>
        </p:txBody>
      </p:sp>
      <p:sp>
        <p:nvSpPr>
          <p:cNvPr id="21522" name="Rectangle 16"/>
          <p:cNvSpPr>
            <a:spLocks noChangeArrowheads="1"/>
          </p:cNvSpPr>
          <p:nvPr/>
        </p:nvSpPr>
        <p:spPr bwMode="auto">
          <a:xfrm>
            <a:off x="914400" y="30480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P: Addr of  P in A</a:t>
            </a:r>
          </a:p>
        </p:txBody>
      </p:sp>
      <p:sp>
        <p:nvSpPr>
          <p:cNvPr id="21523" name="Rectangle 17"/>
          <p:cNvSpPr>
            <a:spLocks noChangeArrowheads="1"/>
          </p:cNvSpPr>
          <p:nvPr/>
        </p:nvSpPr>
        <p:spPr bwMode="auto">
          <a:xfrm>
            <a:off x="1371600" y="5105400"/>
            <a:ext cx="901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rgbClr val="FF0000"/>
                </a:solidFill>
                <a:latin typeface="Times New Roman" panose="02020603050405020304" pitchFamily="18" charset="0"/>
              </a:rPr>
              <a:t>Class A</a:t>
            </a:r>
            <a:endParaRPr kumimoji="0"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21524" name="Rectangle 18"/>
          <p:cNvSpPr>
            <a:spLocks noChangeArrowheads="1"/>
          </p:cNvSpPr>
          <p:nvPr/>
        </p:nvSpPr>
        <p:spPr bwMode="auto">
          <a:xfrm>
            <a:off x="6248400" y="2209800"/>
            <a:ext cx="1193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X: R-value</a:t>
            </a:r>
          </a:p>
        </p:txBody>
      </p:sp>
      <p:sp>
        <p:nvSpPr>
          <p:cNvPr id="21525" name="Rectangle 19"/>
          <p:cNvSpPr>
            <a:spLocks noChangeArrowheads="1"/>
          </p:cNvSpPr>
          <p:nvPr/>
        </p:nvSpPr>
        <p:spPr bwMode="auto">
          <a:xfrm>
            <a:off x="6019800" y="5334000"/>
            <a:ext cx="177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S: Addr of S in B</a:t>
            </a:r>
            <a:endParaRPr kumimoji="0"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21526" name="Rectangle 20"/>
          <p:cNvSpPr>
            <a:spLocks noChangeArrowheads="1"/>
          </p:cNvSpPr>
          <p:nvPr/>
        </p:nvSpPr>
        <p:spPr bwMode="auto">
          <a:xfrm>
            <a:off x="6248400" y="4876800"/>
            <a:ext cx="1193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V: R-value</a:t>
            </a:r>
            <a:endParaRPr kumimoji="0"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21527" name="Rectangle 21"/>
          <p:cNvSpPr>
            <a:spLocks noChangeArrowheads="1"/>
          </p:cNvSpPr>
          <p:nvPr/>
        </p:nvSpPr>
        <p:spPr bwMode="auto">
          <a:xfrm>
            <a:off x="6248400" y="4343400"/>
            <a:ext cx="124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W: R-value</a:t>
            </a:r>
            <a:endParaRPr kumimoji="0"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21528" name="Rectangle 22"/>
          <p:cNvSpPr>
            <a:spLocks noChangeArrowheads="1"/>
          </p:cNvSpPr>
          <p:nvPr/>
        </p:nvSpPr>
        <p:spPr bwMode="auto">
          <a:xfrm>
            <a:off x="6248400" y="3810000"/>
            <a:ext cx="116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Z: R-value</a:t>
            </a:r>
            <a:endParaRPr kumimoji="0"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21529" name="Rectangle 23"/>
          <p:cNvSpPr>
            <a:spLocks noChangeArrowheads="1"/>
          </p:cNvSpPr>
          <p:nvPr/>
        </p:nvSpPr>
        <p:spPr bwMode="auto">
          <a:xfrm>
            <a:off x="6248400" y="3276600"/>
            <a:ext cx="1193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Y: R-value</a:t>
            </a:r>
          </a:p>
        </p:txBody>
      </p:sp>
      <p:sp>
        <p:nvSpPr>
          <p:cNvPr id="21530" name="Rectangle 24"/>
          <p:cNvSpPr>
            <a:spLocks noChangeArrowheads="1"/>
          </p:cNvSpPr>
          <p:nvPr/>
        </p:nvSpPr>
        <p:spPr bwMode="auto">
          <a:xfrm>
            <a:off x="6019800" y="2743200"/>
            <a:ext cx="177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chemeClr val="bg2"/>
                </a:solidFill>
                <a:latin typeface="Times New Roman" panose="02020603050405020304" pitchFamily="18" charset="0"/>
              </a:rPr>
              <a:t>P: Addr of P in B</a:t>
            </a:r>
            <a:endParaRPr kumimoji="0"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21531" name="Rectangle 25"/>
          <p:cNvSpPr>
            <a:spLocks noChangeArrowheads="1"/>
          </p:cNvSpPr>
          <p:nvPr/>
        </p:nvSpPr>
        <p:spPr bwMode="auto">
          <a:xfrm>
            <a:off x="6172200" y="5791200"/>
            <a:ext cx="88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solidFill>
                  <a:srgbClr val="FF0000"/>
                </a:solidFill>
                <a:latin typeface="Times New Roman" panose="02020603050405020304" pitchFamily="18" charset="0"/>
              </a:rPr>
              <a:t>Class B</a:t>
            </a:r>
            <a:endParaRPr kumimoji="0" lang="en-US" altLang="ko-KR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Activation records</a:t>
            </a:r>
          </a:p>
        </p:txBody>
      </p:sp>
      <p:sp>
        <p:nvSpPr>
          <p:cNvPr id="2253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6D0333A-E5A0-4796-8CA6-24B2E61D7BBF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2400" b="1" smtClean="0">
                <a:latin typeface="Courier New" panose="02070309020205020404" pitchFamily="49" charset="0"/>
              </a:rPr>
              <a:t>추가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ko-KR" sz="2400" b="1" smtClean="0">
              <a:latin typeface="Courier New" panose="02070309020205020404" pitchFamily="49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FORTRAN</a:t>
            </a:r>
            <a:r>
              <a:rPr lang="ko-KR" altLang="en-US" sz="1800" b="1" smtClean="0">
                <a:latin typeface="Courier New" panose="02070309020205020404" pitchFamily="49" charset="0"/>
              </a:rPr>
              <a:t>의 </a:t>
            </a:r>
            <a:r>
              <a:rPr lang="en-US" altLang="ko-KR" sz="1800" b="1" smtClean="0">
                <a:latin typeface="Courier New" panose="02070309020205020404" pitchFamily="49" charset="0"/>
              </a:rPr>
              <a:t>COMMON</a:t>
            </a:r>
            <a:r>
              <a:rPr lang="ko-KR" altLang="en-US" sz="1800" b="1" smtClean="0">
                <a:latin typeface="Courier New" panose="02070309020205020404" pitchFamily="49" charset="0"/>
              </a:rPr>
              <a:t>문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ko-KR" altLang="en-US" sz="1800" b="1" smtClean="0">
              <a:latin typeface="Courier New" panose="02070309020205020404" pitchFamily="49" charset="0"/>
            </a:endParaRP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</a:t>
            </a:r>
            <a:r>
              <a:rPr lang="ko-KR" altLang="en-US" sz="1800" b="1" smtClean="0">
                <a:latin typeface="Courier New" panose="02070309020205020404" pitchFamily="49" charset="0"/>
              </a:rPr>
              <a:t>간단히 설명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endParaRPr lang="ko-KR" altLang="en-US" sz="1800" b="1" smtClean="0">
              <a:latin typeface="Courier New" panose="02070309020205020404" pitchFamily="49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Function parameter</a:t>
            </a:r>
            <a:r>
              <a:rPr lang="ko-KR" altLang="en-US" sz="1800" b="1" smtClean="0">
                <a:latin typeface="Courier New" panose="02070309020205020404" pitchFamily="49" charset="0"/>
              </a:rPr>
              <a:t>에서 </a:t>
            </a:r>
            <a:r>
              <a:rPr lang="en-US" altLang="ko-KR" sz="1800" b="1" smtClean="0">
                <a:latin typeface="Courier New" panose="02070309020205020404" pitchFamily="49" charset="0"/>
              </a:rPr>
              <a:t>scope rule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- </a:t>
            </a:r>
            <a:r>
              <a:rPr lang="ko-KR" altLang="en-US" sz="1800" b="1" smtClean="0">
                <a:latin typeface="Courier New" panose="02070309020205020404" pitchFamily="49" charset="0"/>
              </a:rPr>
              <a:t>환경 접근방법 간단히 설명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3170</TotalTime>
  <Words>1563</Words>
  <Application>Microsoft Office PowerPoint</Application>
  <PresentationFormat>화면 슬라이드 쇼(4:3)</PresentationFormat>
  <Paragraphs>240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굴림</vt:lpstr>
      <vt:lpstr>Arial</vt:lpstr>
      <vt:lpstr>Wingdings</vt:lpstr>
      <vt:lpstr>Times New Roman</vt:lpstr>
      <vt:lpstr>Courier New</vt:lpstr>
      <vt:lpstr>Symbol</vt:lpstr>
      <vt:lpstr>기본 디자인</vt:lpstr>
      <vt:lpstr>Activation records</vt:lpstr>
      <vt:lpstr>Subprogram</vt:lpstr>
      <vt:lpstr>Subprogram control</vt:lpstr>
      <vt:lpstr>Scope rules</vt:lpstr>
      <vt:lpstr>Review of scope rules</vt:lpstr>
      <vt:lpstr>Activation record stack</vt:lpstr>
      <vt:lpstr>Activation record structure</vt:lpstr>
      <vt:lpstr>Example of activation record stack</vt:lpstr>
      <vt:lpstr>Activation record example 1</vt:lpstr>
      <vt:lpstr>Activation record example 2</vt:lpstr>
      <vt:lpstr>Use of displays</vt:lpstr>
      <vt:lpstr>Display for previous example</vt:lpstr>
      <vt:lpstr>Accessing variables</vt:lpstr>
      <vt:lpstr>Creating activation records</vt:lpstr>
      <vt:lpstr>Blocks in C</vt:lpstr>
      <vt:lpstr>Optimizations in activation record design</vt:lpstr>
      <vt:lpstr>C++ storage access</vt:lpstr>
      <vt:lpstr>Sample C++ allocation example</vt:lpstr>
      <vt:lpstr>Symbol table for example</vt:lpstr>
      <vt:lpstr>Class instance records at runtime</vt:lpstr>
      <vt:lpstr>추가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5</cp:revision>
  <dcterms:created xsi:type="dcterms:W3CDTF">2000-11-03T06:26:37Z</dcterms:created>
  <dcterms:modified xsi:type="dcterms:W3CDTF">2020-05-19T02:23:58Z</dcterms:modified>
</cp:coreProperties>
</file>