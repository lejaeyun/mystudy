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04D4C54-C8BF-4831-96B3-8426973039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F0A0C472-938B-41DE-9802-E50ED5BD78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50626-CE93-4D64-92FE-1C5A78D57D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777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439BC-6FE8-4CBE-B8EC-8FCEEDE353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599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2B264-CADD-4F57-81D5-BA18B1E59E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837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45376-447F-4039-92B5-5FB86E101F2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8602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1E7C4-CDD4-4BF8-9E8C-22E0381E24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373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9202A-97A9-4ED6-A473-A60697D7AF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0735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90417-B914-4813-BFA9-1772170C29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025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7F2CA-4F2C-4462-892D-C2FCAAF464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13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2639B-F128-4747-AF56-E5AB4A3A86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035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445BA-0272-40FF-92AD-649CEC2ABF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79E66-18D2-4985-B0B3-F40CDFCF62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916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ctr" eaLnBrk="1" hangingPunct="1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C3186AA2-0873-4A6F-B2BE-B7A9862D22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8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600" b="1" smtClean="0">
                <a:solidFill>
                  <a:srgbClr val="0000FF"/>
                </a:solidFill>
              </a:rPr>
              <a:t>Pushdown automata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6600"/>
            <a:ext cx="6400800" cy="2362200"/>
          </a:xfrm>
        </p:spPr>
        <p:txBody>
          <a:bodyPr/>
          <a:lstStyle/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by T. Pratt and M. Zelkowitz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Prentice Hall, 2001</a:t>
            </a:r>
          </a:p>
          <a:p>
            <a:pPr eaLnBrk="1" hangingPunct="1"/>
            <a:endParaRPr lang="en-US" altLang="ko-KR" sz="1800" b="1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</a:rPr>
              <a:t>Section 3.3.4- 4.1</a:t>
            </a:r>
            <a:endParaRPr lang="en-US" altLang="ko-KR" sz="320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4784E-EFC9-415B-AE8E-849FCDEAD672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Chomsky Hierarchy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Regular Grammar (Type 3)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 Finite State Machine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Context-free Grammar (Type 2)  Push down automata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Context-sensitive grammar (Type 1)  bounded Turing machine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  <a:sym typeface="Wingdings" panose="05000000000000000000" pitchFamily="2" charset="2"/>
              </a:rPr>
              <a:t> aX -&gt; ab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  <a:sym typeface="Wingdings" panose="05000000000000000000" pitchFamily="2" charset="2"/>
              </a:rPr>
              <a:t> BA -&gt; AB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Unrestricted grammar (Type 0)  Turing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Context sensitive grammar</a:t>
            </a:r>
            <a:endParaRPr lang="ko-KR" altLang="en-US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 smtClean="0"/>
              <a:t>어떻게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스트링을</a:t>
            </a:r>
            <a:r>
              <a:rPr lang="ko-KR" altLang="en-US" dirty="0" smtClean="0"/>
              <a:t> 보고 해당 문법을 찾는가</a:t>
            </a:r>
            <a:r>
              <a:rPr lang="en-US" altLang="ko-KR" dirty="0" smtClean="0"/>
              <a:t>?</a:t>
            </a:r>
          </a:p>
          <a:p>
            <a:pPr eaLnBrk="1" hangingPunct="1">
              <a:defRPr/>
            </a:pPr>
            <a:endParaRPr lang="en-US" altLang="ko-KR" dirty="0" smtClean="0"/>
          </a:p>
          <a:p>
            <a:pPr eaLnBrk="1" hangingPunct="1">
              <a:defRPr/>
            </a:pPr>
            <a:r>
              <a:rPr lang="en-US" altLang="ko-KR" dirty="0" smtClean="0"/>
              <a:t> S -&gt;  A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A -&gt; a </a:t>
            </a:r>
            <a:r>
              <a:rPr lang="en-US" altLang="ko-KR" dirty="0" err="1" smtClean="0"/>
              <a:t>A</a:t>
            </a:r>
            <a:r>
              <a:rPr lang="en-US" altLang="ko-KR" dirty="0" smtClean="0"/>
              <a:t> B C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A -&gt; a b C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C B -&gt; B C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b </a:t>
            </a:r>
            <a:r>
              <a:rPr lang="en-US" altLang="ko-KR" dirty="0" err="1" smtClean="0"/>
              <a:t>B</a:t>
            </a:r>
            <a:r>
              <a:rPr lang="en-US" altLang="ko-KR" dirty="0" smtClean="0"/>
              <a:t> -&gt; b </a:t>
            </a:r>
            <a:r>
              <a:rPr lang="en-US" altLang="ko-KR" dirty="0" err="1" smtClean="0"/>
              <a:t>b</a:t>
            </a:r>
            <a:endParaRPr lang="en-US" altLang="ko-KR" dirty="0" smtClean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b C -&gt; b c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dirty="0" smtClean="0"/>
              <a:t>       c </a:t>
            </a:r>
            <a:r>
              <a:rPr lang="en-US" altLang="ko-KR" dirty="0" err="1" smtClean="0"/>
              <a:t>C</a:t>
            </a:r>
            <a:r>
              <a:rPr lang="en-US" altLang="ko-KR" dirty="0" smtClean="0"/>
              <a:t> -&gt; c </a:t>
            </a:r>
            <a:r>
              <a:rPr lang="en-US" altLang="ko-KR" dirty="0" err="1" smtClean="0"/>
              <a:t>c</a:t>
            </a:r>
            <a:endParaRPr lang="en-US" altLang="ko-KR" dirty="0" smtClean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ko-KR" dirty="0" smtClean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pl-PL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9D4BDC-B9C8-400C-9FBF-8351169F084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6028C-97B4-41B6-B516-C0C6166EC960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Undecidability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</a:rPr>
              <a:t>Turing machine (1936)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</a:rPr>
              <a:t>Church’s thesis </a:t>
            </a:r>
            <a:r>
              <a:rPr lang="en-US" altLang="ko-KR" b="1" smtClean="0">
                <a:latin typeface="Courier New" panose="02070309020205020404" pitchFamily="49" charset="0"/>
                <a:sym typeface="Wingdings" panose="05000000000000000000" pitchFamily="2" charset="2"/>
              </a:rPr>
              <a:t> Any computable function can be computed by a Turing machine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  <a:sym typeface="Wingdings" panose="05000000000000000000" pitchFamily="2" charset="2"/>
              </a:rPr>
              <a:t>Undecidable  A program that has no general algorithm for its solution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ko-KR" b="1" smtClean="0">
                <a:latin typeface="Courier New" panose="02070309020205020404" pitchFamily="49" charset="0"/>
                <a:sym typeface="Wingdings" panose="05000000000000000000" pitchFamily="2" charset="2"/>
              </a:rPr>
              <a:t>Halting problem, Busy Beaver problem, …</a:t>
            </a:r>
            <a:endParaRPr lang="en-US" altLang="ko-KR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BDA252-27B9-457C-94CD-EA98ED5EFEC9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Pushdown Automaton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pushdown automaton</a:t>
            </a:r>
            <a:r>
              <a:rPr lang="en-US" altLang="ko-KR" sz="1800" b="1" smtClean="0">
                <a:latin typeface="Courier New" panose="02070309020205020404" pitchFamily="49" charset="0"/>
              </a:rPr>
              <a:t> (PDA) is an abstract model machine similar to the FSA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It has a finite set of states. However, in addition, it has a pushdown stack. Moves of the PDA are as follows: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1. An input symbol is read and the top symbol on the stack is read.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2. Based on both inputs, the machine enters a new state and writes zero or more symbols onto the pushdown stack.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3. Acceptance of a string occurs if the stack is ever empty. (Alternatively, acceptance can be if the PDA is in a final state. Both models can be shown to be equivalent.)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06EB7-9467-477E-B04B-B54661DE0608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Power of PDAs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PDAs are more powerful than FSAs. 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n</a:t>
            </a:r>
            <a:r>
              <a:rPr lang="en-US" altLang="ko-KR" sz="1800" b="1" smtClean="0">
                <a:latin typeface="Courier New" panose="02070309020205020404" pitchFamily="49" charset="0"/>
              </a:rPr>
              <a:t>b</a:t>
            </a:r>
            <a:r>
              <a:rPr lang="en-US" altLang="ko-KR" sz="1800" b="1" baseline="30000" smtClean="0">
                <a:latin typeface="Courier New" panose="02070309020205020404" pitchFamily="49" charset="0"/>
              </a:rPr>
              <a:t>n</a:t>
            </a:r>
            <a:r>
              <a:rPr lang="en-US" altLang="ko-KR" sz="1800" b="1" smtClean="0">
                <a:latin typeface="Courier New" panose="02070309020205020404" pitchFamily="49" charset="0"/>
              </a:rPr>
              <a:t>, which cannot be recognized by an FSA, can easily be recognized by the PDA.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Stack all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a</a:t>
            </a:r>
            <a:r>
              <a:rPr lang="en-US" altLang="ko-KR" sz="1800" b="1" smtClean="0">
                <a:latin typeface="Courier New" panose="02070309020205020404" pitchFamily="49" charset="0"/>
              </a:rPr>
              <a:t> symbols and, for each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b</a:t>
            </a:r>
            <a:r>
              <a:rPr lang="en-US" altLang="ko-KR" sz="1800" b="1" smtClean="0">
                <a:latin typeface="Courier New" panose="02070309020205020404" pitchFamily="49" charset="0"/>
              </a:rPr>
              <a:t>, pop an </a:t>
            </a:r>
            <a:r>
              <a:rPr lang="en-US" altLang="ko-KR" sz="18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a</a:t>
            </a:r>
            <a:r>
              <a:rPr lang="en-US" altLang="ko-KR" sz="1800" b="1" smtClean="0">
                <a:latin typeface="Courier New" panose="02070309020205020404" pitchFamily="49" charset="0"/>
              </a:rPr>
              <a:t> off the stack. 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If the end of input is reached at the same time that the stack becomes empty, the string is accepted.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It is less clear that the languages accepted by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PDAs are equivalent to the context-free languages.</a:t>
            </a:r>
            <a:endParaRPr lang="en-US" altLang="ko-KR" sz="320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6D8C5-0AFE-48F2-97A1-D8DEE415B5E4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PDAs to produce derivation strings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Given some BNF (context free grammar). Produce the leftmost derivation of a string using a PDA:</a:t>
            </a:r>
          </a:p>
          <a:p>
            <a:pPr eaLnBrk="1" hangingPunct="1"/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1. If the top of the stack is a terminal symbol, compare it to the next input symbol; pop it off the stack if the same. It is an error if the symbols do not match.</a:t>
            </a:r>
          </a:p>
          <a:p>
            <a:pPr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2. If the top of the stack is a nonterminal symbol X, replace X on the stack with some string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,</a:t>
            </a:r>
            <a:r>
              <a:rPr lang="en-US" altLang="ko-KR" sz="1600" b="1" smtClean="0">
                <a:latin typeface="Courier New" panose="02070309020205020404" pitchFamily="49" charset="0"/>
              </a:rPr>
              <a:t> where 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</a:t>
            </a:r>
            <a:r>
              <a:rPr lang="en-US" altLang="ko-KR" sz="1600" b="1" smtClean="0">
                <a:latin typeface="Courier New" panose="02070309020205020404" pitchFamily="49" charset="0"/>
              </a:rPr>
              <a:t> is the right hand side of some production X</a:t>
            </a:r>
            <a:r>
              <a:rPr lang="en-US" altLang="ko-KR" sz="16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 .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This PDA now simulates the leftmost derivation for some context-free grammar.</a:t>
            </a:r>
          </a:p>
          <a:p>
            <a:pPr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This construction actually develops a nondeterministic PDA that is equivalent to the corresponding BNF grammar. (i.e., step 2 may have multiple options.)</a:t>
            </a:r>
            <a:endParaRPr lang="en-US" altLang="ko-KR" sz="240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71034E-24F2-4973-B733-FD536448DEDA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NDPDAs are different from DPDAs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What is the relationship between deterministic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PDAs and nondeterministic PDAs? </a:t>
            </a:r>
            <a:r>
              <a:rPr lang="en-US" altLang="ko-KR" sz="14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They are different</a:t>
            </a:r>
            <a:r>
              <a:rPr lang="en-US" altLang="ko-KR" sz="1400" b="1" smtClean="0">
                <a:latin typeface="Courier New" panose="02070309020205020404" pitchFamily="49" charset="0"/>
              </a:rPr>
              <a:t>.</a:t>
            </a:r>
          </a:p>
          <a:p>
            <a:pPr eaLnBrk="1" hangingPunct="1"/>
            <a:endParaRPr lang="en-US" altLang="ko-KR" sz="14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Consider the set of palindromes, strings reading the same forward and backward, generated by the grammar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		S </a:t>
            </a:r>
            <a:r>
              <a:rPr lang="en-US" altLang="ko-KR" sz="14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400" b="1" smtClean="0">
                <a:latin typeface="Courier New" panose="02070309020205020404" pitchFamily="49" charset="0"/>
              </a:rPr>
              <a:t> 0S0 | 1S1 | 2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We can recognize such strings by a deterministic PDA:</a:t>
            </a:r>
          </a:p>
          <a:p>
            <a:pPr lvl="1"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1. Stack all 0s and 1s as read.</a:t>
            </a:r>
          </a:p>
          <a:p>
            <a:pPr lvl="1"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2. Enter a new state upon reading a 2.</a:t>
            </a:r>
          </a:p>
          <a:p>
            <a:pPr lvl="1" eaLnBrk="1" hangingPunct="1"/>
            <a:r>
              <a:rPr lang="en-US" altLang="ko-KR" sz="1600" b="1" smtClean="0">
                <a:latin typeface="Courier New" panose="02070309020205020404" pitchFamily="49" charset="0"/>
              </a:rPr>
              <a:t>3. Compare each new input to the top of stack, and pop stack.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However, consider the following set of palindromes: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		S </a:t>
            </a:r>
            <a:r>
              <a:rPr lang="en-US" altLang="ko-KR" sz="14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400" b="1" smtClean="0">
                <a:latin typeface="Courier New" panose="02070309020205020404" pitchFamily="49" charset="0"/>
              </a:rPr>
              <a:t> 0S0 | 1S1 | 0 | 1</a:t>
            </a:r>
          </a:p>
          <a:p>
            <a:pPr eaLnBrk="1" hangingPunct="1"/>
            <a:r>
              <a:rPr lang="en-US" altLang="ko-KR" sz="1400" b="1" smtClean="0">
                <a:latin typeface="Courier New" panose="02070309020205020404" pitchFamily="49" charset="0"/>
              </a:rPr>
              <a:t>In this case, we never know where the middle of the string is. To recognize these palindromes, the automaton must guess where the middle of the string is (i.e., is nondeterministic). </a:t>
            </a:r>
            <a:endParaRPr lang="en-US" altLang="ko-KR" sz="240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63307E-F078-4BCA-9109-4E82151F421D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PDA example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Given the palindrome 011010110, the PDA needs to guess where the middle symbol is: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Stack: 		Guess Middle:   Match remainder: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 				0   			11010110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 			  	1   			1010110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   			1   			010110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011   			0   			10110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0110   		1   			0110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01101   		0   			110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011010   		1   			10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0110101   		1   			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01101011   		0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Only the fifth option, where the machine guesses that 0110 is the first half, terminates successfully.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If some sequence of guesses leads to a complete parse of the input string, then the string is valid according to the grammar.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04C64-6D8C-4B75-8E92-366325472994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Language-machine equivalence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Already shown: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Regular languages = FSA = NDFSA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Context free languages = NDPDA. It can be shown that NDPDA not the same as DPDA</a:t>
            </a:r>
            <a:endParaRPr lang="en-US" altLang="ko-KR" sz="1800" b="1" smtClean="0"/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For context sensitive languages, we have Linear Bounded Automata (LBA)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For unrestricted languages we have Turing machines (TM)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Unrestricted languages = TM = NDTM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Context sensitive languages = NDLBA.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It is still unknown if NDLBA=DLBA</a:t>
            </a:r>
          </a:p>
          <a:p>
            <a:pPr eaLnBrk="1" hangingPunct="1"/>
            <a:endParaRPr lang="en-US" altLang="ko-KR" sz="240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E041A8-F2A9-4410-BF03-6E9330D264F5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Grammar-machine equivalence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ko-KR" smtClean="0"/>
          </a:p>
        </p:txBody>
      </p:sp>
      <p:pic>
        <p:nvPicPr>
          <p:cNvPr id="14341" name="Picture 4" descr="C:\documents\pratt\330-jpg\machin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934200" cy="4876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E5D23-0764-4246-A5D3-08C463F6E645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General parsing algorithms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Knuth in 1965 showed that the deterministic PDAs were equivalent to a class of grammars called LR(k) [Left-to-right parsing with k symbol lookahead]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Create a PDA that would decide whether to stack the next symbol or pop a symbol off the stack by looking k symbols ahead.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This is a deterministic process.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For k=1 process is efficient.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Tools built to process LR(k) grammars (YACC - Yet Another Compiler Compiler)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LR(k), SLR(k) [Simple LR(k)], and LALR(k) [Lookahead LR(k)] are all techniques used today to build efficient parsers.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3236</TotalTime>
  <Words>999</Words>
  <Application>Microsoft Office PowerPoint</Application>
  <PresentationFormat>화면 슬라이드 쇼(4:3)</PresentationFormat>
  <Paragraphs>106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바탕</vt:lpstr>
      <vt:lpstr>Arial</vt:lpstr>
      <vt:lpstr>Times New Roman</vt:lpstr>
      <vt:lpstr>굴림</vt:lpstr>
      <vt:lpstr>Wingdings</vt:lpstr>
      <vt:lpstr>Courier New</vt:lpstr>
      <vt:lpstr>Symbol</vt:lpstr>
      <vt:lpstr>기본 디자인</vt:lpstr>
      <vt:lpstr>Pushdown automata</vt:lpstr>
      <vt:lpstr>Chomsky Hierarchy</vt:lpstr>
      <vt:lpstr>Context sensitive grammar</vt:lpstr>
      <vt:lpstr>Undecidability</vt:lpstr>
      <vt:lpstr>Pushdown Automaton</vt:lpstr>
      <vt:lpstr>Power of PDAs</vt:lpstr>
      <vt:lpstr>PDAs to produce derivation strings</vt:lpstr>
      <vt:lpstr>NDPDAs are different from DPDAs</vt:lpstr>
      <vt:lpstr>PDA example</vt:lpstr>
      <vt:lpstr>Language-machine equivalence</vt:lpstr>
      <vt:lpstr>Grammar-machine equivalence</vt:lpstr>
      <vt:lpstr>General parsing algorithms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9</cp:revision>
  <dcterms:created xsi:type="dcterms:W3CDTF">2000-11-03T06:26:37Z</dcterms:created>
  <dcterms:modified xsi:type="dcterms:W3CDTF">2020-04-06T02:25:39Z</dcterms:modified>
</cp:coreProperties>
</file>