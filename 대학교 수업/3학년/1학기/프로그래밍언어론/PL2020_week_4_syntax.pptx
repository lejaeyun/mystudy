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762" y="102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-196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E04555A-FD07-4143-89DF-AFE8D96DFB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128F8E58-165A-43D4-84E0-65F23CC772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5867B-7F7D-4C9E-BB37-F34E680BDE8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026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05C2C-D59F-4117-80F0-2C37152EA3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537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AF3CC-C999-4912-A6BA-B3DD87976BE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36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9BFDD7-AAA7-4512-A8F4-9D47E9DD70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7826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7B75B-B49B-461C-B0C1-C12A406EA4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5435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B382D-BE83-4CFB-B4DF-DCD6482FF8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5042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62445D-2E2F-42B1-A919-795F26A1B6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08141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0980F-97C5-4568-B9E0-8924D31B6F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6304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FA14B-FEC3-4655-9F3F-A19FEC4F39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3230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E1DEA-1DC1-41C2-A77F-EB4B89D2A2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955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8B9AC-FF2A-4FB0-B6DB-1BF6955D75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117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algn="ctr" eaLnBrk="1" hangingPunct="1">
              <a:defRPr/>
            </a:pPr>
            <a:endParaRPr lang="ko-KR" altLang="ko-KR" smtClean="0">
              <a:solidFill>
                <a:schemeClr val="hlink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27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 smtClean="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166B1F41-BFA1-4521-9546-5582D72EFAF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3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mtClean="0">
                <a:solidFill>
                  <a:schemeClr val="accent2"/>
                </a:solidFill>
              </a:rPr>
              <a:t>Language Translation Issues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5052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General Syntactic Criteria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33E9F8-1C03-46F5-B931-DED4EB74BA9F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General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Syntax : the arrangement of words as elements in a sentence to show their relationship</a:t>
            </a:r>
          </a:p>
          <a:p>
            <a:pPr lvl="1" eaLnBrk="1" hangingPunct="1"/>
            <a:r>
              <a:rPr lang="en-US" altLang="ko-KR" smtClean="0"/>
              <a:t>Formal grammar </a:t>
            </a:r>
            <a:r>
              <a:rPr lang="en-US" altLang="ko-KR" smtClean="0">
                <a:sym typeface="Wingdings" panose="05000000000000000000" pitchFamily="2" charset="2"/>
              </a:rPr>
              <a:t> CFG, BNF Yacc</a:t>
            </a:r>
            <a:r>
              <a:rPr lang="en-US" altLang="ko-KR" smtClean="0"/>
              <a:t> </a:t>
            </a:r>
          </a:p>
          <a:p>
            <a:pPr eaLnBrk="1" hangingPunct="1"/>
            <a:r>
              <a:rPr lang="en-US" altLang="ko-KR" smtClean="0"/>
              <a:t>Semantics : Understanding of what a program means</a:t>
            </a:r>
          </a:p>
          <a:p>
            <a:pPr lvl="1" eaLnBrk="1" hangingPunct="1"/>
            <a:r>
              <a:rPr lang="en-US" altLang="ko-KR" smtClean="0"/>
              <a:t>The use of declaration, operations, sequence control, referencing environments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4227AEB-1EDA-451B-9A68-A7AC35EA7932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400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PL and syntax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ko-KR" sz="2400" smtClean="0"/>
              <a:t>To provide a notation for communication between the programmer and the programming language processor</a:t>
            </a:r>
          </a:p>
          <a:p>
            <a:pPr eaLnBrk="1" hangingPunct="1"/>
            <a:r>
              <a:rPr lang="en-US" altLang="ko-KR" sz="2400" smtClean="0"/>
              <a:t>Value of type real number ?? </a:t>
            </a:r>
          </a:p>
          <a:p>
            <a:pPr lvl="1" eaLnBrk="1" hangingPunct="1"/>
            <a:r>
              <a:rPr lang="ko-KR" altLang="en-US" sz="2000" smtClean="0"/>
              <a:t>변수이름</a:t>
            </a:r>
            <a:r>
              <a:rPr lang="en-US" altLang="ko-KR" sz="2000" smtClean="0"/>
              <a:t>: C, FORTRAN(naming convention)</a:t>
            </a:r>
          </a:p>
          <a:p>
            <a:pPr lvl="1" eaLnBrk="1" hangingPunct="1"/>
            <a:r>
              <a:rPr lang="ko-KR" altLang="en-US" sz="2000" smtClean="0"/>
              <a:t>실수상수 표현</a:t>
            </a:r>
            <a:r>
              <a:rPr lang="en-US" altLang="ko-KR" sz="2000" smtClean="0"/>
              <a:t>: normalization, 3.2e-12</a:t>
            </a:r>
          </a:p>
          <a:p>
            <a:pPr lvl="1" eaLnBrk="1" hangingPunct="1"/>
            <a:r>
              <a:rPr lang="ko-KR" altLang="en-US" sz="2000" smtClean="0"/>
              <a:t>값</a:t>
            </a:r>
            <a:r>
              <a:rPr lang="en-US" altLang="ko-KR" sz="2000" smtClean="0"/>
              <a:t>(</a:t>
            </a:r>
            <a:r>
              <a:rPr lang="ko-KR" altLang="en-US" sz="2000" smtClean="0"/>
              <a:t>하드웨어</a:t>
            </a:r>
            <a:r>
              <a:rPr lang="en-US" altLang="ko-KR" sz="2000" smtClean="0"/>
              <a:t>): IEEE </a:t>
            </a:r>
            <a:r>
              <a:rPr lang="ko-KR" altLang="en-US" sz="2000" smtClean="0"/>
              <a:t>표준</a:t>
            </a:r>
            <a:r>
              <a:rPr lang="en-US" altLang="ko-KR" sz="2000" smtClean="0"/>
              <a:t>, IBM </a:t>
            </a:r>
            <a:r>
              <a:rPr lang="ko-KR" altLang="en-US" sz="2000" smtClean="0"/>
              <a:t>표준</a:t>
            </a:r>
            <a:r>
              <a:rPr lang="en-US" altLang="ko-KR" sz="2000" smtClean="0"/>
              <a:t>…</a:t>
            </a:r>
          </a:p>
          <a:p>
            <a:pPr eaLnBrk="1" hangingPunct="1"/>
            <a:r>
              <a:rPr lang="en-US" altLang="ko-KR" sz="2400" smtClean="0"/>
              <a:t>Readability, writeability, Ease of verifiability, Ease of translation, Lack of ambiguity</a:t>
            </a:r>
            <a:endParaRPr lang="en-US" altLang="ko-KR" sz="200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20BACD-02EB-432E-B669-8151706E3EDB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400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Readability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Self-documenting </a:t>
            </a:r>
          </a:p>
          <a:p>
            <a:pPr lvl="1" eaLnBrk="1" hangingPunct="1"/>
            <a:r>
              <a:rPr lang="en-US" altLang="ko-KR" smtClean="0"/>
              <a:t>Natural statement format </a:t>
            </a:r>
          </a:p>
          <a:p>
            <a:pPr lvl="1" eaLnBrk="1" hangingPunct="1"/>
            <a:r>
              <a:rPr lang="en-US" altLang="ko-KR" smtClean="0"/>
              <a:t>Structured statements </a:t>
            </a:r>
          </a:p>
          <a:p>
            <a:pPr lvl="1" eaLnBrk="1" hangingPunct="1"/>
            <a:r>
              <a:rPr lang="en-US" altLang="ko-KR" smtClean="0"/>
              <a:t>Liberal use of keywords and noise words</a:t>
            </a:r>
          </a:p>
          <a:p>
            <a:pPr lvl="1" eaLnBrk="1" hangingPunct="1"/>
            <a:r>
              <a:rPr lang="en-US" altLang="ko-KR" smtClean="0"/>
              <a:t>Provision for embedded comments</a:t>
            </a:r>
          </a:p>
          <a:p>
            <a:pPr lvl="1" eaLnBrk="1" hangingPunct="1"/>
            <a:r>
              <a:rPr lang="en-US" altLang="ko-KR" smtClean="0"/>
              <a:t>Unrestricted length identifiers</a:t>
            </a:r>
          </a:p>
          <a:p>
            <a:pPr lvl="1" eaLnBrk="1" hangingPunct="1"/>
            <a:r>
              <a:rPr lang="en-US" altLang="ko-KR" smtClean="0"/>
              <a:t>Mnemonic operator symbols </a:t>
            </a:r>
          </a:p>
          <a:p>
            <a:pPr lvl="1" eaLnBrk="1" hangingPunct="1"/>
            <a:r>
              <a:rPr lang="en-US" altLang="ko-KR" smtClean="0"/>
              <a:t>Free-field format </a:t>
            </a:r>
          </a:p>
          <a:p>
            <a:pPr lvl="1" eaLnBrk="1" hangingPunct="1"/>
            <a:r>
              <a:rPr lang="en-US" altLang="ko-KR" smtClean="0"/>
              <a:t>Complete data declarations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0EA3CB-E43D-4E62-94C2-9B1153624538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400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예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Few different syntactic constructs : </a:t>
            </a:r>
            <a:r>
              <a:rPr lang="ko-KR" altLang="en-US" smtClean="0"/>
              <a:t>너무 단순함</a:t>
            </a:r>
            <a:r>
              <a:rPr lang="en-US" altLang="ko-KR" smtClean="0"/>
              <a:t>, Readability</a:t>
            </a:r>
            <a:r>
              <a:rPr lang="ko-KR" altLang="en-US" smtClean="0"/>
              <a:t>를 떨어뜨릴 수 있음</a:t>
            </a:r>
          </a:p>
          <a:p>
            <a:pPr lvl="1" eaLnBrk="1" hangingPunct="1"/>
            <a:r>
              <a:rPr lang="en-US" altLang="ko-KR" smtClean="0"/>
              <a:t>APL, SNOBOL </a:t>
            </a:r>
            <a:r>
              <a:rPr lang="en-US" altLang="ko-KR" smtClean="0">
                <a:sym typeface="Wingdings" panose="05000000000000000000" pitchFamily="2" charset="2"/>
              </a:rPr>
              <a:t> only one statement format</a:t>
            </a:r>
            <a:endParaRPr lang="en-US" altLang="ko-KR" smtClean="0"/>
          </a:p>
          <a:p>
            <a:pPr lvl="1" eaLnBrk="1" hangingPunct="1"/>
            <a:r>
              <a:rPr lang="en-US" altLang="ko-KR" smtClean="0"/>
              <a:t>LISP </a:t>
            </a:r>
            <a:r>
              <a:rPr lang="en-US" altLang="ko-KR" smtClean="0">
                <a:sym typeface="Wingdings" panose="05000000000000000000" pitchFamily="2" charset="2"/>
              </a:rPr>
              <a:t> parentheses </a:t>
            </a:r>
          </a:p>
          <a:p>
            <a:pPr eaLnBrk="1" hangingPunct="1"/>
            <a:r>
              <a:rPr lang="en-US" altLang="ko-KR" smtClean="0"/>
              <a:t>To emphasize readability : </a:t>
            </a:r>
            <a:r>
              <a:rPr lang="ko-KR" altLang="en-US" smtClean="0"/>
              <a:t>너무 복잡함</a:t>
            </a:r>
          </a:p>
          <a:p>
            <a:pPr lvl="1" eaLnBrk="1" hangingPunct="1"/>
            <a:r>
              <a:rPr lang="en-US" altLang="ko-KR" smtClean="0"/>
              <a:t>Expense of ease of writing and translation </a:t>
            </a:r>
            <a:r>
              <a:rPr lang="en-US" altLang="ko-KR" smtClean="0">
                <a:sym typeface="Wingdings" panose="05000000000000000000" pitchFamily="2" charset="2"/>
              </a:rPr>
              <a:t></a:t>
            </a:r>
            <a:r>
              <a:rPr lang="en-US" altLang="ko-KR" smtClean="0"/>
              <a:t>COBOL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61E5A6-F366-4F18-A55D-FB3283B104A2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400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Writeability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Concise and regular syntactic structure</a:t>
            </a:r>
          </a:p>
          <a:p>
            <a:pPr eaLnBrk="1" hangingPunct="1"/>
            <a:r>
              <a:rPr lang="en-US" altLang="ko-KR" smtClean="0"/>
              <a:t>C </a:t>
            </a:r>
            <a:r>
              <a:rPr lang="en-US" altLang="ko-KR" smtClean="0">
                <a:sym typeface="Wingdings" panose="05000000000000000000" pitchFamily="2" charset="2"/>
              </a:rPr>
              <a:t> hard to read but very concise programs </a:t>
            </a:r>
          </a:p>
          <a:p>
            <a:pPr eaLnBrk="1" hangingPunct="1"/>
            <a:r>
              <a:rPr lang="en-US" altLang="ko-KR" smtClean="0">
                <a:sym typeface="Wingdings" panose="05000000000000000000" pitchFamily="2" charset="2"/>
              </a:rPr>
              <a:t>Implicit syntactic convention </a:t>
            </a:r>
          </a:p>
          <a:p>
            <a:pPr eaLnBrk="1" hangingPunct="1"/>
            <a:r>
              <a:rPr lang="en-US" altLang="ko-KR" smtClean="0">
                <a:sym typeface="Wingdings" panose="05000000000000000000" pitchFamily="2" charset="2"/>
              </a:rPr>
              <a:t>Redundant syntax ::: same item of syntax in more than one way</a:t>
            </a:r>
          </a:p>
          <a:p>
            <a:pPr lvl="1" eaLnBrk="1" hangingPunct="1"/>
            <a:r>
              <a:rPr lang="en-US" altLang="ko-KR" smtClean="0"/>
              <a:t>ML ::: data type induction to derived the type of a function’s argument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B8B41A-AF34-4E82-9DE8-42D8435232BC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400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Others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mtClean="0"/>
              <a:t>Ease of verifiability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mtClean="0"/>
              <a:t>Ease of translation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mtClean="0"/>
              <a:t>LISP </a:t>
            </a:r>
            <a:r>
              <a:rPr lang="en-US" altLang="ko-KR" smtClean="0">
                <a:sym typeface="Wingdings" panose="05000000000000000000" pitchFamily="2" charset="2"/>
              </a:rPr>
              <a:t> simple to translate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mtClean="0">
                <a:sym typeface="Wingdings" panose="05000000000000000000" pitchFamily="2" charset="2"/>
              </a:rPr>
              <a:t>COBOL  extremely difficult (syntax)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mtClean="0"/>
              <a:t>Lack of ambiguity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mtClean="0"/>
              <a:t>If-statement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mtClean="0"/>
              <a:t>Dangling else </a:t>
            </a:r>
            <a:r>
              <a:rPr lang="en-US" altLang="ko-KR" smtClean="0">
                <a:sym typeface="Wingdings" panose="05000000000000000000" pitchFamily="2" charset="2"/>
              </a:rPr>
              <a:t> (Algol), (C, Pascal), synchronization keyword(Ada, guarded command)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mtClean="0">
                <a:sym typeface="Wingdings" panose="05000000000000000000" pitchFamily="2" charset="2"/>
              </a:rPr>
              <a:t>A(I,J) in FORTRAN  function call ? Subroutine call   PASCAL A[I,J]  array, subroutine call A(I,J) </a:t>
            </a:r>
            <a:endParaRPr lang="en-US" altLang="ko-KR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BDA2C4-CFA6-467C-90B7-E48421258F2F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400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200" smtClean="0"/>
              <a:t>Syntactic Elements of a Language I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2400" smtClean="0"/>
              <a:t>Character set :: ASCII </a:t>
            </a:r>
            <a:r>
              <a:rPr lang="en-US" altLang="ko-KR" sz="2400" smtClean="0">
                <a:sym typeface="Wingdings" panose="05000000000000000000" pitchFamily="2" charset="2"/>
              </a:rPr>
              <a:t> </a:t>
            </a:r>
            <a:r>
              <a:rPr lang="ko-KR" altLang="en-US" sz="2400" smtClean="0">
                <a:sym typeface="Wingdings" panose="05000000000000000000" pitchFamily="2" charset="2"/>
              </a:rPr>
              <a:t>일반적</a:t>
            </a:r>
          </a:p>
          <a:p>
            <a:pPr lvl="1" eaLnBrk="1" hangingPunct="1"/>
            <a:r>
              <a:rPr lang="en-US" altLang="ko-KR" sz="2000" smtClean="0"/>
              <a:t>APL</a:t>
            </a:r>
          </a:p>
          <a:p>
            <a:pPr lvl="1" eaLnBrk="1" hangingPunct="1"/>
            <a:r>
              <a:rPr lang="en-US" altLang="ko-KR" sz="2000" smtClean="0"/>
              <a:t>Input/Output</a:t>
            </a:r>
          </a:p>
          <a:p>
            <a:pPr eaLnBrk="1" hangingPunct="1"/>
            <a:r>
              <a:rPr lang="en-US" altLang="ko-KR" sz="2400" smtClean="0"/>
              <a:t>Identifiers</a:t>
            </a:r>
          </a:p>
          <a:p>
            <a:pPr eaLnBrk="1" hangingPunct="1"/>
            <a:r>
              <a:rPr lang="en-US" altLang="ko-KR" sz="2400" smtClean="0"/>
              <a:t>Operator symbols</a:t>
            </a:r>
          </a:p>
          <a:p>
            <a:pPr lvl="1" eaLnBrk="1" hangingPunct="1"/>
            <a:r>
              <a:rPr lang="en-US" altLang="ko-KR" sz="2000" smtClean="0"/>
              <a:t>APL </a:t>
            </a:r>
          </a:p>
          <a:p>
            <a:pPr lvl="1" eaLnBrk="1" hangingPunct="1"/>
            <a:r>
              <a:rPr lang="en-US" altLang="ko-KR" sz="2000" smtClean="0"/>
              <a:t>LISP </a:t>
            </a:r>
            <a:r>
              <a:rPr lang="en-US" altLang="ko-KR" sz="2000" smtClean="0">
                <a:sym typeface="Wingdings" panose="05000000000000000000" pitchFamily="2" charset="2"/>
              </a:rPr>
              <a:t> PLUS, TIMES</a:t>
            </a:r>
          </a:p>
          <a:p>
            <a:pPr lvl="1" eaLnBrk="1" hangingPunct="1"/>
            <a:r>
              <a:rPr lang="en-US" altLang="ko-KR" sz="2000" smtClean="0">
                <a:sym typeface="Wingdings" panose="05000000000000000000" pitchFamily="2" charset="2"/>
              </a:rPr>
              <a:t>FORTRAN  .EQ., **</a:t>
            </a:r>
            <a:endParaRPr lang="en-US" altLang="ko-KR" sz="200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49EA20-A6B0-44E7-BDBE-5695C954A83F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400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800" smtClean="0"/>
              <a:t>Syntactic Elements of a Language II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2400" smtClean="0"/>
              <a:t>Keywords and reserved keywords</a:t>
            </a:r>
          </a:p>
          <a:p>
            <a:pPr lvl="1" eaLnBrk="1" hangingPunct="1"/>
            <a:r>
              <a:rPr lang="en-US" altLang="ko-KR" sz="2000" smtClean="0"/>
              <a:t>FORTRAN </a:t>
            </a:r>
            <a:r>
              <a:rPr lang="en-US" altLang="ko-KR" sz="2000" smtClean="0">
                <a:sym typeface="Wingdings" panose="05000000000000000000" pitchFamily="2" charset="2"/>
              </a:rPr>
              <a:t> DO, IF ??</a:t>
            </a:r>
          </a:p>
          <a:p>
            <a:pPr lvl="1" eaLnBrk="1" hangingPunct="1"/>
            <a:r>
              <a:rPr lang="en-US" altLang="ko-KR" sz="2000" smtClean="0">
                <a:sym typeface="Wingdings" panose="05000000000000000000" pitchFamily="2" charset="2"/>
              </a:rPr>
              <a:t>COBOL  too many reserved words</a:t>
            </a:r>
          </a:p>
          <a:p>
            <a:pPr eaLnBrk="1" hangingPunct="1"/>
            <a:r>
              <a:rPr lang="en-US" altLang="ko-KR" sz="2400" smtClean="0"/>
              <a:t>Noise words</a:t>
            </a:r>
          </a:p>
          <a:p>
            <a:pPr lvl="1" eaLnBrk="1" hangingPunct="1"/>
            <a:r>
              <a:rPr lang="en-US" altLang="ko-KR" sz="2000" smtClean="0"/>
              <a:t>COBOL </a:t>
            </a:r>
            <a:r>
              <a:rPr lang="en-US" altLang="ko-KR" sz="2000" smtClean="0">
                <a:sym typeface="Wingdings" panose="05000000000000000000" pitchFamily="2" charset="2"/>
              </a:rPr>
              <a:t> GO TO (‘TO’ is optional)</a:t>
            </a:r>
          </a:p>
          <a:p>
            <a:pPr eaLnBrk="1" hangingPunct="1"/>
            <a:r>
              <a:rPr lang="en-US" altLang="ko-KR" sz="2400" smtClean="0"/>
              <a:t>Comments : /*  … */, //(C), !(FORTRAN90), --(Ada)</a:t>
            </a:r>
          </a:p>
          <a:p>
            <a:pPr eaLnBrk="1" hangingPunct="1"/>
            <a:r>
              <a:rPr lang="en-US" altLang="ko-KR" sz="2400" smtClean="0"/>
              <a:t>Blanks (white spaces) </a:t>
            </a:r>
          </a:p>
          <a:p>
            <a:pPr lvl="1" eaLnBrk="1" hangingPunct="1"/>
            <a:r>
              <a:rPr lang="en-US" altLang="ko-KR" sz="2000" smtClean="0"/>
              <a:t>Have meaning in SNOBOL sometimes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BDF3EF-B97A-4EA6-907C-367062C4DAC7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800" smtClean="0"/>
              <a:t>Syntactic Elements of a Language III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000" smtClean="0"/>
              <a:t>Delimiters and brackets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/>
              <a:t>Begin – end (brackets)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000" smtClean="0"/>
              <a:t>Free- and fixed-field format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/>
              <a:t>FORTRAN …. Cards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 smtClean="0"/>
              <a:t>최근 </a:t>
            </a:r>
            <a:r>
              <a:rPr lang="en-US" altLang="ko-KR" sz="2000" smtClean="0"/>
              <a:t>FORTAN</a:t>
            </a:r>
            <a:r>
              <a:rPr lang="ko-KR" altLang="en-US" sz="2000" smtClean="0"/>
              <a:t>은 아님 </a:t>
            </a:r>
            <a:endParaRPr lang="en-US" altLang="ko-KR" sz="2000" smtClean="0"/>
          </a:p>
          <a:p>
            <a:pPr eaLnBrk="1" hangingPunct="1">
              <a:lnSpc>
                <a:spcPct val="90000"/>
              </a:lnSpc>
            </a:pPr>
            <a:r>
              <a:rPr lang="en-US" altLang="ko-KR" sz="2000" smtClean="0"/>
              <a:t>Expressions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/>
              <a:t>Basic syntactic block </a:t>
            </a:r>
            <a:r>
              <a:rPr lang="en-US" altLang="ko-KR" sz="2000" smtClean="0">
                <a:sym typeface="Wingdings" panose="05000000000000000000" pitchFamily="2" charset="2"/>
              </a:rPr>
              <a:t> C, …</a:t>
            </a:r>
            <a:endParaRPr lang="en-US" altLang="ko-KR" sz="20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/>
              <a:t>Basic sequence control </a:t>
            </a:r>
            <a:r>
              <a:rPr lang="en-US" altLang="ko-KR" sz="2000" smtClean="0">
                <a:sym typeface="Wingdings" panose="05000000000000000000" pitchFamily="2" charset="2"/>
              </a:rPr>
              <a:t> LISP, ML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000" smtClean="0"/>
              <a:t>Statements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/>
              <a:t>SNOBOL – </a:t>
            </a:r>
            <a:r>
              <a:rPr lang="ko-KR" altLang="en-US" sz="2000" smtClean="0"/>
              <a:t>오직 하나</a:t>
            </a:r>
            <a:r>
              <a:rPr lang="en-US" altLang="ko-KR" sz="2000" smtClean="0"/>
              <a:t>, COBOL – </a:t>
            </a:r>
            <a:r>
              <a:rPr lang="ko-KR" altLang="en-US" sz="2000" smtClean="0"/>
              <a:t>각각 다르게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CE04F6-6FFB-4644-A635-787502D3AAFB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400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Subprogram structure I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mtClean="0"/>
              <a:t>Separate subprogram structures </a:t>
            </a:r>
            <a:r>
              <a:rPr lang="en-US" altLang="ko-KR" smtClean="0">
                <a:sym typeface="Wingdings" panose="05000000000000000000" pitchFamily="2" charset="2"/>
              </a:rPr>
              <a:t> C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mtClean="0">
                <a:sym typeface="Wingdings" panose="05000000000000000000" pitchFamily="2" charset="2"/>
              </a:rPr>
              <a:t>Separate data definitions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mtClean="0"/>
              <a:t>Data</a:t>
            </a:r>
            <a:r>
              <a:rPr lang="ko-KR" altLang="en-US" smtClean="0"/>
              <a:t>에 대한 모든 연산을 모음 </a:t>
            </a:r>
            <a:r>
              <a:rPr lang="en-US" altLang="ko-KR" smtClean="0"/>
              <a:t>::  class &lt;- Java, C++, Smalltalk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mtClean="0"/>
              <a:t>Nested subprogram definitions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mtClean="0"/>
              <a:t>ALGOL, FORTAN, PASCAL </a:t>
            </a:r>
            <a:r>
              <a:rPr lang="en-US" altLang="ko-KR" smtClean="0">
                <a:sym typeface="Wingdings" panose="05000000000000000000" pitchFamily="2" charset="2"/>
              </a:rPr>
              <a:t> object oriented language</a:t>
            </a:r>
            <a:r>
              <a:rPr lang="ko-KR" altLang="en-US" smtClean="0">
                <a:sym typeface="Wingdings" panose="05000000000000000000" pitchFamily="2" charset="2"/>
              </a:rPr>
              <a:t>가 나오면서 사라져감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mtClean="0"/>
              <a:t>Separate interface definitions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mtClean="0"/>
              <a:t>FORTRAN </a:t>
            </a:r>
            <a:r>
              <a:rPr lang="en-US" altLang="ko-KR" smtClean="0">
                <a:sym typeface="Wingdings" panose="05000000000000000000" pitchFamily="2" charset="2"/>
              </a:rPr>
              <a:t> Pascal  ::: C, ML, Ada  </a:t>
            </a:r>
            <a:r>
              <a:rPr lang="ko-KR" altLang="en-US" smtClean="0">
                <a:sym typeface="Wingdings" panose="05000000000000000000" pitchFamily="2" charset="2"/>
              </a:rPr>
              <a:t>양쪽 장점 이용</a:t>
            </a:r>
            <a:r>
              <a:rPr lang="en-US" altLang="ko-KR" smtClean="0">
                <a:sym typeface="Wingdings" panose="05000000000000000000" pitchFamily="2" charset="2"/>
              </a:rPr>
              <a:t>, </a:t>
            </a:r>
            <a:r>
              <a:rPr lang="ko-KR" altLang="en-US" smtClean="0">
                <a:sym typeface="Wingdings" panose="05000000000000000000" pitchFamily="2" charset="2"/>
              </a:rPr>
              <a:t>보완 </a:t>
            </a:r>
            <a:r>
              <a:rPr lang="en-US" altLang="ko-KR" smtClean="0">
                <a:sym typeface="Wingdings" panose="05000000000000000000" pitchFamily="2" charset="2"/>
              </a:rPr>
              <a:t>(.h &lt;-C, package &lt;- Ada)</a:t>
            </a:r>
            <a:endParaRPr lang="en-US" altLang="ko-KR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B8BA72-DB88-44D3-9D8B-0D4105A488F7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Subprogram structure II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2400" smtClean="0"/>
              <a:t>Data descriptions separated from executable statements </a:t>
            </a:r>
          </a:p>
          <a:p>
            <a:pPr lvl="1" eaLnBrk="1" hangingPunct="1"/>
            <a:r>
              <a:rPr lang="en-US" altLang="ko-KR" sz="2000" smtClean="0"/>
              <a:t>COBOL ::: data division, procedure division, environment division</a:t>
            </a:r>
          </a:p>
          <a:p>
            <a:pPr eaLnBrk="1" hangingPunct="1"/>
            <a:r>
              <a:rPr lang="en-US" altLang="ko-KR" sz="2400" smtClean="0"/>
              <a:t>Unseparated subprogram definitions</a:t>
            </a:r>
          </a:p>
          <a:p>
            <a:pPr lvl="1" eaLnBrk="1" hangingPunct="1"/>
            <a:r>
              <a:rPr lang="en-US" altLang="ko-KR" sz="2000" smtClean="0"/>
              <a:t>Snobol4 ::: Lack of organization </a:t>
            </a:r>
          </a:p>
          <a:p>
            <a:pPr lvl="1" eaLnBrk="1" hangingPunct="1"/>
            <a:r>
              <a:rPr lang="en-US" altLang="ko-KR" sz="2000" smtClean="0"/>
              <a:t>Basic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749DAE3-BFF6-4DEF-B545-67C38527B1A9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 smtClean="0"/>
          </a:p>
        </p:txBody>
      </p:sp>
      <p:graphicFrame>
        <p:nvGraphicFramePr>
          <p:cNvPr id="16387" name="Object 2"/>
          <p:cNvGraphicFramePr>
            <a:graphicFrameLocks noChangeAspect="1"/>
          </p:cNvGraphicFramePr>
          <p:nvPr/>
        </p:nvGraphicFramePr>
        <p:xfrm>
          <a:off x="1676400" y="914400"/>
          <a:ext cx="5910263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Image" r:id="rId3" imgW="8890244" imgH="8731707" progId="Photoshop.Image.5">
                  <p:embed/>
                </p:oleObj>
              </mc:Choice>
              <mc:Fallback>
                <p:oleObj name="Image" r:id="rId3" imgW="8890244" imgH="8731707" progId="Photoshop.Image.5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914400"/>
                        <a:ext cx="5910263" cy="556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7832725" y="16970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ko-KR" sz="2400">
              <a:latin typeface="굴림" panose="020B0600000101010101" pitchFamily="50" charset="-127"/>
            </a:endParaRP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3429000" y="381000"/>
            <a:ext cx="1717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/>
              <a:t>LISP </a:t>
            </a:r>
            <a:r>
              <a:rPr lang="ko-KR" altLang="en-US"/>
              <a:t>예제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BC2A4C-9520-4185-B230-304BD9FE3D9D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14400"/>
            <a:ext cx="4038600" cy="5486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************************************************************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*** </a:t>
            </a:r>
            <a:r>
              <a:rPr lang="ko-KR" altLang="en-US" sz="900" smtClean="0"/>
              <a:t>이 프로그램은 정보처리기사 실기 준비용으로 작성한 것임</a:t>
            </a:r>
            <a:r>
              <a:rPr lang="en-US" altLang="ko-KR" sz="900" smtClean="0"/>
              <a:t>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************************************************************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IDENTIFICATION	DIVISION.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PROGRAM-ID.	T98081101.</a:t>
            </a:r>
          </a:p>
          <a:p>
            <a:pPr eaLnBrk="1" hangingPunct="1">
              <a:lnSpc>
                <a:spcPct val="90000"/>
              </a:lnSpc>
            </a:pPr>
            <a:endParaRPr lang="en-US" altLang="ko-KR" sz="9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ENVIRONMENT                	DIVISION.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CONFIGURATION             	SECTION.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SOURCE-COMPUTER.	PC-586.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OBJECT-COMPUTER.	PC-586.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INPUT-OUTPUT	SECTION.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FILE-CONTROL.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     SELECT   IN-F    ASSIGN  TO  "0811AIN.DAT".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     SELECT   OUT-F ASSIGN  TO  "0811AOUT.DAT".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*                    ORGANIZATION  IS LINE  SEQUENTIAL.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DATA		DIVISION.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FILE		SECTION.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FD IN-F.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01 IN-REC.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03 I-HAKBUN	PIC  X(7).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03 I-NAME	PIC  X(16).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03 I-SUNGJUK	OCCURS  5.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	      05 I-KAMOK-CODE	PIC  X(1).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	      05 I-JUMSU        	PIC  9(3).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03 I-ETC            PIC  X(7).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FD OUT-F.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01 OUT-REC.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03 O-HAKBUN          	PIC  X(7).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03 O-NAME            	PIC  X(16).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03 O-SUNGJUK          	OCCURS  5.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    05 O-KAMOK-CODE   	PIC  X(1).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    05 O-JUMSU        	PIC  9(3).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03 O-SUM             	PIC  9(3).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03 O-AVE             	PIC  9(3).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900" smtClean="0"/>
              <a:t>      03 O-ETC             	PIC  X(7).</a:t>
            </a: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4419600" y="990600"/>
            <a:ext cx="44196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ko-KR" sz="1000">
                <a:latin typeface="굴림" panose="020B0600000101010101" pitchFamily="50" charset="-127"/>
              </a:rPr>
              <a:t>       </a:t>
            </a:r>
            <a:r>
              <a:rPr lang="en-US" altLang="ko-KR" sz="900">
                <a:latin typeface="굴림" panose="020B0600000101010101" pitchFamily="50" charset="-127"/>
              </a:rPr>
              <a:t>WORKING-STORAGE      SECTION.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77 SUNG-SUM           	PIC  9(3).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77 SUNG-AVE          	PIC  9(3).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77 II                 	PIC  9(3).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PROCEDURE             	DIVISION.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SIJAK.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OPEN INPUT IN-F OUTPUT OUT-F.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READ-RTN.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READ IN-F AT END GO TO END-RTN.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MOVE I-HAKBUN  	TO O-HAKBUN.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MOVE I-NAME    	TO O-NAME.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MOVE I-ETC     	TO O-ETC.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MOVE 0         	TO SUNG-SUM.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MOVE 0         	TO SUNG-AVE.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PERFORM MOVE-RTN  VARYING II FROM 1 BY 1 UNTIL II &gt; 5.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PERFORM TOTAL-RTN VARYING II FROM 1 BY 1 UNTIL II &gt; 5.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DIVIDE SUNG-SUM BY 5 GIVING SUNG-AVE.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MOVE SUNG-SUM  	TO O-SUM.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MOVE SUNG-AVE  	TO O-AVE.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DISPLAY  OUT-REC.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WRITE OUT-REC.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GO TO READ-RTN.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END-RTN.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CLOSE IN-F OUT-F.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STOP RUN.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TOTAL-RTN.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ADD   I-JUMSU(II)   	TO  SUNG-SUM.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TOTAL.               EXIT.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MOVE-RTN.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MOVE  I-KAMOK-CODE(II)  TO  O-KAMOK-CODE(II).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    MOVE  I-JUMSU(II)  	TO  O-JUMSU(II).</a:t>
            </a:r>
          </a:p>
          <a:p>
            <a:pPr eaLnBrk="1" hangingPunct="1">
              <a:buClrTx/>
              <a:buFontTx/>
              <a:buNone/>
            </a:pPr>
            <a:r>
              <a:rPr lang="en-US" altLang="ko-KR" sz="900">
                <a:latin typeface="굴림" panose="020B0600000101010101" pitchFamily="50" charset="-127"/>
              </a:rPr>
              <a:t>       MOVERTN.             EXIT.</a:t>
            </a:r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3429000" y="3810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/>
              <a:t>COBOL</a:t>
            </a:r>
            <a:r>
              <a:rPr lang="en-US" altLang="ko-KR" sz="2400">
                <a:latin typeface="굴림" panose="020B0600000101010101" pitchFamily="50" charset="-127"/>
              </a:rPr>
              <a:t> </a:t>
            </a:r>
            <a:r>
              <a:rPr lang="ko-KR" altLang="en-US" sz="2400">
                <a:latin typeface="굴림" panose="020B0600000101010101" pitchFamily="50" charset="-127"/>
              </a:rPr>
              <a:t>예제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809240-00AE-40CE-A261-C7B867644988}" type="slidenum">
              <a:rPr lang="en-US" altLang="ko-KR" sz="1400" smtClean="0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 smtClean="0"/>
          </a:p>
        </p:txBody>
      </p:sp>
      <p:graphicFrame>
        <p:nvGraphicFramePr>
          <p:cNvPr id="18435" name="Object 2"/>
          <p:cNvGraphicFramePr>
            <a:graphicFrameLocks noChangeAspect="1"/>
          </p:cNvGraphicFramePr>
          <p:nvPr/>
        </p:nvGraphicFramePr>
        <p:xfrm>
          <a:off x="1447800" y="1031875"/>
          <a:ext cx="6324600" cy="536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Image" r:id="rId3" imgW="10085366" imgH="8560976" progId="Photoshop.Image.5">
                  <p:embed/>
                </p:oleObj>
              </mc:Choice>
              <mc:Fallback>
                <p:oleObj name="Image" r:id="rId3" imgW="10085366" imgH="8560976" progId="Photoshop.Image.5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031875"/>
                        <a:ext cx="6324600" cy="536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1508125" y="1730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ko-KR" sz="2400">
              <a:latin typeface="굴림" panose="020B0600000101010101" pitchFamily="50" charset="-127"/>
            </a:endParaRPr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3276600" y="395288"/>
            <a:ext cx="2408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/>
              <a:t>SNOBOL </a:t>
            </a:r>
            <a:r>
              <a:rPr lang="ko-KR" altLang="en-US"/>
              <a:t>예제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3260</TotalTime>
  <Words>939</Words>
  <Application>Microsoft Office PowerPoint</Application>
  <PresentationFormat>화면 슬라이드 쇼(4:3)</PresentationFormat>
  <Paragraphs>172</Paragraphs>
  <Slides>15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바탕</vt:lpstr>
      <vt:lpstr>Arial</vt:lpstr>
      <vt:lpstr>Times New Roman</vt:lpstr>
      <vt:lpstr>굴림</vt:lpstr>
      <vt:lpstr>Wingdings</vt:lpstr>
      <vt:lpstr>기본 디자인</vt:lpstr>
      <vt:lpstr>Adobe Photoshop Image</vt:lpstr>
      <vt:lpstr>Language Translation Issues</vt:lpstr>
      <vt:lpstr>General</vt:lpstr>
      <vt:lpstr>PL and syntax</vt:lpstr>
      <vt:lpstr>Readability</vt:lpstr>
      <vt:lpstr>예</vt:lpstr>
      <vt:lpstr>Writeability</vt:lpstr>
      <vt:lpstr>Others</vt:lpstr>
      <vt:lpstr>Syntactic Elements of a Language I</vt:lpstr>
      <vt:lpstr>Syntactic Elements of a Language II</vt:lpstr>
      <vt:lpstr>Syntactic Elements of a Language III</vt:lpstr>
      <vt:lpstr>Subprogram structure I</vt:lpstr>
      <vt:lpstr>Subprogram structure II</vt:lpstr>
      <vt:lpstr>PowerPoint 프레젠테이션</vt:lpstr>
      <vt:lpstr>PowerPoint 프레젠테이션</vt:lpstr>
      <vt:lpstr>PowerPoint 프레젠테이션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13</cp:revision>
  <dcterms:created xsi:type="dcterms:W3CDTF">2000-11-03T06:26:37Z</dcterms:created>
  <dcterms:modified xsi:type="dcterms:W3CDTF">2020-03-26T04:04:01Z</dcterms:modified>
</cp:coreProperties>
</file>