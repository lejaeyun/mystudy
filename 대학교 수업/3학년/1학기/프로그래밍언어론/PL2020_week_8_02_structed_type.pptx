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56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3" r:id="rId17"/>
    <p:sldId id="291" r:id="rId18"/>
    <p:sldId id="290" r:id="rId19"/>
    <p:sldId id="284" r:id="rId20"/>
    <p:sldId id="285" r:id="rId21"/>
    <p:sldId id="286" r:id="rId22"/>
    <p:sldId id="287" r:id="rId23"/>
    <p:sldId id="288" r:id="rId24"/>
    <p:sldId id="289" r:id="rId25"/>
    <p:sldId id="295" r:id="rId26"/>
    <p:sldId id="292" r:id="rId27"/>
    <p:sldId id="293" r:id="rId28"/>
    <p:sldId id="294" r:id="rId29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73" autoAdjust="0"/>
    <p:restoredTop sz="90929"/>
  </p:normalViewPr>
  <p:slideViewPr>
    <p:cSldViewPr>
      <p:cViewPr varScale="1">
        <p:scale>
          <a:sx n="114" d="100"/>
          <a:sy n="114" d="100"/>
        </p:scale>
        <p:origin x="420" y="108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F20DA5D-CBB8-4603-BD5C-5B429AAED2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5BA7C2F-C30F-4F0D-A0C1-91E4B7ABF25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1B2EB-ED6A-4747-A4F7-21ED85FE12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906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42AD8-FB7D-4540-BA1D-30DA2DE66F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425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25873-CD76-4CBC-9490-AF305ED386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461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362BC-BA3C-4537-A7A8-07C2C52C1F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540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32829-6F16-4C02-8E2D-B310A75293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148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F2E9D-5760-42E9-BA16-7CAF579AC8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184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9B863-7FDC-4B94-87FA-E52813E7D5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673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AF51C-7E81-4385-B9D2-29E09F879D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281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0D9BA-4B0A-486F-BF8D-971691A496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085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AD2297-8486-480C-8A4A-5B510154409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0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D0200-02C5-42ED-AB04-DFF21239C4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0471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773113" y="5508625"/>
            <a:ext cx="358775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20888"/>
            <a:ext cx="7772400" cy="1179562"/>
          </a:xfrm>
        </p:spPr>
        <p:txBody>
          <a:bodyPr/>
          <a:lstStyle>
            <a:lvl1pPr algn="ctr"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149080"/>
            <a:ext cx="6400800" cy="72008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65419" y="5517232"/>
            <a:ext cx="6008712" cy="36004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1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665419" y="5805264"/>
            <a:ext cx="6008712" cy="3600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02809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감사 슬라이드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20888"/>
            <a:ext cx="7772400" cy="1179562"/>
          </a:xfrm>
        </p:spPr>
        <p:txBody>
          <a:bodyPr/>
          <a:lstStyle>
            <a:lvl1pPr algn="ctr"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2694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000" indent="-180000">
              <a:buFontTx/>
              <a:buBlip>
                <a:blip r:embed="rId2"/>
              </a:buBlip>
              <a:defRPr baseline="0">
                <a:latin typeface="맑은 고딕" panose="020B0503020000020004" pitchFamily="50" charset="-127"/>
              </a:defRPr>
            </a:lvl1pPr>
            <a:lvl2pPr>
              <a:defRPr baseline="0">
                <a:latin typeface="맑은 고딕" panose="020B0503020000020004" pitchFamily="50" charset="-127"/>
              </a:defRPr>
            </a:lvl2pPr>
            <a:lvl3pPr marL="897750" indent="-285750">
              <a:buFont typeface="Arial" panose="020B0604020202020204" pitchFamily="34" charset="0"/>
              <a:buChar char="•"/>
              <a:defRPr baseline="0">
                <a:latin typeface="맑은 고딕" panose="020B0503020000020004" pitchFamily="50" charset="-127"/>
              </a:defRPr>
            </a:lvl3pPr>
            <a:lvl4pPr>
              <a:defRPr baseline="0">
                <a:latin typeface="맑은 고딕" panose="020B0503020000020004" pitchFamily="50" charset="-127"/>
              </a:defRPr>
            </a:lvl4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D948-801A-48C1-96FD-C5FA601AD6E3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pPr>
              <a:defRPr/>
            </a:pPr>
            <a:fld id="{1C83B1D9-3EB1-41DF-AB19-19A6F20D02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969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(바탕그림)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6E558-C452-4A5D-BF90-4ABB6CFA57BC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897288A9-8CF6-45D4-B417-6B2CF854666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59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(글상자흰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73075" y="1341438"/>
            <a:ext cx="8172450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" dist="12700" dir="5400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395288" y="2781300"/>
            <a:ext cx="8208962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836714"/>
            <a:ext cx="8291264" cy="5184575"/>
          </a:xfrm>
        </p:spPr>
        <p:txBody>
          <a:bodyPr/>
          <a:lstStyle>
            <a:lvl2pPr>
              <a:lnSpc>
                <a:spcPct val="2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038F-5754-42D5-9C2D-FBC3D7F9F9F7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176B6F7E-1088-45D9-92D6-43AC64FBE1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329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52438" y="1341438"/>
            <a:ext cx="8239125" cy="4756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" dist="12700" dir="5400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9476" y="5301210"/>
            <a:ext cx="732904" cy="69483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841912" y="1777830"/>
            <a:ext cx="7402497" cy="4027434"/>
          </a:xfrm>
        </p:spPr>
        <p:txBody>
          <a:bodyPr/>
          <a:lstStyle>
            <a:lvl1pPr marL="271463" indent="-271463">
              <a:buFontTx/>
              <a:buBlip>
                <a:blip r:embed="rId3"/>
              </a:buBlip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47B73-5B2C-4026-8B51-69AA4466724E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A10FEAB2-2071-44E5-B4EE-43D9C8D97BE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147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2D708-1924-4BC4-A419-373697B4ECE8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BC184-2948-4E52-A51D-75F3F757A0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90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mtClean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endParaRPr lang="ko-KR" altLang="en-US" smtClean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/>
            </a:lvl1pPr>
          </a:lstStyle>
          <a:p>
            <a:pPr>
              <a:defRPr/>
            </a:pPr>
            <a:r>
              <a:rPr lang="en-US" altLang="ko-KR"/>
              <a:t>Arrays and records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F77340F-3126-4C37-BE94-F4CF5C521C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Courier New" panose="02070309020205020404" pitchFamily="49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395288" y="188913"/>
            <a:ext cx="66246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395288" y="836613"/>
            <a:ext cx="8291512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  <a:endParaRPr lang="en-US" altLang="ko-KR" smtClean="0"/>
          </a:p>
          <a:p>
            <a:pPr lvl="3"/>
            <a:r>
              <a:rPr lang="ko-KR" altLang="en-US" smtClean="0"/>
              <a:t>넷째 수준</a:t>
            </a:r>
            <a:endParaRPr lang="en-US" altLang="ko-KR" smtClean="0"/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  <a:p>
            <a:pPr lvl="4"/>
            <a:endParaRPr lang="ko-KR" altLang="en-US" smtClean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95288" y="6524625"/>
            <a:ext cx="21336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baseline="0" smtClean="0">
                <a:solidFill>
                  <a:schemeClr val="tx1">
                    <a:tint val="75000"/>
                  </a:schemeClr>
                </a:solidFill>
                <a:latin typeface="(한글 글꼴 사용)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69439F7-F0EF-45EB-86F8-9B8FE5530176}" type="datetime1">
              <a:rPr lang="ko-KR" altLang="en-US"/>
              <a:pPr>
                <a:defRPr/>
              </a:pPr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4625"/>
            <a:ext cx="28956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baseline="0">
                <a:solidFill>
                  <a:schemeClr val="tx1">
                    <a:tint val="75000"/>
                  </a:schemeClr>
                </a:solidFill>
                <a:latin typeface="(한글 글꼴 사용)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88350" y="188913"/>
            <a:ext cx="514350" cy="503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A1280589-285C-4B56-8B19-0C55BDAB09D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85" r:id="rId7"/>
  </p:sldLayoutIdLst>
  <p:hf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맑은고딕"/>
          <a:ea typeface="맑은 고딕" panose="020B0503020000020004" pitchFamily="50" charset="-127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맑은고딕"/>
          <a:ea typeface="맑은 고딕" panose="020B0503020000020004" pitchFamily="50" charset="-127"/>
        </a:defRPr>
      </a:lvl9pPr>
    </p:titleStyle>
    <p:bodyStyle>
      <a:lvl1pPr marL="179388" indent="-179388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0"/>
        </a:buBlip>
        <a:defRPr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39750" indent="-250825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1"/>
        </a:buBlip>
        <a:defRPr sz="1600" b="1" kern="1200">
          <a:solidFill>
            <a:srgbClr val="37609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96938" indent="-285750" algn="l" rtl="0" fontAlgn="base" latinLnBrk="1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79500" indent="-179388" algn="l" rtl="0" fontAlgn="base" latinLnBrk="1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439863" indent="-2159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smtClean="0">
                <a:solidFill>
                  <a:srgbClr val="0000FF"/>
                </a:solidFill>
              </a:rPr>
              <a:t>Arrays and records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ko-KR" sz="1600" b="1" smtClean="0">
                <a:solidFill>
                  <a:srgbClr val="000000"/>
                </a:solidFill>
              </a:rPr>
              <a:t>Programming Language Design and Implementation </a:t>
            </a:r>
          </a:p>
          <a:p>
            <a:pPr eaLnBrk="1" hangingPunct="1"/>
            <a:r>
              <a:rPr lang="en-US" altLang="ko-KR" sz="1600" b="1" smtClean="0">
                <a:solidFill>
                  <a:srgbClr val="000000"/>
                </a:solidFill>
              </a:rPr>
              <a:t>(4th Edition)</a:t>
            </a:r>
          </a:p>
          <a:p>
            <a:pPr eaLnBrk="1" hangingPunct="1"/>
            <a:r>
              <a:rPr lang="en-US" altLang="ko-KR" sz="1600" b="1" smtClean="0">
                <a:solidFill>
                  <a:srgbClr val="000000"/>
                </a:solidFill>
              </a:rPr>
              <a:t>by T. Pratt and M. Zelkowitz</a:t>
            </a:r>
          </a:p>
          <a:p>
            <a:pPr eaLnBrk="1" hangingPunct="1"/>
            <a:r>
              <a:rPr lang="en-US" altLang="ko-KR" sz="1600" b="1" smtClean="0">
                <a:solidFill>
                  <a:srgbClr val="000000"/>
                </a:solidFill>
              </a:rPr>
              <a:t>Prentice Hall, 2001</a:t>
            </a:r>
          </a:p>
          <a:p>
            <a:pPr eaLnBrk="1" hangingPunct="1"/>
            <a:endParaRPr lang="en-US" altLang="ko-KR" sz="1600" b="1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ko-KR" sz="1600" b="1" smtClean="0">
                <a:solidFill>
                  <a:srgbClr val="000000"/>
                </a:solidFill>
              </a:rPr>
              <a:t>Section 6.1</a:t>
            </a:r>
          </a:p>
          <a:p>
            <a:pPr eaLnBrk="1" hangingPunct="1"/>
            <a:endParaRPr lang="en-US" altLang="ko-KR" sz="160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229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0497E6-F827-4C2A-98CD-41C10A443B61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Structured Data Objects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2000" b="1" smtClean="0"/>
              <a:t>Data structure (structured data objects)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400" b="1" smtClean="0"/>
              <a:t>- </a:t>
            </a:r>
            <a:r>
              <a:rPr lang="en-US" altLang="ko-KR" sz="1600" b="1" smtClean="0"/>
              <a:t>An aggregate of other data objects (component)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2000" b="1" smtClean="0"/>
              <a:t>Specification of Data Structure Types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400" b="1" smtClean="0"/>
              <a:t>- </a:t>
            </a:r>
            <a:r>
              <a:rPr lang="en-US" altLang="ko-KR" sz="1600" b="1" smtClean="0"/>
              <a:t>Number of components ::: fixed size, variable size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600" b="1" smtClean="0"/>
              <a:t>- Variable size ::: insertion and deletion of components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600" b="1" smtClean="0"/>
              <a:t>Fixed size ::: arrays, records,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600" b="1" smtClean="0"/>
              <a:t>Variable size ::: stacks, lists, sets, tables, files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600" b="1" smtClean="0"/>
              <a:t>- Type of each component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600" b="1" smtClean="0"/>
              <a:t>Homogenous, heterogeneous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600" b="1" smtClean="0"/>
              <a:t>- Names to be used to select components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600" b="1" smtClean="0"/>
              <a:t>- Maximum number of components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ko-KR" sz="1600" b="1" smtClean="0"/>
              <a:t>- Organization of the components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600" b="1" smtClean="0"/>
              <a:t>Simple linear sequence of components (vector)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600" b="1" smtClean="0"/>
              <a:t>Multi-dimensional … a vector of vectors (C), a separate type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331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462F-DE82-4288-8BAD-712EBE7F2EC0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Operation on Data Structures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Components selection operations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Random selection, Sequential selection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Whole data structure operations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SNOBOL, APL, Octave 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Insertion and deletion of components</a:t>
            </a:r>
            <a:r>
              <a:rPr lang="en-US" altLang="ko-KR" sz="1400" b="1" smtClean="0"/>
              <a:t>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Storage management and storage representation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Creation and destruction of data structure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Storage management</a:t>
            </a:r>
            <a:r>
              <a:rPr lang="en-US" altLang="ko-KR" sz="1400" b="1" smtClean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433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17E85B-64DD-4515-873C-8E40D9D0A75E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Storage Representation and Implementation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37338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Sequential representation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Base-address-plus-offset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linked list representation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Descriptor (dope vector) of a vector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Data type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Lower and upper subscript bounds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Data type of components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400" b="1" smtClean="0"/>
              <a:t>Size of components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2000" b="1" smtClean="0"/>
              <a:t>Storage representation for components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virtual origin </a:t>
            </a:r>
            <a:r>
              <a:rPr lang="en-US" altLang="ko-KR" sz="1800" b="1" smtClean="0">
                <a:sym typeface="Wingdings" panose="05000000000000000000" pitchFamily="2" charset="2"/>
              </a:rPr>
              <a:t> base address of  a vector (array)</a:t>
            </a:r>
            <a:r>
              <a:rPr lang="en-US" altLang="ko-KR" sz="1400" b="1" smtClean="0">
                <a:sym typeface="Wingdings" panose="05000000000000000000" pitchFamily="2" charset="2"/>
              </a:rPr>
              <a:t> </a:t>
            </a:r>
            <a:r>
              <a:rPr lang="en-US" altLang="ko-KR" sz="1400" b="1" smtClean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536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458647-903A-4DA2-91BE-3482FB2EDF92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Array accessing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/>
              <a:t>An array is an ordered sequence of identical objects.</a:t>
            </a:r>
          </a:p>
          <a:p>
            <a:pPr eaLnBrk="1" hangingPunct="1"/>
            <a:endParaRPr lang="en-US" altLang="ko-KR" sz="1800" b="1" smtClean="0"/>
          </a:p>
          <a:p>
            <a:pPr eaLnBrk="1" hangingPunct="1"/>
            <a:r>
              <a:rPr lang="en-US" altLang="ko-KR" sz="1800" b="1" smtClean="0"/>
              <a:t>The ordering is determined by a scalar data object (usually integer or enumeration data). This value is called the </a:t>
            </a:r>
            <a:r>
              <a:rPr lang="en-US" altLang="ko-KR" sz="1800" b="1" smtClean="0">
                <a:solidFill>
                  <a:srgbClr val="FF0000"/>
                </a:solidFill>
              </a:rPr>
              <a:t>subscript </a:t>
            </a:r>
            <a:r>
              <a:rPr lang="en-US" altLang="ko-KR" sz="1800" b="1" smtClean="0"/>
              <a:t>or</a:t>
            </a:r>
            <a:r>
              <a:rPr lang="en-US" altLang="ko-KR" sz="1800" b="1" smtClean="0">
                <a:solidFill>
                  <a:srgbClr val="FF0000"/>
                </a:solidFill>
              </a:rPr>
              <a:t> index</a:t>
            </a:r>
            <a:r>
              <a:rPr lang="en-US" altLang="ko-KR" sz="1800" b="1" smtClean="0"/>
              <a:t>, and written as A[I] for array A and subscript I.</a:t>
            </a:r>
          </a:p>
          <a:p>
            <a:pPr eaLnBrk="1" hangingPunct="1"/>
            <a:endParaRPr lang="en-US" altLang="ko-KR" sz="1800" b="1" smtClean="0"/>
          </a:p>
          <a:p>
            <a:pPr eaLnBrk="1" hangingPunct="1"/>
            <a:r>
              <a:rPr lang="en-US" altLang="ko-KR" sz="1800" b="1" smtClean="0"/>
              <a:t>Multidimensional arrays have more than one subscript. A 2-dimensional array can be modeled as the boxes on a rectangular grid.</a:t>
            </a:r>
          </a:p>
          <a:p>
            <a:pPr eaLnBrk="1" hangingPunct="1"/>
            <a:endParaRPr lang="en-US" altLang="ko-KR" sz="1800" b="1" smtClean="0"/>
          </a:p>
          <a:p>
            <a:pPr eaLnBrk="1" hangingPunct="1"/>
            <a:r>
              <a:rPr lang="en-US" altLang="ko-KR" sz="1800" b="1" smtClean="0"/>
              <a:t>The L-value for array element A[I,J]is given by the accessing formula on the next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638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3F28-223A-451C-81EE-C98801B579B1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pic>
        <p:nvPicPr>
          <p:cNvPr id="16388" name="Picture 2" descr="C:\documents\pratt\330-jpg\03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6553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741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F60C8F-DF66-4EA4-8829-DC11F286BA31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Array accessing (continued)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Rewriting access equation: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L-value(A[I,J]) = </a:t>
            </a:r>
            <a:r>
              <a:rPr lang="en-US" altLang="ko-KR" sz="1400" b="1" smtClean="0">
                <a:sym typeface="Symbol" panose="05050102010706020507" pitchFamily="18" charset="2"/>
              </a:rPr>
              <a:t></a:t>
            </a:r>
            <a:r>
              <a:rPr lang="en-US" altLang="ko-KR" sz="1400" b="1" smtClean="0"/>
              <a:t> - d1*L1 - d2*L2 +I*d1 + J*d2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Set I = 0; J=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L-value(A[0,0]) = </a:t>
            </a:r>
            <a:r>
              <a:rPr lang="en-US" altLang="ko-KR" sz="1400" b="1" smtClean="0">
                <a:sym typeface="Symbol" panose="05050102010706020507" pitchFamily="18" charset="2"/>
              </a:rPr>
              <a:t></a:t>
            </a:r>
            <a:r>
              <a:rPr lang="en-US" altLang="ko-KR" sz="1400" b="1" smtClean="0"/>
              <a:t> - d1*L1 - d2*L2 +0*d1 + 0*d2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L-value(A[0,0]) = </a:t>
            </a:r>
            <a:r>
              <a:rPr lang="en-US" altLang="ko-KR" sz="1400" b="1" smtClean="0">
                <a:sym typeface="Symbol" panose="05050102010706020507" pitchFamily="18" charset="2"/>
              </a:rPr>
              <a:t></a:t>
            </a:r>
            <a:r>
              <a:rPr lang="en-US" altLang="ko-KR" sz="1400" b="1" smtClean="0"/>
              <a:t> - d1*L1 - d2*L2, which is a constant.</a:t>
            </a:r>
          </a:p>
          <a:p>
            <a:pPr eaLnBrk="1" hangingPunct="1"/>
            <a:endParaRPr lang="en-US" altLang="ko-KR" sz="14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Call this constant the </a:t>
            </a:r>
            <a:r>
              <a:rPr lang="en-US" altLang="ko-KR" sz="1400" b="1" smtClean="0">
                <a:solidFill>
                  <a:srgbClr val="FF0000"/>
                </a:solidFill>
              </a:rPr>
              <a:t>virtual origin</a:t>
            </a:r>
            <a:r>
              <a:rPr lang="en-US" altLang="ko-KR" sz="1400" b="1" smtClean="0"/>
              <a:t> (VO); It represents the address of the 0th element of the array.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L-value(A[I,J]) = VO +I*d1 + J*d2</a:t>
            </a:r>
          </a:p>
          <a:p>
            <a:pPr eaLnBrk="1" hangingPunct="1"/>
            <a:endParaRPr lang="en-US" altLang="ko-KR" sz="14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 b="1" smtClean="0"/>
              <a:t>To access an array element, typically use a </a:t>
            </a:r>
            <a:r>
              <a:rPr lang="en-US" altLang="ko-KR" sz="1400" b="1" smtClean="0">
                <a:solidFill>
                  <a:srgbClr val="FF0000"/>
                </a:solidFill>
              </a:rPr>
              <a:t>dope vector</a:t>
            </a:r>
            <a:r>
              <a:rPr lang="en-US" altLang="ko-KR" sz="1400" b="1" smtClean="0"/>
              <a:t>:</a:t>
            </a:r>
          </a:p>
          <a:p>
            <a:pPr eaLnBrk="1" hangingPunct="1"/>
            <a:endParaRPr lang="en-US" altLang="ko-KR" sz="1400" b="1" smtClean="0"/>
          </a:p>
          <a:p>
            <a:pPr eaLnBrk="1" hangingPunct="1"/>
            <a:endParaRPr lang="en-US" altLang="ko-KR" sz="1400" b="1" smtClean="0"/>
          </a:p>
        </p:txBody>
      </p:sp>
      <p:pic>
        <p:nvPicPr>
          <p:cNvPr id="17414" name="Picture 4" descr="C:\documents\pratt\330-jpg\03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105400"/>
            <a:ext cx="6019800" cy="1143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843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41B608-353A-44FC-8363-A6BB1A8F034C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Array accessing summary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</a:rPr>
              <a:t>To create arrays:</a:t>
            </a: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1. Allocate total storage beginning at </a:t>
            </a:r>
            <a:r>
              <a:rPr lang="en-US" altLang="ko-KR" sz="1800" b="1" smtClean="0">
                <a:sym typeface="Symbol" panose="05050102010706020507" pitchFamily="18" charset="2"/>
              </a:rPr>
              <a:t>: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ym typeface="Symbol" panose="05050102010706020507" pitchFamily="18" charset="2"/>
              </a:rPr>
              <a:t>		</a:t>
            </a:r>
            <a:r>
              <a:rPr lang="en-US" altLang="ko-KR" sz="1800" b="1" smtClean="0"/>
              <a:t>(U2-L2+1)*(U1-L1+1)*eltsize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2. d2 = eltsize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3. d1 = (U2-L2+1)*d2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4. VO = </a:t>
            </a:r>
            <a:r>
              <a:rPr lang="en-US" altLang="ko-KR" sz="1800" b="1" smtClean="0">
                <a:sym typeface="Symbol" panose="05050102010706020507" pitchFamily="18" charset="2"/>
              </a:rPr>
              <a:t></a:t>
            </a:r>
            <a:r>
              <a:rPr lang="en-US" altLang="ko-KR" sz="1800" b="1" smtClean="0"/>
              <a:t> - L1*d1 - L2*d2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5. To access A[I,J]: Lvalue(A[I,J]) = VO + I*d1 + J*d2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This works for 1, 2 or more dimensions.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May not require runtime dope vector if all values are known at compile time. (e.g., in Pascal, d1, d2, and VO can be computed by compiler.)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Next slide: Storage representation for 2-dimensional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1945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D5F687-BD48-45CB-ADE0-06002879E3CD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pic>
        <p:nvPicPr>
          <p:cNvPr id="19460" name="Picture 2" descr="C:\documents\pratt\JPG\4.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90600"/>
            <a:ext cx="50419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048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404BC4-6CF6-4F9D-A24D-E8F6CBD8B3F5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Array example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458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</a:rPr>
              <a:t>Given following array:</a:t>
            </a:r>
            <a:r>
              <a:rPr lang="en-US" altLang="ko-KR" sz="1600" b="1" smtClean="0"/>
              <a:t> var A: array [7..12, 14..16] of real;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Give dope vector if array stored beginning at location 500.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	d2 = 4 (real data)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	d1 = (16-14+1) * 4 = 3 * 4 = 12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	VO = 500 - 7 * 12 - 14 * 4 = 500 - 84 - 56 = 360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L-value(A[I,J]) = 360 + 12* I + 4* J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1. VO can be a positive or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negative value, and can have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an address that is before,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within, or after the actual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storage for the array: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2. In C, VO = </a:t>
            </a:r>
            <a:r>
              <a:rPr lang="en-US" altLang="ko-KR" sz="1600" b="1" smtClean="0">
                <a:sym typeface="Symbol" panose="05050102010706020507" pitchFamily="18" charset="2"/>
              </a:rPr>
              <a:t></a:t>
            </a:r>
            <a:r>
              <a:rPr lang="en-US" altLang="ko-KR" sz="1600" b="1" smtClean="0"/>
              <a:t> since bounds start at 0.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 smtClean="0"/>
              <a:t>Example: char A[25]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500" b="1" smtClean="0"/>
              <a:t>L-value(A[I]) = VO + (I-L1) * d1 = </a:t>
            </a:r>
            <a:r>
              <a:rPr lang="en-US" altLang="ko-KR" sz="1500" b="1" smtClean="0">
                <a:sym typeface="Symbol" panose="05050102010706020507" pitchFamily="18" charset="2"/>
              </a:rPr>
              <a:t></a:t>
            </a:r>
            <a:r>
              <a:rPr lang="en-US" altLang="ko-KR" sz="1500" b="1" smtClean="0"/>
              <a:t> + I  * 1 = </a:t>
            </a:r>
            <a:r>
              <a:rPr lang="en-US" altLang="ko-KR" sz="1500" b="1" smtClean="0">
                <a:sym typeface="Symbol" panose="05050102010706020507" pitchFamily="18" charset="2"/>
              </a:rPr>
              <a:t></a:t>
            </a:r>
            <a:r>
              <a:rPr lang="en-US" altLang="ko-KR" sz="1500" b="1" smtClean="0"/>
              <a:t> + I</a:t>
            </a:r>
          </a:p>
          <a:p>
            <a:pPr eaLnBrk="1" hangingPunct="1">
              <a:lnSpc>
                <a:spcPct val="90000"/>
              </a:lnSpc>
            </a:pPr>
            <a:endParaRPr lang="en-US" altLang="ko-KR" sz="1500" b="1" smtClean="0"/>
          </a:p>
        </p:txBody>
      </p:sp>
      <p:pic>
        <p:nvPicPr>
          <p:cNvPr id="20486" name="Picture 4" descr="C:\documents\pratt\330-jpg\033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886200"/>
            <a:ext cx="4267200" cy="12715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150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B24946-8919-43E8-9E5F-932539CC22A4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Indexing Methods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438400"/>
            <a:ext cx="7772400" cy="28956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Column Major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FORTRAN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GNU Octave, MATLAB, R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Low major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C, Pascal, 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2531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37F71B-1522-4AD1-B87C-62179B864917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Slices</a:t>
            </a:r>
          </a:p>
        </p:txBody>
      </p:sp>
      <p:pic>
        <p:nvPicPr>
          <p:cNvPr id="22533" name="Picture 3" descr="C:\documents\pratt\JPG\SLI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077075" cy="37893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355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C1451A-FF87-4237-BABC-C684BF342108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Array slices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Given array : A[L1:U1, L2:U2]: Give d1, d2, and VO for vector:</a:t>
            </a:r>
          </a:p>
          <a:p>
            <a:pPr eaLnBrk="1" hangingPunct="1"/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Dope vector A[I,*] = B[L2:U2]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VO = L-value(A[I,L2]) - d2*L2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M1 = eltsize = d2</a:t>
            </a:r>
          </a:p>
          <a:p>
            <a:pPr eaLnBrk="1" hangingPunct="1"/>
            <a:endParaRPr lang="en-US" altLang="ko-KR" sz="16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Dope vector A[*,J] = B[L1:U1]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VO = L-value(A[L1,J]) - d1*L1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M1 = rowsize = d1</a:t>
            </a:r>
          </a:p>
        </p:txBody>
      </p:sp>
      <p:pic>
        <p:nvPicPr>
          <p:cNvPr id="23558" name="Picture 4" descr="C:\documents\pratt\330-jpg\034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3505200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9" name="Text Box 5"/>
          <p:cNvSpPr txBox="1">
            <a:spLocks noChangeArrowheads="1"/>
          </p:cNvSpPr>
          <p:nvPr/>
        </p:nvSpPr>
        <p:spPr bwMode="auto">
          <a:xfrm>
            <a:off x="4953000" y="4572000"/>
            <a:ext cx="3124200" cy="12001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kumimoji="0" lang="en-US" altLang="ko-KR">
                <a:solidFill>
                  <a:srgbClr val="FF0000"/>
                </a:solidFill>
                <a:latin typeface="Times New Roman" panose="02020603050405020304" pitchFamily="18" charset="0"/>
              </a:rPr>
              <a:t>Create new dope vector that accesses original data</a:t>
            </a:r>
            <a:endParaRPr kumimoji="0" lang="en-US" altLang="ko-KR" sz="3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457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7CB702-BA4F-4244-99A8-1B22DD06F286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More on slices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</a:rPr>
              <a:t>Diagonal slices:</a:t>
            </a:r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VO = L-value(A[L1,L2])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     - d1*L1 - d2*L2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M1 = d1 + d2</a:t>
            </a:r>
          </a:p>
          <a:p>
            <a:pPr eaLnBrk="1" hangingPunct="1"/>
            <a:endParaRPr lang="en-US" altLang="ko-KR" sz="16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</a:rPr>
              <a:t>Other possibilities:</a:t>
            </a:r>
            <a:endParaRPr lang="en-US" altLang="ko-KR" sz="1600" b="1" smtClean="0"/>
          </a:p>
          <a:p>
            <a:pPr eaLnBrk="1" hangingPunct="1"/>
            <a:endParaRPr lang="en-US" altLang="ko-KR" sz="1600" b="1" smtClean="0"/>
          </a:p>
        </p:txBody>
      </p:sp>
      <p:pic>
        <p:nvPicPr>
          <p:cNvPr id="24582" name="Picture 4" descr="C:\documents\pratt\330-jpg\0340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09800"/>
            <a:ext cx="3733800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3" name="Picture 5" descr="C:\documents\pratt\330-jpg\0340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495800"/>
            <a:ext cx="5562600" cy="1752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560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B548C1-A412-4978-8C52-D4072FB1B860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smtClean="0"/>
              <a:t>Associative arrays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Access information by name without having a predefined ordering or enumeration: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Example: Names and grades for students in a class: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NAME[I] = name of Ith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GRADE[I] = Grade for Ith student</a:t>
            </a:r>
          </a:p>
          <a:p>
            <a:pPr eaLnBrk="1" hangingPunct="1"/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</a:rPr>
              <a:t>Associative array</a:t>
            </a:r>
            <a:r>
              <a:rPr lang="en-US" altLang="ko-KR" sz="1800" b="1" smtClean="0"/>
              <a:t>: Use Name as index: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CLASS[name] will be grade.</a:t>
            </a:r>
          </a:p>
          <a:p>
            <a:pPr eaLnBrk="1" hangingPunct="1"/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</a:rPr>
              <a:t>Problem: </a:t>
            </a:r>
            <a:r>
              <a:rPr lang="en-US" altLang="ko-KR" sz="1800" b="1" smtClean="0"/>
              <a:t>Do not know enumeration before obtaining data so dope vector method of accessing will not work.</a:t>
            </a:r>
          </a:p>
          <a:p>
            <a:pPr eaLnBrk="1" hangingPunct="1"/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Implemented in Perl and in SNOBOL4 (as a table)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mtClean="0"/>
          </a:p>
        </p:txBody>
      </p:sp>
      <p:pic>
        <p:nvPicPr>
          <p:cNvPr id="26627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4275" y="1981200"/>
            <a:ext cx="6775450" cy="4114800"/>
          </a:xfrm>
        </p:spPr>
      </p:pic>
      <p:sp>
        <p:nvSpPr>
          <p:cNvPr id="26628" name="바닥글 개체 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6629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672FDF-CD8C-484E-BDDF-5A294BD73D67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mtClean="0"/>
          </a:p>
        </p:txBody>
      </p:sp>
      <p:pic>
        <p:nvPicPr>
          <p:cNvPr id="27651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4275" y="1981200"/>
            <a:ext cx="6775450" cy="4114800"/>
          </a:xfrm>
        </p:spPr>
      </p:pic>
      <p:sp>
        <p:nvSpPr>
          <p:cNvPr id="27652" name="바닥글 개체 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7653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B51622-134C-4449-BF58-45A9B003D5C5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867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760175-1DF8-4C31-B242-9ADCA6B62229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Perl example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8486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%ClassList = (“Michelle”, `A', “Doris”, `B', “Michael”, `D');   </a:t>
            </a:r>
            <a:r>
              <a:rPr lang="en-US" altLang="ko-KR" sz="1800" b="1" smtClean="0">
                <a:solidFill>
                  <a:srgbClr val="0066FF"/>
                </a:solidFill>
              </a:rPr>
              <a:t># % operator makes an associative array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solidFill>
                <a:srgbClr val="0066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$ClassList{‘Michelle’} has the value ‘A’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@y = %ClassList  </a:t>
            </a:r>
            <a:r>
              <a:rPr lang="en-US" altLang="ko-KR" sz="1800" b="1" smtClean="0">
                <a:solidFill>
                  <a:srgbClr val="0066FF"/>
                </a:solidFill>
              </a:rPr>
              <a:t># Converts ClassList to an enumeration</a:t>
            </a:r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                 </a:t>
            </a:r>
            <a:r>
              <a:rPr lang="en-US" altLang="ko-KR" sz="1800" b="1" smtClean="0">
                <a:solidFill>
                  <a:srgbClr val="0066FF"/>
                </a:solidFill>
              </a:rPr>
              <a:t># array with index 0..5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solidFill>
                <a:srgbClr val="0066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$I= 0   $y[$I] = Doris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$I= 1   $y[$I] =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$I= 2   $y[$I] = Michael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$I= 3   $y[$I] = 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$I= 4   $y[$I] = Michelle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/>
              <a:t>$I= 5   $y[$I] = 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600" b="1" smtClean="0">
              <a:solidFill>
                <a:srgbClr val="0066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2969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DBB8AE-0389-4C7C-8EE1-F5C2A6D6D52A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Structs in C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</a:rPr>
              <a:t>Representation:</a:t>
            </a:r>
            <a:r>
              <a:rPr lang="en-US" altLang="ko-KR" sz="1800" b="1" smtClean="0"/>
              <a:t> a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sequence of objects: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record { A: object;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B: object;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C: object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600" b="1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400" b="1" smtClean="0"/>
          </a:p>
        </p:txBody>
      </p:sp>
      <p:pic>
        <p:nvPicPr>
          <p:cNvPr id="29702" name="Picture 4" descr="C:\documents\pratt\330-jpg\029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038600"/>
            <a:ext cx="3276600" cy="17541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3" name="Picture 5" descr="C:\documents\pratt\330-jpg\0290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05000"/>
            <a:ext cx="4318000" cy="4267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3072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48553B-95D9-4F40-A99C-CF14C2539640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smtClean="0"/>
              <a:t>Union types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typedef union { int X;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float Y;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char Z[4];} B;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B P;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Similar to records, except all have overlapping (same) L-value.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But problems can occur. What happens below?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P.X = 142;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printf(“%O\n”, P.Z[3])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All 3 data objects have same L-value and occupy same storage. No enforcement of type checking.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</a:t>
            </a:r>
            <a:r>
              <a:rPr lang="en-US" altLang="ko-KR" sz="1800" b="1" smtClean="0">
                <a:sym typeface="Symbol" panose="05050102010706020507" pitchFamily="18" charset="2"/>
              </a:rPr>
              <a:t></a:t>
            </a:r>
            <a:r>
              <a:rPr lang="en-US" altLang="ko-KR" sz="1800" b="1" smtClean="0"/>
              <a:t> Poor language design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/>
          </a:p>
        </p:txBody>
      </p:sp>
      <p:pic>
        <p:nvPicPr>
          <p:cNvPr id="30726" name="Picture 4" descr="C:\documents\pratt\330-jpg\0300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133600"/>
            <a:ext cx="3581400" cy="11001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3174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008A9C-8843-493A-AE55-F229DE6412EF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Variant records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78486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type PayType=(Salaried, Hourly);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var Employee:record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ID: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Dept: array[1..3] of char;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Age: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case PayClass: PayType of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   Salaried:(MonthlyRate:real;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	StartDate:integer);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   Hourly:(HourRate:real;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		Reg:integer;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 			Overtime:integer)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/>
              <a:t>	end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/>
          </a:p>
        </p:txBody>
      </p:sp>
      <p:pic>
        <p:nvPicPr>
          <p:cNvPr id="31750" name="Picture 4" descr="C:\documents\pratt\JPG\4.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2971800" cy="3810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3277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C364D7-DC46-44A9-9A43-EAE9E3122FDB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Variant records (continued)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Tagged union type - Pascal variant records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type whichtype = (inttype, realtype, chartype);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type uniontype = record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case V: whichtype of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	inttype: (X: integer);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	realtype: (Y: real);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	chartype: (Z: char4); </a:t>
            </a:r>
            <a:r>
              <a:rPr lang="en-US" altLang="ko-KR" sz="1800" b="1" smtClean="0">
                <a:solidFill>
                  <a:srgbClr val="0066FF"/>
                </a:solidFill>
              </a:rPr>
              <a:t>Assumes string of length 4</a:t>
            </a: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end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</a:rPr>
              <a:t>But can still subvert tagging:</a:t>
            </a: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var P: uniontype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P.V = inttype;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P.X = 142;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/>
              <a:t>	P.V = chartype;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0066FF"/>
                </a:solidFill>
              </a:rPr>
              <a:t>What is P.V value now?</a:t>
            </a:r>
            <a:endParaRPr lang="en-US" altLang="ko-KR" sz="1800" b="1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 smtClean="0"/>
          </a:p>
        </p:txBody>
      </p:sp>
      <p:pic>
        <p:nvPicPr>
          <p:cNvPr id="32774" name="Picture 4" descr="C:\documents\pratt\330-jpg\0300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32313"/>
            <a:ext cx="3733800" cy="12588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smtClean="0">
                <a:latin typeface="굴림" panose="020B0600000101010101" pitchFamily="50" charset="-127"/>
              </a:rPr>
              <a:t>Arrays and records</a:t>
            </a:r>
          </a:p>
        </p:txBody>
      </p:sp>
      <p:sp>
        <p:nvSpPr>
          <p:cNvPr id="3379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urier New" panose="02070309020205020404" pitchFamily="49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B53E5B-806C-47EF-B529-F651BB2885F4}" type="slidenum">
              <a:rPr lang="en-US" altLang="ko-K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 smtClean="0"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Lists, Sets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Not fixed, not homogenous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Lisp</a:t>
            </a:r>
            <a:r>
              <a:rPr lang="ko-KR" altLang="en-US" sz="1800" b="1" smtClean="0"/>
              <a:t>의 자료구조 설명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ko-KR" altLang="en-US" sz="1800" b="1" smtClean="0"/>
              <a:t> </a:t>
            </a:r>
            <a:r>
              <a:rPr lang="en-US" altLang="ko-KR" sz="1800" b="1" smtClean="0"/>
              <a:t>car, cdr, cons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Stacks, queues, trees, directed graphs, property list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Property lists (table, description list)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Property name (attribute) – property value (value)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/>
              <a:t>Sets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Elements: membership, insertion. deletion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Sets: union. intersection, difference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/>
              <a:t>Implementation ::: </a:t>
            </a:r>
          </a:p>
          <a:p>
            <a:pPr lvl="2" eaLnBrk="1" hangingPunct="1">
              <a:buFontTx/>
              <a:buNone/>
            </a:pPr>
            <a:r>
              <a:rPr lang="en-US" altLang="ko-KR" sz="1800" b="1" smtClean="0"/>
              <a:t>Hashing </a:t>
            </a:r>
            <a:r>
              <a:rPr lang="en-US" altLang="ko-KR" sz="1800" b="1" smtClean="0">
                <a:sym typeface="Wingdings" panose="05000000000000000000" pitchFamily="2" charset="2"/>
              </a:rPr>
              <a:t> elements</a:t>
            </a:r>
            <a:r>
              <a:rPr lang="ko-KR" altLang="en-US" sz="1800" b="1" smtClean="0">
                <a:sym typeface="Wingdings" panose="05000000000000000000" pitchFamily="2" charset="2"/>
              </a:rPr>
              <a:t>에 대한 </a:t>
            </a:r>
            <a:r>
              <a:rPr lang="en-US" altLang="ko-KR" sz="1800" b="1" smtClean="0">
                <a:sym typeface="Wingdings" panose="05000000000000000000" pitchFamily="2" charset="2"/>
              </a:rPr>
              <a:t>operations</a:t>
            </a:r>
            <a:r>
              <a:rPr lang="ko-KR" altLang="en-US" sz="1800" b="1" smtClean="0">
                <a:sym typeface="Wingdings" panose="05000000000000000000" pitchFamily="2" charset="2"/>
              </a:rPr>
              <a:t>은 쉬우나</a:t>
            </a:r>
            <a:r>
              <a:rPr lang="en-US" altLang="ko-KR" sz="1800" b="1" smtClean="0">
                <a:sym typeface="Wingdings" panose="05000000000000000000" pitchFamily="2" charset="2"/>
              </a:rPr>
              <a:t>, set </a:t>
            </a:r>
            <a:r>
              <a:rPr lang="ko-KR" altLang="en-US" sz="1800" b="1" smtClean="0">
                <a:sym typeface="Wingdings" panose="05000000000000000000" pitchFamily="2" charset="2"/>
              </a:rPr>
              <a:t>간의 연산은 어려움 </a:t>
            </a:r>
            <a:endParaRPr lang="ko-KR" altLang="en-US" sz="1800" b="1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Arrays and records</a:t>
            </a: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842AD8-FB7D-4540-BA1D-30DA2DE66F2F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4119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리스트와 반복문</a:t>
            </a:r>
          </a:p>
        </p:txBody>
      </p:sp>
      <p:pic>
        <p:nvPicPr>
          <p:cNvPr id="34819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0" y="908050"/>
            <a:ext cx="7620000" cy="2495550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D49C6A0D-61E8-424A-A1F7-AEA139E51CCF}" type="slidenum">
              <a:rPr kumimoji="0" lang="ko-KR" altLang="en-US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kumimoji="0"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4821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3573463"/>
            <a:ext cx="76200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Property List (Dictionary in Python)</a:t>
            </a:r>
            <a:endParaRPr lang="ko-KR" altLang="en-US" smtClean="0"/>
          </a:p>
        </p:txBody>
      </p:sp>
      <p:pic>
        <p:nvPicPr>
          <p:cNvPr id="35843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981075"/>
            <a:ext cx="7591425" cy="2409825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26179113-F41A-4DFF-9A71-4D096509AF17}" type="slidenum">
              <a:rPr kumimoji="0" lang="ko-KR" altLang="en-US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kumimoji="0"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5845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573463"/>
            <a:ext cx="7591425" cy="14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Property List (Dictionary in Python)</a:t>
            </a:r>
            <a:endParaRPr lang="ko-KR" altLang="en-US" smtClean="0"/>
          </a:p>
        </p:txBody>
      </p:sp>
      <p:pic>
        <p:nvPicPr>
          <p:cNvPr id="36867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588" y="908050"/>
            <a:ext cx="7629525" cy="2924175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E7BE6297-BB39-473A-8914-08F59966D3AB}" type="slidenum">
              <a:rPr kumimoji="0" lang="ko-KR" altLang="en-US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kumimoji="0"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6869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933825"/>
            <a:ext cx="7624762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Courier New"/>
        <a:ea typeface="굴림"/>
        <a:cs typeface=""/>
      </a:majorFont>
      <a:minorFont>
        <a:latin typeface="Courier New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인공지능연구실_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3225</TotalTime>
  <Words>1458</Words>
  <Application>Microsoft Office PowerPoint</Application>
  <PresentationFormat>화면 슬라이드 쇼(4:3)</PresentationFormat>
  <Paragraphs>259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9" baseType="lpstr">
      <vt:lpstr>(한글 글꼴 사용)</vt:lpstr>
      <vt:lpstr>KoPub돋움체 Bold</vt:lpstr>
      <vt:lpstr>굴림</vt:lpstr>
      <vt:lpstr>맑은 고딕</vt:lpstr>
      <vt:lpstr>맑은고딕</vt:lpstr>
      <vt:lpstr>Arial</vt:lpstr>
      <vt:lpstr>Courier New</vt:lpstr>
      <vt:lpstr>Symbol</vt:lpstr>
      <vt:lpstr>Times New Roman</vt:lpstr>
      <vt:lpstr>Wingdings</vt:lpstr>
      <vt:lpstr>기본 디자인</vt:lpstr>
      <vt:lpstr>인공지능연구실_템플릿</vt:lpstr>
      <vt:lpstr>Arrays and records</vt:lpstr>
      <vt:lpstr>Structured Data Objects</vt:lpstr>
      <vt:lpstr>Operation on Data Structures</vt:lpstr>
      <vt:lpstr>Storage Representation and Implementation</vt:lpstr>
      <vt:lpstr>Array accessing</vt:lpstr>
      <vt:lpstr>PowerPoint 프레젠테이션</vt:lpstr>
      <vt:lpstr>Array accessing (continued)</vt:lpstr>
      <vt:lpstr>Array accessing summary</vt:lpstr>
      <vt:lpstr>PowerPoint 프레젠테이션</vt:lpstr>
      <vt:lpstr>Array example</vt:lpstr>
      <vt:lpstr>Indexing Methods</vt:lpstr>
      <vt:lpstr>Slices</vt:lpstr>
      <vt:lpstr>Array slices</vt:lpstr>
      <vt:lpstr>More on slices</vt:lpstr>
      <vt:lpstr>Associative arrays</vt:lpstr>
      <vt:lpstr>PowerPoint 프레젠테이션</vt:lpstr>
      <vt:lpstr>PowerPoint 프레젠테이션</vt:lpstr>
      <vt:lpstr>Perl example</vt:lpstr>
      <vt:lpstr>Structs in C</vt:lpstr>
      <vt:lpstr>Union types</vt:lpstr>
      <vt:lpstr>Variant records</vt:lpstr>
      <vt:lpstr>Variant records (continued)</vt:lpstr>
      <vt:lpstr>Lists, Sets</vt:lpstr>
      <vt:lpstr>PowerPoint 프레젠테이션</vt:lpstr>
      <vt:lpstr>리스트와 반복문</vt:lpstr>
      <vt:lpstr>Property List (Dictionary in Python)</vt:lpstr>
      <vt:lpstr>Property List (Dictionary in Python)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9</cp:revision>
  <dcterms:created xsi:type="dcterms:W3CDTF">2000-11-03T06:26:37Z</dcterms:created>
  <dcterms:modified xsi:type="dcterms:W3CDTF">2020-04-23T05:46:09Z</dcterms:modified>
</cp:coreProperties>
</file>