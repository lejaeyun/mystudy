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9144000" cy="6858000" type="screen4x3"/>
  <p:notesSz cx="6858000" cy="9144000"/>
  <p:defaultTextStyle>
    <a:defPPr>
      <a:defRPr lang="ko-KR"/>
    </a:defPPr>
    <a:lvl1pPr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12" d="100"/>
          <a:sy n="112" d="100"/>
        </p:scale>
        <p:origin x="486" y="96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4406BAD2-2CB7-4CF3-A382-EBE579CB4D90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문자열 유형을 편집하려면 누르십시오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세째 수준</a:t>
            </a:r>
          </a:p>
          <a:p>
            <a:pPr lvl="3"/>
            <a:r>
              <a:rPr lang="ko-KR" altLang="en-US" smtClean="0"/>
              <a:t>네째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fld id="{155CFAE0-CFF9-4781-B3A5-9B0AFD307AD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7159A8-6312-496D-AD88-825E1BD29BE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155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825CB8-B0AF-415B-933A-3097D98AE8A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37673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A3A9E3-5EA6-4424-95AD-EFFC3BF894F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7789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E3038-8A89-4E7E-B22E-4C45822F9B4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849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D44DF6-A5C3-4B79-92DE-BAD67064858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897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CA3DD0-EAE1-45C1-B916-25F33ACAFE8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8065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5A052-86D4-44AC-9B86-CE129D93445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3615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0C2632-E211-4083-BA5B-160A712CE87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238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468FD-3B18-4832-BEB5-26D105D13CF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2328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D268E1-F25E-4219-86DA-58381706042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84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46B88-473A-4935-A5BB-F149C41E9F5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9873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fld id="{ACA9221E-3011-49B7-B1D9-A32BE93ACC63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46" name="Picture 22" descr="C:\Documents and Settings\Administrator\Application Data\Microsoft\Media Catalog\Untitled-2 copy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 anchor="ctr"/>
          <a:lstStyle/>
          <a:p>
            <a:r>
              <a:rPr lang="en-US" altLang="ko-KR" sz="4000" b="1">
                <a:solidFill>
                  <a:srgbClr val="0000FF"/>
                </a:solidFill>
              </a:rPr>
              <a:t>Exception handling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altLang="ko-KR" sz="2000" b="1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r>
              <a:rPr lang="en-US" altLang="ko-KR" sz="2000" b="1">
                <a:solidFill>
                  <a:srgbClr val="000000"/>
                </a:solidFill>
              </a:rPr>
              <a:t>by T. Pratt and M. Zelkowitz</a:t>
            </a:r>
          </a:p>
          <a:p>
            <a:r>
              <a:rPr lang="en-US" altLang="ko-KR" sz="2000" b="1">
                <a:solidFill>
                  <a:srgbClr val="000000"/>
                </a:solidFill>
              </a:rPr>
              <a:t>Prentice Hall, 2001</a:t>
            </a:r>
          </a:p>
          <a:p>
            <a:endParaRPr lang="en-US" altLang="ko-KR" sz="2000" b="1">
              <a:solidFill>
                <a:srgbClr val="000000"/>
              </a:solidFill>
            </a:endParaRPr>
          </a:p>
          <a:p>
            <a:r>
              <a:rPr lang="en-US" altLang="ko-KR" sz="2000" b="1">
                <a:solidFill>
                  <a:srgbClr val="000000"/>
                </a:solidFill>
              </a:rPr>
              <a:t>Section 11.1</a:t>
            </a:r>
          </a:p>
          <a:p>
            <a:endParaRPr lang="en-US" altLang="ko-KR" sz="2000" b="1">
              <a:solidFill>
                <a:srgbClr val="000000"/>
              </a:solidFill>
            </a:endParaRPr>
          </a:p>
          <a:p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3524E-9187-4119-90CB-3DC654BAA108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Exception handling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876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Events in a program sometimes occur at unpredictable times, I.e., apparently randomly.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That is, the occurrence is an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exception</a:t>
            </a:r>
            <a:r>
              <a:rPr lang="en-US" altLang="ko-KR" sz="1800" b="1">
                <a:latin typeface="Courier New" panose="02070309020205020404" pitchFamily="49" charset="0"/>
              </a:rPr>
              <a:t> to the normal sequencing of events. Such events are called exceptions, and programming language constructed designed to handle these are called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exception handlers.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Exceptions can be created by the hardware or by software: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Examples</a:t>
            </a:r>
            <a:r>
              <a:rPr lang="en-US" altLang="ko-KR" sz="1800" b="1">
                <a:latin typeface="Courier New" panose="02070309020205020404" pitchFamily="49" charset="0"/>
              </a:rPr>
              <a:t>			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Power failure				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Hardware generated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Printer out of paper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End of page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Divide by 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End of array reached			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Software generated</a:t>
            </a:r>
            <a:endParaRPr lang="en-US" altLang="ko-KR" sz="1800" b="1">
              <a:latin typeface="Courier New" panose="02070309020205020404" pitchFamily="49" charset="0"/>
            </a:endParaRPr>
          </a:p>
        </p:txBody>
      </p:sp>
      <p:sp>
        <p:nvSpPr>
          <p:cNvPr id="194564" name="Line 4"/>
          <p:cNvSpPr>
            <a:spLocks noChangeShapeType="1"/>
          </p:cNvSpPr>
          <p:nvPr/>
        </p:nvSpPr>
        <p:spPr bwMode="auto">
          <a:xfrm>
            <a:off x="6553200" y="5029200"/>
            <a:ext cx="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3DAD-8CF1-4DC2-ADF5-B4EEA3251AC3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Testing for exceptions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153400" cy="4876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Although software exceptions can be tested in the code, the existence of an exception handling mechanism relieves the programmer the burden of constantly checking for this condition.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Causing an exception: to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raise</a:t>
            </a:r>
            <a:r>
              <a:rPr lang="en-US" altLang="ko-KR" sz="1800" b="1">
                <a:latin typeface="Courier New" panose="02070309020205020404" pitchFamily="49" charset="0"/>
              </a:rPr>
              <a:t> an exception or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throw</a:t>
            </a:r>
            <a:r>
              <a:rPr lang="en-US" altLang="ko-KR" sz="1800" b="1">
                <a:latin typeface="Courier New" panose="02070309020205020404" pitchFamily="49" charset="0"/>
              </a:rPr>
              <a:t> an exception.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Example: End-of-page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Without exceptions</a:t>
            </a:r>
            <a:r>
              <a:rPr lang="en-US" altLang="ko-KR" sz="1800" b="1">
                <a:latin typeface="Courier New" panose="02070309020205020404" pitchFamily="49" charset="0"/>
              </a:rPr>
              <a:t>, need to test at each print statement: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print data;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if end-of-page then call newPage();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With automatic exceptions</a:t>
            </a:r>
            <a:r>
              <a:rPr lang="en-US" altLang="ko-KR" sz="1800" b="1">
                <a:latin typeface="Courier New" panose="02070309020205020404" pitchFamily="49" charset="0"/>
              </a:rPr>
              <a:t>, setup mechanism: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[PL/I example:] On endpage begin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			   put page;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			   end; /* Resume execution */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can write output without checking end-page condition each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9AA4-D7A6-464F-B739-1A81F435EB31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Implementation of exceptions</a:t>
            </a:r>
            <a:endParaRPr lang="en-US" altLang="ko-KR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Exceptions come from two sources: 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conditions detected by the virtual machine, and 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conditions generated by the semantics of the programming language.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 the former case, operating system exceptions may be raised directly by hardware interrupts or traps, such as arithmetic overflow, or they may be raised in support software, such as end-of-file condition.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 C, the programmer has direct access to these signals processed by the operating system. The programmer may 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enable</a:t>
            </a:r>
            <a:r>
              <a:rPr lang="en-US" altLang="ko-KR" sz="1800" b="1">
                <a:latin typeface="Courier New" panose="02070309020205020404" pitchFamily="49" charset="0"/>
              </a:rPr>
              <a:t> an interrupt (e.g., the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sigaction</a:t>
            </a:r>
            <a:r>
              <a:rPr lang="en-US" altLang="ko-KR" sz="1800" b="1">
                <a:latin typeface="Courier New" panose="02070309020205020404" pitchFamily="49" charset="0"/>
              </a:rPr>
              <a:t> function in Unix, which specifies a procedure that gets invoked when the given signal is raised).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9A922-1547-4F10-B8ED-19F0020DB074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Exceptions in ML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One can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throw</a:t>
            </a:r>
            <a:r>
              <a:rPr lang="en-US" altLang="ko-KR" sz="1800" b="1">
                <a:latin typeface="Courier New" panose="02070309020205020404" pitchFamily="49" charset="0"/>
              </a:rPr>
              <a:t> an exception and a handler will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catch</a:t>
            </a:r>
            <a:r>
              <a:rPr lang="en-US" altLang="ko-KR" sz="1800" b="1">
                <a:latin typeface="Courier New" panose="02070309020205020404" pitchFamily="49" charset="0"/>
              </a:rPr>
              <a:t> the exception. (More limited than PL/I example. Need to explicitly raise an exception.):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fun doDivide(a,b) =  if b=0 then raise badDenominator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			  else a/b;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fun divide(a,b) = doDivide(a,b)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handle badDenominator =&gt; (print “Divide error”; 0.0);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Note: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800" b="1">
                <a:latin typeface="Courier New" panose="02070309020205020404" pitchFamily="49" charset="0"/>
              </a:rPr>
              <a:t>doDivide is within dynamic scope of divide.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800" b="1">
                <a:latin typeface="Courier New" panose="02070309020205020404" pitchFamily="49" charset="0"/>
              </a:rPr>
              <a:t>Semantics if exception is raised: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- If no handler, end function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- Check dynamic scope of executing procedures to look for appropriate handler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- If handler, execute handler, then return to exception point (e.g., print message and return 0.0 as default value in above example.)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A7F32-CEE3-4ACF-A44F-DBF53A73C417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Exceptions in C++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try</a:t>
            </a:r>
            <a:r>
              <a:rPr lang="en-US" altLang="ko-KR" sz="1800" b="1">
                <a:latin typeface="Courier New" panose="02070309020205020404" pitchFamily="49" charset="0"/>
              </a:rPr>
              <a:t> clause implements exceptions.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Similar to ML: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try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{ statements . . . If b=0 throw badDenominator;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}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catch badDenominator {Do something;};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Propagating exceptions</a:t>
            </a:r>
            <a:r>
              <a:rPr lang="en-US" altLang="ko-KR" sz="1800" b="1">
                <a:latin typeface="Courier New" panose="02070309020205020404" pitchFamily="49" charset="0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If no local exception handler, who catches exception?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Usually dynamic links checked for handler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try statement terminates after handling exception.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44EE-AB59-4195-B72A-C5DAEBCD1F94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Exceptions in Ada</a:t>
            </a:r>
          </a:p>
        </p:txBody>
      </p:sp>
      <p:sp>
        <p:nvSpPr>
          <p:cNvPr id="199683" name="Rectangle 3"/>
          <p:cNvSpPr>
            <a:spLocks noChangeArrowheads="1"/>
          </p:cNvSpPr>
          <p:nvPr>
            <p:ph type="body" idx="1"/>
          </p:nvPr>
        </p:nvSpPr>
        <p:spPr>
          <a:xfrm>
            <a:off x="685800" y="1600200"/>
            <a:ext cx="8229600" cy="4724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procedure Sub is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Bad_Data_Value: exception;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       -other declarations for Sub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begin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        -statements for normal processing in Sub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     raise Bad_Data_Value 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</a:rPr>
              <a:t>-- to raise this exception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exception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  when Bad_Data_Value =&gt;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                -handler for bad data values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   when Constraint_Error =&gt;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                -handler for predefined exception Constraint_Error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   when others =&gt;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                -handler for all other exceptions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end;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</a:rPr>
              <a:t>[Constraint_Error (e.g., number too large) is a built-in exception in Ada.]</a:t>
            </a: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AA0B-E07E-4FC9-B201-6EB13D43AAE4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Propagating exceptions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"/>
              </a:spcBef>
            </a:pPr>
            <a:r>
              <a:rPr lang="en-US" altLang="ko-KR" sz="1800" b="1">
                <a:latin typeface="Courier New" panose="02070309020205020404" pitchFamily="49" charset="0"/>
              </a:rPr>
              <a:t>the place at which an exception occurs is not the best place to handle it</a:t>
            </a:r>
          </a:p>
          <a:p>
            <a:pPr>
              <a:lnSpc>
                <a:spcPct val="90000"/>
              </a:lnSpc>
              <a:spcBef>
                <a:spcPct val="5000"/>
              </a:spcBef>
            </a:pPr>
            <a:r>
              <a:rPr lang="en-US" altLang="ko-KR" sz="1800" b="1">
                <a:latin typeface="Courier New" panose="02070309020205020404" pitchFamily="49" charset="0"/>
              </a:rPr>
              <a:t>a particular exception is usually defined in terms of the dynamic chain of subprogram activations </a:t>
            </a:r>
          </a:p>
          <a:p>
            <a:pPr>
              <a:lnSpc>
                <a:spcPct val="90000"/>
              </a:lnSpc>
              <a:spcBef>
                <a:spcPct val="5000"/>
              </a:spcBef>
            </a:pPr>
            <a:r>
              <a:rPr lang="en-US" altLang="ko-KR" sz="1800" b="1">
                <a:latin typeface="Courier New" panose="02070309020205020404" pitchFamily="49" charset="0"/>
              </a:rPr>
              <a:t>each activation record needs to record those active exceptions being passed from calling procedure</a:t>
            </a:r>
          </a:p>
          <a:p>
            <a:pPr>
              <a:lnSpc>
                <a:spcPct val="90000"/>
              </a:lnSpc>
              <a:spcBef>
                <a:spcPct val="5000"/>
              </a:spcBef>
            </a:pPr>
            <a:r>
              <a:rPr lang="en-US" altLang="ko-KR" sz="1800" b="1">
                <a:latin typeface="Courier New" panose="02070309020205020404" pitchFamily="49" charset="0"/>
              </a:rPr>
              <a:t>propagating exceptions allows a subprogram to remain as a programmer-defined abstract operation even in processing exceptions:</a:t>
            </a:r>
          </a:p>
          <a:p>
            <a:pPr lvl="1">
              <a:lnSpc>
                <a:spcPct val="90000"/>
              </a:lnSpc>
              <a:spcBef>
                <a:spcPct val="500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 subprogram may interrupt its normal processing and raise an exception. </a:t>
            </a:r>
          </a:p>
          <a:p>
            <a:pPr lvl="1">
              <a:lnSpc>
                <a:spcPct val="90000"/>
              </a:lnSpc>
              <a:spcBef>
                <a:spcPct val="500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to the caller, the effect of a subprogram's raising an exception is the same as a primitive operation's raising an exception if the subprogram does not handle the exception. </a:t>
            </a:r>
          </a:p>
          <a:p>
            <a:pPr lvl="1">
              <a:lnSpc>
                <a:spcPct val="90000"/>
              </a:lnSpc>
              <a:spcBef>
                <a:spcPct val="5000"/>
              </a:spcBef>
              <a:buFontTx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if the exception is handled within the subprogram, then the subprogram returns in the normal way, and the caller is never aware that an exception has been raised.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C3B45-8055-4D63-8F7F-72D1F77DAF46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More on implementation of exceptions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the language translator may insert additional instructions. For example, to detect Index_Check caused by an invalid array subscript, the translator inserts instructions at each reference to an array, such as A[I,J], to determine whether the values of I and J are within the declared bounds.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Unless the hardware or operating system provides the exception checking, checking for an exception requires software simulation. Often this cost is large.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For example, it may take longer to perform the subscript bounds check on A[I,J] than it does to access the element of the array. Because of this extra cost, most languages provide a means to turn off checking for exceptions in parts of the program where the programmer determines it is safe to do so [e.g., pragma Supress(Index_Check) in Ada].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</a:rPr>
              <a:t>Note: programmers are notoriously bad in determining when it is safe to do so.</a:t>
            </a: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CCA0-1031-4691-82C9-A6B113828E44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Assertions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An assertion is a predicate that checks for an invalid value and then raises an exception: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In C++: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#include &lt;assert.h&gt;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. . 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assert(x,y);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 C++ it is really a macro that generates: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if (x&gt;y) {/* Print error message */}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(Compare assertions to pre- and postconditions of axiomatic verification in Section 4.2.4.)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3158</TotalTime>
  <Words>1009</Words>
  <Application>Microsoft Office PowerPoint</Application>
  <PresentationFormat>화면 슬라이드 쇼(4:3)</PresentationFormat>
  <Paragraphs>116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굴림</vt:lpstr>
      <vt:lpstr>Times New Roman</vt:lpstr>
      <vt:lpstr>Wingdings</vt:lpstr>
      <vt:lpstr>Courier New</vt:lpstr>
      <vt:lpstr>기본 디자인</vt:lpstr>
      <vt:lpstr>Exception handling</vt:lpstr>
      <vt:lpstr>Exception handling</vt:lpstr>
      <vt:lpstr>Testing for exceptions</vt:lpstr>
      <vt:lpstr>Implementation of exceptions</vt:lpstr>
      <vt:lpstr>Exceptions in ML</vt:lpstr>
      <vt:lpstr>Exceptions in C++</vt:lpstr>
      <vt:lpstr>Exceptions in Ada</vt:lpstr>
      <vt:lpstr>Propagating exceptions</vt:lpstr>
      <vt:lpstr>More on implementation of exceptions</vt:lpstr>
      <vt:lpstr>Assertions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3</cp:revision>
  <dcterms:created xsi:type="dcterms:W3CDTF">2000-11-03T06:26:37Z</dcterms:created>
  <dcterms:modified xsi:type="dcterms:W3CDTF">2020-06-01T09:32:27Z</dcterms:modified>
</cp:coreProperties>
</file>