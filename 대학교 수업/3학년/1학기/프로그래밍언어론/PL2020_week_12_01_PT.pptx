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12" d="100"/>
          <a:sy n="112" d="100"/>
        </p:scale>
        <p:origin x="486" y="96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0DAEA2A4-9544-4AE1-B151-A17CDC05D68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fld id="{7185016F-F31C-44CA-886E-F9F0EBB6D9B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084E5F-D812-400B-AFA6-3A7237F737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0329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FFE627-E9FE-4197-8377-81A57A156BB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463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CD9B7F-B157-4BB8-B1D4-0ED3FC85367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511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A2C3A3-47A6-4DBB-9DEC-7E4BF1F6D2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7959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D6DC-B6A8-4F92-9D96-F75FE840AF8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062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00120F-A339-4638-B839-E2692DD0D75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954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F8375-F7EA-4CD5-92D0-6EDC98F977F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743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ABC357-6536-4ED2-B771-AA1AAD702F3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6633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6CE4A-4F60-4945-B6F2-B79E6170347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742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515AEE-FC7A-4413-8239-FDA040F81DE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680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02BEC4-9D23-4859-BADE-0B7DD189CCD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2358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ko-KR"/>
              <a:t>Parameter transmission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9B24B88C-45AA-40EC-9AC2-4B5AE2C81C99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46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143000"/>
          </a:xfrm>
        </p:spPr>
        <p:txBody>
          <a:bodyPr anchor="ctr"/>
          <a:lstStyle/>
          <a:p>
            <a:r>
              <a:rPr lang="en-US" altLang="ko-KR" sz="4000" b="1">
                <a:solidFill>
                  <a:srgbClr val="0000FF"/>
                </a:solidFill>
              </a:rPr>
              <a:t>Parameter transmission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581400"/>
            <a:ext cx="6324600" cy="2514600"/>
          </a:xfrm>
        </p:spPr>
        <p:txBody>
          <a:bodyPr/>
          <a:lstStyle/>
          <a:p>
            <a:r>
              <a:rPr lang="en-US" altLang="ko-KR" b="1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r>
              <a:rPr lang="en-US" altLang="ko-KR" b="1">
                <a:solidFill>
                  <a:srgbClr val="000000"/>
                </a:solidFill>
              </a:rPr>
              <a:t>by T. Pratt and M. Zelkowitz</a:t>
            </a:r>
          </a:p>
          <a:p>
            <a:r>
              <a:rPr lang="en-US" altLang="ko-KR" b="1">
                <a:solidFill>
                  <a:srgbClr val="000000"/>
                </a:solidFill>
              </a:rPr>
              <a:t>Prentice Hall, 2001</a:t>
            </a:r>
          </a:p>
          <a:p>
            <a:endParaRPr lang="en-US" altLang="ko-KR" b="1">
              <a:solidFill>
                <a:srgbClr val="000000"/>
              </a:solidFill>
            </a:endParaRPr>
          </a:p>
          <a:p>
            <a:r>
              <a:rPr lang="en-US" altLang="ko-KR" b="1">
                <a:solidFill>
                  <a:srgbClr val="000000"/>
                </a:solidFill>
              </a:rPr>
              <a:t>Section 9.3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A1D70-8414-47D9-8681-50AE28999583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Parameter passing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724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Parameter</a:t>
            </a:r>
            <a:r>
              <a:rPr lang="en-US" altLang="ko-KR" sz="1800" b="1">
                <a:latin typeface="Courier New" panose="02070309020205020404" pitchFamily="49" charset="0"/>
              </a:rPr>
              <a:t>: A variable in a procedure that represents some other data from the procedure that invoked the given procedure.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Parameter transmission</a:t>
            </a:r>
            <a:r>
              <a:rPr lang="en-US" altLang="ko-KR" sz="1800" b="1">
                <a:latin typeface="Courier New" panose="02070309020205020404" pitchFamily="49" charset="0"/>
              </a:rPr>
              <a:t>: How that information is passed to the procedure.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800" b="1">
                <a:latin typeface="Courier New" panose="02070309020205020404" pitchFamily="49" charset="0"/>
              </a:rPr>
              <a:t>The parameter is also called the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formal argument</a:t>
            </a:r>
            <a:r>
              <a:rPr lang="en-US" altLang="ko-KR" sz="1800" b="1">
                <a:latin typeface="Courier New" panose="02070309020205020404" pitchFamily="49" charset="0"/>
              </a:rPr>
              <a:t>.The data from the invoking procedure is called the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actual argument</a:t>
            </a:r>
            <a:r>
              <a:rPr lang="en-US" altLang="ko-KR" sz="1800" b="1">
                <a:latin typeface="Courier New" panose="02070309020205020404" pitchFamily="49" charset="0"/>
              </a:rPr>
              <a:t> or sometimes just the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argument</a:t>
            </a:r>
            <a:r>
              <a:rPr lang="en-US" altLang="ko-KR" sz="1800" b="1">
                <a:latin typeface="Courier New" panose="02070309020205020404" pitchFamily="49" charset="0"/>
              </a:rPr>
              <a:t>.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Usual syntax:</a:t>
            </a:r>
            <a:r>
              <a:rPr lang="en-US" altLang="ko-KR" sz="1800" b="1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Actual arguments: call P(A, B+2, 27+3)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Parameters: Procedure P(X, Y, Z)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What is connection between the parameters and the arguments?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Call by name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Call by reference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Call by value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Call by result (or value-result)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A156-DD88-4CC0-996D-D4244E1F0FF7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Language dependent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Difference languages have different mechanisms:</a:t>
            </a:r>
          </a:p>
          <a:p>
            <a:pPr>
              <a:spcBef>
                <a:spcPct val="0"/>
              </a:spcBef>
            </a:pPr>
            <a:r>
              <a:rPr lang="en-US" altLang="ko-KR" sz="1800" b="1">
                <a:latin typeface="Courier New" panose="02070309020205020404" pitchFamily="49" charset="0"/>
              </a:rPr>
              <a:t>ALGOL - name, value</a:t>
            </a:r>
          </a:p>
          <a:p>
            <a:pPr>
              <a:spcBef>
                <a:spcPct val="0"/>
              </a:spcBef>
            </a:pPr>
            <a:r>
              <a:rPr lang="en-US" altLang="ko-KR" sz="1800" b="1">
                <a:latin typeface="Courier New" panose="02070309020205020404" pitchFamily="49" charset="0"/>
              </a:rPr>
              <a:t>Pascal - value, reference</a:t>
            </a:r>
          </a:p>
          <a:p>
            <a:pPr>
              <a:spcBef>
                <a:spcPct val="0"/>
              </a:spcBef>
            </a:pPr>
            <a:r>
              <a:rPr lang="en-US" altLang="ko-KR" sz="1800" b="1">
                <a:latin typeface="Courier New" panose="02070309020205020404" pitchFamily="49" charset="0"/>
              </a:rPr>
              <a:t>C - value (BUT pointers give us reference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Constant tension between desire for efficiency and semantic correctness in defining parameter transmission.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FFD4D-040B-4116-A075-98D6EE811715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Call by name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Substitute argument for parameter at each occurrence of parameter: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Invocation</a:t>
            </a:r>
            <a:r>
              <a:rPr lang="en-US" altLang="ko-KR" sz="1800" b="1">
                <a:latin typeface="Courier New" panose="02070309020205020404" pitchFamily="49" charset="0"/>
              </a:rPr>
              <a:t>: P(A, B+2, 27+3)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Definition</a:t>
            </a:r>
            <a:r>
              <a:rPr lang="en-US" altLang="ko-KR" sz="1800" b="1">
                <a:latin typeface="Courier New" panose="02070309020205020404" pitchFamily="49" charset="0"/>
              </a:rPr>
              <a:t>: procedure P(X,Y,Z)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		{int I; I=7; X = I + (7/Y)*Z;}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Meaning</a:t>
            </a:r>
            <a:r>
              <a:rPr lang="en-US" altLang="ko-KR" sz="1800" b="1">
                <a:latin typeface="Courier New" panose="02070309020205020404" pitchFamily="49" charset="0"/>
              </a:rPr>
              <a:t>: P(X,Y,Z) {int I; I=7; A=I+(7/(B+2))*(27+3);}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This is a true macro expansion. Simple semantics,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BUT</a:t>
            </a:r>
            <a:r>
              <a:rPr lang="en-US" altLang="ko-KR" sz="1800" b="1"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1.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Implementation</a:t>
            </a:r>
            <a:r>
              <a:rPr lang="en-US" altLang="ko-KR" sz="1800" b="1">
                <a:latin typeface="Courier New" panose="02070309020205020404" pitchFamily="49" charset="0"/>
              </a:rPr>
              <a:t>. How to do it?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2.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Aliases</a:t>
            </a:r>
            <a:r>
              <a:rPr lang="en-US" altLang="ko-KR" sz="1800" b="1">
                <a:latin typeface="Courier New" panose="02070309020205020404" pitchFamily="49" charset="0"/>
              </a:rPr>
              <a:t>. What if statement of P were: I = A?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3.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Expressions versus statements</a:t>
            </a:r>
            <a:r>
              <a:rPr lang="en-US" altLang="ko-KR" sz="1800" b="1">
                <a:latin typeface="Courier New" panose="02070309020205020404" pitchFamily="49" charset="0"/>
              </a:rPr>
              <a:t>: If we had D=P(1,2,3) and a return(42) in P, what does semantics mean?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4.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Error conditions</a:t>
            </a:r>
            <a:r>
              <a:rPr lang="en-US" altLang="ko-KR" sz="1800" b="1">
                <a:latin typeface="Courier New" panose="02070309020205020404" pitchFamily="49" charset="0"/>
              </a:rPr>
              <a:t>: P(A+B, B+2, 27+3)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9D4B-6A2B-4F51-8610-0D8DBD7CCE8B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Implementation of call by name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495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A 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thunk</a:t>
            </a:r>
            <a:r>
              <a:rPr lang="en-US" altLang="ko-KR" sz="1600" b="1">
                <a:latin typeface="Courier New" panose="02070309020205020404" pitchFamily="49" charset="0"/>
              </a:rPr>
              <a:t> is the code which computes the L-value and R-value of an argument.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For each argument, pass code address that computes both L-values and R-values of arguments.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P(A, B+2, 27+3) generates</a:t>
            </a:r>
            <a:r>
              <a:rPr lang="en-US" altLang="ko-KR" sz="1600" b="1"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jump to subroutine P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address of thunk to return L-value(A)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address of thunk to return R-value(A)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address of thunk to return L-value(B+2)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address of thunk to return R-value(B+2)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address of thunk to return L-value(27+3)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address of thunk to return R-value(27+3)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To assign to X, call thunk 1, To access X, call thunk 2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To assign to Y, call thunk 3, To access Y, call thunk 4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To assign to Z, call thunk 5, To access Z, call thunk 6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Issue</a:t>
            </a:r>
            <a:r>
              <a:rPr lang="en-US" altLang="ko-KR" sz="1600" b="1">
                <a:latin typeface="Courier New" panose="02070309020205020404" pitchFamily="49" charset="0"/>
              </a:rPr>
              <a:t>: Assignment to (B+2): How?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Call by name is conceptually convenient, but inefficient.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DC111-DC87-4EE1-96BA-A263D255B71C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Examples of Call by Name</a:t>
            </a:r>
            <a:endParaRPr lang="en-US" altLang="ko-KR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1. P(x) {x = x + x;}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Seems simple enough …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Y = 2;	P(Y); write(Y)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means Y = Y+Y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write(Y)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prints 4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2. int A[10];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for(I=0; I&lt;10; I++) {A[I]=I;};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I=1; P(A[I])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A[1] = A[1] + A[1]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A[1] set to 2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3.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But</a:t>
            </a:r>
            <a:r>
              <a:rPr lang="en-US" altLang="ko-KR" sz="1800" b="1">
                <a:latin typeface="Courier New" panose="02070309020205020404" pitchFamily="49" charset="0"/>
              </a:rPr>
              <a:t>: F {I = I + 1; return I;}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What is: P(A[F])?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P(A[F])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A[F] = A[F]+A[F]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A[I++] = A[I++]+A[I++]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   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A[2] = A[3]+A[4]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4. Write a program to exchange values of X and Y: (swap(X,Y))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Usual way: swap(x,y) {t=x; x=y; y=t;}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Cannot do it with call by name. Cannot handle both of following: swap(I, A[I]) swap(A[I],I)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One of these must fail.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B804D-AD76-4947-AFD9-2AB877D1050A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Call by reference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Pass the L-value of the argument for the parameter.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Invocation</a:t>
            </a:r>
            <a:r>
              <a:rPr lang="en-US" altLang="ko-KR" sz="1800" b="1">
                <a:latin typeface="Courier New" panose="02070309020205020404" pitchFamily="49" charset="0"/>
              </a:rPr>
              <a:t>: P(A, B+2, 27+3)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Implementation</a:t>
            </a:r>
            <a:r>
              <a:rPr lang="en-US" altLang="ko-KR" sz="1800" b="1"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Temp1 = B+2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Temp2 = 27+3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jump to subroutine P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L-value of A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L-value of Temp1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L-value of Temp2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This is the most common parameter transmission mechanism. In the procedure activation record, parameter X is a local variable whose R-value is the L-value of the argument.</a:t>
            </a:r>
          </a:p>
        </p:txBody>
      </p:sp>
      <p:pic>
        <p:nvPicPr>
          <p:cNvPr id="195588" name="Picture 4" descr="10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743200"/>
            <a:ext cx="4114800" cy="2133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C0089-1719-4027-8E67-C143F32788CA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Call by value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Pass the R-value of the argument for the parameter.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Invocation</a:t>
            </a:r>
            <a:r>
              <a:rPr lang="en-US" altLang="ko-KR" sz="1800" b="1">
                <a:latin typeface="Courier New" panose="02070309020205020404" pitchFamily="49" charset="0"/>
              </a:rPr>
              <a:t>: P(A, B+2, 27+3)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Implementation</a:t>
            </a:r>
            <a:r>
              <a:rPr lang="en-US" altLang="ko-KR" sz="1800" b="1">
                <a:latin typeface="Courier New" panose="02070309020205020404" pitchFamily="49" charset="0"/>
              </a:rPr>
              <a:t>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Temp1 = B+2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Temp2 = 27+3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jump to subroutine P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R-value of 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R-value of Temp1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R-value of Temp2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procedure activation record, parameter X is a local variable whose R-value is the R-value of the argument.</a:t>
            </a:r>
          </a:p>
        </p:txBody>
      </p:sp>
      <p:pic>
        <p:nvPicPr>
          <p:cNvPr id="196612" name="Picture 4" descr="10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819400"/>
            <a:ext cx="4343400" cy="2286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A11-5EAD-467E-A905-63B9DA25C99D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Call by reference in C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 only has call by value,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BUT pointer variables allow for simulating call by reference: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P(i, j)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passes i and j by value.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P(&amp;i, &amp;j)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passes L-values of i and j.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P(*x, *y) {*x = *y + 1;}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arguments are addresses (pointers)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Call by result</a:t>
            </a:r>
            <a:r>
              <a:rPr lang="en-US" altLang="ko-KR" sz="1800" b="1">
                <a:latin typeface="Courier New" panose="02070309020205020404" pitchFamily="49" charset="0"/>
              </a:rPr>
              <a:t> (or value-result): Call by value, AND pass back the final value to argument upon return.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Parameter is a local value in procedure.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Similar to call by reference, except for aliasing.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330B0-EACC-4144-A496-576F415AB61A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In-out semantics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800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Parameters in Ada are based upon use (semantics), not implementation: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- argument value will be used in procedure.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out - parameter value will be used in calling program.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out - both uses of arguments and parameters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P(X in integer;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Y out integer;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Z in out integer);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begin ... end;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Ada 83, language definition allowed some latitude in implementation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as long as implementation consistent, ok.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But</a:t>
            </a:r>
            <a:r>
              <a:rPr lang="en-US" altLang="ko-KR" sz="1800" b="1">
                <a:latin typeface="Courier New" panose="02070309020205020404" pitchFamily="49" charset="0"/>
              </a:rPr>
              <a:t> this meant that the same program could give different answers from different standards conforming compilers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Ada 95, more restricted: in integer is value, out integer is value-result, composite (e.g., arrays) is reference.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51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C4B0-39B0-48A5-A114-A97CFBA96DFE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Example of parameter passing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848600" cy="2209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Main	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{A = 2; B = 5; C = 8; D = 9;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   P(A, B, C, D); write(A, B, C, D);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P(U, V, W, X)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   {V = U+A;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    W = A+B;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    A = A+1;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    X = A+2;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    write(U, V, W, X)}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Fill in table assume parameters are of the given type: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</a:rPr>
              <a:t>           </a:t>
            </a:r>
            <a:r>
              <a:rPr lang="en-US" altLang="ko-KR" sz="1400" b="1">
                <a:solidFill>
                  <a:srgbClr val="FF0000"/>
                </a:solidFill>
                <a:latin typeface="Courier New" panose="02070309020205020404" pitchFamily="49" charset="0"/>
              </a:rPr>
              <a:t>A  B  C  D  U  V  W  X print P print main</a:t>
            </a:r>
            <a:r>
              <a:rPr lang="en-US" altLang="ko-KR" sz="1400" b="1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4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  <p:sp>
        <p:nvSpPr>
          <p:cNvPr id="199684" name="Text Box 4"/>
          <p:cNvSpPr txBox="1">
            <a:spLocks noChangeArrowheads="1"/>
          </p:cNvSpPr>
          <p:nvPr/>
        </p:nvSpPr>
        <p:spPr bwMode="auto">
          <a:xfrm>
            <a:off x="914400" y="3962400"/>
            <a:ext cx="16002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latinLnBrk="0" hangingPunct="0">
              <a:spcBef>
                <a:spcPct val="50000"/>
              </a:spcBef>
            </a:pPr>
            <a:r>
              <a:rPr kumimoji="0" lang="en-US" altLang="ko-KR" sz="1600">
                <a:latin typeface="Times New Roman" panose="02020603050405020304" pitchFamily="18" charset="0"/>
              </a:rPr>
              <a:t>Call by name</a:t>
            </a:r>
            <a:endParaRPr kumimoji="0" lang="en-US" altLang="ko-KR" sz="3600">
              <a:latin typeface="Times New Roman" panose="02020603050405020304" pitchFamily="18" charset="0"/>
            </a:endParaRPr>
          </a:p>
        </p:txBody>
      </p:sp>
      <p:sp>
        <p:nvSpPr>
          <p:cNvPr id="199685" name="Text Box 5"/>
          <p:cNvSpPr txBox="1">
            <a:spLocks noChangeArrowheads="1"/>
          </p:cNvSpPr>
          <p:nvPr/>
        </p:nvSpPr>
        <p:spPr bwMode="auto">
          <a:xfrm>
            <a:off x="914400" y="4343400"/>
            <a:ext cx="16002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latinLnBrk="0" hangingPunct="0">
              <a:spcBef>
                <a:spcPct val="50000"/>
              </a:spcBef>
            </a:pPr>
            <a:r>
              <a:rPr kumimoji="0" lang="en-US" altLang="ko-KR" sz="1600">
                <a:latin typeface="Times New Roman" panose="02020603050405020304" pitchFamily="18" charset="0"/>
              </a:rPr>
              <a:t>Call by reference</a:t>
            </a:r>
            <a:endParaRPr kumimoji="0" lang="en-US" altLang="ko-KR" sz="3600">
              <a:latin typeface="Times New Roman" panose="02020603050405020304" pitchFamily="18" charset="0"/>
            </a:endParaRPr>
          </a:p>
        </p:txBody>
      </p:sp>
      <p:sp>
        <p:nvSpPr>
          <p:cNvPr id="199686" name="Text Box 6"/>
          <p:cNvSpPr txBox="1">
            <a:spLocks noChangeArrowheads="1"/>
          </p:cNvSpPr>
          <p:nvPr/>
        </p:nvSpPr>
        <p:spPr bwMode="auto">
          <a:xfrm>
            <a:off x="914400" y="4724400"/>
            <a:ext cx="16002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latinLnBrk="0" hangingPunct="0">
              <a:spcBef>
                <a:spcPct val="50000"/>
              </a:spcBef>
            </a:pPr>
            <a:r>
              <a:rPr kumimoji="0" lang="en-US" altLang="ko-KR" sz="1600">
                <a:latin typeface="Times New Roman" panose="02020603050405020304" pitchFamily="18" charset="0"/>
              </a:rPr>
              <a:t>Call by value</a:t>
            </a:r>
            <a:endParaRPr kumimoji="0" lang="en-US" altLang="ko-KR" sz="3600">
              <a:latin typeface="Times New Roman" panose="02020603050405020304" pitchFamily="18" charset="0"/>
            </a:endParaRPr>
          </a:p>
        </p:txBody>
      </p:sp>
      <p:sp>
        <p:nvSpPr>
          <p:cNvPr id="199687" name="Text Box 7"/>
          <p:cNvSpPr txBox="1">
            <a:spLocks noChangeArrowheads="1"/>
          </p:cNvSpPr>
          <p:nvPr/>
        </p:nvSpPr>
        <p:spPr bwMode="auto">
          <a:xfrm>
            <a:off x="914400" y="5105400"/>
            <a:ext cx="16002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latinLnBrk="0" hangingPunct="0">
              <a:spcBef>
                <a:spcPct val="50000"/>
              </a:spcBef>
            </a:pPr>
            <a:r>
              <a:rPr kumimoji="0" lang="en-US" altLang="ko-KR" sz="1600">
                <a:latin typeface="Times New Roman" panose="02020603050405020304" pitchFamily="18" charset="0"/>
              </a:rPr>
              <a:t>Call by result</a:t>
            </a:r>
            <a:endParaRPr kumimoji="0" lang="en-US" altLang="ko-KR" sz="3600">
              <a:latin typeface="Times New Roman" panose="02020603050405020304" pitchFamily="18" charset="0"/>
            </a:endParaRPr>
          </a:p>
        </p:txBody>
      </p:sp>
      <p:sp>
        <p:nvSpPr>
          <p:cNvPr id="199688" name="Rectangle 8"/>
          <p:cNvSpPr>
            <a:spLocks noChangeArrowheads="1"/>
          </p:cNvSpPr>
          <p:nvPr/>
        </p:nvSpPr>
        <p:spPr bwMode="auto">
          <a:xfrm>
            <a:off x="2514600" y="3962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89" name="Rectangle 9"/>
          <p:cNvSpPr>
            <a:spLocks noChangeArrowheads="1"/>
          </p:cNvSpPr>
          <p:nvPr/>
        </p:nvSpPr>
        <p:spPr bwMode="auto">
          <a:xfrm>
            <a:off x="2514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90" name="Rectangle 10"/>
          <p:cNvSpPr>
            <a:spLocks noChangeArrowheads="1"/>
          </p:cNvSpPr>
          <p:nvPr/>
        </p:nvSpPr>
        <p:spPr bwMode="auto">
          <a:xfrm>
            <a:off x="2514600" y="4724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91" name="Rectangle 11"/>
          <p:cNvSpPr>
            <a:spLocks noChangeArrowheads="1"/>
          </p:cNvSpPr>
          <p:nvPr/>
        </p:nvSpPr>
        <p:spPr bwMode="auto">
          <a:xfrm>
            <a:off x="2514600" y="5105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92" name="Rectangle 12"/>
          <p:cNvSpPr>
            <a:spLocks noChangeArrowheads="1"/>
          </p:cNvSpPr>
          <p:nvPr/>
        </p:nvSpPr>
        <p:spPr bwMode="auto">
          <a:xfrm>
            <a:off x="2895600" y="3962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93" name="Rectangle 13"/>
          <p:cNvSpPr>
            <a:spLocks noChangeArrowheads="1"/>
          </p:cNvSpPr>
          <p:nvPr/>
        </p:nvSpPr>
        <p:spPr bwMode="auto">
          <a:xfrm>
            <a:off x="2895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94" name="Rectangle 14"/>
          <p:cNvSpPr>
            <a:spLocks noChangeArrowheads="1"/>
          </p:cNvSpPr>
          <p:nvPr/>
        </p:nvSpPr>
        <p:spPr bwMode="auto">
          <a:xfrm>
            <a:off x="2895600" y="4724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95" name="Rectangle 15"/>
          <p:cNvSpPr>
            <a:spLocks noChangeArrowheads="1"/>
          </p:cNvSpPr>
          <p:nvPr/>
        </p:nvSpPr>
        <p:spPr bwMode="auto">
          <a:xfrm>
            <a:off x="2895600" y="5105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96" name="Rectangle 16"/>
          <p:cNvSpPr>
            <a:spLocks noChangeArrowheads="1"/>
          </p:cNvSpPr>
          <p:nvPr/>
        </p:nvSpPr>
        <p:spPr bwMode="auto">
          <a:xfrm>
            <a:off x="3276600" y="3962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97" name="Rectangle 17"/>
          <p:cNvSpPr>
            <a:spLocks noChangeArrowheads="1"/>
          </p:cNvSpPr>
          <p:nvPr/>
        </p:nvSpPr>
        <p:spPr bwMode="auto">
          <a:xfrm>
            <a:off x="3276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98" name="Rectangle 18"/>
          <p:cNvSpPr>
            <a:spLocks noChangeArrowheads="1"/>
          </p:cNvSpPr>
          <p:nvPr/>
        </p:nvSpPr>
        <p:spPr bwMode="auto">
          <a:xfrm>
            <a:off x="3276600" y="4724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699" name="Rectangle 19"/>
          <p:cNvSpPr>
            <a:spLocks noChangeArrowheads="1"/>
          </p:cNvSpPr>
          <p:nvPr/>
        </p:nvSpPr>
        <p:spPr bwMode="auto">
          <a:xfrm>
            <a:off x="3276600" y="5105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00" name="Rectangle 20"/>
          <p:cNvSpPr>
            <a:spLocks noChangeArrowheads="1"/>
          </p:cNvSpPr>
          <p:nvPr/>
        </p:nvSpPr>
        <p:spPr bwMode="auto">
          <a:xfrm>
            <a:off x="3657600" y="3962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01" name="Rectangle 21"/>
          <p:cNvSpPr>
            <a:spLocks noChangeArrowheads="1"/>
          </p:cNvSpPr>
          <p:nvPr/>
        </p:nvSpPr>
        <p:spPr bwMode="auto">
          <a:xfrm>
            <a:off x="3657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02" name="Rectangle 22"/>
          <p:cNvSpPr>
            <a:spLocks noChangeArrowheads="1"/>
          </p:cNvSpPr>
          <p:nvPr/>
        </p:nvSpPr>
        <p:spPr bwMode="auto">
          <a:xfrm>
            <a:off x="3657600" y="4724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03" name="Rectangle 23"/>
          <p:cNvSpPr>
            <a:spLocks noChangeArrowheads="1"/>
          </p:cNvSpPr>
          <p:nvPr/>
        </p:nvSpPr>
        <p:spPr bwMode="auto">
          <a:xfrm>
            <a:off x="3657600" y="5105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04" name="Rectangle 24"/>
          <p:cNvSpPr>
            <a:spLocks noChangeArrowheads="1"/>
          </p:cNvSpPr>
          <p:nvPr/>
        </p:nvSpPr>
        <p:spPr bwMode="auto">
          <a:xfrm>
            <a:off x="4038600" y="3962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05" name="Rectangle 25"/>
          <p:cNvSpPr>
            <a:spLocks noChangeArrowheads="1"/>
          </p:cNvSpPr>
          <p:nvPr/>
        </p:nvSpPr>
        <p:spPr bwMode="auto">
          <a:xfrm>
            <a:off x="4038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06" name="Rectangle 26"/>
          <p:cNvSpPr>
            <a:spLocks noChangeArrowheads="1"/>
          </p:cNvSpPr>
          <p:nvPr/>
        </p:nvSpPr>
        <p:spPr bwMode="auto">
          <a:xfrm>
            <a:off x="4038600" y="4724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07" name="Rectangle 27"/>
          <p:cNvSpPr>
            <a:spLocks noChangeArrowheads="1"/>
          </p:cNvSpPr>
          <p:nvPr/>
        </p:nvSpPr>
        <p:spPr bwMode="auto">
          <a:xfrm>
            <a:off x="4038600" y="5105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08" name="Rectangle 28"/>
          <p:cNvSpPr>
            <a:spLocks noChangeArrowheads="1"/>
          </p:cNvSpPr>
          <p:nvPr/>
        </p:nvSpPr>
        <p:spPr bwMode="auto">
          <a:xfrm>
            <a:off x="4419600" y="3962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09" name="Rectangle 29"/>
          <p:cNvSpPr>
            <a:spLocks noChangeArrowheads="1"/>
          </p:cNvSpPr>
          <p:nvPr/>
        </p:nvSpPr>
        <p:spPr bwMode="auto">
          <a:xfrm>
            <a:off x="4419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10" name="Rectangle 30"/>
          <p:cNvSpPr>
            <a:spLocks noChangeArrowheads="1"/>
          </p:cNvSpPr>
          <p:nvPr/>
        </p:nvSpPr>
        <p:spPr bwMode="auto">
          <a:xfrm>
            <a:off x="4419600" y="4724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11" name="Rectangle 31"/>
          <p:cNvSpPr>
            <a:spLocks noChangeArrowheads="1"/>
          </p:cNvSpPr>
          <p:nvPr/>
        </p:nvSpPr>
        <p:spPr bwMode="auto">
          <a:xfrm>
            <a:off x="4419600" y="5105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12" name="Rectangle 32"/>
          <p:cNvSpPr>
            <a:spLocks noChangeArrowheads="1"/>
          </p:cNvSpPr>
          <p:nvPr/>
        </p:nvSpPr>
        <p:spPr bwMode="auto">
          <a:xfrm>
            <a:off x="4800600" y="3962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13" name="Rectangle 33"/>
          <p:cNvSpPr>
            <a:spLocks noChangeArrowheads="1"/>
          </p:cNvSpPr>
          <p:nvPr/>
        </p:nvSpPr>
        <p:spPr bwMode="auto">
          <a:xfrm>
            <a:off x="4800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14" name="Rectangle 34"/>
          <p:cNvSpPr>
            <a:spLocks noChangeArrowheads="1"/>
          </p:cNvSpPr>
          <p:nvPr/>
        </p:nvSpPr>
        <p:spPr bwMode="auto">
          <a:xfrm>
            <a:off x="4800600" y="4724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15" name="Rectangle 35"/>
          <p:cNvSpPr>
            <a:spLocks noChangeArrowheads="1"/>
          </p:cNvSpPr>
          <p:nvPr/>
        </p:nvSpPr>
        <p:spPr bwMode="auto">
          <a:xfrm>
            <a:off x="4800600" y="5105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16" name="Rectangle 36"/>
          <p:cNvSpPr>
            <a:spLocks noChangeArrowheads="1"/>
          </p:cNvSpPr>
          <p:nvPr/>
        </p:nvSpPr>
        <p:spPr bwMode="auto">
          <a:xfrm>
            <a:off x="5181600" y="3962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17" name="Rectangle 37"/>
          <p:cNvSpPr>
            <a:spLocks noChangeArrowheads="1"/>
          </p:cNvSpPr>
          <p:nvPr/>
        </p:nvSpPr>
        <p:spPr bwMode="auto">
          <a:xfrm>
            <a:off x="5181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18" name="Rectangle 38"/>
          <p:cNvSpPr>
            <a:spLocks noChangeArrowheads="1"/>
          </p:cNvSpPr>
          <p:nvPr/>
        </p:nvSpPr>
        <p:spPr bwMode="auto">
          <a:xfrm>
            <a:off x="5181600" y="4724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19" name="Rectangle 39"/>
          <p:cNvSpPr>
            <a:spLocks noChangeArrowheads="1"/>
          </p:cNvSpPr>
          <p:nvPr/>
        </p:nvSpPr>
        <p:spPr bwMode="auto">
          <a:xfrm>
            <a:off x="5181600" y="5105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20" name="Rectangle 40"/>
          <p:cNvSpPr>
            <a:spLocks noChangeArrowheads="1"/>
          </p:cNvSpPr>
          <p:nvPr/>
        </p:nvSpPr>
        <p:spPr bwMode="auto">
          <a:xfrm>
            <a:off x="5562600" y="39624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21" name="Rectangle 41"/>
          <p:cNvSpPr>
            <a:spLocks noChangeArrowheads="1"/>
          </p:cNvSpPr>
          <p:nvPr/>
        </p:nvSpPr>
        <p:spPr bwMode="auto">
          <a:xfrm>
            <a:off x="5562600" y="43434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22" name="Rectangle 42"/>
          <p:cNvSpPr>
            <a:spLocks noChangeArrowheads="1"/>
          </p:cNvSpPr>
          <p:nvPr/>
        </p:nvSpPr>
        <p:spPr bwMode="auto">
          <a:xfrm>
            <a:off x="6553200" y="43434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23" name="Rectangle 43"/>
          <p:cNvSpPr>
            <a:spLocks noChangeArrowheads="1"/>
          </p:cNvSpPr>
          <p:nvPr/>
        </p:nvSpPr>
        <p:spPr bwMode="auto">
          <a:xfrm>
            <a:off x="6553200" y="47244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24" name="Rectangle 44"/>
          <p:cNvSpPr>
            <a:spLocks noChangeArrowheads="1"/>
          </p:cNvSpPr>
          <p:nvPr/>
        </p:nvSpPr>
        <p:spPr bwMode="auto">
          <a:xfrm>
            <a:off x="5562600" y="47244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25" name="Rectangle 45"/>
          <p:cNvSpPr>
            <a:spLocks noChangeArrowheads="1"/>
          </p:cNvSpPr>
          <p:nvPr/>
        </p:nvSpPr>
        <p:spPr bwMode="auto">
          <a:xfrm>
            <a:off x="6553200" y="51054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26" name="Rectangle 46"/>
          <p:cNvSpPr>
            <a:spLocks noChangeArrowheads="1"/>
          </p:cNvSpPr>
          <p:nvPr/>
        </p:nvSpPr>
        <p:spPr bwMode="auto">
          <a:xfrm>
            <a:off x="5562600" y="51054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27" name="Rectangle 47"/>
          <p:cNvSpPr>
            <a:spLocks noChangeArrowheads="1"/>
          </p:cNvSpPr>
          <p:nvPr/>
        </p:nvSpPr>
        <p:spPr bwMode="auto">
          <a:xfrm>
            <a:off x="6553200" y="3962400"/>
            <a:ext cx="990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9728" name="Text Box 48"/>
          <p:cNvSpPr txBox="1">
            <a:spLocks noChangeArrowheads="1"/>
          </p:cNvSpPr>
          <p:nvPr/>
        </p:nvSpPr>
        <p:spPr bwMode="auto">
          <a:xfrm>
            <a:off x="914400" y="5486400"/>
            <a:ext cx="6858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latinLnBrk="0" hangingPunct="0"/>
            <a:r>
              <a:rPr kumimoji="0" lang="en-US" altLang="ko-KR" sz="1600">
                <a:latin typeface="Courier New" panose="02070309020205020404" pitchFamily="49" charset="0"/>
              </a:rPr>
              <a:t>When do call by name and call by reference differ?</a:t>
            </a:r>
          </a:p>
          <a:p>
            <a:pPr algn="l" eaLnBrk="0" latinLnBrk="0" hangingPunct="0"/>
            <a:r>
              <a:rPr kumimoji="0" lang="en-US" altLang="ko-KR" sz="1600">
                <a:latin typeface="Courier New" panose="02070309020205020404" pitchFamily="49" charset="0"/>
              </a:rPr>
              <a:t>    When L-value can change between parameter</a:t>
            </a:r>
          </a:p>
          <a:p>
            <a:pPr algn="l" eaLnBrk="0" latinLnBrk="0" hangingPunct="0"/>
            <a:r>
              <a:rPr kumimoji="0" lang="en-US" altLang="ko-KR" sz="1600">
                <a:latin typeface="Courier New" panose="02070309020205020404" pitchFamily="49" charset="0"/>
              </a:rPr>
              <a:t>    references. E.g., P(I, A[I])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Parameter transmission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017C-3C4A-4600-8524-70ACFD8A6DC3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>
                <a:latin typeface="Courier New" panose="02070309020205020404" pitchFamily="49" charset="0"/>
              </a:rPr>
              <a:t>옛날 강의 노트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ko-KR" sz="2400" b="1">
              <a:latin typeface="Courier New" panose="02070309020205020404" pitchFamily="49" charset="0"/>
            </a:endParaRPr>
          </a:p>
          <a:p>
            <a:pPr>
              <a:buClr>
                <a:schemeClr val="tx1"/>
              </a:buClr>
            </a:pPr>
            <a:r>
              <a:rPr lang="ko-KR" altLang="en-US" sz="1800" b="1">
                <a:latin typeface="Courier New" panose="02070309020205020404" pitchFamily="49" charset="0"/>
              </a:rPr>
              <a:t>구체적이고 다양한 설명이 옛날 강의노트에 있으니 참고하기 바람</a:t>
            </a:r>
          </a:p>
          <a:p>
            <a:pPr lvl="1">
              <a:buClr>
                <a:schemeClr val="tx1"/>
              </a:buClr>
              <a:buFontTx/>
              <a:buNone/>
            </a:pPr>
            <a:endParaRPr lang="ko-KR" altLang="en-US" sz="1800" b="1">
              <a:latin typeface="Courier New" panose="02070309020205020404" pitchFamily="49" charset="0"/>
            </a:endParaRPr>
          </a:p>
          <a:p>
            <a:pPr lvl="1">
              <a:buClr>
                <a:schemeClr val="tx1"/>
              </a:buClr>
              <a:buFontTx/>
              <a:buNone/>
            </a:pPr>
            <a:r>
              <a:rPr lang="ko-KR" altLang="en-US" sz="1800" b="1"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latin typeface="Courier New" panose="02070309020205020404" pitchFamily="49" charset="0"/>
              </a:rPr>
              <a:t>Zensen’s device</a:t>
            </a:r>
            <a:r>
              <a:rPr lang="ko-KR" altLang="en-US" sz="1800" b="1">
                <a:latin typeface="Courier New" panose="02070309020205020404" pitchFamily="49" charset="0"/>
              </a:rPr>
              <a:t>의 예를 비롯하여 다양한 예와 문제가 있음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ko-KR" altLang="en-US" sz="1800" b="1"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latin typeface="Courier New" panose="02070309020205020404" pitchFamily="49" charset="0"/>
              </a:rPr>
              <a:t>- </a:t>
            </a:r>
            <a:r>
              <a:rPr lang="ko-KR" altLang="en-US" sz="1800" b="1">
                <a:latin typeface="Courier New" panose="02070309020205020404" pitchFamily="49" charset="0"/>
              </a:rPr>
              <a:t>숙제 </a:t>
            </a:r>
            <a:r>
              <a:rPr lang="en-US" altLang="ko-KR" sz="1800" b="1">
                <a:latin typeface="Courier New" panose="02070309020205020404" pitchFamily="49" charset="0"/>
              </a:rPr>
              <a:t>::: </a:t>
            </a:r>
            <a:r>
              <a:rPr lang="ko-KR" altLang="en-US" sz="1800" b="1">
                <a:latin typeface="Courier New" panose="02070309020205020404" pitchFamily="49" charset="0"/>
              </a:rPr>
              <a:t>옛날 강의노트의 문제와 예제를 출어낼 것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ko-KR" altLang="en-US" sz="1800" b="1">
                <a:latin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3159</TotalTime>
  <Words>1257</Words>
  <Application>Microsoft Office PowerPoint</Application>
  <PresentationFormat>화면 슬라이드 쇼(4:3)</PresentationFormat>
  <Paragraphs>178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굴림</vt:lpstr>
      <vt:lpstr>Times New Roman</vt:lpstr>
      <vt:lpstr>Wingdings</vt:lpstr>
      <vt:lpstr>Courier New</vt:lpstr>
      <vt:lpstr>Symbol</vt:lpstr>
      <vt:lpstr>기본 디자인</vt:lpstr>
      <vt:lpstr>Parameter transmission</vt:lpstr>
      <vt:lpstr>Parameter passing</vt:lpstr>
      <vt:lpstr>Language dependent</vt:lpstr>
      <vt:lpstr>Call by name</vt:lpstr>
      <vt:lpstr>Implementation of call by name</vt:lpstr>
      <vt:lpstr>Examples of Call by Name</vt:lpstr>
      <vt:lpstr>Call by reference</vt:lpstr>
      <vt:lpstr>Call by value</vt:lpstr>
      <vt:lpstr>Call by reference in C</vt:lpstr>
      <vt:lpstr>In-out semantics</vt:lpstr>
      <vt:lpstr>Example of parameter passing</vt:lpstr>
      <vt:lpstr>옛날 강의 노트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4</cp:revision>
  <dcterms:created xsi:type="dcterms:W3CDTF">2000-11-03T06:26:37Z</dcterms:created>
  <dcterms:modified xsi:type="dcterms:W3CDTF">2020-05-19T02:24:52Z</dcterms:modified>
</cp:coreProperties>
</file>