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</p:sldIdLst>
  <p:sldSz cx="9144000" cy="6858000" type="screen4x3"/>
  <p:notesSz cx="6858000" cy="9144000"/>
  <p:defaultTextStyle>
    <a:defPPr>
      <a:defRPr lang="ko-KR"/>
    </a:defPPr>
    <a:lvl1pPr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r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  <a:srgbClr val="C0C0C0"/>
    <a:srgbClr val="CCECFF"/>
    <a:srgbClr val="CCCCFF"/>
    <a:srgbClr val="EAEAEA"/>
    <a:srgbClr val="6699FF"/>
    <a:srgbClr val="99CC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112" d="100"/>
          <a:sy n="112" d="100"/>
        </p:scale>
        <p:origin x="486" y="96"/>
      </p:cViewPr>
      <p:guideLst>
        <p:guide orient="horz" pos="2160"/>
        <p:guide pos="29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ko-KR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ko-KR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ko-KR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D0993EFD-BED3-443E-BD33-E4A28043A2C5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130052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0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문자열 유형을 편집하려면 누르십시오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세째 수준</a:t>
            </a:r>
          </a:p>
          <a:p>
            <a:pPr lvl="3"/>
            <a:r>
              <a:rPr lang="ko-KR" altLang="en-US" smtClean="0"/>
              <a:t>네째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30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anose="02020603050405020304" pitchFamily="18" charset="0"/>
              </a:defRPr>
            </a:lvl1pPr>
          </a:lstStyle>
          <a:p>
            <a:endParaRPr lang="en-US" altLang="ko-KR"/>
          </a:p>
        </p:txBody>
      </p:sp>
      <p:sp>
        <p:nvSpPr>
          <p:cNvPr id="130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fld id="{D232D6F7-867B-4DDE-AC76-82D455E0C16C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24A387-39F6-4A14-9B95-A9450A2A9CD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41294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B7F9FA-8FDD-4949-9887-4A1D4CA3E43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3995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74C00D-458D-4675-9B76-E0D6EAE3981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0970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EDEA22-BACE-48D2-90A5-3C2C691C2E6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00614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BF9239-971F-4917-88DC-5C55DE2C366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90259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D581C9-47F1-4914-A3B9-543F5A03588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44584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1481E6-327A-4ACD-A413-0EAA5C3A802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40014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13C6BD-6D8A-48CE-956F-A2456F5D2CA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78488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97C86A-09EC-474A-A521-8A4DF23E4CD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32596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4B0A93-BF3E-496E-81E9-B9012E6B86A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96138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B9B1BB-BC2C-443A-88F4-DD44A01154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7853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0" y="6629400"/>
            <a:ext cx="9144000" cy="10795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ko-KR" altLang="ko-KR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5" name="Rectangle 11"/>
          <p:cNvSpPr>
            <a:spLocks noChangeArrowheads="1"/>
          </p:cNvSpPr>
          <p:nvPr userDrawn="1"/>
        </p:nvSpPr>
        <p:spPr bwMode="auto">
          <a:xfrm>
            <a:off x="0" y="6488113"/>
            <a:ext cx="9144000" cy="65087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fld id="{4A4F84F0-140F-4D08-9F21-E1D622422D0B}" type="slidenum">
              <a:rPr lang="en-US" altLang="ko-KR"/>
              <a:pPr/>
              <a:t>‹#›</a:t>
            </a:fld>
            <a:endParaRPr lang="en-US" altLang="ko-KR"/>
          </a:p>
        </p:txBody>
      </p:sp>
      <p:pic>
        <p:nvPicPr>
          <p:cNvPr id="1046" name="Picture 22" descr="C:\Documents and Settings\Administrator\Application Data\Microsoft\Media Catalog\Untitled-2 copy.jp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rgbClr val="0066CC"/>
        </a:buClr>
        <a:buFont typeface="Wingdings" panose="05000000000000000000" pitchFamily="2" charset="2"/>
        <a:buChar char="§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rgbClr val="0066CC"/>
        </a:buClr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00200"/>
            <a:ext cx="7772400" cy="1143000"/>
          </a:xfrm>
        </p:spPr>
        <p:txBody>
          <a:bodyPr anchor="ctr"/>
          <a:lstStyle/>
          <a:p>
            <a:r>
              <a:rPr lang="en-US" altLang="ko-KR" sz="3600" b="1">
                <a:solidFill>
                  <a:srgbClr val="0000FF"/>
                </a:solidFill>
              </a:rPr>
              <a:t>Synchronization and semaphores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505200"/>
            <a:ext cx="6400800" cy="2286000"/>
          </a:xfrm>
        </p:spPr>
        <p:txBody>
          <a:bodyPr/>
          <a:lstStyle/>
          <a:p>
            <a:r>
              <a:rPr lang="en-US" altLang="ko-KR" sz="2000" b="1">
                <a:solidFill>
                  <a:srgbClr val="000000"/>
                </a:solidFill>
              </a:rPr>
              <a:t>Programming Language Design and Implementation (4th Edition)</a:t>
            </a:r>
          </a:p>
          <a:p>
            <a:r>
              <a:rPr lang="en-US" altLang="ko-KR" sz="2000" b="1">
                <a:solidFill>
                  <a:srgbClr val="000000"/>
                </a:solidFill>
              </a:rPr>
              <a:t>by T. Pratt and M. Zelkowitz</a:t>
            </a:r>
          </a:p>
          <a:p>
            <a:r>
              <a:rPr lang="en-US" altLang="ko-KR" sz="2000" b="1">
                <a:solidFill>
                  <a:srgbClr val="000000"/>
                </a:solidFill>
              </a:rPr>
              <a:t>Prentice Hall, 2001</a:t>
            </a:r>
          </a:p>
          <a:p>
            <a:endParaRPr lang="en-US" altLang="ko-KR" sz="2000" b="1">
              <a:solidFill>
                <a:srgbClr val="000000"/>
              </a:solidFill>
            </a:endParaRPr>
          </a:p>
          <a:p>
            <a:r>
              <a:rPr lang="en-US" altLang="ko-KR" sz="2000" b="1">
                <a:solidFill>
                  <a:srgbClr val="000000"/>
                </a:solidFill>
              </a:rPr>
              <a:t>Section 11.2.4-11.2.5</a:t>
            </a:r>
          </a:p>
          <a:p>
            <a:endParaRPr lang="en-US" altLang="ko-KR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79E6E-7226-4501-89D8-3FF30876D090}" type="slidenum">
              <a:rPr lang="en-US" altLang="ko-KR"/>
              <a:pPr/>
              <a:t>2</a:t>
            </a:fld>
            <a:endParaRPr lang="en-US" altLang="ko-KR"/>
          </a:p>
        </p:txBody>
      </p:sp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Issues in synchronization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6482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Easy to do</a:t>
            </a:r>
            <a:r>
              <a:rPr lang="en-US" altLang="ko-KR" sz="1800" b="1">
                <a:latin typeface="Courier New" panose="02070309020205020404" pitchFamily="49" charset="0"/>
              </a:rPr>
              <a:t> - Context switching (and statement, fork() function, task creation)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Hardware virtual memory makes it easy for operating system to create independently executing tasks in their own address space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Hard to do</a:t>
            </a:r>
            <a:r>
              <a:rPr lang="en-US" altLang="ko-KR" sz="1800" b="1">
                <a:latin typeface="Courier New" panose="02070309020205020404" pitchFamily="49" charset="0"/>
              </a:rPr>
              <a:t> - Synchronization. How to pass information reliably among a set of independently executing parallel tasks.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Consider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and</a:t>
            </a:r>
            <a:r>
              <a:rPr lang="en-US" altLang="ko-KR" sz="1800" b="1">
                <a:latin typeface="Courier New" panose="02070309020205020404" pitchFamily="49" charset="0"/>
              </a:rPr>
              <a:t> statement discussed previously: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What is output that is printed?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I = 1;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I = I+1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and</a:t>
            </a:r>
            <a:r>
              <a:rPr lang="en-US" altLang="ko-KR" sz="1800" b="1">
                <a:latin typeface="Courier New" panose="02070309020205020404" pitchFamily="49" charset="0"/>
              </a:rPr>
              <a:t> I = I-1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and</a:t>
            </a:r>
            <a:r>
              <a:rPr lang="en-US" altLang="ko-KR" sz="1800" b="1">
                <a:latin typeface="Courier New" panose="02070309020205020404" pitchFamily="49" charset="0"/>
              </a:rPr>
              <a:t> write(I);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write(I)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Both first and second write can be 0, 1 or 2.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Why</a:t>
            </a:r>
            <a:r>
              <a:rPr lang="en-US" altLang="ko-KR" sz="1800" b="1">
                <a:latin typeface="Courier New" panose="02070309020205020404" pitchFamily="49" charset="0"/>
              </a:rPr>
              <a:t>?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44241-A0C7-4136-8DBD-CAE12A464DAD}" type="slidenum">
              <a:rPr lang="en-US" altLang="ko-KR"/>
              <a:pPr/>
              <a:t>3</a:t>
            </a:fld>
            <a:endParaRPr lang="en-US" altLang="ko-KR"/>
          </a:p>
        </p:txBody>
      </p:sp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Parallel soup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(1) I = I+1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and</a:t>
            </a:r>
            <a:r>
              <a:rPr lang="en-US" altLang="ko-KR" sz="1800" b="1">
                <a:latin typeface="Courier New" panose="02070309020205020404" pitchFamily="49" charset="0"/>
              </a:rPr>
              <a:t> (2) I = I-1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and </a:t>
            </a:r>
            <a:r>
              <a:rPr lang="en-US" altLang="ko-KR" sz="1800" b="1">
                <a:latin typeface="Courier New" panose="02070309020205020404" pitchFamily="49" charset="0"/>
              </a:rPr>
              <a:t>(3) write(I);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(4) write(I)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If execution order is (1)(2)(3)(4), output is &lt;1,1&gt;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If execution order is (1)(3)(2)(4), output is &lt;2,1&gt;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If execution order is (2)(3)(1)(4), output is &lt;0,1&gt;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How to get second write of 0: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(1) I=I+1 is not a single operation. It is usually 3 instructions: Load from I, Add 1, store into I.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What if context switch between instructions 1 and 2?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(2) I=I-1 will set I to 0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then </a:t>
            </a:r>
            <a:r>
              <a:rPr lang="en-US" altLang="ko-KR" sz="1800" b="1">
                <a:latin typeface="Courier New" panose="02070309020205020404" pitchFamily="49" charset="0"/>
              </a:rPr>
              <a:t>context switch back to (1) causes original value of I to be incremented to 2, which is printed as &lt;2,2&gt;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If I=I-1 is executed first, we could get &lt;0,0&gt;, etc.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2A913-C8B7-4B40-A811-3324643D4BC2}" type="slidenum">
              <a:rPr lang="en-US" altLang="ko-KR"/>
              <a:pPr/>
              <a:t>4</a:t>
            </a:fld>
            <a:endParaRPr lang="en-US" altLang="ko-KR"/>
          </a:p>
        </p:txBody>
      </p:sp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Critical regions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critical region</a:t>
            </a:r>
            <a:r>
              <a:rPr lang="en-US" altLang="ko-KR" sz="1800" b="1">
                <a:latin typeface="Courier New" panose="02070309020205020404" pitchFamily="49" charset="0"/>
              </a:rPr>
              <a:t> is a sequence of program statements within a task where the task is operating on some data object shared with other tasks.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Must use some mechanism to access this data: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Semaphores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Messages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Monitors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Rendezvous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47E54-3F75-4939-8143-0814E353D0E5}" type="slidenum">
              <a:rPr lang="en-US" altLang="ko-KR"/>
              <a:pPr/>
              <a:t>5</a:t>
            </a:fld>
            <a:endParaRPr lang="en-US" altLang="ko-KR"/>
          </a:p>
        </p:txBody>
      </p:sp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Mutual exclusion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8768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1.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Mutual exclusion</a:t>
            </a:r>
            <a:r>
              <a:rPr lang="en-US" altLang="ko-KR" sz="1800" b="1">
                <a:latin typeface="Courier New" panose="02070309020205020404" pitchFamily="49" charset="0"/>
              </a:rPr>
              <a:t> - Only one process can be executing a given section of code at one time.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block(X) - block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semaphore</a:t>
            </a:r>
            <a:r>
              <a:rPr lang="en-US" altLang="ko-KR" sz="1800" b="1">
                <a:latin typeface="Courier New" panose="02070309020205020404" pitchFamily="49" charset="0"/>
              </a:rPr>
              <a:t> X.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wakeup(X) - unblock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semaphore</a:t>
            </a:r>
            <a:r>
              <a:rPr lang="en-US" altLang="ko-KR" sz="1800" b="1">
                <a:latin typeface="Courier New" panose="02070309020205020404" pitchFamily="49" charset="0"/>
              </a:rPr>
              <a:t> X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block(x) - if x is free, grab x, else wait until it is free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wakeup(x) - free x and start any process waiting on x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Example again:</a:t>
            </a: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I = 1;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block(A); I = I+1; wakeup(A)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and block(A); I = I-1; wakeup(A)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and block (A); write(I); wakeup(A)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write(I)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Output: Second write is always I=1, but first write can be 0, 1 or 2, depending upon which and statement executes first.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47A26-8A2E-478C-8B6E-95B9FF30787E}" type="slidenum">
              <a:rPr lang="en-US" altLang="ko-KR"/>
              <a:pPr/>
              <a:t>6</a:t>
            </a:fld>
            <a:endParaRPr lang="en-US" altLang="ko-KR"/>
          </a:p>
        </p:txBody>
      </p:sp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Semaphores</a:t>
            </a:r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7244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2. P-V semaphores (Dijkstra).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P(X) { If X&gt; 0 continue, else wait until X &gt; 0.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X = X-1 (in unit time)}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V(X) { X = X+1 (in unit time)}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P acts as a gate to limit access to tasks.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In addition, you can use the semaphore as a counter to control how much access you need.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Buffer manager: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Initialization:{ counter = number of buffers available};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GetBuffer: { P(counter}, return buffer and process data};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FreeBuffer: { Put buffer on free list; V{counter}};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In GetBuffer, if no buffers are available, the program will wait until some other process issues a FreeBuffer to unfreeze the blocked process.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A296C-1954-489B-A7BE-A00D0435DA36}" type="slidenum">
              <a:rPr lang="en-US" altLang="ko-KR"/>
              <a:pPr/>
              <a:t>7</a:t>
            </a:fld>
            <a:endParaRPr lang="en-US" altLang="ko-KR"/>
          </a:p>
        </p:txBody>
      </p:sp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Disadvantages of Semaphore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endParaRPr lang="en-US" altLang="ko-KR" sz="4000" b="1">
              <a:latin typeface="Courier New" panose="02070309020205020404" pitchFamily="49" charset="0"/>
            </a:endParaRPr>
          </a:p>
          <a:p>
            <a:pPr>
              <a:buClr>
                <a:schemeClr val="tx1"/>
              </a:buClr>
            </a:pPr>
            <a:r>
              <a:rPr lang="en-US" altLang="ko-KR" sz="2000" b="1">
                <a:latin typeface="Courier New" panose="02070309020205020404" pitchFamily="49" charset="0"/>
              </a:rPr>
              <a:t>A task can wait for only one semaphore at a time</a:t>
            </a:r>
          </a:p>
          <a:p>
            <a:pPr>
              <a:buClr>
                <a:schemeClr val="tx1"/>
              </a:buClr>
            </a:pPr>
            <a:endParaRPr lang="en-US" altLang="ko-KR" sz="2000" b="1">
              <a:latin typeface="Courier New" panose="02070309020205020404" pitchFamily="49" charset="0"/>
            </a:endParaRPr>
          </a:p>
          <a:p>
            <a:pPr>
              <a:buClr>
                <a:schemeClr val="tx1"/>
              </a:buClr>
            </a:pPr>
            <a:r>
              <a:rPr lang="en-US" altLang="ko-KR" sz="2000" b="1">
                <a:latin typeface="Courier New" panose="02070309020205020404" pitchFamily="49" charset="0"/>
              </a:rPr>
              <a:t>Dead lock</a:t>
            </a:r>
          </a:p>
          <a:p>
            <a:pPr>
              <a:buClr>
                <a:schemeClr val="tx1"/>
              </a:buClr>
            </a:pPr>
            <a:endParaRPr lang="en-US" altLang="ko-KR" sz="2000" b="1">
              <a:latin typeface="Courier New" panose="02070309020205020404" pitchFamily="49" charset="0"/>
            </a:endParaRPr>
          </a:p>
          <a:p>
            <a:pPr>
              <a:buClr>
                <a:schemeClr val="tx1"/>
              </a:buClr>
            </a:pPr>
            <a:r>
              <a:rPr lang="en-US" altLang="ko-KR" sz="2000" b="1">
                <a:latin typeface="Courier New" panose="02070309020205020404" pitchFamily="49" charset="0"/>
              </a:rPr>
              <a:t>Difficult to understand, debug and verify</a:t>
            </a:r>
          </a:p>
          <a:p>
            <a:pPr>
              <a:buClr>
                <a:schemeClr val="tx1"/>
              </a:buClr>
            </a:pPr>
            <a:endParaRPr lang="en-US" altLang="ko-KR" sz="2000" b="1">
              <a:latin typeface="Courier New" panose="02070309020205020404" pitchFamily="49" charset="0"/>
            </a:endParaRPr>
          </a:p>
          <a:p>
            <a:pPr>
              <a:buClr>
                <a:schemeClr val="tx1"/>
              </a:buClr>
            </a:pPr>
            <a:r>
              <a:rPr lang="en-US" altLang="ko-KR" sz="2000" b="1">
                <a:latin typeface="Courier New" panose="02070309020205020404" pitchFamily="49" charset="0"/>
              </a:rPr>
              <a:t>Only work in shared memory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A492D-2BA4-4DC3-A985-315D5693D288}" type="slidenum">
              <a:rPr lang="en-US" altLang="ko-KR"/>
              <a:pPr/>
              <a:t>8</a:t>
            </a:fld>
            <a:endParaRPr lang="en-US" altLang="ko-KR"/>
          </a:p>
        </p:txBody>
      </p:sp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Multiple address spaces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305800" cy="4724400"/>
          </a:xfrm>
        </p:spPr>
        <p:txBody>
          <a:bodyPr/>
          <a:lstStyle/>
          <a:p>
            <a:pPr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P-V assume all semaphores are addressable by all waiting tasks.</a:t>
            </a:r>
          </a:p>
          <a:p>
            <a:pPr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When processes execute in different address spaces (e.g., on different machines), semaphores don't work.</a:t>
            </a:r>
          </a:p>
          <a:p>
            <a:pPr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Messages can be used:</a:t>
            </a:r>
          </a:p>
          <a:p>
            <a:pPr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send(A) - Send a message to pipe A.</a:t>
            </a:r>
          </a:p>
          <a:p>
            <a:pPr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receive(A) - Receive a message on pipe A. If no pending message, wait until one shows up.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6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600" b="1">
                <a:solidFill>
                  <a:srgbClr val="FF0000"/>
                </a:solidFill>
                <a:latin typeface="Courier New" panose="02070309020205020404" pitchFamily="49" charset="0"/>
              </a:rPr>
              <a:t>Sample Input-Process-Output loop:</a:t>
            </a:r>
            <a:endParaRPr lang="en-US" altLang="ko-KR" sz="16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P1: do loop	   P2: do loop		P3: do loop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Get data;	   Receive(P2, data)	       Receive(P3, data);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Send(P2,data);  Process data;           Print data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end             Send(P3, data)          end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                end  </a:t>
            </a:r>
          </a:p>
          <a:p>
            <a:pPr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Synchronization can be handled by sending messages in both directions:</a:t>
            </a:r>
          </a:p>
          <a:p>
            <a:pPr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Pipe AB sends from A to B.</a:t>
            </a:r>
          </a:p>
          <a:p>
            <a:pPr>
              <a:spcBef>
                <a:spcPct val="5000"/>
              </a:spcBef>
              <a:buFont typeface="Wingdings" panose="05000000000000000000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</a:rPr>
              <a:t>	Pipe BA sends from B to 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B7634-DDEB-4648-95DE-2214A4B47F32}" type="slidenum">
              <a:rPr lang="en-US" altLang="ko-KR"/>
              <a:pPr/>
              <a:t>9</a:t>
            </a:fld>
            <a:endParaRPr lang="en-US" altLang="ko-KR"/>
          </a:p>
        </p:txBody>
      </p:sp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Problem: Deadlock</a:t>
            </a:r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Process A: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  Block(X); Block(Y); ... Do something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Wakeup(X); Wakeup(Y);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Process B: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  Block(Y); Block(X); ... Do something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Wakeup(X); Wakeup(Y)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If process A does Block(X) at same time process B does Block(Y), then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Both will succeed and then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Both will wait for the other resource forever</a:t>
            </a:r>
          </a:p>
          <a:p>
            <a:r>
              <a:rPr lang="en-US" altLang="ko-KR" sz="1800" b="1">
                <a:latin typeface="Courier New" panose="02070309020205020404" pitchFamily="49" charset="0"/>
              </a:rPr>
              <a:t>An unlikely occurrence, but it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CAN</a:t>
            </a:r>
            <a:r>
              <a:rPr lang="en-US" altLang="ko-KR" sz="1800" b="1">
                <a:latin typeface="Courier New" panose="02070309020205020404" pitchFamily="49" charset="0"/>
              </a:rPr>
              <a:t> happen.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84490-CC2A-4C4C-A297-0A1C148839F3}" type="slidenum">
              <a:rPr lang="en-US" altLang="ko-KR"/>
              <a:pPr/>
              <a:t>10</a:t>
            </a:fld>
            <a:endParaRPr lang="en-US" altLang="ko-KR"/>
          </a:p>
        </p:txBody>
      </p:sp>
      <p:sp>
        <p:nvSpPr>
          <p:cNvPr id="204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Synchronization in Ada</a:t>
            </a:r>
          </a:p>
        </p:txBody>
      </p:sp>
      <p:sp>
        <p:nvSpPr>
          <p:cNvPr id="204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Rendezvous in Ada: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Sender issues call DataReady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Receiver issues accept DataReady.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Either waits for other to reach this point.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accept DataReady do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-- Entry point for task for sender to do call DataReady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-- process synchronization task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end;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How to prevent receiver of task to be blocked-</a:t>
            </a:r>
          </a:p>
          <a:p>
            <a:pPr>
              <a:lnSpc>
                <a:spcPct val="90000"/>
              </a:lnSpc>
            </a:pPr>
            <a:r>
              <a:rPr lang="en-US" altLang="ko-KR" sz="1800" b="1">
                <a:latin typeface="Courier New" panose="02070309020205020404" pitchFamily="49" charset="0"/>
              </a:rPr>
              <a:t>Use guarded if (select statement) 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AE789-C230-45C5-9972-B0E838A1F982}" type="slidenum">
              <a:rPr lang="en-US" altLang="ko-KR"/>
              <a:pPr/>
              <a:t>11</a:t>
            </a:fld>
            <a:endParaRPr lang="en-US" altLang="ko-KR"/>
          </a:p>
        </p:txBody>
      </p:sp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Ada rendezvous</a:t>
            </a: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select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   when Device1Status = ON =&gt; accept Ready1 do . . 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 end;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or when Device2Status = ON =&gt; accept Ready2 do . . 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    end;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or when Device3Status = connected =&gt; accept Ready3 do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	. . . end;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else . . .        -- No device is ready; do something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	end select;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rendezvous - Task waits for either of Device 1, 2, or 3, and if none are ON, does something else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ko-KR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4806-9234-4853-A569-2074000C6F11}" type="slidenum">
              <a:rPr lang="en-US" altLang="ko-KR"/>
              <a:pPr/>
              <a:t>12</a:t>
            </a:fld>
            <a:endParaRPr lang="en-US" altLang="ko-KR"/>
          </a:p>
        </p:txBody>
      </p:sp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</a:rPr>
              <a:t>Monitors</a:t>
            </a:r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 </a:t>
            </a:r>
            <a:r>
              <a:rPr lang="en-US" altLang="ko-KR" sz="1800" b="1">
                <a:solidFill>
                  <a:srgbClr val="FF0000"/>
                </a:solidFill>
                <a:latin typeface="Courier New" panose="02070309020205020404" pitchFamily="49" charset="0"/>
              </a:rPr>
              <a:t>monitor</a:t>
            </a:r>
            <a:r>
              <a:rPr lang="en-US" altLang="ko-KR" sz="1800" b="1">
                <a:latin typeface="Courier New" panose="02070309020205020404" pitchFamily="49" charset="0"/>
              </a:rPr>
              <a:t> is a shared data object together with the set of operations that may manipulate it (i.e., an abstract data type)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A task may manipulate the shared data object only by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using the defined operations (i.e., data is encapsulated)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To enforce mutual exclusion, require that at most one of the operations defined for the data object may be executing at any given time.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</a:rPr>
              <a:t>We could implement monitors in Java or C++ as classes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Office\Templates\디자인\금동미륵보살.pot</Template>
  <TotalTime>3167</TotalTime>
  <Words>1115</Words>
  <Application>Microsoft Office PowerPoint</Application>
  <PresentationFormat>화면 슬라이드 쇼(4:3)</PresentationFormat>
  <Paragraphs>142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굴림</vt:lpstr>
      <vt:lpstr>Times New Roman</vt:lpstr>
      <vt:lpstr>Wingdings</vt:lpstr>
      <vt:lpstr>Courier New</vt:lpstr>
      <vt:lpstr>기본 디자인</vt:lpstr>
      <vt:lpstr>Synchronization and semaphores</vt:lpstr>
      <vt:lpstr>Issues in synchronization</vt:lpstr>
      <vt:lpstr>Parallel soup</vt:lpstr>
      <vt:lpstr>Critical regions</vt:lpstr>
      <vt:lpstr>Mutual exclusion</vt:lpstr>
      <vt:lpstr>Semaphores</vt:lpstr>
      <vt:lpstr>Disadvantages of Semaphore</vt:lpstr>
      <vt:lpstr>Multiple address spaces</vt:lpstr>
      <vt:lpstr>Problem: Deadlock</vt:lpstr>
      <vt:lpstr>Synchronization in Ada</vt:lpstr>
      <vt:lpstr>Ada rendezvous</vt:lpstr>
      <vt:lpstr>Monitors</vt:lpstr>
    </vt:vector>
  </TitlesOfParts>
  <Company>부산대학교 인공지능연구실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양식 하얀색 바탕</dc:title>
  <dc:creator>성경희</dc:creator>
  <cp:lastModifiedBy>Windows 사용자</cp:lastModifiedBy>
  <cp:revision>4</cp:revision>
  <dcterms:created xsi:type="dcterms:W3CDTF">2000-11-03T06:26:37Z</dcterms:created>
  <dcterms:modified xsi:type="dcterms:W3CDTF">2020-06-01T09:43:41Z</dcterms:modified>
</cp:coreProperties>
</file>