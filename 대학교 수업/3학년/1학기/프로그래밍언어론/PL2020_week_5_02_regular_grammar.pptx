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762" y="102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4D2BBA7A-2C2F-4E55-8CE7-C483CEDE5F1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fld id="{A55D3F97-2103-4D29-9D36-A50FEDE5341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BF678-2428-4816-AD3E-7A17C9AB7C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504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491BC-86E1-4E04-A394-30B7B937F44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652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50A57-D6D6-448A-A9E5-0668405E3AE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060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D93C2C-72C5-4260-BD76-AB6D4F1C640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715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B5B7A-B3E5-455B-A533-E0AD432447D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135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7D162-387D-4AE0-B4A5-533F3A0A2C1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584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B3BD6C-6ACE-4008-AAAB-BD5990DA5FA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501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D09EA-CC8A-4A84-8B0D-83A71A775E0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484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4B57A-80B4-4923-9179-737718261B3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316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F9255-1B63-4B78-8436-3F5900B24B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28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212E26-C475-41B4-A838-276ACE7E35C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897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fld id="{BC9C7AB5-E4E0-4B4F-8082-9AFEC2BC3956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7355-94AC-48EF-856F-6E68433CECC3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solidFill>
                  <a:srgbClr val="0000FF"/>
                </a:solidFill>
              </a:rPr>
              <a:t>Regular grammars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1910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0000"/>
                </a:solidFill>
              </a:rPr>
              <a:t>by T. Pratt and M. Zelkowitz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0000"/>
                </a:solidFill>
              </a:rPr>
              <a:t>Prentice Hall, 2001</a:t>
            </a:r>
          </a:p>
          <a:p>
            <a:pPr algn="ctr"/>
            <a:endParaRPr lang="en-US" altLang="ko-KR" sz="1800" b="1">
              <a:solidFill>
                <a:srgbClr val="000000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0000"/>
                </a:solidFill>
              </a:rPr>
              <a:t>Section 3.3.2</a:t>
            </a:r>
          </a:p>
          <a:p>
            <a:pPr algn="ctr"/>
            <a:endParaRPr lang="en-US" altLang="ko-KR" sz="18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60AAD-7184-444D-910C-B4F3AC1CA5C4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Finite state automaton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18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 finite state automaton (FSA) is a graph with directed labeled arcs, two types of nodes (final and non-final state), and a unique start state: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This is also called a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state machine</a:t>
            </a:r>
            <a:r>
              <a:rPr lang="en-US" altLang="ko-KR" sz="1800" b="1"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What strings, starting in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state A, end up at state C?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The language accepted by machine M is set of strings that move from start node to a final node, or more formally: T(M) = {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</a:t>
            </a:r>
            <a:r>
              <a:rPr lang="en-US" altLang="ko-KR" sz="1800" b="1">
                <a:latin typeface="Courier New" panose="02070309020205020404" pitchFamily="49" charset="0"/>
              </a:rPr>
              <a:t> |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(</a:t>
            </a:r>
            <a:r>
              <a:rPr lang="en-US" altLang="ko-KR" sz="1800" b="1">
                <a:latin typeface="Courier New" panose="02070309020205020404" pitchFamily="49" charset="0"/>
              </a:rPr>
              <a:t>A,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</a:t>
            </a:r>
            <a:r>
              <a:rPr lang="en-US" altLang="ko-KR" sz="1800" b="1">
                <a:latin typeface="Courier New" panose="02070309020205020404" pitchFamily="49" charset="0"/>
              </a:rPr>
              <a:t>) = C} where A is start node and C a final node.</a:t>
            </a:r>
          </a:p>
          <a:p>
            <a:pPr>
              <a:lnSpc>
                <a:spcPct val="90000"/>
              </a:lnSpc>
            </a:pPr>
            <a:endParaRPr lang="en-US" altLang="ko-KR" sz="1800" b="1"/>
          </a:p>
        </p:txBody>
      </p:sp>
      <p:pic>
        <p:nvPicPr>
          <p:cNvPr id="201732" name="Picture 4" descr="013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514600"/>
            <a:ext cx="3200400" cy="2438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E1BE-7B2D-4D82-B4D6-92016EC40FFB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More on FSAs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endParaRPr lang="en-US" altLang="ko-KR" sz="24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An FSA can have more than one final state:</a:t>
            </a: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endParaRPr lang="en-US" altLang="ko-KR" sz="1800" b="1"/>
          </a:p>
        </p:txBody>
      </p:sp>
      <p:pic>
        <p:nvPicPr>
          <p:cNvPr id="202756" name="Picture 4" descr="013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B301-F6B6-4FD9-8833-5DE27D49B79E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Deterministic FSAs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Deterministic FSA:</a:t>
            </a:r>
            <a:r>
              <a:rPr lang="en-US" altLang="ko-KR" sz="1800" b="1">
                <a:latin typeface="Courier New" panose="02070309020205020404" pitchFamily="49" charset="0"/>
              </a:rPr>
              <a:t> For each state and for each member of the alphabet, there is exactly one transition.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Non-deterministic FSA (NDFSA):</a:t>
            </a:r>
            <a:r>
              <a:rPr lang="en-US" altLang="ko-KR" sz="1800" b="1">
                <a:latin typeface="Courier New" panose="02070309020205020404" pitchFamily="49" charset="0"/>
              </a:rPr>
              <a:t> Remove restriction.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At each node there is 0, 1, or more than one transition for each alphabet symbol.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 string is accepted if there is </a:t>
            </a:r>
            <a:r>
              <a:rPr lang="en-US" altLang="ko-KR" sz="1800" b="1" i="1">
                <a:solidFill>
                  <a:srgbClr val="0066FF"/>
                </a:solidFill>
                <a:latin typeface="Courier New" panose="02070309020205020404" pitchFamily="49" charset="0"/>
              </a:rPr>
              <a:t>some</a:t>
            </a:r>
            <a:r>
              <a:rPr lang="en-US" altLang="ko-KR" sz="1800" b="1">
                <a:latin typeface="Courier New" panose="02070309020205020404" pitchFamily="49" charset="0"/>
              </a:rPr>
              <a:t> path from the start state to some final state.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Example nondeterministic FSA (NDFSA):</a:t>
            </a:r>
          </a:p>
          <a:p>
            <a:pPr>
              <a:lnSpc>
                <a:spcPct val="90000"/>
              </a:lnSpc>
            </a:pPr>
            <a:endParaRPr lang="en-US" altLang="ko-KR" sz="1800" b="1"/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01 is accepted via path: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ABD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even though 01 also can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take the paths: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ACC or ABC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and C is not a final state.</a:t>
            </a:r>
            <a:endParaRPr lang="en-US" altLang="ko-KR" sz="1800" b="1"/>
          </a:p>
        </p:txBody>
      </p:sp>
      <p:pic>
        <p:nvPicPr>
          <p:cNvPr id="203780" name="Picture 4" descr="014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10000"/>
            <a:ext cx="3276600" cy="23415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BD6B-4F60-4800-8E7A-F90695C6E252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Equivalence of FSA and NDFSA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Important early result: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NDFSA = DFSA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Let subsets of states be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states in DFSA.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Keep track of which subset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you can be in.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Any string from {A} to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either {D} or {CD}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represents a path from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 to D in the original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NDFSA.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/>
          </a:p>
        </p:txBody>
      </p:sp>
      <p:pic>
        <p:nvPicPr>
          <p:cNvPr id="204804" name="Picture 4" descr="014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600200"/>
            <a:ext cx="32004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05" name="Picture 5" descr="014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33800"/>
            <a:ext cx="4419600" cy="24844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A9664-BFE2-4BF8-9ABF-3BB6E153978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Regular expressions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Can write regular language as an expression: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0*11*(0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|</a:t>
            </a:r>
            <a:r>
              <a:rPr lang="en-US" altLang="ko-KR" sz="1800" b="1">
                <a:latin typeface="Courier New" panose="02070309020205020404" pitchFamily="49" charset="0"/>
              </a:rPr>
              <a:t>100*1)1*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|</a:t>
            </a:r>
            <a:r>
              <a:rPr lang="en-US" altLang="ko-KR" sz="1800" b="1">
                <a:latin typeface="Courier New" panose="02070309020205020404" pitchFamily="49" charset="0"/>
              </a:rPr>
              <a:t>0*11*1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Operators: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Concatenation (adjacency)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Or (| or sometime written as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)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Kleene closure (* - 0 or more instances)</a:t>
            </a:r>
          </a:p>
          <a:p>
            <a:pPr>
              <a:lnSpc>
                <a:spcPct val="90000"/>
              </a:lnSpc>
            </a:pPr>
            <a:endParaRPr lang="en-US" altLang="ko-KR" sz="1800" b="1"/>
          </a:p>
        </p:txBody>
      </p:sp>
      <p:pic>
        <p:nvPicPr>
          <p:cNvPr id="205828" name="Picture 4" descr="014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09800"/>
            <a:ext cx="4191000" cy="27765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89926-9DC2-4A93-B174-222EB8FE7417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Regular grammars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 regular grammar is a context free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grammar where every production is of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one of the two forms:</a:t>
            </a:r>
          </a:p>
          <a:p>
            <a:pPr lvl="2"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X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aY </a:t>
            </a:r>
          </a:p>
          <a:p>
            <a:pPr lvl="2"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X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a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for X, Y </a:t>
            </a:r>
            <a:r>
              <a:rPr lang="en-US" altLang="ko-KR" sz="1800" b="1">
                <a:latin typeface="Courier New" panose="02070309020205020404" pitchFamily="49" charset="0"/>
                <a:sym typeface="SymbolPS" pitchFamily="18" charset="2"/>
              </a:rPr>
              <a:t></a:t>
            </a:r>
            <a:r>
              <a:rPr lang="en-US" altLang="ko-KR" sz="1800" b="1">
                <a:latin typeface="Courier New" panose="02070309020205020404" pitchFamily="49" charset="0"/>
              </a:rPr>
              <a:t> N, a </a:t>
            </a:r>
            <a:r>
              <a:rPr lang="en-US" altLang="ko-KR" sz="1800" b="1">
                <a:latin typeface="Courier New" panose="02070309020205020404" pitchFamily="49" charset="0"/>
                <a:sym typeface="SymbolPS" pitchFamily="18" charset="2"/>
              </a:rPr>
              <a:t> T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  <a:sym typeface="SymbolPS" pitchFamily="18" charset="2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  <a:sym typeface="SymbolPS" pitchFamily="18" charset="2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Theorem</a:t>
            </a:r>
            <a:r>
              <a:rPr lang="en-US" altLang="ko-KR" sz="1800" b="1">
                <a:latin typeface="Courier New" panose="02070309020205020404" pitchFamily="49" charset="0"/>
              </a:rPr>
              <a:t>: L(G) for regular grammar G is equivalent to T(M) for FSA M.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The proof is “constructive.” That is given either G or M, can construct the other. [Next slide]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  <a:sym typeface="SymbolPS" pitchFamily="18" charset="2"/>
            </a:endParaRPr>
          </a:p>
        </p:txBody>
      </p:sp>
      <p:pic>
        <p:nvPicPr>
          <p:cNvPr id="206852" name="Picture 4" descr="015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438400"/>
            <a:ext cx="2360613" cy="2057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0D65-05FD-4D40-AC73-DBD60E25AE79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Equivalence of FSA and regular grammars</a:t>
            </a:r>
          </a:p>
        </p:txBody>
      </p:sp>
      <p:pic>
        <p:nvPicPr>
          <p:cNvPr id="207875" name="Picture 3" descr="015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162800" cy="30892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76" name="Picture 4" descr="0150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24400"/>
            <a:ext cx="7086600" cy="15033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00B86-9714-47C4-84E8-22CD301A0FE7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Extended BNF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This is a shorthand notation for BNF rules. It adds no power to the syntax,only a shorthand way to write productions: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| - Choice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( ) - Grouping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{}* - Repetition - 0 or more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{}+ - Repetition - 1 or more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[ ] - Optional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Example</a:t>
            </a:r>
            <a:r>
              <a:rPr lang="en-US" altLang="ko-KR" sz="1800" b="1">
                <a:latin typeface="Courier New" panose="02070309020205020404" pitchFamily="49" charset="0"/>
              </a:rPr>
              <a:t>: Identifier - a letter followed by 0 or more letters or digits: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Extended BNF</a:t>
            </a:r>
            <a:r>
              <a:rPr lang="en-US" altLang="ko-KR" sz="1800" b="1">
                <a:latin typeface="Courier New" panose="02070309020205020404" pitchFamily="49" charset="0"/>
              </a:rPr>
              <a:t> 		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Regular BNF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I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L { L | D }*		 I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L | L M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L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a | b |... 		 M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CM | C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D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0 | 1 |... 		 C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L | D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				 L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a | b |...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				 D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0 | 1 |... </a:t>
            </a:r>
          </a:p>
          <a:p>
            <a:pPr>
              <a:lnSpc>
                <a:spcPct val="90000"/>
              </a:lnSpc>
            </a:pPr>
            <a:endParaRPr lang="en-US" altLang="ko-KR" sz="1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0A8B9-8319-482A-A2F7-D2501FA75800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Syntax diagrams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Also called railroad charts since they look like railroad switching yards.</a:t>
            </a: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Trace a path through network: An L followed by repeated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loops through L and D, i.e., extended BNF: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	L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>
                <a:latin typeface="Courier New" panose="02070309020205020404" pitchFamily="49" charset="0"/>
              </a:rPr>
              <a:t> L (L | D)*</a:t>
            </a:r>
          </a:p>
        </p:txBody>
      </p:sp>
      <p:pic>
        <p:nvPicPr>
          <p:cNvPr id="209924" name="Picture 4" descr="017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6629400" cy="25161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A56-527C-43C4-82F7-B9B32E69FCBD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Syntax charts for expression grammar</a:t>
            </a:r>
          </a:p>
        </p:txBody>
      </p:sp>
      <p:pic>
        <p:nvPicPr>
          <p:cNvPr id="210947" name="Picture 3" descr="0170b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76400"/>
            <a:ext cx="8229600" cy="4413250"/>
          </a:xfrm>
          <a:ln w="127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6C5C-AFC3-4BFD-84AA-1339784B6438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Why do we care about regular languages?</a:t>
            </a:r>
            <a:endParaRPr lang="en-US" altLang="ko-KR" sz="2400" b="1">
              <a:latin typeface="Courier New" panose="02070309020205020404" pitchFamily="49" charset="0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endParaRPr lang="en-US" altLang="ko-KR" sz="24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Programs are composed of tokens: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Identifier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Number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Keyword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Special symbols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Each of these can be defined by regular grammars. (See next slide.)</a:t>
            </a: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Problem</a:t>
            </a:r>
            <a:r>
              <a:rPr lang="en-US" altLang="ko-KR" sz="1800" b="1">
                <a:latin typeface="Courier New" panose="02070309020205020404" pitchFamily="49" charset="0"/>
              </a:rPr>
              <a:t>: How do we handle multiple symbol operators (e.g., ++ in C, =+ in C, := in Pascal)?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		?? -multiple final states?</a:t>
            </a:r>
          </a:p>
          <a:p>
            <a:endParaRPr lang="en-US" altLang="ko-KR" sz="1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1D9D2-750B-4E9A-A1ED-8010BB4C4603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Sample token classes</a:t>
            </a:r>
          </a:p>
        </p:txBody>
      </p:sp>
      <p:pic>
        <p:nvPicPr>
          <p:cNvPr id="212995" name="Picture 3" descr="018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7086600" cy="4572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D610-F649-4802-AA5E-A550F635C29D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FSA summary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800" b="1">
                <a:latin typeface="Courier New" panose="02070309020205020404" pitchFamily="49" charset="0"/>
              </a:rPr>
              <a:t>Scanner for a language turns out to be a giant NDFSA for grammar.(i.e., have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-rules going from start state to the start state of each token-type on previous slide).</a:t>
            </a:r>
            <a:endParaRPr lang="en-US" altLang="ko-KR" sz="1800" b="1">
              <a:latin typeface="Courier New" panose="02070309020205020404" pitchFamily="49" charset="0"/>
            </a:endParaRP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600200" y="3200400"/>
            <a:ext cx="4876800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1" name="Oval 5"/>
          <p:cNvSpPr>
            <a:spLocks noChangeArrowheads="1"/>
          </p:cNvSpPr>
          <p:nvPr/>
        </p:nvSpPr>
        <p:spPr bwMode="auto">
          <a:xfrm>
            <a:off x="3657600" y="34290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2" name="Oval 6"/>
          <p:cNvSpPr>
            <a:spLocks noChangeArrowheads="1"/>
          </p:cNvSpPr>
          <p:nvPr/>
        </p:nvSpPr>
        <p:spPr bwMode="auto">
          <a:xfrm>
            <a:off x="3733800" y="48768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3" name="Oval 7"/>
          <p:cNvSpPr>
            <a:spLocks noChangeArrowheads="1"/>
          </p:cNvSpPr>
          <p:nvPr/>
        </p:nvSpPr>
        <p:spPr bwMode="auto">
          <a:xfrm>
            <a:off x="3733800" y="41910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4" name="Oval 8"/>
          <p:cNvSpPr>
            <a:spLocks noChangeArrowheads="1"/>
          </p:cNvSpPr>
          <p:nvPr/>
        </p:nvSpPr>
        <p:spPr bwMode="auto">
          <a:xfrm>
            <a:off x="2514600" y="41910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4267200" y="34290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integer</a:t>
            </a:r>
          </a:p>
        </p:txBody>
      </p:sp>
      <p:sp>
        <p:nvSpPr>
          <p:cNvPr id="214026" name="Text Box 10"/>
          <p:cNvSpPr txBox="1">
            <a:spLocks noChangeArrowheads="1"/>
          </p:cNvSpPr>
          <p:nvPr/>
        </p:nvSpPr>
        <p:spPr bwMode="auto">
          <a:xfrm>
            <a:off x="4343400" y="41910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identifier</a:t>
            </a:r>
          </a:p>
        </p:txBody>
      </p:sp>
      <p:sp>
        <p:nvSpPr>
          <p:cNvPr id="214027" name="Text Box 11"/>
          <p:cNvSpPr txBox="1">
            <a:spLocks noChangeArrowheads="1"/>
          </p:cNvSpPr>
          <p:nvPr/>
        </p:nvSpPr>
        <p:spPr bwMode="auto">
          <a:xfrm>
            <a:off x="4343400" y="48768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keyword</a:t>
            </a:r>
          </a:p>
        </p:txBody>
      </p:sp>
      <p:sp>
        <p:nvSpPr>
          <p:cNvPr id="214028" name="Oval 12"/>
          <p:cNvSpPr>
            <a:spLocks noChangeArrowheads="1"/>
          </p:cNvSpPr>
          <p:nvPr/>
        </p:nvSpPr>
        <p:spPr bwMode="auto">
          <a:xfrm>
            <a:off x="3657600" y="556260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29" name="Text Box 13"/>
          <p:cNvSpPr txBox="1">
            <a:spLocks noChangeArrowheads="1"/>
          </p:cNvSpPr>
          <p:nvPr/>
        </p:nvSpPr>
        <p:spPr bwMode="auto">
          <a:xfrm>
            <a:off x="4267200" y="55626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symbol</a:t>
            </a:r>
          </a:p>
        </p:txBody>
      </p:sp>
      <p:sp>
        <p:nvSpPr>
          <p:cNvPr id="214030" name="Line 14"/>
          <p:cNvSpPr>
            <a:spLocks noChangeShapeType="1"/>
          </p:cNvSpPr>
          <p:nvPr/>
        </p:nvSpPr>
        <p:spPr bwMode="auto">
          <a:xfrm flipV="1">
            <a:off x="2819400" y="3733800"/>
            <a:ext cx="83820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31" name="Line 15"/>
          <p:cNvSpPr>
            <a:spLocks noChangeShapeType="1"/>
          </p:cNvSpPr>
          <p:nvPr/>
        </p:nvSpPr>
        <p:spPr bwMode="auto">
          <a:xfrm>
            <a:off x="2895600" y="4343400"/>
            <a:ext cx="83820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32" name="Line 16"/>
          <p:cNvSpPr>
            <a:spLocks noChangeShapeType="1"/>
          </p:cNvSpPr>
          <p:nvPr/>
        </p:nvSpPr>
        <p:spPr bwMode="auto">
          <a:xfrm>
            <a:off x="2819400" y="4495800"/>
            <a:ext cx="91440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33" name="Line 17"/>
          <p:cNvSpPr>
            <a:spLocks noChangeShapeType="1"/>
          </p:cNvSpPr>
          <p:nvPr/>
        </p:nvSpPr>
        <p:spPr bwMode="auto">
          <a:xfrm>
            <a:off x="2667000" y="4572000"/>
            <a:ext cx="1066800" cy="1066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34" name="Line 18"/>
          <p:cNvSpPr>
            <a:spLocks noChangeShapeType="1"/>
          </p:cNvSpPr>
          <p:nvPr/>
        </p:nvSpPr>
        <p:spPr bwMode="auto">
          <a:xfrm>
            <a:off x="2209800" y="3962400"/>
            <a:ext cx="304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35" name="Rectangle 19"/>
          <p:cNvSpPr>
            <a:spLocks noChangeArrowheads="1"/>
          </p:cNvSpPr>
          <p:nvPr/>
        </p:nvSpPr>
        <p:spPr bwMode="auto">
          <a:xfrm>
            <a:off x="2895600" y="3581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latinLnBrk="0" hangingPunct="0"/>
            <a:r>
              <a:rPr kumimoji="0" lang="en-US" altLang="ko-KR">
                <a:solidFill>
                  <a:schemeClr val="bg2"/>
                </a:solidFill>
                <a:latin typeface="Courier New" panose="02070309020205020404" pitchFamily="49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214036" name="Rectangle 20"/>
          <p:cNvSpPr>
            <a:spLocks noChangeArrowheads="1"/>
          </p:cNvSpPr>
          <p:nvPr/>
        </p:nvSpPr>
        <p:spPr bwMode="auto">
          <a:xfrm>
            <a:off x="2895600" y="5105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latinLnBrk="0" hangingPunct="0"/>
            <a:r>
              <a:rPr kumimoji="0" lang="en-US" altLang="ko-KR">
                <a:solidFill>
                  <a:schemeClr val="bg2"/>
                </a:solidFill>
                <a:latin typeface="Courier New" panose="02070309020205020404" pitchFamily="49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214037" name="Rectangle 21"/>
          <p:cNvSpPr>
            <a:spLocks noChangeArrowheads="1"/>
          </p:cNvSpPr>
          <p:nvPr/>
        </p:nvSpPr>
        <p:spPr bwMode="auto">
          <a:xfrm>
            <a:off x="3276600" y="4419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latinLnBrk="0" hangingPunct="0"/>
            <a:r>
              <a:rPr kumimoji="0" lang="en-US" altLang="ko-KR">
                <a:solidFill>
                  <a:schemeClr val="bg2"/>
                </a:solidFill>
                <a:latin typeface="Courier New" panose="02070309020205020404" pitchFamily="49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214038" name="Rectangle 22"/>
          <p:cNvSpPr>
            <a:spLocks noChangeArrowheads="1"/>
          </p:cNvSpPr>
          <p:nvPr/>
        </p:nvSpPr>
        <p:spPr bwMode="auto">
          <a:xfrm>
            <a:off x="3200400" y="4038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latinLnBrk="0" hangingPunct="0"/>
            <a:r>
              <a:rPr kumimoji="0" lang="en-US" altLang="ko-KR">
                <a:solidFill>
                  <a:schemeClr val="bg2"/>
                </a:solidFill>
                <a:latin typeface="Courier New" panose="02070309020205020404" pitchFamily="49" charset="0"/>
                <a:ea typeface="굴림" panose="020B0600000101010101" pitchFamily="50" charset="-127"/>
                <a:sym typeface="Symbol" panose="05050102010706020507" pitchFamily="18" charset="2"/>
              </a:rPr>
              <a:t>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3221</TotalTime>
  <Words>751</Words>
  <Application>Microsoft Office PowerPoint</Application>
  <PresentationFormat>화면 슬라이드 쇼(4:3)</PresentationFormat>
  <Paragraphs>148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Times New Roman</vt:lpstr>
      <vt:lpstr>Wingdings</vt:lpstr>
      <vt:lpstr>Arial</vt:lpstr>
      <vt:lpstr>Courier New</vt:lpstr>
      <vt:lpstr>Symbol</vt:lpstr>
      <vt:lpstr>SymbolPS</vt:lpstr>
      <vt:lpstr>바탕</vt:lpstr>
      <vt:lpstr>기본 디자인</vt:lpstr>
      <vt:lpstr>Regular grammars</vt:lpstr>
      <vt:lpstr>Finite state automaton</vt:lpstr>
      <vt:lpstr>More on FSAs</vt:lpstr>
      <vt:lpstr>Deterministic FSAs</vt:lpstr>
      <vt:lpstr>Equivalence of FSA and NDFSA</vt:lpstr>
      <vt:lpstr>Regular expressions</vt:lpstr>
      <vt:lpstr>Regular grammars</vt:lpstr>
      <vt:lpstr>Equivalence of FSA and regular grammars</vt:lpstr>
      <vt:lpstr>Extended BNF</vt:lpstr>
      <vt:lpstr>Syntax diagrams</vt:lpstr>
      <vt:lpstr>Syntax charts for expression grammar</vt:lpstr>
      <vt:lpstr>Why do we care about regular languages?</vt:lpstr>
      <vt:lpstr>Sample token classes</vt:lpstr>
      <vt:lpstr>FSA summary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6</cp:revision>
  <dcterms:created xsi:type="dcterms:W3CDTF">2000-11-03T06:26:37Z</dcterms:created>
  <dcterms:modified xsi:type="dcterms:W3CDTF">2020-03-30T05:06:26Z</dcterms:modified>
</cp:coreProperties>
</file>