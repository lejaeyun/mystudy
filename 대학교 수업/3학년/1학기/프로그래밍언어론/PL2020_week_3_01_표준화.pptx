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8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762" y="102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-196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76A30FA5-25E1-4C96-958F-D4CC63E2DB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6B78938-BB6A-459A-BDF7-9A680F075D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38BA4-A720-4C18-8CC2-A7982285F2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3984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D1A69-623A-4754-B6C5-8EC8941EF1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6179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5A928-D9AE-4660-9275-02D43D89E6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810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289F5-1114-48A9-9ED8-6C043457BBC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368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F05CD-FAB5-4BBA-9578-A5ACF6CCBF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139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1C35F-A43C-458A-923F-00643424CF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055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81808-1CDF-408D-A231-6A77F6B62FC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674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07E52-E1E3-408C-9EC0-E4BCC2EEAF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A29A6-984C-40FF-B9C0-28EF8DA0C19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560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EA37F-F130-4E80-AB4E-CA0D7FEA3D8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342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EAAB7-0B7A-4F68-907E-6865257E114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0345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ctr" eaLnBrk="1" hangingPunct="1">
              <a:defRPr/>
            </a:pPr>
            <a:endParaRPr lang="ko-KR" altLang="ko-KR" smtClean="0">
              <a:solidFill>
                <a:schemeClr val="hlink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1197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19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19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E7D65CCC-7FA4-489B-89EA-C133D6B908D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3" name="Picture 9" descr="Untitled-2 copy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algn="ctr" eaLnBrk="1" hangingPunct="1">
              <a:defRPr/>
            </a:pPr>
            <a:endParaRPr lang="ko-KR" altLang="ko-KR" smtClean="0">
              <a:solidFill>
                <a:schemeClr val="hlink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 smtClean="0"/>
          </a:p>
        </p:txBody>
      </p:sp>
      <p:pic>
        <p:nvPicPr>
          <p:cNvPr id="1036" name="Picture 1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4419600"/>
          </a:xfrm>
        </p:spPr>
        <p:txBody>
          <a:bodyPr anchor="ctr"/>
          <a:lstStyle/>
          <a:p>
            <a:pPr eaLnBrk="1" hangingPunct="1"/>
            <a:r>
              <a:rPr lang="en-US" altLang="ko-KR" sz="2400" b="1" smtClean="0">
                <a:solidFill>
                  <a:srgbClr val="0000FF"/>
                </a:solidFill>
              </a:rPr>
              <a:t>Standardization, Internationalization</a:t>
            </a:r>
            <a:br>
              <a:rPr lang="en-US" altLang="ko-KR" sz="2400" b="1" smtClean="0">
                <a:solidFill>
                  <a:srgbClr val="0000FF"/>
                </a:solidFill>
              </a:rPr>
            </a:br>
            <a:r>
              <a:rPr lang="en-US" altLang="ko-KR" sz="2400" b="1" smtClean="0">
                <a:solidFill>
                  <a:srgbClr val="0000FF"/>
                </a:solidFill>
              </a:rPr>
              <a:t/>
            </a:r>
            <a:br>
              <a:rPr lang="en-US" altLang="ko-KR" sz="2400" b="1" smtClean="0">
                <a:solidFill>
                  <a:srgbClr val="0000FF"/>
                </a:solidFill>
              </a:rPr>
            </a:br>
            <a:r>
              <a:rPr lang="en-US" altLang="ko-KR" sz="2400" b="1" smtClean="0">
                <a:solidFill>
                  <a:srgbClr val="0000FF"/>
                </a:solidFill>
              </a:rPr>
              <a:t/>
            </a:r>
            <a:br>
              <a:rPr lang="en-US" altLang="ko-KR" sz="2400" b="1" smtClean="0">
                <a:solidFill>
                  <a:srgbClr val="0000FF"/>
                </a:solidFill>
              </a:rPr>
            </a:br>
            <a:r>
              <a:rPr lang="en-US" altLang="ko-KR" sz="2400" b="1" smtClean="0">
                <a:solidFill>
                  <a:srgbClr val="0000FF"/>
                </a:solidFill>
              </a:rPr>
              <a:t/>
            </a:r>
            <a:br>
              <a:rPr lang="en-US" altLang="ko-KR" sz="2400" b="1" smtClean="0">
                <a:solidFill>
                  <a:srgbClr val="0000FF"/>
                </a:solidFill>
              </a:rPr>
            </a:br>
            <a:r>
              <a:rPr lang="en-US" altLang="ko-KR" sz="2000" b="1" smtClean="0">
                <a:solidFill>
                  <a:srgbClr val="000000"/>
                </a:solidFill>
              </a:rPr>
              <a:t>Programming Language Design and Implementation (4th Edition)</a:t>
            </a:r>
            <a:br>
              <a:rPr lang="en-US" altLang="ko-KR" sz="2000" b="1" smtClean="0">
                <a:solidFill>
                  <a:srgbClr val="000000"/>
                </a:solidFill>
              </a:rPr>
            </a:br>
            <a:r>
              <a:rPr lang="en-US" altLang="ko-KR" sz="2000" b="1" smtClean="0">
                <a:solidFill>
                  <a:srgbClr val="000000"/>
                </a:solidFill>
              </a:rPr>
              <a:t>by T. Pratt and M. Zelkowitz</a:t>
            </a:r>
            <a:br>
              <a:rPr lang="en-US" altLang="ko-KR" sz="2000" b="1" smtClean="0">
                <a:solidFill>
                  <a:srgbClr val="000000"/>
                </a:solidFill>
              </a:rPr>
            </a:br>
            <a:r>
              <a:rPr lang="en-US" altLang="ko-KR" sz="2000" b="1" smtClean="0">
                <a:solidFill>
                  <a:srgbClr val="000000"/>
                </a:solidFill>
              </a:rPr>
              <a:t>Prentice Hall, 2001</a:t>
            </a:r>
            <a:br>
              <a:rPr lang="en-US" altLang="ko-KR" sz="2000" b="1" smtClean="0">
                <a:solidFill>
                  <a:srgbClr val="000000"/>
                </a:solidFill>
              </a:rPr>
            </a:br>
            <a:r>
              <a:rPr lang="en-US" altLang="ko-KR" sz="2000" b="1" smtClean="0">
                <a:solidFill>
                  <a:srgbClr val="000000"/>
                </a:solidFill>
              </a:rPr>
              <a:t/>
            </a:r>
            <a:br>
              <a:rPr lang="en-US" altLang="ko-KR" sz="2000" b="1" smtClean="0">
                <a:solidFill>
                  <a:srgbClr val="000000"/>
                </a:solidFill>
              </a:rPr>
            </a:br>
            <a:r>
              <a:rPr lang="en-US" altLang="ko-KR" sz="2000" b="1" smtClean="0">
                <a:solidFill>
                  <a:srgbClr val="000000"/>
                </a:solidFill>
              </a:rPr>
              <a:t/>
            </a:r>
            <a:br>
              <a:rPr lang="en-US" altLang="ko-KR" sz="2000" b="1" smtClean="0">
                <a:solidFill>
                  <a:srgbClr val="000000"/>
                </a:solidFill>
              </a:rPr>
            </a:br>
            <a:r>
              <a:rPr lang="en-US" altLang="ko-KR" sz="2000" b="1" smtClean="0">
                <a:solidFill>
                  <a:srgbClr val="000000"/>
                </a:solidFill>
              </a:rPr>
              <a:t>Section 1.3.3-1.3.4</a:t>
            </a:r>
            <a:br>
              <a:rPr lang="en-US" altLang="ko-KR" sz="2000" b="1" smtClean="0">
                <a:solidFill>
                  <a:srgbClr val="000000"/>
                </a:solidFill>
              </a:rPr>
            </a:br>
            <a:endParaRPr lang="en-US" altLang="ko-KR" sz="2000" b="1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864DF-E836-43C9-AEFB-C81947D05EFF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Who defines a language?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Is: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I = 1 &amp;&amp; 2 + 3 | 4;</a:t>
            </a:r>
            <a:r>
              <a:rPr lang="en-US" altLang="ko-KR" sz="1800" b="1" smtClean="0">
                <a:latin typeface="Courier New" panose="02070309020205020404" pitchFamily="49" charset="0"/>
              </a:rPr>
              <a:t> legal in C? What is assigned to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I</a:t>
            </a:r>
            <a:r>
              <a:rPr lang="en-US" altLang="ko-KR" sz="1800" b="1" smtClean="0">
                <a:latin typeface="Courier New" panose="02070309020205020404" pitchFamily="49" charset="0"/>
              </a:rPr>
              <a:t> if it is?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3 ways typically to answer this: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1. Read language manual (Problem: Can you find one?) 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 </a:t>
            </a:r>
            <a:r>
              <a:rPr lang="ko-KR" altLang="en-US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부정확</a:t>
            </a:r>
            <a:endParaRPr lang="ko-KR" altLang="en-US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2. Read language standard (Problem: Have you ever seen it?) 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 BNF, Vienna definition language, 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3. Write a program to see what happens. (Easy to do!) 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 C</a:t>
            </a:r>
            <a:r>
              <a:rPr lang="ko-KR" altLang="en-US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의 표준은 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CC (UNIX)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Most do 3, but current compilers may not give correct answer</a:t>
            </a:r>
            <a:endParaRPr lang="en-US" altLang="ko-KR" sz="280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116C2B-6905-474E-8C18-1BC369B9FE5E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Creation of standards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28775"/>
            <a:ext cx="7772400" cy="44672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Language standards defined by national standards bodies: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ISO - International Standards organization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IEEE - Institute of Electrical and Electronics Engineers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ANSI - American National Standards Institute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   </a:t>
            </a:r>
            <a:r>
              <a:rPr lang="en-US" altLang="ko-KR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 code, </a:t>
            </a:r>
            <a:r>
              <a:rPr lang="ko-KR" altLang="en-US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언어</a:t>
            </a:r>
            <a:r>
              <a:rPr lang="en-US" altLang="ko-KR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, </a:t>
            </a:r>
            <a:r>
              <a:rPr lang="ko-KR" altLang="en-US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통신규약</a:t>
            </a:r>
            <a:r>
              <a:rPr lang="en-US" altLang="ko-KR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, XML, </a:t>
            </a:r>
            <a:r>
              <a:rPr lang="ko-KR" altLang="en-US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전자책</a:t>
            </a:r>
            <a:r>
              <a:rPr lang="en-US" altLang="ko-KR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, …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WWW Consortium, EPC Global, …</a:t>
            </a:r>
          </a:p>
          <a:p>
            <a:pPr eaLnBrk="1" hangingPunct="1">
              <a:lnSpc>
                <a:spcPct val="8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SMTP(7bits) </a:t>
            </a:r>
            <a:r>
              <a:rPr lang="en-US" altLang="ko-KR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 MIME(8bits) : Plain text, </a:t>
            </a:r>
            <a:r>
              <a:rPr lang="ko-KR" altLang="en-US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음성</a:t>
            </a:r>
            <a:r>
              <a:rPr lang="en-US" altLang="ko-KR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, </a:t>
            </a:r>
            <a:r>
              <a:rPr lang="ko-KR" altLang="en-US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영상</a:t>
            </a:r>
            <a:r>
              <a:rPr lang="en-US" altLang="ko-KR" sz="1600" b="1" smtClean="0">
                <a:latin typeface="Courier New" panose="02070309020205020404" pitchFamily="49" charset="0"/>
                <a:sym typeface="Wingdings" panose="05000000000000000000" pitchFamily="2" charset="2"/>
              </a:rPr>
              <a:t>, ..</a:t>
            </a: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All work in a similar way</a:t>
            </a:r>
            <a:r>
              <a:rPr lang="en-US" altLang="ko-KR" sz="1600" b="1" smtClean="0">
                <a:latin typeface="Courier New" panose="02070309020205020404" pitchFamily="49" charset="0"/>
              </a:rPr>
              <a:t>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1. Working group of volunteers set up to define standard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2. Agree on features for new standard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3. Vote on standard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4. If approved by working group, submitted to parent organization for approval.</a:t>
            </a:r>
            <a:endParaRPr lang="en-US" altLang="ko-KR" sz="240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7EB327-9711-4AD9-8249-CE556F3CA8E4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Creation of standards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Standards in the US are voluntary: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There is no federal standards-making organization</a:t>
            </a:r>
            <a:r>
              <a:rPr lang="en-US" altLang="ko-KR" sz="1800" b="1" smtClean="0">
                <a:latin typeface="Courier New" panose="02070309020205020404" pitchFamily="49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NIST - National Institute for Standards and Technology develops standards that are only required on federal agencies, not for commercial organizations.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But:</a:t>
            </a:r>
            <a:r>
              <a:rPr lang="en-US" altLang="ko-KR" sz="1800" b="1" smtClean="0">
                <a:latin typeface="Courier New" panose="02070309020205020404" pitchFamily="49" charset="0"/>
              </a:rPr>
              <a:t> Consensus is the key to standards making: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Contentious features often omitted to gain consensus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Only vendors have a vested interest in the results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Users don't care until standard approved, and then it is too late!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sz="1800" b="1" smtClean="0">
                <a:latin typeface="Courier New" panose="02070309020205020404" pitchFamily="49" charset="0"/>
              </a:rPr>
              <a:t>한국 </a:t>
            </a:r>
            <a:r>
              <a:rPr lang="en-US" altLang="ko-KR" sz="1800" b="1" smtClean="0">
                <a:latin typeface="Courier New" panose="02070309020205020404" pitchFamily="49" charset="0"/>
              </a:rPr>
              <a:t>::: </a:t>
            </a:r>
            <a:r>
              <a:rPr lang="ko-KR" altLang="en-US" sz="1800" b="1" smtClean="0">
                <a:latin typeface="Courier New" panose="02070309020205020404" pitchFamily="49" charset="0"/>
              </a:rPr>
              <a:t>표준연구소</a:t>
            </a:r>
            <a:r>
              <a:rPr lang="en-US" altLang="ko-KR" sz="1800" b="1" smtClean="0">
                <a:latin typeface="Courier New" panose="02070309020205020404" pitchFamily="49" charset="0"/>
              </a:rPr>
              <a:t>, </a:t>
            </a:r>
            <a:r>
              <a:rPr lang="ko-KR" altLang="en-US" sz="1800" b="1" smtClean="0">
                <a:latin typeface="Courier New" panose="02070309020205020404" pitchFamily="49" charset="0"/>
              </a:rPr>
              <a:t>미래부</a:t>
            </a:r>
            <a:r>
              <a:rPr lang="en-US" altLang="ko-KR" sz="1800" b="1" smtClean="0">
                <a:latin typeface="Courier New" panose="02070309020205020404" pitchFamily="49" charset="0"/>
              </a:rPr>
              <a:t>, </a:t>
            </a:r>
            <a:r>
              <a:rPr lang="ko-KR" altLang="en-US" sz="1800" b="1" smtClean="0">
                <a:latin typeface="Courier New" panose="02070309020205020404" pitchFamily="49" charset="0"/>
              </a:rPr>
              <a:t>교육부</a:t>
            </a:r>
            <a:r>
              <a:rPr lang="en-US" altLang="ko-KR" sz="1800" b="1" smtClean="0">
                <a:latin typeface="Courier New" panose="02070309020205020404" pitchFamily="49" charset="0"/>
              </a:rPr>
              <a:t>, </a:t>
            </a:r>
            <a:r>
              <a:rPr lang="ko-KR" altLang="en-US" sz="1800" b="1" smtClean="0">
                <a:latin typeface="Courier New" panose="02070309020205020404" pitchFamily="49" charset="0"/>
              </a:rPr>
              <a:t>산자부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CE633-33D7-4438-84F1-C325CDAD80D3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Standards conforming programs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28775"/>
            <a:ext cx="7772400" cy="44672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Standards define behavior for a </a:t>
            </a:r>
            <a:r>
              <a:rPr lang="en-US" altLang="ko-KR" sz="1600" b="1" i="1" smtClean="0">
                <a:solidFill>
                  <a:srgbClr val="FF0000"/>
                </a:solidFill>
                <a:latin typeface="Courier New" panose="02070309020205020404" pitchFamily="49" charset="0"/>
              </a:rPr>
              <a:t>standards conforming</a:t>
            </a:r>
            <a:r>
              <a:rPr lang="en-US" altLang="ko-KR" sz="1600" b="1" smtClean="0">
                <a:latin typeface="Courier New" panose="02070309020205020404" pitchFamily="49" charset="0"/>
              </a:rPr>
              <a:t> program - one that meets the rules of the language standard</a:t>
            </a:r>
          </a:p>
          <a:p>
            <a:pPr eaLnBrk="1" hangingPunct="1">
              <a:lnSpc>
                <a:spcPct val="8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In general (except for Ada), behavior of non-conforming program is not specified, so any extensions to a standards conforming compiler may still be standards conforming, even though the program is not standards conforming.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400" b="1" smtClean="0">
                <a:latin typeface="Courier New" panose="02070309020205020404" pitchFamily="49" charset="0"/>
              </a:rPr>
              <a:t>Java</a:t>
            </a:r>
            <a:r>
              <a:rPr lang="ko-KR" altLang="en-US" sz="1400" b="1" smtClean="0">
                <a:latin typeface="Courier New" panose="02070309020205020404" pitchFamily="49" charset="0"/>
              </a:rPr>
              <a:t>와 관련된 </a:t>
            </a:r>
            <a:r>
              <a:rPr lang="en-US" altLang="ko-KR" sz="1400" b="1" smtClean="0">
                <a:latin typeface="Courier New" panose="02070309020205020404" pitchFamily="49" charset="0"/>
              </a:rPr>
              <a:t>MS </a:t>
            </a:r>
            <a:r>
              <a:rPr lang="ko-KR" altLang="en-US" sz="1400" b="1" smtClean="0">
                <a:latin typeface="Courier New" panose="02070309020205020404" pitchFamily="49" charset="0"/>
              </a:rPr>
              <a:t>전략 </a:t>
            </a:r>
            <a:endParaRPr lang="en-US" altLang="ko-KR" sz="1400" b="1" smtClean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80000"/>
              </a:lnSpc>
            </a:pPr>
            <a:endParaRPr lang="ko-KR" altLang="en-US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Standards supposed to be reviewed every 5 years </a:t>
            </a:r>
          </a:p>
          <a:p>
            <a:pPr eaLnBrk="1" hangingPunct="1">
              <a:lnSpc>
                <a:spcPct val="80000"/>
              </a:lnSpc>
            </a:pPr>
            <a:endParaRPr lang="en-US" altLang="ko-KR" sz="16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Examples: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400" b="1" smtClean="0">
                <a:latin typeface="Courier New" panose="02070309020205020404" pitchFamily="49" charset="0"/>
              </a:rPr>
              <a:t>FORTRAN 1966, 1977, 1990, 1995, 2003, 2008, 2015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000" b="1" smtClean="0">
                <a:latin typeface="Courier New" panose="02070309020205020404" pitchFamily="49" charset="0"/>
              </a:rPr>
              <a:t>facilities for interoperation with C were added to Fortran 2003, IEEE floating-point arithmetic and floating point exception handling,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000" b="1" smtClean="0">
                <a:latin typeface="Courier New" panose="02070309020205020404" pitchFamily="49" charset="0"/>
              </a:rPr>
              <a:t>ISO/IEC technical specification 29113, which will be incorporated into Fortran 2015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400" b="1" smtClean="0">
                <a:latin typeface="Courier New" panose="02070309020205020404" pitchFamily="49" charset="0"/>
              </a:rPr>
              <a:t>Ada 1983(ISO standard in 1987), 1995(published in October 2001)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400" b="1" smtClean="0">
                <a:latin typeface="Courier New" panose="02070309020205020404" pitchFamily="49" charset="0"/>
              </a:rPr>
              <a:t>C++: 1983, ISO C++98, C++03, C++07, C++11, C++14, C++17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Not quite 5 years, but at least periodically</a:t>
            </a:r>
            <a:endParaRPr lang="en-US" altLang="ko-KR" sz="280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430213"/>
          </a:xfrm>
        </p:spPr>
        <p:txBody>
          <a:bodyPr/>
          <a:lstStyle/>
          <a:p>
            <a:r>
              <a:rPr lang="en-US" altLang="ko-KR" smtClean="0"/>
              <a:t>Python</a:t>
            </a:r>
            <a:endParaRPr lang="ko-KR" altLang="en-US" smtClean="0"/>
          </a:p>
        </p:txBody>
      </p:sp>
      <p:sp>
        <p:nvSpPr>
          <p:cNvPr id="9219" name="내용 개체 틀 2"/>
          <p:cNvSpPr>
            <a:spLocks noGrp="1"/>
          </p:cNvSpPr>
          <p:nvPr>
            <p:ph idx="1"/>
          </p:nvPr>
        </p:nvSpPr>
        <p:spPr>
          <a:xfrm>
            <a:off x="685800" y="1125538"/>
            <a:ext cx="7772400" cy="4970462"/>
          </a:xfrm>
        </p:spPr>
        <p:txBody>
          <a:bodyPr/>
          <a:lstStyle/>
          <a:p>
            <a:r>
              <a:rPr lang="en-US" altLang="ko-KR" sz="1800" smtClean="0"/>
              <a:t>1980</a:t>
            </a:r>
            <a:r>
              <a:rPr lang="ko-KR" altLang="en-US" sz="1800" smtClean="0"/>
              <a:t>년대 말</a:t>
            </a:r>
            <a:r>
              <a:rPr lang="en-US" altLang="ko-KR" sz="1800" smtClean="0"/>
              <a:t> </a:t>
            </a:r>
            <a:r>
              <a:rPr lang="ko-KR" altLang="en-US" sz="1800" smtClean="0"/>
              <a:t>개발</a:t>
            </a:r>
            <a:endParaRPr lang="en-US" altLang="ko-KR" sz="1800" smtClean="0"/>
          </a:p>
          <a:p>
            <a:pPr lvl="1"/>
            <a:r>
              <a:rPr lang="ko-KR" altLang="en-US" sz="2000" smtClean="0"/>
              <a:t>철학</a:t>
            </a:r>
            <a:endParaRPr lang="en-US" altLang="ko-KR" sz="2000" smtClean="0"/>
          </a:p>
          <a:p>
            <a:pPr lvl="2"/>
            <a:r>
              <a:rPr lang="en-US" altLang="ko-KR" sz="1600" smtClean="0"/>
              <a:t>Beautiful is better than ugly</a:t>
            </a:r>
          </a:p>
          <a:p>
            <a:pPr lvl="2"/>
            <a:r>
              <a:rPr lang="en-US" altLang="ko-KR" sz="1600" smtClean="0"/>
              <a:t>Explicit is better than implicit</a:t>
            </a:r>
          </a:p>
          <a:p>
            <a:pPr lvl="2"/>
            <a:r>
              <a:rPr lang="en-US" altLang="ko-KR" sz="1600" smtClean="0"/>
              <a:t>Simple is better than complex</a:t>
            </a:r>
          </a:p>
          <a:p>
            <a:pPr lvl="2"/>
            <a:r>
              <a:rPr lang="en-US" altLang="ko-KR" sz="1600" smtClean="0"/>
              <a:t>Complex is better than complicated</a:t>
            </a:r>
          </a:p>
          <a:p>
            <a:pPr lvl="2"/>
            <a:r>
              <a:rPr lang="en-US" altLang="ko-KR" sz="1600" smtClean="0"/>
              <a:t>Readability counts</a:t>
            </a:r>
          </a:p>
          <a:p>
            <a:pPr lvl="1"/>
            <a:r>
              <a:rPr lang="ko-KR" altLang="en-US" sz="1600" smtClean="0"/>
              <a:t>개발 과정</a:t>
            </a:r>
            <a:endParaRPr lang="en-US" altLang="ko-KR" sz="1600" smtClean="0"/>
          </a:p>
          <a:p>
            <a:pPr lvl="2"/>
            <a:r>
              <a:rPr lang="en-US" altLang="ko-KR" sz="1600" smtClean="0"/>
              <a:t>ABC </a:t>
            </a:r>
            <a:r>
              <a:rPr lang="ko-KR" altLang="en-US" sz="1600" smtClean="0"/>
              <a:t>언어에서 출발 </a:t>
            </a:r>
            <a:endParaRPr lang="en-US" altLang="ko-KR" sz="1600" smtClean="0"/>
          </a:p>
          <a:p>
            <a:pPr lvl="2"/>
            <a:r>
              <a:rPr lang="en-US" altLang="ko-KR" sz="1600" smtClean="0"/>
              <a:t>Python2.0: 2000, 8</a:t>
            </a:r>
            <a:r>
              <a:rPr lang="ko-KR" altLang="en-US" sz="1600" smtClean="0"/>
              <a:t>월</a:t>
            </a:r>
            <a:endParaRPr lang="en-US" altLang="ko-KR" sz="1600" smtClean="0"/>
          </a:p>
          <a:p>
            <a:pPr lvl="3"/>
            <a:r>
              <a:rPr lang="en-US" altLang="ko-KR" sz="1600" smtClean="0"/>
              <a:t>cycle-detecting garbage collector </a:t>
            </a:r>
          </a:p>
          <a:p>
            <a:pPr lvl="3"/>
            <a:r>
              <a:rPr lang="en-US" altLang="ko-KR" sz="1600" smtClean="0"/>
              <a:t> support for Unicode</a:t>
            </a:r>
          </a:p>
          <a:p>
            <a:pPr lvl="2"/>
            <a:r>
              <a:rPr lang="en-US" altLang="ko-KR" sz="1600" smtClean="0"/>
              <a:t>Python3.0: 2008, 12</a:t>
            </a:r>
            <a:r>
              <a:rPr lang="ko-KR" altLang="en-US" sz="1600" smtClean="0"/>
              <a:t>월</a:t>
            </a:r>
          </a:p>
          <a:p>
            <a:pPr lvl="3"/>
            <a:r>
              <a:rPr lang="en-US" altLang="ko-KR" sz="1600" smtClean="0"/>
              <a:t> backward-compatible: Python 2.6x, Pyrhon 3.7x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282973-0BCD-4CB8-83DC-EEBF4BA62CEE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74713"/>
          </a:xfrm>
        </p:spPr>
        <p:txBody>
          <a:bodyPr/>
          <a:lstStyle/>
          <a:p>
            <a:r>
              <a:rPr lang="en-US" altLang="ko-KR" smtClean="0"/>
              <a:t>Python</a:t>
            </a:r>
            <a:endParaRPr lang="ko-KR" altLang="en-US" smtClean="0"/>
          </a:p>
        </p:txBody>
      </p:sp>
      <p:sp>
        <p:nvSpPr>
          <p:cNvPr id="10243" name="내용 개체 틀 2"/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r>
              <a:rPr lang="en-US" altLang="ko-KR" sz="1800" smtClean="0"/>
              <a:t>a multi-paradigm programming language</a:t>
            </a:r>
          </a:p>
          <a:p>
            <a:pPr lvl="1"/>
            <a:r>
              <a:rPr lang="en-US" altLang="ko-KR" sz="1800" smtClean="0"/>
              <a:t> Object-oriented programming</a:t>
            </a:r>
          </a:p>
          <a:p>
            <a:pPr lvl="1"/>
            <a:r>
              <a:rPr lang="en-US" altLang="ko-KR" sz="1800" i="1" smtClean="0"/>
              <a:t>Functional programming</a:t>
            </a:r>
          </a:p>
          <a:p>
            <a:pPr lvl="1"/>
            <a:r>
              <a:rPr lang="en-US" altLang="ko-KR" sz="1800" i="1" smtClean="0"/>
              <a:t>Aspect-oriented programming</a:t>
            </a:r>
          </a:p>
          <a:p>
            <a:pPr lvl="1"/>
            <a:r>
              <a:rPr lang="en-US" altLang="ko-KR" sz="1800" i="1" smtClean="0"/>
              <a:t>Logic programming etc </a:t>
            </a:r>
          </a:p>
          <a:p>
            <a:r>
              <a:rPr lang="ko-KR" altLang="en-US" sz="1800" i="1" smtClean="0"/>
              <a:t>종류 </a:t>
            </a:r>
          </a:p>
          <a:p>
            <a:pPr lvl="1"/>
            <a:r>
              <a:rPr lang="en-US" altLang="ko-KR" sz="1800" i="1" smtClean="0"/>
              <a:t>Cpython: C</a:t>
            </a:r>
            <a:r>
              <a:rPr lang="ko-KR" altLang="en-US" sz="1800" i="1" smtClean="0"/>
              <a:t>로 작성된 인터프리터</a:t>
            </a:r>
            <a:r>
              <a:rPr lang="en-US" altLang="ko-KR" sz="1800" i="1" smtClean="0"/>
              <a:t>.</a:t>
            </a:r>
          </a:p>
          <a:p>
            <a:pPr lvl="1"/>
            <a:r>
              <a:rPr lang="en-US" altLang="ko-KR" sz="1800" i="1" smtClean="0"/>
              <a:t>Stackless Python: C </a:t>
            </a:r>
            <a:r>
              <a:rPr lang="ko-KR" altLang="en-US" sz="1800" i="1" smtClean="0"/>
              <a:t>스택을 사용하지 않는 인터프리터</a:t>
            </a:r>
            <a:endParaRPr lang="en-US" altLang="ko-KR" sz="1800" i="1" smtClean="0"/>
          </a:p>
          <a:p>
            <a:pPr lvl="2"/>
            <a:r>
              <a:rPr lang="en-US" altLang="ko-KR" sz="1400" i="1" smtClean="0"/>
              <a:t>coroutines, communication channels and task serialization</a:t>
            </a:r>
          </a:p>
          <a:p>
            <a:pPr lvl="1"/>
            <a:r>
              <a:rPr lang="ko-KR" altLang="en-US" sz="1800" i="1" smtClean="0"/>
              <a:t>자이선</a:t>
            </a:r>
            <a:r>
              <a:rPr lang="en-US" altLang="ko-KR" sz="1800" i="1" smtClean="0"/>
              <a:t>: </a:t>
            </a:r>
            <a:r>
              <a:rPr lang="ko-KR" altLang="en-US" sz="1800" i="1" smtClean="0"/>
              <a:t>자바 가상 머신 용 인터프리터</a:t>
            </a:r>
            <a:r>
              <a:rPr lang="en-US" altLang="ko-KR" sz="1800" i="1" smtClean="0"/>
              <a:t>. </a:t>
            </a:r>
            <a:r>
              <a:rPr lang="ko-KR" altLang="en-US" sz="1800" i="1" smtClean="0"/>
              <a:t>과거에는 제이파이선</a:t>
            </a:r>
            <a:r>
              <a:rPr lang="en-US" altLang="ko-KR" sz="1800" i="1" smtClean="0"/>
              <a:t>(JPython)</a:t>
            </a:r>
            <a:r>
              <a:rPr lang="ko-KR" altLang="en-US" sz="1800" i="1" smtClean="0"/>
              <a:t>이라고 불렸다</a:t>
            </a:r>
            <a:r>
              <a:rPr lang="en-US" altLang="ko-KR" sz="1800" i="1" smtClean="0"/>
              <a:t>.</a:t>
            </a:r>
          </a:p>
          <a:p>
            <a:pPr lvl="1"/>
            <a:r>
              <a:rPr lang="en-US" altLang="ko-KR" sz="1800" i="1" smtClean="0"/>
              <a:t>IronPython: .NET </a:t>
            </a:r>
            <a:r>
              <a:rPr lang="ko-KR" altLang="en-US" sz="1800" i="1" smtClean="0"/>
              <a:t>플랫폼 용 인터프리터</a:t>
            </a:r>
            <a:r>
              <a:rPr lang="en-US" altLang="ko-KR" sz="1800" i="1" smtClean="0"/>
              <a:t>.</a:t>
            </a:r>
          </a:p>
          <a:p>
            <a:pPr lvl="1"/>
            <a:r>
              <a:rPr lang="en-US" altLang="ko-KR" sz="1800" i="1" smtClean="0"/>
              <a:t>PyPy: </a:t>
            </a:r>
            <a:r>
              <a:rPr lang="ko-KR" altLang="en-US" sz="1800" i="1" smtClean="0"/>
              <a:t>파이선으로 작성된 파이선 인터프리터</a:t>
            </a:r>
          </a:p>
          <a:p>
            <a:endParaRPr lang="ko-KR" altLang="en-US" smtClean="0"/>
          </a:p>
          <a:p>
            <a:endParaRPr lang="ko-KR" altLang="en-US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B51E06-EDD3-475F-8DAD-6EB1B703B144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DB2372-63CA-4965-A50F-F93CCF88DC09}" type="slidenum">
              <a:rPr lang="en-US" altLang="ko-KR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표준과 특허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De facto </a:t>
            </a:r>
            <a:r>
              <a:rPr lang="ko-KR" altLang="en-US" smtClean="0"/>
              <a:t>표준</a:t>
            </a:r>
          </a:p>
          <a:p>
            <a:pPr eaLnBrk="1" hangingPunct="1"/>
            <a:r>
              <a:rPr lang="en-US" altLang="ko-KR" smtClean="0"/>
              <a:t>ISO</a:t>
            </a:r>
            <a:r>
              <a:rPr lang="ko-KR" altLang="en-US" smtClean="0"/>
              <a:t>에서는 주로 특허로 제한된 기술은 표준으로 정하지 않음</a:t>
            </a:r>
          </a:p>
          <a:p>
            <a:pPr eaLnBrk="1" hangingPunct="1"/>
            <a:r>
              <a:rPr lang="ko-KR" altLang="en-US" smtClean="0"/>
              <a:t>국제표준에 따라 정해진 내용이 특허로 되면 심각한 법적 문제를 낳을 수 있음</a:t>
            </a:r>
          </a:p>
          <a:p>
            <a:pPr eaLnBrk="1" hangingPunct="1"/>
            <a:r>
              <a:rPr lang="ko-KR" altLang="en-US" smtClean="0"/>
              <a:t>특허에 의해 “ㅈㅈㅈ” </a:t>
            </a:r>
            <a:r>
              <a:rPr lang="en-US" altLang="ko-KR" smtClean="0"/>
              <a:t>-&gt; “www”</a:t>
            </a:r>
            <a:r>
              <a:rPr lang="ko-KR" altLang="en-US" smtClean="0"/>
              <a:t>로 고치지 못함 </a:t>
            </a:r>
            <a:r>
              <a:rPr lang="en-US" altLang="ko-KR" smtClean="0"/>
              <a:t>::: </a:t>
            </a:r>
            <a:r>
              <a:rPr lang="ko-KR" altLang="en-US" smtClean="0"/>
              <a:t>특허와 관련된 몇 사례</a:t>
            </a:r>
            <a:r>
              <a:rPr lang="en-US" altLang="ko-KR" smtClean="0"/>
              <a:t>!!!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5BB78F-81A2-4727-90BE-17BD1E3CD697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z="2400" b="1" smtClean="0"/>
              <a:t>숙제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ko-KR" altLang="en-US" sz="1800" b="1" smtClean="0"/>
              <a:t>한글코드의 표준화 과정을 조사한다</a:t>
            </a:r>
            <a:r>
              <a:rPr lang="en-US" altLang="ko-KR" sz="1800" b="1" smtClean="0"/>
              <a:t>. </a:t>
            </a:r>
            <a:r>
              <a:rPr lang="ko-KR" altLang="en-US" sz="1800" b="1" smtClean="0"/>
              <a:t>특히 </a:t>
            </a:r>
            <a:r>
              <a:rPr lang="en-US" altLang="ko-KR" sz="1800" b="1" smtClean="0"/>
              <a:t>Unicode</a:t>
            </a:r>
            <a:r>
              <a:rPr lang="ko-KR" altLang="en-US" sz="1800" b="1" smtClean="0"/>
              <a:t>가 어떻게 표준화되었는지 조사한다</a:t>
            </a:r>
            <a:r>
              <a:rPr lang="en-US" altLang="ko-KR" sz="1800" b="1" smtClean="0"/>
              <a:t>. </a:t>
            </a:r>
            <a:r>
              <a:rPr lang="ko-KR" altLang="en-US" sz="1800" b="1" smtClean="0"/>
              <a:t>또 </a:t>
            </a:r>
            <a:r>
              <a:rPr lang="en-US" altLang="ko-KR" sz="1800" b="1" smtClean="0"/>
              <a:t>KS5601, ISo646, ISO2422, UTF8, UTF16</a:t>
            </a:r>
            <a:r>
              <a:rPr lang="ko-KR" altLang="en-US" sz="1800" b="1" smtClean="0"/>
              <a:t>은 무엇인가</a:t>
            </a:r>
            <a:r>
              <a:rPr lang="en-US" altLang="ko-KR" sz="1800" b="1" smtClean="0"/>
              <a:t>?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</a:pPr>
            <a:r>
              <a:rPr lang="ko-KR" altLang="en-US" sz="1600" b="1" smtClean="0"/>
              <a:t>정희성 박사 특허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ko-KR" altLang="en-US" sz="1800" b="1" smtClean="0"/>
              <a:t>자판을 중심으로 표준화가 낳을 수 있는 문제점을 조사한다</a:t>
            </a:r>
            <a:r>
              <a:rPr lang="en-US" altLang="ko-KR" sz="1800" b="1" smtClean="0"/>
              <a:t>. </a:t>
            </a:r>
            <a:r>
              <a:rPr lang="ko-KR" altLang="en-US" sz="1800" b="1" smtClean="0"/>
              <a:t>실제 우리가 쓰는 자판은 최대한 글쇠가 엉키지 않게 만듦으로써 오히려 입력속도가 느리다</a:t>
            </a:r>
            <a:r>
              <a:rPr lang="en-US" altLang="ko-KR" sz="1800" b="1" smtClean="0"/>
              <a:t>(QWERT). </a:t>
            </a:r>
            <a:r>
              <a:rPr lang="ko-KR" altLang="en-US" sz="1800" b="1" smtClean="0"/>
              <a:t>이에 따라 새로운 자판</a:t>
            </a:r>
            <a:r>
              <a:rPr lang="en-US" altLang="ko-KR" sz="1800" b="1" smtClean="0"/>
              <a:t>(</a:t>
            </a:r>
            <a:r>
              <a:rPr lang="ko-KR" altLang="en-US" sz="1800" b="1" smtClean="0"/>
              <a:t>이름을 조사</a:t>
            </a:r>
            <a:r>
              <a:rPr lang="en-US" altLang="ko-KR" sz="1800" b="1" smtClean="0"/>
              <a:t>)</a:t>
            </a:r>
            <a:r>
              <a:rPr lang="ko-KR" altLang="en-US" sz="1800" b="1" smtClean="0"/>
              <a:t>이 나왔지만 익숙하지 않아서 아직 보급되지 않고 있다</a:t>
            </a:r>
            <a:r>
              <a:rPr lang="en-US" altLang="ko-KR" sz="1800" b="1" smtClean="0"/>
              <a:t>. </a:t>
            </a:r>
            <a:r>
              <a:rPr lang="ko-KR" altLang="en-US" sz="1800" b="1" smtClean="0"/>
              <a:t>한글자판도 </a:t>
            </a:r>
            <a:r>
              <a:rPr lang="en-US" altLang="ko-KR" sz="1800" b="1" smtClean="0"/>
              <a:t>2</a:t>
            </a:r>
            <a:r>
              <a:rPr lang="ko-KR" altLang="en-US" sz="1800" b="1" smtClean="0"/>
              <a:t>벌식과 </a:t>
            </a:r>
            <a:r>
              <a:rPr lang="en-US" altLang="ko-KR" sz="1800" b="1" smtClean="0"/>
              <a:t>3</a:t>
            </a:r>
            <a:r>
              <a:rPr lang="ko-KR" altLang="en-US" sz="1800" b="1" smtClean="0"/>
              <a:t>벌식이 있는데 비슷한 문제점이 있다</a:t>
            </a:r>
            <a:r>
              <a:rPr lang="en-US" altLang="ko-KR" sz="1800" b="1" smtClean="0"/>
              <a:t>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ko-KR" altLang="en-US" sz="1800" b="1" smtClean="0"/>
              <a:t>현재 </a:t>
            </a:r>
            <a:r>
              <a:rPr lang="en-US" altLang="ko-KR" sz="1800" b="1" smtClean="0"/>
              <a:t>XML</a:t>
            </a:r>
            <a:r>
              <a:rPr lang="ko-KR" altLang="en-US" sz="1800" b="1" smtClean="0"/>
              <a:t>을 이용하여 각 분야의 문서표준화가 진행되고 있다</a:t>
            </a:r>
            <a:r>
              <a:rPr lang="en-US" altLang="ko-KR" sz="1800" b="1" smtClean="0"/>
              <a:t>. </a:t>
            </a:r>
            <a:r>
              <a:rPr lang="ko-KR" altLang="en-US" sz="1800" b="1" smtClean="0"/>
              <a:t>그 예와 현재 진행상황을 설명하라</a:t>
            </a:r>
            <a:r>
              <a:rPr lang="en-US" altLang="ko-KR" sz="1800" b="1" smtClean="0"/>
              <a:t>!! (</a:t>
            </a:r>
            <a:r>
              <a:rPr lang="ko-KR" altLang="en-US" sz="1800" b="1" smtClean="0"/>
              <a:t>예</a:t>
            </a:r>
            <a:r>
              <a:rPr lang="en-US" altLang="ko-KR" sz="1800" b="1" smtClean="0"/>
              <a:t>, eBook, vXML, </a:t>
            </a:r>
            <a:r>
              <a:rPr lang="ko-KR" altLang="en-US" sz="1800" b="1" smtClean="0"/>
              <a:t>전자상거래 </a:t>
            </a:r>
            <a:r>
              <a:rPr lang="en-US" altLang="ko-KR" sz="1800" b="1" smtClean="0">
                <a:latin typeface="Arial" panose="020B0604020202020204" pitchFamily="34" charset="0"/>
              </a:rPr>
              <a:t>…</a:t>
            </a:r>
            <a:r>
              <a:rPr lang="en-US" altLang="ko-KR" sz="1800" b="1" smtClean="0"/>
              <a:t>), </a:t>
            </a:r>
            <a:r>
              <a:rPr lang="ko-KR" altLang="en-US" sz="1800" b="1" smtClean="0"/>
              <a:t>한 분야만 잡아서 조사한다</a:t>
            </a:r>
            <a:r>
              <a:rPr lang="en-US" altLang="ko-KR" sz="1800" b="1" smtClean="0"/>
              <a:t>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ko-KR" altLang="en-US" sz="1800" b="1" smtClean="0"/>
              <a:t>핸드폰과 스마트폰에서 한글 문자를 입력하는 방법은 표준화되어 있는가</a:t>
            </a:r>
            <a:r>
              <a:rPr lang="en-US" altLang="ko-KR" sz="1800" b="1" smtClean="0"/>
              <a:t>? </a:t>
            </a:r>
            <a:r>
              <a:rPr lang="ko-KR" altLang="en-US" sz="1800" b="1" smtClean="0"/>
              <a:t>현재 표준화 상황을 조사하라</a:t>
            </a:r>
            <a:r>
              <a:rPr lang="en-US" altLang="ko-KR" sz="1800" b="1" smtClean="0"/>
              <a:t>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ko-KR" sz="2000" smtClean="0"/>
              <a:t>C, C++, Pyton, PHP, HTML, XHTML</a:t>
            </a:r>
            <a:r>
              <a:rPr lang="ko-KR" altLang="en-US" sz="2000" smtClean="0"/>
              <a:t>의 표준화 과정을 설명하라</a:t>
            </a:r>
            <a:r>
              <a:rPr lang="en-US" altLang="ko-KR" sz="2000" smtClean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62D184-AA46-41DA-9C56-6B20B9BB3510}" type="slidenum">
              <a:rPr lang="en-US" altLang="ko-KR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When to standardize a language?</a:t>
            </a:r>
            <a:endParaRPr lang="en-US" altLang="ko-KR" sz="3200" b="1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Problem:</a:t>
            </a:r>
            <a:r>
              <a:rPr lang="en-US" altLang="ko-KR" sz="1800" b="1" smtClean="0">
                <a:latin typeface="Courier New" panose="02070309020205020404" pitchFamily="49" charset="0"/>
              </a:rPr>
              <a:t>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When to standardize a language?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If too late - many incompatible versions - FORTRAN in 1960s was already a de facto standard, but no two were the same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If too early - no experience with language - Ada in 1983 had no running compilers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Just right - Probably Pascal in 1983, although it is rapidly becoming a dead language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Other languages: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C in 1988 : ANSI 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LISP in 1990 - Way too late : common LISP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De facto standards: ML - One major implementation - SML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Smalltalk - none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Prolog - none</a:t>
            </a:r>
            <a:endParaRPr lang="en-US" altLang="ko-KR" sz="240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D02D89-4DF4-45EE-AE55-09FE87F11C69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Internationalization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I18N issue - Internationalization - How to specify languages useful in a global economy?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Characters used internationally: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Single 8-bit byte; usual format today - 256 character values. A lot in 1963, but insufficient today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ASCII is a 7 bit 128 character code </a:t>
            </a: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What about other languages?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Additional letters: German umlaut-ä, French accent-é, Scandanavian symbols-ö,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Russian, other alphabets (Greek, Arabic, Hebrew), ideographs (Chinese), </a:t>
            </a:r>
            <a:r>
              <a:rPr lang="ko-KR" altLang="en-US" sz="1600" b="1" smtClean="0">
                <a:latin typeface="Courier New" panose="02070309020205020404" pitchFamily="49" charset="0"/>
              </a:rPr>
              <a:t>한글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600" b="1" smtClean="0">
                <a:latin typeface="Courier New" panose="02070309020205020404" pitchFamily="49" charset="0"/>
              </a:rPr>
              <a:t>Unicode - 16 bit code allows for 65K symbols. 8-bit byte is insufficient</a:t>
            </a:r>
            <a:endParaRPr lang="en-US" altLang="ko-KR" sz="240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15146-CABF-4BAE-A8A8-618833EB82BB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58813"/>
          </a:xfrm>
        </p:spPr>
        <p:txBody>
          <a:bodyPr/>
          <a:lstStyle/>
          <a:p>
            <a:pPr eaLnBrk="1" hangingPunct="1"/>
            <a:r>
              <a:rPr lang="en-US" altLang="ko-KR" sz="2400" b="1" smtClean="0"/>
              <a:t>Internationalization (continued)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7772400" cy="4683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800" b="1" i="1" smtClean="0">
                <a:latin typeface="Courier New" panose="02070309020205020404" pitchFamily="49" charset="0"/>
              </a:rPr>
              <a:t>I18N</a:t>
            </a:r>
            <a:r>
              <a:rPr lang="en-US" altLang="ko-KR" sz="1800" b="1" smtClean="0">
                <a:latin typeface="Courier New" panose="02070309020205020404" pitchFamily="49" charset="0"/>
              </a:rPr>
              <a:t> name avoids deciding between </a:t>
            </a:r>
            <a:r>
              <a:rPr lang="en-US" altLang="ko-KR" sz="1800" b="1" i="1" smtClean="0">
                <a:latin typeface="Courier New" panose="02070309020205020404" pitchFamily="49" charset="0"/>
              </a:rPr>
              <a:t>internationalization</a:t>
            </a:r>
            <a:r>
              <a:rPr lang="en-US" altLang="ko-KR" sz="1800" b="1" smtClean="0">
                <a:latin typeface="Courier New" panose="02070309020205020404" pitchFamily="49" charset="0"/>
              </a:rPr>
              <a:t> and </a:t>
            </a:r>
            <a:r>
              <a:rPr lang="en-US" altLang="ko-KR" sz="1800" b="1" i="1" smtClean="0">
                <a:latin typeface="Courier New" panose="02070309020205020404" pitchFamily="49" charset="0"/>
              </a:rPr>
              <a:t>localization </a:t>
            </a: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Some of the internationalization issues: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What </a:t>
            </a: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character codes</a:t>
            </a:r>
            <a:r>
              <a:rPr lang="en-US" altLang="ko-KR" sz="1800" b="1" smtClean="0">
                <a:latin typeface="Courier New" panose="02070309020205020404" pitchFamily="49" charset="0"/>
              </a:rPr>
              <a:t> to use?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Collating sequences</a:t>
            </a:r>
            <a:r>
              <a:rPr lang="en-US" altLang="ko-KR" sz="1800" b="1" smtClean="0">
                <a:latin typeface="Courier New" panose="02070309020205020404" pitchFamily="49" charset="0"/>
              </a:rPr>
              <a:t>? - How do you alphabetize various languages?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Dates</a:t>
            </a:r>
            <a:r>
              <a:rPr lang="en-US" altLang="ko-KR" sz="1800" b="1" smtClean="0">
                <a:latin typeface="Courier New" panose="02070309020205020404" pitchFamily="49" charset="0"/>
              </a:rPr>
              <a:t>? - What date is 10/12/01? Is it a date in October or December?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Time</a:t>
            </a:r>
            <a:r>
              <a:rPr lang="en-US" altLang="ko-KR" sz="1800" b="1" smtClean="0">
                <a:latin typeface="Courier New" panose="02070309020205020404" pitchFamily="49" charset="0"/>
              </a:rPr>
              <a:t>? - How do you handle time zones, summer time in Europe, daylight savings time in US, Southern hemisphere is 6 months out of phase with northern hemisphere, Date to change from summer to standard time is not consistent.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Currency</a:t>
            </a:r>
            <a:r>
              <a:rPr lang="en-US" altLang="ko-KR" sz="1800" b="1" smtClean="0">
                <a:latin typeface="Courier New" panose="02070309020205020404" pitchFamily="49" charset="0"/>
              </a:rPr>
              <a:t>? - How to handle dollars, pounds, marks, francs, euros, </a:t>
            </a:r>
            <a:r>
              <a:rPr lang="ko-KR" altLang="en-US" sz="1800" b="1" smtClean="0">
                <a:latin typeface="Courier New" panose="02070309020205020404" pitchFamily="49" charset="0"/>
              </a:rPr>
              <a:t>원</a:t>
            </a:r>
            <a:r>
              <a:rPr lang="en-US" altLang="ko-KR" sz="1800" b="1" smtClean="0">
                <a:latin typeface="Courier New" panose="02070309020205020404" pitchFamily="49" charset="0"/>
              </a:rPr>
              <a:t>, etc.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 XML</a:t>
            </a:r>
            <a:r>
              <a:rPr lang="ko-KR" altLang="en-US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에서는 </a:t>
            </a:r>
            <a:r>
              <a:rPr lang="en-US" altLang="ko-KR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dublin core</a:t>
            </a:r>
            <a:r>
              <a:rPr lang="ko-KR" altLang="en-US" sz="1800" b="1" smtClean="0">
                <a:latin typeface="Courier New" panose="02070309020205020404" pitchFamily="49" charset="0"/>
                <a:sym typeface="Wingdings" panose="05000000000000000000" pitchFamily="2" charset="2"/>
              </a:rPr>
              <a:t>를 사용</a:t>
            </a:r>
            <a:endParaRPr lang="ko-KR" altLang="en-US" sz="280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F44742-79B4-4F82-80A7-77B3E1D4E15B}" type="slidenum">
              <a:rPr lang="en-US" altLang="ko-KR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Summary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Language design today must: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Allow program solution to match physical structure of problem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Allow for world-wide use</a:t>
            </a: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Be easy to prove solution correct</a:t>
            </a:r>
          </a:p>
          <a:p>
            <a:pPr eaLnBrk="1" hangingPunct="1"/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Rest of course will work on these goals</a:t>
            </a:r>
            <a:endParaRPr lang="en-US" altLang="ko-KR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D332DC-2AEB-459C-8CA2-4230ECAADA25}" type="slidenum">
              <a:rPr lang="en-US" altLang="ko-KR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03275"/>
          </a:xfrm>
        </p:spPr>
        <p:txBody>
          <a:bodyPr/>
          <a:lstStyle/>
          <a:p>
            <a:pPr eaLnBrk="1" hangingPunct="1"/>
            <a:r>
              <a:rPr lang="en-US" altLang="ko-KR" sz="2400" b="1" smtClean="0"/>
              <a:t>Programming Environment</a:t>
            </a:r>
            <a:endParaRPr lang="en-US" altLang="ko-KR" sz="4000" b="1" smtClean="0">
              <a:latin typeface="Courier New" panose="02070309020205020404" pitchFamily="49" charset="0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313"/>
            <a:ext cx="7772400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The environments in which programs are created and tested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Separate compilation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Co-development of any large program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Function prototypes, external variables(COMMON, extern), naming convention(_…), Scope rule (Pascal, C, Ada), inheritance (Ada, C++), polymorphism, overloaded (Ada)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Stub : a subprogram call made to a subprogram that has not yet been compiled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To provide information for separate compilation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FOTRAN : COMMON &lt;- redeclaration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Compile </a:t>
            </a:r>
            <a:r>
              <a:rPr lang="ko-KR" altLang="en-US" sz="1800" b="1" smtClean="0">
                <a:latin typeface="Courier New" panose="02070309020205020404" pitchFamily="49" charset="0"/>
              </a:rPr>
              <a:t>순서 관리 </a:t>
            </a:r>
            <a:r>
              <a:rPr lang="en-US" altLang="ko-KR" sz="1800" b="1" smtClean="0">
                <a:latin typeface="Courier New" panose="02070309020205020404" pitchFamily="49" charset="0"/>
              </a:rPr>
              <a:t>&lt;- Ada.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A library containing specifications 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Consistency of the external data or subprograms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1800" b="1" smtClean="0">
                <a:latin typeface="Courier New" panose="02070309020205020404" pitchFamily="49" charset="0"/>
              </a:rPr>
              <a:t>Linking?</a:t>
            </a:r>
            <a:endParaRPr lang="en-US" altLang="ko-KR" sz="200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060BBA-4E33-4756-BBA3-0524AF2C18EF}" type="slidenum">
              <a:rPr lang="en-US" altLang="ko-KR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b="1" smtClean="0"/>
              <a:t>Programming Environment (cont.)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Testing and debugging 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Execution trace features (LISP, Prolog, …  C debugger)</a:t>
            </a:r>
          </a:p>
          <a:p>
            <a:pPr lvl="2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Statements, variables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Breakpoints</a:t>
            </a:r>
          </a:p>
          <a:p>
            <a:pPr lvl="1"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Assertions </a:t>
            </a:r>
          </a:p>
          <a:p>
            <a:pPr lvl="2" eaLnBrk="1" hangingPunct="1"/>
            <a:r>
              <a:rPr lang="en-US" altLang="ko-KR" sz="1800" b="1" smtClean="0">
                <a:latin typeface="Courier New" panose="02070309020205020404" pitchFamily="49" charset="0"/>
              </a:rPr>
              <a:t>Assert(X&gt;0)</a:t>
            </a:r>
          </a:p>
          <a:p>
            <a:pPr eaLnBrk="1" hangingPunct="1">
              <a:buClr>
                <a:schemeClr val="tx1"/>
              </a:buClr>
            </a:pPr>
            <a:endParaRPr lang="en-US" altLang="ko-KR" sz="1800" b="1" smtClean="0">
              <a:latin typeface="Courier New" panose="02070309020205020404" pitchFamily="49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ko-KR" sz="1800" b="1" smtClean="0">
                <a:latin typeface="Courier New" panose="02070309020205020404" pitchFamily="49" charset="0"/>
              </a:rPr>
              <a:t> % Exception handling</a:t>
            </a:r>
            <a:endParaRPr lang="en-US" altLang="ko-KR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_white">
  <a:themeElements>
    <a:clrScheme name="AI_whi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I_white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lnDef>
  </a:objectDefaults>
  <a:extraClrSchemeLst>
    <a:extraClrScheme>
      <a:clrScheme name="AI_whi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I_whi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_whi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_whi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_whi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_whi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I_whi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D:\2002_pl\PowerPoint 배경\AI_white.ppt</Template>
  <TotalTime>3348</TotalTime>
  <Words>1322</Words>
  <Application>Microsoft Office PowerPoint</Application>
  <PresentationFormat>화면 슬라이드 쇼(4:3)</PresentationFormat>
  <Paragraphs>168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바탕</vt:lpstr>
      <vt:lpstr>Arial</vt:lpstr>
      <vt:lpstr>Times New Roman</vt:lpstr>
      <vt:lpstr>굴림</vt:lpstr>
      <vt:lpstr>Wingdings</vt:lpstr>
      <vt:lpstr>Courier New</vt:lpstr>
      <vt:lpstr>AI_white</vt:lpstr>
      <vt:lpstr>Standardization, Internationalization    Programming Language Design and Implementation (4th Edition) by T. Pratt and M. Zelkowitz Prentice Hall, 2001   Section 1.3.3-1.3.4 </vt:lpstr>
      <vt:lpstr>Who defines a language?</vt:lpstr>
      <vt:lpstr>Creation of standards</vt:lpstr>
      <vt:lpstr>Creation of standards</vt:lpstr>
      <vt:lpstr>Standards conforming programs</vt:lpstr>
      <vt:lpstr>Python</vt:lpstr>
      <vt:lpstr>Python</vt:lpstr>
      <vt:lpstr>표준과 특허</vt:lpstr>
      <vt:lpstr>숙제</vt:lpstr>
      <vt:lpstr>When to standardize a language?</vt:lpstr>
      <vt:lpstr>Internationalization</vt:lpstr>
      <vt:lpstr>Internationalization (continued)</vt:lpstr>
      <vt:lpstr>Summary</vt:lpstr>
      <vt:lpstr>Programming Environment</vt:lpstr>
      <vt:lpstr>Programming Environment (cont.)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22</cp:revision>
  <dcterms:created xsi:type="dcterms:W3CDTF">2000-11-03T06:26:37Z</dcterms:created>
  <dcterms:modified xsi:type="dcterms:W3CDTF">2020-03-23T06:14:15Z</dcterms:modified>
</cp:coreProperties>
</file>