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8" r:id="rId2"/>
    <p:sldId id="259" r:id="rId3"/>
    <p:sldId id="260" r:id="rId4"/>
    <p:sldId id="261" r:id="rId5"/>
    <p:sldId id="262" r:id="rId6"/>
    <p:sldId id="263" r:id="rId7"/>
    <p:sldId id="277" r:id="rId8"/>
    <p:sldId id="280" r:id="rId9"/>
    <p:sldId id="278" r:id="rId10"/>
    <p:sldId id="28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762" y="102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193004D-9322-4599-B224-62F65E70D2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873B887-6B95-4026-A3AE-FF78DFDD51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fld id="{E6302E47-0A18-412B-8420-75A7FDF61FDB}" type="slidenum">
              <a:rPr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pPr/>
              <a:t>23</a:t>
            </a:fld>
            <a:endParaRPr lang="en-US" altLang="ko-KR" sz="12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5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D7259-55EF-4A22-AFF9-0E1F12ECE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064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1653B-1BFB-47EA-A298-3F187B701C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380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3177B-B4E7-4759-9B41-B90012B67E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495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E53EB-8BCC-464C-B690-3141A4DC09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476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DCD3A-F758-45BE-AA0A-44B4796E16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687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33589-CD1D-4B4F-A424-1ED447914D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412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7E1EF-154E-4D5F-8CFF-FD870AB4EF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326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6097D-9825-487D-B0E8-1E1B95A42A8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11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E7B8A-C4F0-4C83-9A83-0D63472D92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656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03ADE-0A9E-4459-9010-E974C62210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812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B454C-10EA-441A-A7C3-EE0D441575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751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ko-KR" alt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393CB-B150-497B-88CC-228B79DCB4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659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ctr" eaLnBrk="1" hangingPunct="1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3FA744F-D180-4919-8528-F9CA7CCBAA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923546-DE50-4F2B-A92F-1975F77406C1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solidFill>
                  <a:srgbClr val="0000FF"/>
                </a:solidFill>
              </a:rPr>
              <a:t>Language translation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1148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000000"/>
                </a:solidFill>
              </a:rPr>
              <a:t>by T. Pratt and M. Zelkowitz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000000"/>
                </a:solidFill>
              </a:rPr>
              <a:t>Prentice Hall, 2001</a:t>
            </a:r>
          </a:p>
          <a:p>
            <a:pPr algn="ctr" eaLnBrk="1" hangingPunct="1"/>
            <a:endParaRPr lang="en-US" altLang="ko-KR" sz="1800" b="1" smtClean="0">
              <a:solidFill>
                <a:srgbClr val="000000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000000"/>
                </a:solidFill>
              </a:rPr>
              <a:t>Sections 3.1 - 3.3.1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41F8F-64B3-4447-AF4F-75DCF61F4D6A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Program structure</a:t>
            </a:r>
            <a:endParaRPr lang="en-US" altLang="ko-KR" sz="2400" b="1" smtClean="0">
              <a:latin typeface="Courier New" panose="02070309020205020404" pitchFamily="49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57400"/>
            <a:ext cx="8458200" cy="4191000"/>
          </a:xfrm>
        </p:spPr>
        <p:txBody>
          <a:bodyPr/>
          <a:lstStyle/>
          <a:p>
            <a:pPr eaLnBrk="1" hangingPunct="1"/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Syntax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What a program looks like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BNF (John Bacus and Peter Naur)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 context free grammars) 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 a useful notation for describing syntax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FORTRAN</a:t>
            </a:r>
            <a:r>
              <a:rPr lang="ko-KR" altLang="en-US" sz="1800" b="1" smtClean="0">
                <a:latin typeface="Courier New" panose="02070309020205020404" pitchFamily="49" charset="0"/>
              </a:rPr>
              <a:t>은 문법이 </a:t>
            </a:r>
            <a:r>
              <a:rPr lang="en-US" altLang="ko-KR" sz="1800" b="1" smtClean="0">
                <a:latin typeface="Courier New" panose="02070309020205020404" pitchFamily="49" charset="0"/>
              </a:rPr>
              <a:t>formal</a:t>
            </a:r>
            <a:r>
              <a:rPr lang="ko-KR" altLang="en-US" sz="1800" b="1" smtClean="0">
                <a:latin typeface="Courier New" panose="02070309020205020404" pitchFamily="49" charset="0"/>
              </a:rPr>
              <a:t>하게 정의되지 않았다</a:t>
            </a:r>
            <a:r>
              <a:rPr lang="en-US" altLang="ko-KR" sz="1800" b="1" smtClean="0">
                <a:latin typeface="Courier New" panose="02070309020205020404" pitchFamily="49" charset="0"/>
              </a:rPr>
              <a:t>.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Blank </a:t>
            </a:r>
            <a:r>
              <a:rPr lang="ko-KR" altLang="en-US" sz="1800" b="1" smtClean="0">
                <a:latin typeface="Courier New" panose="02070309020205020404" pitchFamily="49" charset="0"/>
              </a:rPr>
              <a:t>무시 </a:t>
            </a:r>
            <a:r>
              <a:rPr lang="en-US" altLang="ko-KR" sz="1800" b="1" smtClean="0">
                <a:latin typeface="Courier New" panose="02070309020205020404" pitchFamily="49" charset="0"/>
              </a:rPr>
              <a:t>::: Do10I=110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 Do10I=1,10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F3E5AD-1DE4-4864-A74A-FC5A885F8736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Program structure</a:t>
            </a:r>
            <a:endParaRPr lang="en-US" altLang="ko-KR" sz="2400" b="1" smtClean="0">
              <a:latin typeface="Courier New" panose="02070309020205020404" pitchFamily="49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458200" cy="4495800"/>
          </a:xfrm>
        </p:spPr>
        <p:txBody>
          <a:bodyPr/>
          <a:lstStyle/>
          <a:p>
            <a:pPr eaLnBrk="1" hangingPunct="1"/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Semantics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Execution behavior</a:t>
            </a:r>
          </a:p>
          <a:p>
            <a:pPr eaLnBrk="1" hangingPunct="1"/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Static semantics</a:t>
            </a:r>
            <a:r>
              <a:rPr lang="en-US" altLang="ko-KR" sz="1800" b="1" smtClean="0">
                <a:latin typeface="Courier New" panose="02070309020205020404" pitchFamily="49" charset="0"/>
              </a:rPr>
              <a:t> - Semantics determined at compile time: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var A: integer;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Type and storage for A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int B[10];    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Type and storage for array B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float MyProcC(float x;float y){...};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Function 								  attributes</a:t>
            </a:r>
          </a:p>
          <a:p>
            <a:pPr eaLnBrk="1" hangingPunct="1"/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Dynamic semantics</a:t>
            </a:r>
            <a:r>
              <a:rPr lang="en-US" altLang="ko-KR" sz="1800" b="1" smtClean="0">
                <a:latin typeface="Courier New" panose="02070309020205020404" pitchFamily="49" charset="0"/>
              </a:rPr>
              <a:t> - Semantics determined during execution:</a:t>
            </a: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X = ``ABC''   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SNOBOL4 example: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X a string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X = 1 + 2;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     X an integer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:(X)          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X an address; Go to label X</a:t>
            </a: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0C18AC-EE39-4E0A-8B80-CB8D6F1383E4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Aspects of a program</a:t>
            </a:r>
            <a:endParaRPr lang="en-US" altLang="ko-KR" sz="2400" b="1" smtClean="0">
              <a:latin typeface="Courier New" panose="02070309020205020404" pitchFamily="49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Declarations</a:t>
            </a:r>
            <a:r>
              <a:rPr lang="en-US" altLang="ko-KR" sz="1800" b="1" smtClean="0">
                <a:latin typeface="Courier New" panose="02070309020205020404" pitchFamily="49" charset="0"/>
              </a:rPr>
              <a:t> - Information for compiler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var A: integer;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typedef struct { int A; float B } C;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Control</a:t>
            </a:r>
            <a:r>
              <a:rPr lang="en-US" altLang="ko-KR" sz="1800" b="1" smtClean="0">
                <a:latin typeface="Courier New" panose="02070309020205020404" pitchFamily="49" charset="0"/>
              </a:rPr>
              <a:t> - Changes to state of the machine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if (A&lt;B) { ...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while (C&gt;D) { ... }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Structure often defined by a Backus Naur Form (</a:t>
            </a:r>
            <a:r>
              <a:rPr lang="en-US" altLang="ko-KR" sz="1800" b="1" i="1" smtClean="0">
                <a:solidFill>
                  <a:srgbClr val="FF0000"/>
                </a:solidFill>
                <a:latin typeface="Courier New" panose="02070309020205020404" pitchFamily="49" charset="0"/>
              </a:rPr>
              <a:t>BNF</a:t>
            </a:r>
            <a:r>
              <a:rPr lang="en-US" altLang="ko-KR" sz="1800" b="1" smtClean="0">
                <a:latin typeface="Courier New" panose="02070309020205020404" pitchFamily="49" charset="0"/>
              </a:rPr>
              <a:t>) grammar (First used in description of Algol in 1958. Peter Naur was chair of Algol committee, and John Backus was secretary of committee, who wrote report.)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We will see later - BNF turns out to be same as context free grammars developed by Noam Chomsky, a linguist)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032D29-BAB7-4E7B-8D31-D2A9D27EDFCC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Stages in translating a program</a:t>
            </a:r>
          </a:p>
        </p:txBody>
      </p:sp>
      <p:pic>
        <p:nvPicPr>
          <p:cNvPr id="8196" name="Picture 3" descr="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00200"/>
            <a:ext cx="5867400" cy="4556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ACEA4-6A9A-42CD-91A2-AFB081BEB7DE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Major stages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Lexical analysis (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Scanner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):</a:t>
            </a:r>
            <a:r>
              <a:rPr lang="en-US" altLang="ko-KR" sz="1800" b="1" smtClean="0">
                <a:latin typeface="Courier New" panose="02070309020205020404" pitchFamily="49" charset="0"/>
              </a:rPr>
              <a:t> Breaking a program into primitive components, called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tokens</a:t>
            </a:r>
            <a:r>
              <a:rPr lang="en-US" altLang="ko-KR" sz="1800" b="1" smtClean="0">
                <a:latin typeface="Courier New" panose="02070309020205020404" pitchFamily="49" charset="0"/>
              </a:rPr>
              <a:t> (identifiers, numbers, keywords, ...) We will see that regular grammars and finite state automata are formal models of this.</a:t>
            </a:r>
            <a:endParaRPr lang="en-US" altLang="ko-KR" sz="1800" b="1" smtClean="0"/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Syntactic analysis (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Parsing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):</a:t>
            </a:r>
            <a:r>
              <a:rPr lang="en-US" altLang="ko-KR" sz="1800" b="1" smtClean="0">
                <a:latin typeface="Courier New" panose="02070309020205020404" pitchFamily="49" charset="0"/>
              </a:rPr>
              <a:t> Creating a syntax tree of the program. We will see that context free grammars and pushdown automata are formal models of this.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Symbol table:</a:t>
            </a:r>
            <a:r>
              <a:rPr lang="en-US" altLang="ko-KR" sz="1800" b="1" smtClean="0">
                <a:latin typeface="Courier New" panose="02070309020205020404" pitchFamily="49" charset="0"/>
              </a:rPr>
              <a:t> Storing information about declared objects (identifiers, procedure names, ...)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Semantic analysis:</a:t>
            </a:r>
            <a:r>
              <a:rPr lang="en-US" altLang="ko-KR" sz="1800" b="1" smtClean="0">
                <a:latin typeface="Courier New" panose="02070309020205020404" pitchFamily="49" charset="0"/>
              </a:rPr>
              <a:t> Understanding the relationship among the tokens in the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Optimization:</a:t>
            </a:r>
            <a:r>
              <a:rPr lang="en-US" altLang="ko-KR" sz="1800" b="1" smtClean="0">
                <a:latin typeface="Courier New" panose="02070309020205020404" pitchFamily="49" charset="0"/>
              </a:rPr>
              <a:t> Rewriting the syntax tree to create a more efficient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Code generation</a:t>
            </a:r>
            <a:r>
              <a:rPr lang="en-US" altLang="ko-KR" sz="1800" b="1" smtClean="0">
                <a:latin typeface="Courier New" panose="02070309020205020404" pitchFamily="49" charset="0"/>
              </a:rPr>
              <a:t>: Converting the parsed program into an executable form.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We will briefly look at scanning and parsing. A full treatment of compiling is beyond scope of this course.</a:t>
            </a: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ACEA4-6A9A-42CD-91A2-AFB081BEB7DE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2400" b="1" dirty="0" smtClean="0"/>
              <a:t>과정</a:t>
            </a:r>
            <a:endParaRPr lang="en-US" altLang="ko-KR" sz="2400" b="1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Lexical analysis (</a:t>
            </a:r>
            <a:r>
              <a:rPr lang="en-US" altLang="ko-KR" sz="1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Scanner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):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 {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a;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  float b;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  ….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   a=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b+c</a:t>
            </a: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r>
              <a:rPr lang="en-US" altLang="ko-KR" sz="1800" b="1" dirty="0" smtClean="0">
                <a:latin typeface="Courier New" panose="02070309020205020404" pitchFamily="49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ko-KR" sz="1800" b="1" dirty="0">
              <a:latin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 smtClean="0">
                <a:latin typeface="Courier New" panose="02070309020205020404" pitchFamily="49" charset="0"/>
              </a:rPr>
              <a:t>&lt;</a:t>
            </a:r>
            <a:r>
              <a:rPr lang="ko-KR" altLang="en-US" sz="1800" b="1" dirty="0" smtClean="0">
                <a:latin typeface="Courier New" panose="02070309020205020404" pitchFamily="49" charset="0"/>
              </a:rPr>
              <a:t>생성한 토큰</a:t>
            </a:r>
            <a:r>
              <a:rPr lang="en-US" altLang="ko-KR" sz="1800" b="1" dirty="0" smtClean="0">
                <a:latin typeface="Courier New" panose="02070309020205020404" pitchFamily="49" charset="0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b="1" dirty="0" smtClean="0">
                <a:latin typeface="Courier New" panose="02070309020205020404" pitchFamily="49" charset="0"/>
              </a:rPr>
              <a:t>&lt;kw(keyword)3&gt; &lt;id 1&gt; &lt;kw 8&gt; &lt;kw 4&gt; &lt;id, 2&gt; &lt;kw 8&gt; … &lt;id 1&gt; &lt;kw 7&gt; &lt;id 2&gt; &lt;kw 10&gt; &lt;id 3&gt; </a:t>
            </a:r>
          </a:p>
        </p:txBody>
      </p:sp>
    </p:spTree>
    <p:extLst>
      <p:ext uri="{BB962C8B-B14F-4D97-AF65-F5344CB8AC3E}">
        <p14:creationId xmlns:p14="http://schemas.microsoft.com/office/powerpoint/2010/main" val="208003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3A2B5-E413-42A8-BF62-17982200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Keyword</a:t>
            </a:r>
            <a:r>
              <a:rPr lang="ko-KR" altLang="en-US" dirty="0"/>
              <a:t> </a:t>
            </a:r>
            <a:r>
              <a:rPr lang="en-US" altLang="ko-KR" dirty="0"/>
              <a:t>table</a:t>
            </a:r>
            <a:endParaRPr lang="ko-KR" altLang="en-US" dirty="0"/>
          </a:p>
        </p:txBody>
      </p:sp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25195AE4-9EC6-441A-8EFC-C7CB29BEEA27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28650" y="1924465"/>
          <a:ext cx="7886700" cy="1691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24506762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9819696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011735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Float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62955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=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67877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32416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+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25982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*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9248832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6687F5BE-B245-466B-966C-4E6C628062F9}"/>
              </a:ext>
            </a:extLst>
          </p:cNvPr>
          <p:cNvSpPr txBox="1">
            <a:spLocks/>
          </p:cNvSpPr>
          <p:nvPr/>
        </p:nvSpPr>
        <p:spPr>
          <a:xfrm>
            <a:off x="628650" y="3675951"/>
            <a:ext cx="7886700" cy="377505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8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300" dirty="0"/>
              <a:t>Symbol table</a:t>
            </a:r>
            <a:endParaRPr lang="ko-KR" altLang="en-US" sz="33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1E1DF57-4F58-4D90-948D-F0AF56F23E9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28650" y="4053456"/>
          <a:ext cx="7886697" cy="1409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699322800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785834547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9269610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feature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9164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----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70275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----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13312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35000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85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9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ACEA4-6A9A-42CD-91A2-AFB081BEB7DE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dirty="0" smtClean="0"/>
              <a:t>Syntactic analysis </a:t>
            </a:r>
            <a:endParaRPr lang="en-US" altLang="ko-KR" sz="2400" b="1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dirty="0" smtClean="0">
                <a:latin typeface="Courier New" panose="02070309020205020404" pitchFamily="49" charset="0"/>
              </a:rPr>
              <a:t>Lexical analysis (Scanner): </a:t>
            </a:r>
            <a:r>
              <a:rPr lang="en-US" altLang="ko-KR" sz="1800" b="1" dirty="0" err="1" smtClean="0">
                <a:latin typeface="Courier New" panose="02070309020205020404" pitchFamily="49" charset="0"/>
              </a:rPr>
              <a:t>int</a:t>
            </a:r>
            <a:r>
              <a:rPr lang="en-US" altLang="ko-KR" sz="1800" b="1" dirty="0" smtClean="0">
                <a:latin typeface="Courier New" panose="02070309020205020404" pitchFamily="49" charset="0"/>
              </a:rPr>
              <a:t> a; float b; … a=</a:t>
            </a:r>
            <a:r>
              <a:rPr lang="en-US" altLang="ko-KR" sz="1800" b="1" dirty="0" err="1" smtClean="0">
                <a:latin typeface="Courier New" panose="02070309020205020404" pitchFamily="49" charset="0"/>
              </a:rPr>
              <a:t>b+c</a:t>
            </a:r>
            <a:r>
              <a:rPr lang="en-US" altLang="ko-KR" sz="1800" b="1" dirty="0" smtClean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dirty="0" smtClean="0">
              <a:latin typeface="Courier New" panose="02070309020205020404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708920"/>
            <a:ext cx="609685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7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C2F6E-4294-4C8A-9FF5-58B32BE0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1148090"/>
          </a:xfrm>
        </p:spPr>
        <p:txBody>
          <a:bodyPr/>
          <a:lstStyle/>
          <a:p>
            <a:r>
              <a:rPr lang="en-US" altLang="ko-KR" dirty="0"/>
              <a:t>semantic analysis</a:t>
            </a:r>
            <a:br>
              <a:rPr lang="en-US" altLang="ko-KR" dirty="0"/>
            </a:br>
            <a:r>
              <a:rPr lang="en-US" altLang="ko-KR" dirty="0"/>
              <a:t>Symbol table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4D1FC18-A07B-4859-9F82-A898FF5382F7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78987" y="2584563"/>
          <a:ext cx="7886697" cy="1409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699322800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785834547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9269610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feature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9164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int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70275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float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133129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35000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85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7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AD5C7C-1BC0-47C3-8CFB-BFE10B023426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Translation environments</a:t>
            </a:r>
          </a:p>
        </p:txBody>
      </p:sp>
      <p:pic>
        <p:nvPicPr>
          <p:cNvPr id="10244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620125" cy="396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F8CD7-1A86-43BE-A0DB-C6E7F5F0A7B9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BNF grammars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Nonterminal:</a:t>
            </a:r>
            <a:r>
              <a:rPr lang="en-US" altLang="ko-KR" sz="1600" b="1" smtClean="0">
                <a:latin typeface="Courier New" panose="02070309020205020404" pitchFamily="49" charset="0"/>
              </a:rPr>
              <a:t> A finite set of symbols: &lt;sentence&gt; &lt;subject&gt; &lt;predicate&gt; &lt;verb&gt; &lt;article&gt; &lt;noun&gt;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Terminal:</a:t>
            </a:r>
            <a:r>
              <a:rPr lang="en-US" altLang="ko-KR" sz="1600" b="1" smtClean="0">
                <a:latin typeface="Courier New" panose="02070309020205020404" pitchFamily="49" charset="0"/>
              </a:rPr>
              <a:t> A finite set of symbols: the, boy, girl, ran, ate, cake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Start symbol:</a:t>
            </a:r>
            <a:r>
              <a:rPr lang="en-US" altLang="ko-KR" sz="1600" b="1" smtClean="0">
                <a:latin typeface="Courier New" panose="02070309020205020404" pitchFamily="49" charset="0"/>
              </a:rPr>
              <a:t> One of the nonterminals: &lt;sentence&gt;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Rules (productions)</a:t>
            </a:r>
            <a:r>
              <a:rPr lang="en-US" altLang="ko-KR" sz="1600" b="1" smtClean="0">
                <a:latin typeface="Courier New" panose="02070309020205020404" pitchFamily="49" charset="0"/>
              </a:rPr>
              <a:t>: A finite set of replacement rules: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&lt;sentence&gt; ::= &lt;subject&gt; &lt;predicate&gt;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&lt;subject&gt;  ::= &lt;article&gt; &lt;noun&gt;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&lt;predicate&gt;::= &lt;verb&gt; &lt;article&gt; &lt;noun&gt;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&lt;verb&gt;     ::= ran | 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&lt;article&gt;  ::= the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&lt;noun&gt;     ::= boy | girl | cake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Replacement Operator:</a:t>
            </a:r>
            <a:r>
              <a:rPr lang="en-US" altLang="ko-KR" sz="1600" b="1" smtClean="0">
                <a:latin typeface="Courier New" panose="02070309020205020404" pitchFamily="49" charset="0"/>
              </a:rPr>
              <a:t> Replace any nonterminal by a right hand side value using any rule (written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)</a:t>
            </a:r>
            <a:endParaRPr lang="en-US" altLang="ko-KR" sz="16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4CFD71-C17C-422A-8103-06E33E8F0DC5}" type="slidenum">
              <a:rPr lang="en-US" altLang="ko-KR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Example BNF sentences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&lt;sentence&gt;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&lt;subject&gt; &lt;predicate&gt;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First rule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	</a:t>
            </a:r>
            <a:r>
              <a:rPr lang="en-US" altLang="ko-KR" sz="1800" b="1" smtClean="0">
                <a:latin typeface="Courier New" panose="02070309020205020404" pitchFamily="49" charset="0"/>
              </a:rPr>
              <a:t> &lt;article&gt; &lt;noun&gt; &lt;predicate&gt; 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Second rule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	</a:t>
            </a:r>
            <a:r>
              <a:rPr lang="en-US" altLang="ko-KR" sz="1800" b="1" smtClean="0">
                <a:latin typeface="Courier New" panose="02070309020205020404" pitchFamily="49" charset="0"/>
              </a:rPr>
              <a:t> the &lt;noun&gt; &lt;predicate&gt;       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Fifth rule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...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the boy ate the cake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Also from &lt;sentence&gt; you can derive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the cake ate the boy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Syntax does not imply correct semantics</a:t>
            </a:r>
            <a:endParaRPr lang="en-US" altLang="ko-KR" sz="18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Note: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	Rule &lt;A&gt; ::= &lt;B&gt;&lt;C&gt;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This BNF rule also written with equivalent syntax: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	A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 BC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5B6FEC-9798-41F0-BF99-FCB259B301F0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Languages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Any string derived from the start symbol is a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sentential form</a:t>
            </a:r>
            <a:r>
              <a:rPr lang="en-US" altLang="ko-KR" sz="1800" b="1" smtClean="0">
                <a:latin typeface="Courier New" panose="02070309020205020404" pitchFamily="49" charset="0"/>
              </a:rPr>
              <a:t>.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Sentence:</a:t>
            </a:r>
            <a:r>
              <a:rPr lang="en-US" altLang="ko-KR" sz="1800" b="1" smtClean="0">
                <a:latin typeface="Courier New" panose="02070309020205020404" pitchFamily="49" charset="0"/>
              </a:rPr>
              <a:t> String of terminals derived from start symbol by repeated application of replacement operator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language </a:t>
            </a:r>
            <a:r>
              <a:rPr lang="en-US" altLang="ko-KR" sz="1800" b="1" smtClean="0">
                <a:latin typeface="Courier New" panose="02070309020205020404" pitchFamily="49" charset="0"/>
              </a:rPr>
              <a:t>generated by grammar G (written L(G)) is the set of all strings over the terminal alphabet (i.e., sentences) derived from start symbol.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That is, a language is the set of sentential forms containing only terminal symbols.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800" b="1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BB9A5-879D-49A3-B51C-CAEAF45F4BF9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Derivations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4191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A 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derivation</a:t>
            </a:r>
            <a:r>
              <a:rPr lang="en-US" altLang="ko-KR" sz="1600" b="1" smtClean="0">
                <a:latin typeface="Courier New" panose="02070309020205020404" pitchFamily="49" charset="0"/>
              </a:rPr>
              <a:t> is a sequence of sentential forms starting from start symbol.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Derivation trees: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Grammar: B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0B | 1B | 0 |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Derivation: B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0B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01B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010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From derivation get parse tree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But derivations may not be unique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SS | (S) | ()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SS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(S)S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(())S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(())()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SS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 S()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(S)()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600" b="1" smtClean="0">
                <a:latin typeface="Courier New" panose="02070309020205020404" pitchFamily="49" charset="0"/>
              </a:rPr>
              <a:t>(())()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Different derivations but get the 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same</a:t>
            </a:r>
            <a:r>
              <a:rPr lang="en-US" altLang="ko-KR" sz="1600" b="1" smtClean="0">
                <a:latin typeface="Courier New" panose="02070309020205020404" pitchFamily="49" charset="0"/>
              </a:rPr>
              <a:t> parse tree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/>
          </a:p>
        </p:txBody>
      </p:sp>
      <p:pic>
        <p:nvPicPr>
          <p:cNvPr id="14341" name="Picture 4" descr="010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76400"/>
            <a:ext cx="1211263" cy="1981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5" descr="010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10000"/>
            <a:ext cx="3238500" cy="2324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BD16E4-11CC-43BE-9CE4-D8EB932298DF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 Ambiguity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But from some grammars you can get 2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different</a:t>
            </a:r>
            <a:r>
              <a:rPr lang="en-US" altLang="ko-KR" sz="1800" b="1" smtClean="0">
                <a:latin typeface="Courier New" panose="02070309020205020404" pitchFamily="49" charset="0"/>
              </a:rPr>
              <a:t> parse trees for the same string: ()()()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Each corresponds to a unique derivation: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SS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 SSS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()SS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()()S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 smtClean="0">
                <a:latin typeface="Courier New" panose="02070309020205020404" pitchFamily="49" charset="0"/>
              </a:rPr>
              <a:t>()()()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 grammar is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ambiguous</a:t>
            </a:r>
            <a:r>
              <a:rPr lang="en-US" altLang="ko-KR" sz="1800" b="1" smtClean="0">
                <a:latin typeface="Courier New" panose="02070309020205020404" pitchFamily="49" charset="0"/>
              </a:rPr>
              <a:t> if some sentence has 2 distinct parse trees.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We desire unambiguous grammars to understand semantics.</a:t>
            </a:r>
          </a:p>
        </p:txBody>
      </p:sp>
      <p:pic>
        <p:nvPicPr>
          <p:cNvPr id="15365" name="Picture 4" descr="010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43175"/>
            <a:ext cx="7229475" cy="2281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86A47C-2A71-4D61-88A9-B8907CE2CFF4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Role of </a:t>
            </a:r>
            <a:r>
              <a:rPr lang="en-US" altLang="ko-KR" sz="2400" b="1" smtClean="0">
                <a:sym typeface="Symbol" panose="05050102010706020507" pitchFamily="18" charset="2"/>
              </a:rPr>
              <a:t></a:t>
            </a:r>
            <a:endParaRPr lang="en-US" altLang="ko-KR" sz="2400" b="1" smtClean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How to characterize strings of length 0? – Semantically it makes sense to consider such strings.</a:t>
            </a:r>
          </a:p>
          <a:p>
            <a:pPr eaLnBrk="1" hangingPunct="1">
              <a:lnSpc>
                <a:spcPct val="12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1.</a:t>
            </a:r>
            <a:r>
              <a:rPr lang="en-US" altLang="ko-KR" sz="1600" b="1" smtClean="0">
                <a:latin typeface="Courier New" panose="02070309020205020404" pitchFamily="49" charset="0"/>
              </a:rPr>
              <a:t> In BNF, 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-productions</a:t>
            </a:r>
            <a:r>
              <a:rPr lang="en-US" altLang="ko-KR" sz="1600" b="1" smtClean="0">
                <a:latin typeface="Courier New" panose="02070309020205020404" pitchFamily="49" charset="0"/>
              </a:rPr>
              <a:t>: S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SS | (S) | () |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altLang="ko-KR" sz="1600" b="1" smtClean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Can always delete them in grammar. For example: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X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abYc	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Y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Delete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altLang="ko-KR" sz="1600" b="1" smtClean="0">
                <a:latin typeface="Courier New" panose="02070309020205020404" pitchFamily="49" charset="0"/>
              </a:rPr>
              <a:t>-production and add production without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altLang="ko-KR" sz="1600" b="1" smtClean="0">
                <a:latin typeface="Courier New" panose="02070309020205020404" pitchFamily="49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	X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abYc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  X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abc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ko-KR" sz="1600" b="1" smtClean="0">
                <a:latin typeface="Courier New" panose="02070309020205020404" pitchFamily="49" charset="0"/>
              </a:rPr>
              <a:t>2. In fsa -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</a:t>
            </a:r>
            <a:r>
              <a:rPr lang="en-US" altLang="ko-KR" sz="1600" b="1" smtClean="0">
                <a:latin typeface="Courier New" panose="02070309020205020404" pitchFamily="49" charset="0"/>
              </a:rPr>
              <a:t> moves means that 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ko-KR" sz="1600" b="1" smtClean="0">
                <a:latin typeface="Courier New" panose="02070309020205020404" pitchFamily="49" charset="0"/>
              </a:rPr>
              <a:t>in initial state, without input 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ko-KR" sz="1600" b="1" smtClean="0">
                <a:latin typeface="Courier New" panose="02070309020205020404" pitchFamily="49" charset="0"/>
              </a:rPr>
              <a:t>you can move to final state.</a:t>
            </a:r>
            <a:endParaRPr lang="en-US" altLang="ko-KR" sz="1600" b="1" smtClean="0"/>
          </a:p>
        </p:txBody>
      </p:sp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36" b="71367"/>
          <a:stretch>
            <a:fillRect/>
          </a:stretch>
        </p:blipFill>
        <p:spPr bwMode="auto">
          <a:xfrm>
            <a:off x="5257800" y="4657725"/>
            <a:ext cx="2832100" cy="13620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83833D-9A55-4AE5-BFF7-7570A921F1AA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19175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Syntax can be used to determine some </a:t>
            </a:r>
            <a:r>
              <a:rPr lang="en-US" altLang="ko-KR" sz="2000" b="1" smtClean="0"/>
              <a:t>semantics</a:t>
            </a:r>
            <a:endParaRPr lang="en-US" altLang="ko-KR" sz="2000" b="1" smtClean="0">
              <a:latin typeface="Courier New" panose="02070309020205020404" pitchFamily="49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During Algol era, thought that BNF could be used for semantics of a program: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What is the value of: 2 * 3 + 4 * 5?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		(a) 26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		(b) 70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		(c) 50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All are reasonable answers?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Why?</a:t>
            </a:r>
          </a:p>
          <a:p>
            <a:pPr eaLnBrk="1" hangingPunct="1"/>
            <a:endParaRPr lang="en-US" altLang="ko-KR" sz="1800" b="1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6825FE-8AC6-486B-8244-1A10ED00C040}" type="slidenum">
              <a:rPr lang="en-US" altLang="ko-KR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Usual grammar for expressions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E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E + T | 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T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T * P |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P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i | ( E 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“Natural” value of expression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is 26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Multiply 2 * 3 = 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Multiply 4 * 5 = 20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Add 6 + 20 = 26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</p:txBody>
      </p:sp>
      <p:pic>
        <p:nvPicPr>
          <p:cNvPr id="18437" name="Picture 4" descr="01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57400"/>
            <a:ext cx="2105025" cy="4038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95296-BC8F-4696-A3F2-21E76195C8D8}" type="slidenum">
              <a:rPr lang="en-US" altLang="ko-KR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But the </a:t>
            </a:r>
            <a:r>
              <a:rPr lang="en-US" altLang="ko-KR" sz="2400" b="1" smtClean="0">
                <a:latin typeface="Arial" panose="020B0604020202020204" pitchFamily="34" charset="0"/>
              </a:rPr>
              <a:t>“</a:t>
            </a:r>
            <a:r>
              <a:rPr lang="en-US" altLang="ko-KR" sz="2400" b="1" smtClean="0"/>
              <a:t>precedence</a:t>
            </a:r>
            <a:r>
              <a:rPr lang="en-US" altLang="ko-KR" sz="2400" b="1" smtClean="0">
                <a:latin typeface="Arial" panose="020B0604020202020204" pitchFamily="34" charset="0"/>
              </a:rPr>
              <a:t>”</a:t>
            </a:r>
            <a:r>
              <a:rPr lang="en-US" altLang="ko-KR" sz="2400" b="1" smtClean="0"/>
              <a:t> of operations is only a convention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3810000" cy="15287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Grammar for 70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E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E * T | 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T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T + P |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P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i | ( E 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</p:txBody>
      </p:sp>
      <p:sp>
        <p:nvSpPr>
          <p:cNvPr id="1946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3810000" cy="1293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Grammar for 50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E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E + T | E * T | 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T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i | ( E )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2438400" y="5410200"/>
            <a:ext cx="4038600" cy="83502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>
                <a:solidFill>
                  <a:srgbClr val="0000FF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Draw parse tree of expression 2*3+4*5 for each grammar</a:t>
            </a: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381000" y="4114800"/>
            <a:ext cx="7924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50" charset="-127"/>
              </a:rPr>
              <a:t>All 3 grammars generate exactly the same language, but each has a different semantics (i.e., expression value) for most expressions.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4698C-BBB3-45E5-B4F6-162BE8BDFAA1}" type="slidenum">
              <a:rPr lang="en-US" altLang="ko-KR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Classes of grammars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6324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BNF:</a:t>
            </a:r>
            <a:r>
              <a:rPr lang="en-US" altLang="ko-KR" sz="1800" b="1" smtClean="0">
                <a:latin typeface="Courier New" panose="02070309020205020404" pitchFamily="49" charset="0"/>
              </a:rPr>
              <a:t> Backus-Naur Form - Context free - Type 2 - Already described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Regular grammars:</a:t>
            </a:r>
            <a:r>
              <a:rPr lang="en-US" altLang="ko-KR" sz="1800" b="1" smtClean="0">
                <a:latin typeface="Courier New" panose="02070309020205020404" pitchFamily="49" charset="0"/>
              </a:rPr>
              <a:t> subclass of BNF - Type 3: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BNF rules are restricted: A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t N | 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where: N = nonterminal, t = terminal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Examples: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Binary numbers: B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0 B | 1 B | 0 | 1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Identifiers: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a L | b L | c L |...| z L | a |...| y | z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L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1 L | 2 L |...| 9 L | 0 L | 1 |...| 9 | 0 | a L | b L | c L |...| z L | a |...| y | z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/>
          </a:p>
        </p:txBody>
      </p:sp>
      <p:pic>
        <p:nvPicPr>
          <p:cNvPr id="20485" name="Picture 4" descr="01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575" y="1600200"/>
            <a:ext cx="2016125" cy="3581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7162800" y="5334000"/>
            <a:ext cx="838200" cy="3794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l" latinLnBrk="0"/>
            <a:r>
              <a:rPr kumimoji="0" lang="en-US" altLang="ko-KR" sz="180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50" charset="-127"/>
              </a:rPr>
              <a:t>ab7d</a:t>
            </a:r>
            <a:endParaRPr kumimoji="0" lang="en-US" altLang="ko-KR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DCB04B-CD98-49E2-8A6E-2413B729BD9D}" type="slidenum">
              <a:rPr lang="en-US" altLang="ko-KR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Other classes of grammars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The context free and regular grammars are important for programming language design. We study these in detail.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Other classes have theoretical importance, but not in this course: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Context sensitive grammar:</a:t>
            </a:r>
            <a:r>
              <a:rPr lang="en-US" altLang="ko-KR" sz="1800" b="1" smtClean="0">
                <a:latin typeface="Courier New" panose="02070309020205020404" pitchFamily="49" charset="0"/>
              </a:rPr>
              <a:t> Type 1 - Rules: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ko-KR" sz="1800" b="1" smtClean="0">
                <a:latin typeface="Courier New" panose="02070309020205020404" pitchFamily="49" charset="0"/>
              </a:rPr>
              <a:t> where |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ko-KR" sz="1800" b="1" smtClean="0">
                <a:latin typeface="Courier New" panose="02070309020205020404" pitchFamily="49" charset="0"/>
              </a:rPr>
              <a:t> | </a:t>
            </a:r>
            <a:r>
              <a:rPr lang="en-US" altLang="ko-KR" sz="1800" b="1" smtClean="0">
                <a:latin typeface="Courier New" panose="02070309020205020404" pitchFamily="49" charset="0"/>
                <a:sym typeface="SymbolPS" pitchFamily="18" charset="2"/>
              </a:rPr>
              <a:t></a:t>
            </a:r>
            <a:r>
              <a:rPr lang="en-US" altLang="ko-KR" sz="1800" b="1" smtClean="0">
                <a:latin typeface="Courier New" panose="02070309020205020404" pitchFamily="49" charset="0"/>
              </a:rPr>
              <a:t> |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 </a:t>
            </a:r>
            <a:r>
              <a:rPr lang="en-US" altLang="ko-KR" sz="1800" b="1" smtClean="0">
                <a:latin typeface="Courier New" panose="02070309020205020404" pitchFamily="49" charset="0"/>
              </a:rPr>
              <a:t> | [That is, length of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 </a:t>
            </a:r>
            <a:r>
              <a:rPr lang="en-US" altLang="ko-KR" sz="1800" b="1" smtClean="0">
                <a:latin typeface="Courier New" panose="02070309020205020404" pitchFamily="49" charset="0"/>
                <a:sym typeface="SymbolPS" pitchFamily="18" charset="2"/>
              </a:rPr>
              <a:t></a:t>
            </a:r>
            <a:r>
              <a:rPr lang="en-US" altLang="ko-KR" sz="1800" b="1" smtClean="0">
                <a:latin typeface="Courier New" panose="02070309020205020404" pitchFamily="49" charset="0"/>
              </a:rPr>
              <a:t> length of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ko-KR" sz="1800" b="1" smtClean="0">
                <a:latin typeface="Courier New" panose="02070309020205020404" pitchFamily="49" charset="0"/>
              </a:rPr>
              <a:t>, i.e., all sentential forms are length non-decreasing]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Unrestricted, recursively enumerable:</a:t>
            </a:r>
            <a:r>
              <a:rPr lang="en-US" altLang="ko-KR" sz="1800" b="1" smtClean="0">
                <a:latin typeface="Courier New" panose="02070309020205020404" pitchFamily="49" charset="0"/>
              </a:rPr>
              <a:t> Type 0 -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	Rules: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ko-KR" sz="1800" b="1" smtClean="0">
                <a:latin typeface="Courier New" panose="02070309020205020404" pitchFamily="49" charset="0"/>
              </a:rPr>
              <a:t>. No restrictions on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and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.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000" b="1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3E071-9F99-4148-BB40-3953CE56EE46}" type="slidenum">
              <a:rPr lang="en-US" altLang="ko-KR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The Big Picture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611188" y="1557338"/>
            <a:ext cx="5616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Chomsky Hierarchy of Language Grammars (1956)</a:t>
            </a:r>
          </a:p>
        </p:txBody>
      </p:sp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084388"/>
            <a:ext cx="6669088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9192</TotalTime>
  <Words>1577</Words>
  <Application>Microsoft Office PowerPoint</Application>
  <PresentationFormat>화면 슬라이드 쇼(4:3)</PresentationFormat>
  <Paragraphs>263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바탕</vt:lpstr>
      <vt:lpstr>Arial</vt:lpstr>
      <vt:lpstr>Times New Roman</vt:lpstr>
      <vt:lpstr>굴림</vt:lpstr>
      <vt:lpstr>Wingdings</vt:lpstr>
      <vt:lpstr>Courier New</vt:lpstr>
      <vt:lpstr>Symbol</vt:lpstr>
      <vt:lpstr>SymbolPS</vt:lpstr>
      <vt:lpstr>기본 디자인</vt:lpstr>
      <vt:lpstr>Language translation</vt:lpstr>
      <vt:lpstr>Program structure</vt:lpstr>
      <vt:lpstr>Program structure</vt:lpstr>
      <vt:lpstr>Aspects of a program</vt:lpstr>
      <vt:lpstr>Stages in translating a program</vt:lpstr>
      <vt:lpstr>Major stages </vt:lpstr>
      <vt:lpstr>과정</vt:lpstr>
      <vt:lpstr>Keyword table</vt:lpstr>
      <vt:lpstr>Syntactic analysis </vt:lpstr>
      <vt:lpstr>semantic analysis Symbol table</vt:lpstr>
      <vt:lpstr>Translation environments</vt:lpstr>
      <vt:lpstr>BNF grammars</vt:lpstr>
      <vt:lpstr>Example BNF sentences</vt:lpstr>
      <vt:lpstr>Languages</vt:lpstr>
      <vt:lpstr>Derivations</vt:lpstr>
      <vt:lpstr> Ambiguity</vt:lpstr>
      <vt:lpstr>Role of </vt:lpstr>
      <vt:lpstr>Syntax can be used to determine some semantics</vt:lpstr>
      <vt:lpstr>Usual grammar for expressions</vt:lpstr>
      <vt:lpstr>But the “precedence” of operations is only a convention</vt:lpstr>
      <vt:lpstr>Classes of grammars</vt:lpstr>
      <vt:lpstr>Other classes of grammars</vt:lpstr>
      <vt:lpstr>The Big Picture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14</cp:revision>
  <dcterms:created xsi:type="dcterms:W3CDTF">2000-11-03T06:26:37Z</dcterms:created>
  <dcterms:modified xsi:type="dcterms:W3CDTF">2020-03-31T08:06:22Z</dcterms:modified>
</cp:coreProperties>
</file>