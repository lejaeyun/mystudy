
<file path=[Content_Types].xml><?xml version="1.0" encoding="utf-8"?>
<Types xmlns="http://schemas.openxmlformats.org/package/2006/content-types">
  <Default Extension="bin" ContentType="application/vnd.openxmlformats-officedocument.oleObject"/>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7" r:id="rId1"/>
  </p:sldMasterIdLst>
  <p:notesMasterIdLst>
    <p:notesMasterId r:id="rId35"/>
  </p:notesMasterIdLst>
  <p:handoutMasterIdLst>
    <p:handoutMasterId r:id="rId36"/>
  </p:handoutMasterIdLst>
  <p:sldIdLst>
    <p:sldId id="355" r:id="rId2"/>
    <p:sldId id="359" r:id="rId3"/>
    <p:sldId id="279" r:id="rId4"/>
    <p:sldId id="291" r:id="rId5"/>
    <p:sldId id="292" r:id="rId6"/>
    <p:sldId id="302" r:id="rId7"/>
    <p:sldId id="303" r:id="rId8"/>
    <p:sldId id="305" r:id="rId9"/>
    <p:sldId id="306" r:id="rId10"/>
    <p:sldId id="307" r:id="rId11"/>
    <p:sldId id="323" r:id="rId12"/>
    <p:sldId id="380" r:id="rId13"/>
    <p:sldId id="326" r:id="rId14"/>
    <p:sldId id="360" r:id="rId15"/>
    <p:sldId id="353" r:id="rId16"/>
    <p:sldId id="371" r:id="rId17"/>
    <p:sldId id="381" r:id="rId18"/>
    <p:sldId id="361" r:id="rId19"/>
    <p:sldId id="362" r:id="rId20"/>
    <p:sldId id="363" r:id="rId21"/>
    <p:sldId id="364" r:id="rId22"/>
    <p:sldId id="365" r:id="rId23"/>
    <p:sldId id="366" r:id="rId24"/>
    <p:sldId id="367" r:id="rId25"/>
    <p:sldId id="375" r:id="rId26"/>
    <p:sldId id="376" r:id="rId27"/>
    <p:sldId id="368" r:id="rId28"/>
    <p:sldId id="377" r:id="rId29"/>
    <p:sldId id="369" r:id="rId30"/>
    <p:sldId id="370" r:id="rId31"/>
    <p:sldId id="378" r:id="rId32"/>
    <p:sldId id="379" r:id="rId33"/>
    <p:sldId id="331" r:id="rId34"/>
  </p:sldIdLst>
  <p:sldSz cx="9144000" cy="6858000" type="screen4x3"/>
  <p:notesSz cx="7104063" cy="10234613"/>
  <p:defaultTextStyle>
    <a:defPPr>
      <a:defRPr lang="en-US"/>
    </a:defPPr>
    <a:lvl1pPr algn="l" rtl="0" eaLnBrk="0" fontAlgn="base" hangingPunct="0">
      <a:spcBef>
        <a:spcPct val="0"/>
      </a:spcBef>
      <a:spcAft>
        <a:spcPct val="0"/>
      </a:spcAft>
      <a:defRPr sz="2400" kern="1200">
        <a:solidFill>
          <a:schemeClr val="tx1"/>
        </a:solidFill>
        <a:latin typeface="Times New Roman" pitchFamily="-110"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10"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10"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10"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10" charset="0"/>
        <a:ea typeface="+mn-ea"/>
        <a:cs typeface="+mn-cs"/>
      </a:defRPr>
    </a:lvl5pPr>
    <a:lvl6pPr marL="2286000" algn="l" defTabSz="457200" rtl="0" eaLnBrk="1" latinLnBrk="0" hangingPunct="1">
      <a:defRPr sz="2400" kern="1200">
        <a:solidFill>
          <a:schemeClr val="tx1"/>
        </a:solidFill>
        <a:latin typeface="Times New Roman" pitchFamily="-110" charset="0"/>
        <a:ea typeface="+mn-ea"/>
        <a:cs typeface="+mn-cs"/>
      </a:defRPr>
    </a:lvl6pPr>
    <a:lvl7pPr marL="2743200" algn="l" defTabSz="457200" rtl="0" eaLnBrk="1" latinLnBrk="0" hangingPunct="1">
      <a:defRPr sz="2400" kern="1200">
        <a:solidFill>
          <a:schemeClr val="tx1"/>
        </a:solidFill>
        <a:latin typeface="Times New Roman" pitchFamily="-110" charset="0"/>
        <a:ea typeface="+mn-ea"/>
        <a:cs typeface="+mn-cs"/>
      </a:defRPr>
    </a:lvl7pPr>
    <a:lvl8pPr marL="3200400" algn="l" defTabSz="457200" rtl="0" eaLnBrk="1" latinLnBrk="0" hangingPunct="1">
      <a:defRPr sz="2400" kern="1200">
        <a:solidFill>
          <a:schemeClr val="tx1"/>
        </a:solidFill>
        <a:latin typeface="Times New Roman" pitchFamily="-110" charset="0"/>
        <a:ea typeface="+mn-ea"/>
        <a:cs typeface="+mn-cs"/>
      </a:defRPr>
    </a:lvl8pPr>
    <a:lvl9pPr marL="3657600" algn="l" defTabSz="457200" rtl="0" eaLnBrk="1" latinLnBrk="0" hangingPunct="1">
      <a:defRPr sz="2400" kern="1200">
        <a:solidFill>
          <a:schemeClr val="tx1"/>
        </a:solidFill>
        <a:latin typeface="Times New Roman" pitchFamily="-110"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66FF"/>
    <a:srgbClr val="8000FF"/>
    <a:srgbClr val="6666FF"/>
    <a:srgbClr val="80808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45" autoAdjust="0"/>
    <p:restoredTop sz="97105" autoAdjust="0"/>
  </p:normalViewPr>
  <p:slideViewPr>
    <p:cSldViewPr>
      <p:cViewPr>
        <p:scale>
          <a:sx n="66" d="100"/>
          <a:sy n="66" d="100"/>
        </p:scale>
        <p:origin x="1872" y="430"/>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Lst>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_rels/viewProps.xml.rels><?xml version="1.0" encoding="UTF-8" standalone="yes"?>
<Relationships xmlns="http://schemas.openxmlformats.org/package/2006/relationships"><Relationship Id="rId8" Type="http://schemas.openxmlformats.org/officeDocument/2006/relationships/slide" Target="slides/slide33.xml"/><Relationship Id="rId3" Type="http://schemas.openxmlformats.org/officeDocument/2006/relationships/slide" Target="slides/slide6.xml"/><Relationship Id="rId7" Type="http://schemas.openxmlformats.org/officeDocument/2006/relationships/slide" Target="slides/slide16.xml"/><Relationship Id="rId2" Type="http://schemas.openxmlformats.org/officeDocument/2006/relationships/slide" Target="slides/slide4.xml"/><Relationship Id="rId1" Type="http://schemas.openxmlformats.org/officeDocument/2006/relationships/slide" Target="slides/slide3.xml"/><Relationship Id="rId6" Type="http://schemas.openxmlformats.org/officeDocument/2006/relationships/slide" Target="slides/slide10.xml"/><Relationship Id="rId5" Type="http://schemas.openxmlformats.org/officeDocument/2006/relationships/slide" Target="slides/slide9.xml"/><Relationship Id="rId4"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BAEE847-EAD2-FE40-8C84-DA512223181C}" type="doc">
      <dgm:prSet loTypeId="urn:microsoft.com/office/officeart/2005/8/layout/target3" loCatId="relationship" qsTypeId="urn:microsoft.com/office/officeart/2005/8/quickstyle/simple4" qsCatId="simple" csTypeId="urn:microsoft.com/office/officeart/2005/8/colors/accent1_2" csCatId="accent1" phldr="1"/>
      <dgm:spPr/>
      <dgm:t>
        <a:bodyPr/>
        <a:lstStyle/>
        <a:p>
          <a:endParaRPr lang="en-US"/>
        </a:p>
      </dgm:t>
    </dgm:pt>
    <dgm:pt modelId="{1F9DFB5F-DB72-3648-AF91-4FECE9B6B05B}">
      <dgm:prSet custT="1"/>
      <dgm:spPr/>
      <dgm:t>
        <a:bodyPr/>
        <a:lstStyle/>
        <a:p>
          <a:pPr algn="l" rtl="0"/>
          <a:r>
            <a:rPr lang="en-US" sz="1400" dirty="0"/>
            <a:t>Pipelining</a:t>
          </a:r>
          <a:endParaRPr lang="en-US" sz="2000" dirty="0"/>
        </a:p>
      </dgm:t>
    </dgm:pt>
    <dgm:pt modelId="{4AE55039-A559-5B46-940A-75ACC4386115}" type="parTrans" cxnId="{D4A65260-D363-034C-BC13-9724735933CB}">
      <dgm:prSet/>
      <dgm:spPr/>
      <dgm:t>
        <a:bodyPr/>
        <a:lstStyle/>
        <a:p>
          <a:endParaRPr lang="en-US"/>
        </a:p>
      </dgm:t>
    </dgm:pt>
    <dgm:pt modelId="{E8DDD59A-4B47-2445-810B-652711BDAF3F}" type="sibTrans" cxnId="{D4A65260-D363-034C-BC13-9724735933CB}">
      <dgm:prSet/>
      <dgm:spPr/>
      <dgm:t>
        <a:bodyPr/>
        <a:lstStyle/>
        <a:p>
          <a:endParaRPr lang="en-US"/>
        </a:p>
      </dgm:t>
    </dgm:pt>
    <dgm:pt modelId="{D0904AE8-993E-5942-97B6-306A66DF04F0}">
      <dgm:prSet custT="1"/>
      <dgm:spPr/>
      <dgm:t>
        <a:bodyPr/>
        <a:lstStyle/>
        <a:p>
          <a:pPr rtl="0"/>
          <a:r>
            <a:rPr lang="en-US" sz="1100" dirty="0"/>
            <a:t>Processor moves data or instructions into a conceptual pipe with all stages of the pipe processing simultaneously</a:t>
          </a:r>
        </a:p>
      </dgm:t>
    </dgm:pt>
    <dgm:pt modelId="{9F75FF9E-95F7-3A42-86AC-D87CBB9B2829}" type="parTrans" cxnId="{3F703D20-B38D-0440-87DC-35CF43E74087}">
      <dgm:prSet/>
      <dgm:spPr/>
      <dgm:t>
        <a:bodyPr/>
        <a:lstStyle/>
        <a:p>
          <a:endParaRPr lang="en-US"/>
        </a:p>
      </dgm:t>
    </dgm:pt>
    <dgm:pt modelId="{C6C74CB0-07D1-2444-933E-62ABDDE156FE}" type="sibTrans" cxnId="{3F703D20-B38D-0440-87DC-35CF43E74087}">
      <dgm:prSet/>
      <dgm:spPr/>
      <dgm:t>
        <a:bodyPr/>
        <a:lstStyle/>
        <a:p>
          <a:endParaRPr lang="en-US"/>
        </a:p>
      </dgm:t>
    </dgm:pt>
    <dgm:pt modelId="{9CFA17D8-46EF-D540-AC03-B1D783B08EBB}">
      <dgm:prSet custT="1"/>
      <dgm:spPr/>
      <dgm:t>
        <a:bodyPr/>
        <a:lstStyle/>
        <a:p>
          <a:pPr algn="l" rtl="0"/>
          <a:r>
            <a:rPr lang="en-US" sz="1400" dirty="0"/>
            <a:t>Branch prediction</a:t>
          </a:r>
        </a:p>
      </dgm:t>
    </dgm:pt>
    <dgm:pt modelId="{76F69678-778B-5942-BA13-4C4F290378CC}" type="parTrans" cxnId="{2EC13DCA-044A-5F4E-BFC5-433958E2AAB6}">
      <dgm:prSet/>
      <dgm:spPr/>
      <dgm:t>
        <a:bodyPr/>
        <a:lstStyle/>
        <a:p>
          <a:endParaRPr lang="en-US"/>
        </a:p>
      </dgm:t>
    </dgm:pt>
    <dgm:pt modelId="{C9D2CDA4-3B56-B44E-9256-FA215816FA39}" type="sibTrans" cxnId="{2EC13DCA-044A-5F4E-BFC5-433958E2AAB6}">
      <dgm:prSet/>
      <dgm:spPr/>
      <dgm:t>
        <a:bodyPr/>
        <a:lstStyle/>
        <a:p>
          <a:endParaRPr lang="en-US"/>
        </a:p>
      </dgm:t>
    </dgm:pt>
    <dgm:pt modelId="{39E21E8D-BCE6-874A-8E05-4FFC68AFADA3}">
      <dgm:prSet custT="1"/>
      <dgm:spPr/>
      <dgm:t>
        <a:bodyPr/>
        <a:lstStyle/>
        <a:p>
          <a:pPr rtl="0"/>
          <a:r>
            <a:rPr lang="en-US" sz="1100" dirty="0"/>
            <a:t>Processor looks ahead in the instruction code fetched from memory and predicts which branches, or groups of instructions, are likely to be processed next</a:t>
          </a:r>
        </a:p>
      </dgm:t>
    </dgm:pt>
    <dgm:pt modelId="{D7E8EFC3-C4E7-A34B-B349-9059739AD4BB}" type="parTrans" cxnId="{D89EA3E6-2CA9-904E-B95E-CE3A420575DE}">
      <dgm:prSet/>
      <dgm:spPr/>
      <dgm:t>
        <a:bodyPr/>
        <a:lstStyle/>
        <a:p>
          <a:endParaRPr lang="en-US"/>
        </a:p>
      </dgm:t>
    </dgm:pt>
    <dgm:pt modelId="{A8B5980D-5E5F-7D4B-B523-AC127D7ABF5F}" type="sibTrans" cxnId="{D89EA3E6-2CA9-904E-B95E-CE3A420575DE}">
      <dgm:prSet/>
      <dgm:spPr/>
      <dgm:t>
        <a:bodyPr/>
        <a:lstStyle/>
        <a:p>
          <a:endParaRPr lang="en-US"/>
        </a:p>
      </dgm:t>
    </dgm:pt>
    <dgm:pt modelId="{30C97FF5-6C28-2047-A086-66AB02D8C9E6}">
      <dgm:prSet custT="1"/>
      <dgm:spPr/>
      <dgm:t>
        <a:bodyPr/>
        <a:lstStyle/>
        <a:p>
          <a:pPr algn="l" rtl="0"/>
          <a:r>
            <a:rPr lang="en-US" sz="1400" dirty="0"/>
            <a:t>Data flow analysis</a:t>
          </a:r>
        </a:p>
      </dgm:t>
    </dgm:pt>
    <dgm:pt modelId="{8B33C48A-2DB3-7044-9606-73F5DE3532D7}" type="parTrans" cxnId="{8F91E62B-0F7C-5A42-841A-E7940D3EE6E8}">
      <dgm:prSet/>
      <dgm:spPr/>
      <dgm:t>
        <a:bodyPr/>
        <a:lstStyle/>
        <a:p>
          <a:endParaRPr lang="en-US"/>
        </a:p>
      </dgm:t>
    </dgm:pt>
    <dgm:pt modelId="{39F20121-8F60-EF4F-86A6-AFD0374E46AF}" type="sibTrans" cxnId="{8F91E62B-0F7C-5A42-841A-E7940D3EE6E8}">
      <dgm:prSet/>
      <dgm:spPr/>
      <dgm:t>
        <a:bodyPr/>
        <a:lstStyle/>
        <a:p>
          <a:endParaRPr lang="en-US"/>
        </a:p>
      </dgm:t>
    </dgm:pt>
    <dgm:pt modelId="{1ADEEF36-6D40-D44F-9B35-90E0CDA42AB8}">
      <dgm:prSet custT="1"/>
      <dgm:spPr/>
      <dgm:t>
        <a:bodyPr/>
        <a:lstStyle/>
        <a:p>
          <a:pPr rtl="0"/>
          <a:r>
            <a:rPr lang="en-US" sz="1100" dirty="0"/>
            <a:t>Processor analyzes which instructions are dependent on each other’s results, or data, to create an </a:t>
          </a:r>
          <a:r>
            <a:rPr lang="en-US" sz="1100" dirty="0">
              <a:solidFill>
                <a:srgbClr val="FF0000"/>
              </a:solidFill>
            </a:rPr>
            <a:t>optimized schedule of instructions</a:t>
          </a:r>
        </a:p>
      </dgm:t>
    </dgm:pt>
    <dgm:pt modelId="{8BF2F0E2-2B88-9D4E-9A6B-A4483BF6CDE4}" type="parTrans" cxnId="{46F765FF-7156-694C-984E-6EAE0E5C28A5}">
      <dgm:prSet/>
      <dgm:spPr/>
      <dgm:t>
        <a:bodyPr/>
        <a:lstStyle/>
        <a:p>
          <a:endParaRPr lang="en-US"/>
        </a:p>
      </dgm:t>
    </dgm:pt>
    <dgm:pt modelId="{81FDBB88-0681-8E4E-8D8B-BB30C3BAFA65}" type="sibTrans" cxnId="{46F765FF-7156-694C-984E-6EAE0E5C28A5}">
      <dgm:prSet/>
      <dgm:spPr/>
      <dgm:t>
        <a:bodyPr/>
        <a:lstStyle/>
        <a:p>
          <a:endParaRPr lang="en-US"/>
        </a:p>
      </dgm:t>
    </dgm:pt>
    <dgm:pt modelId="{96FA048A-5310-FE4D-81B2-9D70B7C257AA}">
      <dgm:prSet custT="1"/>
      <dgm:spPr/>
      <dgm:t>
        <a:bodyPr/>
        <a:lstStyle/>
        <a:p>
          <a:pPr algn="l" rtl="0"/>
          <a:r>
            <a:rPr lang="en-US" sz="1400" dirty="0"/>
            <a:t>Speculative execution</a:t>
          </a:r>
        </a:p>
      </dgm:t>
    </dgm:pt>
    <dgm:pt modelId="{E46BF334-3C6C-F643-8363-F7310281F45D}" type="parTrans" cxnId="{1950FF33-8146-2642-B11E-74530D295442}">
      <dgm:prSet/>
      <dgm:spPr/>
      <dgm:t>
        <a:bodyPr/>
        <a:lstStyle/>
        <a:p>
          <a:endParaRPr lang="en-US"/>
        </a:p>
      </dgm:t>
    </dgm:pt>
    <dgm:pt modelId="{AC35690D-9D17-014B-8008-2A5C688BF974}" type="sibTrans" cxnId="{1950FF33-8146-2642-B11E-74530D295442}">
      <dgm:prSet/>
      <dgm:spPr/>
      <dgm:t>
        <a:bodyPr/>
        <a:lstStyle/>
        <a:p>
          <a:endParaRPr lang="en-US"/>
        </a:p>
      </dgm:t>
    </dgm:pt>
    <dgm:pt modelId="{0DA0EBF7-C177-5C4F-9EAE-1A180967A483}">
      <dgm:prSet custT="1"/>
      <dgm:spPr/>
      <dgm:t>
        <a:bodyPr/>
        <a:lstStyle/>
        <a:p>
          <a:pPr rtl="0"/>
          <a:r>
            <a:rPr lang="en-US" sz="1100" dirty="0"/>
            <a:t>Using branch prediction and data flow analysis, some </a:t>
          </a:r>
          <a:r>
            <a:rPr lang="en-US" sz="1100" dirty="0">
              <a:solidFill>
                <a:srgbClr val="FF0000"/>
              </a:solidFill>
            </a:rPr>
            <a:t>processors speculatively execute instructions ahead of their actual appearance in the program execution</a:t>
          </a:r>
          <a:r>
            <a:rPr lang="en-US" sz="1100" dirty="0"/>
            <a:t>, holding the results in temporary locations, keeping execution engines as busy as possible</a:t>
          </a:r>
        </a:p>
      </dgm:t>
    </dgm:pt>
    <dgm:pt modelId="{4A466D16-CBA1-5143-B43C-964C8F088F9E}" type="parTrans" cxnId="{CB9B861B-73E3-1449-BB22-CAF83A6C153E}">
      <dgm:prSet/>
      <dgm:spPr/>
      <dgm:t>
        <a:bodyPr/>
        <a:lstStyle/>
        <a:p>
          <a:endParaRPr lang="en-US"/>
        </a:p>
      </dgm:t>
    </dgm:pt>
    <dgm:pt modelId="{2CF877C0-D3B3-774A-BDC9-CCB09F6CE2DF}" type="sibTrans" cxnId="{CB9B861B-73E3-1449-BB22-CAF83A6C153E}">
      <dgm:prSet/>
      <dgm:spPr/>
      <dgm:t>
        <a:bodyPr/>
        <a:lstStyle/>
        <a:p>
          <a:endParaRPr lang="en-US"/>
        </a:p>
      </dgm:t>
    </dgm:pt>
    <dgm:pt modelId="{8A26F3A1-AB6C-5049-B361-FAF4609B2616}">
      <dgm:prSet custT="1"/>
      <dgm:spPr/>
      <dgm:t>
        <a:bodyPr/>
        <a:lstStyle/>
        <a:p>
          <a:pPr algn="l" rtl="0"/>
          <a:r>
            <a:rPr lang="en-US" sz="1400" dirty="0"/>
            <a:t>Superscalar execution</a:t>
          </a:r>
        </a:p>
      </dgm:t>
    </dgm:pt>
    <dgm:pt modelId="{AC6437F1-8798-1544-BB20-AB95D8409774}" type="parTrans" cxnId="{760301D8-6D8F-3C4B-A4AB-150C60644331}">
      <dgm:prSet/>
      <dgm:spPr/>
      <dgm:t>
        <a:bodyPr/>
        <a:lstStyle/>
        <a:p>
          <a:endParaRPr lang="en-US"/>
        </a:p>
      </dgm:t>
    </dgm:pt>
    <dgm:pt modelId="{1EE08078-6E4D-7842-9B72-3F0C7C3378C4}" type="sibTrans" cxnId="{760301D8-6D8F-3C4B-A4AB-150C60644331}">
      <dgm:prSet/>
      <dgm:spPr/>
      <dgm:t>
        <a:bodyPr/>
        <a:lstStyle/>
        <a:p>
          <a:endParaRPr lang="en-US"/>
        </a:p>
      </dgm:t>
    </dgm:pt>
    <dgm:pt modelId="{CE02E82E-38D7-9F49-B76A-A9DEA9406EA8}">
      <dgm:prSet custT="1"/>
      <dgm:spPr/>
      <dgm:t>
        <a:bodyPr/>
        <a:lstStyle/>
        <a:p>
          <a:pPr rtl="0"/>
          <a:r>
            <a:rPr lang="en-US" sz="1100" dirty="0"/>
            <a:t>This is the ability to issue </a:t>
          </a:r>
          <a:r>
            <a:rPr lang="en-US" sz="1100" dirty="0">
              <a:solidFill>
                <a:srgbClr val="FF0000"/>
              </a:solidFill>
            </a:rPr>
            <a:t>more than one instruction </a:t>
          </a:r>
          <a:r>
            <a:rPr lang="en-US" sz="1100" dirty="0"/>
            <a:t>in every processor clock cycle. (In effect, multiple parallel pipelines are used.)</a:t>
          </a:r>
        </a:p>
      </dgm:t>
    </dgm:pt>
    <dgm:pt modelId="{E3906516-8F1C-4E44-BF3B-DE1A16420EAE}" type="parTrans" cxnId="{A9BAD250-28CD-0A43-8EEB-F79FC2853276}">
      <dgm:prSet/>
      <dgm:spPr/>
      <dgm:t>
        <a:bodyPr/>
        <a:lstStyle/>
        <a:p>
          <a:endParaRPr lang="en-US"/>
        </a:p>
      </dgm:t>
    </dgm:pt>
    <dgm:pt modelId="{D0DB07B7-D114-984D-A8F2-E3D6867CD40F}" type="sibTrans" cxnId="{A9BAD250-28CD-0A43-8EEB-F79FC2853276}">
      <dgm:prSet/>
      <dgm:spPr/>
      <dgm:t>
        <a:bodyPr/>
        <a:lstStyle/>
        <a:p>
          <a:endParaRPr lang="en-US"/>
        </a:p>
      </dgm:t>
    </dgm:pt>
    <dgm:pt modelId="{B5438589-107F-BE44-8E79-B96C087882C3}" type="pres">
      <dgm:prSet presAssocID="{8BAEE847-EAD2-FE40-8C84-DA512223181C}" presName="Name0" presStyleCnt="0">
        <dgm:presLayoutVars>
          <dgm:chMax val="7"/>
          <dgm:dir/>
          <dgm:animLvl val="lvl"/>
          <dgm:resizeHandles val="exact"/>
        </dgm:presLayoutVars>
      </dgm:prSet>
      <dgm:spPr/>
    </dgm:pt>
    <dgm:pt modelId="{8F8399CD-6D80-A04B-A73D-FAE536245E54}" type="pres">
      <dgm:prSet presAssocID="{1F9DFB5F-DB72-3648-AF91-4FECE9B6B05B}" presName="circle1" presStyleLbl="node1" presStyleIdx="0" presStyleCnt="5"/>
      <dgm:spPr/>
    </dgm:pt>
    <dgm:pt modelId="{C8351538-822B-924A-B1CC-4E89FE8D8B98}" type="pres">
      <dgm:prSet presAssocID="{1F9DFB5F-DB72-3648-AF91-4FECE9B6B05B}" presName="space" presStyleCnt="0"/>
      <dgm:spPr/>
    </dgm:pt>
    <dgm:pt modelId="{1C95AEB3-1C20-5849-B1AE-D3E218984151}" type="pres">
      <dgm:prSet presAssocID="{1F9DFB5F-DB72-3648-AF91-4FECE9B6B05B}" presName="rect1" presStyleLbl="alignAcc1" presStyleIdx="0" presStyleCnt="5"/>
      <dgm:spPr/>
    </dgm:pt>
    <dgm:pt modelId="{E5E6FCE1-34FD-AE40-955F-2C56C6769BE6}" type="pres">
      <dgm:prSet presAssocID="{9CFA17D8-46EF-D540-AC03-B1D783B08EBB}" presName="vertSpace2" presStyleLbl="node1" presStyleIdx="0" presStyleCnt="5"/>
      <dgm:spPr/>
    </dgm:pt>
    <dgm:pt modelId="{95965867-777A-B244-9440-59A3ABA67E2E}" type="pres">
      <dgm:prSet presAssocID="{9CFA17D8-46EF-D540-AC03-B1D783B08EBB}" presName="circle2" presStyleLbl="node1" presStyleIdx="1" presStyleCnt="5"/>
      <dgm:spPr/>
    </dgm:pt>
    <dgm:pt modelId="{62C26FB8-F960-704B-9B69-4C5DA54F634F}" type="pres">
      <dgm:prSet presAssocID="{9CFA17D8-46EF-D540-AC03-B1D783B08EBB}" presName="rect2" presStyleLbl="alignAcc1" presStyleIdx="1" presStyleCnt="5"/>
      <dgm:spPr/>
    </dgm:pt>
    <dgm:pt modelId="{21097EEF-7F32-5B40-849F-5D64D8FB6490}" type="pres">
      <dgm:prSet presAssocID="{8A26F3A1-AB6C-5049-B361-FAF4609B2616}" presName="vertSpace3" presStyleLbl="node1" presStyleIdx="1" presStyleCnt="5"/>
      <dgm:spPr/>
    </dgm:pt>
    <dgm:pt modelId="{8980E4CE-FAE8-4640-865E-DD474CAE12ED}" type="pres">
      <dgm:prSet presAssocID="{8A26F3A1-AB6C-5049-B361-FAF4609B2616}" presName="circle3" presStyleLbl="node1" presStyleIdx="2" presStyleCnt="5"/>
      <dgm:spPr/>
    </dgm:pt>
    <dgm:pt modelId="{8A0AD6EA-0B5C-914A-9F0A-CC84B3884EAA}" type="pres">
      <dgm:prSet presAssocID="{8A26F3A1-AB6C-5049-B361-FAF4609B2616}" presName="rect3" presStyleLbl="alignAcc1" presStyleIdx="2" presStyleCnt="5"/>
      <dgm:spPr/>
    </dgm:pt>
    <dgm:pt modelId="{C5C34AE3-0941-7F41-AEFA-33EA5ED8EA8E}" type="pres">
      <dgm:prSet presAssocID="{30C97FF5-6C28-2047-A086-66AB02D8C9E6}" presName="vertSpace4" presStyleLbl="node1" presStyleIdx="2" presStyleCnt="5"/>
      <dgm:spPr/>
    </dgm:pt>
    <dgm:pt modelId="{8FC3D4C7-6020-F347-A658-FE974C7C2633}" type="pres">
      <dgm:prSet presAssocID="{30C97FF5-6C28-2047-A086-66AB02D8C9E6}" presName="circle4" presStyleLbl="node1" presStyleIdx="3" presStyleCnt="5"/>
      <dgm:spPr/>
    </dgm:pt>
    <dgm:pt modelId="{3912B40C-E4AB-4443-8E49-43D36F560895}" type="pres">
      <dgm:prSet presAssocID="{30C97FF5-6C28-2047-A086-66AB02D8C9E6}" presName="rect4" presStyleLbl="alignAcc1" presStyleIdx="3" presStyleCnt="5" custLinFactNeighborX="180" custLinFactNeighborY="-2303"/>
      <dgm:spPr/>
    </dgm:pt>
    <dgm:pt modelId="{8D91002D-285F-B140-9CB7-BDD1A1FA0E36}" type="pres">
      <dgm:prSet presAssocID="{96FA048A-5310-FE4D-81B2-9D70B7C257AA}" presName="vertSpace5" presStyleLbl="node1" presStyleIdx="3" presStyleCnt="5"/>
      <dgm:spPr/>
    </dgm:pt>
    <dgm:pt modelId="{8CA8964D-0088-5C41-B5B6-C7928BBF95DC}" type="pres">
      <dgm:prSet presAssocID="{96FA048A-5310-FE4D-81B2-9D70B7C257AA}" presName="circle5" presStyleLbl="node1" presStyleIdx="4" presStyleCnt="5"/>
      <dgm:spPr/>
    </dgm:pt>
    <dgm:pt modelId="{4E35B49C-BBBC-DB45-BDFD-E61EAF99AC87}" type="pres">
      <dgm:prSet presAssocID="{96FA048A-5310-FE4D-81B2-9D70B7C257AA}" presName="rect5" presStyleLbl="alignAcc1" presStyleIdx="4" presStyleCnt="5" custScaleX="100000" custLinFactNeighborX="107" custLinFactNeighborY="-4059"/>
      <dgm:spPr/>
    </dgm:pt>
    <dgm:pt modelId="{FDF68C10-93C2-9847-8923-5DAB69061B5C}" type="pres">
      <dgm:prSet presAssocID="{1F9DFB5F-DB72-3648-AF91-4FECE9B6B05B}" presName="rect1ParTx" presStyleLbl="alignAcc1" presStyleIdx="4" presStyleCnt="5">
        <dgm:presLayoutVars>
          <dgm:chMax val="1"/>
          <dgm:bulletEnabled val="1"/>
        </dgm:presLayoutVars>
      </dgm:prSet>
      <dgm:spPr/>
    </dgm:pt>
    <dgm:pt modelId="{9625A8A9-4E22-1C45-8780-F620536E0AB6}" type="pres">
      <dgm:prSet presAssocID="{1F9DFB5F-DB72-3648-AF91-4FECE9B6B05B}" presName="rect1ChTx" presStyleLbl="alignAcc1" presStyleIdx="4" presStyleCnt="5" custScaleX="143088" custLinFactNeighborX="-22110" custLinFactNeighborY="9987">
        <dgm:presLayoutVars>
          <dgm:bulletEnabled val="1"/>
        </dgm:presLayoutVars>
      </dgm:prSet>
      <dgm:spPr/>
    </dgm:pt>
    <dgm:pt modelId="{1296813F-D39B-814D-848B-44B53BD6057E}" type="pres">
      <dgm:prSet presAssocID="{9CFA17D8-46EF-D540-AC03-B1D783B08EBB}" presName="rect2ParTx" presStyleLbl="alignAcc1" presStyleIdx="4" presStyleCnt="5">
        <dgm:presLayoutVars>
          <dgm:chMax val="1"/>
          <dgm:bulletEnabled val="1"/>
        </dgm:presLayoutVars>
      </dgm:prSet>
      <dgm:spPr/>
    </dgm:pt>
    <dgm:pt modelId="{B8C4BD7A-9494-904F-8FD8-EAB30AD1C9C2}" type="pres">
      <dgm:prSet presAssocID="{9CFA17D8-46EF-D540-AC03-B1D783B08EBB}" presName="rect2ChTx" presStyleLbl="alignAcc1" presStyleIdx="4" presStyleCnt="5" custScaleX="119380" custLinFactNeighborX="-11854" custLinFactNeighborY="-3521">
        <dgm:presLayoutVars>
          <dgm:bulletEnabled val="1"/>
        </dgm:presLayoutVars>
      </dgm:prSet>
      <dgm:spPr/>
    </dgm:pt>
    <dgm:pt modelId="{4CD70E50-5CB8-974F-99E3-860FEAB27838}" type="pres">
      <dgm:prSet presAssocID="{8A26F3A1-AB6C-5049-B361-FAF4609B2616}" presName="rect3ParTx" presStyleLbl="alignAcc1" presStyleIdx="4" presStyleCnt="5">
        <dgm:presLayoutVars>
          <dgm:chMax val="1"/>
          <dgm:bulletEnabled val="1"/>
        </dgm:presLayoutVars>
      </dgm:prSet>
      <dgm:spPr/>
    </dgm:pt>
    <dgm:pt modelId="{9D7E2566-676D-9E41-99C2-0953099D924D}" type="pres">
      <dgm:prSet presAssocID="{8A26F3A1-AB6C-5049-B361-FAF4609B2616}" presName="rect3ChTx" presStyleLbl="alignAcc1" presStyleIdx="4" presStyleCnt="5" custScaleX="129823" custLinFactNeighborX="-15476" custLinFactNeighborY="296">
        <dgm:presLayoutVars>
          <dgm:bulletEnabled val="1"/>
        </dgm:presLayoutVars>
      </dgm:prSet>
      <dgm:spPr/>
    </dgm:pt>
    <dgm:pt modelId="{C047E8FF-ABA5-3248-AA1A-9A4239A7E3E6}" type="pres">
      <dgm:prSet presAssocID="{30C97FF5-6C28-2047-A086-66AB02D8C9E6}" presName="rect4ParTx" presStyleLbl="alignAcc1" presStyleIdx="4" presStyleCnt="5">
        <dgm:presLayoutVars>
          <dgm:chMax val="1"/>
          <dgm:bulletEnabled val="1"/>
        </dgm:presLayoutVars>
      </dgm:prSet>
      <dgm:spPr/>
    </dgm:pt>
    <dgm:pt modelId="{B4AAA73C-1031-C544-BDD6-9B9C29452A80}" type="pres">
      <dgm:prSet presAssocID="{30C97FF5-6C28-2047-A086-66AB02D8C9E6}" presName="rect4ChTx" presStyleLbl="alignAcc1" presStyleIdx="4" presStyleCnt="5" custScaleX="132064" custLinFactNeighborX="-16567" custLinFactNeighborY="-14763">
        <dgm:presLayoutVars>
          <dgm:bulletEnabled val="1"/>
        </dgm:presLayoutVars>
      </dgm:prSet>
      <dgm:spPr/>
    </dgm:pt>
    <dgm:pt modelId="{67BD0849-4A79-D541-90FC-E48AB8D34DEE}" type="pres">
      <dgm:prSet presAssocID="{96FA048A-5310-FE4D-81B2-9D70B7C257AA}" presName="rect5ParTx" presStyleLbl="alignAcc1" presStyleIdx="4" presStyleCnt="5">
        <dgm:presLayoutVars>
          <dgm:chMax val="1"/>
          <dgm:bulletEnabled val="1"/>
        </dgm:presLayoutVars>
      </dgm:prSet>
      <dgm:spPr/>
    </dgm:pt>
    <dgm:pt modelId="{BB5D0C00-E641-934E-AE39-CCC5D85D9568}" type="pres">
      <dgm:prSet presAssocID="{96FA048A-5310-FE4D-81B2-9D70B7C257AA}" presName="rect5ChTx" presStyleLbl="alignAcc1" presStyleIdx="4" presStyleCnt="5" custScaleX="144449" custLinFactNeighborX="-21429" custLinFactNeighborY="-1509">
        <dgm:presLayoutVars>
          <dgm:bulletEnabled val="1"/>
        </dgm:presLayoutVars>
      </dgm:prSet>
      <dgm:spPr/>
    </dgm:pt>
  </dgm:ptLst>
  <dgm:cxnLst>
    <dgm:cxn modelId="{8C44C30A-E064-7744-B4A2-1C94E483A490}" type="presOf" srcId="{CE02E82E-38D7-9F49-B76A-A9DEA9406EA8}" destId="{9D7E2566-676D-9E41-99C2-0953099D924D}" srcOrd="0" destOrd="0" presId="urn:microsoft.com/office/officeart/2005/8/layout/target3"/>
    <dgm:cxn modelId="{C517610C-5B74-2F41-A242-FA5CFF08BF4A}" type="presOf" srcId="{0DA0EBF7-C177-5C4F-9EAE-1A180967A483}" destId="{BB5D0C00-E641-934E-AE39-CCC5D85D9568}" srcOrd="0" destOrd="0" presId="urn:microsoft.com/office/officeart/2005/8/layout/target3"/>
    <dgm:cxn modelId="{0543E415-2607-204C-A468-518EB5E730BA}" type="presOf" srcId="{30C97FF5-6C28-2047-A086-66AB02D8C9E6}" destId="{C047E8FF-ABA5-3248-AA1A-9A4239A7E3E6}" srcOrd="1" destOrd="0" presId="urn:microsoft.com/office/officeart/2005/8/layout/target3"/>
    <dgm:cxn modelId="{CB9B861B-73E3-1449-BB22-CAF83A6C153E}" srcId="{96FA048A-5310-FE4D-81B2-9D70B7C257AA}" destId="{0DA0EBF7-C177-5C4F-9EAE-1A180967A483}" srcOrd="0" destOrd="0" parTransId="{4A466D16-CBA1-5143-B43C-964C8F088F9E}" sibTransId="{2CF877C0-D3B3-774A-BDC9-CCB09F6CE2DF}"/>
    <dgm:cxn modelId="{3F703D20-B38D-0440-87DC-35CF43E74087}" srcId="{1F9DFB5F-DB72-3648-AF91-4FECE9B6B05B}" destId="{D0904AE8-993E-5942-97B6-306A66DF04F0}" srcOrd="0" destOrd="0" parTransId="{9F75FF9E-95F7-3A42-86AC-D87CBB9B2829}" sibTransId="{C6C74CB0-07D1-2444-933E-62ABDDE156FE}"/>
    <dgm:cxn modelId="{8F91E62B-0F7C-5A42-841A-E7940D3EE6E8}" srcId="{8BAEE847-EAD2-FE40-8C84-DA512223181C}" destId="{30C97FF5-6C28-2047-A086-66AB02D8C9E6}" srcOrd="3" destOrd="0" parTransId="{8B33C48A-2DB3-7044-9606-73F5DE3532D7}" sibTransId="{39F20121-8F60-EF4F-86A6-AFD0374E46AF}"/>
    <dgm:cxn modelId="{1F75482D-39EF-5641-9DD0-57C267687981}" type="presOf" srcId="{8A26F3A1-AB6C-5049-B361-FAF4609B2616}" destId="{4CD70E50-5CB8-974F-99E3-860FEAB27838}" srcOrd="1" destOrd="0" presId="urn:microsoft.com/office/officeart/2005/8/layout/target3"/>
    <dgm:cxn modelId="{1950FF33-8146-2642-B11E-74530D295442}" srcId="{8BAEE847-EAD2-FE40-8C84-DA512223181C}" destId="{96FA048A-5310-FE4D-81B2-9D70B7C257AA}" srcOrd="4" destOrd="0" parTransId="{E46BF334-3C6C-F643-8363-F7310281F45D}" sibTransId="{AC35690D-9D17-014B-8008-2A5C688BF974}"/>
    <dgm:cxn modelId="{D4A65260-D363-034C-BC13-9724735933CB}" srcId="{8BAEE847-EAD2-FE40-8C84-DA512223181C}" destId="{1F9DFB5F-DB72-3648-AF91-4FECE9B6B05B}" srcOrd="0" destOrd="0" parTransId="{4AE55039-A559-5B46-940A-75ACC4386115}" sibTransId="{E8DDD59A-4B47-2445-810B-652711BDAF3F}"/>
    <dgm:cxn modelId="{A9BAD250-28CD-0A43-8EEB-F79FC2853276}" srcId="{8A26F3A1-AB6C-5049-B361-FAF4609B2616}" destId="{CE02E82E-38D7-9F49-B76A-A9DEA9406EA8}" srcOrd="0" destOrd="0" parTransId="{E3906516-8F1C-4E44-BF3B-DE1A16420EAE}" sibTransId="{D0DB07B7-D114-984D-A8F2-E3D6867CD40F}"/>
    <dgm:cxn modelId="{3124647B-CEF8-0348-A8DC-6017A38138EE}" type="presOf" srcId="{39E21E8D-BCE6-874A-8E05-4FFC68AFADA3}" destId="{B8C4BD7A-9494-904F-8FD8-EAB30AD1C9C2}" srcOrd="0" destOrd="0" presId="urn:microsoft.com/office/officeart/2005/8/layout/target3"/>
    <dgm:cxn modelId="{9EA4899C-801D-5844-8093-9EE9020D6B92}" type="presOf" srcId="{8BAEE847-EAD2-FE40-8C84-DA512223181C}" destId="{B5438589-107F-BE44-8E79-B96C087882C3}" srcOrd="0" destOrd="0" presId="urn:microsoft.com/office/officeart/2005/8/layout/target3"/>
    <dgm:cxn modelId="{DBA6C5A0-FE3E-9842-A01C-F83FB7771255}" type="presOf" srcId="{D0904AE8-993E-5942-97B6-306A66DF04F0}" destId="{9625A8A9-4E22-1C45-8780-F620536E0AB6}" srcOrd="0" destOrd="0" presId="urn:microsoft.com/office/officeart/2005/8/layout/target3"/>
    <dgm:cxn modelId="{493CC3A7-89C9-FC4D-AA12-8C4FCAA641E6}" type="presOf" srcId="{1F9DFB5F-DB72-3648-AF91-4FECE9B6B05B}" destId="{FDF68C10-93C2-9847-8923-5DAB69061B5C}" srcOrd="1" destOrd="0" presId="urn:microsoft.com/office/officeart/2005/8/layout/target3"/>
    <dgm:cxn modelId="{B5E7D4A8-5E1B-B541-96F4-801FA261EC47}" type="presOf" srcId="{96FA048A-5310-FE4D-81B2-9D70B7C257AA}" destId="{67BD0849-4A79-D541-90FC-E48AB8D34DEE}" srcOrd="1" destOrd="0" presId="urn:microsoft.com/office/officeart/2005/8/layout/target3"/>
    <dgm:cxn modelId="{4FD956BC-F778-8147-824F-46C487539D26}" type="presOf" srcId="{1F9DFB5F-DB72-3648-AF91-4FECE9B6B05B}" destId="{1C95AEB3-1C20-5849-B1AE-D3E218984151}" srcOrd="0" destOrd="0" presId="urn:microsoft.com/office/officeart/2005/8/layout/target3"/>
    <dgm:cxn modelId="{2EC13DCA-044A-5F4E-BFC5-433958E2AAB6}" srcId="{8BAEE847-EAD2-FE40-8C84-DA512223181C}" destId="{9CFA17D8-46EF-D540-AC03-B1D783B08EBB}" srcOrd="1" destOrd="0" parTransId="{76F69678-778B-5942-BA13-4C4F290378CC}" sibTransId="{C9D2CDA4-3B56-B44E-9256-FA215816FA39}"/>
    <dgm:cxn modelId="{70761CD2-A649-644E-9CB9-F7DC2012EE36}" type="presOf" srcId="{9CFA17D8-46EF-D540-AC03-B1D783B08EBB}" destId="{1296813F-D39B-814D-848B-44B53BD6057E}" srcOrd="1" destOrd="0" presId="urn:microsoft.com/office/officeart/2005/8/layout/target3"/>
    <dgm:cxn modelId="{97423DD5-2B0D-ED49-A726-E649080C84EC}" type="presOf" srcId="{9CFA17D8-46EF-D540-AC03-B1D783B08EBB}" destId="{62C26FB8-F960-704B-9B69-4C5DA54F634F}" srcOrd="0" destOrd="0" presId="urn:microsoft.com/office/officeart/2005/8/layout/target3"/>
    <dgm:cxn modelId="{760301D8-6D8F-3C4B-A4AB-150C60644331}" srcId="{8BAEE847-EAD2-FE40-8C84-DA512223181C}" destId="{8A26F3A1-AB6C-5049-B361-FAF4609B2616}" srcOrd="2" destOrd="0" parTransId="{AC6437F1-8798-1544-BB20-AB95D8409774}" sibTransId="{1EE08078-6E4D-7842-9B72-3F0C7C3378C4}"/>
    <dgm:cxn modelId="{3DFF21E3-F2C8-4C49-9D7F-7E92EB9D4F2C}" type="presOf" srcId="{96FA048A-5310-FE4D-81B2-9D70B7C257AA}" destId="{4E35B49C-BBBC-DB45-BDFD-E61EAF99AC87}" srcOrd="0" destOrd="0" presId="urn:microsoft.com/office/officeart/2005/8/layout/target3"/>
    <dgm:cxn modelId="{205C9DE3-2B2A-374C-A313-28A852AD70DF}" type="presOf" srcId="{1ADEEF36-6D40-D44F-9B35-90E0CDA42AB8}" destId="{B4AAA73C-1031-C544-BDD6-9B9C29452A80}" srcOrd="0" destOrd="0" presId="urn:microsoft.com/office/officeart/2005/8/layout/target3"/>
    <dgm:cxn modelId="{AA4077E6-98AB-8548-A1A9-4EDCD357F6AF}" type="presOf" srcId="{30C97FF5-6C28-2047-A086-66AB02D8C9E6}" destId="{3912B40C-E4AB-4443-8E49-43D36F560895}" srcOrd="0" destOrd="0" presId="urn:microsoft.com/office/officeart/2005/8/layout/target3"/>
    <dgm:cxn modelId="{D89EA3E6-2CA9-904E-B95E-CE3A420575DE}" srcId="{9CFA17D8-46EF-D540-AC03-B1D783B08EBB}" destId="{39E21E8D-BCE6-874A-8E05-4FFC68AFADA3}" srcOrd="0" destOrd="0" parTransId="{D7E8EFC3-C4E7-A34B-B349-9059739AD4BB}" sibTransId="{A8B5980D-5E5F-7D4B-B523-AC127D7ABF5F}"/>
    <dgm:cxn modelId="{46F765FF-7156-694C-984E-6EAE0E5C28A5}" srcId="{30C97FF5-6C28-2047-A086-66AB02D8C9E6}" destId="{1ADEEF36-6D40-D44F-9B35-90E0CDA42AB8}" srcOrd="0" destOrd="0" parTransId="{8BF2F0E2-2B88-9D4E-9A6B-A4483BF6CDE4}" sibTransId="{81FDBB88-0681-8E4E-8D8B-BB30C3BAFA65}"/>
    <dgm:cxn modelId="{301294FF-4AF4-D043-8E38-F8EB23367CB3}" type="presOf" srcId="{8A26F3A1-AB6C-5049-B361-FAF4609B2616}" destId="{8A0AD6EA-0B5C-914A-9F0A-CC84B3884EAA}" srcOrd="0" destOrd="0" presId="urn:microsoft.com/office/officeart/2005/8/layout/target3"/>
    <dgm:cxn modelId="{9337C14B-1017-AC44-91CB-F0CA4DC8148D}" type="presParOf" srcId="{B5438589-107F-BE44-8E79-B96C087882C3}" destId="{8F8399CD-6D80-A04B-A73D-FAE536245E54}" srcOrd="0" destOrd="0" presId="urn:microsoft.com/office/officeart/2005/8/layout/target3"/>
    <dgm:cxn modelId="{163E5219-EE5D-1B4E-ACD5-9CE2B956510E}" type="presParOf" srcId="{B5438589-107F-BE44-8E79-B96C087882C3}" destId="{C8351538-822B-924A-B1CC-4E89FE8D8B98}" srcOrd="1" destOrd="0" presId="urn:microsoft.com/office/officeart/2005/8/layout/target3"/>
    <dgm:cxn modelId="{9D8077DD-7DA2-594D-B3F3-BC397BEA446A}" type="presParOf" srcId="{B5438589-107F-BE44-8E79-B96C087882C3}" destId="{1C95AEB3-1C20-5849-B1AE-D3E218984151}" srcOrd="2" destOrd="0" presId="urn:microsoft.com/office/officeart/2005/8/layout/target3"/>
    <dgm:cxn modelId="{EF9A5943-94B4-EC45-80D5-9D88AB543EB2}" type="presParOf" srcId="{B5438589-107F-BE44-8E79-B96C087882C3}" destId="{E5E6FCE1-34FD-AE40-955F-2C56C6769BE6}" srcOrd="3" destOrd="0" presId="urn:microsoft.com/office/officeart/2005/8/layout/target3"/>
    <dgm:cxn modelId="{3769CB35-6124-BE47-82AD-A1EEF720959C}" type="presParOf" srcId="{B5438589-107F-BE44-8E79-B96C087882C3}" destId="{95965867-777A-B244-9440-59A3ABA67E2E}" srcOrd="4" destOrd="0" presId="urn:microsoft.com/office/officeart/2005/8/layout/target3"/>
    <dgm:cxn modelId="{1CA8701D-C0A4-DC41-A43A-88918726A5B6}" type="presParOf" srcId="{B5438589-107F-BE44-8E79-B96C087882C3}" destId="{62C26FB8-F960-704B-9B69-4C5DA54F634F}" srcOrd="5" destOrd="0" presId="urn:microsoft.com/office/officeart/2005/8/layout/target3"/>
    <dgm:cxn modelId="{2838EB30-9379-E042-8BA4-A0A280417150}" type="presParOf" srcId="{B5438589-107F-BE44-8E79-B96C087882C3}" destId="{21097EEF-7F32-5B40-849F-5D64D8FB6490}" srcOrd="6" destOrd="0" presId="urn:microsoft.com/office/officeart/2005/8/layout/target3"/>
    <dgm:cxn modelId="{9BB45B1D-656D-FC4D-9532-5278DBE01C23}" type="presParOf" srcId="{B5438589-107F-BE44-8E79-B96C087882C3}" destId="{8980E4CE-FAE8-4640-865E-DD474CAE12ED}" srcOrd="7" destOrd="0" presId="urn:microsoft.com/office/officeart/2005/8/layout/target3"/>
    <dgm:cxn modelId="{0CCBD73A-C2E5-B247-AE15-32F655193A9D}" type="presParOf" srcId="{B5438589-107F-BE44-8E79-B96C087882C3}" destId="{8A0AD6EA-0B5C-914A-9F0A-CC84B3884EAA}" srcOrd="8" destOrd="0" presId="urn:microsoft.com/office/officeart/2005/8/layout/target3"/>
    <dgm:cxn modelId="{C0F6B8D5-8098-5D4C-98D6-A7F9626720DB}" type="presParOf" srcId="{B5438589-107F-BE44-8E79-B96C087882C3}" destId="{C5C34AE3-0941-7F41-AEFA-33EA5ED8EA8E}" srcOrd="9" destOrd="0" presId="urn:microsoft.com/office/officeart/2005/8/layout/target3"/>
    <dgm:cxn modelId="{C0125645-5CD3-8746-BA79-4184EA7DA9E1}" type="presParOf" srcId="{B5438589-107F-BE44-8E79-B96C087882C3}" destId="{8FC3D4C7-6020-F347-A658-FE974C7C2633}" srcOrd="10" destOrd="0" presId="urn:microsoft.com/office/officeart/2005/8/layout/target3"/>
    <dgm:cxn modelId="{B522517D-4297-C44E-9B0D-4039E46AFA24}" type="presParOf" srcId="{B5438589-107F-BE44-8E79-B96C087882C3}" destId="{3912B40C-E4AB-4443-8E49-43D36F560895}" srcOrd="11" destOrd="0" presId="urn:microsoft.com/office/officeart/2005/8/layout/target3"/>
    <dgm:cxn modelId="{E161E772-0EA3-794C-B896-92A24A2298EC}" type="presParOf" srcId="{B5438589-107F-BE44-8E79-B96C087882C3}" destId="{8D91002D-285F-B140-9CB7-BDD1A1FA0E36}" srcOrd="12" destOrd="0" presId="urn:microsoft.com/office/officeart/2005/8/layout/target3"/>
    <dgm:cxn modelId="{08386E96-D699-CF41-AE08-2AAD0B39FB45}" type="presParOf" srcId="{B5438589-107F-BE44-8E79-B96C087882C3}" destId="{8CA8964D-0088-5C41-B5B6-C7928BBF95DC}" srcOrd="13" destOrd="0" presId="urn:microsoft.com/office/officeart/2005/8/layout/target3"/>
    <dgm:cxn modelId="{5969DB80-B243-0341-9494-70E131A79C21}" type="presParOf" srcId="{B5438589-107F-BE44-8E79-B96C087882C3}" destId="{4E35B49C-BBBC-DB45-BDFD-E61EAF99AC87}" srcOrd="14" destOrd="0" presId="urn:microsoft.com/office/officeart/2005/8/layout/target3"/>
    <dgm:cxn modelId="{5DD8A149-6B30-7548-A206-FC2CA8546DD3}" type="presParOf" srcId="{B5438589-107F-BE44-8E79-B96C087882C3}" destId="{FDF68C10-93C2-9847-8923-5DAB69061B5C}" srcOrd="15" destOrd="0" presId="urn:microsoft.com/office/officeart/2005/8/layout/target3"/>
    <dgm:cxn modelId="{80F29C6B-BB39-8A49-BB25-7D13885F5DD2}" type="presParOf" srcId="{B5438589-107F-BE44-8E79-B96C087882C3}" destId="{9625A8A9-4E22-1C45-8780-F620536E0AB6}" srcOrd="16" destOrd="0" presId="urn:microsoft.com/office/officeart/2005/8/layout/target3"/>
    <dgm:cxn modelId="{13F5F08D-CE69-8342-9A37-43AE6D23DDB6}" type="presParOf" srcId="{B5438589-107F-BE44-8E79-B96C087882C3}" destId="{1296813F-D39B-814D-848B-44B53BD6057E}" srcOrd="17" destOrd="0" presId="urn:microsoft.com/office/officeart/2005/8/layout/target3"/>
    <dgm:cxn modelId="{0F98E1D4-37E0-6E43-B731-D970A6053B92}" type="presParOf" srcId="{B5438589-107F-BE44-8E79-B96C087882C3}" destId="{B8C4BD7A-9494-904F-8FD8-EAB30AD1C9C2}" srcOrd="18" destOrd="0" presId="urn:microsoft.com/office/officeart/2005/8/layout/target3"/>
    <dgm:cxn modelId="{FC9C352E-88E2-1649-896D-A2F9EE815967}" type="presParOf" srcId="{B5438589-107F-BE44-8E79-B96C087882C3}" destId="{4CD70E50-5CB8-974F-99E3-860FEAB27838}" srcOrd="19" destOrd="0" presId="urn:microsoft.com/office/officeart/2005/8/layout/target3"/>
    <dgm:cxn modelId="{DDDE13AE-CC34-8446-9A0C-A649F9F6223A}" type="presParOf" srcId="{B5438589-107F-BE44-8E79-B96C087882C3}" destId="{9D7E2566-676D-9E41-99C2-0953099D924D}" srcOrd="20" destOrd="0" presId="urn:microsoft.com/office/officeart/2005/8/layout/target3"/>
    <dgm:cxn modelId="{F97C5BBA-6C8E-924D-9834-74B9C0B99ECA}" type="presParOf" srcId="{B5438589-107F-BE44-8E79-B96C087882C3}" destId="{C047E8FF-ABA5-3248-AA1A-9A4239A7E3E6}" srcOrd="21" destOrd="0" presId="urn:microsoft.com/office/officeart/2005/8/layout/target3"/>
    <dgm:cxn modelId="{5D083E1E-D0C1-0645-A810-66B443A8962C}" type="presParOf" srcId="{B5438589-107F-BE44-8E79-B96C087882C3}" destId="{B4AAA73C-1031-C544-BDD6-9B9C29452A80}" srcOrd="22" destOrd="0" presId="urn:microsoft.com/office/officeart/2005/8/layout/target3"/>
    <dgm:cxn modelId="{7AEA94CD-3EDF-F340-9697-00E5D0134088}" type="presParOf" srcId="{B5438589-107F-BE44-8E79-B96C087882C3}" destId="{67BD0849-4A79-D541-90FC-E48AB8D34DEE}" srcOrd="23" destOrd="0" presId="urn:microsoft.com/office/officeart/2005/8/layout/target3"/>
    <dgm:cxn modelId="{DAB33B87-0516-414F-B1FE-7F17EDBB379D}" type="presParOf" srcId="{B5438589-107F-BE44-8E79-B96C087882C3}" destId="{BB5D0C00-E641-934E-AE39-CCC5D85D9568}" srcOrd="24"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DEEB0FD-18FA-9C4A-92E6-3737DBB7AA4C}" type="doc">
      <dgm:prSet loTypeId="urn:microsoft.com/office/officeart/2005/8/layout/pyramid4" loCatId="pyramid" qsTypeId="urn:microsoft.com/office/officeart/2005/8/quickstyle/simple1" qsCatId="simple" csTypeId="urn:microsoft.com/office/officeart/2005/8/colors/accent3_1" csCatId="accent3" phldr="1"/>
      <dgm:spPr/>
      <dgm:t>
        <a:bodyPr/>
        <a:lstStyle/>
        <a:p>
          <a:endParaRPr lang="en-US"/>
        </a:p>
      </dgm:t>
    </dgm:pt>
    <dgm:pt modelId="{9AB80C6C-0116-6D42-BEF1-145881EFCDD8}">
      <dgm:prSet/>
      <dgm:spPr/>
      <dgm:t>
        <a:bodyPr/>
        <a:lstStyle/>
        <a:p>
          <a:pPr rtl="0"/>
          <a:r>
            <a:rPr lang="en-US" b="1" dirty="0">
              <a:solidFill>
                <a:srgbClr val="C00000"/>
              </a:solidFill>
              <a:effectLst/>
            </a:rPr>
            <a:t>Increase the number of bits that are retrieved at one time </a:t>
          </a:r>
          <a:r>
            <a:rPr lang="en-US" b="1" dirty="0">
              <a:effectLst/>
            </a:rPr>
            <a:t>by making DRAMs “wider” rather than “deeper” and by using wide bus data paths</a:t>
          </a:r>
        </a:p>
      </dgm:t>
    </dgm:pt>
    <dgm:pt modelId="{219CBE61-046A-C14E-9F2A-A7F188540FD5}" type="parTrans" cxnId="{3DC90812-5372-B44E-B807-A2A6DBC308B4}">
      <dgm:prSet/>
      <dgm:spPr/>
      <dgm:t>
        <a:bodyPr/>
        <a:lstStyle/>
        <a:p>
          <a:endParaRPr lang="en-US"/>
        </a:p>
      </dgm:t>
    </dgm:pt>
    <dgm:pt modelId="{A5F16F68-5B59-0646-99B8-4F8D2538E024}" type="sibTrans" cxnId="{3DC90812-5372-B44E-B807-A2A6DBC308B4}">
      <dgm:prSet/>
      <dgm:spPr/>
      <dgm:t>
        <a:bodyPr/>
        <a:lstStyle/>
        <a:p>
          <a:endParaRPr lang="en-US"/>
        </a:p>
      </dgm:t>
    </dgm:pt>
    <dgm:pt modelId="{58D11B8A-235D-384E-BEB1-50D9E38003F6}">
      <dgm:prSet/>
      <dgm:spPr/>
      <dgm:t>
        <a:bodyPr/>
        <a:lstStyle/>
        <a:p>
          <a:pPr marL="0" marR="0" indent="0" defTabSz="914400" rtl="0" eaLnBrk="1" fontAlgn="auto" latinLnBrk="0" hangingPunct="1">
            <a:lnSpc>
              <a:spcPct val="100000"/>
            </a:lnSpc>
            <a:spcBef>
              <a:spcPts val="0"/>
            </a:spcBef>
            <a:spcAft>
              <a:spcPts val="0"/>
            </a:spcAft>
            <a:buClrTx/>
            <a:buSzTx/>
            <a:buFontTx/>
            <a:buNone/>
            <a:tabLst/>
            <a:defRPr/>
          </a:pPr>
          <a:r>
            <a:rPr lang="en-US" b="1" dirty="0">
              <a:solidFill>
                <a:srgbClr val="C00000"/>
              </a:solidFill>
              <a:effectLst/>
            </a:rPr>
            <a:t>Change the DRAM interface</a:t>
          </a:r>
          <a:r>
            <a:rPr lang="en-US" b="1" dirty="0">
              <a:effectLst/>
            </a:rPr>
            <a:t> to make it more efficient by including a cache or other buffering scheme on the DRAM chip</a:t>
          </a:r>
        </a:p>
        <a:p>
          <a:pPr defTabSz="533400" rtl="0">
            <a:lnSpc>
              <a:spcPct val="90000"/>
            </a:lnSpc>
            <a:spcBef>
              <a:spcPct val="0"/>
            </a:spcBef>
            <a:spcAft>
              <a:spcPct val="35000"/>
            </a:spcAft>
          </a:pPr>
          <a:endParaRPr lang="en-US" b="0" dirty="0">
            <a:effectLst/>
          </a:endParaRPr>
        </a:p>
      </dgm:t>
    </dgm:pt>
    <dgm:pt modelId="{1399630F-5625-0B4F-B985-30C271E8C3CD}" type="parTrans" cxnId="{2B27EE7B-137C-254C-A50A-54003056AFFB}">
      <dgm:prSet/>
      <dgm:spPr/>
      <dgm:t>
        <a:bodyPr/>
        <a:lstStyle/>
        <a:p>
          <a:endParaRPr lang="en-US"/>
        </a:p>
      </dgm:t>
    </dgm:pt>
    <dgm:pt modelId="{BAC94ACA-983F-5746-B7E9-AB18C92270DF}" type="sibTrans" cxnId="{2B27EE7B-137C-254C-A50A-54003056AFFB}">
      <dgm:prSet/>
      <dgm:spPr/>
      <dgm:t>
        <a:bodyPr/>
        <a:lstStyle/>
        <a:p>
          <a:endParaRPr lang="en-US"/>
        </a:p>
      </dgm:t>
    </dgm:pt>
    <dgm:pt modelId="{85787AF2-CDD5-224D-8D0C-D3E9575DABBC}">
      <dgm:prSet/>
      <dgm:spPr/>
      <dgm:t>
        <a:bodyPr/>
        <a:lstStyle/>
        <a:p>
          <a:pPr rtl="0"/>
          <a:r>
            <a:rPr lang="en-US" b="1" dirty="0">
              <a:solidFill>
                <a:srgbClr val="C00000"/>
              </a:solidFill>
              <a:effectLst/>
            </a:rPr>
            <a:t>Reduce the frequency of memory access by incorporati</a:t>
          </a:r>
          <a:r>
            <a:rPr lang="en-US" b="1" dirty="0">
              <a:effectLst/>
            </a:rPr>
            <a:t>ng increasingly complex and </a:t>
          </a:r>
          <a:r>
            <a:rPr lang="en-US" b="1" dirty="0">
              <a:solidFill>
                <a:srgbClr val="C00000"/>
              </a:solidFill>
              <a:effectLst/>
            </a:rPr>
            <a:t>efficient cache </a:t>
          </a:r>
          <a:r>
            <a:rPr lang="en-US" b="1" dirty="0">
              <a:effectLst/>
            </a:rPr>
            <a:t>structures between the processor and main memory</a:t>
          </a:r>
        </a:p>
      </dgm:t>
    </dgm:pt>
    <dgm:pt modelId="{982793AE-DF07-484E-8B21-6D87EA215CA4}" type="parTrans" cxnId="{E1096F67-31E5-B345-AE30-109043DB01B6}">
      <dgm:prSet/>
      <dgm:spPr/>
      <dgm:t>
        <a:bodyPr/>
        <a:lstStyle/>
        <a:p>
          <a:endParaRPr lang="en-US"/>
        </a:p>
      </dgm:t>
    </dgm:pt>
    <dgm:pt modelId="{D3800628-CD07-AC4D-B025-9171D4C09D3F}" type="sibTrans" cxnId="{E1096F67-31E5-B345-AE30-109043DB01B6}">
      <dgm:prSet/>
      <dgm:spPr/>
      <dgm:t>
        <a:bodyPr/>
        <a:lstStyle/>
        <a:p>
          <a:endParaRPr lang="en-US"/>
        </a:p>
      </dgm:t>
    </dgm:pt>
    <dgm:pt modelId="{7B7EFF02-432F-784A-A578-52320D8CBDB0}">
      <dgm:prSet/>
      <dgm:spPr/>
      <dgm:t>
        <a:bodyPr/>
        <a:lstStyle/>
        <a:p>
          <a:pPr rtl="0"/>
          <a:r>
            <a:rPr lang="en-US" b="1" dirty="0">
              <a:solidFill>
                <a:srgbClr val="C00000"/>
              </a:solidFill>
              <a:effectLst/>
            </a:rPr>
            <a:t>Increase the interconnect bandwidth </a:t>
          </a:r>
          <a:r>
            <a:rPr lang="en-US" b="1" dirty="0">
              <a:effectLst/>
            </a:rPr>
            <a:t>between processors and memory by using higher speed buses and a hierarchy of buses to buffer and structure data flow</a:t>
          </a:r>
        </a:p>
      </dgm:t>
    </dgm:pt>
    <dgm:pt modelId="{E059F15A-8972-E040-A1A5-78A71B1D47C4}" type="parTrans" cxnId="{E14C333A-C5D2-324B-A86B-D4D99F86F770}">
      <dgm:prSet/>
      <dgm:spPr/>
      <dgm:t>
        <a:bodyPr/>
        <a:lstStyle/>
        <a:p>
          <a:endParaRPr lang="en-US"/>
        </a:p>
      </dgm:t>
    </dgm:pt>
    <dgm:pt modelId="{1119042D-6266-3441-931E-58ECBAE202A5}" type="sibTrans" cxnId="{E14C333A-C5D2-324B-A86B-D4D99F86F770}">
      <dgm:prSet/>
      <dgm:spPr/>
      <dgm:t>
        <a:bodyPr/>
        <a:lstStyle/>
        <a:p>
          <a:endParaRPr lang="en-US"/>
        </a:p>
      </dgm:t>
    </dgm:pt>
    <dgm:pt modelId="{2A4E3D9D-0DD4-4146-8C2F-D5E40C8FC794}" type="pres">
      <dgm:prSet presAssocID="{DDEEB0FD-18FA-9C4A-92E6-3737DBB7AA4C}" presName="compositeShape" presStyleCnt="0">
        <dgm:presLayoutVars>
          <dgm:chMax val="9"/>
          <dgm:dir/>
          <dgm:resizeHandles val="exact"/>
        </dgm:presLayoutVars>
      </dgm:prSet>
      <dgm:spPr/>
    </dgm:pt>
    <dgm:pt modelId="{94E1869E-B08B-E84C-BE54-79A5CFDF5A04}" type="pres">
      <dgm:prSet presAssocID="{DDEEB0FD-18FA-9C4A-92E6-3737DBB7AA4C}" presName="triangle1" presStyleLbl="node1" presStyleIdx="0" presStyleCnt="4">
        <dgm:presLayoutVars>
          <dgm:bulletEnabled val="1"/>
        </dgm:presLayoutVars>
      </dgm:prSet>
      <dgm:spPr/>
    </dgm:pt>
    <dgm:pt modelId="{4A58DB61-09B5-E94D-AEC1-6280D22B2A8E}" type="pres">
      <dgm:prSet presAssocID="{DDEEB0FD-18FA-9C4A-92E6-3737DBB7AA4C}" presName="triangle2" presStyleLbl="node1" presStyleIdx="1" presStyleCnt="4">
        <dgm:presLayoutVars>
          <dgm:bulletEnabled val="1"/>
        </dgm:presLayoutVars>
      </dgm:prSet>
      <dgm:spPr/>
    </dgm:pt>
    <dgm:pt modelId="{200ABC57-7D7F-C84D-A1A6-CF6A59C98A27}" type="pres">
      <dgm:prSet presAssocID="{DDEEB0FD-18FA-9C4A-92E6-3737DBB7AA4C}" presName="triangle3" presStyleLbl="node1" presStyleIdx="2" presStyleCnt="4">
        <dgm:presLayoutVars>
          <dgm:bulletEnabled val="1"/>
        </dgm:presLayoutVars>
      </dgm:prSet>
      <dgm:spPr/>
    </dgm:pt>
    <dgm:pt modelId="{4CEF2A95-22F9-8B4C-8350-C2D662044B6C}" type="pres">
      <dgm:prSet presAssocID="{DDEEB0FD-18FA-9C4A-92E6-3737DBB7AA4C}" presName="triangle4" presStyleLbl="node1" presStyleIdx="3" presStyleCnt="4" custScaleX="104445">
        <dgm:presLayoutVars>
          <dgm:bulletEnabled val="1"/>
        </dgm:presLayoutVars>
      </dgm:prSet>
      <dgm:spPr/>
    </dgm:pt>
  </dgm:ptLst>
  <dgm:cxnLst>
    <dgm:cxn modelId="{A6DA1E00-57D3-7B48-8A38-00999C78F3BC}" type="presOf" srcId="{DDEEB0FD-18FA-9C4A-92E6-3737DBB7AA4C}" destId="{2A4E3D9D-0DD4-4146-8C2F-D5E40C8FC794}" srcOrd="0" destOrd="0" presId="urn:microsoft.com/office/officeart/2005/8/layout/pyramid4"/>
    <dgm:cxn modelId="{EF9D0D07-833C-6C4B-8744-26C1075F7D3E}" type="presOf" srcId="{58D11B8A-235D-384E-BEB1-50D9E38003F6}" destId="{4A58DB61-09B5-E94D-AEC1-6280D22B2A8E}" srcOrd="0" destOrd="0" presId="urn:microsoft.com/office/officeart/2005/8/layout/pyramid4"/>
    <dgm:cxn modelId="{3DC90812-5372-B44E-B807-A2A6DBC308B4}" srcId="{DDEEB0FD-18FA-9C4A-92E6-3737DBB7AA4C}" destId="{9AB80C6C-0116-6D42-BEF1-145881EFCDD8}" srcOrd="0" destOrd="0" parTransId="{219CBE61-046A-C14E-9F2A-A7F188540FD5}" sibTransId="{A5F16F68-5B59-0646-99B8-4F8D2538E024}"/>
    <dgm:cxn modelId="{CCC74236-1B0F-2743-A907-518B2BF271A3}" type="presOf" srcId="{9AB80C6C-0116-6D42-BEF1-145881EFCDD8}" destId="{94E1869E-B08B-E84C-BE54-79A5CFDF5A04}" srcOrd="0" destOrd="0" presId="urn:microsoft.com/office/officeart/2005/8/layout/pyramid4"/>
    <dgm:cxn modelId="{E14C333A-C5D2-324B-A86B-D4D99F86F770}" srcId="{DDEEB0FD-18FA-9C4A-92E6-3737DBB7AA4C}" destId="{7B7EFF02-432F-784A-A578-52320D8CBDB0}" srcOrd="3" destOrd="0" parTransId="{E059F15A-8972-E040-A1A5-78A71B1D47C4}" sibTransId="{1119042D-6266-3441-931E-58ECBAE202A5}"/>
    <dgm:cxn modelId="{E1096F67-31E5-B345-AE30-109043DB01B6}" srcId="{DDEEB0FD-18FA-9C4A-92E6-3737DBB7AA4C}" destId="{85787AF2-CDD5-224D-8D0C-D3E9575DABBC}" srcOrd="2" destOrd="0" parTransId="{982793AE-DF07-484E-8B21-6D87EA215CA4}" sibTransId="{D3800628-CD07-AC4D-B025-9171D4C09D3F}"/>
    <dgm:cxn modelId="{FDE3816E-074A-EF49-9253-B4A579594108}" type="presOf" srcId="{85787AF2-CDD5-224D-8D0C-D3E9575DABBC}" destId="{200ABC57-7D7F-C84D-A1A6-CF6A59C98A27}" srcOrd="0" destOrd="0" presId="urn:microsoft.com/office/officeart/2005/8/layout/pyramid4"/>
    <dgm:cxn modelId="{2B27EE7B-137C-254C-A50A-54003056AFFB}" srcId="{DDEEB0FD-18FA-9C4A-92E6-3737DBB7AA4C}" destId="{58D11B8A-235D-384E-BEB1-50D9E38003F6}" srcOrd="1" destOrd="0" parTransId="{1399630F-5625-0B4F-B985-30C271E8C3CD}" sibTransId="{BAC94ACA-983F-5746-B7E9-AB18C92270DF}"/>
    <dgm:cxn modelId="{E5BCAF89-F36C-A64D-867A-B6A7B74F0731}" type="presOf" srcId="{7B7EFF02-432F-784A-A578-52320D8CBDB0}" destId="{4CEF2A95-22F9-8B4C-8350-C2D662044B6C}" srcOrd="0" destOrd="0" presId="urn:microsoft.com/office/officeart/2005/8/layout/pyramid4"/>
    <dgm:cxn modelId="{AEEB7F44-93AB-6C42-9203-C522C09A9C84}" type="presParOf" srcId="{2A4E3D9D-0DD4-4146-8C2F-D5E40C8FC794}" destId="{94E1869E-B08B-E84C-BE54-79A5CFDF5A04}" srcOrd="0" destOrd="0" presId="urn:microsoft.com/office/officeart/2005/8/layout/pyramid4"/>
    <dgm:cxn modelId="{89A32B5F-749D-544A-80D6-CC2AC49E9DB4}" type="presParOf" srcId="{2A4E3D9D-0DD4-4146-8C2F-D5E40C8FC794}" destId="{4A58DB61-09B5-E94D-AEC1-6280D22B2A8E}" srcOrd="1" destOrd="0" presId="urn:microsoft.com/office/officeart/2005/8/layout/pyramid4"/>
    <dgm:cxn modelId="{4F9FA992-5DE0-E045-8203-DBDF85056381}" type="presParOf" srcId="{2A4E3D9D-0DD4-4146-8C2F-D5E40C8FC794}" destId="{200ABC57-7D7F-C84D-A1A6-CF6A59C98A27}" srcOrd="2" destOrd="0" presId="urn:microsoft.com/office/officeart/2005/8/layout/pyramid4"/>
    <dgm:cxn modelId="{B003EE11-C783-4C46-8478-1BAB19FB0217}" type="presParOf" srcId="{2A4E3D9D-0DD4-4146-8C2F-D5E40C8FC794}" destId="{4CEF2A95-22F9-8B4C-8350-C2D662044B6C}" srcOrd="3" destOrd="0" presId="urn:microsoft.com/office/officeart/2005/8/layout/pyramid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8302B29-DF7B-CE48-A8D2-94069316D1C3}" type="doc">
      <dgm:prSet loTypeId="urn:microsoft.com/office/officeart/2005/8/layout/target1" loCatId="relationship" qsTypeId="urn:microsoft.com/office/officeart/2005/8/quickstyle/3D2" qsCatId="3D" csTypeId="urn:microsoft.com/office/officeart/2005/8/colors/accent2_4" csCatId="accent2" phldr="1"/>
      <dgm:spPr/>
      <dgm:t>
        <a:bodyPr/>
        <a:lstStyle/>
        <a:p>
          <a:endParaRPr lang="en-US"/>
        </a:p>
      </dgm:t>
    </dgm:pt>
    <dgm:pt modelId="{C19F7702-5F4C-F44B-9333-C56759486144}">
      <dgm:prSet custT="1"/>
      <dgm:spPr/>
      <dgm:t>
        <a:bodyPr lIns="72000" anchor="t" anchorCtr="0"/>
        <a:lstStyle/>
        <a:p>
          <a:pPr rtl="0"/>
          <a:r>
            <a:rPr lang="en-US" sz="1600" dirty="0"/>
            <a:t>The use of multiple processors on the same chip provides the potential to </a:t>
          </a:r>
          <a:r>
            <a:rPr lang="en-US" sz="1600" dirty="0">
              <a:solidFill>
                <a:srgbClr val="C00000"/>
              </a:solidFill>
            </a:rPr>
            <a:t>increase performance without increasing the clock rate</a:t>
          </a:r>
        </a:p>
      </dgm:t>
    </dgm:pt>
    <dgm:pt modelId="{A70B69E9-4AAC-D24E-AF8E-9E3927E157EF}" type="parTrans" cxnId="{46B638DB-5077-8F47-B532-560C4EEBB34E}">
      <dgm:prSet/>
      <dgm:spPr/>
      <dgm:t>
        <a:bodyPr/>
        <a:lstStyle/>
        <a:p>
          <a:endParaRPr lang="en-US"/>
        </a:p>
      </dgm:t>
    </dgm:pt>
    <dgm:pt modelId="{4562A5FB-A475-444C-82E8-04D61A9E986C}" type="sibTrans" cxnId="{46B638DB-5077-8F47-B532-560C4EEBB34E}">
      <dgm:prSet/>
      <dgm:spPr/>
      <dgm:t>
        <a:bodyPr/>
        <a:lstStyle/>
        <a:p>
          <a:endParaRPr lang="en-US"/>
        </a:p>
      </dgm:t>
    </dgm:pt>
    <dgm:pt modelId="{E155F29C-A5B5-0E46-A2C7-79E6A500D145}">
      <dgm:prSet custT="1"/>
      <dgm:spPr/>
      <dgm:t>
        <a:bodyPr lIns="72000" anchor="t" anchorCtr="0"/>
        <a:lstStyle/>
        <a:p>
          <a:pPr rtl="0"/>
          <a:r>
            <a:rPr lang="en-US" sz="1600" dirty="0"/>
            <a:t>Strategy is to use </a:t>
          </a:r>
          <a:r>
            <a:rPr lang="en-US" sz="1600" dirty="0">
              <a:solidFill>
                <a:srgbClr val="C00000"/>
              </a:solidFill>
            </a:rPr>
            <a:t>two simpler processors on the chip</a:t>
          </a:r>
          <a:r>
            <a:rPr lang="en-US" sz="1600" dirty="0"/>
            <a:t> rather than one more complex processor</a:t>
          </a:r>
        </a:p>
      </dgm:t>
    </dgm:pt>
    <dgm:pt modelId="{8055BD00-F1C8-7846-B466-65DE4011FD8C}" type="parTrans" cxnId="{68C16891-8D07-2645-B752-FE205353DCD5}">
      <dgm:prSet/>
      <dgm:spPr/>
      <dgm:t>
        <a:bodyPr/>
        <a:lstStyle/>
        <a:p>
          <a:endParaRPr lang="en-US"/>
        </a:p>
      </dgm:t>
    </dgm:pt>
    <dgm:pt modelId="{FCDFAB97-D041-E548-96BC-411DF7EC694B}" type="sibTrans" cxnId="{68C16891-8D07-2645-B752-FE205353DCD5}">
      <dgm:prSet/>
      <dgm:spPr/>
      <dgm:t>
        <a:bodyPr/>
        <a:lstStyle/>
        <a:p>
          <a:endParaRPr lang="en-US"/>
        </a:p>
      </dgm:t>
    </dgm:pt>
    <dgm:pt modelId="{8CAB68A3-B26F-2B4B-B51A-0CF38939513F}">
      <dgm:prSet custT="1"/>
      <dgm:spPr/>
      <dgm:t>
        <a:bodyPr lIns="72000" anchor="t" anchorCtr="0"/>
        <a:lstStyle/>
        <a:p>
          <a:pPr rtl="0"/>
          <a:r>
            <a:rPr lang="en-US" sz="1600" dirty="0"/>
            <a:t>With two processors larger caches are justified</a:t>
          </a:r>
        </a:p>
      </dgm:t>
    </dgm:pt>
    <dgm:pt modelId="{6ACB63A5-1C58-524A-A160-886341F60C0C}" type="parTrans" cxnId="{4A4B1846-5DC4-C84A-A863-9D344E7D707C}">
      <dgm:prSet/>
      <dgm:spPr/>
      <dgm:t>
        <a:bodyPr/>
        <a:lstStyle/>
        <a:p>
          <a:endParaRPr lang="en-US"/>
        </a:p>
      </dgm:t>
    </dgm:pt>
    <dgm:pt modelId="{3E669834-DB2C-7641-B14E-DFD1B4C62083}" type="sibTrans" cxnId="{4A4B1846-5DC4-C84A-A863-9D344E7D707C}">
      <dgm:prSet/>
      <dgm:spPr/>
      <dgm:t>
        <a:bodyPr/>
        <a:lstStyle/>
        <a:p>
          <a:endParaRPr lang="en-US"/>
        </a:p>
      </dgm:t>
    </dgm:pt>
    <dgm:pt modelId="{2BB322CA-E42D-4846-BC15-76177995191D}">
      <dgm:prSet custT="1"/>
      <dgm:spPr/>
      <dgm:t>
        <a:bodyPr lIns="72000" anchor="t" anchorCtr="0"/>
        <a:lstStyle/>
        <a:p>
          <a:pPr rtl="0"/>
          <a:r>
            <a:rPr lang="en-US" sz="1600" dirty="0"/>
            <a:t>As caches became larger it made performance sense to create two and then three levels of cache on a chip</a:t>
          </a:r>
        </a:p>
      </dgm:t>
    </dgm:pt>
    <dgm:pt modelId="{85853BED-64B9-CF48-99D4-E806CF0298B4}" type="parTrans" cxnId="{1C69D18B-4D6D-C54F-9524-6177246C5F7D}">
      <dgm:prSet/>
      <dgm:spPr/>
      <dgm:t>
        <a:bodyPr/>
        <a:lstStyle/>
        <a:p>
          <a:endParaRPr lang="en-US"/>
        </a:p>
      </dgm:t>
    </dgm:pt>
    <dgm:pt modelId="{035B4B6C-BBF5-0D4D-86D8-A0562E242151}" type="sibTrans" cxnId="{1C69D18B-4D6D-C54F-9524-6177246C5F7D}">
      <dgm:prSet/>
      <dgm:spPr/>
      <dgm:t>
        <a:bodyPr/>
        <a:lstStyle/>
        <a:p>
          <a:endParaRPr lang="en-US"/>
        </a:p>
      </dgm:t>
    </dgm:pt>
    <dgm:pt modelId="{67DFE038-8E3D-C649-A5BB-9B3C0EE1B407}" type="pres">
      <dgm:prSet presAssocID="{48302B29-DF7B-CE48-A8D2-94069316D1C3}" presName="composite" presStyleCnt="0">
        <dgm:presLayoutVars>
          <dgm:chMax val="5"/>
          <dgm:dir/>
          <dgm:resizeHandles val="exact"/>
        </dgm:presLayoutVars>
      </dgm:prSet>
      <dgm:spPr/>
    </dgm:pt>
    <dgm:pt modelId="{CAE743AE-6431-1E40-A97F-5F24D5B60547}" type="pres">
      <dgm:prSet presAssocID="{C19F7702-5F4C-F44B-9333-C56759486144}" presName="circle1" presStyleLbl="lnNode1" presStyleIdx="0" presStyleCnt="4"/>
      <dgm:spPr/>
    </dgm:pt>
    <dgm:pt modelId="{AB119BD4-C127-B449-BD7B-2FB3093D572E}" type="pres">
      <dgm:prSet presAssocID="{C19F7702-5F4C-F44B-9333-C56759486144}" presName="text1" presStyleLbl="revTx" presStyleIdx="0" presStyleCnt="4" custScaleX="114601" custLinFactNeighborX="7618">
        <dgm:presLayoutVars>
          <dgm:bulletEnabled val="1"/>
        </dgm:presLayoutVars>
      </dgm:prSet>
      <dgm:spPr/>
    </dgm:pt>
    <dgm:pt modelId="{34B48968-EEAE-C24A-A838-020141B43AD6}" type="pres">
      <dgm:prSet presAssocID="{C19F7702-5F4C-F44B-9333-C56759486144}" presName="line1" presStyleLbl="callout" presStyleIdx="0" presStyleCnt="8"/>
      <dgm:spPr/>
    </dgm:pt>
    <dgm:pt modelId="{DDA5D090-4EDE-CC46-88A9-94E77850F40F}" type="pres">
      <dgm:prSet presAssocID="{C19F7702-5F4C-F44B-9333-C56759486144}" presName="d1" presStyleLbl="callout" presStyleIdx="1" presStyleCnt="8"/>
      <dgm:spPr/>
    </dgm:pt>
    <dgm:pt modelId="{EAFBFBDD-6B2F-6542-A0F4-55DD8CB829AA}" type="pres">
      <dgm:prSet presAssocID="{E155F29C-A5B5-0E46-A2C7-79E6A500D145}" presName="circle2" presStyleLbl="lnNode1" presStyleIdx="1" presStyleCnt="4"/>
      <dgm:spPr/>
    </dgm:pt>
    <dgm:pt modelId="{513BC700-EE34-1A44-899C-A6CEEACA89E1}" type="pres">
      <dgm:prSet presAssocID="{E155F29C-A5B5-0E46-A2C7-79E6A500D145}" presName="text2" presStyleLbl="revTx" presStyleIdx="1" presStyleCnt="4" custScaleX="114601" custLinFactNeighborX="4545" custLinFactNeighborY="31642">
        <dgm:presLayoutVars>
          <dgm:bulletEnabled val="1"/>
        </dgm:presLayoutVars>
      </dgm:prSet>
      <dgm:spPr/>
    </dgm:pt>
    <dgm:pt modelId="{CD79B02B-ADDF-1141-8C86-45D10350966D}" type="pres">
      <dgm:prSet presAssocID="{E155F29C-A5B5-0E46-A2C7-79E6A500D145}" presName="line2" presStyleLbl="callout" presStyleIdx="2" presStyleCnt="8"/>
      <dgm:spPr/>
    </dgm:pt>
    <dgm:pt modelId="{816E5757-0CAD-CD46-B964-B653CB3D2F71}" type="pres">
      <dgm:prSet presAssocID="{E155F29C-A5B5-0E46-A2C7-79E6A500D145}" presName="d2" presStyleLbl="callout" presStyleIdx="3" presStyleCnt="8"/>
      <dgm:spPr/>
    </dgm:pt>
    <dgm:pt modelId="{09E5408D-8A11-C349-983A-FF27A4CD0E3B}" type="pres">
      <dgm:prSet presAssocID="{8CAB68A3-B26F-2B4B-B51A-0CF38939513F}" presName="circle3" presStyleLbl="lnNode1" presStyleIdx="2" presStyleCnt="4"/>
      <dgm:spPr/>
    </dgm:pt>
    <dgm:pt modelId="{64D028ED-D856-004F-82AE-25A1792DF594}" type="pres">
      <dgm:prSet presAssocID="{8CAB68A3-B26F-2B4B-B51A-0CF38939513F}" presName="text3" presStyleLbl="revTx" presStyleIdx="2" presStyleCnt="4" custScaleX="114601" custLinFactNeighborX="7618" custLinFactNeighborY="53710">
        <dgm:presLayoutVars>
          <dgm:bulletEnabled val="1"/>
        </dgm:presLayoutVars>
      </dgm:prSet>
      <dgm:spPr/>
    </dgm:pt>
    <dgm:pt modelId="{844D6AD4-814E-9A49-8479-BBC4355D2906}" type="pres">
      <dgm:prSet presAssocID="{8CAB68A3-B26F-2B4B-B51A-0CF38939513F}" presName="line3" presStyleLbl="callout" presStyleIdx="4" presStyleCnt="8"/>
      <dgm:spPr/>
    </dgm:pt>
    <dgm:pt modelId="{09E031DD-5B6F-B149-9EF5-9E627F32C5E0}" type="pres">
      <dgm:prSet presAssocID="{8CAB68A3-B26F-2B4B-B51A-0CF38939513F}" presName="d3" presStyleLbl="callout" presStyleIdx="5" presStyleCnt="8"/>
      <dgm:spPr/>
    </dgm:pt>
    <dgm:pt modelId="{F85D9B43-A645-1046-AAFB-474175001081}" type="pres">
      <dgm:prSet presAssocID="{2BB322CA-E42D-4846-BC15-76177995191D}" presName="circle4" presStyleLbl="lnNode1" presStyleIdx="3" presStyleCnt="4"/>
      <dgm:spPr/>
    </dgm:pt>
    <dgm:pt modelId="{7DB2A403-2088-DF4C-B961-D8DCC748BA56}" type="pres">
      <dgm:prSet presAssocID="{2BB322CA-E42D-4846-BC15-76177995191D}" presName="text4" presStyleLbl="revTx" presStyleIdx="3" presStyleCnt="4" custScaleX="114601" custLinFactNeighborX="7359" custLinFactNeighborY="55022">
        <dgm:presLayoutVars>
          <dgm:bulletEnabled val="1"/>
        </dgm:presLayoutVars>
      </dgm:prSet>
      <dgm:spPr/>
    </dgm:pt>
    <dgm:pt modelId="{DEF37567-F691-5D47-8D86-7EF938ACCD23}" type="pres">
      <dgm:prSet presAssocID="{2BB322CA-E42D-4846-BC15-76177995191D}" presName="line4" presStyleLbl="callout" presStyleIdx="6" presStyleCnt="8" custLinFactNeighborX="623" custLinFactNeighborY="2502"/>
      <dgm:spPr/>
    </dgm:pt>
    <dgm:pt modelId="{C5CA4BDE-6447-5546-B9F5-65BD75E05390}" type="pres">
      <dgm:prSet presAssocID="{2BB322CA-E42D-4846-BC15-76177995191D}" presName="d4" presStyleLbl="callout" presStyleIdx="7" presStyleCnt="8"/>
      <dgm:spPr/>
    </dgm:pt>
  </dgm:ptLst>
  <dgm:cxnLst>
    <dgm:cxn modelId="{4B6C9305-9663-8143-81A0-3E9955214B81}" type="presOf" srcId="{E155F29C-A5B5-0E46-A2C7-79E6A500D145}" destId="{513BC700-EE34-1A44-899C-A6CEEACA89E1}" srcOrd="0" destOrd="0" presId="urn:microsoft.com/office/officeart/2005/8/layout/target1"/>
    <dgm:cxn modelId="{019DB62C-AF38-6F4D-9BB2-199E8BA3C067}" type="presOf" srcId="{48302B29-DF7B-CE48-A8D2-94069316D1C3}" destId="{67DFE038-8E3D-C649-A5BB-9B3C0EE1B407}" srcOrd="0" destOrd="0" presId="urn:microsoft.com/office/officeart/2005/8/layout/target1"/>
    <dgm:cxn modelId="{171A6A42-3C17-7748-A842-8CCB1915C2B8}" type="presOf" srcId="{C19F7702-5F4C-F44B-9333-C56759486144}" destId="{AB119BD4-C127-B449-BD7B-2FB3093D572E}" srcOrd="0" destOrd="0" presId="urn:microsoft.com/office/officeart/2005/8/layout/target1"/>
    <dgm:cxn modelId="{4A4B1846-5DC4-C84A-A863-9D344E7D707C}" srcId="{48302B29-DF7B-CE48-A8D2-94069316D1C3}" destId="{8CAB68A3-B26F-2B4B-B51A-0CF38939513F}" srcOrd="2" destOrd="0" parTransId="{6ACB63A5-1C58-524A-A160-886341F60C0C}" sibTransId="{3E669834-DB2C-7641-B14E-DFD1B4C62083}"/>
    <dgm:cxn modelId="{1C69D18B-4D6D-C54F-9524-6177246C5F7D}" srcId="{48302B29-DF7B-CE48-A8D2-94069316D1C3}" destId="{2BB322CA-E42D-4846-BC15-76177995191D}" srcOrd="3" destOrd="0" parTransId="{85853BED-64B9-CF48-99D4-E806CF0298B4}" sibTransId="{035B4B6C-BBF5-0D4D-86D8-A0562E242151}"/>
    <dgm:cxn modelId="{68C16891-8D07-2645-B752-FE205353DCD5}" srcId="{48302B29-DF7B-CE48-A8D2-94069316D1C3}" destId="{E155F29C-A5B5-0E46-A2C7-79E6A500D145}" srcOrd="1" destOrd="0" parTransId="{8055BD00-F1C8-7846-B466-65DE4011FD8C}" sibTransId="{FCDFAB97-D041-E548-96BC-411DF7EC694B}"/>
    <dgm:cxn modelId="{1AA003D7-C481-3A42-AA00-C72307ACAD34}" type="presOf" srcId="{8CAB68A3-B26F-2B4B-B51A-0CF38939513F}" destId="{64D028ED-D856-004F-82AE-25A1792DF594}" srcOrd="0" destOrd="0" presId="urn:microsoft.com/office/officeart/2005/8/layout/target1"/>
    <dgm:cxn modelId="{46B638DB-5077-8F47-B532-560C4EEBB34E}" srcId="{48302B29-DF7B-CE48-A8D2-94069316D1C3}" destId="{C19F7702-5F4C-F44B-9333-C56759486144}" srcOrd="0" destOrd="0" parTransId="{A70B69E9-4AAC-D24E-AF8E-9E3927E157EF}" sibTransId="{4562A5FB-A475-444C-82E8-04D61A9E986C}"/>
    <dgm:cxn modelId="{217BF1EC-0D44-B94C-924C-945A9E06B6F1}" type="presOf" srcId="{2BB322CA-E42D-4846-BC15-76177995191D}" destId="{7DB2A403-2088-DF4C-B961-D8DCC748BA56}" srcOrd="0" destOrd="0" presId="urn:microsoft.com/office/officeart/2005/8/layout/target1"/>
    <dgm:cxn modelId="{1FCC9E07-AA87-E64F-9072-85950E151E9B}" type="presParOf" srcId="{67DFE038-8E3D-C649-A5BB-9B3C0EE1B407}" destId="{CAE743AE-6431-1E40-A97F-5F24D5B60547}" srcOrd="0" destOrd="0" presId="urn:microsoft.com/office/officeart/2005/8/layout/target1"/>
    <dgm:cxn modelId="{B312B154-9FC1-8341-B8F7-465DBDC5F91D}" type="presParOf" srcId="{67DFE038-8E3D-C649-A5BB-9B3C0EE1B407}" destId="{AB119BD4-C127-B449-BD7B-2FB3093D572E}" srcOrd="1" destOrd="0" presId="urn:microsoft.com/office/officeart/2005/8/layout/target1"/>
    <dgm:cxn modelId="{A68EC521-5EFD-C747-8343-1B923810951F}" type="presParOf" srcId="{67DFE038-8E3D-C649-A5BB-9B3C0EE1B407}" destId="{34B48968-EEAE-C24A-A838-020141B43AD6}" srcOrd="2" destOrd="0" presId="urn:microsoft.com/office/officeart/2005/8/layout/target1"/>
    <dgm:cxn modelId="{49879328-35EC-A944-81C3-2A49F1C5E66B}" type="presParOf" srcId="{67DFE038-8E3D-C649-A5BB-9B3C0EE1B407}" destId="{DDA5D090-4EDE-CC46-88A9-94E77850F40F}" srcOrd="3" destOrd="0" presId="urn:microsoft.com/office/officeart/2005/8/layout/target1"/>
    <dgm:cxn modelId="{419233AA-A062-014B-94FC-1172D2BCCCEC}" type="presParOf" srcId="{67DFE038-8E3D-C649-A5BB-9B3C0EE1B407}" destId="{EAFBFBDD-6B2F-6542-A0F4-55DD8CB829AA}" srcOrd="4" destOrd="0" presId="urn:microsoft.com/office/officeart/2005/8/layout/target1"/>
    <dgm:cxn modelId="{BCBE20E3-240C-874B-A132-3934F75D0B77}" type="presParOf" srcId="{67DFE038-8E3D-C649-A5BB-9B3C0EE1B407}" destId="{513BC700-EE34-1A44-899C-A6CEEACA89E1}" srcOrd="5" destOrd="0" presId="urn:microsoft.com/office/officeart/2005/8/layout/target1"/>
    <dgm:cxn modelId="{F681055D-923A-D44A-B20B-E630B78B52EF}" type="presParOf" srcId="{67DFE038-8E3D-C649-A5BB-9B3C0EE1B407}" destId="{CD79B02B-ADDF-1141-8C86-45D10350966D}" srcOrd="6" destOrd="0" presId="urn:microsoft.com/office/officeart/2005/8/layout/target1"/>
    <dgm:cxn modelId="{05F61CE4-F3C6-1549-9C08-8735F7134DB1}" type="presParOf" srcId="{67DFE038-8E3D-C649-A5BB-9B3C0EE1B407}" destId="{816E5757-0CAD-CD46-B964-B653CB3D2F71}" srcOrd="7" destOrd="0" presId="urn:microsoft.com/office/officeart/2005/8/layout/target1"/>
    <dgm:cxn modelId="{57EF3DA7-8614-DE44-994C-8B8008F3DC84}" type="presParOf" srcId="{67DFE038-8E3D-C649-A5BB-9B3C0EE1B407}" destId="{09E5408D-8A11-C349-983A-FF27A4CD0E3B}" srcOrd="8" destOrd="0" presId="urn:microsoft.com/office/officeart/2005/8/layout/target1"/>
    <dgm:cxn modelId="{715A600E-11DA-044B-A3DA-384A55E6DA9C}" type="presParOf" srcId="{67DFE038-8E3D-C649-A5BB-9B3C0EE1B407}" destId="{64D028ED-D856-004F-82AE-25A1792DF594}" srcOrd="9" destOrd="0" presId="urn:microsoft.com/office/officeart/2005/8/layout/target1"/>
    <dgm:cxn modelId="{EBE12B9E-E7DC-3B4D-A525-CBF46CD0EF22}" type="presParOf" srcId="{67DFE038-8E3D-C649-A5BB-9B3C0EE1B407}" destId="{844D6AD4-814E-9A49-8479-BBC4355D2906}" srcOrd="10" destOrd="0" presId="urn:microsoft.com/office/officeart/2005/8/layout/target1"/>
    <dgm:cxn modelId="{45073F24-BDEA-A44F-928F-58D775E3409B}" type="presParOf" srcId="{67DFE038-8E3D-C649-A5BB-9B3C0EE1B407}" destId="{09E031DD-5B6F-B149-9EF5-9E627F32C5E0}" srcOrd="11" destOrd="0" presId="urn:microsoft.com/office/officeart/2005/8/layout/target1"/>
    <dgm:cxn modelId="{9E4047F7-2ACA-AA41-B926-46A2DE42BDF2}" type="presParOf" srcId="{67DFE038-8E3D-C649-A5BB-9B3C0EE1B407}" destId="{F85D9B43-A645-1046-AAFB-474175001081}" srcOrd="12" destOrd="0" presId="urn:microsoft.com/office/officeart/2005/8/layout/target1"/>
    <dgm:cxn modelId="{FBE53C4A-D092-E84C-938D-3A496E8B6665}" type="presParOf" srcId="{67DFE038-8E3D-C649-A5BB-9B3C0EE1B407}" destId="{7DB2A403-2088-DF4C-B961-D8DCC748BA56}" srcOrd="13" destOrd="0" presId="urn:microsoft.com/office/officeart/2005/8/layout/target1"/>
    <dgm:cxn modelId="{8C37571A-B911-EB43-80B5-B862A55E4F9A}" type="presParOf" srcId="{67DFE038-8E3D-C649-A5BB-9B3C0EE1B407}" destId="{DEF37567-F691-5D47-8D86-7EF938ACCD23}" srcOrd="14" destOrd="0" presId="urn:microsoft.com/office/officeart/2005/8/layout/target1"/>
    <dgm:cxn modelId="{FC3B03F4-13C2-014D-A1C0-61500825C10A}" type="presParOf" srcId="{67DFE038-8E3D-C649-A5BB-9B3C0EE1B407}" destId="{C5CA4BDE-6447-5546-B9F5-65BD75E05390}" srcOrd="15" destOrd="0" presId="urn:microsoft.com/office/officeart/2005/8/layout/target1"/>
  </dgm:cxnLst>
  <dgm:bg/>
  <dgm:whole>
    <a:ln>
      <a:solidFill>
        <a:schemeClr val="accent1">
          <a:lumMod val="50000"/>
        </a:schemeClr>
      </a:solidFill>
    </a:ln>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8399CD-6D80-A04B-A73D-FAE536245E54}">
      <dsp:nvSpPr>
        <dsp:cNvPr id="0" name=""/>
        <dsp:cNvSpPr/>
      </dsp:nvSpPr>
      <dsp:spPr>
        <a:xfrm>
          <a:off x="-361914" y="0"/>
          <a:ext cx="4768552" cy="4768552"/>
        </a:xfrm>
        <a:prstGeom prst="pie">
          <a:avLst>
            <a:gd name="adj1" fmla="val 5400000"/>
            <a:gd name="adj2" fmla="val 1620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1C95AEB3-1C20-5849-B1AE-D3E218984151}">
      <dsp:nvSpPr>
        <dsp:cNvPr id="0" name=""/>
        <dsp:cNvSpPr/>
      </dsp:nvSpPr>
      <dsp:spPr>
        <a:xfrm>
          <a:off x="2022361" y="0"/>
          <a:ext cx="6513786" cy="4768552"/>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US" sz="1400" kern="1200" dirty="0"/>
            <a:t>Pipelining</a:t>
          </a:r>
          <a:endParaRPr lang="en-US" sz="2000" kern="1200" dirty="0"/>
        </a:p>
      </dsp:txBody>
      <dsp:txXfrm>
        <a:off x="2022361" y="0"/>
        <a:ext cx="3256893" cy="762968"/>
      </dsp:txXfrm>
    </dsp:sp>
    <dsp:sp modelId="{95965867-777A-B244-9440-59A3ABA67E2E}">
      <dsp:nvSpPr>
        <dsp:cNvPr id="0" name=""/>
        <dsp:cNvSpPr/>
      </dsp:nvSpPr>
      <dsp:spPr>
        <a:xfrm>
          <a:off x="138783" y="762968"/>
          <a:ext cx="3767156" cy="3767156"/>
        </a:xfrm>
        <a:prstGeom prst="pie">
          <a:avLst>
            <a:gd name="adj1" fmla="val 5400000"/>
            <a:gd name="adj2" fmla="val 1620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62C26FB8-F960-704B-9B69-4C5DA54F634F}">
      <dsp:nvSpPr>
        <dsp:cNvPr id="0" name=""/>
        <dsp:cNvSpPr/>
      </dsp:nvSpPr>
      <dsp:spPr>
        <a:xfrm>
          <a:off x="2022361" y="762968"/>
          <a:ext cx="6513786" cy="3767156"/>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US" sz="1400" kern="1200" dirty="0"/>
            <a:t>Branch prediction</a:t>
          </a:r>
        </a:p>
      </dsp:txBody>
      <dsp:txXfrm>
        <a:off x="2022361" y="762968"/>
        <a:ext cx="3256893" cy="762968"/>
      </dsp:txXfrm>
    </dsp:sp>
    <dsp:sp modelId="{8980E4CE-FAE8-4640-865E-DD474CAE12ED}">
      <dsp:nvSpPr>
        <dsp:cNvPr id="0" name=""/>
        <dsp:cNvSpPr/>
      </dsp:nvSpPr>
      <dsp:spPr>
        <a:xfrm>
          <a:off x="639481" y="1525936"/>
          <a:ext cx="2765760" cy="2765760"/>
        </a:xfrm>
        <a:prstGeom prst="pie">
          <a:avLst>
            <a:gd name="adj1" fmla="val 5400000"/>
            <a:gd name="adj2" fmla="val 1620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8A0AD6EA-0B5C-914A-9F0A-CC84B3884EAA}">
      <dsp:nvSpPr>
        <dsp:cNvPr id="0" name=""/>
        <dsp:cNvSpPr/>
      </dsp:nvSpPr>
      <dsp:spPr>
        <a:xfrm>
          <a:off x="2022361" y="1525936"/>
          <a:ext cx="6513786" cy="276576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US" sz="1400" kern="1200" dirty="0"/>
            <a:t>Superscalar execution</a:t>
          </a:r>
        </a:p>
      </dsp:txBody>
      <dsp:txXfrm>
        <a:off x="2022361" y="1525936"/>
        <a:ext cx="3256893" cy="762968"/>
      </dsp:txXfrm>
    </dsp:sp>
    <dsp:sp modelId="{8FC3D4C7-6020-F347-A658-FE974C7C2633}">
      <dsp:nvSpPr>
        <dsp:cNvPr id="0" name=""/>
        <dsp:cNvSpPr/>
      </dsp:nvSpPr>
      <dsp:spPr>
        <a:xfrm>
          <a:off x="1140179" y="2288904"/>
          <a:ext cx="1764364" cy="1764364"/>
        </a:xfrm>
        <a:prstGeom prst="pie">
          <a:avLst>
            <a:gd name="adj1" fmla="val 5400000"/>
            <a:gd name="adj2" fmla="val 1620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3912B40C-E4AB-4443-8E49-43D36F560895}">
      <dsp:nvSpPr>
        <dsp:cNvPr id="0" name=""/>
        <dsp:cNvSpPr/>
      </dsp:nvSpPr>
      <dsp:spPr>
        <a:xfrm>
          <a:off x="2034086" y="2248271"/>
          <a:ext cx="6513786" cy="1764364"/>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US" sz="1400" kern="1200" dirty="0"/>
            <a:t>Data flow analysis</a:t>
          </a:r>
        </a:p>
      </dsp:txBody>
      <dsp:txXfrm>
        <a:off x="2034086" y="2248271"/>
        <a:ext cx="3256893" cy="762968"/>
      </dsp:txXfrm>
    </dsp:sp>
    <dsp:sp modelId="{8CA8964D-0088-5C41-B5B6-C7928BBF95DC}">
      <dsp:nvSpPr>
        <dsp:cNvPr id="0" name=""/>
        <dsp:cNvSpPr/>
      </dsp:nvSpPr>
      <dsp:spPr>
        <a:xfrm>
          <a:off x="1640877" y="3051873"/>
          <a:ext cx="762968" cy="762968"/>
        </a:xfrm>
        <a:prstGeom prst="pie">
          <a:avLst>
            <a:gd name="adj1" fmla="val 5400000"/>
            <a:gd name="adj2" fmla="val 1620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4E35B49C-BBBC-DB45-BDFD-E61EAF99AC87}">
      <dsp:nvSpPr>
        <dsp:cNvPr id="0" name=""/>
        <dsp:cNvSpPr/>
      </dsp:nvSpPr>
      <dsp:spPr>
        <a:xfrm>
          <a:off x="2029331" y="3020904"/>
          <a:ext cx="6513786" cy="762968"/>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US" sz="1400" kern="1200" dirty="0"/>
            <a:t>Speculative execution</a:t>
          </a:r>
        </a:p>
      </dsp:txBody>
      <dsp:txXfrm>
        <a:off x="2029331" y="3020904"/>
        <a:ext cx="3256893" cy="762968"/>
      </dsp:txXfrm>
    </dsp:sp>
    <dsp:sp modelId="{9625A8A9-4E22-1C45-8780-F620536E0AB6}">
      <dsp:nvSpPr>
        <dsp:cNvPr id="0" name=""/>
        <dsp:cNvSpPr/>
      </dsp:nvSpPr>
      <dsp:spPr>
        <a:xfrm>
          <a:off x="3857490" y="76197"/>
          <a:ext cx="4660223" cy="762968"/>
        </a:xfrm>
        <a:prstGeom prst="rect">
          <a:avLst/>
        </a:prstGeom>
        <a:noFill/>
        <a:ln w="12700"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57150" lvl="1" indent="-57150" algn="l" defTabSz="488950" rtl="0">
            <a:lnSpc>
              <a:spcPct val="90000"/>
            </a:lnSpc>
            <a:spcBef>
              <a:spcPct val="0"/>
            </a:spcBef>
            <a:spcAft>
              <a:spcPct val="15000"/>
            </a:spcAft>
            <a:buChar char="•"/>
          </a:pPr>
          <a:r>
            <a:rPr lang="en-US" sz="1100" kern="1200" dirty="0"/>
            <a:t>Processor moves data or instructions into a conceptual pipe with all stages of the pipe processing simultaneously</a:t>
          </a:r>
        </a:p>
      </dsp:txBody>
      <dsp:txXfrm>
        <a:off x="3857490" y="76197"/>
        <a:ext cx="4660223" cy="762968"/>
      </dsp:txXfrm>
    </dsp:sp>
    <dsp:sp modelId="{B8C4BD7A-9494-904F-8FD8-EAB30AD1C9C2}">
      <dsp:nvSpPr>
        <dsp:cNvPr id="0" name=""/>
        <dsp:cNvSpPr/>
      </dsp:nvSpPr>
      <dsp:spPr>
        <a:xfrm>
          <a:off x="4577589" y="736104"/>
          <a:ext cx="3888078" cy="762968"/>
        </a:xfrm>
        <a:prstGeom prst="rect">
          <a:avLst/>
        </a:prstGeom>
        <a:noFill/>
        <a:ln w="12700"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57150" lvl="1" indent="-57150" algn="l" defTabSz="488950" rtl="0">
            <a:lnSpc>
              <a:spcPct val="90000"/>
            </a:lnSpc>
            <a:spcBef>
              <a:spcPct val="0"/>
            </a:spcBef>
            <a:spcAft>
              <a:spcPct val="15000"/>
            </a:spcAft>
            <a:buChar char="•"/>
          </a:pPr>
          <a:r>
            <a:rPr lang="en-US" sz="1100" kern="1200" dirty="0"/>
            <a:t>Processor looks ahead in the instruction code fetched from memory and predicts which branches, or groups of instructions, are likely to be processed next</a:t>
          </a:r>
        </a:p>
      </dsp:txBody>
      <dsp:txXfrm>
        <a:off x="4577589" y="736104"/>
        <a:ext cx="3888078" cy="762968"/>
      </dsp:txXfrm>
    </dsp:sp>
    <dsp:sp modelId="{9D7E2566-676D-9E41-99C2-0953099D924D}">
      <dsp:nvSpPr>
        <dsp:cNvPr id="0" name=""/>
        <dsp:cNvSpPr/>
      </dsp:nvSpPr>
      <dsp:spPr>
        <a:xfrm>
          <a:off x="4289566" y="1528195"/>
          <a:ext cx="4228196" cy="762968"/>
        </a:xfrm>
        <a:prstGeom prst="rect">
          <a:avLst/>
        </a:prstGeom>
        <a:noFill/>
        <a:ln w="12700"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57150" lvl="1" indent="-57150" algn="l" defTabSz="488950" rtl="0">
            <a:lnSpc>
              <a:spcPct val="90000"/>
            </a:lnSpc>
            <a:spcBef>
              <a:spcPct val="0"/>
            </a:spcBef>
            <a:spcAft>
              <a:spcPct val="15000"/>
            </a:spcAft>
            <a:buChar char="•"/>
          </a:pPr>
          <a:r>
            <a:rPr lang="en-US" sz="1100" kern="1200" dirty="0"/>
            <a:t>This is the ability to issue </a:t>
          </a:r>
          <a:r>
            <a:rPr lang="en-US" sz="1100" kern="1200" dirty="0">
              <a:solidFill>
                <a:srgbClr val="FF0000"/>
              </a:solidFill>
            </a:rPr>
            <a:t>more than one instruction </a:t>
          </a:r>
          <a:r>
            <a:rPr lang="en-US" sz="1100" kern="1200" dirty="0"/>
            <a:t>in every processor clock cycle. (In effect, multiple parallel pipelines are used.)</a:t>
          </a:r>
        </a:p>
      </dsp:txBody>
      <dsp:txXfrm>
        <a:off x="4289566" y="1528195"/>
        <a:ext cx="4228196" cy="762968"/>
      </dsp:txXfrm>
    </dsp:sp>
    <dsp:sp modelId="{B4AAA73C-1031-C544-BDD6-9B9C29452A80}">
      <dsp:nvSpPr>
        <dsp:cNvPr id="0" name=""/>
        <dsp:cNvSpPr/>
      </dsp:nvSpPr>
      <dsp:spPr>
        <a:xfrm>
          <a:off x="4217540" y="2176267"/>
          <a:ext cx="4301183" cy="762968"/>
        </a:xfrm>
        <a:prstGeom prst="rect">
          <a:avLst/>
        </a:prstGeom>
        <a:noFill/>
        <a:ln w="12700"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57150" lvl="1" indent="-57150" algn="l" defTabSz="488950" rtl="0">
            <a:lnSpc>
              <a:spcPct val="90000"/>
            </a:lnSpc>
            <a:spcBef>
              <a:spcPct val="0"/>
            </a:spcBef>
            <a:spcAft>
              <a:spcPct val="15000"/>
            </a:spcAft>
            <a:buChar char="•"/>
          </a:pPr>
          <a:r>
            <a:rPr lang="en-US" sz="1100" kern="1200" dirty="0"/>
            <a:t>Processor analyzes which instructions are dependent on each other’s results, or data, to create an </a:t>
          </a:r>
          <a:r>
            <a:rPr lang="en-US" sz="1100" kern="1200" dirty="0">
              <a:solidFill>
                <a:srgbClr val="FF0000"/>
              </a:solidFill>
            </a:rPr>
            <a:t>optimized schedule of instructions</a:t>
          </a:r>
        </a:p>
      </dsp:txBody>
      <dsp:txXfrm>
        <a:off x="4217540" y="2176267"/>
        <a:ext cx="4301183" cy="762968"/>
      </dsp:txXfrm>
    </dsp:sp>
    <dsp:sp modelId="{BB5D0C00-E641-934E-AE39-CCC5D85D9568}">
      <dsp:nvSpPr>
        <dsp:cNvPr id="0" name=""/>
        <dsp:cNvSpPr/>
      </dsp:nvSpPr>
      <dsp:spPr>
        <a:xfrm>
          <a:off x="3857507" y="3040360"/>
          <a:ext cx="4704549" cy="762968"/>
        </a:xfrm>
        <a:prstGeom prst="rect">
          <a:avLst/>
        </a:prstGeom>
        <a:noFill/>
        <a:ln w="12700"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57150" lvl="1" indent="-57150" algn="l" defTabSz="488950" rtl="0">
            <a:lnSpc>
              <a:spcPct val="90000"/>
            </a:lnSpc>
            <a:spcBef>
              <a:spcPct val="0"/>
            </a:spcBef>
            <a:spcAft>
              <a:spcPct val="15000"/>
            </a:spcAft>
            <a:buChar char="•"/>
          </a:pPr>
          <a:r>
            <a:rPr lang="en-US" sz="1100" kern="1200" dirty="0"/>
            <a:t>Using branch prediction and data flow analysis, some </a:t>
          </a:r>
          <a:r>
            <a:rPr lang="en-US" sz="1100" kern="1200" dirty="0">
              <a:solidFill>
                <a:srgbClr val="FF0000"/>
              </a:solidFill>
            </a:rPr>
            <a:t>processors speculatively execute instructions ahead of their actual appearance in the program execution</a:t>
          </a:r>
          <a:r>
            <a:rPr lang="en-US" sz="1100" kern="1200" dirty="0"/>
            <a:t>, holding the results in temporary locations, keeping execution engines as busy as possible</a:t>
          </a:r>
        </a:p>
      </dsp:txBody>
      <dsp:txXfrm>
        <a:off x="3857507" y="3040360"/>
        <a:ext cx="4704549" cy="76296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E1869E-B08B-E84C-BE54-79A5CFDF5A04}">
      <dsp:nvSpPr>
        <dsp:cNvPr id="0" name=""/>
        <dsp:cNvSpPr/>
      </dsp:nvSpPr>
      <dsp:spPr>
        <a:xfrm>
          <a:off x="3683999" y="0"/>
          <a:ext cx="3429000" cy="3429000"/>
        </a:xfrm>
        <a:prstGeom prst="triangle">
          <a:avLst/>
        </a:prstGeom>
        <a:solidFill>
          <a:schemeClr val="lt1">
            <a:hueOff val="0"/>
            <a:satOff val="0"/>
            <a:lumOff val="0"/>
            <a:alphaOff val="0"/>
          </a:schemeClr>
        </a:solidFill>
        <a:ln w="25400" cap="flat"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b="1" kern="1200" dirty="0">
              <a:solidFill>
                <a:srgbClr val="C00000"/>
              </a:solidFill>
              <a:effectLst/>
            </a:rPr>
            <a:t>Increase the number of bits that are retrieved at one time </a:t>
          </a:r>
          <a:r>
            <a:rPr lang="en-US" sz="1200" b="1" kern="1200" dirty="0">
              <a:effectLst/>
            </a:rPr>
            <a:t>by making DRAMs “wider” rather than “deeper” and by using wide bus data paths</a:t>
          </a:r>
        </a:p>
      </dsp:txBody>
      <dsp:txXfrm>
        <a:off x="4541249" y="1714500"/>
        <a:ext cx="1714500" cy="1714500"/>
      </dsp:txXfrm>
    </dsp:sp>
    <dsp:sp modelId="{4A58DB61-09B5-E94D-AEC1-6280D22B2A8E}">
      <dsp:nvSpPr>
        <dsp:cNvPr id="0" name=""/>
        <dsp:cNvSpPr/>
      </dsp:nvSpPr>
      <dsp:spPr>
        <a:xfrm>
          <a:off x="1969499" y="3429000"/>
          <a:ext cx="3429000" cy="3429000"/>
        </a:xfrm>
        <a:prstGeom prst="triangle">
          <a:avLst/>
        </a:prstGeom>
        <a:solidFill>
          <a:schemeClr val="lt1">
            <a:hueOff val="0"/>
            <a:satOff val="0"/>
            <a:lumOff val="0"/>
            <a:alphaOff val="0"/>
          </a:schemeClr>
        </a:solidFill>
        <a:ln w="25400" cap="flat"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1200" b="1" kern="1200" dirty="0">
              <a:solidFill>
                <a:srgbClr val="C00000"/>
              </a:solidFill>
              <a:effectLst/>
            </a:rPr>
            <a:t>Change the DRAM interface</a:t>
          </a:r>
          <a:r>
            <a:rPr lang="en-US" sz="1200" b="1" kern="1200" dirty="0">
              <a:effectLst/>
            </a:rPr>
            <a:t> to make it more efficient by including a cache or other buffering scheme on the DRAM chip</a:t>
          </a:r>
        </a:p>
        <a:p>
          <a:pPr lvl="0" algn="ctr" defTabSz="533400" rtl="0">
            <a:lnSpc>
              <a:spcPct val="90000"/>
            </a:lnSpc>
            <a:spcBef>
              <a:spcPct val="0"/>
            </a:spcBef>
            <a:spcAft>
              <a:spcPct val="35000"/>
            </a:spcAft>
            <a:buNone/>
          </a:pPr>
          <a:endParaRPr lang="en-US" sz="1200" b="0" kern="1200" dirty="0">
            <a:effectLst/>
          </a:endParaRPr>
        </a:p>
      </dsp:txBody>
      <dsp:txXfrm>
        <a:off x="2826749" y="5143500"/>
        <a:ext cx="1714500" cy="1714500"/>
      </dsp:txXfrm>
    </dsp:sp>
    <dsp:sp modelId="{200ABC57-7D7F-C84D-A1A6-CF6A59C98A27}">
      <dsp:nvSpPr>
        <dsp:cNvPr id="0" name=""/>
        <dsp:cNvSpPr/>
      </dsp:nvSpPr>
      <dsp:spPr>
        <a:xfrm rot="10800000">
          <a:off x="3683999" y="3429000"/>
          <a:ext cx="3429000" cy="3429000"/>
        </a:xfrm>
        <a:prstGeom prst="triangle">
          <a:avLst/>
        </a:prstGeom>
        <a:solidFill>
          <a:schemeClr val="lt1">
            <a:hueOff val="0"/>
            <a:satOff val="0"/>
            <a:lumOff val="0"/>
            <a:alphaOff val="0"/>
          </a:schemeClr>
        </a:solidFill>
        <a:ln w="25400" cap="flat"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b="1" kern="1200" dirty="0">
              <a:solidFill>
                <a:srgbClr val="C00000"/>
              </a:solidFill>
              <a:effectLst/>
            </a:rPr>
            <a:t>Reduce the frequency of memory access by incorporati</a:t>
          </a:r>
          <a:r>
            <a:rPr lang="en-US" sz="1200" b="1" kern="1200" dirty="0">
              <a:effectLst/>
            </a:rPr>
            <a:t>ng increasingly complex and </a:t>
          </a:r>
          <a:r>
            <a:rPr lang="en-US" sz="1200" b="1" kern="1200" dirty="0">
              <a:solidFill>
                <a:srgbClr val="C00000"/>
              </a:solidFill>
              <a:effectLst/>
            </a:rPr>
            <a:t>efficient cache </a:t>
          </a:r>
          <a:r>
            <a:rPr lang="en-US" sz="1200" b="1" kern="1200" dirty="0">
              <a:effectLst/>
            </a:rPr>
            <a:t>structures between the processor and main memory</a:t>
          </a:r>
        </a:p>
      </dsp:txBody>
      <dsp:txXfrm rot="10800000">
        <a:off x="4541249" y="3429000"/>
        <a:ext cx="1714500" cy="1714500"/>
      </dsp:txXfrm>
    </dsp:sp>
    <dsp:sp modelId="{4CEF2A95-22F9-8B4C-8350-C2D662044B6C}">
      <dsp:nvSpPr>
        <dsp:cNvPr id="0" name=""/>
        <dsp:cNvSpPr/>
      </dsp:nvSpPr>
      <dsp:spPr>
        <a:xfrm>
          <a:off x="5322289" y="3429000"/>
          <a:ext cx="3581419" cy="3429000"/>
        </a:xfrm>
        <a:prstGeom prst="triangle">
          <a:avLst/>
        </a:prstGeom>
        <a:solidFill>
          <a:schemeClr val="lt1">
            <a:hueOff val="0"/>
            <a:satOff val="0"/>
            <a:lumOff val="0"/>
            <a:alphaOff val="0"/>
          </a:schemeClr>
        </a:solidFill>
        <a:ln w="25400" cap="flat"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b="1" kern="1200" dirty="0">
              <a:solidFill>
                <a:srgbClr val="C00000"/>
              </a:solidFill>
              <a:effectLst/>
            </a:rPr>
            <a:t>Increase the interconnect bandwidth </a:t>
          </a:r>
          <a:r>
            <a:rPr lang="en-US" sz="1200" b="1" kern="1200" dirty="0">
              <a:effectLst/>
            </a:rPr>
            <a:t>between processors and memory by using higher speed buses and a hierarchy of buses to buffer and structure data flow</a:t>
          </a:r>
        </a:p>
      </dsp:txBody>
      <dsp:txXfrm>
        <a:off x="6217644" y="5143500"/>
        <a:ext cx="1790709" cy="17145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5D9B43-A645-1046-AAFB-474175001081}">
      <dsp:nvSpPr>
        <dsp:cNvPr id="0" name=""/>
        <dsp:cNvSpPr/>
      </dsp:nvSpPr>
      <dsp:spPr>
        <a:xfrm>
          <a:off x="124019" y="1562100"/>
          <a:ext cx="4686300" cy="4686300"/>
        </a:xfrm>
        <a:prstGeom prst="ellipse">
          <a:avLst/>
        </a:prstGeom>
        <a:gradFill rotWithShape="0">
          <a:gsLst>
            <a:gs pos="0">
              <a:schemeClr val="accent2">
                <a:shade val="50000"/>
                <a:hueOff val="-237266"/>
                <a:satOff val="-33833"/>
                <a:lumOff val="33505"/>
                <a:alphaOff val="0"/>
                <a:shade val="40000"/>
                <a:alpha val="100000"/>
                <a:satMod val="150000"/>
                <a:lumMod val="100000"/>
              </a:schemeClr>
            </a:gs>
            <a:gs pos="100000">
              <a:schemeClr val="accent2">
                <a:shade val="50000"/>
                <a:hueOff val="-237266"/>
                <a:satOff val="-33833"/>
                <a:lumOff val="33505"/>
                <a:alphaOff val="0"/>
                <a:tint val="70000"/>
                <a:shade val="100000"/>
                <a:alpha val="100000"/>
                <a:satMod val="200000"/>
                <a:lumMod val="100000"/>
              </a:schemeClr>
            </a:gs>
          </a:gsLst>
          <a:lin ang="5400000" scaled="1"/>
        </a:gradFill>
        <a:ln w="12700" cap="flat" cmpd="sng" algn="ctr">
          <a:solidFill>
            <a:schemeClr val="lt1">
              <a:hueOff val="0"/>
              <a:satOff val="0"/>
              <a:lumOff val="0"/>
              <a:alphaOff val="0"/>
            </a:schemeClr>
          </a:solidFill>
          <a:prstDash val="solid"/>
        </a:ln>
        <a:effectLst>
          <a:innerShdw blurRad="50800" dist="25400" dir="13500000">
            <a:srgbClr val="FFFFFF">
              <a:alpha val="75000"/>
            </a:srgbClr>
          </a:innerShdw>
          <a:outerShdw blurRad="63500" dist="25400" dir="5400000" rotWithShape="0">
            <a:srgbClr val="808080">
              <a:alpha val="75000"/>
            </a:srgbClr>
          </a:outerShdw>
        </a:effectLst>
        <a:scene3d>
          <a:camera prst="orthographicFront"/>
          <a:lightRig rig="threePt" dir="t">
            <a:rot lat="0" lon="0" rev="7500000"/>
          </a:lightRig>
        </a:scene3d>
        <a:sp3d prstMaterial="plastic">
          <a:bevelT w="127000" h="25400" prst="relaxedInset"/>
        </a:sp3d>
      </dsp:spPr>
      <dsp:style>
        <a:lnRef idx="1">
          <a:scrgbClr r="0" g="0" b="0"/>
        </a:lnRef>
        <a:fillRef idx="3">
          <a:scrgbClr r="0" g="0" b="0"/>
        </a:fillRef>
        <a:effectRef idx="2">
          <a:scrgbClr r="0" g="0" b="0"/>
        </a:effectRef>
        <a:fontRef idx="minor">
          <a:schemeClr val="lt1"/>
        </a:fontRef>
      </dsp:style>
    </dsp:sp>
    <dsp:sp modelId="{09E5408D-8A11-C349-983A-FF27A4CD0E3B}">
      <dsp:nvSpPr>
        <dsp:cNvPr id="0" name=""/>
        <dsp:cNvSpPr/>
      </dsp:nvSpPr>
      <dsp:spPr>
        <a:xfrm>
          <a:off x="793769" y="2231850"/>
          <a:ext cx="3346799" cy="3346799"/>
        </a:xfrm>
        <a:prstGeom prst="ellipse">
          <a:avLst/>
        </a:prstGeom>
        <a:gradFill rotWithShape="0">
          <a:gsLst>
            <a:gs pos="0">
              <a:schemeClr val="accent2">
                <a:shade val="50000"/>
                <a:hueOff val="-474532"/>
                <a:satOff val="-67666"/>
                <a:lumOff val="67010"/>
                <a:alphaOff val="0"/>
                <a:shade val="40000"/>
                <a:alpha val="100000"/>
                <a:satMod val="150000"/>
                <a:lumMod val="100000"/>
              </a:schemeClr>
            </a:gs>
            <a:gs pos="100000">
              <a:schemeClr val="accent2">
                <a:shade val="50000"/>
                <a:hueOff val="-474532"/>
                <a:satOff val="-67666"/>
                <a:lumOff val="67010"/>
                <a:alphaOff val="0"/>
                <a:tint val="70000"/>
                <a:shade val="100000"/>
                <a:alpha val="100000"/>
                <a:satMod val="200000"/>
                <a:lumMod val="100000"/>
              </a:schemeClr>
            </a:gs>
          </a:gsLst>
          <a:lin ang="5400000" scaled="1"/>
        </a:gradFill>
        <a:ln w="12700" cap="flat" cmpd="sng" algn="ctr">
          <a:solidFill>
            <a:schemeClr val="lt1">
              <a:hueOff val="0"/>
              <a:satOff val="0"/>
              <a:lumOff val="0"/>
              <a:alphaOff val="0"/>
            </a:schemeClr>
          </a:solidFill>
          <a:prstDash val="solid"/>
        </a:ln>
        <a:effectLst>
          <a:innerShdw blurRad="50800" dist="25400" dir="13500000">
            <a:srgbClr val="FFFFFF">
              <a:alpha val="75000"/>
            </a:srgbClr>
          </a:innerShdw>
          <a:outerShdw blurRad="63500" dist="25400" dir="5400000" rotWithShape="0">
            <a:srgbClr val="808080">
              <a:alpha val="75000"/>
            </a:srgbClr>
          </a:outerShdw>
        </a:effectLst>
        <a:scene3d>
          <a:camera prst="orthographicFront"/>
          <a:lightRig rig="threePt" dir="t">
            <a:rot lat="0" lon="0" rev="7500000"/>
          </a:lightRig>
        </a:scene3d>
        <a:sp3d prstMaterial="plastic">
          <a:bevelT w="127000" h="25400" prst="relaxedInset"/>
        </a:sp3d>
      </dsp:spPr>
      <dsp:style>
        <a:lnRef idx="1">
          <a:scrgbClr r="0" g="0" b="0"/>
        </a:lnRef>
        <a:fillRef idx="3">
          <a:scrgbClr r="0" g="0" b="0"/>
        </a:fillRef>
        <a:effectRef idx="2">
          <a:scrgbClr r="0" g="0" b="0"/>
        </a:effectRef>
        <a:fontRef idx="minor">
          <a:schemeClr val="lt1"/>
        </a:fontRef>
      </dsp:style>
    </dsp:sp>
    <dsp:sp modelId="{EAFBFBDD-6B2F-6542-A0F4-55DD8CB829AA}">
      <dsp:nvSpPr>
        <dsp:cNvPr id="0" name=""/>
        <dsp:cNvSpPr/>
      </dsp:nvSpPr>
      <dsp:spPr>
        <a:xfrm>
          <a:off x="1463129" y="2901210"/>
          <a:ext cx="2008079" cy="2008079"/>
        </a:xfrm>
        <a:prstGeom prst="ellipse">
          <a:avLst/>
        </a:prstGeom>
        <a:gradFill rotWithShape="0">
          <a:gsLst>
            <a:gs pos="0">
              <a:schemeClr val="accent2">
                <a:shade val="50000"/>
                <a:hueOff val="-237266"/>
                <a:satOff val="-33833"/>
                <a:lumOff val="33505"/>
                <a:alphaOff val="0"/>
                <a:shade val="40000"/>
                <a:alpha val="100000"/>
                <a:satMod val="150000"/>
                <a:lumMod val="100000"/>
              </a:schemeClr>
            </a:gs>
            <a:gs pos="100000">
              <a:schemeClr val="accent2">
                <a:shade val="50000"/>
                <a:hueOff val="-237266"/>
                <a:satOff val="-33833"/>
                <a:lumOff val="33505"/>
                <a:alphaOff val="0"/>
                <a:tint val="70000"/>
                <a:shade val="100000"/>
                <a:alpha val="100000"/>
                <a:satMod val="200000"/>
                <a:lumMod val="100000"/>
              </a:schemeClr>
            </a:gs>
          </a:gsLst>
          <a:lin ang="5400000" scaled="1"/>
        </a:gradFill>
        <a:ln w="12700" cap="flat" cmpd="sng" algn="ctr">
          <a:solidFill>
            <a:schemeClr val="lt1">
              <a:hueOff val="0"/>
              <a:satOff val="0"/>
              <a:lumOff val="0"/>
              <a:alphaOff val="0"/>
            </a:schemeClr>
          </a:solidFill>
          <a:prstDash val="solid"/>
        </a:ln>
        <a:effectLst>
          <a:innerShdw blurRad="50800" dist="25400" dir="13500000">
            <a:srgbClr val="FFFFFF">
              <a:alpha val="75000"/>
            </a:srgbClr>
          </a:innerShdw>
          <a:outerShdw blurRad="63500" dist="25400" dir="5400000" rotWithShape="0">
            <a:srgbClr val="808080">
              <a:alpha val="75000"/>
            </a:srgbClr>
          </a:outerShdw>
        </a:effectLst>
        <a:scene3d>
          <a:camera prst="orthographicFront"/>
          <a:lightRig rig="threePt" dir="t">
            <a:rot lat="0" lon="0" rev="7500000"/>
          </a:lightRig>
        </a:scene3d>
        <a:sp3d prstMaterial="plastic">
          <a:bevelT w="127000" h="25400" prst="relaxedInset"/>
        </a:sp3d>
      </dsp:spPr>
      <dsp:style>
        <a:lnRef idx="1">
          <a:scrgbClr r="0" g="0" b="0"/>
        </a:lnRef>
        <a:fillRef idx="3">
          <a:scrgbClr r="0" g="0" b="0"/>
        </a:fillRef>
        <a:effectRef idx="2">
          <a:scrgbClr r="0" g="0" b="0"/>
        </a:effectRef>
        <a:fontRef idx="minor">
          <a:schemeClr val="lt1"/>
        </a:fontRef>
      </dsp:style>
    </dsp:sp>
    <dsp:sp modelId="{CAE743AE-6431-1E40-A97F-5F24D5B60547}">
      <dsp:nvSpPr>
        <dsp:cNvPr id="0" name=""/>
        <dsp:cNvSpPr/>
      </dsp:nvSpPr>
      <dsp:spPr>
        <a:xfrm>
          <a:off x="2132489" y="3570570"/>
          <a:ext cx="669359" cy="669359"/>
        </a:xfrm>
        <a:prstGeom prst="ellipse">
          <a:avLst/>
        </a:prstGeom>
        <a:gradFill rotWithShape="0">
          <a:gsLst>
            <a:gs pos="0">
              <a:schemeClr val="accent2">
                <a:shade val="50000"/>
                <a:hueOff val="0"/>
                <a:satOff val="0"/>
                <a:lumOff val="0"/>
                <a:alphaOff val="0"/>
                <a:shade val="40000"/>
                <a:alpha val="100000"/>
                <a:satMod val="150000"/>
                <a:lumMod val="100000"/>
              </a:schemeClr>
            </a:gs>
            <a:gs pos="100000">
              <a:schemeClr val="accent2">
                <a:shade val="50000"/>
                <a:hueOff val="0"/>
                <a:satOff val="0"/>
                <a:lumOff val="0"/>
                <a:alphaOff val="0"/>
                <a:tint val="70000"/>
                <a:shade val="100000"/>
                <a:alpha val="100000"/>
                <a:satMod val="200000"/>
                <a:lumMod val="100000"/>
              </a:schemeClr>
            </a:gs>
          </a:gsLst>
          <a:lin ang="5400000" scaled="1"/>
        </a:gradFill>
        <a:ln w="12700" cap="flat" cmpd="sng" algn="ctr">
          <a:solidFill>
            <a:schemeClr val="lt1">
              <a:hueOff val="0"/>
              <a:satOff val="0"/>
              <a:lumOff val="0"/>
              <a:alphaOff val="0"/>
            </a:schemeClr>
          </a:solidFill>
          <a:prstDash val="solid"/>
        </a:ln>
        <a:effectLst>
          <a:innerShdw blurRad="50800" dist="25400" dir="13500000">
            <a:srgbClr val="FFFFFF">
              <a:alpha val="75000"/>
            </a:srgbClr>
          </a:innerShdw>
          <a:outerShdw blurRad="63500" dist="25400" dir="5400000" rotWithShape="0">
            <a:srgbClr val="808080">
              <a:alpha val="75000"/>
            </a:srgbClr>
          </a:outerShdw>
        </a:effectLst>
        <a:scene3d>
          <a:camera prst="orthographicFront"/>
          <a:lightRig rig="threePt" dir="t">
            <a:rot lat="0" lon="0" rev="7500000"/>
          </a:lightRig>
        </a:scene3d>
        <a:sp3d prstMaterial="plastic">
          <a:bevelT w="127000" h="25400" prst="relaxedInset"/>
        </a:sp3d>
      </dsp:spPr>
      <dsp:style>
        <a:lnRef idx="1">
          <a:scrgbClr r="0" g="0" b="0"/>
        </a:lnRef>
        <a:fillRef idx="3">
          <a:scrgbClr r="0" g="0" b="0"/>
        </a:fillRef>
        <a:effectRef idx="2">
          <a:scrgbClr r="0" g="0" b="0"/>
        </a:effectRef>
        <a:fontRef idx="minor">
          <a:schemeClr val="lt1"/>
        </a:fontRef>
      </dsp:style>
    </dsp:sp>
    <dsp:sp modelId="{AB119BD4-C127-B449-BD7B-2FB3093D572E}">
      <dsp:nvSpPr>
        <dsp:cNvPr id="0" name=""/>
        <dsp:cNvSpPr/>
      </dsp:nvSpPr>
      <dsp:spPr>
        <a:xfrm>
          <a:off x="5544326" y="0"/>
          <a:ext cx="2685273" cy="11208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00" tIns="20320" rIns="20320" bIns="20320" numCol="1" spcCol="1270" anchor="t" anchorCtr="0">
          <a:noAutofit/>
        </a:bodyPr>
        <a:lstStyle/>
        <a:p>
          <a:pPr marL="0" lvl="0" indent="0" algn="l" defTabSz="711200" rtl="0">
            <a:lnSpc>
              <a:spcPct val="90000"/>
            </a:lnSpc>
            <a:spcBef>
              <a:spcPct val="0"/>
            </a:spcBef>
            <a:spcAft>
              <a:spcPct val="35000"/>
            </a:spcAft>
            <a:buNone/>
          </a:pPr>
          <a:r>
            <a:rPr lang="en-US" sz="1600" kern="1200" dirty="0"/>
            <a:t>The use of multiple processors on the same chip provides the potential to </a:t>
          </a:r>
          <a:r>
            <a:rPr lang="en-US" sz="1600" kern="1200" dirty="0">
              <a:solidFill>
                <a:srgbClr val="C00000"/>
              </a:solidFill>
            </a:rPr>
            <a:t>increase performance without increasing the clock rate</a:t>
          </a:r>
        </a:p>
      </dsp:txBody>
      <dsp:txXfrm>
        <a:off x="5544326" y="0"/>
        <a:ext cx="2685273" cy="1120806"/>
      </dsp:txXfrm>
    </dsp:sp>
    <dsp:sp modelId="{34B48968-EEAE-C24A-A838-020141B43AD6}">
      <dsp:nvSpPr>
        <dsp:cNvPr id="0" name=""/>
        <dsp:cNvSpPr/>
      </dsp:nvSpPr>
      <dsp:spPr>
        <a:xfrm>
          <a:off x="5005581" y="560403"/>
          <a:ext cx="585787"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DDA5D090-4EDE-CC46-88A9-94E77850F40F}">
      <dsp:nvSpPr>
        <dsp:cNvPr id="0" name=""/>
        <dsp:cNvSpPr/>
      </dsp:nvSpPr>
      <dsp:spPr>
        <a:xfrm rot="5400000">
          <a:off x="2061023" y="929449"/>
          <a:ext cx="3311652" cy="2577465"/>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513BC700-EE34-1A44-899C-A6CEEACA89E1}">
      <dsp:nvSpPr>
        <dsp:cNvPr id="0" name=""/>
        <dsp:cNvSpPr/>
      </dsp:nvSpPr>
      <dsp:spPr>
        <a:xfrm>
          <a:off x="5526803" y="1475452"/>
          <a:ext cx="2685273" cy="11208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00" tIns="20320" rIns="20320" bIns="20320" numCol="1" spcCol="1270" anchor="t" anchorCtr="0">
          <a:noAutofit/>
        </a:bodyPr>
        <a:lstStyle/>
        <a:p>
          <a:pPr marL="0" lvl="0" indent="0" algn="l" defTabSz="711200" rtl="0">
            <a:lnSpc>
              <a:spcPct val="90000"/>
            </a:lnSpc>
            <a:spcBef>
              <a:spcPct val="0"/>
            </a:spcBef>
            <a:spcAft>
              <a:spcPct val="35000"/>
            </a:spcAft>
            <a:buNone/>
          </a:pPr>
          <a:r>
            <a:rPr lang="en-US" sz="1600" kern="1200" dirty="0"/>
            <a:t>Strategy is to use </a:t>
          </a:r>
          <a:r>
            <a:rPr lang="en-US" sz="1600" kern="1200" dirty="0">
              <a:solidFill>
                <a:srgbClr val="C00000"/>
              </a:solidFill>
            </a:rPr>
            <a:t>two simpler processors on the chip</a:t>
          </a:r>
          <a:r>
            <a:rPr lang="en-US" sz="1600" kern="1200" dirty="0"/>
            <a:t> rather than one more complex processor</a:t>
          </a:r>
        </a:p>
      </dsp:txBody>
      <dsp:txXfrm>
        <a:off x="5526803" y="1475452"/>
        <a:ext cx="2685273" cy="1120806"/>
      </dsp:txXfrm>
    </dsp:sp>
    <dsp:sp modelId="{CD79B02B-ADDF-1141-8C86-45D10350966D}">
      <dsp:nvSpPr>
        <dsp:cNvPr id="0" name=""/>
        <dsp:cNvSpPr/>
      </dsp:nvSpPr>
      <dsp:spPr>
        <a:xfrm>
          <a:off x="5005581" y="1681210"/>
          <a:ext cx="585787"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816E5757-0CAD-CD46-B964-B653CB3D2F71}">
      <dsp:nvSpPr>
        <dsp:cNvPr id="0" name=""/>
        <dsp:cNvSpPr/>
      </dsp:nvSpPr>
      <dsp:spPr>
        <a:xfrm rot="5400000">
          <a:off x="2634313" y="2031901"/>
          <a:ext cx="2719616" cy="2019014"/>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64D028ED-D856-004F-82AE-25A1792DF594}">
      <dsp:nvSpPr>
        <dsp:cNvPr id="0" name=""/>
        <dsp:cNvSpPr/>
      </dsp:nvSpPr>
      <dsp:spPr>
        <a:xfrm>
          <a:off x="5544326" y="2843598"/>
          <a:ext cx="2685273" cy="11208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00" tIns="20320" rIns="20320" bIns="20320" numCol="1" spcCol="1270" anchor="t" anchorCtr="0">
          <a:noAutofit/>
        </a:bodyPr>
        <a:lstStyle/>
        <a:p>
          <a:pPr marL="0" lvl="0" indent="0" algn="l" defTabSz="711200" rtl="0">
            <a:lnSpc>
              <a:spcPct val="90000"/>
            </a:lnSpc>
            <a:spcBef>
              <a:spcPct val="0"/>
            </a:spcBef>
            <a:spcAft>
              <a:spcPct val="35000"/>
            </a:spcAft>
            <a:buNone/>
          </a:pPr>
          <a:r>
            <a:rPr lang="en-US" sz="1600" kern="1200" dirty="0"/>
            <a:t>With two processors larger caches are justified</a:t>
          </a:r>
        </a:p>
      </dsp:txBody>
      <dsp:txXfrm>
        <a:off x="5544326" y="2843598"/>
        <a:ext cx="2685273" cy="1120806"/>
      </dsp:txXfrm>
    </dsp:sp>
    <dsp:sp modelId="{844D6AD4-814E-9A49-8479-BBC4355D2906}">
      <dsp:nvSpPr>
        <dsp:cNvPr id="0" name=""/>
        <dsp:cNvSpPr/>
      </dsp:nvSpPr>
      <dsp:spPr>
        <a:xfrm>
          <a:off x="5005581" y="2802016"/>
          <a:ext cx="585787"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09E031DD-5B6F-B149-9EF5-9E627F32C5E0}">
      <dsp:nvSpPr>
        <dsp:cNvPr id="0" name=""/>
        <dsp:cNvSpPr/>
      </dsp:nvSpPr>
      <dsp:spPr>
        <a:xfrm rot="5400000">
          <a:off x="3189249" y="3059372"/>
          <a:ext cx="2074468" cy="1558194"/>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7DB2A403-2088-DF4C-B961-D8DCC748BA56}">
      <dsp:nvSpPr>
        <dsp:cNvPr id="0" name=""/>
        <dsp:cNvSpPr/>
      </dsp:nvSpPr>
      <dsp:spPr>
        <a:xfrm>
          <a:off x="5544326" y="3979110"/>
          <a:ext cx="2685273" cy="11208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00" tIns="20320" rIns="20320" bIns="20320" numCol="1" spcCol="1270" anchor="t" anchorCtr="0">
          <a:noAutofit/>
        </a:bodyPr>
        <a:lstStyle/>
        <a:p>
          <a:pPr marL="0" lvl="0" indent="0" algn="l" defTabSz="711200" rtl="0">
            <a:lnSpc>
              <a:spcPct val="90000"/>
            </a:lnSpc>
            <a:spcBef>
              <a:spcPct val="0"/>
            </a:spcBef>
            <a:spcAft>
              <a:spcPct val="35000"/>
            </a:spcAft>
            <a:buNone/>
          </a:pPr>
          <a:r>
            <a:rPr lang="en-US" sz="1600" kern="1200" dirty="0"/>
            <a:t>As caches became larger it made performance sense to create two and then three levels of cache on a chip</a:t>
          </a:r>
        </a:p>
      </dsp:txBody>
      <dsp:txXfrm>
        <a:off x="5544326" y="3979110"/>
        <a:ext cx="2685273" cy="1120806"/>
      </dsp:txXfrm>
    </dsp:sp>
    <dsp:sp modelId="{DEF37567-F691-5D47-8D86-7EF938ACCD23}">
      <dsp:nvSpPr>
        <dsp:cNvPr id="0" name=""/>
        <dsp:cNvSpPr/>
      </dsp:nvSpPr>
      <dsp:spPr>
        <a:xfrm>
          <a:off x="5009231" y="3923724"/>
          <a:ext cx="585787"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C5CA4BDE-6447-5546-B9F5-65BD75E05390}">
      <dsp:nvSpPr>
        <dsp:cNvPr id="0" name=""/>
        <dsp:cNvSpPr/>
      </dsp:nvSpPr>
      <dsp:spPr>
        <a:xfrm rot="5400000">
          <a:off x="3745513" y="4090905"/>
          <a:ext cx="1425884" cy="1088783"/>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yramid4">
  <dgm:title val=""/>
  <dgm:desc val=""/>
  <dgm:catLst>
    <dgm:cat type="pyramid" pri="4000"/>
    <dgm:cat type="relationship" pri="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useDef="1">
    <dgm:dataModel>
      <dgm:ptLst/>
      <dgm:bg/>
      <dgm:whole/>
    </dgm:dataModel>
  </dgm:styleData>
  <dgm:clrData useDef="1">
    <dgm:dataModel>
      <dgm:ptLst/>
      <dgm:bg/>
      <dgm:whole/>
    </dgm:dataModel>
  </dgm:clrData>
  <dgm:layoutNode name="compositeShape">
    <dgm:varLst>
      <dgm:chMax val="9"/>
      <dgm:dir/>
      <dgm:resizeHandles val="exact"/>
    </dgm:varLst>
    <dgm:alg type="composite">
      <dgm:param type="ar" val="1"/>
    </dgm:alg>
    <dgm:shape xmlns:r="http://schemas.openxmlformats.org/officeDocument/2006/relationships" r:blip="">
      <dgm:adjLst/>
    </dgm:shape>
    <dgm:presOf/>
    <dgm:choose name="Name0">
      <dgm:if name="Name1" axis="ch" ptType="node" func="cnt" op="lte" val="4">
        <dgm:choose name="Name2">
          <dgm:if name="Name3" axis="ch" ptType="node" func="cnt" op="equ" val="1">
            <dgm:constrLst>
              <dgm:constr type="primFontSz" for="ch" ptType="node" op="equ" val="65"/>
              <dgm:constr type="t" for="ch" forName="triangle1"/>
              <dgm:constr type="l" for="ch" forName="triangle1"/>
              <dgm:constr type="h" for="ch" forName="triangle1" refType="h"/>
              <dgm:constr type="w" for="ch" forName="triangle1" refType="h"/>
            </dgm:constrLst>
          </dgm:if>
          <dgm:else name="Name4">
            <dgm:constrLst>
              <dgm:constr type="primFontSz" for="ch" ptType="node" op="equ" val="65"/>
              <dgm:constr type="t" for="ch" forName="triangle1"/>
              <dgm:constr type="l" for="ch" forName="triangle1" refType="h" fact="0.25"/>
              <dgm:constr type="h" for="ch" forName="triangle1" refType="h" fact="0.5"/>
              <dgm:constr type="w" for="ch" forName="triangle1" refType="h" fact="0.5"/>
              <dgm:constr type="t" for="ch" forName="triangle2" refType="h" fact="0.5"/>
              <dgm:constr type="l" for="ch" forName="triangle2"/>
              <dgm:constr type="h" for="ch" forName="triangle2" refType="h" fact="0.5"/>
              <dgm:constr type="w" for="ch" forName="triangle2" refType="h" fact="0.5"/>
              <dgm:constr type="t" for="ch" forName="triangle3" refType="h" fact="0.5"/>
              <dgm:constr type="l" for="ch" forName="triangle3" refType="h" fact="0.25"/>
              <dgm:constr type="h" for="ch" forName="triangle3" refType="h" fact="0.5"/>
              <dgm:constr type="w" for="ch" forName="triangle3" refType="h" fact="0.5"/>
              <dgm:constr type="t" for="ch" forName="triangle4" refType="h" fact="0.5"/>
              <dgm:constr type="l" for="ch" forName="triangle4" refType="h" fact="0.5"/>
              <dgm:constr type="h" for="ch" forName="triangle4" refType="h" fact="0.5"/>
              <dgm:constr type="w" for="ch" forName="triangle4" refType="h" fact="0.5"/>
            </dgm:constrLst>
          </dgm:else>
        </dgm:choose>
      </dgm:if>
      <dgm:else name="Name5">
        <dgm:constrLst>
          <dgm:constr type="primFontSz" for="ch" ptType="node" op="equ" val="65"/>
          <dgm:constr type="t" for="ch" forName="triangle1"/>
          <dgm:constr type="l" for="ch" forName="triangle1" refType="h" fact="0.33"/>
          <dgm:constr type="h" for="ch" forName="triangle1" refType="h" fact="0.33"/>
          <dgm:constr type="w" for="ch" forName="triangle1" refType="h" fact="0.33"/>
          <dgm:constr type="t" for="ch" forName="triangle2" refType="h" fact="0.33"/>
          <dgm:constr type="l" for="ch" forName="triangle2" refType="h" fact="0.165"/>
          <dgm:constr type="h" for="ch" forName="triangle2" refType="h" fact="0.33"/>
          <dgm:constr type="w" for="ch" forName="triangle2" refType="h" fact="0.33"/>
          <dgm:constr type="t" for="ch" forName="triangle3" refType="h" fact="0.33"/>
          <dgm:constr type="l" for="ch" forName="triangle3" refType="h" fact="0.33"/>
          <dgm:constr type="h" for="ch" forName="triangle3" refType="h" fact="0.33"/>
          <dgm:constr type="w" for="ch" forName="triangle3" refType="h" fact="0.33"/>
          <dgm:constr type="t" for="ch" forName="triangle4" refType="h" fact="0.33"/>
          <dgm:constr type="l" for="ch" forName="triangle4" refType="h" fact="0.495"/>
          <dgm:constr type="h" for="ch" forName="triangle4" refType="h" fact="0.33"/>
          <dgm:constr type="w" for="ch" forName="triangle4" refType="h" fact="0.33"/>
          <dgm:constr type="t" for="ch" forName="triangle5" refType="h" fact="0.66"/>
          <dgm:constr type="l" for="ch" forName="triangle5"/>
          <dgm:constr type="h" for="ch" forName="triangle5" refType="h" fact="0.33"/>
          <dgm:constr type="w" for="ch" forName="triangle5" refType="h" fact="0.33"/>
          <dgm:constr type="t" for="ch" forName="triangle6" refType="h" fact="0.66"/>
          <dgm:constr type="l" for="ch" forName="triangle6" refType="h" fact="0.165"/>
          <dgm:constr type="h" for="ch" forName="triangle6" refType="h" fact="0.33"/>
          <dgm:constr type="w" for="ch" forName="triangle6" refType="h" fact="0.33"/>
          <dgm:constr type="t" for="ch" forName="triangle7" refType="h" fact="0.66"/>
          <dgm:constr type="l" for="ch" forName="triangle7" refType="h" fact="0.33"/>
          <dgm:constr type="h" for="ch" forName="triangle7" refType="h" fact="0.33"/>
          <dgm:constr type="w" for="ch" forName="triangle7" refType="h" fact="0.33"/>
          <dgm:constr type="t" for="ch" forName="triangle8" refType="h" fact="0.66"/>
          <dgm:constr type="l" for="ch" forName="triangle8" refType="h" fact="0.495"/>
          <dgm:constr type="h" for="ch" forName="triangle8" refType="h" fact="0.33"/>
          <dgm:constr type="w" for="ch" forName="triangle8" refType="h" fact="0.33"/>
          <dgm:constr type="t" for="ch" forName="triangle9" refType="h" fact="0.66"/>
          <dgm:constr type="l" for="ch" forName="triangle9" refType="h" fact="0.66"/>
          <dgm:constr type="h" for="ch" forName="triangle9" refType="h" fact="0.33"/>
          <dgm:constr type="w" for="ch" forName="triangle9" refType="h" fact="0.33"/>
        </dgm:constrLst>
      </dgm:else>
    </dgm:choose>
    <dgm:ruleLst/>
    <dgm:choose name="Name6">
      <dgm:if name="Name7" axis="ch" ptType="node" func="cnt" op="gte" val="1">
        <dgm:layoutNode name="triangle1" styleLbl="node1">
          <dgm:varLst>
            <dgm:bulletEnabled val="1"/>
          </dgm:varLst>
          <dgm:alg type="tx">
            <dgm:param type="txAnchorVertCh" val="mid"/>
          </dgm:alg>
          <dgm:shape xmlns:r="http://schemas.openxmlformats.org/officeDocument/2006/relationships" type="triangle"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8"/>
    </dgm:choose>
    <dgm:choose name="Name9">
      <dgm:if name="Name10" axis="ch" ptType="node" func="cnt" op="gte" val="2">
        <dgm:layoutNode name="triangle2" styleLbl="node1">
          <dgm:varLst>
            <dgm:bulletEnabled val="1"/>
          </dgm:varLst>
          <dgm:alg type="tx">
            <dgm:param type="txAnchorVertCh" val="mid"/>
          </dgm:alg>
          <dgm:shape xmlns:r="http://schemas.openxmlformats.org/officeDocument/2006/relationships" type="triangle" r:blip="">
            <dgm:adjLst/>
          </dgm:shape>
          <dgm:choose name="Name11">
            <dgm:if name="Name12" func="var" arg="dir" op="equ" val="norm">
              <dgm:presOf axis="ch desOrSelf" ptType="node node" st="2 1" cnt="1 0"/>
            </dgm:if>
            <dgm:else name="Name13">
              <dgm:presOf axis="ch desOrSelf" ptType="node node" st="4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3" styleLbl="node1">
          <dgm:varLst>
            <dgm:bulletEnabled val="1"/>
          </dgm:varLst>
          <dgm:alg type="tx">
            <dgm:param type="txAnchorVertCh" val="mid"/>
          </dgm:alg>
          <dgm:shape xmlns:r="http://schemas.openxmlformats.org/officeDocument/2006/relationships" rot="180" type="triangle"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4" styleLbl="node1">
          <dgm:varLst>
            <dgm:bulletEnabled val="1"/>
          </dgm:varLst>
          <dgm:alg type="tx">
            <dgm:param type="txAnchorVertCh" val="mid"/>
          </dgm:alg>
          <dgm:shape xmlns:r="http://schemas.openxmlformats.org/officeDocument/2006/relationships" type="triangle" r:blip="">
            <dgm:adjLst/>
          </dgm:shape>
          <dgm:choose name="Name14">
            <dgm:if name="Name15" func="var" arg="dir" op="equ" val="norm">
              <dgm:presOf axis="ch desOrSelf" ptType="node node" st="4 1" cnt="1 0"/>
            </dgm:if>
            <dgm:else name="Name16">
              <dgm:presOf axis="ch desOrSelf" ptType="node node" st="2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7"/>
    </dgm:choose>
    <dgm:choose name="Name18">
      <dgm:if name="Name19" axis="ch" ptType="node" func="cnt" op="gte" val="5">
        <dgm:layoutNode name="triangle5" styleLbl="node1">
          <dgm:varLst>
            <dgm:bulletEnabled val="1"/>
          </dgm:varLst>
          <dgm:alg type="tx">
            <dgm:param type="txAnchorVertCh" val="mid"/>
          </dgm:alg>
          <dgm:shape xmlns:r="http://schemas.openxmlformats.org/officeDocument/2006/relationships" type="triangle" r:blip="">
            <dgm:adjLst/>
          </dgm:shape>
          <dgm:choose name="Name20">
            <dgm:if name="Name21" func="var" arg="dir" op="equ" val="norm">
              <dgm:presOf axis="ch desOrSelf" ptType="node node" st="5 1" cnt="1 0"/>
            </dgm:if>
            <dgm:else name="Name22">
              <dgm:presOf axis="ch desOrSelf" ptType="node node" st="9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6" styleLbl="node1">
          <dgm:varLst>
            <dgm:bulletEnabled val="1"/>
          </dgm:varLst>
          <dgm:alg type="tx">
            <dgm:param type="txAnchorVertCh" val="mid"/>
          </dgm:alg>
          <dgm:shape xmlns:r="http://schemas.openxmlformats.org/officeDocument/2006/relationships" rot="180" type="triangle" r:blip="">
            <dgm:adjLst/>
          </dgm:shape>
          <dgm:choose name="Name23">
            <dgm:if name="Name24" func="var" arg="dir" op="equ" val="norm">
              <dgm:presOf axis="ch desOrSelf" ptType="node node" st="6 1" cnt="1 0"/>
            </dgm:if>
            <dgm:else name="Name25">
              <dgm:presOf axis="ch desOrSelf" ptType="node node" st="8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7" styleLbl="node1">
          <dgm:varLst>
            <dgm:bulletEnabled val="1"/>
          </dgm:varLst>
          <dgm:alg type="tx">
            <dgm:param type="txAnchorVertCh" val="mid"/>
          </dgm:alg>
          <dgm:shape xmlns:r="http://schemas.openxmlformats.org/officeDocument/2006/relationships" type="triangle" r:blip="">
            <dgm:adjLst/>
          </dgm:shape>
          <dgm:presOf axis="ch desOrSelf" ptType="node node" st="7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8" styleLbl="node1">
          <dgm:varLst>
            <dgm:bulletEnabled val="1"/>
          </dgm:varLst>
          <dgm:alg type="tx">
            <dgm:param type="txAnchorVertCh" val="mid"/>
          </dgm:alg>
          <dgm:shape xmlns:r="http://schemas.openxmlformats.org/officeDocument/2006/relationships" rot="180" type="triangle" r:blip="">
            <dgm:adjLst/>
          </dgm:shape>
          <dgm:choose name="Name26">
            <dgm:if name="Name27" func="var" arg="dir" op="equ" val="norm">
              <dgm:presOf axis="ch desOrSelf" ptType="node node" st="8 1" cnt="1 0"/>
            </dgm:if>
            <dgm:else name="Name28">
              <dgm:presOf axis="ch desOrSelf" ptType="node node" st="6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9" styleLbl="node1">
          <dgm:varLst>
            <dgm:bulletEnabled val="1"/>
          </dgm:varLst>
          <dgm:alg type="tx">
            <dgm:param type="txAnchorVertCh" val="mid"/>
          </dgm:alg>
          <dgm:shape xmlns:r="http://schemas.openxmlformats.org/officeDocument/2006/relationships" type="triangle" r:blip="">
            <dgm:adjLst/>
          </dgm:shape>
          <dgm:choose name="Name29">
            <dgm:if name="Name30" func="var" arg="dir" op="equ" val="norm">
              <dgm:presOf axis="ch desOrSelf" ptType="node node" st="9 1" cnt="1 0"/>
            </dgm:if>
            <dgm:else name="Name31">
              <dgm:presOf axis="ch desOrSelf" ptType="node node" st="5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2"/>
    </dgm:choose>
  </dgm:layoutNode>
</dgm:layoutDef>
</file>

<file path=ppt/diagrams/layout3.xml><?xml version="1.0" encoding="utf-8"?>
<dgm:layoutDef xmlns:dgm="http://schemas.openxmlformats.org/drawingml/2006/diagram" xmlns:a="http://schemas.openxmlformats.org/drawingml/2006/main" uniqueId="urn:microsoft.com/office/officeart/2005/8/layout/target1">
  <dgm:title val=""/>
  <dgm:desc val=""/>
  <dgm:catLst>
    <dgm:cat type="relationship" pri="25000"/>
    <dgm:cat type="convert" pri="2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resizeHandles val="exact"/>
    </dgm:varLst>
    <dgm:alg type="composite">
      <dgm:param type="ar" val="1.25"/>
    </dgm:alg>
    <dgm:shape xmlns:r="http://schemas.openxmlformats.org/officeDocument/2006/relationships" r:blip="">
      <dgm:adjLst/>
    </dgm:shape>
    <dgm:presOf/>
    <dgm:choose name="Name0">
      <dgm:if name="Name1" func="var" arg="dir" op="equ" val="norm">
        <dgm:choose name="Name2">
          <dgm:if name="Name3" axis="ch" ptType="node" func="cnt" op="equ" val="0">
            <dgm:constrLst/>
          </dgm:if>
          <dgm:if name="Name4" axis="ch" ptType="node" func="cnt" op="equ" val="1">
            <dgm:constrLst>
              <dgm:constr type="primFontSz" for="des" ptType="node" op="equ" val="65"/>
              <dgm:constr type="w" for="ch" forName="circle1" refType="w" fact="0.6"/>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3125"/>
              <dgm:constr type="r" for="ch" forName="text1" refType="w"/>
              <dgm:constr type="t" for="ch" forName="text1"/>
              <dgm:constr type="l" for="ch" forName="line1" refType="w" fact="0.625"/>
              <dgm:constr type="ctrY" for="ch" forName="line1" refType="ctrY" refFor="ch" refForName="text1"/>
              <dgm:constr type="r" for="ch" forName="line1" refType="l" refFor="ch" refForName="text1"/>
              <dgm:constr type="h" for="ch" forName="line1"/>
              <dgm:constr type="l" for="ch" forName="d1" refType="w" fact="0.3"/>
              <dgm:constr type="b" for="ch" forName="d1" refType="h" fact="0.625"/>
              <dgm:constr type="w" for="ch" forName="d1" refType="w" fact="0.32475"/>
              <dgm:constr type="h" for="ch" forName="d1" refType="h" fact="0.469"/>
            </dgm:constrLst>
          </dgm:if>
          <dgm:if name="Name5" axis="ch" ptType="node" func="cnt" op="equ" val="2">
            <dgm:constrLst>
              <dgm:constr type="primFontSz" for="des" ptType="node" op="equ" val="65"/>
              <dgm:constr type="w" for="ch" forName="circle1" refType="w" fact="0.2"/>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3125"/>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75"/>
              <dgm:constr type="h" for="ch" forName="d1" refType="h" fact="0.469"/>
              <dgm:constr type="w" for="ch" forName="circle2" refType="w" fact="0.6"/>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3125"/>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44325"/>
              <dgm:constr type="b" for="ch" forName="d2" refType="h" fact="0.7975"/>
              <dgm:constr type="w" for="ch" forName="d2" refType="w" fact="0.1815"/>
              <dgm:constr type="h" for="ch" forName="d2" refType="h" fact="0.3283"/>
            </dgm:constrLst>
          </dgm:if>
          <dgm:if name="Name6" axis="ch" ptType="node" func="cnt" op="equ" val="3">
            <dgm:constrLst>
              <dgm:constr type="primFontSz" for="des" ptType="node" op="equ" val="65"/>
              <dgm:constr type="w" for="ch" forName="circle1" refType="w" fact="0.12"/>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21875"/>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7"/>
              <dgm:constr type="h" for="ch" forName="d1" refType="h" fact="0.5155"/>
              <dgm:constr type="w" for="ch" forName="circle2" refType="w" fact="0.36"/>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21875"/>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386"/>
              <dgm:constr type="b" for="ch" forName="d2" refType="h" fact="0.72969"/>
              <dgm:constr type="w" for="ch" forName="d2" refType="w" fact="0.2387"/>
              <dgm:constr type="h" for="ch" forName="d2" refType="h" fact="0.4017"/>
              <dgm:constr type="w" for="ch" forName="circle3" refType="w" fact="0.6"/>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21875"/>
              <dgm:constr type="r" for="ch" forName="text3" refType="w"/>
              <dgm:constr type="t" for="ch" forName="text3" refType="b" refFor="ch" refForName="text2"/>
              <dgm:constr type="l" for="ch" forName="line3" refType="w" fact="0.625"/>
              <dgm:constr type="ctrY" for="ch" forName="line3" refType="ctrY" refFor="ch" refForName="text3"/>
              <dgm:constr type="w" for="ch" forName="line3" refType="w" fact="0.075"/>
              <dgm:constr type="h" for="ch" forName="line3"/>
              <dgm:constr type="l" for="ch" forName="d3" refType="w" fact="0.47175"/>
              <dgm:constr type="b" for="ch" forName="d3" refType="h" fact="0.83375"/>
              <dgm:constr type="w" for="ch" forName="d3" refType="w" fact="0.1527"/>
              <dgm:constr type="h" for="ch" forName="d3" refType="h" fact="0.287"/>
            </dgm:constrLst>
          </dgm:if>
          <dgm:if name="Name7" axis="ch" ptType="node" func="cnt" op="equ" val="4">
            <dgm:constrLst>
              <dgm:constr type="primFontSz" for="des" ptType="node" op="equ" val="65"/>
              <dgm:constr type="w" for="ch" forName="circle1" refType="w" fact="0.0857"/>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17938"/>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295"/>
              <dgm:constr type="b" for="ch" forName="d1" refType="h" fact="0.62"/>
              <dgm:constr type="w" for="ch" forName="d1" refType="w" fact="0.33"/>
              <dgm:constr type="h" for="ch" forName="d1" refType="h" fact="0.53"/>
              <dgm:constr type="w" for="ch" forName="circle2" refType="w" fact="0.2571"/>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17938"/>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36625"/>
              <dgm:constr type="b" for="ch" forName="d2" refType="h" fact="0.70438"/>
              <dgm:constr type="w" for="ch" forName="d2" refType="w" fact="0.2585"/>
              <dgm:constr type="h" for="ch" forName="d2" refType="h" fact="0.43525"/>
              <dgm:constr type="w" for="ch" forName="circle3" refType="w" fact="0.4285"/>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7938"/>
              <dgm:constr type="r" for="ch" forName="text3" refType="w"/>
              <dgm:constr type="t" for="ch" forName="text3" refType="b" refFor="ch" refForName="text2"/>
              <dgm:constr type="l" for="ch" forName="line3" refType="w" fact="0.625"/>
              <dgm:constr type="ctrY" for="ch" forName="line3" refType="ctrY" refFor="ch" refForName="text3"/>
              <dgm:constr type="w" for="ch" forName="line3" refType="w" fact="0.075"/>
              <dgm:constr type="h" for="ch" forName="line3"/>
              <dgm:constr type="l" for="ch" forName="d3" refType="w" fact="0.4255"/>
              <dgm:constr type="b" for="ch" forName="d3" refType="h" fact="0.78031"/>
              <dgm:constr type="w" for="ch" forName="d3" refType="w" fact="0.1995"/>
              <dgm:constr type="h" for="ch" forName="d3" refType="h" fact="0.332"/>
              <dgm:constr type="w" for="ch" forName="circle4" refType="w" fact="0.6"/>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7938"/>
              <dgm:constr type="r" for="ch" forName="text4" refType="w"/>
              <dgm:constr type="t" for="ch" forName="text4" refType="b" refFor="ch" refForName="text3"/>
              <dgm:constr type="l" for="ch" forName="line4" refType="w" fact="0.625"/>
              <dgm:constr type="ctrY" for="ch" forName="line4" refType="ctrY" refFor="ch" refForName="text4"/>
              <dgm:constr type="w" for="ch" forName="line4" refType="w" fact="0.075"/>
              <dgm:constr type="h" for="ch" forName="line4"/>
              <dgm:constr type="l" for="ch" forName="d4" refType="w" fact="0.48525"/>
              <dgm:constr type="b" for="ch" forName="d4" refType="h" fact="0.85594"/>
              <dgm:constr type="w" for="ch" forName="d4" refType="w" fact="0.1394"/>
              <dgm:constr type="h" for="ch" forName="d4" refType="h" fact="0.2282"/>
            </dgm:constrLst>
          </dgm:if>
          <dgm:if name="Name8" axis="ch" ptType="node" func="cnt" op="gte" val="5">
            <dgm:constrLst>
              <dgm:constr type="primFontSz" for="des" ptType="node" op="equ" val="65"/>
              <dgm:constr type="w" for="ch" forName="circle1" refType="w" fact="0.0667"/>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1324"/>
              <dgm:constr type="r" for="ch" forName="text1" refType="w"/>
              <dgm:constr type="ctrY" for="ch" forName="text1" refType="h" fact="0.13"/>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5"/>
              <dgm:constr type="h" for="ch" forName="d1" refType="h" fact="0.495"/>
              <dgm:constr type="w" for="ch" forName="circle2" refType="w" fact="0.2"/>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1324"/>
              <dgm:constr type="r" for="ch" forName="text2" refType="w"/>
              <dgm:constr type="ctrY" for="ch" forName="text2" refType="h" fact="0.27"/>
              <dgm:constr type="l" for="ch" forName="line2" refType="w" fact="0.625"/>
              <dgm:constr type="ctrY" for="ch" forName="line2" refType="ctrY" refFor="ch" refForName="text2"/>
              <dgm:constr type="w" for="ch" forName="line2" refType="w" fact="0.075"/>
              <dgm:constr type="h" for="ch" forName="line2"/>
              <dgm:constr type="l" for="ch" forName="d2" refType="w" fact="0.3498"/>
              <dgm:constr type="b" for="ch" forName="d2" refType="h" fact="0.682"/>
              <dgm:constr type="w" for="ch" forName="d2" refType="w" fact="0.275"/>
              <dgm:constr type="h" for="ch" forName="d2" refType="h" fact="0.41215"/>
              <dgm:constr type="w" for="ch" forName="circle3" refType="w" fact="0.3334"/>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324"/>
              <dgm:constr type="r" for="ch" forName="text3" refType="w"/>
              <dgm:constr type="ctrY" for="ch" forName="text3" refType="h" fact="0.41"/>
              <dgm:constr type="l" for="ch" forName="line3" refType="w" fact="0.625"/>
              <dgm:constr type="ctrY" for="ch" forName="line3" refType="ctrY" refFor="ch" refForName="text3"/>
              <dgm:constr type="w" for="ch" forName="line3" refType="w" fact="0.075"/>
              <dgm:constr type="h" for="ch" forName="line3"/>
              <dgm:constr type="l" for="ch" forName="d3" refType="w" fact="0.394"/>
              <dgm:constr type="b" for="ch" forName="d3" refType="h" fact="0.735"/>
              <dgm:constr type="w" for="ch" forName="d3" refType="w" fact="0.231"/>
              <dgm:constr type="h" for="ch" forName="d3" refType="h" fact="0.325"/>
              <dgm:constr type="w" for="ch" forName="circle4" refType="w" fact="0.4667"/>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324"/>
              <dgm:constr type="r" for="ch" forName="text4" refType="w"/>
              <dgm:constr type="ctrY" for="ch" forName="text4" refType="h" fact="0.547"/>
              <dgm:constr type="l" for="ch" forName="line4" refType="w" fact="0.625"/>
              <dgm:constr type="ctrY" for="ch" forName="line4" refType="ctrY" refFor="ch" refForName="text4"/>
              <dgm:constr type="w" for="ch" forName="line4" refType="w" fact="0.075"/>
              <dgm:constr type="h" for="ch" forName="line4"/>
              <dgm:constr type="l" for="ch" forName="d4" refType="w" fact="0.446"/>
              <dgm:constr type="b" for="ch" forName="d4" refType="h" fact="0.795"/>
              <dgm:constr type="w" for="ch" forName="d4" refType="w" fact="0.179"/>
              <dgm:constr type="h" for="ch" forName="d4" refType="h" fact="0.248"/>
              <dgm:constr type="w" for="ch" forName="circle5" refType="w" fact="0.6"/>
              <dgm:constr type="h" for="ch" forName="circle5" refType="w" refFor="ch" refForName="circle5"/>
              <dgm:constr type="ctrX" for="ch" forName="circle5" refType="ctrX" refFor="ch" refForName="circle1"/>
              <dgm:constr type="ctrY" for="ch" forName="circle5" refType="ctrY" refFor="ch" refForName="circle1"/>
              <dgm:constr type="w" for="ch" forName="text5" refType="w" fact="0.3"/>
              <dgm:constr type="h" for="ch" forName="text5" refType="h" fact="0.1324"/>
              <dgm:constr type="r" for="ch" forName="text5" refType="w"/>
              <dgm:constr type="ctrY" for="ch" forName="text5" refType="h" fact="0.68"/>
              <dgm:constr type="l" for="ch" forName="line5" refType="w" fact="0.625"/>
              <dgm:constr type="ctrY" for="ch" forName="line5" refType="ctrY" refFor="ch" refForName="text5"/>
              <dgm:constr type="w" for="ch" forName="line5" refType="w" fact="0.075"/>
              <dgm:constr type="h" for="ch" forName="line5"/>
              <dgm:constr type="l" for="ch" forName="d5" refType="w" fact="0.495"/>
              <dgm:constr type="b" for="ch" forName="d5" refType="h" fact="0.855"/>
              <dgm:constr type="w" for="ch" forName="d5" refType="w" fact="0.13"/>
              <dgm:constr type="h" for="ch" forName="d5" refType="h" fact="0.175"/>
            </dgm:constrLst>
          </dgm:if>
          <dgm:else name="Name9"/>
        </dgm:choose>
      </dgm:if>
      <dgm:else name="Name10">
        <dgm:choose name="Name11">
          <dgm:if name="Name12" axis="ch" ptType="node" func="cnt" op="equ" val="0">
            <dgm:constrLst/>
          </dgm:if>
          <dgm:if name="Name13" axis="ch" ptType="node" func="cnt" op="equ" val="1">
            <dgm:constrLst>
              <dgm:constr type="primFontSz" for="des" ptType="node" op="equ" val="65"/>
              <dgm:constr type="w" for="ch" forName="circle1" refType="w" fact="0.6"/>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312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5"/>
              <dgm:constr type="h" for="ch" forName="d1" refType="h" fact="0.469"/>
            </dgm:constrLst>
          </dgm:if>
          <dgm:if name="Name14" axis="ch" ptType="node" func="cnt" op="equ" val="2">
            <dgm:constrLst>
              <dgm:constr type="primFontSz" for="des" ptType="node" op="equ" val="65"/>
              <dgm:constr type="w" for="ch" forName="circle1" refType="w" fact="0.2"/>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312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5"/>
              <dgm:constr type="h" for="ch" forName="d1" refType="h" fact="0.469"/>
              <dgm:constr type="w" for="ch" forName="circle2" refType="w" fact="0.6"/>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3125"/>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55675"/>
              <dgm:constr type="b" for="ch" forName="d2" refType="h" fact="0.7975"/>
              <dgm:constr type="w" for="ch" forName="d2" refType="w" fact="0.1815"/>
              <dgm:constr type="h" for="ch" forName="d2" refType="h" fact="0.3283"/>
            </dgm:constrLst>
          </dgm:if>
          <dgm:if name="Name15" axis="ch" ptType="node" func="cnt" op="equ" val="3">
            <dgm:constrLst>
              <dgm:constr type="primFontSz" for="des" ptType="node" op="equ" val="65"/>
              <dgm:constr type="w" for="ch" forName="circle1" refType="w" fact="0.12"/>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2187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
              <dgm:constr type="h" for="ch" forName="d1" refType="h" fact="0.5155"/>
              <dgm:constr type="w" for="ch" forName="circle2" refType="w" fact="0.36"/>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21875"/>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14"/>
              <dgm:constr type="b" for="ch" forName="d2" refType="h" fact="0.72969"/>
              <dgm:constr type="w" for="ch" forName="d2" refType="w" fact="0.2387"/>
              <dgm:constr type="h" for="ch" forName="d2" refType="h" fact="0.4017"/>
              <dgm:constr type="w" for="ch" forName="circle3" refType="w" fact="0.6"/>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21875"/>
              <dgm:constr type="l" for="ch" forName="text3"/>
              <dgm:constr type="t" for="ch" forName="text3" refType="b" refFor="ch" refForName="text2"/>
              <dgm:constr type="l" for="ch" forName="line3" refType="r" refFor="ch" refForName="text3"/>
              <dgm:constr type="ctrY" for="ch" forName="line3" refType="ctrY" refFor="ch" refForName="text3"/>
              <dgm:constr type="r" for="ch" forName="line3" refType="w" fact="0.375"/>
              <dgm:constr type="h" for="ch" forName="line3"/>
              <dgm:constr type="r" for="ch" forName="d3" refType="w" fact="0.52825"/>
              <dgm:constr type="b" for="ch" forName="d3" refType="h" fact="0.83375"/>
              <dgm:constr type="w" for="ch" forName="d3" refType="w" fact="0.1527"/>
              <dgm:constr type="h" for="ch" forName="d3" refType="h" fact="0.287"/>
            </dgm:constrLst>
          </dgm:if>
          <dgm:if name="Name16" axis="ch" ptType="node" func="cnt" op="equ" val="4">
            <dgm:constrLst>
              <dgm:constr type="primFontSz" for="des" ptType="node" op="equ" val="65"/>
              <dgm:constr type="w" for="ch" forName="circle1" refType="w" fact="0.0857"/>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17938"/>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05"/>
              <dgm:constr type="b" for="ch" forName="d1" refType="h" fact="0.62"/>
              <dgm:constr type="w" for="ch" forName="d1" refType="w" fact="0.33"/>
              <dgm:constr type="h" for="ch" forName="d1" refType="h" fact="0.53"/>
              <dgm:constr type="w" for="ch" forName="circle2" refType="w" fact="0.2571"/>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17938"/>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3375"/>
              <dgm:constr type="b" for="ch" forName="d2" refType="h" fact="0.70438"/>
              <dgm:constr type="w" for="ch" forName="d2" refType="w" fact="0.2585"/>
              <dgm:constr type="h" for="ch" forName="d2" refType="h" fact="0.43525"/>
              <dgm:constr type="w" for="ch" forName="circle3" refType="w" fact="0.4285"/>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7938"/>
              <dgm:constr type="l" for="ch" forName="text3"/>
              <dgm:constr type="t" for="ch" forName="text3" refType="b" refFor="ch" refForName="text2"/>
              <dgm:constr type="l" for="ch" forName="line3" refType="r" refFor="ch" refForName="text3"/>
              <dgm:constr type="ctrY" for="ch" forName="line3" refType="ctrY" refFor="ch" refForName="text3"/>
              <dgm:constr type="r" for="ch" forName="line3" refType="w" fact="0.375"/>
              <dgm:constr type="h" for="ch" forName="line3"/>
              <dgm:constr type="r" for="ch" forName="d3" refType="w" fact="0.5745"/>
              <dgm:constr type="b" for="ch" forName="d3" refType="h" fact="0.78031"/>
              <dgm:constr type="w" for="ch" forName="d3" refType="w" fact="0.1995"/>
              <dgm:constr type="h" for="ch" forName="d3" refType="h" fact="0.332"/>
              <dgm:constr type="w" for="ch" forName="circle4" refType="w" fact="0.6"/>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7938"/>
              <dgm:constr type="l" for="ch" forName="text4"/>
              <dgm:constr type="t" for="ch" forName="text4" refType="b" refFor="ch" refForName="text3"/>
              <dgm:constr type="l" for="ch" forName="line4" refType="r" refFor="ch" refForName="text4"/>
              <dgm:constr type="ctrY" for="ch" forName="line4" refType="ctrY" refFor="ch" refForName="text4"/>
              <dgm:constr type="r" for="ch" forName="line4" refType="w" fact="0.375"/>
              <dgm:constr type="h" for="ch" forName="line4"/>
              <dgm:constr type="r" for="ch" forName="d4" refType="w" fact="0.51475"/>
              <dgm:constr type="b" for="ch" forName="d4" refType="h" fact="0.85594"/>
              <dgm:constr type="w" for="ch" forName="d4" refType="w" fact="0.1394"/>
              <dgm:constr type="h" for="ch" forName="d4" refType="h" fact="0.2282"/>
            </dgm:constrLst>
          </dgm:if>
          <dgm:if name="Name17" axis="ch" ptType="node" func="cnt" op="gte" val="5">
            <dgm:constrLst>
              <dgm:constr type="primFontSz" for="des" ptType="node" op="equ" val="65"/>
              <dgm:constr type="w" for="ch" forName="circle1" refType="w" fact="0.0667"/>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1324"/>
              <dgm:constr type="l" for="ch" forName="text1"/>
              <dgm:constr type="ctrY" for="ch" forName="text1" refType="h" fact="0.13"/>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5"/>
              <dgm:constr type="h" for="ch" forName="d1" refType="h" fact="0.495"/>
              <dgm:constr type="w" for="ch" forName="circle2" refType="w" fact="0.2"/>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1324"/>
              <dgm:constr type="l" for="ch" forName="text2"/>
              <dgm:constr type="ctrY" for="ch" forName="text2" refType="h" fact="0.27"/>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502"/>
              <dgm:constr type="b" for="ch" forName="d2" refType="h" fact="0.682"/>
              <dgm:constr type="w" for="ch" forName="d2" refType="w" fact="0.275"/>
              <dgm:constr type="h" for="ch" forName="d2" refType="h" fact="0.41215"/>
              <dgm:constr type="w" for="ch" forName="circle3" refType="w" fact="0.3334"/>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324"/>
              <dgm:constr type="l" for="ch" forName="text3"/>
              <dgm:constr type="ctrY" for="ch" forName="text3" refType="h" fact="0.41"/>
              <dgm:constr type="l" for="ch" forName="line3" refType="r" refFor="ch" refForName="text3"/>
              <dgm:constr type="ctrY" for="ch" forName="line3" refType="ctrY" refFor="ch" refForName="text3"/>
              <dgm:constr type="r" for="ch" forName="line3" refType="w" fact="0.375"/>
              <dgm:constr type="h" for="ch" forName="line3"/>
              <dgm:constr type="r" for="ch" forName="d3" refType="w" fact="0.606"/>
              <dgm:constr type="b" for="ch" forName="d3" refType="h" fact="0.735"/>
              <dgm:constr type="w" for="ch" forName="d3" refType="w" fact="0.231"/>
              <dgm:constr type="h" for="ch" forName="d3" refType="h" fact="0.325"/>
              <dgm:constr type="w" for="ch" forName="circle4" refType="w" fact="0.4667"/>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324"/>
              <dgm:constr type="l" for="ch" forName="text4"/>
              <dgm:constr type="ctrY" for="ch" forName="text4" refType="h" fact="0.547"/>
              <dgm:constr type="l" for="ch" forName="line4" refType="r" refFor="ch" refForName="text4"/>
              <dgm:constr type="ctrY" for="ch" forName="line4" refType="ctrY" refFor="ch" refForName="text4"/>
              <dgm:constr type="r" for="ch" forName="line4" refType="w" fact="0.375"/>
              <dgm:constr type="h" for="ch" forName="line4"/>
              <dgm:constr type="r" for="ch" forName="d4" refType="w" fact="0.554"/>
              <dgm:constr type="b" for="ch" forName="d4" refType="h" fact="0.795"/>
              <dgm:constr type="w" for="ch" forName="d4" refType="w" fact="0.179"/>
              <dgm:constr type="h" for="ch" forName="d4" refType="h" fact="0.248"/>
              <dgm:constr type="w" for="ch" forName="circle5" refType="w" fact="0.6"/>
              <dgm:constr type="h" for="ch" forName="circle5" refType="w" refFor="ch" refForName="circle5"/>
              <dgm:constr type="ctrX" for="ch" forName="circle5" refType="ctrX" refFor="ch" refForName="circle1"/>
              <dgm:constr type="ctrY" for="ch" forName="circle5" refType="ctrY" refFor="ch" refForName="circle1"/>
              <dgm:constr type="w" for="ch" forName="text5" refType="w" fact="0.3"/>
              <dgm:constr type="h" for="ch" forName="text5" refType="h" fact="0.1324"/>
              <dgm:constr type="l" for="ch" forName="text5"/>
              <dgm:constr type="ctrY" for="ch" forName="text5" refType="h" fact="0.68"/>
              <dgm:constr type="l" for="ch" forName="line5" refType="r" refFor="ch" refForName="text5"/>
              <dgm:constr type="ctrY" for="ch" forName="line5" refType="ctrY" refFor="ch" refForName="text5"/>
              <dgm:constr type="r" for="ch" forName="line5" refType="w" fact="0.375"/>
              <dgm:constr type="h" for="ch" forName="line5"/>
              <dgm:constr type="r" for="ch" forName="d5" refType="w" fact="0.505"/>
              <dgm:constr type="b" for="ch" forName="d5" refType="h" fact="0.855"/>
              <dgm:constr type="w" for="ch" forName="d5" refType="w" fact="0.13"/>
              <dgm:constr type="h" for="ch" forName="d5" refType="h" fact="0.175"/>
            </dgm:constrLst>
          </dgm:if>
          <dgm:else name="Name18"/>
        </dgm:choose>
      </dgm:else>
    </dgm:choose>
    <dgm:ruleLst/>
    <dgm:forEach name="Name19" axis="ch" ptType="node" cnt="1">
      <dgm:layoutNode name="circle1" styleLbl="lnNode1">
        <dgm:alg type="sp"/>
        <dgm:shape xmlns:r="http://schemas.openxmlformats.org/officeDocument/2006/relationships" type="ellipse" r:blip="">
          <dgm:adjLst/>
        </dgm:shape>
        <dgm:presOf/>
        <dgm:constrLst/>
        <dgm:ruleLst/>
      </dgm:layoutNode>
      <dgm:layoutNode name="text1" styleLbl="revTx">
        <dgm:varLst>
          <dgm:bulletEnabled val="1"/>
        </dgm:varLst>
        <dgm:choose name="Name20">
          <dgm:if name="Name21" func="var" arg="dir" op="equ" val="norm">
            <dgm:choose name="Name22">
              <dgm:if name="Name23" axis="root des" ptType="all node" func="maxDepth" op="gt" val="1">
                <dgm:alg type="tx">
                  <dgm:param type="parTxLTRAlign" val="l"/>
                  <dgm:param type="parTxRTLAlign" val="r"/>
                </dgm:alg>
              </dgm:if>
              <dgm:else name="Name24">
                <dgm:alg type="tx">
                  <dgm:param type="parTxLTRAlign" val="l"/>
                  <dgm:param type="parTxRTLAlign" val="l"/>
                </dgm:alg>
              </dgm:else>
            </dgm:choose>
          </dgm:if>
          <dgm:else name="Name25">
            <dgm:choose name="Name26">
              <dgm:if name="Name27" axis="root des" ptType="all node" func="maxDepth" op="gt" val="1">
                <dgm:alg type="tx">
                  <dgm:param type="parTxLTRAlign" val="l"/>
                  <dgm:param type="parTxRTLAlign" val="r"/>
                </dgm:alg>
              </dgm:if>
              <dgm:else name="Name28">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29">
          <dgm:if name="Name30" func="var" arg="dir" op="equ" val="norm">
            <dgm:constrLst>
              <dgm:constr type="tMarg" refType="primFontSz" fact="0.1"/>
              <dgm:constr type="bMarg" refType="primFontSz" fact="0.1"/>
              <dgm:constr type="rMarg" refType="primFontSz" fact="0.1"/>
            </dgm:constrLst>
          </dgm:if>
          <dgm:else name="Name31">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1" styleLbl="callout">
        <dgm:alg type="sp"/>
        <dgm:shape xmlns:r="http://schemas.openxmlformats.org/officeDocument/2006/relationships" type="line" r:blip="">
          <dgm:adjLst/>
        </dgm:shape>
        <dgm:presOf/>
        <dgm:constrLst/>
        <dgm:ruleLst/>
      </dgm:layoutNode>
      <dgm:layoutNode name="d1" styleLbl="callout">
        <dgm:alg type="sp"/>
        <dgm:choose name="Name32">
          <dgm:if name="Name33" func="var" arg="dir" op="equ" val="norm">
            <dgm:shape xmlns:r="http://schemas.openxmlformats.org/officeDocument/2006/relationships" rot="90" type="line" r:blip="">
              <dgm:adjLst/>
            </dgm:shape>
          </dgm:if>
          <dgm:else name="Name34">
            <dgm:shape xmlns:r="http://schemas.openxmlformats.org/officeDocument/2006/relationships" rot="180" type="line" r:blip="">
              <dgm:adjLst/>
            </dgm:shape>
          </dgm:else>
        </dgm:choose>
        <dgm:presOf/>
        <dgm:constrLst/>
        <dgm:ruleLst/>
      </dgm:layoutNode>
    </dgm:forEach>
    <dgm:forEach name="Name35" axis="ch" ptType="node" st="2" cnt="1">
      <dgm:layoutNode name="circle2" styleLbl="lnNode1">
        <dgm:alg type="sp"/>
        <dgm:shape xmlns:r="http://schemas.openxmlformats.org/officeDocument/2006/relationships" type="ellipse" r:blip="" zOrderOff="-5">
          <dgm:adjLst/>
        </dgm:shape>
        <dgm:presOf/>
        <dgm:constrLst/>
        <dgm:ruleLst/>
      </dgm:layoutNode>
      <dgm:layoutNode name="text2" styleLbl="revTx">
        <dgm:varLst>
          <dgm:bulletEnabled val="1"/>
        </dgm:varLst>
        <dgm:choose name="Name36">
          <dgm:if name="Name37" func="var" arg="dir" op="equ" val="norm">
            <dgm:choose name="Name38">
              <dgm:if name="Name39" axis="root des" ptType="all node" func="maxDepth" op="gt" val="1">
                <dgm:alg type="tx">
                  <dgm:param type="parTxLTRAlign" val="l"/>
                  <dgm:param type="parTxRTLAlign" val="r"/>
                </dgm:alg>
              </dgm:if>
              <dgm:else name="Name40">
                <dgm:alg type="tx">
                  <dgm:param type="parTxLTRAlign" val="l"/>
                  <dgm:param type="parTxRTLAlign" val="l"/>
                </dgm:alg>
              </dgm:else>
            </dgm:choose>
          </dgm:if>
          <dgm:else name="Name41">
            <dgm:choose name="Name42">
              <dgm:if name="Name43" axis="root des" ptType="all node" func="maxDepth" op="gt" val="1">
                <dgm:alg type="tx">
                  <dgm:param type="parTxLTRAlign" val="l"/>
                  <dgm:param type="parTxRTLAlign" val="r"/>
                </dgm:alg>
              </dgm:if>
              <dgm:else name="Name44">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45">
          <dgm:if name="Name46" func="var" arg="dir" op="equ" val="norm">
            <dgm:constrLst>
              <dgm:constr type="tMarg" refType="primFontSz" fact="0.1"/>
              <dgm:constr type="bMarg" refType="primFontSz" fact="0.1"/>
              <dgm:constr type="rMarg" refType="primFontSz" fact="0.1"/>
            </dgm:constrLst>
          </dgm:if>
          <dgm:else name="Name47">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2" styleLbl="callout">
        <dgm:alg type="sp"/>
        <dgm:shape xmlns:r="http://schemas.openxmlformats.org/officeDocument/2006/relationships" type="line" r:blip="">
          <dgm:adjLst/>
        </dgm:shape>
        <dgm:presOf/>
        <dgm:constrLst/>
        <dgm:ruleLst/>
      </dgm:layoutNode>
      <dgm:layoutNode name="d2" styleLbl="callout">
        <dgm:alg type="sp"/>
        <dgm:choose name="Name48">
          <dgm:if name="Name49" func="var" arg="dir" op="equ" val="norm">
            <dgm:shape xmlns:r="http://schemas.openxmlformats.org/officeDocument/2006/relationships" rot="90" type="line" r:blip="">
              <dgm:adjLst/>
            </dgm:shape>
          </dgm:if>
          <dgm:else name="Name50">
            <dgm:shape xmlns:r="http://schemas.openxmlformats.org/officeDocument/2006/relationships" rot="180" type="line" r:blip="">
              <dgm:adjLst/>
            </dgm:shape>
          </dgm:else>
        </dgm:choose>
        <dgm:presOf/>
        <dgm:constrLst/>
        <dgm:ruleLst/>
      </dgm:layoutNode>
    </dgm:forEach>
    <dgm:forEach name="Name51" axis="ch" ptType="node" st="3" cnt="1">
      <dgm:layoutNode name="circle3" styleLbl="lnNode1">
        <dgm:alg type="sp"/>
        <dgm:shape xmlns:r="http://schemas.openxmlformats.org/officeDocument/2006/relationships" type="ellipse" r:blip="" zOrderOff="-10">
          <dgm:adjLst/>
        </dgm:shape>
        <dgm:presOf/>
        <dgm:constrLst/>
        <dgm:ruleLst/>
      </dgm:layoutNode>
      <dgm:layoutNode name="text3" styleLbl="revTx">
        <dgm:varLst>
          <dgm:bulletEnabled val="1"/>
        </dgm:varLst>
        <dgm:choose name="Name52">
          <dgm:if name="Name53" func="var" arg="dir" op="equ" val="norm">
            <dgm:choose name="Name54">
              <dgm:if name="Name55" axis="root des" ptType="all node" func="maxDepth" op="gt" val="1">
                <dgm:alg type="tx">
                  <dgm:param type="parTxLTRAlign" val="l"/>
                  <dgm:param type="parTxRTLAlign" val="r"/>
                </dgm:alg>
              </dgm:if>
              <dgm:else name="Name56">
                <dgm:alg type="tx">
                  <dgm:param type="parTxLTRAlign" val="l"/>
                  <dgm:param type="parTxRTLAlign" val="l"/>
                </dgm:alg>
              </dgm:else>
            </dgm:choose>
          </dgm:if>
          <dgm:else name="Name57">
            <dgm:choose name="Name58">
              <dgm:if name="Name59" axis="root des" ptType="all node" func="maxDepth" op="gt" val="1">
                <dgm:alg type="tx">
                  <dgm:param type="parTxLTRAlign" val="l"/>
                  <dgm:param type="parTxRTLAlign" val="r"/>
                </dgm:alg>
              </dgm:if>
              <dgm:else name="Name60">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61">
          <dgm:if name="Name62" func="var" arg="dir" op="equ" val="norm">
            <dgm:constrLst>
              <dgm:constr type="tMarg" refType="primFontSz" fact="0.1"/>
              <dgm:constr type="bMarg" refType="primFontSz" fact="0.1"/>
              <dgm:constr type="rMarg" refType="primFontSz" fact="0.1"/>
            </dgm:constrLst>
          </dgm:if>
          <dgm:else name="Name63">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3" styleLbl="callout">
        <dgm:alg type="sp"/>
        <dgm:shape xmlns:r="http://schemas.openxmlformats.org/officeDocument/2006/relationships" type="line" r:blip="">
          <dgm:adjLst/>
        </dgm:shape>
        <dgm:presOf/>
        <dgm:constrLst/>
        <dgm:ruleLst/>
      </dgm:layoutNode>
      <dgm:layoutNode name="d3" styleLbl="callout">
        <dgm:alg type="sp"/>
        <dgm:choose name="Name64">
          <dgm:if name="Name65" func="var" arg="dir" op="equ" val="norm">
            <dgm:shape xmlns:r="http://schemas.openxmlformats.org/officeDocument/2006/relationships" rot="90" type="line" r:blip="">
              <dgm:adjLst/>
            </dgm:shape>
          </dgm:if>
          <dgm:else name="Name66">
            <dgm:shape xmlns:r="http://schemas.openxmlformats.org/officeDocument/2006/relationships" rot="180" type="line" r:blip="">
              <dgm:adjLst/>
            </dgm:shape>
          </dgm:else>
        </dgm:choose>
        <dgm:presOf/>
        <dgm:constrLst/>
        <dgm:ruleLst/>
      </dgm:layoutNode>
    </dgm:forEach>
    <dgm:forEach name="Name67" axis="ch" ptType="node" st="4" cnt="1">
      <dgm:layoutNode name="circle4" styleLbl="lnNode1">
        <dgm:alg type="sp"/>
        <dgm:shape xmlns:r="http://schemas.openxmlformats.org/officeDocument/2006/relationships" type="ellipse" r:blip="" zOrderOff="-15">
          <dgm:adjLst/>
        </dgm:shape>
        <dgm:presOf/>
        <dgm:constrLst/>
        <dgm:ruleLst/>
      </dgm:layoutNode>
      <dgm:layoutNode name="text4" styleLbl="revTx">
        <dgm:varLst>
          <dgm:bulletEnabled val="1"/>
        </dgm:varLst>
        <dgm:choose name="Name68">
          <dgm:if name="Name69" func="var" arg="dir" op="equ" val="norm">
            <dgm:choose name="Name70">
              <dgm:if name="Name71" axis="root des" ptType="all node" func="maxDepth" op="gt" val="1">
                <dgm:alg type="tx">
                  <dgm:param type="parTxLTRAlign" val="l"/>
                  <dgm:param type="parTxRTLAlign" val="r"/>
                </dgm:alg>
              </dgm:if>
              <dgm:else name="Name72">
                <dgm:alg type="tx">
                  <dgm:param type="parTxLTRAlign" val="l"/>
                  <dgm:param type="parTxRTLAlign" val="l"/>
                </dgm:alg>
              </dgm:else>
            </dgm:choose>
          </dgm:if>
          <dgm:else name="Name73">
            <dgm:choose name="Name74">
              <dgm:if name="Name75" axis="root des" ptType="all node" func="maxDepth" op="gt" val="1">
                <dgm:alg type="tx">
                  <dgm:param type="parTxLTRAlign" val="l"/>
                  <dgm:param type="parTxRTLAlign" val="r"/>
                </dgm:alg>
              </dgm:if>
              <dgm:else name="Name76">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77">
          <dgm:if name="Name78" func="var" arg="dir" op="equ" val="norm">
            <dgm:constrLst>
              <dgm:constr type="tMarg" refType="primFontSz" fact="0.1"/>
              <dgm:constr type="bMarg" refType="primFontSz" fact="0.1"/>
              <dgm:constr type="rMarg" refType="primFontSz" fact="0.1"/>
            </dgm:constrLst>
          </dgm:if>
          <dgm:else name="Name79">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4" styleLbl="callout">
        <dgm:alg type="sp"/>
        <dgm:shape xmlns:r="http://schemas.openxmlformats.org/officeDocument/2006/relationships" type="line" r:blip="">
          <dgm:adjLst/>
        </dgm:shape>
        <dgm:presOf/>
        <dgm:constrLst/>
        <dgm:ruleLst/>
      </dgm:layoutNode>
      <dgm:layoutNode name="d4" styleLbl="callout">
        <dgm:alg type="sp"/>
        <dgm:choose name="Name80">
          <dgm:if name="Name81" func="var" arg="dir" op="equ" val="norm">
            <dgm:shape xmlns:r="http://schemas.openxmlformats.org/officeDocument/2006/relationships" rot="90" type="line" r:blip="">
              <dgm:adjLst/>
            </dgm:shape>
          </dgm:if>
          <dgm:else name="Name82">
            <dgm:shape xmlns:r="http://schemas.openxmlformats.org/officeDocument/2006/relationships" rot="180" type="line" r:blip="">
              <dgm:adjLst/>
            </dgm:shape>
          </dgm:else>
        </dgm:choose>
        <dgm:presOf/>
        <dgm:constrLst/>
        <dgm:ruleLst/>
      </dgm:layoutNode>
    </dgm:forEach>
    <dgm:forEach name="Name83" axis="ch" ptType="node" st="5" cnt="1">
      <dgm:layoutNode name="circle5" styleLbl="lnNode1">
        <dgm:alg type="sp"/>
        <dgm:shape xmlns:r="http://schemas.openxmlformats.org/officeDocument/2006/relationships" type="ellipse" r:blip="" zOrderOff="-20">
          <dgm:adjLst/>
        </dgm:shape>
        <dgm:presOf/>
        <dgm:constrLst/>
        <dgm:ruleLst/>
      </dgm:layoutNode>
      <dgm:layoutNode name="text5" styleLbl="revTx">
        <dgm:varLst>
          <dgm:bulletEnabled val="1"/>
        </dgm:varLst>
        <dgm:choose name="Name84">
          <dgm:if name="Name85" func="var" arg="dir" op="equ" val="norm">
            <dgm:choose name="Name86">
              <dgm:if name="Name87" axis="root des" ptType="all node" func="maxDepth" op="gt" val="1">
                <dgm:alg type="tx">
                  <dgm:param type="parTxLTRAlign" val="l"/>
                  <dgm:param type="parTxRTLAlign" val="r"/>
                </dgm:alg>
              </dgm:if>
              <dgm:else name="Name88">
                <dgm:alg type="tx">
                  <dgm:param type="parTxLTRAlign" val="l"/>
                  <dgm:param type="parTxRTLAlign" val="l"/>
                </dgm:alg>
              </dgm:else>
            </dgm:choose>
          </dgm:if>
          <dgm:else name="Name89">
            <dgm:choose name="Name90">
              <dgm:if name="Name91" axis="root des" ptType="all node" func="maxDepth" op="gt" val="1">
                <dgm:alg type="tx">
                  <dgm:param type="parTxLTRAlign" val="l"/>
                  <dgm:param type="parTxRTLAlign" val="r"/>
                </dgm:alg>
              </dgm:if>
              <dgm:else name="Name92">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tMarg" refType="primFontSz" fact="0.1"/>
              <dgm:constr type="bMarg" refType="primFontSz" fact="0.1"/>
              <dgm:constr type="rMarg" refType="primFontSz" fact="0.1"/>
            </dgm:constrLst>
          </dgm:if>
          <dgm:else name="Name95">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5" styleLbl="callout">
        <dgm:alg type="sp"/>
        <dgm:shape xmlns:r="http://schemas.openxmlformats.org/officeDocument/2006/relationships" type="line" r:blip="">
          <dgm:adjLst/>
        </dgm:shape>
        <dgm:presOf/>
        <dgm:constrLst/>
        <dgm:ruleLst/>
      </dgm:layoutNode>
      <dgm:layoutNode name="d5" styleLbl="callout">
        <dgm:alg type="sp"/>
        <dgm:choose name="Name96">
          <dgm:if name="Name97" func="var" arg="dir" op="equ" val="norm">
            <dgm:shape xmlns:r="http://schemas.openxmlformats.org/officeDocument/2006/relationships" rot="90" type="line" r:blip="">
              <dgm:adjLst/>
            </dgm:shape>
          </dgm:if>
          <dgm:else name="Name98">
            <dgm:shape xmlns:r="http://schemas.openxmlformats.org/officeDocument/2006/relationships" rot="180" type="line" r:blip="">
              <dgm:adjLst/>
            </dgm:shape>
          </dgm:else>
        </dgm:choose>
        <dgm:presOf/>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3078427" cy="511731"/>
          </a:xfrm>
          <a:prstGeom prst="rect">
            <a:avLst/>
          </a:prstGeom>
          <a:noFill/>
          <a:ln w="9525">
            <a:noFill/>
            <a:miter lim="800000"/>
            <a:headEnd/>
            <a:tailEnd/>
          </a:ln>
          <a:effectLst/>
        </p:spPr>
        <p:txBody>
          <a:bodyPr vert="horz" wrap="none" lIns="97515" tIns="50708" rIns="97515" bIns="50708" numCol="1" anchor="ctr" anchorCtr="0" compatLnSpc="1">
            <a:prstTxWarp prst="textNoShape">
              <a:avLst/>
            </a:prstTxWarp>
          </a:bodyPr>
          <a:lstStyle>
            <a:lvl1pPr>
              <a:defRPr sz="1300">
                <a:latin typeface="Arial" pitchFamily="-110" charset="0"/>
              </a:defRPr>
            </a:lvl1pPr>
          </a:lstStyle>
          <a:p>
            <a:endParaRPr lang="en-US" dirty="0"/>
          </a:p>
        </p:txBody>
      </p:sp>
      <p:sp>
        <p:nvSpPr>
          <p:cNvPr id="59395" name="Rectangle 3"/>
          <p:cNvSpPr>
            <a:spLocks noGrp="1" noChangeArrowheads="1"/>
          </p:cNvSpPr>
          <p:nvPr>
            <p:ph type="dt" sz="quarter" idx="1"/>
          </p:nvPr>
        </p:nvSpPr>
        <p:spPr bwMode="auto">
          <a:xfrm>
            <a:off x="4025636" y="0"/>
            <a:ext cx="3078427" cy="511731"/>
          </a:xfrm>
          <a:prstGeom prst="rect">
            <a:avLst/>
          </a:prstGeom>
          <a:noFill/>
          <a:ln w="9525">
            <a:noFill/>
            <a:miter lim="800000"/>
            <a:headEnd/>
            <a:tailEnd/>
          </a:ln>
          <a:effectLst/>
        </p:spPr>
        <p:txBody>
          <a:bodyPr vert="horz" wrap="none" lIns="97515" tIns="50708" rIns="97515" bIns="50708" numCol="1" anchor="ctr" anchorCtr="0" compatLnSpc="1">
            <a:prstTxWarp prst="textNoShape">
              <a:avLst/>
            </a:prstTxWarp>
          </a:bodyPr>
          <a:lstStyle>
            <a:lvl1pPr algn="r">
              <a:defRPr sz="1300">
                <a:latin typeface="Arial" pitchFamily="-110" charset="0"/>
              </a:defRPr>
            </a:lvl1pPr>
          </a:lstStyle>
          <a:p>
            <a:endParaRPr lang="en-US" dirty="0"/>
          </a:p>
        </p:txBody>
      </p:sp>
      <p:sp>
        <p:nvSpPr>
          <p:cNvPr id="59396" name="Rectangle 4"/>
          <p:cNvSpPr>
            <a:spLocks noGrp="1" noChangeArrowheads="1"/>
          </p:cNvSpPr>
          <p:nvPr>
            <p:ph type="ftr" sz="quarter" idx="2"/>
          </p:nvPr>
        </p:nvSpPr>
        <p:spPr bwMode="auto">
          <a:xfrm>
            <a:off x="0" y="9722882"/>
            <a:ext cx="3078427" cy="511731"/>
          </a:xfrm>
          <a:prstGeom prst="rect">
            <a:avLst/>
          </a:prstGeom>
          <a:noFill/>
          <a:ln w="9525">
            <a:noFill/>
            <a:miter lim="800000"/>
            <a:headEnd/>
            <a:tailEnd/>
          </a:ln>
          <a:effectLst/>
        </p:spPr>
        <p:txBody>
          <a:bodyPr vert="horz" wrap="none" lIns="97515" tIns="50708" rIns="97515" bIns="50708" numCol="1" anchor="b" anchorCtr="0" compatLnSpc="1">
            <a:prstTxWarp prst="textNoShape">
              <a:avLst/>
            </a:prstTxWarp>
          </a:bodyPr>
          <a:lstStyle>
            <a:lvl1pPr>
              <a:defRPr sz="1300">
                <a:latin typeface="Arial" pitchFamily="-110" charset="0"/>
              </a:defRPr>
            </a:lvl1pPr>
          </a:lstStyle>
          <a:p>
            <a:r>
              <a:rPr lang="en-US" dirty="0"/>
              <a:t> </a:t>
            </a:r>
          </a:p>
        </p:txBody>
      </p:sp>
      <p:sp>
        <p:nvSpPr>
          <p:cNvPr id="59397" name="Rectangle 5"/>
          <p:cNvSpPr>
            <a:spLocks noGrp="1" noChangeArrowheads="1"/>
          </p:cNvSpPr>
          <p:nvPr>
            <p:ph type="sldNum" sz="quarter" idx="3"/>
          </p:nvPr>
        </p:nvSpPr>
        <p:spPr bwMode="auto">
          <a:xfrm>
            <a:off x="4025636" y="9722882"/>
            <a:ext cx="3078427" cy="511731"/>
          </a:xfrm>
          <a:prstGeom prst="rect">
            <a:avLst/>
          </a:prstGeom>
          <a:noFill/>
          <a:ln w="9525">
            <a:noFill/>
            <a:miter lim="800000"/>
            <a:headEnd/>
            <a:tailEnd/>
          </a:ln>
          <a:effectLst/>
        </p:spPr>
        <p:txBody>
          <a:bodyPr vert="horz" wrap="none" lIns="97515" tIns="50708" rIns="97515" bIns="50708" numCol="1" anchor="b" anchorCtr="0" compatLnSpc="1">
            <a:prstTxWarp prst="textNoShape">
              <a:avLst/>
            </a:prstTxWarp>
          </a:bodyPr>
          <a:lstStyle>
            <a:lvl1pPr algn="r">
              <a:defRPr sz="1300">
                <a:latin typeface="Arial" pitchFamily="-110" charset="0"/>
              </a:defRPr>
            </a:lvl1pPr>
          </a:lstStyle>
          <a:p>
            <a:fld id="{4F817154-EF57-E447-B272-3CC33A38C6FD}" type="slidenum">
              <a:rPr lang="en-US"/>
              <a:pPr/>
              <a:t>‹#›</a:t>
            </a:fld>
            <a:endParaRPr lang="en-US" dirty="0"/>
          </a:p>
        </p:txBody>
      </p:sp>
    </p:spTree>
    <p:extLst>
      <p:ext uri="{BB962C8B-B14F-4D97-AF65-F5344CB8AC3E}">
        <p14:creationId xmlns:p14="http://schemas.microsoft.com/office/powerpoint/2010/main" val="909216140"/>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8370" name="Rectangle 2"/>
          <p:cNvSpPr>
            <a:spLocks noGrp="1" noChangeArrowheads="1"/>
          </p:cNvSpPr>
          <p:nvPr>
            <p:ph type="hdr" sz="quarter"/>
          </p:nvPr>
        </p:nvSpPr>
        <p:spPr bwMode="auto">
          <a:xfrm>
            <a:off x="0" y="0"/>
            <a:ext cx="3078427" cy="511731"/>
          </a:xfrm>
          <a:prstGeom prst="rect">
            <a:avLst/>
          </a:prstGeom>
          <a:noFill/>
          <a:ln w="9525">
            <a:noFill/>
            <a:miter lim="800000"/>
            <a:headEnd/>
            <a:tailEnd/>
          </a:ln>
          <a:effectLst/>
        </p:spPr>
        <p:txBody>
          <a:bodyPr vert="horz" wrap="none" lIns="97515" tIns="50708" rIns="97515" bIns="50708" numCol="1" anchor="ctr" anchorCtr="0" compatLnSpc="1">
            <a:prstTxWarp prst="textNoShape">
              <a:avLst/>
            </a:prstTxWarp>
          </a:bodyPr>
          <a:lstStyle>
            <a:lvl1pPr>
              <a:defRPr sz="1300">
                <a:latin typeface="Arial" pitchFamily="-110" charset="0"/>
              </a:defRPr>
            </a:lvl1pPr>
          </a:lstStyle>
          <a:p>
            <a:endParaRPr lang="en-US" dirty="0"/>
          </a:p>
        </p:txBody>
      </p:sp>
      <p:sp>
        <p:nvSpPr>
          <p:cNvPr id="58371" name="Rectangle 3"/>
          <p:cNvSpPr>
            <a:spLocks noGrp="1" noChangeArrowheads="1"/>
          </p:cNvSpPr>
          <p:nvPr>
            <p:ph type="dt" idx="1"/>
          </p:nvPr>
        </p:nvSpPr>
        <p:spPr bwMode="auto">
          <a:xfrm>
            <a:off x="4025636" y="0"/>
            <a:ext cx="3078427" cy="511731"/>
          </a:xfrm>
          <a:prstGeom prst="rect">
            <a:avLst/>
          </a:prstGeom>
          <a:noFill/>
          <a:ln w="9525">
            <a:noFill/>
            <a:miter lim="800000"/>
            <a:headEnd/>
            <a:tailEnd/>
          </a:ln>
          <a:effectLst/>
        </p:spPr>
        <p:txBody>
          <a:bodyPr vert="horz" wrap="none" lIns="97515" tIns="50708" rIns="97515" bIns="50708" numCol="1" anchor="ctr" anchorCtr="0" compatLnSpc="1">
            <a:prstTxWarp prst="textNoShape">
              <a:avLst/>
            </a:prstTxWarp>
          </a:bodyPr>
          <a:lstStyle>
            <a:lvl1pPr algn="r">
              <a:defRPr sz="1300">
                <a:latin typeface="Arial" pitchFamily="-110" charset="0"/>
              </a:defRPr>
            </a:lvl1pPr>
          </a:lstStyle>
          <a:p>
            <a:endParaRPr lang="en-US" dirty="0"/>
          </a:p>
        </p:txBody>
      </p:sp>
      <p:sp>
        <p:nvSpPr>
          <p:cNvPr id="58372" name="Rectangle 4"/>
          <p:cNvSpPr>
            <a:spLocks noGrp="1" noRot="1" noChangeAspect="1" noChangeArrowheads="1" noTextEdit="1"/>
          </p:cNvSpPr>
          <p:nvPr>
            <p:ph type="sldImg" idx="2"/>
          </p:nvPr>
        </p:nvSpPr>
        <p:spPr bwMode="auto">
          <a:xfrm>
            <a:off x="995363" y="768350"/>
            <a:ext cx="5113337" cy="3836988"/>
          </a:xfrm>
          <a:prstGeom prst="rect">
            <a:avLst/>
          </a:prstGeom>
          <a:noFill/>
          <a:ln w="9525">
            <a:solidFill>
              <a:srgbClr val="000000"/>
            </a:solidFill>
            <a:miter lim="800000"/>
            <a:headEnd/>
            <a:tailEnd/>
          </a:ln>
          <a:effectLst/>
        </p:spPr>
      </p:sp>
      <p:sp>
        <p:nvSpPr>
          <p:cNvPr id="58373" name="Rectangle 5"/>
          <p:cNvSpPr>
            <a:spLocks noGrp="1" noChangeArrowheads="1"/>
          </p:cNvSpPr>
          <p:nvPr>
            <p:ph type="body" sz="quarter" idx="3"/>
          </p:nvPr>
        </p:nvSpPr>
        <p:spPr bwMode="auto">
          <a:xfrm>
            <a:off x="947209" y="4861441"/>
            <a:ext cx="5209646" cy="4605576"/>
          </a:xfrm>
          <a:prstGeom prst="rect">
            <a:avLst/>
          </a:prstGeom>
          <a:noFill/>
          <a:ln w="9525">
            <a:noFill/>
            <a:miter lim="800000"/>
            <a:headEnd/>
            <a:tailEnd/>
          </a:ln>
          <a:effectLst/>
        </p:spPr>
        <p:txBody>
          <a:bodyPr vert="horz" wrap="none" lIns="97515" tIns="50708" rIns="97515" bIns="50708" numCol="1" anchor="ctr"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8374" name="Rectangle 6"/>
          <p:cNvSpPr>
            <a:spLocks noGrp="1" noChangeArrowheads="1"/>
          </p:cNvSpPr>
          <p:nvPr>
            <p:ph type="ftr" sz="quarter" idx="4"/>
          </p:nvPr>
        </p:nvSpPr>
        <p:spPr bwMode="auto">
          <a:xfrm>
            <a:off x="0" y="9722882"/>
            <a:ext cx="3078427" cy="511731"/>
          </a:xfrm>
          <a:prstGeom prst="rect">
            <a:avLst/>
          </a:prstGeom>
          <a:noFill/>
          <a:ln w="9525">
            <a:noFill/>
            <a:miter lim="800000"/>
            <a:headEnd/>
            <a:tailEnd/>
          </a:ln>
          <a:effectLst/>
        </p:spPr>
        <p:txBody>
          <a:bodyPr vert="horz" wrap="none" lIns="97515" tIns="50708" rIns="97515" bIns="50708" numCol="1" anchor="b" anchorCtr="0" compatLnSpc="1">
            <a:prstTxWarp prst="textNoShape">
              <a:avLst/>
            </a:prstTxWarp>
          </a:bodyPr>
          <a:lstStyle>
            <a:lvl1pPr>
              <a:defRPr sz="1300">
                <a:latin typeface="Arial" pitchFamily="-110" charset="0"/>
              </a:defRPr>
            </a:lvl1pPr>
          </a:lstStyle>
          <a:p>
            <a:r>
              <a:rPr lang="en-US" dirty="0"/>
              <a:t> </a:t>
            </a:r>
          </a:p>
        </p:txBody>
      </p:sp>
      <p:sp>
        <p:nvSpPr>
          <p:cNvPr id="58375" name="Rectangle 7"/>
          <p:cNvSpPr>
            <a:spLocks noGrp="1" noChangeArrowheads="1"/>
          </p:cNvSpPr>
          <p:nvPr>
            <p:ph type="sldNum" sz="quarter" idx="5"/>
          </p:nvPr>
        </p:nvSpPr>
        <p:spPr bwMode="auto">
          <a:xfrm>
            <a:off x="4025636" y="9722882"/>
            <a:ext cx="3078427" cy="511731"/>
          </a:xfrm>
          <a:prstGeom prst="rect">
            <a:avLst/>
          </a:prstGeom>
          <a:noFill/>
          <a:ln w="9525">
            <a:noFill/>
            <a:miter lim="800000"/>
            <a:headEnd/>
            <a:tailEnd/>
          </a:ln>
          <a:effectLst/>
        </p:spPr>
        <p:txBody>
          <a:bodyPr vert="horz" wrap="none" lIns="97515" tIns="50708" rIns="97515" bIns="50708" numCol="1" anchor="b" anchorCtr="0" compatLnSpc="1">
            <a:prstTxWarp prst="textNoShape">
              <a:avLst/>
            </a:prstTxWarp>
          </a:bodyPr>
          <a:lstStyle>
            <a:lvl1pPr algn="r">
              <a:defRPr sz="1300">
                <a:latin typeface="Arial" pitchFamily="-110" charset="0"/>
              </a:defRPr>
            </a:lvl1pPr>
          </a:lstStyle>
          <a:p>
            <a:fld id="{FDEEBCE0-4A34-3647-9307-E59F6D6CD745}" type="slidenum">
              <a:rPr lang="en-US"/>
              <a:pPr/>
              <a:t>‹#›</a:t>
            </a:fld>
            <a:endParaRPr lang="en-US" dirty="0"/>
          </a:p>
        </p:txBody>
      </p:sp>
    </p:spTree>
    <p:extLst>
      <p:ext uri="{BB962C8B-B14F-4D97-AF65-F5344CB8AC3E}">
        <p14:creationId xmlns:p14="http://schemas.microsoft.com/office/powerpoint/2010/main" val="2004387664"/>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kumimoji="1" sz="1200" kern="1200">
        <a:solidFill>
          <a:schemeClr val="tx1"/>
        </a:solidFill>
        <a:latin typeface="Times New Roman" pitchFamily="-110"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10" charset="0"/>
        <a:ea typeface="ＭＳ Ｐゴシック" pitchFamily="-110"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10" charset="0"/>
        <a:ea typeface="ＭＳ Ｐゴシック" pitchFamily="-110"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10" charset="0"/>
        <a:ea typeface="ＭＳ Ｐゴシック" pitchFamily="-110"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10" charset="0"/>
        <a:ea typeface="ＭＳ Ｐゴシック" pitchFamily="-110"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300" dirty="0"/>
              <a:t>This chapter addresses the issue of computer system performance. We begin with a</a:t>
            </a:r>
          </a:p>
          <a:p>
            <a:r>
              <a:rPr lang="en-US" sz="1300" dirty="0"/>
              <a:t>consideration of the need for balanced utilization of computer resources, which provides</a:t>
            </a:r>
          </a:p>
          <a:p>
            <a:r>
              <a:rPr lang="en-US" sz="1300" dirty="0"/>
              <a:t>a perspective that is useful throughout the book. Next we look at contemporary</a:t>
            </a:r>
          </a:p>
          <a:p>
            <a:r>
              <a:rPr lang="en-US" sz="1300" dirty="0"/>
              <a:t>computer organization designs intended to provide performance to meet current</a:t>
            </a:r>
          </a:p>
          <a:p>
            <a:r>
              <a:rPr lang="en-US" sz="1300" dirty="0"/>
              <a:t>and projected demand. Finally, we look at tools and models that have been developed</a:t>
            </a:r>
          </a:p>
          <a:p>
            <a:r>
              <a:rPr lang="en-US" sz="1300" dirty="0"/>
              <a:t>to provide a means of assessing comparative computer system performance.</a:t>
            </a:r>
            <a:endParaRPr lang="en-US" dirty="0"/>
          </a:p>
        </p:txBody>
      </p:sp>
      <p:sp>
        <p:nvSpPr>
          <p:cNvPr id="4" name="Slide Number Placeholder 3"/>
          <p:cNvSpPr>
            <a:spLocks noGrp="1"/>
          </p:cNvSpPr>
          <p:nvPr>
            <p:ph type="sldNum" sz="quarter" idx="10"/>
          </p:nvPr>
        </p:nvSpPr>
        <p:spPr/>
        <p:txBody>
          <a:bodyPr/>
          <a:lstStyle/>
          <a:p>
            <a:fld id="{426AC9EA-110C-D44B-81A3-E5165EEE361B}" type="slidenum">
              <a:rPr lang="en-US" smtClean="0"/>
              <a:pPr/>
              <a:t>1</a:t>
            </a:fld>
            <a:endParaRPr lang="en-US" dirty="0"/>
          </a:p>
        </p:txBody>
      </p:sp>
      <p:sp>
        <p:nvSpPr>
          <p:cNvPr id="5" name="Footer Placeholder 4"/>
          <p:cNvSpPr>
            <a:spLocks noGrp="1"/>
          </p:cNvSpPr>
          <p:nvPr>
            <p:ph type="ftr" sz="quarter" idx="11"/>
          </p:nvPr>
        </p:nvSpPr>
        <p:spPr/>
        <p:txBody>
          <a:bodyPr/>
          <a:lstStyle/>
          <a:p>
            <a:r>
              <a:rPr lang="en-US" dirty="0"/>
              <a:t> </a:t>
            </a:r>
          </a:p>
        </p:txBody>
      </p:sp>
    </p:spTree>
    <p:extLst>
      <p:ext uri="{BB962C8B-B14F-4D97-AF65-F5344CB8AC3E}">
        <p14:creationId xmlns:p14="http://schemas.microsoft.com/office/powerpoint/2010/main" val="17230023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dirty="0"/>
              <a:t>Year by year, the cost of computer systems continues to drop dramatically, while the</a:t>
            </a:r>
          </a:p>
          <a:p>
            <a:r>
              <a:rPr lang="en-US" sz="1300" dirty="0"/>
              <a:t>performance and capacity of those systems continue to rise equally dramatically.</a:t>
            </a:r>
          </a:p>
          <a:p>
            <a:r>
              <a:rPr lang="en-US" sz="1300" dirty="0"/>
              <a:t>Today’s laptops have the computing power of an IBM mainframe from 10 or 15</a:t>
            </a:r>
          </a:p>
          <a:p>
            <a:r>
              <a:rPr lang="en-US" sz="1300" dirty="0"/>
              <a:t>years ago. Thus, we have virtually “free” computer power. Processors are so inexpensive</a:t>
            </a:r>
          </a:p>
          <a:p>
            <a:r>
              <a:rPr lang="en-US" sz="1300" dirty="0"/>
              <a:t>that we now have microprocessors we throw away. The digital pregnancy test is</a:t>
            </a:r>
          </a:p>
          <a:p>
            <a:r>
              <a:rPr lang="en-US" sz="1300" dirty="0"/>
              <a:t>an example (used once and then thrown away). And this continuing technological</a:t>
            </a:r>
          </a:p>
          <a:p>
            <a:r>
              <a:rPr lang="en-US" sz="1300" dirty="0"/>
              <a:t>revolution has enabled the development of applications of astounding complexity</a:t>
            </a:r>
          </a:p>
          <a:p>
            <a:r>
              <a:rPr lang="en-US" sz="1300" dirty="0"/>
              <a:t>and power. For example, desktop applications that require the great power of</a:t>
            </a:r>
          </a:p>
          <a:p>
            <a:r>
              <a:rPr lang="en-US" sz="1300" dirty="0"/>
              <a:t>today’s microprocessor-based systems include</a:t>
            </a:r>
          </a:p>
          <a:p>
            <a:endParaRPr lang="en-US" sz="1300" b="1" dirty="0"/>
          </a:p>
          <a:p>
            <a:r>
              <a:rPr lang="en-US" sz="1300" b="1" dirty="0"/>
              <a:t>■ </a:t>
            </a:r>
            <a:r>
              <a:rPr lang="en-US" sz="1300" dirty="0"/>
              <a:t> Image processing</a:t>
            </a:r>
          </a:p>
          <a:p>
            <a:r>
              <a:rPr lang="en-US" sz="1300" b="1" dirty="0"/>
              <a:t>■ </a:t>
            </a:r>
            <a:r>
              <a:rPr lang="en-US" sz="1300" dirty="0"/>
              <a:t> Three-dimensional rendering</a:t>
            </a:r>
          </a:p>
          <a:p>
            <a:r>
              <a:rPr lang="en-US" sz="1300" b="1" dirty="0"/>
              <a:t>■ </a:t>
            </a:r>
            <a:r>
              <a:rPr lang="en-US" sz="1300" dirty="0"/>
              <a:t> Speech recognition</a:t>
            </a:r>
          </a:p>
          <a:p>
            <a:r>
              <a:rPr lang="en-US" sz="1300" b="1" dirty="0"/>
              <a:t>■ </a:t>
            </a:r>
            <a:r>
              <a:rPr lang="en-US" sz="1300" dirty="0"/>
              <a:t> Videoconferencing</a:t>
            </a:r>
          </a:p>
          <a:p>
            <a:r>
              <a:rPr lang="en-US" sz="1300" b="1" dirty="0"/>
              <a:t>■ </a:t>
            </a:r>
            <a:r>
              <a:rPr lang="en-US" sz="1300" dirty="0"/>
              <a:t> Multimedia authoring</a:t>
            </a:r>
          </a:p>
          <a:p>
            <a:r>
              <a:rPr lang="en-US" sz="1300" b="1" dirty="0"/>
              <a:t>■ </a:t>
            </a:r>
            <a:r>
              <a:rPr lang="en-US" sz="1300" dirty="0"/>
              <a:t> Voice and video annotation of files</a:t>
            </a:r>
          </a:p>
          <a:p>
            <a:r>
              <a:rPr lang="en-US" sz="1300" b="1" dirty="0"/>
              <a:t>■ </a:t>
            </a:r>
            <a:r>
              <a:rPr lang="en-US" sz="1300" dirty="0"/>
              <a:t> Simulation modeling</a:t>
            </a:r>
          </a:p>
          <a:p>
            <a:endParaRPr lang="en-US" sz="1300" dirty="0"/>
          </a:p>
          <a:p>
            <a:r>
              <a:rPr lang="en-US" sz="1300" dirty="0"/>
              <a:t>Workstation systems now support highly sophisticated engineering and scientific</a:t>
            </a:r>
          </a:p>
          <a:p>
            <a:r>
              <a:rPr lang="en-US" sz="1300" dirty="0"/>
              <a:t>applications and have the capacity to support image and video applications. In addition,</a:t>
            </a:r>
          </a:p>
          <a:p>
            <a:r>
              <a:rPr lang="en-US" sz="1300" dirty="0"/>
              <a:t>businesses are relying on increasingly powerful servers to handle transaction</a:t>
            </a:r>
          </a:p>
          <a:p>
            <a:r>
              <a:rPr lang="en-US" sz="1300" dirty="0"/>
              <a:t>and database processing and to support massive client/server networks that have</a:t>
            </a:r>
          </a:p>
          <a:p>
            <a:r>
              <a:rPr lang="en-US" sz="1300" dirty="0"/>
              <a:t>replaced the huge mainframe computer centers of yesteryear. As well, cloud service</a:t>
            </a:r>
          </a:p>
          <a:p>
            <a:r>
              <a:rPr lang="en-US" sz="1300" dirty="0"/>
              <a:t>providers use massive high-performance banks of servers to satisfy high-volume,</a:t>
            </a:r>
          </a:p>
          <a:p>
            <a:r>
              <a:rPr lang="en-US" sz="1300" dirty="0"/>
              <a:t>high-transaction-rate applications for a broad spectrum of clients.</a:t>
            </a:r>
          </a:p>
          <a:p>
            <a:endParaRPr lang="en-US" sz="1300" dirty="0"/>
          </a:p>
          <a:p>
            <a:r>
              <a:rPr lang="en-US" sz="1300" dirty="0"/>
              <a:t>What is fascinating about all this from the perspective of computer organization</a:t>
            </a:r>
          </a:p>
          <a:p>
            <a:r>
              <a:rPr lang="en-US" sz="1300" dirty="0"/>
              <a:t>and architecture is that, on the one hand, the basic building blocks for today’s</a:t>
            </a:r>
          </a:p>
          <a:p>
            <a:r>
              <a:rPr lang="en-US" sz="1300" dirty="0"/>
              <a:t>computer miracles are virtually the same as those of the IAS computer from over</a:t>
            </a:r>
          </a:p>
          <a:p>
            <a:r>
              <a:rPr lang="en-US" sz="1300" dirty="0"/>
              <a:t>50 years ago, while on the other hand, the techniques for squeezing the maximum</a:t>
            </a:r>
          </a:p>
          <a:p>
            <a:r>
              <a:rPr lang="en-US" sz="1300" dirty="0"/>
              <a:t>performance out of the materials at hand have become increasingly sophisticated.</a:t>
            </a:r>
          </a:p>
          <a:p>
            <a:endParaRPr lang="en-US" sz="1300" dirty="0"/>
          </a:p>
          <a:p>
            <a:r>
              <a:rPr lang="en-US" sz="1300" dirty="0"/>
              <a:t>This observation serves as a guiding principle for the presentation in this</a:t>
            </a:r>
          </a:p>
          <a:p>
            <a:r>
              <a:rPr lang="en-US" sz="1300" dirty="0"/>
              <a:t>book. As we progress through the various elements and components of a computer,</a:t>
            </a:r>
          </a:p>
          <a:p>
            <a:r>
              <a:rPr lang="en-US" sz="1300" dirty="0"/>
              <a:t>two objectives are pursued. First, the book explains the fundamental functionality</a:t>
            </a:r>
          </a:p>
          <a:p>
            <a:r>
              <a:rPr lang="en-US" sz="1300" dirty="0"/>
              <a:t>in each area under consideration, and second, the book explores those techniques</a:t>
            </a:r>
          </a:p>
          <a:p>
            <a:r>
              <a:rPr lang="en-US" sz="1300" dirty="0"/>
              <a:t>required to achieve maximum performance. In the remainder of this section, we</a:t>
            </a:r>
          </a:p>
          <a:p>
            <a:r>
              <a:rPr lang="en-US" sz="1300" dirty="0"/>
              <a:t>highlight some of the driving factors behind the need to design for performance.</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2</a:t>
            </a:fld>
            <a:endParaRPr lang="en-US" dirty="0"/>
          </a:p>
        </p:txBody>
      </p:sp>
      <p:sp>
        <p:nvSpPr>
          <p:cNvPr id="5" name="Footer Placeholder 4"/>
          <p:cNvSpPr>
            <a:spLocks noGrp="1"/>
          </p:cNvSpPr>
          <p:nvPr>
            <p:ph type="ftr" sz="quarter" idx="11"/>
          </p:nvPr>
        </p:nvSpPr>
        <p:spPr/>
        <p:txBody>
          <a:bodyPr/>
          <a:lstStyle/>
          <a:p>
            <a:r>
              <a:rPr lang="en-US" dirty="0"/>
              <a:t> </a:t>
            </a:r>
          </a:p>
        </p:txBody>
      </p:sp>
    </p:spTree>
    <p:extLst>
      <p:ext uri="{BB962C8B-B14F-4D97-AF65-F5344CB8AC3E}">
        <p14:creationId xmlns:p14="http://schemas.microsoft.com/office/powerpoint/2010/main" val="27652944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0A513D4-F2DB-E54E-8A8E-0AC7B43CCEC2}" type="slidenum">
              <a:rPr lang="en-US"/>
              <a:pPr/>
              <a:t>3</a:t>
            </a:fld>
            <a:endParaRPr lang="en-US" dirty="0"/>
          </a:p>
        </p:txBody>
      </p:sp>
      <p:sp>
        <p:nvSpPr>
          <p:cNvPr id="80898" name="Rectangle 2"/>
          <p:cNvSpPr>
            <a:spLocks noGrp="1" noRot="1" noChangeAspect="1" noChangeArrowheads="1" noTextEdit="1"/>
          </p:cNvSpPr>
          <p:nvPr>
            <p:ph type="sldImg"/>
          </p:nvPr>
        </p:nvSpPr>
        <p:spPr>
          <a:ln/>
        </p:spPr>
      </p:sp>
      <p:sp>
        <p:nvSpPr>
          <p:cNvPr id="80899" name="Rectangle 3"/>
          <p:cNvSpPr>
            <a:spLocks noGrp="1" noChangeArrowheads="1"/>
          </p:cNvSpPr>
          <p:nvPr>
            <p:ph type="body" idx="1"/>
          </p:nvPr>
        </p:nvSpPr>
        <p:spPr/>
        <p:txBody>
          <a:bodyPr/>
          <a:lstStyle/>
          <a:p>
            <a:r>
              <a:rPr lang="en-US" sz="1300" dirty="0"/>
              <a:t>What gives Intel x86 processors or IBM mainframe computers such mind-boggling</a:t>
            </a:r>
          </a:p>
          <a:p>
            <a:r>
              <a:rPr lang="en-US" sz="1300" dirty="0"/>
              <a:t>power is the relentless pursuit of speed by processor chip manufacturers. The evolution</a:t>
            </a:r>
          </a:p>
          <a:p>
            <a:r>
              <a:rPr lang="en-US" sz="1300" dirty="0"/>
              <a:t>of these machines continues to bear out Moore’s law, mentioned previously. So</a:t>
            </a:r>
          </a:p>
          <a:p>
            <a:r>
              <a:rPr lang="en-US" sz="1300" dirty="0"/>
              <a:t>long as this law holds, chipmakers can unleash a new generation of chips every three</a:t>
            </a:r>
          </a:p>
          <a:p>
            <a:r>
              <a:rPr lang="en-US" sz="1300" dirty="0"/>
              <a:t>years—with four times as many transistors. In memory chips, this has quadrupled</a:t>
            </a:r>
          </a:p>
          <a:p>
            <a:r>
              <a:rPr lang="en-US" sz="1300" dirty="0"/>
              <a:t>the capacity of dynamic random-access memory (DRAM), still the basic technology</a:t>
            </a:r>
          </a:p>
          <a:p>
            <a:r>
              <a:rPr lang="en-US" sz="1300" dirty="0"/>
              <a:t>for computer main memory, every three years. In microprocessors, the addition of</a:t>
            </a:r>
          </a:p>
          <a:p>
            <a:r>
              <a:rPr lang="en-US" sz="1300" dirty="0"/>
              <a:t>new circuits, and the speed boost that comes from reducing the distances between</a:t>
            </a:r>
          </a:p>
          <a:p>
            <a:r>
              <a:rPr lang="en-US" sz="1300" dirty="0"/>
              <a:t>them, has improved performance four- or fivefold every three years or so since Intel</a:t>
            </a:r>
          </a:p>
          <a:p>
            <a:r>
              <a:rPr lang="en-US" sz="1300" dirty="0"/>
              <a:t>launched its x86 family in 1978.</a:t>
            </a:r>
          </a:p>
          <a:p>
            <a:endParaRPr lang="en-US" sz="1300" dirty="0"/>
          </a:p>
          <a:p>
            <a:r>
              <a:rPr lang="en-US" sz="1300" dirty="0"/>
              <a:t>But the raw speed of the microprocessor will not achieve its potential unless</a:t>
            </a:r>
          </a:p>
          <a:p>
            <a:r>
              <a:rPr lang="en-US" sz="1300" dirty="0"/>
              <a:t>it is fed a constant stream of work to do in the form of computer instructions.</a:t>
            </a:r>
          </a:p>
          <a:p>
            <a:r>
              <a:rPr lang="en-US" sz="1300" dirty="0"/>
              <a:t>Anything that gets in the way of that smooth flow undermines the power of the</a:t>
            </a:r>
          </a:p>
          <a:p>
            <a:r>
              <a:rPr lang="en-US" sz="1300" dirty="0"/>
              <a:t>processor. Accordingly, while the chipmakers have been busy learning how to fabricate</a:t>
            </a:r>
          </a:p>
          <a:p>
            <a:r>
              <a:rPr lang="en-US" sz="1300" dirty="0"/>
              <a:t>chips of greater and greater density, the processor designers must come up with</a:t>
            </a:r>
          </a:p>
          <a:p>
            <a:r>
              <a:rPr lang="en-US" sz="1300" dirty="0"/>
              <a:t>ever more elaborate techniques for feeding the monster. Among the techniques</a:t>
            </a:r>
          </a:p>
          <a:p>
            <a:r>
              <a:rPr lang="en-US" sz="1300" dirty="0"/>
              <a:t>built into contemporary processors are the following:</a:t>
            </a:r>
          </a:p>
          <a:p>
            <a:endParaRPr lang="en-US" sz="1300" dirty="0"/>
          </a:p>
          <a:p>
            <a:r>
              <a:rPr lang="en-US" sz="1300" b="1" dirty="0"/>
              <a:t>Pipelining:</a:t>
            </a:r>
          </a:p>
          <a:p>
            <a:r>
              <a:rPr lang="en-US" sz="1300" dirty="0"/>
              <a:t> The execution of an instruction involves multiple stages of operation,</a:t>
            </a:r>
          </a:p>
          <a:p>
            <a:r>
              <a:rPr lang="en-US" sz="1300" dirty="0"/>
              <a:t>including fetching the instruction, decoding the </a:t>
            </a:r>
            <a:r>
              <a:rPr lang="en-US" sz="1300" dirty="0" err="1"/>
              <a:t>opcode</a:t>
            </a:r>
            <a:r>
              <a:rPr lang="en-US" sz="1300" dirty="0"/>
              <a:t>, fetching operands,</a:t>
            </a:r>
          </a:p>
          <a:p>
            <a:r>
              <a:rPr lang="en-US" sz="1300" dirty="0"/>
              <a:t>performing a calculation, and so on. Pipelining enables a processor to</a:t>
            </a:r>
          </a:p>
          <a:p>
            <a:r>
              <a:rPr lang="en-US" sz="1300" dirty="0"/>
              <a:t>work simultaneously on multiple instructions by performing a different phase</a:t>
            </a:r>
          </a:p>
          <a:p>
            <a:r>
              <a:rPr lang="en-US" sz="1300" dirty="0"/>
              <a:t>for each of the multiple instructions at the same time. The processor overlaps</a:t>
            </a:r>
          </a:p>
          <a:p>
            <a:r>
              <a:rPr lang="en-US" sz="1300" dirty="0"/>
              <a:t>operations by moving data or instructions into a conceptual pipe with all</a:t>
            </a:r>
          </a:p>
          <a:p>
            <a:r>
              <a:rPr lang="en-US" sz="1300" dirty="0"/>
              <a:t>stages of the pipe processing simultaneously. For example, while one instruction</a:t>
            </a:r>
          </a:p>
          <a:p>
            <a:r>
              <a:rPr lang="en-US" sz="1300" dirty="0"/>
              <a:t>is being executed, the computer is decoding the next instruction. This is</a:t>
            </a:r>
          </a:p>
          <a:p>
            <a:r>
              <a:rPr lang="en-US" sz="1300" dirty="0"/>
              <a:t>the same principle as seen in an assembly line.</a:t>
            </a:r>
          </a:p>
          <a:p>
            <a:endParaRPr lang="en-US" sz="1300" dirty="0"/>
          </a:p>
          <a:p>
            <a:r>
              <a:rPr lang="en-US" sz="1300" dirty="0"/>
              <a:t>• </a:t>
            </a:r>
            <a:r>
              <a:rPr lang="en-US" sz="1300" b="1" dirty="0"/>
              <a:t>Branch prediction: </a:t>
            </a:r>
          </a:p>
          <a:p>
            <a:r>
              <a:rPr lang="en-US" sz="1300" dirty="0"/>
              <a:t>The processor looks ahead in the instruction code fetched</a:t>
            </a:r>
          </a:p>
          <a:p>
            <a:r>
              <a:rPr lang="en-US" sz="1300" dirty="0"/>
              <a:t>from memory and predicts which branches, or groups of instructions, are likely</a:t>
            </a:r>
          </a:p>
          <a:p>
            <a:r>
              <a:rPr lang="en-US" sz="1300" dirty="0"/>
              <a:t>to be processed next. If the processor guesses right most of the time, it can</a:t>
            </a:r>
          </a:p>
          <a:p>
            <a:r>
              <a:rPr lang="en-US" sz="1300" dirty="0"/>
              <a:t>prefetch the correct instructions and buffer them so that the processor is kept</a:t>
            </a:r>
          </a:p>
          <a:p>
            <a:r>
              <a:rPr lang="en-US" sz="1300" dirty="0"/>
              <a:t>busy. The more sophisticated examples of this strategy predict not just the</a:t>
            </a:r>
            <a:endParaRPr lang="en-GB" sz="1300" dirty="0"/>
          </a:p>
          <a:p>
            <a:r>
              <a:rPr lang="en-US" sz="1300" dirty="0"/>
              <a:t>next branch but multiple branches ahead. Thus, branch prediction increases</a:t>
            </a:r>
          </a:p>
          <a:p>
            <a:r>
              <a:rPr lang="en-US" sz="1300" dirty="0"/>
              <a:t>the amount of work available for the processor to execute.</a:t>
            </a:r>
          </a:p>
          <a:p>
            <a:endParaRPr lang="en-US" sz="1300" dirty="0"/>
          </a:p>
          <a:p>
            <a:r>
              <a:rPr lang="en-US" sz="1300" dirty="0"/>
              <a:t>• </a:t>
            </a:r>
            <a:r>
              <a:rPr lang="en-US" sz="1300" b="1" dirty="0"/>
              <a:t>Superscalar execution: </a:t>
            </a:r>
          </a:p>
          <a:p>
            <a:r>
              <a:rPr lang="en-US" sz="1300" dirty="0"/>
              <a:t>This is the ability to issue more than one instruction</a:t>
            </a:r>
          </a:p>
          <a:p>
            <a:r>
              <a:rPr lang="en-US" sz="1300" dirty="0"/>
              <a:t>in every processor clock cycle. In effect, multiple parallel pipelines are used.</a:t>
            </a:r>
          </a:p>
          <a:p>
            <a:endParaRPr lang="en-US" sz="1300" dirty="0"/>
          </a:p>
          <a:p>
            <a:r>
              <a:rPr lang="en-US" sz="1300" dirty="0"/>
              <a:t>• </a:t>
            </a:r>
            <a:r>
              <a:rPr lang="en-US" sz="1300" b="1" dirty="0"/>
              <a:t>Data flow analysis: </a:t>
            </a:r>
          </a:p>
          <a:p>
            <a:r>
              <a:rPr lang="en-US" sz="1300" dirty="0"/>
              <a:t>The processor analyzes which instructions are dependent</a:t>
            </a:r>
          </a:p>
          <a:p>
            <a:r>
              <a:rPr lang="en-US" sz="1300" dirty="0"/>
              <a:t>on each other’s results, or data, to create an optimized schedule of instructions.</a:t>
            </a:r>
          </a:p>
          <a:p>
            <a:r>
              <a:rPr lang="en-US" sz="1300" dirty="0"/>
              <a:t>In fact, instructions are scheduled to be executed when ready, independent of</a:t>
            </a:r>
          </a:p>
          <a:p>
            <a:r>
              <a:rPr lang="en-US" sz="1300" dirty="0"/>
              <a:t>the original program order. This prevents unnecessary delay.</a:t>
            </a:r>
          </a:p>
          <a:p>
            <a:endParaRPr lang="en-US" sz="1300" dirty="0"/>
          </a:p>
          <a:p>
            <a:r>
              <a:rPr lang="en-US" sz="1300" dirty="0"/>
              <a:t>• </a:t>
            </a:r>
            <a:r>
              <a:rPr lang="en-US" sz="1300" b="1" dirty="0"/>
              <a:t>Speculative execution: </a:t>
            </a:r>
          </a:p>
          <a:p>
            <a:r>
              <a:rPr lang="en-US" sz="1300" dirty="0"/>
              <a:t>Using branch prediction and data flow analysis, some</a:t>
            </a:r>
          </a:p>
          <a:p>
            <a:r>
              <a:rPr lang="en-US" sz="1300" dirty="0"/>
              <a:t>processors speculatively execute instructions ahead of their actual appearance</a:t>
            </a:r>
          </a:p>
          <a:p>
            <a:r>
              <a:rPr lang="en-US" sz="1300" dirty="0"/>
              <a:t>in the program execution, holding the results in temporary locations.</a:t>
            </a:r>
          </a:p>
          <a:p>
            <a:r>
              <a:rPr lang="en-US" sz="1300" dirty="0"/>
              <a:t>This enables the processor to keep its execution engines as busy as possible by</a:t>
            </a:r>
          </a:p>
          <a:p>
            <a:r>
              <a:rPr lang="en-US" sz="1300" dirty="0"/>
              <a:t>executing instructions that are likely to be needed.</a:t>
            </a:r>
          </a:p>
          <a:p>
            <a:endParaRPr lang="en-US" sz="1300" dirty="0"/>
          </a:p>
          <a:p>
            <a:r>
              <a:rPr lang="en-US" sz="1300" dirty="0"/>
              <a:t>These and other sophisticated techniques are made necessary by the sheer</a:t>
            </a:r>
          </a:p>
          <a:p>
            <a:r>
              <a:rPr lang="en-US" sz="1300" dirty="0"/>
              <a:t>power of the processor. Collectively they make it possible to execute many instructions</a:t>
            </a:r>
          </a:p>
          <a:p>
            <a:r>
              <a:rPr lang="en-US" sz="1300" dirty="0"/>
              <a:t>per processor cycle, rather than to take many cycles per instruction.</a:t>
            </a:r>
          </a:p>
        </p:txBody>
      </p:sp>
      <p:sp>
        <p:nvSpPr>
          <p:cNvPr id="2" name="Footer Placeholder 1"/>
          <p:cNvSpPr>
            <a:spLocks noGrp="1"/>
          </p:cNvSpPr>
          <p:nvPr>
            <p:ph type="ftr" sz="quarter" idx="10"/>
          </p:nvPr>
        </p:nvSpPr>
        <p:spPr/>
        <p:txBody>
          <a:bodyPr/>
          <a:lstStyle/>
          <a:p>
            <a:r>
              <a:rPr lang="en-US" dirty="0"/>
              <a:t> </a:t>
            </a:r>
          </a:p>
        </p:txBody>
      </p:sp>
    </p:spTree>
    <p:extLst>
      <p:ext uri="{BB962C8B-B14F-4D97-AF65-F5344CB8AC3E}">
        <p14:creationId xmlns:p14="http://schemas.microsoft.com/office/powerpoint/2010/main" val="10323175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AF9AE1A-A2AA-6746-A8EE-029791A08435}" type="slidenum">
              <a:rPr lang="en-US"/>
              <a:pPr/>
              <a:t>4</a:t>
            </a:fld>
            <a:endParaRPr lang="en-US" dirty="0"/>
          </a:p>
        </p:txBody>
      </p:sp>
      <p:sp>
        <p:nvSpPr>
          <p:cNvPr id="81922" name="Rectangle 2"/>
          <p:cNvSpPr>
            <a:spLocks noGrp="1" noRot="1" noChangeAspect="1" noChangeArrowheads="1" noTextEdit="1"/>
          </p:cNvSpPr>
          <p:nvPr>
            <p:ph type="sldImg"/>
          </p:nvPr>
        </p:nvSpPr>
        <p:spPr>
          <a:ln/>
        </p:spPr>
      </p:sp>
      <p:sp>
        <p:nvSpPr>
          <p:cNvPr id="81923" name="Rectangle 3"/>
          <p:cNvSpPr>
            <a:spLocks noGrp="1" noChangeArrowheads="1"/>
          </p:cNvSpPr>
          <p:nvPr>
            <p:ph type="body" idx="1"/>
          </p:nvPr>
        </p:nvSpPr>
        <p:spPr/>
        <p:txBody>
          <a:bodyPr/>
          <a:lstStyle/>
          <a:p>
            <a:r>
              <a:rPr lang="en-US" sz="1300" dirty="0"/>
              <a:t>While processor power has raced ahead at breakneck speed, other critical components</a:t>
            </a:r>
          </a:p>
          <a:p>
            <a:r>
              <a:rPr lang="en-US" sz="1300" dirty="0"/>
              <a:t>of the computer have not kept up. The result is a need to look for performance</a:t>
            </a:r>
          </a:p>
          <a:p>
            <a:r>
              <a:rPr lang="en-US" sz="1300" dirty="0"/>
              <a:t>balance: an adjusting of the organization and architecture to compensate for the</a:t>
            </a:r>
          </a:p>
          <a:p>
            <a:r>
              <a:rPr lang="en-US" sz="1300" dirty="0"/>
              <a:t>mismatch among the capabilities of the various components.</a:t>
            </a:r>
          </a:p>
          <a:p>
            <a:endParaRPr lang="en-US" sz="1300" dirty="0"/>
          </a:p>
          <a:p>
            <a:r>
              <a:rPr lang="en-US" sz="1300" dirty="0"/>
              <a:t>The problem created by such mismatches is particularly critical at the</a:t>
            </a:r>
          </a:p>
          <a:p>
            <a:r>
              <a:rPr lang="en-US" sz="1300" dirty="0"/>
              <a:t>interface between processor and main memory. While processor speed has grown</a:t>
            </a:r>
          </a:p>
          <a:p>
            <a:r>
              <a:rPr lang="en-US" sz="1300" dirty="0"/>
              <a:t>rapidly, the speed with which data can be transferred between main memory and the</a:t>
            </a:r>
          </a:p>
          <a:p>
            <a:r>
              <a:rPr lang="en-US" sz="1300" dirty="0"/>
              <a:t>processor has lagged badly. The interface between processor and main memory is</a:t>
            </a:r>
          </a:p>
          <a:p>
            <a:r>
              <a:rPr lang="en-US" sz="1300" dirty="0"/>
              <a:t>the most crucial pathway in the entire computer because it is responsible for carrying</a:t>
            </a:r>
          </a:p>
          <a:p>
            <a:r>
              <a:rPr lang="en-US" sz="1300" dirty="0"/>
              <a:t>a constant flow of program instructions and data between memory chips and the</a:t>
            </a:r>
          </a:p>
          <a:p>
            <a:r>
              <a:rPr lang="en-US" sz="1300" dirty="0"/>
              <a:t>processor. If memory or the pathway fails to keep pace with the processor’s insistent</a:t>
            </a:r>
          </a:p>
          <a:p>
            <a:r>
              <a:rPr lang="en-US" sz="1300" dirty="0"/>
              <a:t>demands, the processor stalls in a wait state, and valuable processing time is lost.</a:t>
            </a:r>
          </a:p>
          <a:p>
            <a:endParaRPr lang="en-US" sz="1300" dirty="0"/>
          </a:p>
          <a:p>
            <a:r>
              <a:rPr lang="en-US" sz="1300" dirty="0"/>
              <a:t>A system architect can attack this problem in a number of ways, all of which</a:t>
            </a:r>
          </a:p>
          <a:p>
            <a:r>
              <a:rPr lang="en-US" sz="1300" dirty="0"/>
              <a:t>are reflected in contemporary computer designs. Consider the following examples:</a:t>
            </a:r>
          </a:p>
          <a:p>
            <a:endParaRPr lang="en-US" sz="1300" dirty="0"/>
          </a:p>
          <a:p>
            <a:r>
              <a:rPr lang="en-US" sz="1300" dirty="0"/>
              <a:t>• Increase the number of bits that are retrieved at one time by making DRAMs</a:t>
            </a:r>
          </a:p>
          <a:p>
            <a:r>
              <a:rPr lang="en-US" sz="1300" dirty="0"/>
              <a:t>“wider” rather than “deeper” and by using wide bus data paths.</a:t>
            </a:r>
          </a:p>
          <a:p>
            <a:endParaRPr lang="en-US" sz="1300" dirty="0"/>
          </a:p>
          <a:p>
            <a:r>
              <a:rPr lang="en-US" sz="1300" dirty="0"/>
              <a:t>• Change the DRAM interface to make it more efficient by including a cache</a:t>
            </a:r>
          </a:p>
          <a:p>
            <a:r>
              <a:rPr lang="en-US" sz="1300" dirty="0"/>
              <a:t>or other buffering scheme on the DRAM chip.</a:t>
            </a:r>
          </a:p>
          <a:p>
            <a:endParaRPr lang="en-US" sz="1300" dirty="0"/>
          </a:p>
          <a:p>
            <a:r>
              <a:rPr lang="en-US" sz="1300" dirty="0"/>
              <a:t>• Reduce the frequency of memory access by incorporating increasingly complex</a:t>
            </a:r>
          </a:p>
          <a:p>
            <a:r>
              <a:rPr lang="en-US" sz="1300" dirty="0"/>
              <a:t>and efficient cache structures between the processor and main memory. This</a:t>
            </a:r>
          </a:p>
          <a:p>
            <a:r>
              <a:rPr lang="en-US" sz="1300" dirty="0"/>
              <a:t>includes the incorporation of one or more caches on the processor chip as well</a:t>
            </a:r>
          </a:p>
          <a:p>
            <a:r>
              <a:rPr lang="en-US" sz="1300" dirty="0"/>
              <a:t>as on an off-chip cache close to the processor chip.</a:t>
            </a:r>
          </a:p>
          <a:p>
            <a:endParaRPr lang="en-US" sz="1300" dirty="0"/>
          </a:p>
          <a:p>
            <a:r>
              <a:rPr lang="en-US" sz="1300" dirty="0"/>
              <a:t>• Increase the interconnect bandwidth between processors and memory by using</a:t>
            </a:r>
          </a:p>
          <a:p>
            <a:r>
              <a:rPr lang="en-US" sz="1300" dirty="0"/>
              <a:t>higher-speed buses and a hierarchy of buses to buffer and structure data</a:t>
            </a:r>
          </a:p>
          <a:p>
            <a:r>
              <a:rPr lang="en-US" sz="1300" dirty="0"/>
              <a:t>flow.</a:t>
            </a:r>
            <a:endParaRPr lang="en-GB" dirty="0"/>
          </a:p>
        </p:txBody>
      </p:sp>
      <p:sp>
        <p:nvSpPr>
          <p:cNvPr id="2" name="Footer Placeholder 1"/>
          <p:cNvSpPr>
            <a:spLocks noGrp="1"/>
          </p:cNvSpPr>
          <p:nvPr>
            <p:ph type="ftr" sz="quarter" idx="10"/>
          </p:nvPr>
        </p:nvSpPr>
        <p:spPr/>
        <p:txBody>
          <a:bodyPr/>
          <a:lstStyle/>
          <a:p>
            <a:r>
              <a:rPr lang="en-US" dirty="0"/>
              <a:t> </a:t>
            </a:r>
          </a:p>
        </p:txBody>
      </p:sp>
    </p:spTree>
    <p:extLst>
      <p:ext uri="{BB962C8B-B14F-4D97-AF65-F5344CB8AC3E}">
        <p14:creationId xmlns:p14="http://schemas.microsoft.com/office/powerpoint/2010/main" val="27923043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93FB62F-6AC0-424F-BA78-8B6B2E5E00A5}" type="slidenum">
              <a:rPr lang="en-US"/>
              <a:pPr/>
              <a:t>5</a:t>
            </a:fld>
            <a:endParaRPr lang="en-US" dirty="0"/>
          </a:p>
        </p:txBody>
      </p:sp>
      <p:sp>
        <p:nvSpPr>
          <p:cNvPr id="82946" name="Rectangle 2"/>
          <p:cNvSpPr>
            <a:spLocks noGrp="1" noRot="1" noChangeAspect="1" noChangeArrowheads="1" noTextEdit="1"/>
          </p:cNvSpPr>
          <p:nvPr>
            <p:ph type="sldImg"/>
          </p:nvPr>
        </p:nvSpPr>
        <p:spPr>
          <a:ln/>
        </p:spPr>
      </p:sp>
      <p:sp>
        <p:nvSpPr>
          <p:cNvPr id="82947" name="Rectangle 3"/>
          <p:cNvSpPr>
            <a:spLocks noGrp="1" noChangeArrowheads="1"/>
          </p:cNvSpPr>
          <p:nvPr>
            <p:ph type="body" idx="1"/>
          </p:nvPr>
        </p:nvSpPr>
        <p:spPr/>
        <p:txBody>
          <a:bodyPr/>
          <a:lstStyle/>
          <a:p>
            <a:r>
              <a:rPr lang="en-US" sz="1300" dirty="0"/>
              <a:t>Another area of design focus is the handling of I/O devices. As computers</a:t>
            </a:r>
          </a:p>
          <a:p>
            <a:r>
              <a:rPr lang="en-US" sz="1300" dirty="0"/>
              <a:t>become faster and more capable, more sophisticated applications are developed</a:t>
            </a:r>
          </a:p>
          <a:p>
            <a:r>
              <a:rPr lang="en-US" sz="1300" dirty="0"/>
              <a:t>that support the use of peripherals with intensive I/O demands. Figure 2.1 gives</a:t>
            </a:r>
          </a:p>
          <a:p>
            <a:r>
              <a:rPr lang="en-US" sz="1300" dirty="0"/>
              <a:t>some examples of typical peripheral devices in use on personal computers and</a:t>
            </a:r>
          </a:p>
          <a:p>
            <a:r>
              <a:rPr lang="en-US" sz="1300" dirty="0"/>
              <a:t>workstations. These devices create tremendous data throughput demands. While</a:t>
            </a:r>
          </a:p>
          <a:p>
            <a:r>
              <a:rPr lang="en-US" sz="1300" dirty="0"/>
              <a:t>the current generation of processors can handle the data pumped out by these</a:t>
            </a:r>
          </a:p>
          <a:p>
            <a:r>
              <a:rPr lang="en-US" sz="1300" dirty="0"/>
              <a:t>devices, there remains the problem of getting that data moved between processor</a:t>
            </a:r>
          </a:p>
          <a:p>
            <a:r>
              <a:rPr lang="en-US" sz="1300" dirty="0"/>
              <a:t>and peripheral. Strategies here include caching and buffering schemes plus the</a:t>
            </a:r>
          </a:p>
          <a:p>
            <a:r>
              <a:rPr lang="en-US" sz="1300" dirty="0"/>
              <a:t>use of higher-speed interconnection buses and more elaborate structures of buses.</a:t>
            </a:r>
          </a:p>
          <a:p>
            <a:r>
              <a:rPr lang="en-US" sz="1300" dirty="0"/>
              <a:t>In addition, the use of multiple-processor configurations can aid in satisfying I/O</a:t>
            </a:r>
          </a:p>
          <a:p>
            <a:r>
              <a:rPr lang="en-US" sz="1300" dirty="0"/>
              <a:t>demands.</a:t>
            </a:r>
          </a:p>
          <a:p>
            <a:endParaRPr lang="en-US" sz="1300" dirty="0"/>
          </a:p>
          <a:p>
            <a:r>
              <a:rPr lang="en-US" sz="1300" dirty="0"/>
              <a:t>The key in all this is balance. Designers constantly strive to balance the</a:t>
            </a:r>
          </a:p>
          <a:p>
            <a:r>
              <a:rPr lang="en-US" sz="1300" dirty="0"/>
              <a:t>throughput and processing demands of the processor components, main memory,</a:t>
            </a:r>
          </a:p>
          <a:p>
            <a:r>
              <a:rPr lang="en-US" sz="1300" dirty="0"/>
              <a:t>I/O devices, and the interconnection structures. This design must constantly be</a:t>
            </a:r>
          </a:p>
          <a:p>
            <a:r>
              <a:rPr lang="en-US" sz="1300" dirty="0"/>
              <a:t>rethought to cope with two constantly evolving factors:</a:t>
            </a:r>
          </a:p>
          <a:p>
            <a:endParaRPr lang="en-US" sz="1300" dirty="0"/>
          </a:p>
          <a:p>
            <a:r>
              <a:rPr lang="en-US" sz="1300" dirty="0"/>
              <a:t>• The rate at which performance is changing in the various technology areas</a:t>
            </a:r>
          </a:p>
          <a:p>
            <a:r>
              <a:rPr lang="en-US" sz="1300" dirty="0"/>
              <a:t>(processor, buses, memory, peripherals) differs greatly from one type of</a:t>
            </a:r>
          </a:p>
          <a:p>
            <a:r>
              <a:rPr lang="en-US" sz="1300" dirty="0"/>
              <a:t>element to another.</a:t>
            </a:r>
          </a:p>
          <a:p>
            <a:endParaRPr lang="en-US" sz="1300" dirty="0"/>
          </a:p>
          <a:p>
            <a:r>
              <a:rPr lang="en-US" sz="1300" dirty="0"/>
              <a:t>• New applications and new peripheral devices constantly change the nature of</a:t>
            </a:r>
          </a:p>
          <a:p>
            <a:r>
              <a:rPr lang="en-US" sz="1300" dirty="0"/>
              <a:t>the demand on the system in terms of typical instruction profile and the data</a:t>
            </a:r>
          </a:p>
          <a:p>
            <a:r>
              <a:rPr lang="en-US" sz="1300" dirty="0"/>
              <a:t>access patterns.</a:t>
            </a:r>
          </a:p>
          <a:p>
            <a:endParaRPr lang="en-US" sz="1300" dirty="0"/>
          </a:p>
          <a:p>
            <a:r>
              <a:rPr lang="en-US" sz="1300" dirty="0"/>
              <a:t>Thus, computer design is a constantly evolving art form. This book attempts to</a:t>
            </a:r>
          </a:p>
          <a:p>
            <a:r>
              <a:rPr lang="en-US" sz="1300" dirty="0"/>
              <a:t>present the fundamentals on which this art form is based and to present a survey of</a:t>
            </a:r>
          </a:p>
          <a:p>
            <a:r>
              <a:rPr lang="en-US" sz="1300" dirty="0"/>
              <a:t>the current state of that art.</a:t>
            </a:r>
            <a:endParaRPr lang="en-GB" dirty="0"/>
          </a:p>
        </p:txBody>
      </p:sp>
      <p:sp>
        <p:nvSpPr>
          <p:cNvPr id="2" name="Footer Placeholder 1"/>
          <p:cNvSpPr>
            <a:spLocks noGrp="1"/>
          </p:cNvSpPr>
          <p:nvPr>
            <p:ph type="ftr" sz="quarter" idx="10"/>
          </p:nvPr>
        </p:nvSpPr>
        <p:spPr/>
        <p:txBody>
          <a:bodyPr/>
          <a:lstStyle/>
          <a:p>
            <a:r>
              <a:rPr lang="en-US" dirty="0"/>
              <a:t> </a:t>
            </a:r>
          </a:p>
        </p:txBody>
      </p:sp>
    </p:spTree>
    <p:extLst>
      <p:ext uri="{BB962C8B-B14F-4D97-AF65-F5344CB8AC3E}">
        <p14:creationId xmlns:p14="http://schemas.microsoft.com/office/powerpoint/2010/main" val="1055593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300" dirty="0"/>
              <a:t>As designers wrestle with the challenge of balancing processor performance with that</a:t>
            </a:r>
          </a:p>
          <a:p>
            <a:r>
              <a:rPr lang="en-US" sz="1300" dirty="0"/>
              <a:t>of main memory and other computer components, the need to increase processor</a:t>
            </a:r>
          </a:p>
          <a:p>
            <a:r>
              <a:rPr lang="en-US" sz="1300" dirty="0"/>
              <a:t>speed remains. There are three approaches to achieving increased processor speed:</a:t>
            </a:r>
          </a:p>
          <a:p>
            <a:endParaRPr lang="en-US" sz="1300" dirty="0"/>
          </a:p>
          <a:p>
            <a:r>
              <a:rPr lang="en-US" sz="1300" dirty="0"/>
              <a:t>• Increase the hardware speed of the processor. This increase is fundamentally</a:t>
            </a:r>
          </a:p>
          <a:p>
            <a:r>
              <a:rPr lang="en-US" sz="1300" dirty="0"/>
              <a:t>due to shrinking the size of the logic gates on the processor chip, so that more</a:t>
            </a:r>
          </a:p>
          <a:p>
            <a:r>
              <a:rPr lang="en-US" sz="1300" dirty="0"/>
              <a:t>gates can be packed together more tightly and to increasing the clock rate.</a:t>
            </a:r>
          </a:p>
          <a:p>
            <a:r>
              <a:rPr lang="en-US" sz="1300" dirty="0"/>
              <a:t>With gates closer together, the propagation time for signals is significantly</a:t>
            </a:r>
          </a:p>
          <a:p>
            <a:r>
              <a:rPr lang="en-US" sz="1300" dirty="0"/>
              <a:t>reduced, enabling a speeding up of the processor. An increase in clock rate</a:t>
            </a:r>
          </a:p>
          <a:p>
            <a:r>
              <a:rPr lang="en-US" sz="1300" dirty="0"/>
              <a:t>means that individual operations are executed more rapidly.</a:t>
            </a:r>
          </a:p>
          <a:p>
            <a:endParaRPr lang="en-US" sz="1300" dirty="0"/>
          </a:p>
          <a:p>
            <a:r>
              <a:rPr lang="en-US" sz="1300" dirty="0"/>
              <a:t>• Increase the size and speed of caches that are interposed between the processor</a:t>
            </a:r>
          </a:p>
          <a:p>
            <a:r>
              <a:rPr lang="en-US" sz="1300" dirty="0"/>
              <a:t>and main memory. In particular, by dedicating a portion of the processor</a:t>
            </a:r>
          </a:p>
          <a:p>
            <a:r>
              <a:rPr lang="en-US" sz="1300" dirty="0"/>
              <a:t>chip itself to the cache, cache access times drop significantly.</a:t>
            </a:r>
          </a:p>
          <a:p>
            <a:endParaRPr lang="en-US" sz="1300" dirty="0"/>
          </a:p>
          <a:p>
            <a:r>
              <a:rPr lang="en-US" sz="1300" dirty="0"/>
              <a:t>• Make changes to the processor organization and architecture that increase the</a:t>
            </a:r>
          </a:p>
          <a:p>
            <a:r>
              <a:rPr lang="en-US" sz="1300" dirty="0"/>
              <a:t>effective speed of instruction execution. Typically, this involves using parallelism</a:t>
            </a:r>
          </a:p>
          <a:p>
            <a:r>
              <a:rPr lang="en-US" sz="1300" dirty="0"/>
              <a:t>in one form or another.</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6</a:t>
            </a:fld>
            <a:endParaRPr lang="en-US" dirty="0"/>
          </a:p>
        </p:txBody>
      </p:sp>
      <p:sp>
        <p:nvSpPr>
          <p:cNvPr id="5" name="Footer Placeholder 4"/>
          <p:cNvSpPr>
            <a:spLocks noGrp="1"/>
          </p:cNvSpPr>
          <p:nvPr>
            <p:ph type="ftr" sz="quarter" idx="11"/>
          </p:nvPr>
        </p:nvSpPr>
        <p:spPr/>
        <p:txBody>
          <a:bodyPr/>
          <a:lstStyle/>
          <a:p>
            <a:r>
              <a:rPr lang="en-US" dirty="0"/>
              <a:t> </a:t>
            </a:r>
          </a:p>
        </p:txBody>
      </p:sp>
    </p:spTree>
    <p:extLst>
      <p:ext uri="{BB962C8B-B14F-4D97-AF65-F5344CB8AC3E}">
        <p14:creationId xmlns:p14="http://schemas.microsoft.com/office/powerpoint/2010/main" val="4794689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300" dirty="0"/>
              <a:t>Traditionally, the dominant factor in performance gains has been in increases</a:t>
            </a:r>
          </a:p>
          <a:p>
            <a:r>
              <a:rPr lang="en-US" sz="1300" dirty="0"/>
              <a:t>in clock speed due and logic density. However, as clock speed and logic density</a:t>
            </a:r>
          </a:p>
          <a:p>
            <a:r>
              <a:rPr lang="en-US" sz="1300" dirty="0"/>
              <a:t>increase, a number of obstacles become more significant [INTE04b]:</a:t>
            </a:r>
          </a:p>
          <a:p>
            <a:endParaRPr lang="en-US" sz="1300" dirty="0"/>
          </a:p>
          <a:p>
            <a:r>
              <a:rPr lang="en-US" sz="1300" dirty="0"/>
              <a:t>• </a:t>
            </a:r>
            <a:r>
              <a:rPr lang="en-US" sz="1300" b="1" dirty="0"/>
              <a:t>Power: </a:t>
            </a:r>
            <a:r>
              <a:rPr lang="en-US" sz="1300" dirty="0"/>
              <a:t>As the density of logic and the clock speed on a chip increase, so does</a:t>
            </a:r>
          </a:p>
          <a:p>
            <a:r>
              <a:rPr lang="en-US" sz="1300" dirty="0"/>
              <a:t>the power density (Watts/cm2). The difficulty of dissipating the heat generated</a:t>
            </a:r>
          </a:p>
          <a:p>
            <a:r>
              <a:rPr lang="en-US" sz="1300" dirty="0"/>
              <a:t>on high-density, high-speed chips is becoming a serious design issue [GIBB04,</a:t>
            </a:r>
          </a:p>
          <a:p>
            <a:r>
              <a:rPr lang="en-US" sz="1300" dirty="0"/>
              <a:t>BORK03].</a:t>
            </a:r>
          </a:p>
          <a:p>
            <a:endParaRPr lang="en-US" sz="1300" dirty="0"/>
          </a:p>
          <a:p>
            <a:r>
              <a:rPr lang="en-US" sz="1300" dirty="0"/>
              <a:t>• </a:t>
            </a:r>
            <a:r>
              <a:rPr lang="en-US" sz="1300" b="1" dirty="0"/>
              <a:t>RC delay: </a:t>
            </a:r>
            <a:r>
              <a:rPr lang="en-US" sz="1300" dirty="0"/>
              <a:t>The speed at which electrons can flow on a chip between transistors</a:t>
            </a:r>
          </a:p>
          <a:p>
            <a:r>
              <a:rPr lang="en-US" sz="1300" dirty="0"/>
              <a:t>is limited by the resistance and capacitance of the metal wires connecting</a:t>
            </a:r>
          </a:p>
          <a:p>
            <a:r>
              <a:rPr lang="en-US" sz="1300" dirty="0"/>
              <a:t>them; specifically, delay increases as the RC product increases. As components</a:t>
            </a:r>
          </a:p>
          <a:p>
            <a:r>
              <a:rPr lang="en-US" sz="1300" dirty="0"/>
              <a:t>on the chip decrease in size, the wire interconnects become thinner, increasing</a:t>
            </a:r>
          </a:p>
          <a:p>
            <a:r>
              <a:rPr lang="en-US" sz="1300" dirty="0"/>
              <a:t>resistance. Also, the wires are closer together, increasing capacitance.</a:t>
            </a:r>
          </a:p>
          <a:p>
            <a:endParaRPr lang="en-US" sz="1300" dirty="0"/>
          </a:p>
          <a:p>
            <a:r>
              <a:rPr lang="en-US" sz="1300" dirty="0"/>
              <a:t>• </a:t>
            </a:r>
            <a:r>
              <a:rPr lang="en-US" sz="1300" b="1" dirty="0"/>
              <a:t>Memory latency: </a:t>
            </a:r>
            <a:r>
              <a:rPr lang="en-US" sz="1300" dirty="0"/>
              <a:t>Memory speeds lag processor speeds, as previously discussed.</a:t>
            </a:r>
          </a:p>
          <a:p>
            <a:endParaRPr lang="en-US" sz="1300" dirty="0"/>
          </a:p>
          <a:p>
            <a:r>
              <a:rPr lang="en-US" sz="1300" dirty="0"/>
              <a:t>Thus, there will be more emphasis on organization and architectural approaches</a:t>
            </a:r>
          </a:p>
          <a:p>
            <a:r>
              <a:rPr lang="en-US" sz="1300" dirty="0"/>
              <a:t>to improving performance. These techniques are discussed in later chapters of the book.</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7</a:t>
            </a:fld>
            <a:endParaRPr lang="en-US" dirty="0"/>
          </a:p>
        </p:txBody>
      </p:sp>
      <p:sp>
        <p:nvSpPr>
          <p:cNvPr id="5" name="Footer Placeholder 4"/>
          <p:cNvSpPr>
            <a:spLocks noGrp="1"/>
          </p:cNvSpPr>
          <p:nvPr>
            <p:ph type="ftr" sz="quarter" idx="11"/>
          </p:nvPr>
        </p:nvSpPr>
        <p:spPr/>
        <p:txBody>
          <a:bodyPr/>
          <a:lstStyle/>
          <a:p>
            <a:r>
              <a:rPr lang="en-US" dirty="0"/>
              <a:t> </a:t>
            </a:r>
          </a:p>
        </p:txBody>
      </p:sp>
    </p:spTree>
    <p:extLst>
      <p:ext uri="{BB962C8B-B14F-4D97-AF65-F5344CB8AC3E}">
        <p14:creationId xmlns:p14="http://schemas.microsoft.com/office/powerpoint/2010/main" val="6485594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sz="1300" dirty="0"/>
              <a:t>Beginning in the late 1980s, and continuing for about 15 years, two main</a:t>
            </a:r>
          </a:p>
          <a:p>
            <a:r>
              <a:rPr lang="en-US" sz="1300" dirty="0"/>
              <a:t>strategies have been used to increase performance beyond what can be achieved</a:t>
            </a:r>
          </a:p>
          <a:p>
            <a:r>
              <a:rPr lang="en-US" sz="1300" dirty="0"/>
              <a:t>simply by increasing clock speed. First, there has been an increase in cache capacity.</a:t>
            </a:r>
          </a:p>
          <a:p>
            <a:r>
              <a:rPr lang="en-US" sz="1300" dirty="0"/>
              <a:t>There are now typically two or three levels of cache between the processor and</a:t>
            </a:r>
          </a:p>
          <a:p>
            <a:r>
              <a:rPr lang="en-US" sz="1300" dirty="0"/>
              <a:t>main memory. As chip density has increased, more of the cache memory has been</a:t>
            </a:r>
          </a:p>
          <a:p>
            <a:r>
              <a:rPr lang="en-US" sz="1300" dirty="0"/>
              <a:t>incorporated on the chip, enabling faster cache access. For example, the original</a:t>
            </a:r>
          </a:p>
          <a:p>
            <a:r>
              <a:rPr lang="en-US" sz="1300" dirty="0"/>
              <a:t>Pentium chip devoted about 10% of on-chip area to caches. Contemporary chips</a:t>
            </a:r>
          </a:p>
          <a:p>
            <a:r>
              <a:rPr lang="en-US" sz="1300" dirty="0"/>
              <a:t>devote over half of the chip area to caches. And, typically, about three-quarters of the</a:t>
            </a:r>
          </a:p>
          <a:p>
            <a:r>
              <a:rPr lang="en-US" sz="1300" dirty="0"/>
              <a:t>other half is for pipeline-related control and buffering.</a:t>
            </a:r>
          </a:p>
          <a:p>
            <a:endParaRPr lang="en-US" sz="1300" dirty="0"/>
          </a:p>
          <a:p>
            <a:r>
              <a:rPr lang="en-US" sz="1300" dirty="0"/>
              <a:t>Second, the instruction execution logic within a processor has become increasingly</a:t>
            </a:r>
          </a:p>
          <a:p>
            <a:r>
              <a:rPr lang="en-US" sz="1300" dirty="0"/>
              <a:t>complex to enable parallel execution of instructions within the processor. Two</a:t>
            </a:r>
          </a:p>
          <a:p>
            <a:r>
              <a:rPr lang="en-US" sz="1300" dirty="0"/>
              <a:t>noteworthy design approaches have been pipelining and superscalar. A pipeline</a:t>
            </a:r>
          </a:p>
          <a:p>
            <a:r>
              <a:rPr lang="en-US" sz="1300" dirty="0"/>
              <a:t>works much as an assembly line in a manufacturing plant enabling different stages</a:t>
            </a:r>
          </a:p>
          <a:p>
            <a:r>
              <a:rPr lang="en-US" sz="1300" dirty="0"/>
              <a:t>of execution of different instructions to occur at the same time along the pipeline. A</a:t>
            </a:r>
          </a:p>
          <a:p>
            <a:r>
              <a:rPr lang="en-US" sz="1300" dirty="0"/>
              <a:t>superscalar approach in essence allows multiple pipelines within a single processor</a:t>
            </a:r>
          </a:p>
          <a:p>
            <a:r>
              <a:rPr lang="en-US" sz="1300" dirty="0"/>
              <a:t>so that instructions that do not depend on one another can be executed in parallel.</a:t>
            </a:r>
          </a:p>
          <a:p>
            <a:endParaRPr lang="en-US" sz="1300" dirty="0"/>
          </a:p>
          <a:p>
            <a:r>
              <a:rPr lang="en-US" sz="1300" dirty="0"/>
              <a:t>By the mid to late 90s, both of these approaches were reaching a point of</a:t>
            </a:r>
          </a:p>
          <a:p>
            <a:r>
              <a:rPr lang="en-US" sz="1300" dirty="0"/>
              <a:t>diminishing returns. The internal organization of contemporary processors is</a:t>
            </a:r>
          </a:p>
          <a:p>
            <a:r>
              <a:rPr lang="en-US" sz="1300" dirty="0"/>
              <a:t>exceedingly complex and is able to squeeze a great deal of parallelism out of the</a:t>
            </a:r>
          </a:p>
          <a:p>
            <a:r>
              <a:rPr lang="en-US" sz="1300" dirty="0"/>
              <a:t>instruction stream. It seems likely that further significant increases in this direction</a:t>
            </a:r>
          </a:p>
          <a:p>
            <a:r>
              <a:rPr lang="en-US" sz="1300" dirty="0"/>
              <a:t>will be relatively modest [GIBB04]. With three levels of cache on the processor</a:t>
            </a:r>
          </a:p>
          <a:p>
            <a:r>
              <a:rPr lang="en-US" sz="1300" dirty="0"/>
              <a:t>chip, each level providing substantial capacity, it also seems that the benefits from</a:t>
            </a:r>
          </a:p>
          <a:p>
            <a:r>
              <a:rPr lang="en-US" sz="1300" dirty="0"/>
              <a:t>the cache are reaching a limit.</a:t>
            </a:r>
          </a:p>
          <a:p>
            <a:endParaRPr lang="en-US" sz="1300" dirty="0"/>
          </a:p>
          <a:p>
            <a:r>
              <a:rPr lang="en-US" sz="1300" dirty="0"/>
              <a:t>However, simply relying on increasing clock rate for increased performance</a:t>
            </a:r>
          </a:p>
          <a:p>
            <a:r>
              <a:rPr lang="en-US" sz="1300" dirty="0"/>
              <a:t>runs into the power dissipation problem already referred to. The faster the clock</a:t>
            </a:r>
          </a:p>
          <a:p>
            <a:r>
              <a:rPr lang="en-US" sz="1300" dirty="0"/>
              <a:t>rate, the greater the amount of power to be dissipated, and some fundamental physical</a:t>
            </a:r>
          </a:p>
          <a:p>
            <a:r>
              <a:rPr lang="en-US" sz="1300" dirty="0"/>
              <a:t>limits are being reached.</a:t>
            </a:r>
          </a:p>
          <a:p>
            <a:endParaRPr lang="en-US" sz="1300" dirty="0"/>
          </a:p>
          <a:p>
            <a:r>
              <a:rPr lang="en-US" sz="1300" dirty="0"/>
              <a:t>Figure 2.2 illustrates the concepts we have been discussing. The top line</a:t>
            </a:r>
          </a:p>
          <a:p>
            <a:r>
              <a:rPr lang="en-US" sz="1300" dirty="0"/>
              <a:t>shows that, as per Moore’s Law, the number of transistors on a single chip continues</a:t>
            </a:r>
          </a:p>
          <a:p>
            <a:r>
              <a:rPr lang="en-US" sz="1300" dirty="0"/>
              <a:t>to grow exponentially. Meanwhile, the clock speed has leveled off, in order</a:t>
            </a:r>
          </a:p>
          <a:p>
            <a:r>
              <a:rPr lang="en-US" sz="1300" dirty="0"/>
              <a:t>to prevent a further rise in power. To continue to increase performance, designers</a:t>
            </a:r>
          </a:p>
          <a:p>
            <a:r>
              <a:rPr lang="en-US" sz="1300" dirty="0"/>
              <a:t>have had to find ways of exploiting the growing number of transistors other than</a:t>
            </a:r>
          </a:p>
          <a:p>
            <a:r>
              <a:rPr lang="en-US" sz="1300" dirty="0"/>
              <a:t>simply building a more complex processor. The response in recent years has been</a:t>
            </a:r>
          </a:p>
          <a:p>
            <a:r>
              <a:rPr lang="en-US" sz="1300" dirty="0"/>
              <a:t>the development of the multicore computer chip.</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8</a:t>
            </a:fld>
            <a:endParaRPr lang="en-US" dirty="0"/>
          </a:p>
        </p:txBody>
      </p:sp>
      <p:sp>
        <p:nvSpPr>
          <p:cNvPr id="5" name="Footer Placeholder 4"/>
          <p:cNvSpPr>
            <a:spLocks noGrp="1"/>
          </p:cNvSpPr>
          <p:nvPr>
            <p:ph type="ftr" sz="quarter" idx="11"/>
          </p:nvPr>
        </p:nvSpPr>
        <p:spPr/>
        <p:txBody>
          <a:bodyPr/>
          <a:lstStyle/>
          <a:p>
            <a:r>
              <a:rPr lang="en-US" dirty="0"/>
              <a:t> </a:t>
            </a:r>
          </a:p>
        </p:txBody>
      </p:sp>
    </p:spTree>
    <p:extLst>
      <p:ext uri="{BB962C8B-B14F-4D97-AF65-F5344CB8AC3E}">
        <p14:creationId xmlns:p14="http://schemas.microsoft.com/office/powerpoint/2010/main" val="2914753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300" dirty="0"/>
              <a:t>With all of the difficulties cited in the preceding paragraphs in mind, designers</a:t>
            </a:r>
          </a:p>
          <a:p>
            <a:r>
              <a:rPr lang="en-US" sz="1300" dirty="0"/>
              <a:t>have turned to a fundamentally new approach to improving performance: placing</a:t>
            </a:r>
          </a:p>
          <a:p>
            <a:r>
              <a:rPr lang="en-US" sz="1300" dirty="0"/>
              <a:t>multiple processors on the same chip, with a large shared cache. The use of multiple</a:t>
            </a:r>
          </a:p>
          <a:p>
            <a:r>
              <a:rPr lang="en-US" sz="1300" dirty="0"/>
              <a:t>processors on the same chip, also referred to as multiple cores, or </a:t>
            </a:r>
            <a:r>
              <a:rPr lang="en-US" sz="1300" b="1" dirty="0"/>
              <a:t>multicore,</a:t>
            </a:r>
          </a:p>
          <a:p>
            <a:r>
              <a:rPr lang="en-US" sz="1300" dirty="0"/>
              <a:t>provides the potential to increase performance without increasing the clock rate.</a:t>
            </a:r>
          </a:p>
          <a:p>
            <a:r>
              <a:rPr lang="en-US" sz="1300" dirty="0"/>
              <a:t>Studies indicate that, within a processor, the increase in performance is roughly</a:t>
            </a:r>
          </a:p>
          <a:p>
            <a:r>
              <a:rPr lang="en-US" sz="1300" dirty="0"/>
              <a:t>proportional to the square root of the increase in complexity [BORK03]. But if the</a:t>
            </a:r>
          </a:p>
          <a:p>
            <a:r>
              <a:rPr lang="en-US" sz="1300" dirty="0"/>
              <a:t>software can support the effective use of multiple processors, then doubling the</a:t>
            </a:r>
          </a:p>
          <a:p>
            <a:r>
              <a:rPr lang="en-US" sz="1300" dirty="0"/>
              <a:t>number of processors almost doubles performance. Thus, the strategy is to use two</a:t>
            </a:r>
          </a:p>
          <a:p>
            <a:r>
              <a:rPr lang="en-US" sz="1300" dirty="0"/>
              <a:t>simpler processors on the chip rather than one more complex processor.</a:t>
            </a:r>
          </a:p>
          <a:p>
            <a:endParaRPr lang="en-US" sz="1300" dirty="0"/>
          </a:p>
          <a:p>
            <a:r>
              <a:rPr lang="en-US" sz="1300" dirty="0"/>
              <a:t>In addition, with two processors, larger caches are justified. This is important</a:t>
            </a:r>
          </a:p>
          <a:p>
            <a:r>
              <a:rPr lang="en-US" sz="1300" dirty="0"/>
              <a:t>because the power consumption of memory logic on a chip is much less than that of</a:t>
            </a:r>
          </a:p>
          <a:p>
            <a:r>
              <a:rPr lang="en-US" sz="1300" dirty="0"/>
              <a:t>processing logic.</a:t>
            </a:r>
          </a:p>
          <a:p>
            <a:endParaRPr lang="en-US" sz="1300" dirty="0"/>
          </a:p>
          <a:p>
            <a:r>
              <a:rPr lang="en-US" sz="1300" dirty="0"/>
              <a:t>As the logic density on chips continues to rise, the trend to both more cores</a:t>
            </a:r>
          </a:p>
          <a:p>
            <a:r>
              <a:rPr lang="en-US" sz="1300" dirty="0"/>
              <a:t>and more cache on a single chip continues. Two-core chips were quickly followed</a:t>
            </a:r>
          </a:p>
          <a:p>
            <a:r>
              <a:rPr lang="en-US" sz="1300" dirty="0"/>
              <a:t>by four-core chips, then 8, then 16, and so on. As the caches became larger, it made</a:t>
            </a:r>
          </a:p>
          <a:p>
            <a:r>
              <a:rPr lang="en-US" sz="1300" dirty="0"/>
              <a:t>performance sense to create two and then three levels of cache on a chip, with the</a:t>
            </a:r>
          </a:p>
          <a:p>
            <a:r>
              <a:rPr lang="en-US" sz="1300" dirty="0"/>
              <a:t>first-level cache dedicated to an individual processor and levels two and three being</a:t>
            </a:r>
          </a:p>
          <a:p>
            <a:r>
              <a:rPr lang="en-US" sz="1300" dirty="0"/>
              <a:t>shared by all the processors. It is now common for the second-level</a:t>
            </a:r>
          </a:p>
          <a:p>
            <a:r>
              <a:rPr lang="en-US" sz="1300" dirty="0"/>
              <a:t>cache to also be private to each core.</a:t>
            </a:r>
          </a:p>
          <a:p>
            <a:endParaRPr lang="en-US" sz="1300" dirty="0"/>
          </a:p>
          <a:p>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9</a:t>
            </a:fld>
            <a:endParaRPr lang="en-US" dirty="0"/>
          </a:p>
        </p:txBody>
      </p:sp>
      <p:sp>
        <p:nvSpPr>
          <p:cNvPr id="5" name="Footer Placeholder 4"/>
          <p:cNvSpPr>
            <a:spLocks noGrp="1"/>
          </p:cNvSpPr>
          <p:nvPr>
            <p:ph type="ftr" sz="quarter" idx="11"/>
          </p:nvPr>
        </p:nvSpPr>
        <p:spPr/>
        <p:txBody>
          <a:bodyPr/>
          <a:lstStyle/>
          <a:p>
            <a:r>
              <a:rPr lang="en-US" dirty="0"/>
              <a:t> </a:t>
            </a:r>
          </a:p>
        </p:txBody>
      </p:sp>
    </p:spTree>
    <p:extLst>
      <p:ext uri="{BB962C8B-B14F-4D97-AF65-F5344CB8AC3E}">
        <p14:creationId xmlns:p14="http://schemas.microsoft.com/office/powerpoint/2010/main" val="21982249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300" dirty="0"/>
              <a:t>Chip manufacturers are now in the process of making a huge leap forward</a:t>
            </a:r>
          </a:p>
          <a:p>
            <a:r>
              <a:rPr lang="en-US" sz="1300" dirty="0"/>
              <a:t>in the number of cores per chip, with more than 50 cores per chip. The leap in</a:t>
            </a:r>
          </a:p>
          <a:p>
            <a:r>
              <a:rPr lang="en-US" sz="1300" dirty="0"/>
              <a:t>performance as well as the challenges in developing software to exploit such a large</a:t>
            </a:r>
          </a:p>
          <a:p>
            <a:r>
              <a:rPr lang="en-US" sz="1300" dirty="0"/>
              <a:t>number of cores have led to the introduction of a new term: </a:t>
            </a:r>
            <a:r>
              <a:rPr lang="en-US" sz="1300" b="1" dirty="0"/>
              <a:t>many integrated core</a:t>
            </a:r>
          </a:p>
          <a:p>
            <a:r>
              <a:rPr lang="en-US" sz="1300" b="1" dirty="0"/>
              <a:t>(MIC).</a:t>
            </a:r>
          </a:p>
          <a:p>
            <a:endParaRPr lang="en-US" sz="1300" b="1" dirty="0"/>
          </a:p>
          <a:p>
            <a:r>
              <a:rPr lang="en-US" sz="1300" dirty="0"/>
              <a:t>The multicore and MIC strategy involves a homogeneous collection of</a:t>
            </a:r>
          </a:p>
          <a:p>
            <a:r>
              <a:rPr lang="en-US" sz="1300" dirty="0"/>
              <a:t>general-purpose processors on a single chip. At the same time, chip manufacturers</a:t>
            </a:r>
          </a:p>
          <a:p>
            <a:r>
              <a:rPr lang="en-US" sz="1300" dirty="0"/>
              <a:t>are pursuing another design option: a chip with multiple general-purpose processors</a:t>
            </a:r>
          </a:p>
          <a:p>
            <a:r>
              <a:rPr lang="en-US" sz="1300" dirty="0"/>
              <a:t>plus </a:t>
            </a:r>
            <a:r>
              <a:rPr lang="en-US" sz="1300" b="1" dirty="0"/>
              <a:t>graphics processing units (GPUs) </a:t>
            </a:r>
            <a:r>
              <a:rPr lang="en-US" sz="1300" dirty="0"/>
              <a:t>and specialized cores for video processing</a:t>
            </a:r>
          </a:p>
          <a:p>
            <a:r>
              <a:rPr lang="en-US" sz="1300" dirty="0"/>
              <a:t>and other tasks. In broad terms, a GPU is a core designed to perform parallel</a:t>
            </a:r>
          </a:p>
          <a:p>
            <a:r>
              <a:rPr lang="en-US" sz="1300" dirty="0"/>
              <a:t>operations on graphics data. Traditionally found on a plug-in graphics card (display</a:t>
            </a:r>
          </a:p>
          <a:p>
            <a:r>
              <a:rPr lang="en-US" sz="1300" dirty="0"/>
              <a:t>adapter), it is used to encode and render 2D and 3D graphics as well as process</a:t>
            </a:r>
          </a:p>
          <a:p>
            <a:r>
              <a:rPr lang="en-US" sz="1300" dirty="0"/>
              <a:t>video.</a:t>
            </a:r>
          </a:p>
          <a:p>
            <a:endParaRPr lang="en-US" sz="1300" dirty="0"/>
          </a:p>
          <a:p>
            <a:r>
              <a:rPr lang="en-US" sz="1300" dirty="0"/>
              <a:t>Since GPUs perform parallel operations on multiple sets of data, they are</a:t>
            </a:r>
          </a:p>
          <a:p>
            <a:r>
              <a:rPr lang="en-US" sz="1300" dirty="0"/>
              <a:t>increasingly being used as vector processors for a variety of applications that</a:t>
            </a:r>
          </a:p>
          <a:p>
            <a:r>
              <a:rPr lang="en-US" sz="1300" dirty="0"/>
              <a:t>require repetitive computations. This blurs the line between the GPU and the</a:t>
            </a:r>
          </a:p>
          <a:p>
            <a:r>
              <a:rPr lang="en-US" sz="1300" dirty="0"/>
              <a:t>CPU [FATA08, PROP11]. When a broad range of applications are supported</a:t>
            </a:r>
          </a:p>
          <a:p>
            <a:r>
              <a:rPr lang="en-US" sz="1300" dirty="0"/>
              <a:t>by such a processor, the term </a:t>
            </a:r>
            <a:r>
              <a:rPr lang="en-US" sz="1300" b="1" dirty="0"/>
              <a:t>general-purpose computing on GPUs (GPGPU)</a:t>
            </a:r>
          </a:p>
          <a:p>
            <a:r>
              <a:rPr lang="en-US" sz="1300" dirty="0"/>
              <a:t>is used.</a:t>
            </a:r>
          </a:p>
          <a:p>
            <a:r>
              <a:rPr lang="en-US" sz="1300" dirty="0"/>
              <a:t> </a:t>
            </a:r>
          </a:p>
          <a:p>
            <a:r>
              <a:rPr lang="en-US" sz="1300" dirty="0"/>
              <a:t>We explore design characteristics of multicore computers in Chapter 18 and</a:t>
            </a:r>
          </a:p>
          <a:p>
            <a:r>
              <a:rPr lang="en-US" sz="1300" dirty="0"/>
              <a:t>GPGPUs in Chapter 19.</a:t>
            </a:r>
          </a:p>
        </p:txBody>
      </p:sp>
      <p:sp>
        <p:nvSpPr>
          <p:cNvPr id="4" name="Slide Number Placeholder 3"/>
          <p:cNvSpPr>
            <a:spLocks noGrp="1"/>
          </p:cNvSpPr>
          <p:nvPr>
            <p:ph type="sldNum" sz="quarter" idx="10"/>
          </p:nvPr>
        </p:nvSpPr>
        <p:spPr/>
        <p:txBody>
          <a:bodyPr/>
          <a:lstStyle/>
          <a:p>
            <a:fld id="{FDEEBCE0-4A34-3647-9307-E59F6D6CD745}" type="slidenum">
              <a:rPr lang="en-US" smtClean="0"/>
              <a:pPr/>
              <a:t>10</a:t>
            </a:fld>
            <a:endParaRPr lang="en-US" dirty="0"/>
          </a:p>
        </p:txBody>
      </p:sp>
      <p:sp>
        <p:nvSpPr>
          <p:cNvPr id="5" name="Footer Placeholder 4"/>
          <p:cNvSpPr>
            <a:spLocks noGrp="1"/>
          </p:cNvSpPr>
          <p:nvPr>
            <p:ph type="ftr" sz="quarter" idx="11"/>
          </p:nvPr>
        </p:nvSpPr>
        <p:spPr/>
        <p:txBody>
          <a:bodyPr/>
          <a:lstStyle/>
          <a:p>
            <a:r>
              <a:rPr lang="en-US" dirty="0"/>
              <a:t> </a:t>
            </a:r>
          </a:p>
        </p:txBody>
      </p:sp>
    </p:spTree>
    <p:extLst>
      <p:ext uri="{BB962C8B-B14F-4D97-AF65-F5344CB8AC3E}">
        <p14:creationId xmlns:p14="http://schemas.microsoft.com/office/powerpoint/2010/main" val="8611940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300" dirty="0"/>
              <a:t>Computer system designers look for ways to improve system performance by</a:t>
            </a:r>
          </a:p>
          <a:p>
            <a:r>
              <a:rPr lang="en-US" sz="1300" dirty="0"/>
              <a:t>advances in technology or change in design. Examples include the use of parallel</a:t>
            </a:r>
          </a:p>
          <a:p>
            <a:r>
              <a:rPr lang="en-US" sz="1300" dirty="0"/>
              <a:t>processors, the use of a memory cache hierarchy, and speedup in memory access</a:t>
            </a:r>
          </a:p>
          <a:p>
            <a:r>
              <a:rPr lang="en-US" sz="1300" dirty="0"/>
              <a:t>time and I/O transfer rate due to technology improvements. In all of these cases, it is</a:t>
            </a:r>
          </a:p>
          <a:p>
            <a:r>
              <a:rPr lang="en-US" sz="1300" dirty="0"/>
              <a:t>important to note that a speedup in one aspect of the technology or design does not</a:t>
            </a:r>
          </a:p>
          <a:p>
            <a:r>
              <a:rPr lang="en-US" sz="1300" dirty="0"/>
              <a:t>result in a corresponding improvement in performance. This limitation is succinctly</a:t>
            </a:r>
          </a:p>
          <a:p>
            <a:r>
              <a:rPr lang="en-US" sz="1300" dirty="0"/>
              <a:t>expressed by Amdahl’s law.</a:t>
            </a:r>
          </a:p>
          <a:p>
            <a:endParaRPr lang="en-US" sz="1300" dirty="0"/>
          </a:p>
          <a:p>
            <a:r>
              <a:rPr lang="en-US" sz="1300" dirty="0"/>
              <a:t>Amdahl’s law was first proposed by Gene Amdahl in 1967 ([AMDA67],</a:t>
            </a:r>
          </a:p>
          <a:p>
            <a:r>
              <a:rPr lang="en-US" sz="1300" dirty="0"/>
              <a:t>[AMDA13]) and deals with the potential speedup of a program using multiple processors</a:t>
            </a:r>
          </a:p>
          <a:p>
            <a:r>
              <a:rPr lang="en-US" sz="1300" dirty="0"/>
              <a:t>compared to a single processor.</a:t>
            </a:r>
          </a:p>
          <a:p>
            <a:endParaRPr lang="en-US" sz="1300" dirty="0"/>
          </a:p>
          <a:p>
            <a:r>
              <a:rPr lang="en-US" sz="1300" dirty="0"/>
              <a:t>Nevertheless, Amdahl’s law illustrates the problems facing industry in the development</a:t>
            </a:r>
          </a:p>
          <a:p>
            <a:r>
              <a:rPr lang="en-US" sz="1300" dirty="0"/>
              <a:t>of multicore machines with an ever-growing number of cores: The software</a:t>
            </a:r>
          </a:p>
          <a:p>
            <a:r>
              <a:rPr lang="en-US" sz="1300" dirty="0"/>
              <a:t>that runs on such machines must be adapted to a highly parallel execution environment</a:t>
            </a:r>
          </a:p>
          <a:p>
            <a:r>
              <a:rPr lang="en-US" sz="1300" dirty="0"/>
              <a:t>to exploit the power of parallel processing.</a:t>
            </a:r>
          </a:p>
          <a:p>
            <a:endParaRPr lang="en-US" sz="1300" dirty="0"/>
          </a:p>
          <a:p>
            <a:r>
              <a:rPr lang="en-US" sz="1300" dirty="0"/>
              <a:t>Amdahl’s law can be generalized to evaluate any design or technical improvement</a:t>
            </a:r>
          </a:p>
          <a:p>
            <a:r>
              <a:rPr lang="en-US" sz="1300" dirty="0"/>
              <a:t>in a computer system.</a:t>
            </a:r>
            <a:endParaRPr lang="en-US" sz="1300" dirty="0">
              <a:latin typeface="TimesTen-Roman"/>
            </a:endParaRPr>
          </a:p>
        </p:txBody>
      </p:sp>
      <p:sp>
        <p:nvSpPr>
          <p:cNvPr id="4" name="Slide Number Placeholder 3"/>
          <p:cNvSpPr>
            <a:spLocks noGrp="1"/>
          </p:cNvSpPr>
          <p:nvPr>
            <p:ph type="sldNum" sz="quarter" idx="10"/>
          </p:nvPr>
        </p:nvSpPr>
        <p:spPr/>
        <p:txBody>
          <a:bodyPr/>
          <a:lstStyle/>
          <a:p>
            <a:fld id="{FDEEBCE0-4A34-3647-9307-E59F6D6CD745}" type="slidenum">
              <a:rPr lang="en-US" smtClean="0"/>
              <a:pPr/>
              <a:t>11</a:t>
            </a:fld>
            <a:endParaRPr lang="en-US" dirty="0"/>
          </a:p>
        </p:txBody>
      </p:sp>
      <p:sp>
        <p:nvSpPr>
          <p:cNvPr id="5" name="Footer Placeholder 4"/>
          <p:cNvSpPr>
            <a:spLocks noGrp="1"/>
          </p:cNvSpPr>
          <p:nvPr>
            <p:ph type="ftr" sz="quarter" idx="11"/>
          </p:nvPr>
        </p:nvSpPr>
        <p:spPr/>
        <p:txBody>
          <a:bodyPr/>
          <a:lstStyle/>
          <a:p>
            <a:r>
              <a:rPr lang="en-US" dirty="0"/>
              <a:t> </a:t>
            </a:r>
          </a:p>
        </p:txBody>
      </p:sp>
    </p:spTree>
    <p:extLst>
      <p:ext uri="{BB962C8B-B14F-4D97-AF65-F5344CB8AC3E}">
        <p14:creationId xmlns:p14="http://schemas.microsoft.com/office/powerpoint/2010/main" val="23997292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슬라이드 이미지 개체 틀 1"/>
          <p:cNvSpPr>
            <a:spLocks noGrp="1" noRot="1" noChangeAspect="1" noTextEdit="1"/>
          </p:cNvSpPr>
          <p:nvPr>
            <p:ph type="sldImg"/>
          </p:nvPr>
        </p:nvSpPr>
        <p:spPr>
          <a:ln/>
        </p:spPr>
      </p:sp>
      <p:sp>
        <p:nvSpPr>
          <p:cNvPr id="130051" name="슬라이드 노트 개체 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ko-KR" altLang="en-US" dirty="0"/>
              <a:t>수확체감의 법칙</a:t>
            </a:r>
            <a:r>
              <a:rPr lang="en-US" altLang="ko-KR" dirty="0"/>
              <a:t>(Diminishing Returns): </a:t>
            </a:r>
            <a:r>
              <a:rPr kumimoji="1" lang="ko-KR" altLang="en-US" sz="1200" b="0" i="0" kern="1200" dirty="0">
                <a:solidFill>
                  <a:schemeClr val="tx1"/>
                </a:solidFill>
                <a:effectLst/>
                <a:latin typeface="Times New Roman" pitchFamily="-110" charset="0"/>
                <a:ea typeface="+mn-ea"/>
                <a:cs typeface="+mn-cs"/>
              </a:rPr>
              <a:t>어떤 생산요소의 투입을 고정시키고 다른 생산요소의 투입을 증가시킬 경우 </a:t>
            </a:r>
            <a:r>
              <a:rPr kumimoji="1" lang="ko-KR" altLang="en-US" sz="1200" b="1" i="0" kern="1200" dirty="0">
                <a:solidFill>
                  <a:schemeClr val="tx1"/>
                </a:solidFill>
                <a:effectLst/>
                <a:latin typeface="Times New Roman" pitchFamily="-110" charset="0"/>
                <a:ea typeface="+mn-ea"/>
                <a:cs typeface="+mn-cs"/>
              </a:rPr>
              <a:t>산출량이 점진적으로 증가하다가 투입량이 일정수준을 넘게 되면 산출량의 </a:t>
            </a:r>
            <a:r>
              <a:rPr kumimoji="1" lang="ko-KR" altLang="en-US" sz="1200" b="1" i="0" kern="1200" dirty="0" err="1">
                <a:solidFill>
                  <a:schemeClr val="tx1"/>
                </a:solidFill>
                <a:effectLst/>
                <a:latin typeface="Times New Roman" pitchFamily="-110" charset="0"/>
                <a:ea typeface="+mn-ea"/>
                <a:cs typeface="+mn-cs"/>
              </a:rPr>
              <a:t>중가율이</a:t>
            </a:r>
            <a:r>
              <a:rPr kumimoji="1" lang="ko-KR" altLang="en-US" sz="1200" b="1" i="0" kern="1200" dirty="0">
                <a:solidFill>
                  <a:schemeClr val="tx1"/>
                </a:solidFill>
                <a:effectLst/>
                <a:latin typeface="Times New Roman" pitchFamily="-110" charset="0"/>
                <a:ea typeface="+mn-ea"/>
                <a:cs typeface="+mn-cs"/>
              </a:rPr>
              <a:t> 점차적으로 감소하게 되는 현상</a:t>
            </a:r>
            <a:r>
              <a:rPr kumimoji="1" lang="en-US" altLang="ko-KR" sz="1200" b="1" i="0" kern="1200" dirty="0">
                <a:solidFill>
                  <a:schemeClr val="tx1"/>
                </a:solidFill>
                <a:effectLst/>
                <a:latin typeface="Times New Roman" pitchFamily="-110" charset="0"/>
                <a:ea typeface="+mn-ea"/>
                <a:cs typeface="+mn-cs"/>
              </a:rPr>
              <a:t>. </a:t>
            </a:r>
            <a:r>
              <a:rPr kumimoji="1" lang="ko-KR" altLang="en-US" sz="1200" b="0" i="0" kern="1200" dirty="0">
                <a:solidFill>
                  <a:schemeClr val="tx1"/>
                </a:solidFill>
                <a:effectLst/>
                <a:latin typeface="Times New Roman" pitchFamily="-110" charset="0"/>
                <a:ea typeface="+mn-ea"/>
                <a:cs typeface="+mn-cs"/>
              </a:rPr>
              <a:t>예를 들어 </a:t>
            </a:r>
            <a:r>
              <a:rPr kumimoji="1" lang="ko-KR" altLang="en-US" sz="1200" b="0" i="0" kern="1200" dirty="0" err="1">
                <a:solidFill>
                  <a:schemeClr val="tx1"/>
                </a:solidFill>
                <a:effectLst/>
                <a:latin typeface="Times New Roman" pitchFamily="-110" charset="0"/>
                <a:ea typeface="+mn-ea"/>
                <a:cs typeface="+mn-cs"/>
              </a:rPr>
              <a:t>쌀생산을</a:t>
            </a:r>
            <a:r>
              <a:rPr kumimoji="1" lang="ko-KR" altLang="en-US" sz="1200" b="0" i="0" kern="1200" dirty="0">
                <a:solidFill>
                  <a:schemeClr val="tx1"/>
                </a:solidFill>
                <a:effectLst/>
                <a:latin typeface="Times New Roman" pitchFamily="-110" charset="0"/>
                <a:ea typeface="+mn-ea"/>
                <a:cs typeface="+mn-cs"/>
              </a:rPr>
              <a:t> 생각하면 노동이란 생산요소를 추가해도 결국 수확량의 늘어나는 정도는 갈수록 줄어들며 마지막에는 전혀 늘어나지 않게 된다</a:t>
            </a:r>
            <a:r>
              <a:rPr kumimoji="1" lang="en-US" altLang="ko-KR" sz="1200" b="0" i="0" kern="1200" dirty="0">
                <a:solidFill>
                  <a:schemeClr val="tx1"/>
                </a:solidFill>
                <a:effectLst/>
                <a:latin typeface="Times New Roman" pitchFamily="-110" charset="0"/>
                <a:ea typeface="+mn-ea"/>
                <a:cs typeface="+mn-cs"/>
              </a:rPr>
              <a:t>.</a:t>
            </a:r>
            <a:r>
              <a:rPr kumimoji="1" lang="en-US" altLang="ko-KR" sz="1200" b="1" i="0" kern="1200" dirty="0">
                <a:solidFill>
                  <a:schemeClr val="tx1"/>
                </a:solidFill>
                <a:effectLst/>
                <a:latin typeface="Times New Roman" pitchFamily="-110" charset="0"/>
                <a:ea typeface="+mn-ea"/>
                <a:cs typeface="+mn-cs"/>
              </a:rPr>
              <a:t> </a:t>
            </a:r>
            <a:endParaRPr kumimoji="1" lang="en-US" altLang="ko-KR" sz="1200" b="0" i="0" kern="1200" dirty="0">
              <a:solidFill>
                <a:schemeClr val="tx1"/>
              </a:solidFill>
              <a:effectLst/>
              <a:latin typeface="Times New Roman" pitchFamily="-110" charset="0"/>
              <a:ea typeface="+mn-ea"/>
              <a:cs typeface="+mn-cs"/>
            </a:endParaRPr>
          </a:p>
          <a:p>
            <a:endParaRPr lang="ko-KR" altLang="en-US" dirty="0"/>
          </a:p>
        </p:txBody>
      </p:sp>
      <p:sp>
        <p:nvSpPr>
          <p:cNvPr id="130052" name="슬라이드 번호 개체 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600">
                <a:solidFill>
                  <a:schemeClr val="tx1"/>
                </a:solidFill>
                <a:latin typeface="Times New Roman" pitchFamily="18" charset="0"/>
              </a:defRPr>
            </a:lvl1pPr>
            <a:lvl2pPr marL="804763" indent="-309524">
              <a:defRPr sz="2600">
                <a:solidFill>
                  <a:schemeClr val="tx1"/>
                </a:solidFill>
                <a:latin typeface="Times New Roman" pitchFamily="18" charset="0"/>
              </a:defRPr>
            </a:lvl2pPr>
            <a:lvl3pPr marL="1238098" indent="-247620">
              <a:defRPr sz="2600">
                <a:solidFill>
                  <a:schemeClr val="tx1"/>
                </a:solidFill>
                <a:latin typeface="Times New Roman" pitchFamily="18" charset="0"/>
              </a:defRPr>
            </a:lvl3pPr>
            <a:lvl4pPr marL="1733337" indent="-247620">
              <a:defRPr sz="2600">
                <a:solidFill>
                  <a:schemeClr val="tx1"/>
                </a:solidFill>
                <a:latin typeface="Times New Roman" pitchFamily="18" charset="0"/>
              </a:defRPr>
            </a:lvl4pPr>
            <a:lvl5pPr marL="2228576" indent="-247620">
              <a:defRPr sz="2600">
                <a:solidFill>
                  <a:schemeClr val="tx1"/>
                </a:solidFill>
                <a:latin typeface="Times New Roman" pitchFamily="18" charset="0"/>
              </a:defRPr>
            </a:lvl5pPr>
            <a:lvl6pPr marL="2723815" indent="-247620" eaLnBrk="0" fontAlgn="base" hangingPunct="0">
              <a:spcBef>
                <a:spcPct val="0"/>
              </a:spcBef>
              <a:spcAft>
                <a:spcPct val="0"/>
              </a:spcAft>
              <a:defRPr sz="2600">
                <a:solidFill>
                  <a:schemeClr val="tx1"/>
                </a:solidFill>
                <a:latin typeface="Times New Roman" pitchFamily="18" charset="0"/>
              </a:defRPr>
            </a:lvl6pPr>
            <a:lvl7pPr marL="3219054" indent="-247620" eaLnBrk="0" fontAlgn="base" hangingPunct="0">
              <a:spcBef>
                <a:spcPct val="0"/>
              </a:spcBef>
              <a:spcAft>
                <a:spcPct val="0"/>
              </a:spcAft>
              <a:defRPr sz="2600">
                <a:solidFill>
                  <a:schemeClr val="tx1"/>
                </a:solidFill>
                <a:latin typeface="Times New Roman" pitchFamily="18" charset="0"/>
              </a:defRPr>
            </a:lvl7pPr>
            <a:lvl8pPr marL="3714293" indent="-247620" eaLnBrk="0" fontAlgn="base" hangingPunct="0">
              <a:spcBef>
                <a:spcPct val="0"/>
              </a:spcBef>
              <a:spcAft>
                <a:spcPct val="0"/>
              </a:spcAft>
              <a:defRPr sz="2600">
                <a:solidFill>
                  <a:schemeClr val="tx1"/>
                </a:solidFill>
                <a:latin typeface="Times New Roman" pitchFamily="18" charset="0"/>
              </a:defRPr>
            </a:lvl8pPr>
            <a:lvl9pPr marL="4209532" indent="-247620" eaLnBrk="0" fontAlgn="base" hangingPunct="0">
              <a:spcBef>
                <a:spcPct val="0"/>
              </a:spcBef>
              <a:spcAft>
                <a:spcPct val="0"/>
              </a:spcAft>
              <a:defRPr sz="2600">
                <a:solidFill>
                  <a:schemeClr val="tx1"/>
                </a:solidFill>
                <a:latin typeface="Times New Roman" pitchFamily="18" charset="0"/>
              </a:defRPr>
            </a:lvl9pPr>
          </a:lstStyle>
          <a:p>
            <a:fld id="{960197DE-3119-4744-8998-720701964CD0}" type="slidenum">
              <a:rPr lang="en-US" altLang="ko-KR" sz="1300">
                <a:latin typeface="Arial" charset="0"/>
                <a:ea typeface="굴림" charset="-127"/>
              </a:rPr>
              <a:pPr/>
              <a:t>12</a:t>
            </a:fld>
            <a:endParaRPr lang="en-US" altLang="ko-KR" sz="1300">
              <a:latin typeface="Arial" charset="0"/>
              <a:ea typeface="굴림" charset="-127"/>
            </a:endParaRPr>
          </a:p>
        </p:txBody>
      </p:sp>
    </p:spTree>
    <p:extLst>
      <p:ext uri="{BB962C8B-B14F-4D97-AF65-F5344CB8AC3E}">
        <p14:creationId xmlns:p14="http://schemas.microsoft.com/office/powerpoint/2010/main" val="4568339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300" dirty="0"/>
              <a:t>Consider a program running on a single processor such that a fraction</a:t>
            </a:r>
          </a:p>
          <a:p>
            <a:r>
              <a:rPr lang="en-US" sz="1300" dirty="0"/>
              <a:t>(1 – </a:t>
            </a:r>
            <a:r>
              <a:rPr lang="en-US" sz="1300" i="1" dirty="0"/>
              <a:t>f) </a:t>
            </a:r>
            <a:r>
              <a:rPr lang="en-US" sz="1300" dirty="0"/>
              <a:t>of the execution time involves code that is inherently serial and a fraction</a:t>
            </a:r>
          </a:p>
          <a:p>
            <a:r>
              <a:rPr lang="en-US" sz="1300" dirty="0"/>
              <a:t>f that involves code that is infinitely parallelizable with no scheduling overhead</a:t>
            </a:r>
            <a:r>
              <a:rPr lang="en-US" sz="1300" i="1" dirty="0"/>
              <a:t>.</a:t>
            </a:r>
          </a:p>
          <a:p>
            <a:r>
              <a:rPr lang="en-US" sz="1300" dirty="0"/>
              <a:t>Let </a:t>
            </a:r>
            <a:r>
              <a:rPr lang="en-US" sz="1300" i="1" dirty="0"/>
              <a:t>T </a:t>
            </a:r>
            <a:r>
              <a:rPr lang="en-US" sz="1300" dirty="0"/>
              <a:t>be the total execution time of the program using a single processor. Then the</a:t>
            </a:r>
          </a:p>
          <a:p>
            <a:r>
              <a:rPr lang="en-US" sz="1300" dirty="0"/>
              <a:t>speedup using a parallel processor with </a:t>
            </a:r>
            <a:r>
              <a:rPr lang="en-US" sz="1300" i="1" dirty="0"/>
              <a:t>N </a:t>
            </a:r>
            <a:r>
              <a:rPr lang="en-US" sz="1300" dirty="0"/>
              <a:t>processors that fully exploits the parallel</a:t>
            </a:r>
          </a:p>
          <a:p>
            <a:r>
              <a:rPr lang="en-US" sz="1300" dirty="0"/>
              <a:t>portion of the program is as follows:</a:t>
            </a:r>
          </a:p>
          <a:p>
            <a:r>
              <a:rPr lang="en-US" sz="1300" dirty="0"/>
              <a:t>Speedup =</a:t>
            </a:r>
          </a:p>
          <a:p>
            <a:r>
              <a:rPr lang="en-US" sz="1300" u="sng" dirty="0"/>
              <a:t>Time to execute program on a single processor</a:t>
            </a:r>
          </a:p>
          <a:p>
            <a:r>
              <a:rPr lang="en-US" sz="1300" dirty="0"/>
              <a:t>Time to execute program on </a:t>
            </a:r>
            <a:r>
              <a:rPr lang="en-US" sz="1300" i="1" dirty="0"/>
              <a:t>N parallel processors</a:t>
            </a:r>
          </a:p>
          <a:p>
            <a:r>
              <a:rPr lang="en-US" sz="1300" dirty="0"/>
              <a:t>=</a:t>
            </a:r>
            <a:r>
              <a:rPr lang="en-US" sz="1300" i="1" u="sng" dirty="0"/>
              <a:t>T(1 - f) + Tf</a:t>
            </a:r>
          </a:p>
          <a:p>
            <a:r>
              <a:rPr lang="en-US" sz="1300" i="1" dirty="0"/>
              <a:t>T(1 - f) +</a:t>
            </a:r>
            <a:r>
              <a:rPr lang="en-US" sz="1300" i="1" u="sng" dirty="0"/>
              <a:t>Tf</a:t>
            </a:r>
          </a:p>
          <a:p>
            <a:r>
              <a:rPr lang="en-US" sz="1300" i="1" dirty="0"/>
              <a:t>              N</a:t>
            </a:r>
          </a:p>
          <a:p>
            <a:r>
              <a:rPr lang="en-US" sz="1300" dirty="0"/>
              <a:t>=  </a:t>
            </a:r>
            <a:r>
              <a:rPr lang="en-US" sz="1300" u="sng" dirty="0"/>
              <a:t>   1          </a:t>
            </a:r>
          </a:p>
          <a:p>
            <a:r>
              <a:rPr lang="en-US" sz="1300" dirty="0"/>
              <a:t>(1 - </a:t>
            </a:r>
            <a:r>
              <a:rPr lang="en-US" sz="1300" i="1" dirty="0"/>
              <a:t>f) +</a:t>
            </a:r>
            <a:r>
              <a:rPr lang="en-US" sz="1300" i="1" u="sng" dirty="0"/>
              <a:t>f</a:t>
            </a:r>
          </a:p>
          <a:p>
            <a:r>
              <a:rPr lang="en-US" sz="1300" i="1" dirty="0"/>
              <a:t>          N</a:t>
            </a:r>
          </a:p>
          <a:p>
            <a:endParaRPr lang="en-US" sz="1300" dirty="0"/>
          </a:p>
          <a:p>
            <a:r>
              <a:rPr lang="en-US" sz="1300" dirty="0"/>
              <a:t>This equation is illustrated in Figures 2.3 and 2.4.</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13</a:t>
            </a:fld>
            <a:endParaRPr lang="en-US" dirty="0"/>
          </a:p>
        </p:txBody>
      </p:sp>
      <p:sp>
        <p:nvSpPr>
          <p:cNvPr id="5" name="Footer Placeholder 4"/>
          <p:cNvSpPr>
            <a:spLocks noGrp="1"/>
          </p:cNvSpPr>
          <p:nvPr>
            <p:ph type="ftr" sz="quarter" idx="11"/>
          </p:nvPr>
        </p:nvSpPr>
        <p:spPr/>
        <p:txBody>
          <a:bodyPr/>
          <a:lstStyle/>
          <a:p>
            <a:r>
              <a:rPr lang="en-US" dirty="0"/>
              <a:t> </a:t>
            </a:r>
          </a:p>
        </p:txBody>
      </p:sp>
    </p:spTree>
    <p:extLst>
      <p:ext uri="{BB962C8B-B14F-4D97-AF65-F5344CB8AC3E}">
        <p14:creationId xmlns:p14="http://schemas.microsoft.com/office/powerpoint/2010/main" val="24368947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300" dirty="0"/>
              <a:t>Two important conclusions can be</a:t>
            </a:r>
          </a:p>
          <a:p>
            <a:r>
              <a:rPr lang="en-US" sz="1300" dirty="0"/>
              <a:t>drawn:</a:t>
            </a:r>
          </a:p>
          <a:p>
            <a:endParaRPr lang="en-US" sz="1300" b="1" dirty="0"/>
          </a:p>
          <a:p>
            <a:r>
              <a:rPr lang="en-US" sz="1300" dirty="0"/>
              <a:t>1. When </a:t>
            </a:r>
            <a:r>
              <a:rPr lang="en-US" sz="1300" i="1" dirty="0"/>
              <a:t>f is small, the use of parallel processors has little effect.</a:t>
            </a:r>
          </a:p>
          <a:p>
            <a:endParaRPr lang="en-US" sz="1300" dirty="0"/>
          </a:p>
          <a:p>
            <a:r>
              <a:rPr lang="en-US" sz="1300" dirty="0"/>
              <a:t>2. As </a:t>
            </a:r>
            <a:r>
              <a:rPr lang="en-US" sz="1300" i="1" dirty="0"/>
              <a:t>N approaches infinity, speedup is bound by 1/(1 – f), so that there are</a:t>
            </a:r>
          </a:p>
          <a:p>
            <a:r>
              <a:rPr lang="en-US" sz="1300" dirty="0"/>
              <a:t>diminishing returns for using more processors.</a:t>
            </a:r>
          </a:p>
          <a:p>
            <a:endParaRPr lang="en-US" sz="1300" dirty="0"/>
          </a:p>
          <a:p>
            <a:r>
              <a:rPr lang="en-US" sz="1300" dirty="0"/>
              <a:t>These conclusions are too pessimistic, an assertion first put forward in</a:t>
            </a:r>
          </a:p>
          <a:p>
            <a:r>
              <a:rPr lang="en-US" sz="1300" dirty="0"/>
              <a:t>[GUST88]. For example, a server can maintain multiple threads or multiple tasks</a:t>
            </a:r>
          </a:p>
          <a:p>
            <a:r>
              <a:rPr lang="en-US" sz="1300" dirty="0"/>
              <a:t>to handle multiple clients and execute the threads or tasks in parallel up to the limit</a:t>
            </a:r>
          </a:p>
          <a:p>
            <a:r>
              <a:rPr lang="en-US" sz="1300" dirty="0"/>
              <a:t>of the number of processors. Many database applications involve computations on</a:t>
            </a:r>
          </a:p>
          <a:p>
            <a:r>
              <a:rPr lang="en-US" sz="1300" dirty="0"/>
              <a:t>massive amounts of data that can be split up into multiple parallel tasks.</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14</a:t>
            </a:fld>
            <a:endParaRPr lang="en-US" dirty="0"/>
          </a:p>
        </p:txBody>
      </p:sp>
      <p:sp>
        <p:nvSpPr>
          <p:cNvPr id="5" name="Footer Placeholder 4"/>
          <p:cNvSpPr>
            <a:spLocks noGrp="1"/>
          </p:cNvSpPr>
          <p:nvPr>
            <p:ph type="ftr" sz="quarter" idx="11"/>
          </p:nvPr>
        </p:nvSpPr>
        <p:spPr/>
        <p:txBody>
          <a:bodyPr/>
          <a:lstStyle/>
          <a:p>
            <a:r>
              <a:rPr lang="en-US" dirty="0"/>
              <a:t> </a:t>
            </a:r>
          </a:p>
        </p:txBody>
      </p:sp>
    </p:spTree>
    <p:extLst>
      <p:ext uri="{BB962C8B-B14F-4D97-AF65-F5344CB8AC3E}">
        <p14:creationId xmlns:p14="http://schemas.microsoft.com/office/powerpoint/2010/main" val="30269337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300" dirty="0"/>
              <a:t>A fundamental and simple relation with broad applications is Little’s Law</a:t>
            </a:r>
          </a:p>
          <a:p>
            <a:r>
              <a:rPr lang="en-US" sz="1300" dirty="0"/>
              <a:t>[LITT61, LITT11]. We can apply it to almost any system that is statistically in</a:t>
            </a:r>
          </a:p>
          <a:p>
            <a:r>
              <a:rPr lang="en-US" sz="1300" dirty="0"/>
              <a:t>steady state, and in which there is no leakage. </a:t>
            </a:r>
          </a:p>
          <a:p>
            <a:endParaRPr lang="en-US" sz="1300" dirty="0"/>
          </a:p>
          <a:p>
            <a:r>
              <a:rPr lang="en-US" sz="1300" dirty="0"/>
              <a:t>Using queuing theory terminology, Little’s Law applies to a queuing system.</a:t>
            </a:r>
          </a:p>
          <a:p>
            <a:r>
              <a:rPr lang="en-US" sz="1300" dirty="0"/>
              <a:t>The central element of the system is a server, which provides some service to items.</a:t>
            </a:r>
          </a:p>
          <a:p>
            <a:r>
              <a:rPr lang="en-US" sz="1300" dirty="0"/>
              <a:t>Items from some population of items arrive at the system to be served. If the server</a:t>
            </a:r>
          </a:p>
          <a:p>
            <a:r>
              <a:rPr lang="en-US" sz="1300" dirty="0"/>
              <a:t>is idle, an item is served immediately. Otherwise, an arriving item joins a waiting</a:t>
            </a:r>
          </a:p>
          <a:p>
            <a:r>
              <a:rPr lang="en-US" sz="1300" dirty="0"/>
              <a:t>line, or queue. There can be a single queue for a single server, a single queue for</a:t>
            </a:r>
          </a:p>
          <a:p>
            <a:r>
              <a:rPr lang="en-US" sz="1300" dirty="0"/>
              <a:t>multiple servers, or multiples queues, one for each of multiple servers. When a</a:t>
            </a:r>
          </a:p>
          <a:p>
            <a:r>
              <a:rPr lang="en-US" sz="1300" dirty="0"/>
              <a:t>server has completed serving an item, the item departs. If there are items waiting in</a:t>
            </a:r>
          </a:p>
          <a:p>
            <a:r>
              <a:rPr lang="en-US" sz="1300" dirty="0"/>
              <a:t>the queue, one is immediately dispatched to the server. The server in this model can</a:t>
            </a:r>
          </a:p>
          <a:p>
            <a:r>
              <a:rPr lang="en-US" sz="1300" dirty="0"/>
              <a:t>represent anything that performs some function or service for a collection of items.</a:t>
            </a:r>
          </a:p>
          <a:p>
            <a:r>
              <a:rPr lang="en-US" sz="1300" dirty="0"/>
              <a:t>Examples: A processor provides service to processes; a transmission line provides a</a:t>
            </a:r>
          </a:p>
          <a:p>
            <a:r>
              <a:rPr lang="en-US" sz="1300" dirty="0"/>
              <a:t>transmission service to packets or frames of data; and an I/O device provides a read</a:t>
            </a:r>
          </a:p>
          <a:p>
            <a:r>
              <a:rPr lang="en-US" sz="1300" dirty="0"/>
              <a:t>or write service for I/O requests.</a:t>
            </a:r>
          </a:p>
          <a:p>
            <a:endParaRPr lang="en-US" sz="1300" dirty="0"/>
          </a:p>
          <a:p>
            <a:r>
              <a:rPr lang="en-US" sz="1300" dirty="0"/>
              <a:t>The average number of items in a queuing system equals the average rate at which items arrive multiplied by the average time that an item spends in the system. This relationship requires very few assumptions. We do not need to know what the service time distribution is, what</a:t>
            </a:r>
          </a:p>
          <a:p>
            <a:r>
              <a:rPr lang="en-US" sz="1300" dirty="0"/>
              <a:t>the distribution of arrival times is, or the order or priority in which items are served.</a:t>
            </a:r>
          </a:p>
          <a:p>
            <a:r>
              <a:rPr lang="en-US" sz="1300" dirty="0"/>
              <a:t>Because of its simplicity and generality, Little’s Law is extremely useful and has</a:t>
            </a:r>
          </a:p>
          <a:p>
            <a:r>
              <a:rPr lang="en-US" sz="1300" dirty="0"/>
              <a:t>experienced somewhat of a revival due to the interest in performance problems</a:t>
            </a:r>
          </a:p>
          <a:p>
            <a:r>
              <a:rPr lang="en-US" sz="1300" dirty="0"/>
              <a:t>related to multi-core computers.</a:t>
            </a:r>
          </a:p>
        </p:txBody>
      </p:sp>
      <p:sp>
        <p:nvSpPr>
          <p:cNvPr id="4" name="Slide Number Placeholder 3"/>
          <p:cNvSpPr>
            <a:spLocks noGrp="1"/>
          </p:cNvSpPr>
          <p:nvPr>
            <p:ph type="sldNum" sz="quarter" idx="10"/>
          </p:nvPr>
        </p:nvSpPr>
        <p:spPr/>
        <p:txBody>
          <a:bodyPr/>
          <a:lstStyle/>
          <a:p>
            <a:fld id="{FDEEBCE0-4A34-3647-9307-E59F6D6CD745}" type="slidenum">
              <a:rPr lang="en-US" smtClean="0"/>
              <a:pPr/>
              <a:t>15</a:t>
            </a:fld>
            <a:endParaRPr lang="en-US" dirty="0"/>
          </a:p>
        </p:txBody>
      </p:sp>
      <p:sp>
        <p:nvSpPr>
          <p:cNvPr id="5" name="Footer Placeholder 4"/>
          <p:cNvSpPr>
            <a:spLocks noGrp="1"/>
          </p:cNvSpPr>
          <p:nvPr>
            <p:ph type="ftr" sz="quarter" idx="11"/>
          </p:nvPr>
        </p:nvSpPr>
        <p:spPr/>
        <p:txBody>
          <a:bodyPr/>
          <a:lstStyle/>
          <a:p>
            <a:r>
              <a:rPr lang="en-US" dirty="0"/>
              <a:t> </a:t>
            </a:r>
          </a:p>
        </p:txBody>
      </p:sp>
    </p:spTree>
    <p:extLst>
      <p:ext uri="{BB962C8B-B14F-4D97-AF65-F5344CB8AC3E}">
        <p14:creationId xmlns:p14="http://schemas.microsoft.com/office/powerpoint/2010/main" val="39755508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62500" lnSpcReduction="20000"/>
          </a:bodyPr>
          <a:lstStyle/>
          <a:p>
            <a:r>
              <a:rPr lang="en-US" sz="1300" dirty="0"/>
              <a:t>Operations performed by a processor, such as fetching an</a:t>
            </a:r>
          </a:p>
          <a:p>
            <a:r>
              <a:rPr lang="en-US" sz="1300" dirty="0"/>
              <a:t>instruction, decoding the instruction, performing an arithmetic operation, and so</a:t>
            </a:r>
          </a:p>
          <a:p>
            <a:r>
              <a:rPr lang="en-US" sz="1300" dirty="0"/>
              <a:t>on, are governed by a system clock. Typically, all operations begin with the pulse of</a:t>
            </a:r>
          </a:p>
          <a:p>
            <a:r>
              <a:rPr lang="en-US" sz="1300" dirty="0"/>
              <a:t>the clock. Thus, at the most fundamental level, the speed of a processor is dictated</a:t>
            </a:r>
          </a:p>
          <a:p>
            <a:r>
              <a:rPr lang="en-US" sz="1300" dirty="0"/>
              <a:t>by the pulse frequency produced by the clock, measured in cycles per second, or</a:t>
            </a:r>
          </a:p>
          <a:p>
            <a:r>
              <a:rPr lang="en-US" sz="1300" dirty="0"/>
              <a:t>Hertz (Hz).</a:t>
            </a:r>
          </a:p>
          <a:p>
            <a:endParaRPr lang="en-US" sz="1300" dirty="0"/>
          </a:p>
          <a:p>
            <a:r>
              <a:rPr lang="en-US" sz="1300" dirty="0"/>
              <a:t>Typically, clock signals are generated by a quartz crystal, which generates a</a:t>
            </a:r>
          </a:p>
          <a:p>
            <a:r>
              <a:rPr lang="en-US" sz="1300" dirty="0"/>
              <a:t>constant sine wave while power is applied. This wave is converted into a digital</a:t>
            </a:r>
          </a:p>
          <a:p>
            <a:r>
              <a:rPr lang="en-US" sz="1300" dirty="0"/>
              <a:t>voltage pulse stream that is provided in a constant flow to the processor circuitry</a:t>
            </a:r>
          </a:p>
          <a:p>
            <a:r>
              <a:rPr lang="en-US" sz="1300" dirty="0"/>
              <a:t>(Figure 2.5). For example, a 1-GHz processor receives 1 billion pulses per second.</a:t>
            </a:r>
          </a:p>
          <a:p>
            <a:r>
              <a:rPr lang="en-US" sz="1300" dirty="0"/>
              <a:t>The rate of pulses is known as the </a:t>
            </a:r>
            <a:r>
              <a:rPr lang="en-US" sz="1300" b="1" dirty="0"/>
              <a:t>clock rate, or clock speed. </a:t>
            </a:r>
            <a:r>
              <a:rPr lang="en-US" sz="1300" dirty="0"/>
              <a:t>One increment, or</a:t>
            </a:r>
          </a:p>
          <a:p>
            <a:r>
              <a:rPr lang="en-US" sz="1300" dirty="0"/>
              <a:t>pulse, of the clock is referred to as a clock cycle, or a clock tick. The time between</a:t>
            </a:r>
          </a:p>
          <a:p>
            <a:r>
              <a:rPr lang="en-US" sz="1300" dirty="0"/>
              <a:t>pulses is the </a:t>
            </a:r>
            <a:r>
              <a:rPr lang="en-US" sz="1300" b="1" dirty="0"/>
              <a:t>cycle time.</a:t>
            </a:r>
          </a:p>
          <a:p>
            <a:endParaRPr lang="en-US" sz="1300" dirty="0"/>
          </a:p>
          <a:p>
            <a:r>
              <a:rPr lang="en-US" sz="1300" dirty="0"/>
              <a:t>The clock rate is not arbitrary, but must be appropriate for the physical layout</a:t>
            </a:r>
          </a:p>
          <a:p>
            <a:r>
              <a:rPr lang="en-US" sz="1300" dirty="0"/>
              <a:t>of the processor. Actions in the processor require signals to be sent from one processor</a:t>
            </a:r>
          </a:p>
          <a:p>
            <a:r>
              <a:rPr lang="en-US" sz="1300" dirty="0"/>
              <a:t>element to another. When a signal is placed on a line inside the processor, it</a:t>
            </a:r>
          </a:p>
          <a:p>
            <a:r>
              <a:rPr lang="en-US" sz="1300" dirty="0"/>
              <a:t>takes some finite amount of time for the voltage levels to settle down so that an</a:t>
            </a:r>
          </a:p>
          <a:p>
            <a:r>
              <a:rPr lang="en-US" sz="1300" dirty="0"/>
              <a:t>accurate value (1 or 0) is available. Furthermore, depending on the physical layout</a:t>
            </a:r>
          </a:p>
          <a:p>
            <a:r>
              <a:rPr lang="en-US" sz="1300" dirty="0"/>
              <a:t>of the processor circuits, some signals may change more rapidly than others. Thus,</a:t>
            </a:r>
          </a:p>
          <a:p>
            <a:r>
              <a:rPr lang="en-US" sz="1300" dirty="0"/>
              <a:t>operations must be synchronized and paced so that the proper electrical signal</a:t>
            </a:r>
          </a:p>
          <a:p>
            <a:r>
              <a:rPr lang="en-US" sz="1300" dirty="0"/>
              <a:t>(voltage) values are available for each operation.</a:t>
            </a:r>
          </a:p>
          <a:p>
            <a:endParaRPr lang="en-US" sz="1300" dirty="0"/>
          </a:p>
          <a:p>
            <a:r>
              <a:rPr lang="en-US" sz="1300" dirty="0"/>
              <a:t>The execution of an instruction involves a number of discrete steps, such</a:t>
            </a:r>
          </a:p>
          <a:p>
            <a:r>
              <a:rPr lang="en-US" sz="1300" dirty="0"/>
              <a:t>as fetching the instruction from memory, decoding the various portions of the</a:t>
            </a:r>
          </a:p>
          <a:p>
            <a:r>
              <a:rPr lang="en-US" sz="1300" dirty="0"/>
              <a:t>instruction, loading and storing data, and performing arithmetic and logical operations.</a:t>
            </a:r>
          </a:p>
          <a:p>
            <a:r>
              <a:rPr lang="en-US" sz="1300" dirty="0"/>
              <a:t>Thus, most instructions on most processors require multiple clock cycles to</a:t>
            </a:r>
          </a:p>
          <a:p>
            <a:r>
              <a:rPr lang="en-US" sz="1300" dirty="0"/>
              <a:t>complete. Some instructions may take only a few cycles, while others require dozens.</a:t>
            </a:r>
          </a:p>
          <a:p>
            <a:r>
              <a:rPr lang="en-US" sz="1300" dirty="0"/>
              <a:t>In addition, when pipelining is used, multiple instructions are being executed simultaneously.</a:t>
            </a:r>
          </a:p>
          <a:p>
            <a:r>
              <a:rPr lang="en-US" sz="1300" dirty="0"/>
              <a:t>Thus, a straight comparison of clock speeds on different processors does</a:t>
            </a:r>
          </a:p>
          <a:p>
            <a:r>
              <a:rPr lang="en-US" sz="1300" dirty="0"/>
              <a:t>not tell the whole story about performance.</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16</a:t>
            </a:fld>
            <a:endParaRPr lang="en-US" dirty="0"/>
          </a:p>
        </p:txBody>
      </p:sp>
      <p:sp>
        <p:nvSpPr>
          <p:cNvPr id="5" name="Footer Placeholder 4"/>
          <p:cNvSpPr>
            <a:spLocks noGrp="1"/>
          </p:cNvSpPr>
          <p:nvPr>
            <p:ph type="ftr" sz="quarter" idx="11"/>
          </p:nvPr>
        </p:nvSpPr>
        <p:spPr/>
        <p:txBody>
          <a:bodyPr/>
          <a:lstStyle/>
          <a:p>
            <a:r>
              <a:rPr lang="en-US" dirty="0"/>
              <a:t> </a:t>
            </a:r>
          </a:p>
        </p:txBody>
      </p:sp>
    </p:spTree>
    <p:extLst>
      <p:ext uri="{BB962C8B-B14F-4D97-AF65-F5344CB8AC3E}">
        <p14:creationId xmlns:p14="http://schemas.microsoft.com/office/powerpoint/2010/main" val="30139143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ko-KR" altLang="en-US" sz="1300" dirty="0"/>
              <a:t>메모리 참조 횟수</a:t>
            </a:r>
            <a:r>
              <a:rPr lang="en-US" altLang="ko-KR" sz="1300" dirty="0"/>
              <a:t>(m): </a:t>
            </a:r>
            <a:r>
              <a:rPr lang="ko-KR" altLang="en-US" sz="1300" dirty="0"/>
              <a:t>메모리 참조 횟수는 결국 </a:t>
            </a:r>
            <a:r>
              <a:rPr lang="en-US" altLang="ko-KR" sz="1300" dirty="0"/>
              <a:t>task</a:t>
            </a:r>
            <a:r>
              <a:rPr lang="ko-KR" altLang="en-US" sz="1300" dirty="0"/>
              <a:t>의 성격에 따라 결정됨</a:t>
            </a:r>
            <a:r>
              <a:rPr lang="en-US" altLang="ko-KR" sz="1300" dirty="0"/>
              <a:t>. </a:t>
            </a:r>
          </a:p>
          <a:p>
            <a:r>
              <a:rPr lang="ko-KR" altLang="en-US" sz="1300" dirty="0"/>
              <a:t>즉</a:t>
            </a:r>
            <a:r>
              <a:rPr lang="en-US" altLang="ko-KR" sz="1300" dirty="0"/>
              <a:t>, </a:t>
            </a:r>
            <a:r>
              <a:rPr lang="ko-KR" altLang="en-US" sz="1300" dirty="0"/>
              <a:t>메모리 참조가 필요한 명령어</a:t>
            </a:r>
            <a:r>
              <a:rPr lang="en-US" altLang="ko-KR" sz="1300" dirty="0"/>
              <a:t>(task)</a:t>
            </a:r>
            <a:r>
              <a:rPr lang="ko-KR" altLang="en-US" sz="1300" dirty="0"/>
              <a:t>를 없도록 만들지는 않음</a:t>
            </a:r>
            <a:r>
              <a:rPr lang="en-US" altLang="ko-KR" sz="1300" dirty="0"/>
              <a:t>. </a:t>
            </a:r>
            <a:r>
              <a:rPr lang="ko-KR" altLang="en-US" sz="1300" dirty="0"/>
              <a:t>다만</a:t>
            </a:r>
            <a:r>
              <a:rPr lang="en-US" altLang="ko-KR" sz="1300" dirty="0"/>
              <a:t>, register </a:t>
            </a:r>
            <a:r>
              <a:rPr lang="ko-KR" altLang="en-US" sz="1300" dirty="0"/>
              <a:t>활용을 </a:t>
            </a:r>
            <a:r>
              <a:rPr lang="ko-KR" altLang="en-US" sz="1300" dirty="0" err="1"/>
              <a:t>높인다든지해서</a:t>
            </a:r>
            <a:r>
              <a:rPr lang="ko-KR" altLang="en-US" sz="1300" dirty="0"/>
              <a:t> </a:t>
            </a:r>
            <a:endParaRPr lang="en-US" altLang="ko-KR" sz="1300" dirty="0"/>
          </a:p>
          <a:p>
            <a:r>
              <a:rPr lang="en-US" altLang="ko-KR" sz="1300" dirty="0"/>
              <a:t>Memory </a:t>
            </a:r>
            <a:r>
              <a:rPr lang="ko-KR" altLang="en-US" sz="1300" dirty="0"/>
              <a:t>참조 횟수를 줄일 수는 있음</a:t>
            </a:r>
            <a:r>
              <a:rPr lang="en-US" altLang="ko-KR" sz="1300" dirty="0"/>
              <a:t>.</a:t>
            </a:r>
          </a:p>
          <a:p>
            <a:endParaRPr lang="en-US" sz="1300" dirty="0"/>
          </a:p>
          <a:p>
            <a:r>
              <a:rPr lang="ko-KR" altLang="en-US" sz="1300" dirty="0"/>
              <a:t>이때</a:t>
            </a:r>
            <a:r>
              <a:rPr lang="en-US" altLang="ko-KR" sz="1300" dirty="0"/>
              <a:t>, </a:t>
            </a:r>
            <a:r>
              <a:rPr lang="ko-KR" altLang="en-US" sz="1300" dirty="0"/>
              <a:t>명령어 구조나 프로세서 구조</a:t>
            </a:r>
            <a:r>
              <a:rPr lang="en-US" altLang="ko-KR" sz="1300" dirty="0"/>
              <a:t>, </a:t>
            </a:r>
            <a:r>
              <a:rPr lang="ko-KR" altLang="en-US" sz="1300" dirty="0"/>
              <a:t>캐쉬</a:t>
            </a:r>
            <a:r>
              <a:rPr lang="en-US" altLang="ko-KR" sz="1300" dirty="0"/>
              <a:t>/</a:t>
            </a:r>
            <a:r>
              <a:rPr lang="ko-KR" altLang="en-US" sz="1300" dirty="0"/>
              <a:t>메모리 계층 구조는 메모리 참조와는 </a:t>
            </a:r>
            <a:r>
              <a:rPr lang="ko-KR" altLang="en-US" sz="1300" dirty="0" err="1"/>
              <a:t>관련없다고</a:t>
            </a:r>
            <a:r>
              <a:rPr lang="ko-KR" altLang="en-US" sz="1300" dirty="0"/>
              <a:t> 봄</a:t>
            </a:r>
            <a:endParaRPr lang="en-US" altLang="ko-KR" sz="1300" dirty="0"/>
          </a:p>
          <a:p>
            <a:endParaRPr lang="en-US" sz="1300" dirty="0"/>
          </a:p>
          <a:p>
            <a:r>
              <a:rPr lang="ko-KR" altLang="en-US" sz="1300" dirty="0" err="1"/>
              <a:t>타우</a:t>
            </a:r>
            <a:r>
              <a:rPr lang="en-US" altLang="ko-KR" sz="1300" dirty="0"/>
              <a:t>: constant cycle time</a:t>
            </a:r>
            <a:r>
              <a:rPr lang="ko-KR" altLang="en-US" sz="1300" dirty="0"/>
              <a:t>은 완전히 프로세서 구현 기술에만 의존</a:t>
            </a:r>
            <a:r>
              <a:rPr lang="en-US" altLang="ko-KR" sz="1300" dirty="0"/>
              <a:t>. 1GHz, 2GHz </a:t>
            </a:r>
            <a:r>
              <a:rPr lang="ko-KR" altLang="en-US" sz="1300" dirty="0"/>
              <a:t>등</a:t>
            </a:r>
            <a:r>
              <a:rPr lang="en-US" altLang="ko-KR" sz="1300" dirty="0"/>
              <a:t>?</a:t>
            </a:r>
          </a:p>
          <a:p>
            <a:endParaRPr lang="en-US" sz="1300" dirty="0"/>
          </a:p>
          <a:p>
            <a:endParaRPr lang="en-US" sz="1300" dirty="0"/>
          </a:p>
          <a:p>
            <a:endParaRPr lang="en-US" sz="1300" dirty="0"/>
          </a:p>
          <a:p>
            <a:r>
              <a:rPr lang="en-US" sz="1300" dirty="0"/>
              <a:t>Table 2.9 is a matrix in which one dimension shows the five</a:t>
            </a:r>
          </a:p>
          <a:p>
            <a:r>
              <a:rPr lang="en-US" sz="1300" dirty="0"/>
              <a:t>performance factors and the other dimension shows the four system attributes. An</a:t>
            </a:r>
          </a:p>
          <a:p>
            <a:r>
              <a:rPr lang="en-US" sz="1300" dirty="0"/>
              <a:t>X in a cell indicates a system attribute that affects a performance factor.</a:t>
            </a:r>
          </a:p>
          <a:p>
            <a:endParaRPr lang="en-US" sz="1300" dirty="0"/>
          </a:p>
          <a:p>
            <a:r>
              <a:rPr lang="en-US" sz="1300" dirty="0"/>
              <a:t>A common measure of performance for a processor is the rate at which</a:t>
            </a:r>
          </a:p>
          <a:p>
            <a:r>
              <a:rPr lang="en-US" sz="1300" dirty="0"/>
              <a:t>instructions are executed, expressed as millions of instructions per second (MIPS),</a:t>
            </a:r>
          </a:p>
          <a:p>
            <a:r>
              <a:rPr lang="en-US" sz="1300" dirty="0"/>
              <a:t>referred to as the </a:t>
            </a:r>
            <a:r>
              <a:rPr lang="en-US" sz="1300" b="1" dirty="0"/>
              <a:t>MIPS rate.</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17</a:t>
            </a:fld>
            <a:endParaRPr lang="en-US" dirty="0"/>
          </a:p>
        </p:txBody>
      </p:sp>
    </p:spTree>
    <p:extLst>
      <p:ext uri="{BB962C8B-B14F-4D97-AF65-F5344CB8AC3E}">
        <p14:creationId xmlns:p14="http://schemas.microsoft.com/office/powerpoint/2010/main" val="7688606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dirty="0"/>
              <a:t>In evaluating some aspect of computer system performance, it is often the case that a</a:t>
            </a:r>
          </a:p>
          <a:p>
            <a:r>
              <a:rPr lang="en-US" sz="1300" dirty="0"/>
              <a:t>single number, such as execution time or memory consumed, is used to characterize</a:t>
            </a:r>
          </a:p>
          <a:p>
            <a:r>
              <a:rPr lang="en-US" sz="1300" dirty="0"/>
              <a:t>performance and to compare systems. Clearly, a single number can provide only a</a:t>
            </a:r>
          </a:p>
          <a:p>
            <a:r>
              <a:rPr lang="en-US" sz="1300" dirty="0"/>
              <a:t>very simplified view of a system’s capability. Nevertheless, and especially in the field</a:t>
            </a:r>
          </a:p>
          <a:p>
            <a:r>
              <a:rPr lang="en-US" sz="1300" dirty="0"/>
              <a:t>of benchmarking, single numbers are typically used for performance comparison</a:t>
            </a:r>
          </a:p>
          <a:p>
            <a:r>
              <a:rPr lang="en-US" sz="1300" dirty="0"/>
              <a:t>[SMIT88].</a:t>
            </a:r>
          </a:p>
          <a:p>
            <a:endParaRPr lang="en-US" sz="1300" dirty="0"/>
          </a:p>
          <a:p>
            <a:r>
              <a:rPr lang="en-US" sz="1300" dirty="0"/>
              <a:t>As is discussed in Section 2.6, the use of benchmarks to compare systems</a:t>
            </a:r>
          </a:p>
          <a:p>
            <a:r>
              <a:rPr lang="en-US" sz="1300" dirty="0"/>
              <a:t>involves calculating the mean value of a set of data points related to execution</a:t>
            </a:r>
          </a:p>
          <a:p>
            <a:r>
              <a:rPr lang="en-US" sz="1300" dirty="0"/>
              <a:t>time. It turns out that there are multiple alternative algorithms that can be used</a:t>
            </a:r>
          </a:p>
          <a:p>
            <a:r>
              <a:rPr lang="en-US" sz="1300" dirty="0"/>
              <a:t>for calculating a mean value, and this has been the source of some controversy in</a:t>
            </a:r>
          </a:p>
          <a:p>
            <a:r>
              <a:rPr lang="en-US" sz="1300" dirty="0"/>
              <a:t>the benchmarking field. In this section, we define these alternative algorithms and</a:t>
            </a:r>
          </a:p>
          <a:p>
            <a:r>
              <a:rPr lang="en-US" sz="1300" dirty="0"/>
              <a:t>comment on some of their properties. This prepares us for a discussion in the next</a:t>
            </a:r>
          </a:p>
          <a:p>
            <a:r>
              <a:rPr lang="en-US" sz="1300" dirty="0"/>
              <a:t>section of mean calculation in benchmarking.</a:t>
            </a:r>
          </a:p>
          <a:p>
            <a:endParaRPr lang="en-US" sz="1300" dirty="0"/>
          </a:p>
          <a:p>
            <a:r>
              <a:rPr lang="en-US" sz="1300" dirty="0"/>
              <a:t>The three common formulas used for calculating a mean are arithmetic, geometric,</a:t>
            </a:r>
          </a:p>
          <a:p>
            <a:r>
              <a:rPr lang="en-US" sz="1300" dirty="0"/>
              <a:t>and harmonic.</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18</a:t>
            </a:fld>
            <a:endParaRPr lang="en-US" dirty="0"/>
          </a:p>
        </p:txBody>
      </p:sp>
      <p:sp>
        <p:nvSpPr>
          <p:cNvPr id="5" name="Footer Placeholder 4"/>
          <p:cNvSpPr>
            <a:spLocks noGrp="1"/>
          </p:cNvSpPr>
          <p:nvPr>
            <p:ph type="ftr" sz="quarter" idx="11"/>
          </p:nvPr>
        </p:nvSpPr>
        <p:spPr/>
        <p:txBody>
          <a:bodyPr/>
          <a:lstStyle/>
          <a:p>
            <a:r>
              <a:rPr lang="en-US" dirty="0"/>
              <a:t> </a:t>
            </a:r>
          </a:p>
        </p:txBody>
      </p:sp>
    </p:spTree>
    <p:extLst>
      <p:ext uri="{BB962C8B-B14F-4D97-AF65-F5344CB8AC3E}">
        <p14:creationId xmlns:p14="http://schemas.microsoft.com/office/powerpoint/2010/main" val="14285001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dirty="0"/>
              <a:t>Figure 2.6 illustrates the three means applied to various data sets, each</a:t>
            </a:r>
          </a:p>
          <a:p>
            <a:r>
              <a:rPr lang="en-US" sz="1300" dirty="0"/>
              <a:t>of which has eleven data points and a maximum data point value of 11. The median value</a:t>
            </a:r>
          </a:p>
          <a:p>
            <a:r>
              <a:rPr lang="en-US" sz="1300" dirty="0"/>
              <a:t>is also included in the chart. Perhaps what stands out the most in this figure is that the HM</a:t>
            </a:r>
          </a:p>
          <a:p>
            <a:r>
              <a:rPr lang="en-US" sz="1300" dirty="0"/>
              <a:t>has a tendency to produce a misleading result when the data is skewed to larger values or</a:t>
            </a:r>
          </a:p>
          <a:p>
            <a:r>
              <a:rPr lang="en-US" sz="1300" dirty="0"/>
              <a:t>when there is a small-value outlier.</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19</a:t>
            </a:fld>
            <a:endParaRPr lang="en-US" dirty="0"/>
          </a:p>
        </p:txBody>
      </p:sp>
      <p:sp>
        <p:nvSpPr>
          <p:cNvPr id="5" name="Footer Placeholder 4"/>
          <p:cNvSpPr>
            <a:spLocks noGrp="1"/>
          </p:cNvSpPr>
          <p:nvPr>
            <p:ph type="ftr" sz="quarter" idx="11"/>
          </p:nvPr>
        </p:nvSpPr>
        <p:spPr/>
        <p:txBody>
          <a:bodyPr/>
          <a:lstStyle/>
          <a:p>
            <a:r>
              <a:rPr lang="en-US" dirty="0"/>
              <a:t> </a:t>
            </a:r>
          </a:p>
        </p:txBody>
      </p:sp>
    </p:spTree>
    <p:extLst>
      <p:ext uri="{BB962C8B-B14F-4D97-AF65-F5344CB8AC3E}">
        <p14:creationId xmlns:p14="http://schemas.microsoft.com/office/powerpoint/2010/main" val="20954092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dirty="0"/>
              <a:t> An AM is an appropriate measure if the sum of all the measurements is a meaningful</a:t>
            </a:r>
          </a:p>
          <a:p>
            <a:r>
              <a:rPr lang="en-US" sz="1300" dirty="0"/>
              <a:t>and interesting value. The AM is a good candidate for comparing the execution time performance</a:t>
            </a:r>
          </a:p>
          <a:p>
            <a:r>
              <a:rPr lang="en-US" sz="1300" dirty="0"/>
              <a:t>of several systems. For example, suppose we were interested in using a system</a:t>
            </a:r>
          </a:p>
          <a:p>
            <a:r>
              <a:rPr lang="en-US" sz="1300" dirty="0"/>
              <a:t>for large-scale simulation studies and wanted to evaluate several alternative products.</a:t>
            </a:r>
          </a:p>
          <a:p>
            <a:r>
              <a:rPr lang="en-US" sz="1300" dirty="0"/>
              <a:t>On each system we could run the simulation multiple times with different input values</a:t>
            </a:r>
          </a:p>
          <a:p>
            <a:r>
              <a:rPr lang="en-US" sz="1300" dirty="0"/>
              <a:t>for each run, and then take the average execution time across all runs. The use of</a:t>
            </a:r>
          </a:p>
          <a:p>
            <a:r>
              <a:rPr lang="en-US" sz="1300" dirty="0"/>
              <a:t>multiple runs with different inputs should ensure that the results are not heavily biased</a:t>
            </a:r>
          </a:p>
          <a:p>
            <a:r>
              <a:rPr lang="en-US" sz="1300" dirty="0"/>
              <a:t>by some unusual feature of a given input set. The AM of all the runs is a good measure of</a:t>
            </a:r>
          </a:p>
          <a:p>
            <a:r>
              <a:rPr lang="en-US" sz="1300" dirty="0"/>
              <a:t>the system’s performance on simulations, and a good number to use for system comparison.</a:t>
            </a:r>
          </a:p>
          <a:p>
            <a:r>
              <a:rPr lang="en-US" sz="1300" dirty="0"/>
              <a:t>The AM used for a time-based variable (e.g., seconds), such as program execution</a:t>
            </a:r>
          </a:p>
          <a:p>
            <a:r>
              <a:rPr lang="en-US" sz="1300" dirty="0"/>
              <a:t>time, has the important property that it is directly proportional to the total</a:t>
            </a:r>
          </a:p>
          <a:p>
            <a:r>
              <a:rPr lang="en-US" sz="1300" dirty="0"/>
              <a:t>time. So, if the total time doubles, the mean value doubles.</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20</a:t>
            </a:fld>
            <a:endParaRPr lang="en-US" dirty="0"/>
          </a:p>
        </p:txBody>
      </p:sp>
      <p:sp>
        <p:nvSpPr>
          <p:cNvPr id="5" name="Footer Placeholder 4"/>
          <p:cNvSpPr>
            <a:spLocks noGrp="1"/>
          </p:cNvSpPr>
          <p:nvPr>
            <p:ph type="ftr" sz="quarter" idx="11"/>
          </p:nvPr>
        </p:nvSpPr>
        <p:spPr/>
        <p:txBody>
          <a:bodyPr/>
          <a:lstStyle/>
          <a:p>
            <a:r>
              <a:rPr lang="en-US" dirty="0"/>
              <a:t> </a:t>
            </a:r>
          </a:p>
        </p:txBody>
      </p:sp>
    </p:spTree>
    <p:extLst>
      <p:ext uri="{BB962C8B-B14F-4D97-AF65-F5344CB8AC3E}">
        <p14:creationId xmlns:p14="http://schemas.microsoft.com/office/powerpoint/2010/main" val="41561729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dirty="0"/>
              <a:t>A simple numerical example will illustrate the difference between the</a:t>
            </a:r>
          </a:p>
          <a:p>
            <a:r>
              <a:rPr lang="en-US" sz="1300" dirty="0"/>
              <a:t>two means in calculating a mean value of the rates, shown in Table 2.2. The table compares</a:t>
            </a:r>
          </a:p>
          <a:p>
            <a:r>
              <a:rPr lang="en-US" sz="1300" dirty="0"/>
              <a:t>the performance of three computers on the execution of two programs. For simplicity, we</a:t>
            </a:r>
          </a:p>
          <a:p>
            <a:r>
              <a:rPr lang="en-US" sz="1300" dirty="0"/>
              <a:t>assume that the execution of each program results in the execution of 108 floating-point</a:t>
            </a:r>
          </a:p>
          <a:p>
            <a:r>
              <a:rPr lang="en-US" sz="1300" dirty="0"/>
              <a:t>operations. The left half of the table shows the execution times for each computer running</a:t>
            </a:r>
          </a:p>
          <a:p>
            <a:r>
              <a:rPr lang="en-US" sz="1300" dirty="0"/>
              <a:t>each program, the total execution time, and the AM of the execution times. Computer</a:t>
            </a:r>
          </a:p>
          <a:p>
            <a:r>
              <a:rPr lang="en-US" sz="1300" dirty="0"/>
              <a:t>A executes in less total time than B, which executes in less total time than C, and this is</a:t>
            </a:r>
          </a:p>
          <a:p>
            <a:r>
              <a:rPr lang="en-US" sz="1300" dirty="0"/>
              <a:t>reflected accurately in the AM.</a:t>
            </a:r>
          </a:p>
          <a:p>
            <a:endParaRPr lang="en-US" sz="1300" dirty="0"/>
          </a:p>
          <a:p>
            <a:r>
              <a:rPr lang="en-US" sz="1300" dirty="0"/>
              <a:t>The right half of the table provides a comparison in terms of rates, expressed</a:t>
            </a:r>
          </a:p>
          <a:p>
            <a:r>
              <a:rPr lang="en-US" sz="1300" dirty="0"/>
              <a:t>in MFLOPS. The rate calculation is straightforward. For example, program 1 executes</a:t>
            </a:r>
          </a:p>
          <a:p>
            <a:r>
              <a:rPr lang="en-US" sz="1300" dirty="0"/>
              <a:t>100 million floating-point operations. Computer A takes 2 seconds to execute the program</a:t>
            </a:r>
          </a:p>
          <a:p>
            <a:r>
              <a:rPr lang="en-US" sz="1300" dirty="0"/>
              <a:t>for a MFLOPS rate of 100/2 = 50. Next, consider the AM of the rates. The greatest value</a:t>
            </a:r>
          </a:p>
          <a:p>
            <a:r>
              <a:rPr lang="en-US" sz="1300" dirty="0"/>
              <a:t>is for computer A, which suggests that A is the fastest computer. In terms of total execution</a:t>
            </a:r>
          </a:p>
          <a:p>
            <a:r>
              <a:rPr lang="en-US" sz="1300" dirty="0"/>
              <a:t>time, A has the minimum time, so it is the fastest computer of the three. But the AM</a:t>
            </a:r>
          </a:p>
          <a:p>
            <a:r>
              <a:rPr lang="en-US" sz="1300" dirty="0"/>
              <a:t>of rates shows B as slower than C, whereas in fact B is faster than C. Looking at the HM</a:t>
            </a:r>
          </a:p>
          <a:p>
            <a:r>
              <a:rPr lang="en-US" sz="1300" dirty="0"/>
              <a:t>values, we see that they correctly reflect the speed ordering of the computers. This confirms</a:t>
            </a:r>
          </a:p>
          <a:p>
            <a:r>
              <a:rPr lang="en-US" sz="1300" dirty="0"/>
              <a:t>that the HM is preferred when calculating rates.</a:t>
            </a:r>
          </a:p>
          <a:p>
            <a:endParaRPr lang="en-US" sz="1300" dirty="0"/>
          </a:p>
          <a:p>
            <a:r>
              <a:rPr lang="en-US" sz="1300" dirty="0"/>
              <a:t>The reader may wonder why go through all this effort. If we want to compare</a:t>
            </a:r>
          </a:p>
          <a:p>
            <a:r>
              <a:rPr lang="en-US" sz="1300" dirty="0"/>
              <a:t>execution times, we could simply compare the total execution times of the three</a:t>
            </a:r>
          </a:p>
          <a:p>
            <a:r>
              <a:rPr lang="en-US" sz="1300" dirty="0"/>
              <a:t>systems. If we want to compare rates, we could simply take the inverse of the total</a:t>
            </a:r>
          </a:p>
          <a:p>
            <a:r>
              <a:rPr lang="en-US" sz="1300" dirty="0"/>
              <a:t>execution time, as shown in the table. There are two reasons for doing the individual</a:t>
            </a:r>
          </a:p>
          <a:p>
            <a:r>
              <a:rPr lang="en-US" sz="1300" dirty="0"/>
              <a:t>calculations rather than only looking at the aggregate numbers:</a:t>
            </a:r>
          </a:p>
          <a:p>
            <a:endParaRPr lang="en-US" sz="1300" dirty="0"/>
          </a:p>
          <a:p>
            <a:r>
              <a:rPr lang="en-US" sz="1300" dirty="0"/>
              <a:t> 1. A customer or researcher may be interested not only in the overall average</a:t>
            </a:r>
          </a:p>
          <a:p>
            <a:r>
              <a:rPr lang="en-US" sz="1300" dirty="0"/>
              <a:t>performance but also performance against different types of benchmark programs,</a:t>
            </a:r>
          </a:p>
          <a:p>
            <a:r>
              <a:rPr lang="en-US" sz="1300" dirty="0"/>
              <a:t>such as business applications, scientific modeling, multimedia applications,</a:t>
            </a:r>
          </a:p>
          <a:p>
            <a:r>
              <a:rPr lang="en-US" sz="1300" dirty="0"/>
              <a:t>and systems programs. Thus, a breakdown by type of benchmark is</a:t>
            </a:r>
          </a:p>
          <a:p>
            <a:r>
              <a:rPr lang="en-US" sz="1300" dirty="0"/>
              <a:t>needed as well as a total.</a:t>
            </a:r>
          </a:p>
          <a:p>
            <a:endParaRPr lang="en-US" sz="1300" dirty="0"/>
          </a:p>
          <a:p>
            <a:r>
              <a:rPr lang="en-US" sz="1300" dirty="0"/>
              <a:t> 2. Usually, the different programs used for evaluation are weighted differently.</a:t>
            </a:r>
          </a:p>
          <a:p>
            <a:r>
              <a:rPr lang="en-US" sz="1300" dirty="0"/>
              <a:t>In Table 2.2, it is assumed that the two test programs execute the same number</a:t>
            </a:r>
          </a:p>
          <a:p>
            <a:r>
              <a:rPr lang="en-US" sz="1300" dirty="0"/>
              <a:t>of operations. If that is not the case, we may want to weight accordingly.</a:t>
            </a:r>
          </a:p>
          <a:p>
            <a:r>
              <a:rPr lang="en-US" sz="1300" dirty="0"/>
              <a:t>Or different programs could be weighted differently to reflect importance or</a:t>
            </a:r>
          </a:p>
          <a:p>
            <a:r>
              <a:rPr lang="en-US" sz="1300" dirty="0"/>
              <a:t>priority.</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21</a:t>
            </a:fld>
            <a:endParaRPr lang="en-US" dirty="0"/>
          </a:p>
        </p:txBody>
      </p:sp>
      <p:sp>
        <p:nvSpPr>
          <p:cNvPr id="5" name="Footer Placeholder 4"/>
          <p:cNvSpPr>
            <a:spLocks noGrp="1"/>
          </p:cNvSpPr>
          <p:nvPr>
            <p:ph type="ftr" sz="quarter" idx="11"/>
          </p:nvPr>
        </p:nvSpPr>
        <p:spPr/>
        <p:txBody>
          <a:bodyPr/>
          <a:lstStyle/>
          <a:p>
            <a:r>
              <a:rPr lang="en-US" dirty="0"/>
              <a:t> </a:t>
            </a:r>
          </a:p>
        </p:txBody>
      </p:sp>
    </p:spTree>
    <p:extLst>
      <p:ext uri="{BB962C8B-B14F-4D97-AF65-F5344CB8AC3E}">
        <p14:creationId xmlns:p14="http://schemas.microsoft.com/office/powerpoint/2010/main" val="23152846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dirty="0"/>
              <a:t>A simple example will illustrate the way in which the GM exhibits consistency</a:t>
            </a:r>
          </a:p>
          <a:p>
            <a:r>
              <a:rPr lang="en-US" sz="1300" dirty="0"/>
              <a:t>for normalized results. In Table 2.3, we use the same performance results as were</a:t>
            </a:r>
          </a:p>
          <a:p>
            <a:r>
              <a:rPr lang="en-US" sz="1300" dirty="0"/>
              <a:t>used in Table 2.2. In Table 2.3a, all results are normalized to Computer A, and the means</a:t>
            </a:r>
          </a:p>
          <a:p>
            <a:r>
              <a:rPr lang="en-US" sz="1300" dirty="0"/>
              <a:t>are calculated on the normalized values. Based on total execution time, A is faster than</a:t>
            </a:r>
          </a:p>
          <a:p>
            <a:r>
              <a:rPr lang="en-US" sz="1300" dirty="0"/>
              <a:t>B, which is faster than C. Both the AMs and GMs of the normalized times reflect this. In</a:t>
            </a:r>
          </a:p>
          <a:p>
            <a:r>
              <a:rPr lang="en-US" sz="1300" dirty="0"/>
              <a:t>Table 2.3b, the systems are now normalized to B. Again the GMs correctly reflect the relative</a:t>
            </a:r>
          </a:p>
          <a:p>
            <a:r>
              <a:rPr lang="en-US" sz="1300" dirty="0"/>
              <a:t>speeds of the three computers, but now the AM produces a different ordering.</a:t>
            </a:r>
          </a:p>
          <a:p>
            <a:endParaRPr lang="en-US" sz="1300"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22</a:t>
            </a:fld>
            <a:endParaRPr lang="en-US" dirty="0"/>
          </a:p>
        </p:txBody>
      </p:sp>
      <p:sp>
        <p:nvSpPr>
          <p:cNvPr id="5" name="Footer Placeholder 4"/>
          <p:cNvSpPr>
            <a:spLocks noGrp="1"/>
          </p:cNvSpPr>
          <p:nvPr>
            <p:ph type="ftr" sz="quarter" idx="11"/>
          </p:nvPr>
        </p:nvSpPr>
        <p:spPr/>
        <p:txBody>
          <a:bodyPr/>
          <a:lstStyle/>
          <a:p>
            <a:r>
              <a:rPr lang="en-US" dirty="0"/>
              <a:t> </a:t>
            </a:r>
          </a:p>
        </p:txBody>
      </p:sp>
    </p:spTree>
    <p:extLst>
      <p:ext uri="{BB962C8B-B14F-4D97-AF65-F5344CB8AC3E}">
        <p14:creationId xmlns:p14="http://schemas.microsoft.com/office/powerpoint/2010/main" val="10077211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dirty="0"/>
              <a:t>Sadly, consistency does not always produce correct results. In Table 2.4, some of the</a:t>
            </a:r>
          </a:p>
          <a:p>
            <a:r>
              <a:rPr lang="en-US" sz="1300" dirty="0"/>
              <a:t>execution times are altered. Once again, the AM reports conflicting results for the two</a:t>
            </a:r>
          </a:p>
          <a:p>
            <a:r>
              <a:rPr lang="en-US" sz="1300" dirty="0"/>
              <a:t>normalizations. The GM reports consistent results, but the result is that B is faster than A</a:t>
            </a:r>
          </a:p>
          <a:p>
            <a:r>
              <a:rPr lang="en-US" sz="1300" dirty="0"/>
              <a:t>and C, which are equal.</a:t>
            </a:r>
            <a:endParaRPr lang="en-US" dirty="0"/>
          </a:p>
          <a:p>
            <a:endParaRPr lang="en-US" dirty="0"/>
          </a:p>
          <a:p>
            <a:r>
              <a:rPr lang="en-US" sz="1300" dirty="0"/>
              <a:t>SPEC has chosen to use the GM,</a:t>
            </a:r>
          </a:p>
          <a:p>
            <a:r>
              <a:rPr lang="en-US" sz="1300" dirty="0"/>
              <a:t>for several reasons:</a:t>
            </a:r>
          </a:p>
          <a:p>
            <a:endParaRPr lang="en-US" sz="1300" dirty="0"/>
          </a:p>
          <a:p>
            <a:r>
              <a:rPr lang="en-US" sz="1300" dirty="0"/>
              <a:t>1.  As mentioned, the GM gives consistent results regardless of which system is</a:t>
            </a:r>
          </a:p>
          <a:p>
            <a:r>
              <a:rPr lang="en-US" sz="1300" dirty="0"/>
              <a:t>used as a reference. Because benchmarking is primarily a comparison analysis,</a:t>
            </a:r>
          </a:p>
          <a:p>
            <a:r>
              <a:rPr lang="en-US" sz="1300" dirty="0"/>
              <a:t>this is an important feature.</a:t>
            </a:r>
          </a:p>
          <a:p>
            <a:endParaRPr lang="en-US" sz="1300" dirty="0"/>
          </a:p>
          <a:p>
            <a:r>
              <a:rPr lang="en-US" sz="1300" dirty="0"/>
              <a:t>2.  As documented in [MCMA93], and confirmed in subsequent analyses by SPEC</a:t>
            </a:r>
          </a:p>
          <a:p>
            <a:r>
              <a:rPr lang="en-US" sz="1300" dirty="0"/>
              <a:t>analysts [MASH04], the GM is less biased by outliers than the HM or AM.</a:t>
            </a:r>
          </a:p>
          <a:p>
            <a:endParaRPr lang="en-US" sz="1300" dirty="0"/>
          </a:p>
          <a:p>
            <a:r>
              <a:rPr lang="en-US" sz="1300" dirty="0"/>
              <a:t>3.  [MASH04] demonstrates that distributions of performance ratios are better</a:t>
            </a:r>
          </a:p>
          <a:p>
            <a:r>
              <a:rPr lang="en-US" sz="1300" dirty="0"/>
              <a:t>modeled by lognormal distributions than by normal ones, because of the generally</a:t>
            </a:r>
          </a:p>
          <a:p>
            <a:r>
              <a:rPr lang="en-US" sz="1300" dirty="0"/>
              <a:t>skewed distribution of the normalized numbers. This is confirmed in</a:t>
            </a:r>
          </a:p>
          <a:p>
            <a:r>
              <a:rPr lang="en-US" sz="1300" dirty="0"/>
              <a:t>[CITR06]. And, as shown in Equation (2.5), the GM can be described as the</a:t>
            </a:r>
          </a:p>
          <a:p>
            <a:r>
              <a:rPr lang="en-US" sz="1300" dirty="0"/>
              <a:t>back-transformed average of a lognormal distribution.</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23</a:t>
            </a:fld>
            <a:endParaRPr lang="en-US" dirty="0"/>
          </a:p>
        </p:txBody>
      </p:sp>
      <p:sp>
        <p:nvSpPr>
          <p:cNvPr id="5" name="Footer Placeholder 4"/>
          <p:cNvSpPr>
            <a:spLocks noGrp="1"/>
          </p:cNvSpPr>
          <p:nvPr>
            <p:ph type="ftr" sz="quarter" idx="11"/>
          </p:nvPr>
        </p:nvSpPr>
        <p:spPr/>
        <p:txBody>
          <a:bodyPr/>
          <a:lstStyle/>
          <a:p>
            <a:r>
              <a:rPr lang="en-US" dirty="0"/>
              <a:t> </a:t>
            </a:r>
          </a:p>
        </p:txBody>
      </p:sp>
    </p:spTree>
    <p:extLst>
      <p:ext uri="{BB962C8B-B14F-4D97-AF65-F5344CB8AC3E}">
        <p14:creationId xmlns:p14="http://schemas.microsoft.com/office/powerpoint/2010/main" val="11292489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dirty="0"/>
              <a:t>Measures such as MIPS and MFLOPS have proven inadequate to evaluating the performance</a:t>
            </a:r>
          </a:p>
          <a:p>
            <a:r>
              <a:rPr lang="en-US" sz="1300" dirty="0"/>
              <a:t>of processors. Because of differences in instruction sets, the instruction execution</a:t>
            </a:r>
          </a:p>
          <a:p>
            <a:r>
              <a:rPr lang="en-US" sz="1300" dirty="0"/>
              <a:t>rate is not a valid means of comparing the performance of different architectures.</a:t>
            </a:r>
          </a:p>
          <a:p>
            <a:endParaRPr lang="en-US" sz="1300" dirty="0"/>
          </a:p>
          <a:p>
            <a:r>
              <a:rPr lang="en-US" sz="1300" dirty="0"/>
              <a:t>Another consideration is that the performance of a given processor on a given</a:t>
            </a:r>
          </a:p>
          <a:p>
            <a:r>
              <a:rPr lang="en-US" sz="1300" dirty="0"/>
              <a:t>program may not be useful in determining how that processor will perform on a</a:t>
            </a:r>
          </a:p>
          <a:p>
            <a:r>
              <a:rPr lang="en-US" sz="1300" dirty="0"/>
              <a:t>very different type of application. Accordingly, beginning in the late 1980s and</a:t>
            </a:r>
          </a:p>
          <a:p>
            <a:r>
              <a:rPr lang="en-US" sz="1300" dirty="0"/>
              <a:t>early 1990s, industry and academic interest shifted to measuring the performance of</a:t>
            </a:r>
          </a:p>
          <a:p>
            <a:r>
              <a:rPr lang="en-US" sz="1300" dirty="0"/>
              <a:t> systems using a set of benchmark programs. The same set of programs can be run on</a:t>
            </a:r>
          </a:p>
          <a:p>
            <a:r>
              <a:rPr lang="en-US" sz="1300" dirty="0"/>
              <a:t>different machines and the execution times compared. Benchmarks provide guidance</a:t>
            </a:r>
          </a:p>
          <a:p>
            <a:r>
              <a:rPr lang="en-US" sz="1300" dirty="0"/>
              <a:t>to customers trying to decide which system to buy and can be useful to vendors</a:t>
            </a:r>
          </a:p>
          <a:p>
            <a:r>
              <a:rPr lang="en-US" sz="1300" dirty="0"/>
              <a:t>and designers in determining how to design systems to meet benchmark goals.</a:t>
            </a:r>
          </a:p>
          <a:p>
            <a:endParaRPr lang="en-US" sz="1300" dirty="0"/>
          </a:p>
          <a:p>
            <a:r>
              <a:rPr lang="en-US" sz="1300" dirty="0"/>
              <a:t>[WEIC90] lists the following as desirable characteristics of a benchmark program:</a:t>
            </a:r>
          </a:p>
          <a:p>
            <a:endParaRPr lang="en-US" sz="1300" dirty="0"/>
          </a:p>
          <a:p>
            <a:r>
              <a:rPr lang="en-US" sz="1300" dirty="0"/>
              <a:t>1.  It is written in a high-level language, making it portable across different machines.</a:t>
            </a:r>
          </a:p>
          <a:p>
            <a:endParaRPr lang="en-US" sz="1300" dirty="0"/>
          </a:p>
          <a:p>
            <a:r>
              <a:rPr lang="en-US" sz="1300" dirty="0"/>
              <a:t>2.  It is representative of a particular kind of programming domain or paradigm, such</a:t>
            </a:r>
          </a:p>
          <a:p>
            <a:r>
              <a:rPr lang="en-US" sz="1300" dirty="0"/>
              <a:t>as systems programming, numerical programming, or commercial programming.</a:t>
            </a:r>
          </a:p>
          <a:p>
            <a:endParaRPr lang="en-US" sz="1300" dirty="0"/>
          </a:p>
          <a:p>
            <a:r>
              <a:rPr lang="en-US" sz="1300" dirty="0"/>
              <a:t>3.  It can be measured easily.</a:t>
            </a:r>
          </a:p>
          <a:p>
            <a:endParaRPr lang="en-US" sz="1300" dirty="0"/>
          </a:p>
          <a:p>
            <a:r>
              <a:rPr lang="en-US" sz="1300" dirty="0"/>
              <a:t>4.  It has wide distribution.</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24</a:t>
            </a:fld>
            <a:endParaRPr lang="en-US" dirty="0"/>
          </a:p>
        </p:txBody>
      </p:sp>
      <p:sp>
        <p:nvSpPr>
          <p:cNvPr id="5" name="Footer Placeholder 4"/>
          <p:cNvSpPr>
            <a:spLocks noGrp="1"/>
          </p:cNvSpPr>
          <p:nvPr>
            <p:ph type="ftr" sz="quarter" idx="11"/>
          </p:nvPr>
        </p:nvSpPr>
        <p:spPr/>
        <p:txBody>
          <a:bodyPr/>
          <a:lstStyle/>
          <a:p>
            <a:r>
              <a:rPr lang="en-US" dirty="0"/>
              <a:t> </a:t>
            </a:r>
          </a:p>
        </p:txBody>
      </p:sp>
    </p:spTree>
    <p:extLst>
      <p:ext uri="{BB962C8B-B14F-4D97-AF65-F5344CB8AC3E}">
        <p14:creationId xmlns:p14="http://schemas.microsoft.com/office/powerpoint/2010/main" val="20452588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300" dirty="0"/>
              <a:t>The common need in industry and academic and research</a:t>
            </a:r>
          </a:p>
          <a:p>
            <a:r>
              <a:rPr lang="en-US" sz="1300" dirty="0"/>
              <a:t>communities for generally accepted computer performance measurements has</a:t>
            </a:r>
          </a:p>
          <a:p>
            <a:r>
              <a:rPr lang="en-US" sz="1300" dirty="0"/>
              <a:t>led to the development of standardized benchmark suites. A benchmark suite is a</a:t>
            </a:r>
          </a:p>
          <a:p>
            <a:r>
              <a:rPr lang="en-US" sz="1300" dirty="0"/>
              <a:t>collection of programs, defined in a high-level language, that together attempt to</a:t>
            </a:r>
          </a:p>
          <a:p>
            <a:r>
              <a:rPr lang="en-US" sz="1300" dirty="0"/>
              <a:t>provide a representative test of a computer in a particular application or system</a:t>
            </a:r>
          </a:p>
          <a:p>
            <a:r>
              <a:rPr lang="en-US" sz="1300" dirty="0"/>
              <a:t>programming area. The best known such collection of benchmark suites is defined</a:t>
            </a:r>
          </a:p>
          <a:p>
            <a:r>
              <a:rPr lang="en-US" sz="1300" dirty="0"/>
              <a:t>and maintained by the System Performance Evaluation Corporation (SPEC),</a:t>
            </a:r>
          </a:p>
          <a:p>
            <a:r>
              <a:rPr lang="en-US" sz="1300" dirty="0"/>
              <a:t>an industry consortium. SPEC performance measurements are widely used for</a:t>
            </a:r>
          </a:p>
          <a:p>
            <a:r>
              <a:rPr lang="en-US" sz="1300" dirty="0"/>
              <a:t>comparison and research purposes.</a:t>
            </a:r>
          </a:p>
          <a:p>
            <a:endParaRPr lang="en-US" sz="1300"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25</a:t>
            </a:fld>
            <a:endParaRPr lang="en-US" dirty="0"/>
          </a:p>
        </p:txBody>
      </p:sp>
      <p:sp>
        <p:nvSpPr>
          <p:cNvPr id="5" name="Footer Placeholder 4"/>
          <p:cNvSpPr>
            <a:spLocks noGrp="1"/>
          </p:cNvSpPr>
          <p:nvPr>
            <p:ph type="ftr" sz="quarter" idx="11"/>
          </p:nvPr>
        </p:nvSpPr>
        <p:spPr/>
        <p:txBody>
          <a:bodyPr/>
          <a:lstStyle/>
          <a:p>
            <a:r>
              <a:rPr lang="en-US" dirty="0"/>
              <a:t> </a:t>
            </a:r>
          </a:p>
        </p:txBody>
      </p:sp>
    </p:spTree>
    <p:extLst>
      <p:ext uri="{BB962C8B-B14F-4D97-AF65-F5344CB8AC3E}">
        <p14:creationId xmlns:p14="http://schemas.microsoft.com/office/powerpoint/2010/main" val="3904172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300" dirty="0"/>
              <a:t>The best known of the SPEC benchmark suites is SPEC CPU2006. This is the</a:t>
            </a:r>
          </a:p>
          <a:p>
            <a:r>
              <a:rPr lang="en-US" sz="1300" dirty="0"/>
              <a:t>industry standard suite for processor-intensive applications. That is, SPEC CPU2006 is</a:t>
            </a:r>
          </a:p>
          <a:p>
            <a:r>
              <a:rPr lang="en-US" sz="1300" dirty="0"/>
              <a:t>appropriate for measuring performance for applications that spend most of their time</a:t>
            </a:r>
          </a:p>
          <a:p>
            <a:r>
              <a:rPr lang="en-US" sz="1300" dirty="0"/>
              <a:t>doing computation rather than I/O. </a:t>
            </a:r>
          </a:p>
          <a:p>
            <a:endParaRPr lang="en-US" sz="1300" dirty="0"/>
          </a:p>
          <a:p>
            <a:r>
              <a:rPr lang="en-US" sz="1300" dirty="0"/>
              <a:t>The CPU2006 suite is based on existing applications</a:t>
            </a:r>
          </a:p>
          <a:p>
            <a:r>
              <a:rPr lang="en-US" sz="1300" dirty="0"/>
              <a:t>that have already been ported to a wide variety of platforms by SPEC industry</a:t>
            </a:r>
            <a:endParaRPr lang="en-US" dirty="0"/>
          </a:p>
          <a:p>
            <a:r>
              <a:rPr lang="en-US" sz="1300" dirty="0"/>
              <a:t>members. It consists of 17 floating-point programs written in C, C++, and Fortran; and</a:t>
            </a:r>
          </a:p>
          <a:p>
            <a:r>
              <a:rPr lang="en-US" sz="1300" dirty="0"/>
              <a:t>12 integer programs written in C and C++. The suite contains over 3 million lines of</a:t>
            </a:r>
          </a:p>
          <a:p>
            <a:r>
              <a:rPr lang="en-US" sz="1300" dirty="0"/>
              <a:t>code. This is the fifth generation of processor-intensive suites from SPEC, replacing</a:t>
            </a:r>
          </a:p>
          <a:p>
            <a:r>
              <a:rPr lang="en-US" sz="1300" dirty="0"/>
              <a:t>SPEC CPU2000, SPEC CPU95, SPEC CPU92, and SPEC CPU89 [HENN07].</a:t>
            </a:r>
          </a:p>
          <a:p>
            <a:endParaRPr lang="en-US" sz="1300" dirty="0"/>
          </a:p>
          <a:p>
            <a:r>
              <a:rPr lang="en-US" sz="1300" dirty="0"/>
              <a:t>Other SPEC suites include the following:</a:t>
            </a:r>
          </a:p>
          <a:p>
            <a:endParaRPr lang="en-US" sz="1300" dirty="0"/>
          </a:p>
          <a:p>
            <a:r>
              <a:rPr lang="en-US" sz="1300" dirty="0"/>
              <a:t>• </a:t>
            </a:r>
            <a:r>
              <a:rPr lang="en-US" sz="1300" b="1" dirty="0"/>
              <a:t>SPECjvm98: </a:t>
            </a:r>
            <a:r>
              <a:rPr lang="en-US" sz="1300" dirty="0"/>
              <a:t>Intended to evaluate performance of the combined hardware</a:t>
            </a:r>
          </a:p>
          <a:p>
            <a:r>
              <a:rPr lang="en-US" sz="1300" dirty="0"/>
              <a:t>and software aspects of the Java Virtual Machine (JVM) client platform</a:t>
            </a:r>
          </a:p>
          <a:p>
            <a:endParaRPr lang="en-US" sz="1300" dirty="0"/>
          </a:p>
          <a:p>
            <a:r>
              <a:rPr lang="en-US" sz="1300" dirty="0"/>
              <a:t>• </a:t>
            </a:r>
            <a:r>
              <a:rPr lang="en-US" sz="1300" b="1" dirty="0"/>
              <a:t>SPECjbb2000 (Java Business Benchmark): </a:t>
            </a:r>
            <a:r>
              <a:rPr lang="en-US" sz="1300" dirty="0"/>
              <a:t>A benchmark for evaluating</a:t>
            </a:r>
          </a:p>
          <a:p>
            <a:r>
              <a:rPr lang="en-US" sz="1300" dirty="0"/>
              <a:t>server-side Java-based electronic commerce applications</a:t>
            </a:r>
          </a:p>
          <a:p>
            <a:endParaRPr lang="en-US" sz="1300" dirty="0"/>
          </a:p>
          <a:p>
            <a:r>
              <a:rPr lang="en-US" sz="1300" dirty="0"/>
              <a:t>• </a:t>
            </a:r>
            <a:r>
              <a:rPr lang="en-US" sz="1300" b="1" dirty="0"/>
              <a:t>SPECweb99: </a:t>
            </a:r>
            <a:r>
              <a:rPr lang="en-US" sz="1300" dirty="0"/>
              <a:t>Evaluates the performance of World Wide Web (WWW) servers</a:t>
            </a:r>
          </a:p>
          <a:p>
            <a:endParaRPr lang="en-US" sz="1300" dirty="0"/>
          </a:p>
          <a:p>
            <a:r>
              <a:rPr lang="en-US" sz="1300" dirty="0"/>
              <a:t>• </a:t>
            </a:r>
            <a:r>
              <a:rPr lang="en-US" sz="1300" b="1" dirty="0"/>
              <a:t>SPECmail2001: </a:t>
            </a:r>
            <a:r>
              <a:rPr lang="en-US" sz="1300" dirty="0"/>
              <a:t>Designed to measure a system’s performance acting as a mail</a:t>
            </a:r>
          </a:p>
          <a:p>
            <a:r>
              <a:rPr lang="en-US" sz="1300" dirty="0"/>
              <a:t>server</a:t>
            </a:r>
            <a:endParaRPr lang="en-US" b="0"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26</a:t>
            </a:fld>
            <a:endParaRPr lang="en-US" dirty="0"/>
          </a:p>
        </p:txBody>
      </p:sp>
      <p:sp>
        <p:nvSpPr>
          <p:cNvPr id="5" name="Footer Placeholder 4"/>
          <p:cNvSpPr>
            <a:spLocks noGrp="1"/>
          </p:cNvSpPr>
          <p:nvPr>
            <p:ph type="ftr" sz="quarter" idx="11"/>
          </p:nvPr>
        </p:nvSpPr>
        <p:spPr/>
        <p:txBody>
          <a:bodyPr/>
          <a:lstStyle/>
          <a:p>
            <a:r>
              <a:rPr lang="en-US" dirty="0"/>
              <a:t> </a:t>
            </a:r>
          </a:p>
        </p:txBody>
      </p:sp>
    </p:spTree>
    <p:extLst>
      <p:ext uri="{BB962C8B-B14F-4D97-AF65-F5344CB8AC3E}">
        <p14:creationId xmlns:p14="http://schemas.microsoft.com/office/powerpoint/2010/main" val="12598960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2.5</a:t>
            </a:r>
          </a:p>
          <a:p>
            <a:r>
              <a:rPr lang="en-US" dirty="0"/>
              <a:t>SPEC CPU2006 Integer</a:t>
            </a:r>
            <a:r>
              <a:rPr lang="en-US" baseline="0" dirty="0"/>
              <a:t> Benchmarks</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27</a:t>
            </a:fld>
            <a:endParaRPr lang="en-US" dirty="0"/>
          </a:p>
        </p:txBody>
      </p:sp>
      <p:sp>
        <p:nvSpPr>
          <p:cNvPr id="5" name="Footer Placeholder 4"/>
          <p:cNvSpPr>
            <a:spLocks noGrp="1"/>
          </p:cNvSpPr>
          <p:nvPr>
            <p:ph type="ftr" sz="quarter" idx="11"/>
          </p:nvPr>
        </p:nvSpPr>
        <p:spPr/>
        <p:txBody>
          <a:bodyPr/>
          <a:lstStyle/>
          <a:p>
            <a:r>
              <a:rPr lang="en-US" dirty="0"/>
              <a:t> </a:t>
            </a:r>
          </a:p>
        </p:txBody>
      </p:sp>
    </p:spTree>
    <p:extLst>
      <p:ext uri="{BB962C8B-B14F-4D97-AF65-F5344CB8AC3E}">
        <p14:creationId xmlns:p14="http://schemas.microsoft.com/office/powerpoint/2010/main" val="38137609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2.6</a:t>
            </a:r>
          </a:p>
          <a:p>
            <a:r>
              <a:rPr lang="en-US" dirty="0"/>
              <a:t>SPEC CPU2006 Floating-Point</a:t>
            </a:r>
            <a:r>
              <a:rPr lang="en-US" baseline="0" dirty="0"/>
              <a:t> Benchmarks</a:t>
            </a:r>
          </a:p>
          <a:p>
            <a:endParaRPr lang="en-US" baseline="0" dirty="0"/>
          </a:p>
          <a:p>
            <a:r>
              <a:rPr lang="en-US" sz="1300" dirty="0"/>
              <a:t> SPEC uses a historical Sun system, the “Ultra Enterprise 2,” which was introduced</a:t>
            </a:r>
          </a:p>
          <a:p>
            <a:r>
              <a:rPr lang="en-US" sz="1300" dirty="0"/>
              <a:t>in 1997, as the reference machine. The reference machine uses a 296-MHz</a:t>
            </a:r>
          </a:p>
          <a:p>
            <a:r>
              <a:rPr lang="en-US" sz="1300" dirty="0" err="1"/>
              <a:t>UltraSPARC</a:t>
            </a:r>
            <a:r>
              <a:rPr lang="en-US" sz="1300" dirty="0"/>
              <a:t> II processor. It takes about 12 days to do a rule-conforming run of</a:t>
            </a:r>
          </a:p>
          <a:p>
            <a:r>
              <a:rPr lang="en-US" sz="1300" dirty="0"/>
              <a:t>the base metrics for CINT2006 and CFP2006 on the CPU2006 reference machine.</a:t>
            </a:r>
          </a:p>
          <a:p>
            <a:r>
              <a:rPr lang="en-US" sz="1300" dirty="0"/>
              <a:t>Tables 2.5 and 2.6 show the amount of time to run each benchmark using the reference</a:t>
            </a:r>
          </a:p>
          <a:p>
            <a:r>
              <a:rPr lang="en-US" sz="1300" dirty="0"/>
              <a:t>machine. The tables also show the dynamic instruction counts on the reference</a:t>
            </a:r>
          </a:p>
          <a:p>
            <a:r>
              <a:rPr lang="en-US" sz="1300" dirty="0"/>
              <a:t>machine, as reported in [PHAN07]. These value are the actual number of instructions</a:t>
            </a:r>
          </a:p>
          <a:p>
            <a:r>
              <a:rPr lang="en-US" sz="1300" dirty="0"/>
              <a:t>executed during the run of each program.</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28</a:t>
            </a:fld>
            <a:endParaRPr lang="en-US" dirty="0"/>
          </a:p>
        </p:txBody>
      </p:sp>
      <p:sp>
        <p:nvSpPr>
          <p:cNvPr id="5" name="Footer Placeholder 4"/>
          <p:cNvSpPr>
            <a:spLocks noGrp="1"/>
          </p:cNvSpPr>
          <p:nvPr>
            <p:ph type="ftr" sz="quarter" idx="11"/>
          </p:nvPr>
        </p:nvSpPr>
        <p:spPr/>
        <p:txBody>
          <a:bodyPr/>
          <a:lstStyle/>
          <a:p>
            <a:r>
              <a:rPr lang="en-US" dirty="0"/>
              <a:t> </a:t>
            </a:r>
          </a:p>
        </p:txBody>
      </p:sp>
    </p:spTree>
    <p:extLst>
      <p:ext uri="{BB962C8B-B14F-4D97-AF65-F5344CB8AC3E}">
        <p14:creationId xmlns:p14="http://schemas.microsoft.com/office/powerpoint/2010/main" val="38137609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dirty="0"/>
              <a:t>To better understand results published of a system using CPU2006, we define</a:t>
            </a:r>
          </a:p>
          <a:p>
            <a:r>
              <a:rPr lang="en-US" sz="1300" dirty="0"/>
              <a:t>the following terms used in the SPEC documentation:</a:t>
            </a:r>
          </a:p>
          <a:p>
            <a:endParaRPr lang="en-US" sz="1300" b="1" dirty="0"/>
          </a:p>
          <a:p>
            <a:r>
              <a:rPr lang="en-US" sz="1300" b="1" dirty="0"/>
              <a:t>■ </a:t>
            </a:r>
            <a:r>
              <a:rPr lang="en-US" sz="1300" dirty="0"/>
              <a:t>Benchmark:  A program written in a high-level language that can be compiled</a:t>
            </a:r>
          </a:p>
          <a:p>
            <a:r>
              <a:rPr lang="en-US" sz="1300" dirty="0"/>
              <a:t>and executed on any computer that implements the compiler.</a:t>
            </a:r>
          </a:p>
          <a:p>
            <a:endParaRPr lang="en-US" sz="1300" b="1" dirty="0"/>
          </a:p>
          <a:p>
            <a:r>
              <a:rPr lang="en-US" sz="1300" b="1" dirty="0"/>
              <a:t>■ </a:t>
            </a:r>
            <a:r>
              <a:rPr lang="en-US" sz="1300" dirty="0"/>
              <a:t>System under test:  This is the system to be evaluated.</a:t>
            </a:r>
          </a:p>
          <a:p>
            <a:endParaRPr lang="en-US" sz="1300" b="1" dirty="0"/>
          </a:p>
          <a:p>
            <a:r>
              <a:rPr lang="en-US" sz="1300" b="1" dirty="0"/>
              <a:t>■ </a:t>
            </a:r>
            <a:r>
              <a:rPr lang="en-US" sz="1300" dirty="0"/>
              <a:t>Reference machine:  This is a system used by SPEC to establish a baseline performance</a:t>
            </a:r>
          </a:p>
          <a:p>
            <a:r>
              <a:rPr lang="en-US" sz="1300" dirty="0"/>
              <a:t>for all benchmarks. Each benchmark is run and measured on this</a:t>
            </a:r>
          </a:p>
          <a:p>
            <a:r>
              <a:rPr lang="en-US" sz="1300" dirty="0"/>
              <a:t>machine to establish a reference time for that benchmark. A system under test</a:t>
            </a:r>
          </a:p>
          <a:p>
            <a:r>
              <a:rPr lang="en-US" sz="1300" dirty="0"/>
              <a:t>is evaluated by running the CPU2006 benchmarks and comparing the results</a:t>
            </a:r>
          </a:p>
          <a:p>
            <a:r>
              <a:rPr lang="en-US" sz="1300" dirty="0"/>
              <a:t>for running the same programs on the reference machine.</a:t>
            </a:r>
          </a:p>
          <a:p>
            <a:endParaRPr lang="en-US" sz="1300" b="1" dirty="0"/>
          </a:p>
          <a:p>
            <a:r>
              <a:rPr lang="en-US" sz="1300" b="1" dirty="0"/>
              <a:t>■ </a:t>
            </a:r>
            <a:r>
              <a:rPr lang="en-US" sz="1300" dirty="0"/>
              <a:t>Base metric:  These are required for all reported results and have strict guidelines</a:t>
            </a:r>
          </a:p>
          <a:p>
            <a:r>
              <a:rPr lang="en-US" sz="1300" dirty="0"/>
              <a:t>for compilation. In essence, the standard compiler with more or less</a:t>
            </a:r>
          </a:p>
          <a:p>
            <a:r>
              <a:rPr lang="en-US" sz="1300" dirty="0"/>
              <a:t>default settings should be used on each system under test to achieve comparable</a:t>
            </a:r>
          </a:p>
          <a:p>
            <a:r>
              <a:rPr lang="en-US" sz="1300" dirty="0"/>
              <a:t>results.</a:t>
            </a:r>
          </a:p>
          <a:p>
            <a:endParaRPr lang="en-US" sz="1300" b="1" dirty="0"/>
          </a:p>
          <a:p>
            <a:r>
              <a:rPr lang="en-US" sz="1300" b="1" dirty="0"/>
              <a:t>■ </a:t>
            </a:r>
            <a:r>
              <a:rPr lang="en-US" sz="1300" dirty="0"/>
              <a:t>Peak metric:  This enables users to attempt to optimize system performance by</a:t>
            </a:r>
          </a:p>
          <a:p>
            <a:r>
              <a:rPr lang="en-US" sz="1300" dirty="0"/>
              <a:t>optimizing the compiler output. For example, different compiler options may</a:t>
            </a:r>
          </a:p>
          <a:p>
            <a:r>
              <a:rPr lang="en-US" sz="1300" dirty="0"/>
              <a:t>be used on each benchmark, and feedback-directed optimization is allowed.</a:t>
            </a:r>
          </a:p>
          <a:p>
            <a:endParaRPr lang="en-US" sz="1300" b="1" dirty="0"/>
          </a:p>
          <a:p>
            <a:r>
              <a:rPr lang="en-US" sz="1300" b="1" dirty="0"/>
              <a:t>■ </a:t>
            </a:r>
            <a:r>
              <a:rPr lang="en-US" sz="1300" dirty="0"/>
              <a:t>Speed metric:  This is simply a measurement of the time it takes to execute a</a:t>
            </a:r>
          </a:p>
          <a:p>
            <a:r>
              <a:rPr lang="en-US" sz="1300" dirty="0"/>
              <a:t>compiled benchmark. The speed metric is used for comparing the ability of a</a:t>
            </a:r>
          </a:p>
          <a:p>
            <a:r>
              <a:rPr lang="en-US" sz="1300" dirty="0"/>
              <a:t>computer to complete single tasks.</a:t>
            </a:r>
          </a:p>
          <a:p>
            <a:endParaRPr lang="en-US" sz="1300" b="1" dirty="0"/>
          </a:p>
          <a:p>
            <a:r>
              <a:rPr lang="en-US" sz="1300" b="1" dirty="0"/>
              <a:t>■ </a:t>
            </a:r>
            <a:r>
              <a:rPr lang="en-US" sz="1300" dirty="0"/>
              <a:t>Rate metric:  This is a measurement of how many tasks a computer can accomplish</a:t>
            </a:r>
          </a:p>
          <a:p>
            <a:r>
              <a:rPr lang="en-US" sz="1300" dirty="0"/>
              <a:t>in a certain amount of time; this is called a throughput , capacity, or rate</a:t>
            </a:r>
          </a:p>
          <a:p>
            <a:r>
              <a:rPr lang="en-US" sz="1300" dirty="0"/>
              <a:t>measure. The rate metric allows the system under test to execute simultaneous</a:t>
            </a:r>
          </a:p>
          <a:p>
            <a:r>
              <a:rPr lang="en-US" sz="1300" dirty="0"/>
              <a:t>tasks to take advantage of multiple processors.</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29</a:t>
            </a:fld>
            <a:endParaRPr lang="en-US" dirty="0"/>
          </a:p>
        </p:txBody>
      </p:sp>
      <p:sp>
        <p:nvSpPr>
          <p:cNvPr id="5" name="Footer Placeholder 4"/>
          <p:cNvSpPr>
            <a:spLocks noGrp="1"/>
          </p:cNvSpPr>
          <p:nvPr>
            <p:ph type="ftr" sz="quarter" idx="11"/>
          </p:nvPr>
        </p:nvSpPr>
        <p:spPr/>
        <p:txBody>
          <a:bodyPr/>
          <a:lstStyle/>
          <a:p>
            <a:r>
              <a:rPr lang="en-US" dirty="0"/>
              <a:t> </a:t>
            </a:r>
          </a:p>
        </p:txBody>
      </p:sp>
    </p:spTree>
    <p:extLst>
      <p:ext uri="{BB962C8B-B14F-4D97-AF65-F5344CB8AC3E}">
        <p14:creationId xmlns:p14="http://schemas.microsoft.com/office/powerpoint/2010/main" val="2561742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dirty="0"/>
              <a:t> We now consider the specific calculations that are done to assess a system. We</a:t>
            </a:r>
          </a:p>
          <a:p>
            <a:r>
              <a:rPr lang="en-US" sz="1300" dirty="0"/>
              <a:t>consider the integer benchmarks; the same procedures are used to create a floating-point</a:t>
            </a:r>
          </a:p>
          <a:p>
            <a:r>
              <a:rPr lang="en-US" sz="1300" dirty="0"/>
              <a:t>benchmark value. For the integer benchmarks, there are 12 programs in the</a:t>
            </a:r>
          </a:p>
          <a:p>
            <a:r>
              <a:rPr lang="en-US" sz="1300" dirty="0"/>
              <a:t>test suite. Calculation is a three-step process (Figure 2.7):</a:t>
            </a:r>
          </a:p>
          <a:p>
            <a:endParaRPr lang="en-US" sz="1300"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30</a:t>
            </a:fld>
            <a:endParaRPr lang="en-US" dirty="0"/>
          </a:p>
        </p:txBody>
      </p:sp>
      <p:sp>
        <p:nvSpPr>
          <p:cNvPr id="5" name="Footer Placeholder 4"/>
          <p:cNvSpPr>
            <a:spLocks noGrp="1"/>
          </p:cNvSpPr>
          <p:nvPr>
            <p:ph type="ftr" sz="quarter" idx="11"/>
          </p:nvPr>
        </p:nvSpPr>
        <p:spPr/>
        <p:txBody>
          <a:bodyPr/>
          <a:lstStyle/>
          <a:p>
            <a:r>
              <a:rPr lang="en-US" dirty="0"/>
              <a:t> </a:t>
            </a:r>
          </a:p>
        </p:txBody>
      </p:sp>
    </p:spTree>
    <p:extLst>
      <p:ext uri="{BB962C8B-B14F-4D97-AF65-F5344CB8AC3E}">
        <p14:creationId xmlns:p14="http://schemas.microsoft.com/office/powerpoint/2010/main" val="6736274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dirty="0"/>
              <a:t>The results for the Sun Blade 1000 are shown in Table 2.7a. One of the</a:t>
            </a:r>
          </a:p>
          <a:p>
            <a:r>
              <a:rPr lang="en-US" sz="1300" dirty="0"/>
              <a:t>SPEC CPU2006 integer benchmark is 464.h264ref. This is a reference implementation</a:t>
            </a:r>
          </a:p>
          <a:p>
            <a:r>
              <a:rPr lang="en-US" sz="1300" dirty="0"/>
              <a:t>of H.264/AVC (Advanced Video Coding), the latest state-of-the-art video compression standard.</a:t>
            </a:r>
          </a:p>
          <a:p>
            <a:r>
              <a:rPr lang="en-US" sz="1300" dirty="0"/>
              <a:t>The Sun Blade 1000 executes this program in a median time of 5259 seconds. The reference</a:t>
            </a:r>
          </a:p>
          <a:p>
            <a:r>
              <a:rPr lang="en-US" sz="1300" dirty="0"/>
              <a:t>implementation requires 22,130 seconds. The ratio is calculated as: 22,130/5,259 = 4.21.</a:t>
            </a:r>
          </a:p>
          <a:p>
            <a:r>
              <a:rPr lang="en-US" sz="1300" dirty="0"/>
              <a:t>The speed metric is calculated by taking the twelfth root of the product of the ratios:</a:t>
            </a:r>
          </a:p>
          <a:p>
            <a:r>
              <a:rPr lang="en-US" sz="1300" dirty="0"/>
              <a:t>(3.18 * 2.96 * 2.98 * 3.91 * 3.17 * 3.61 * 3.51 * 2.01 *</a:t>
            </a:r>
          </a:p>
          <a:p>
            <a:r>
              <a:rPr lang="en-US" sz="1300" dirty="0"/>
              <a:t>4.21 * 2.43 * 2.75 * 3.42)</a:t>
            </a:r>
            <a:r>
              <a:rPr lang="en-US" sz="1300" baseline="30000" dirty="0"/>
              <a:t>1/12 </a:t>
            </a:r>
            <a:r>
              <a:rPr lang="en-US" sz="1300" dirty="0"/>
              <a:t>= 3.12</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31</a:t>
            </a:fld>
            <a:endParaRPr lang="en-US" dirty="0"/>
          </a:p>
        </p:txBody>
      </p:sp>
      <p:sp>
        <p:nvSpPr>
          <p:cNvPr id="5" name="Footer Placeholder 4"/>
          <p:cNvSpPr>
            <a:spLocks noGrp="1"/>
          </p:cNvSpPr>
          <p:nvPr>
            <p:ph type="ftr" sz="quarter" idx="11"/>
          </p:nvPr>
        </p:nvSpPr>
        <p:spPr/>
        <p:txBody>
          <a:bodyPr/>
          <a:lstStyle/>
          <a:p>
            <a:r>
              <a:rPr lang="en-US" dirty="0"/>
              <a:t> </a:t>
            </a:r>
          </a:p>
        </p:txBody>
      </p:sp>
    </p:spTree>
    <p:extLst>
      <p:ext uri="{BB962C8B-B14F-4D97-AF65-F5344CB8AC3E}">
        <p14:creationId xmlns:p14="http://schemas.microsoft.com/office/powerpoint/2010/main" val="19167390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dirty="0"/>
              <a:t>The results for the Sun Blade X6250 are shown in Table 2.7b. This system</a:t>
            </a:r>
          </a:p>
          <a:p>
            <a:r>
              <a:rPr lang="en-US" sz="1300" dirty="0"/>
              <a:t>has two processor chips, with two cores per chip, for a total of four cores. To get the</a:t>
            </a:r>
          </a:p>
          <a:p>
            <a:r>
              <a:rPr lang="en-US" sz="1300" dirty="0"/>
              <a:t>rate metric, each benchmark program is executed simultaneously on all four cores, with</a:t>
            </a:r>
          </a:p>
          <a:p>
            <a:r>
              <a:rPr lang="en-US" sz="1300" dirty="0"/>
              <a:t>the execution time being the time from the start of all four copies to the end of the slowest</a:t>
            </a:r>
          </a:p>
          <a:p>
            <a:r>
              <a:rPr lang="en-US" sz="1300" dirty="0"/>
              <a:t>run. The speed ratio is calculated as before, and the rate value is simply four times the</a:t>
            </a:r>
          </a:p>
          <a:p>
            <a:r>
              <a:rPr lang="en-US" sz="1300" dirty="0"/>
              <a:t>speed ratio. The final rate metric is found by taking the geometric mean of the rate values:</a:t>
            </a:r>
          </a:p>
          <a:p>
            <a:r>
              <a:rPr lang="en-US" sz="1300" dirty="0"/>
              <a:t>(78.63 * 62.97 * 60.87 * 77.29 * 65.87 * 83.68 * 76.70 * 134.98 *</a:t>
            </a:r>
          </a:p>
          <a:p>
            <a:r>
              <a:rPr lang="en-US" sz="1300" dirty="0"/>
              <a:t>106.65 * 40.39 * 48.41 * 65.40)</a:t>
            </a:r>
            <a:r>
              <a:rPr lang="en-US" sz="1300" baseline="30000" dirty="0"/>
              <a:t>1/12 </a:t>
            </a:r>
            <a:r>
              <a:rPr lang="en-US" sz="1300" dirty="0"/>
              <a:t>= 71.59</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32</a:t>
            </a:fld>
            <a:endParaRPr lang="en-US" dirty="0"/>
          </a:p>
        </p:txBody>
      </p:sp>
      <p:sp>
        <p:nvSpPr>
          <p:cNvPr id="5" name="Footer Placeholder 4"/>
          <p:cNvSpPr>
            <a:spLocks noGrp="1"/>
          </p:cNvSpPr>
          <p:nvPr>
            <p:ph type="ftr" sz="quarter" idx="11"/>
          </p:nvPr>
        </p:nvSpPr>
        <p:spPr/>
        <p:txBody>
          <a:bodyPr/>
          <a:lstStyle/>
          <a:p>
            <a:r>
              <a:rPr lang="en-US" dirty="0"/>
              <a:t> </a:t>
            </a:r>
          </a:p>
        </p:txBody>
      </p:sp>
    </p:spTree>
    <p:extLst>
      <p:ext uri="{BB962C8B-B14F-4D97-AF65-F5344CB8AC3E}">
        <p14:creationId xmlns:p14="http://schemas.microsoft.com/office/powerpoint/2010/main" val="337452982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2598D2-2ED8-8547-B4B7-C382E9B8AC9E}" type="slidenum">
              <a:rPr lang="en-US"/>
              <a:pPr/>
              <a:t>33</a:t>
            </a:fld>
            <a:endParaRPr lang="en-US" dirty="0"/>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r>
              <a:rPr lang="en-GB" dirty="0"/>
              <a:t>Chapter 2 summary.</a:t>
            </a:r>
          </a:p>
        </p:txBody>
      </p:sp>
      <p:sp>
        <p:nvSpPr>
          <p:cNvPr id="2" name="Footer Placeholder 1"/>
          <p:cNvSpPr>
            <a:spLocks noGrp="1"/>
          </p:cNvSpPr>
          <p:nvPr>
            <p:ph type="ftr" sz="quarter" idx="10"/>
          </p:nvPr>
        </p:nvSpPr>
        <p:spPr/>
        <p:txBody>
          <a:bodyPr/>
          <a:lstStyle/>
          <a:p>
            <a:r>
              <a:rPr lang="en-US" dirty="0"/>
              <a:t> </a:t>
            </a:r>
          </a:p>
        </p:txBody>
      </p:sp>
    </p:spTree>
    <p:extLst>
      <p:ext uri="{BB962C8B-B14F-4D97-AF65-F5344CB8AC3E}">
        <p14:creationId xmlns:p14="http://schemas.microsoft.com/office/powerpoint/2010/main" val="1506492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endParaRPr lang="en-GB" dirty="0"/>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r>
              <a:rPr lang="en-GB" dirty="0"/>
              <a:t> </a:t>
            </a:r>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1" name="Rectangle 10"/>
          <p:cNvSpPr/>
          <p:nvPr/>
        </p:nvSpPr>
        <p:spPr>
          <a:xfrm>
            <a:off x="4624388" y="228600"/>
            <a:ext cx="2057400" cy="203911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6802438" y="2377440"/>
            <a:ext cx="2057400" cy="2039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r>
              <a:rPr lang="en-US" dirty="0"/>
              <a:t> </a:t>
            </a:r>
            <a:endParaRPr dirty="0"/>
          </a:p>
        </p:txBody>
      </p:sp>
      <p:sp>
        <p:nvSpPr>
          <p:cNvPr id="6" name="Slide Number Placeholder 5"/>
          <p:cNvSpPr>
            <a:spLocks noGrp="1"/>
          </p:cNvSpPr>
          <p:nvPr>
            <p:ph type="sldNum" sz="quarter" idx="12"/>
          </p:nvPr>
        </p:nvSpPr>
        <p:spPr/>
        <p:txBody>
          <a:bodyPr/>
          <a:lstStyle>
            <a:lvl1pPr>
              <a:defRPr b="1">
                <a:solidFill>
                  <a:schemeClr val="tx1"/>
                </a:solidFill>
              </a:defRPr>
            </a:lvl1pPr>
          </a:lstStyle>
          <a:p>
            <a:fld id="{8AF02B71-8991-4516-A01E-F1A9ACD28BDC}" type="slidenum">
              <a:rPr lang="en-US" altLang="ko-KR" smtClean="0"/>
              <a:pPr/>
              <a:t>‹#›</a:t>
            </a:fld>
            <a:endParaRPr lang="en-US" altLang="ko-K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Alt.">
    <p:spTree>
      <p:nvGrpSpPr>
        <p:cNvPr id="1" name=""/>
        <p:cNvGrpSpPr/>
        <p:nvPr/>
      </p:nvGrpSpPr>
      <p:grpSpPr>
        <a:xfrm>
          <a:off x="0" y="0"/>
          <a:ext cx="0" cy="0"/>
          <a:chOff x="0" y="0"/>
          <a:chExt cx="0" cy="0"/>
        </a:xfrm>
      </p:grpSpPr>
      <p:sp>
        <p:nvSpPr>
          <p:cNvPr id="2" name="Title 1"/>
          <p:cNvSpPr>
            <a:spLocks noGrp="1"/>
          </p:cNvSpPr>
          <p:nvPr>
            <p:ph type="title"/>
          </p:nvPr>
        </p:nvSpPr>
        <p:spPr>
          <a:xfrm>
            <a:off x="498474" y="134471"/>
            <a:ext cx="7556313" cy="995082"/>
          </a:xfrm>
        </p:spPr>
        <p:txBody>
          <a:bodyPr anchor="b" anchorCtr="0"/>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r>
              <a:rPr lang="en-US" dirty="0"/>
              <a:t> </a:t>
            </a:r>
            <a:endParaRPr dirty="0"/>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Text Placeholder 3"/>
          <p:cNvSpPr>
            <a:spLocks noGrp="1"/>
          </p:cNvSpPr>
          <p:nvPr>
            <p:ph type="body" sz="half" idx="2"/>
          </p:nvPr>
        </p:nvSpPr>
        <p:spPr>
          <a:xfrm>
            <a:off x="498518" y="1129553"/>
            <a:ext cx="7558960" cy="774700"/>
          </a:xfrm>
        </p:spPr>
        <p:txBody>
          <a:bodyPr vert="horz" lIns="91440" tIns="45720" rIns="91440" bIns="45720" rtlCol="0" anchor="t" anchorCtr="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2 Pictures">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endParaRPr/>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r>
              <a:rPr lang="en-US" dirty="0"/>
              <a:t> </a:t>
            </a:r>
            <a:endParaRPr dirty="0"/>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Picture Placeholder 12"/>
          <p:cNvSpPr>
            <a:spLocks noGrp="1"/>
          </p:cNvSpPr>
          <p:nvPr>
            <p:ph type="pic" sz="quarter" idx="12"/>
          </p:nvPr>
        </p:nvSpPr>
        <p:spPr>
          <a:xfrm>
            <a:off x="4624388" y="228600"/>
            <a:ext cx="2057400" cy="2039112"/>
          </a:xfrm>
        </p:spPr>
        <p:txBody>
          <a:bodyPr/>
          <a:lstStyle>
            <a:lvl1pPr>
              <a:buNone/>
              <a:defRPr/>
            </a:lvl1pPr>
          </a:lstStyle>
          <a:p>
            <a:r>
              <a:rPr lang="en-US" dirty="0"/>
              <a:t>Click icon to add picture</a:t>
            </a:r>
            <a:endParaRPr dirty="0"/>
          </a:p>
        </p:txBody>
      </p:sp>
      <p:sp>
        <p:nvSpPr>
          <p:cNvPr id="14" name="Picture Placeholder 12"/>
          <p:cNvSpPr>
            <a:spLocks noGrp="1"/>
          </p:cNvSpPr>
          <p:nvPr>
            <p:ph type="pic" sz="quarter" idx="13"/>
          </p:nvPr>
        </p:nvSpPr>
        <p:spPr>
          <a:xfrm>
            <a:off x="6802438" y="2377440"/>
            <a:ext cx="2057400" cy="2039112"/>
          </a:xfrm>
        </p:spPr>
        <p:txBody>
          <a:bodyPr/>
          <a:lstStyle>
            <a:lvl1pPr>
              <a:buNone/>
              <a:defRPr/>
            </a:lvl1pPr>
          </a:lstStyle>
          <a:p>
            <a:r>
              <a:rPr lang="en-US" dirty="0"/>
              <a:t>Click icon to add picture</a:t>
            </a:r>
            <a:endParaRPr dirty="0"/>
          </a:p>
        </p:txBody>
      </p:sp>
      <p:sp>
        <p:nvSpPr>
          <p:cNvPr id="16" name="Text Placeholder 3"/>
          <p:cNvSpPr>
            <a:spLocks noGrp="1"/>
          </p:cNvSpPr>
          <p:nvPr>
            <p:ph type="body" sz="half" idx="2"/>
          </p:nvPr>
        </p:nvSpPr>
        <p:spPr>
          <a:xfrm>
            <a:off x="857250" y="1779494"/>
            <a:ext cx="3086100" cy="2040905"/>
          </a:xfrm>
        </p:spPr>
        <p:txBody>
          <a:bodyPr lIns="45720" tIns="45720" rIns="45720" anchor="t">
            <a:noAutofit/>
          </a:bodyPr>
          <a:lstStyle>
            <a:lvl1pPr marL="0" indent="0" algn="ctr">
              <a:buNone/>
              <a:defRPr sz="4600">
                <a:solidFill>
                  <a:schemeClr val="bg1"/>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86000" y="3124200"/>
            <a:ext cx="5638800" cy="1362075"/>
          </a:xfrm>
        </p:spPr>
        <p:txBody>
          <a:bodyPr anchor="b" anchorCtr="0">
            <a:normAutofit/>
          </a:bodyPr>
          <a:lstStyle>
            <a:lvl1pPr algn="l">
              <a:defRPr sz="3200" b="0" cap="none"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2286000" y="4495800"/>
            <a:ext cx="5638800" cy="1500187"/>
          </a:xfrm>
        </p:spPr>
        <p:txBody>
          <a:bodyPr anchor="t" anchorCtr="0">
            <a:normAutofit/>
          </a:bodyPr>
          <a:lstStyle>
            <a:lvl1pPr marL="0" indent="0">
              <a:spcBef>
                <a:spcPts val="300"/>
              </a:spcBef>
              <a:buNone/>
              <a:defRPr sz="1400" cap="none" baseline="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58906" y="6248774"/>
            <a:ext cx="1474694" cy="365125"/>
          </a:xfrm>
        </p:spPr>
        <p:txBody>
          <a:bodyPr/>
          <a:lstStyle>
            <a:lvl1pPr algn="l">
              <a:defRPr>
                <a:solidFill>
                  <a:schemeClr val="bg1"/>
                </a:solidFill>
              </a:defRPr>
            </a:lvl1pPr>
          </a:lstStyle>
          <a:p>
            <a:endParaRPr/>
          </a:p>
        </p:txBody>
      </p:sp>
      <p:sp>
        <p:nvSpPr>
          <p:cNvPr id="5" name="Footer Placeholder 4"/>
          <p:cNvSpPr>
            <a:spLocks noGrp="1"/>
          </p:cNvSpPr>
          <p:nvPr>
            <p:ph type="ftr" sz="quarter" idx="11"/>
          </p:nvPr>
        </p:nvSpPr>
        <p:spPr>
          <a:xfrm>
            <a:off x="2286000" y="6248774"/>
            <a:ext cx="5638800" cy="365125"/>
          </a:xfrm>
        </p:spPr>
        <p:txBody>
          <a:bodyPr/>
          <a:lstStyle>
            <a:lvl1pPr>
              <a:defRPr>
                <a:solidFill>
                  <a:schemeClr val="bg1"/>
                </a:solidFill>
              </a:defRPr>
            </a:lvl1pPr>
          </a:lstStyle>
          <a:p>
            <a:r>
              <a:rPr lang="en-US" dirty="0"/>
              <a:t> </a:t>
            </a:r>
            <a:endParaRPr dirty="0"/>
          </a:p>
        </p:txBody>
      </p:sp>
      <p:sp>
        <p:nvSpPr>
          <p:cNvPr id="6" name="Slide Number Placeholder 5"/>
          <p:cNvSpPr>
            <a:spLocks noGrp="1"/>
          </p:cNvSpPr>
          <p:nvPr>
            <p:ph type="sldNum" sz="quarter" idx="12"/>
          </p:nvPr>
        </p:nvSpPr>
        <p:spPr>
          <a:xfrm>
            <a:off x="8305800" y="6248774"/>
            <a:ext cx="554038" cy="365125"/>
          </a:xfrm>
        </p:spPr>
        <p:txBody>
          <a:bodyPr/>
          <a:lstStyle/>
          <a:p>
            <a:fld id="{8AF02B71-8991-4516-A01E-F1A9ACD28BDC}" type="slidenum">
              <a:rPr/>
              <a:pPr/>
              <a:t>‹#›</a:t>
            </a:fld>
            <a:endParaRPr/>
          </a:p>
        </p:txBody>
      </p:sp>
      <p:sp>
        <p:nvSpPr>
          <p:cNvPr id="8" name="TextBox 7"/>
          <p:cNvSpPr txBox="1"/>
          <p:nvPr/>
        </p:nvSpPr>
        <p:spPr>
          <a:xfrm>
            <a:off x="2003612" y="3110754"/>
            <a:ext cx="260909" cy="615553"/>
          </a:xfrm>
          <a:prstGeom prst="rect">
            <a:avLst/>
          </a:prstGeom>
          <a:noFill/>
        </p:spPr>
        <p:txBody>
          <a:bodyPr wrap="square" lIns="0" tIns="0" rIns="0" bIns="0" rtlCol="0">
            <a:spAutoFit/>
          </a:bodyPr>
          <a:lstStyle/>
          <a:p>
            <a:r>
              <a:rPr sz="4000" b="1">
                <a:solidFill>
                  <a:schemeClr val="accent1">
                    <a:lumMod val="60000"/>
                    <a:lumOff val="40000"/>
                  </a:schemeClr>
                </a:solidFill>
              </a:rPr>
              <a:t>+</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39987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dirty="0"/>
              <a:t> </a:t>
            </a:r>
            <a:endParaRPr dirty="0"/>
          </a:p>
        </p:txBody>
      </p:sp>
      <p:sp>
        <p:nvSpPr>
          <p:cNvPr id="7" name="Slide Number Placeholder 6"/>
          <p:cNvSpPr>
            <a:spLocks noGrp="1"/>
          </p:cNvSpPr>
          <p:nvPr>
            <p:ph type="sldNum" sz="quarter" idx="12"/>
          </p:nvPr>
        </p:nvSpPr>
        <p:spPr/>
        <p:txBody>
          <a:bodyPr/>
          <a:lstStyle>
            <a:lvl1pPr>
              <a:defRPr b="1">
                <a:solidFill>
                  <a:schemeClr val="tx1"/>
                </a:solidFill>
              </a:defRPr>
            </a:lvl1pPr>
          </a:lstStyle>
          <a:p>
            <a:fld id="{8AF02B71-8991-4516-A01E-F1A9ACD28BDC}" type="slidenum">
              <a:rPr lang="en-US" altLang="ko-KR" smtClean="0"/>
              <a:pPr/>
              <a:t>‹#›</a:t>
            </a:fld>
            <a:endParaRPr lang="en-US" altLang="ko-K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extBox 11"/>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4" name="Content Placeholder 3"/>
          <p:cNvSpPr>
            <a:spLocks noGrp="1"/>
          </p:cNvSpPr>
          <p:nvPr>
            <p:ph sz="half" idx="2"/>
          </p:nvPr>
        </p:nvSpPr>
        <p:spPr>
          <a:xfrm>
            <a:off x="497541"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Content Placeholder 5"/>
          <p:cNvSpPr>
            <a:spLocks noGrp="1"/>
          </p:cNvSpPr>
          <p:nvPr>
            <p:ph sz="quarter" idx="4"/>
          </p:nvPr>
        </p:nvSpPr>
        <p:spPr>
          <a:xfrm>
            <a:off x="4399878"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endParaRPr/>
          </a:p>
        </p:txBody>
      </p:sp>
      <p:sp>
        <p:nvSpPr>
          <p:cNvPr id="8" name="Footer Placeholder 7"/>
          <p:cNvSpPr>
            <a:spLocks noGrp="1"/>
          </p:cNvSpPr>
          <p:nvPr>
            <p:ph type="ftr" sz="quarter" idx="11"/>
          </p:nvPr>
        </p:nvSpPr>
        <p:spPr/>
        <p:txBody>
          <a:bodyPr/>
          <a:lstStyle/>
          <a:p>
            <a:r>
              <a:rPr lang="en-US" dirty="0"/>
              <a:t> </a:t>
            </a:r>
            <a:endParaRPr dirty="0"/>
          </a:p>
        </p:txBody>
      </p:sp>
      <p:sp>
        <p:nvSpPr>
          <p:cNvPr id="9" name="Slide Number Placeholder 8"/>
          <p:cNvSpPr>
            <a:spLocks noGrp="1"/>
          </p:cNvSpPr>
          <p:nvPr>
            <p:ph type="sldNum" sz="quarter" idx="12"/>
          </p:nvPr>
        </p:nvSpPr>
        <p:spPr/>
        <p:txBody>
          <a:bodyPr/>
          <a:lstStyle>
            <a:lvl1pPr>
              <a:defRPr b="1">
                <a:solidFill>
                  <a:schemeClr val="tx1"/>
                </a:solidFill>
              </a:defRPr>
            </a:lvl1pPr>
          </a:lstStyle>
          <a:p>
            <a:fld id="{8AF02B71-8991-4516-A01E-F1A9ACD28BDC}" type="slidenum">
              <a:rPr lang="en-US" altLang="ko-KR" smtClean="0"/>
              <a:pPr/>
              <a:t>‹#›</a:t>
            </a:fld>
            <a:endParaRPr lang="ko-KR" altLang="en-US" dirty="0"/>
          </a:p>
        </p:txBody>
      </p:sp>
      <p:sp>
        <p:nvSpPr>
          <p:cNvPr id="3" name="Text Placeholder 2"/>
          <p:cNvSpPr>
            <a:spLocks noGrp="1"/>
          </p:cNvSpPr>
          <p:nvPr>
            <p:ph type="body" idx="1"/>
          </p:nvPr>
        </p:nvSpPr>
        <p:spPr>
          <a:xfrm>
            <a:off x="497541" y="2070847"/>
            <a:ext cx="3657600"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399878" y="2070847"/>
            <a:ext cx="3657600" cy="322729"/>
          </a:xfrm>
          <a:prstGeom prst="rect">
            <a:avLst/>
          </a:prstGeom>
          <a:solidFill>
            <a:schemeClr val="accent3">
              <a:lumMod val="60000"/>
              <a:lumOff val="40000"/>
            </a:schemeClr>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98517" y="1985963"/>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dirty="0"/>
              <a:t> </a:t>
            </a:r>
            <a:endParaRPr dirty="0"/>
          </a:p>
        </p:txBody>
      </p:sp>
      <p:sp>
        <p:nvSpPr>
          <p:cNvPr id="13" name="Content Placeholder 2"/>
          <p:cNvSpPr>
            <a:spLocks noGrp="1"/>
          </p:cNvSpPr>
          <p:nvPr>
            <p:ph sz="half" idx="14"/>
          </p:nvPr>
        </p:nvSpPr>
        <p:spPr>
          <a:xfrm>
            <a:off x="498517" y="4164965"/>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5" name="Slide Number Placeholder 6"/>
          <p:cNvSpPr>
            <a:spLocks noGrp="1"/>
          </p:cNvSpPr>
          <p:nvPr>
            <p:ph type="sldNum" sz="quarter" idx="12"/>
          </p:nvPr>
        </p:nvSpPr>
        <p:spPr>
          <a:xfrm>
            <a:off x="8305800" y="242234"/>
            <a:ext cx="554038" cy="365125"/>
          </a:xfrm>
        </p:spPr>
        <p:txBody>
          <a:bodyPr/>
          <a:lstStyle/>
          <a:p>
            <a:fld id="{8AF02B71-8991-4516-A01E-F1A9ACD28BDC}" type="slidenum">
              <a:rPr/>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dirty="0"/>
              <a:t> </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1" name="Content Placeholder 2"/>
          <p:cNvSpPr>
            <a:spLocks noGrp="1"/>
          </p:cNvSpPr>
          <p:nvPr>
            <p:ph sz="half" idx="15"/>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3"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dirty="0"/>
              <a:t> </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2" name="Content Placeholder 2"/>
          <p:cNvSpPr>
            <a:spLocks noGrp="1"/>
          </p:cNvSpPr>
          <p:nvPr>
            <p:ph sz="half" idx="17"/>
          </p:nvPr>
        </p:nvSpPr>
        <p:spPr>
          <a:xfrm>
            <a:off x="502920" y="1985963"/>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Content Placeholder 2"/>
          <p:cNvSpPr>
            <a:spLocks noGrp="1"/>
          </p:cNvSpPr>
          <p:nvPr>
            <p:ph sz="half" idx="18"/>
          </p:nvPr>
        </p:nvSpPr>
        <p:spPr>
          <a:xfrm>
            <a:off x="502920" y="4164965"/>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5"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6"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8" name="TextBox 7"/>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endParaRPr/>
          </a:p>
        </p:txBody>
      </p:sp>
      <p:sp>
        <p:nvSpPr>
          <p:cNvPr id="4" name="Footer Placeholder 3"/>
          <p:cNvSpPr>
            <a:spLocks noGrp="1"/>
          </p:cNvSpPr>
          <p:nvPr>
            <p:ph type="ftr" sz="quarter" idx="11"/>
          </p:nvPr>
        </p:nvSpPr>
        <p:spPr/>
        <p:txBody>
          <a:bodyPr/>
          <a:lstStyle/>
          <a:p>
            <a:r>
              <a:rPr lang="en-US" dirty="0"/>
              <a:t> </a:t>
            </a:r>
            <a:endParaRPr dirty="0"/>
          </a:p>
        </p:txBody>
      </p:sp>
      <p:sp>
        <p:nvSpPr>
          <p:cNvPr id="5" name="Slide Number Placeholder 4"/>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a:p>
        </p:txBody>
      </p:sp>
      <p:sp>
        <p:nvSpPr>
          <p:cNvPr id="3" name="Footer Placeholder 2"/>
          <p:cNvSpPr>
            <a:spLocks noGrp="1"/>
          </p:cNvSpPr>
          <p:nvPr>
            <p:ph type="ftr" sz="quarter" idx="11"/>
          </p:nvPr>
        </p:nvSpPr>
        <p:spPr/>
        <p:txBody>
          <a:bodyPr/>
          <a:lstStyle/>
          <a:p>
            <a:r>
              <a:rPr lang="en-US" dirty="0"/>
              <a:t> </a:t>
            </a:r>
            <a:endParaRPr dirty="0"/>
          </a:p>
        </p:txBody>
      </p:sp>
      <p:sp>
        <p:nvSpPr>
          <p:cNvPr id="4" name="Slide Number Placeholder 3"/>
          <p:cNvSpPr>
            <a:spLocks noGrp="1"/>
          </p:cNvSpPr>
          <p:nvPr>
            <p:ph type="sldNum" sz="quarter" idx="12"/>
          </p:nvPr>
        </p:nvSpPr>
        <p:spPr/>
        <p:txBody>
          <a:bodyPr/>
          <a:lstStyle>
            <a:lvl1pPr>
              <a:defRPr b="1">
                <a:solidFill>
                  <a:schemeClr val="tx1"/>
                </a:solidFill>
              </a:defRPr>
            </a:lvl1pPr>
          </a:lstStyle>
          <a:p>
            <a:fld id="{8AF02B71-8991-4516-A01E-F1A9ACD28BDC}" type="slidenum">
              <a:rPr lang="en-US" altLang="ko-KR" smtClean="0"/>
              <a:pPr/>
              <a:t>‹#›</a:t>
            </a:fld>
            <a:endParaRPr lang="en-US" altLang="ko-K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282575" y="228600"/>
            <a:ext cx="3451225"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5" y="2571750"/>
            <a:ext cx="3255264"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3" name="Content Placeholder 2"/>
          <p:cNvSpPr>
            <a:spLocks noGrp="1"/>
          </p:cNvSpPr>
          <p:nvPr>
            <p:ph idx="1"/>
          </p:nvPr>
        </p:nvSpPr>
        <p:spPr>
          <a:xfrm>
            <a:off x="4168775" y="273050"/>
            <a:ext cx="4597399" cy="585311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381093" y="3733800"/>
            <a:ext cx="325526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endParaRPr/>
          </a:p>
        </p:txBody>
      </p:sp>
      <p:sp>
        <p:nvSpPr>
          <p:cNvPr id="6" name="Footer Placeholder 5"/>
          <p:cNvSpPr>
            <a:spLocks noGrp="1"/>
          </p:cNvSpPr>
          <p:nvPr>
            <p:ph type="ftr" sz="quarter" idx="11"/>
          </p:nvPr>
        </p:nvSpPr>
        <p:spPr>
          <a:xfrm>
            <a:off x="3859305" y="6423585"/>
            <a:ext cx="3316941" cy="365125"/>
          </a:xfrm>
        </p:spPr>
        <p:txBody>
          <a:bodyPr/>
          <a:lstStyle/>
          <a:p>
            <a:r>
              <a:rPr lang="en-US" dirty="0"/>
              <a:t> </a:t>
            </a:r>
            <a:endParaRPr dirty="0"/>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169404" y="3124200"/>
            <a:ext cx="3898272"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6" y="228600"/>
            <a:ext cx="3460658" cy="63452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4169404" y="3995737"/>
            <a:ext cx="3898272"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endParaRPr/>
          </a:p>
        </p:txBody>
      </p:sp>
      <p:sp>
        <p:nvSpPr>
          <p:cNvPr id="6" name="Footer Placeholder 5"/>
          <p:cNvSpPr>
            <a:spLocks noGrp="1"/>
          </p:cNvSpPr>
          <p:nvPr>
            <p:ph type="ftr" sz="quarter" idx="11"/>
          </p:nvPr>
        </p:nvSpPr>
        <p:spPr>
          <a:xfrm>
            <a:off x="4191000" y="6423585"/>
            <a:ext cx="3005138" cy="365125"/>
          </a:xfrm>
        </p:spPr>
        <p:txBody>
          <a:bodyPr/>
          <a:lstStyle/>
          <a:p>
            <a:r>
              <a:rPr lang="en-US" dirty="0"/>
              <a:t> </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3990110"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506505" y="4424082"/>
            <a:ext cx="6191157" cy="83371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28600"/>
            <a:ext cx="637838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506505" y="5257799"/>
            <a:ext cx="6191157"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dirty="0"/>
              <a:t> </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8" name="Rectangle 7"/>
          <p:cNvSpPr/>
          <p:nvPr/>
        </p:nvSpPr>
        <p:spPr>
          <a:xfrm>
            <a:off x="6802438" y="22860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802438" y="2377440"/>
            <a:ext cx="2057400" cy="20391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327212" y="4632792"/>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0554" y="2571750"/>
            <a:ext cx="6181611"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381094" y="3733800"/>
            <a:ext cx="6179566"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5212262" y="6235607"/>
            <a:ext cx="1348398" cy="365125"/>
          </a:xfrm>
        </p:spPr>
        <p:txBody>
          <a:bodyPr/>
          <a:lstStyle>
            <a:lvl1pPr>
              <a:defRPr>
                <a:solidFill>
                  <a:schemeClr val="bg1"/>
                </a:solidFill>
              </a:defRPr>
            </a:lvl1pPr>
          </a:lstStyle>
          <a:p>
            <a:endParaRPr/>
          </a:p>
        </p:txBody>
      </p:sp>
      <p:sp>
        <p:nvSpPr>
          <p:cNvPr id="6" name="Footer Placeholder 5"/>
          <p:cNvSpPr>
            <a:spLocks noGrp="1"/>
          </p:cNvSpPr>
          <p:nvPr>
            <p:ph type="ftr" sz="quarter" idx="11"/>
          </p:nvPr>
        </p:nvSpPr>
        <p:spPr>
          <a:xfrm>
            <a:off x="381095" y="6235607"/>
            <a:ext cx="4648105" cy="365125"/>
          </a:xfrm>
        </p:spPr>
        <p:txBody>
          <a:bodyPr/>
          <a:lstStyle>
            <a:lvl1pPr>
              <a:defRPr>
                <a:solidFill>
                  <a:schemeClr val="bg1"/>
                </a:solidFill>
              </a:defRPr>
            </a:lvl1pPr>
          </a:lstStyle>
          <a:p>
            <a:r>
              <a:rPr lang="en-US" dirty="0"/>
              <a:t> </a:t>
            </a:r>
            <a:endParaRPr dirty="0"/>
          </a:p>
        </p:txBody>
      </p:sp>
      <p:sp>
        <p:nvSpPr>
          <p:cNvPr id="7" name="Slide Number Placeholder 6"/>
          <p:cNvSpPr>
            <a:spLocks noGrp="1"/>
          </p:cNvSpPr>
          <p:nvPr>
            <p:ph type="sldNum" sz="quarter" idx="12"/>
          </p:nvPr>
        </p:nvSpPr>
        <p:spPr/>
        <p:txBody>
          <a:bodyPr/>
          <a:lstStyle>
            <a:lvl1pPr>
              <a:defRPr b="1">
                <a:solidFill>
                  <a:schemeClr val="tx1"/>
                </a:solidFill>
              </a:defRPr>
            </a:lvl1pPr>
          </a:lstStyle>
          <a:p>
            <a:fld id="{8AF02B71-8991-4516-A01E-F1A9ACD28BDC}" type="slidenum">
              <a:rPr lang="en-US" altLang="ko-KR" smtClean="0"/>
              <a:pPr/>
              <a:t>‹#›</a:t>
            </a:fld>
            <a:endParaRPr lang="en-US" altLang="ko-K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2" name="Picture Placeholder 12"/>
          <p:cNvSpPr>
            <a:spLocks noGrp="1"/>
          </p:cNvSpPr>
          <p:nvPr>
            <p:ph type="pic" sz="quarter" idx="13"/>
          </p:nvPr>
        </p:nvSpPr>
        <p:spPr>
          <a:xfrm>
            <a:off x="6802438" y="2374940"/>
            <a:ext cx="2057400" cy="2039112"/>
          </a:xfrm>
        </p:spPr>
        <p:txBody>
          <a:bodyPr/>
          <a:lstStyle>
            <a:lvl1pPr>
              <a:buNone/>
              <a:defRPr/>
            </a:lvl1pPr>
          </a:lstStyle>
          <a:p>
            <a:r>
              <a:rPr lang="en-US" dirty="0"/>
              <a:t>Click icon to add picture</a:t>
            </a:r>
            <a:endParaRPr dirty="0"/>
          </a:p>
        </p:txBody>
      </p:sp>
      <p:sp>
        <p:nvSpPr>
          <p:cNvPr id="13" name="Picture Placeholder 12"/>
          <p:cNvSpPr>
            <a:spLocks noGrp="1"/>
          </p:cNvSpPr>
          <p:nvPr>
            <p:ph type="pic" sz="quarter" idx="14"/>
          </p:nvPr>
        </p:nvSpPr>
        <p:spPr>
          <a:xfrm>
            <a:off x="6802438" y="4535424"/>
            <a:ext cx="2057400" cy="203911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8" name="Rectangle 7"/>
          <p:cNvSpPr/>
          <p:nvPr/>
        </p:nvSpPr>
        <p:spPr>
          <a:xfrm>
            <a:off x="282575" y="228600"/>
            <a:ext cx="423545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4016633"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381094" y="3733800"/>
            <a:ext cx="401530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048000" y="6235607"/>
            <a:ext cx="1348398" cy="365125"/>
          </a:xfrm>
        </p:spPr>
        <p:txBody>
          <a:bodyPr/>
          <a:lstStyle>
            <a:lvl1pPr>
              <a:defRPr>
                <a:solidFill>
                  <a:schemeClr val="bg1"/>
                </a:solidFill>
              </a:defRPr>
            </a:lvl1pPr>
          </a:lstStyle>
          <a:p>
            <a:endParaRPr/>
          </a:p>
        </p:txBody>
      </p:sp>
      <p:sp>
        <p:nvSpPr>
          <p:cNvPr id="6" name="Footer Placeholder 5"/>
          <p:cNvSpPr>
            <a:spLocks noGrp="1"/>
          </p:cNvSpPr>
          <p:nvPr>
            <p:ph type="ftr" sz="quarter" idx="11"/>
          </p:nvPr>
        </p:nvSpPr>
        <p:spPr>
          <a:xfrm>
            <a:off x="381095" y="6235607"/>
            <a:ext cx="2590705" cy="365125"/>
          </a:xfrm>
        </p:spPr>
        <p:txBody>
          <a:bodyPr/>
          <a:lstStyle>
            <a:lvl1pPr>
              <a:defRPr>
                <a:solidFill>
                  <a:schemeClr val="bg1"/>
                </a:solidFill>
              </a:defRPr>
            </a:lvl1pPr>
          </a:lstStyle>
          <a:p>
            <a:r>
              <a:rPr lang="en-US" dirty="0"/>
              <a:t> </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4388" y="4534726"/>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4624388" y="228600"/>
            <a:ext cx="2057400" cy="2039112"/>
          </a:xfrm>
        </p:spPr>
        <p:txBody>
          <a:bodyPr/>
          <a:lstStyle>
            <a:lvl1pPr>
              <a:buNone/>
              <a:defRPr/>
            </a:lvl1pPr>
          </a:lstStyle>
          <a:p>
            <a:r>
              <a:rPr lang="en-US" dirty="0"/>
              <a:t>Click icon to add picture</a:t>
            </a:r>
            <a:endParaRPr dirty="0"/>
          </a:p>
        </p:txBody>
      </p:sp>
      <p:sp>
        <p:nvSpPr>
          <p:cNvPr id="13" name="Picture Placeholder 12"/>
          <p:cNvSpPr>
            <a:spLocks noGrp="1"/>
          </p:cNvSpPr>
          <p:nvPr>
            <p:ph type="pic" sz="quarter" idx="14"/>
          </p:nvPr>
        </p:nvSpPr>
        <p:spPr>
          <a:xfrm>
            <a:off x="4624388" y="2381663"/>
            <a:ext cx="2057400" cy="2039112"/>
          </a:xfrm>
        </p:spPr>
        <p:txBody>
          <a:bodyPr/>
          <a:lstStyle>
            <a:lvl1pPr>
              <a:buNone/>
              <a:defRPr/>
            </a:lvl1pPr>
          </a:lstStyle>
          <a:p>
            <a:r>
              <a:rPr lang="en-US" dirty="0"/>
              <a:t>Click icon to add picture</a:t>
            </a:r>
            <a:endParaRPr dirty="0"/>
          </a:p>
        </p:txBody>
      </p:sp>
      <p:sp>
        <p:nvSpPr>
          <p:cNvPr id="14" name="Picture Placeholder 12"/>
          <p:cNvSpPr>
            <a:spLocks noGrp="1"/>
          </p:cNvSpPr>
          <p:nvPr>
            <p:ph type="pic" sz="quarter" idx="15"/>
          </p:nvPr>
        </p:nvSpPr>
        <p:spPr>
          <a:xfrm>
            <a:off x="6803136" y="2381662"/>
            <a:ext cx="2057400" cy="418795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Pictures with Caption, Alt.">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53000" y="3124200"/>
            <a:ext cx="3108960"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365248"/>
            <a:ext cx="424011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4953000" y="3995737"/>
            <a:ext cx="3108960"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endParaRPr/>
          </a:p>
        </p:txBody>
      </p:sp>
      <p:sp>
        <p:nvSpPr>
          <p:cNvPr id="6" name="Footer Placeholder 5"/>
          <p:cNvSpPr>
            <a:spLocks noGrp="1"/>
          </p:cNvSpPr>
          <p:nvPr>
            <p:ph type="ftr" sz="quarter" idx="11"/>
          </p:nvPr>
        </p:nvSpPr>
        <p:spPr>
          <a:xfrm>
            <a:off x="4191000" y="6423585"/>
            <a:ext cx="3005138" cy="365125"/>
          </a:xfrm>
        </p:spPr>
        <p:txBody>
          <a:bodyPr/>
          <a:lstStyle/>
          <a:p>
            <a:r>
              <a:rPr lang="en-US" dirty="0"/>
              <a:t> </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4750361"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
        <p:nvSpPr>
          <p:cNvPr id="14" name="Picture Placeholder 12"/>
          <p:cNvSpPr>
            <a:spLocks noGrp="1"/>
          </p:cNvSpPr>
          <p:nvPr>
            <p:ph type="pic" sz="quarter" idx="13"/>
          </p:nvPr>
        </p:nvSpPr>
        <p:spPr>
          <a:xfrm>
            <a:off x="277905" y="228600"/>
            <a:ext cx="2057400" cy="2039112"/>
          </a:xfrm>
        </p:spPr>
        <p:txBody>
          <a:bodyPr/>
          <a:lstStyle>
            <a:lvl1pPr>
              <a:buNone/>
              <a:defRPr/>
            </a:lvl1pPr>
          </a:lstStyle>
          <a:p>
            <a:r>
              <a:rPr lang="en-US" dirty="0"/>
              <a:t>Click icon to add picture</a:t>
            </a:r>
            <a:endParaRPr dirty="0"/>
          </a:p>
        </p:txBody>
      </p:sp>
      <p:sp>
        <p:nvSpPr>
          <p:cNvPr id="15" name="Picture Placeholder 12"/>
          <p:cNvSpPr>
            <a:spLocks noGrp="1"/>
          </p:cNvSpPr>
          <p:nvPr>
            <p:ph type="pic" sz="quarter" idx="14"/>
          </p:nvPr>
        </p:nvSpPr>
        <p:spPr>
          <a:xfrm>
            <a:off x="2460625" y="228600"/>
            <a:ext cx="2057400" cy="203911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r>
              <a:rPr lang="en-US" dirty="0"/>
              <a:t> </a:t>
            </a:r>
            <a:endParaRPr dirty="0"/>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10" name="Rectangle 9"/>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995772" y="954742"/>
            <a:ext cx="681318" cy="5171422"/>
          </a:xfrm>
        </p:spPr>
        <p:txBody>
          <a:bodyPr vert="eaVert" anchor="t" anchorCtr="0"/>
          <a:lstStyle/>
          <a:p>
            <a:r>
              <a:rPr lang="en-US"/>
              <a:t>Click to edit Master title style</a:t>
            </a:r>
            <a:endParaRPr/>
          </a:p>
        </p:txBody>
      </p:sp>
      <p:sp>
        <p:nvSpPr>
          <p:cNvPr id="3" name="Vertical Text Placeholder 2"/>
          <p:cNvSpPr>
            <a:spLocks noGrp="1"/>
          </p:cNvSpPr>
          <p:nvPr>
            <p:ph type="body" orient="vert" idx="1"/>
          </p:nvPr>
        </p:nvSpPr>
        <p:spPr>
          <a:xfrm>
            <a:off x="457200" y="958756"/>
            <a:ext cx="6858000" cy="518486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r>
              <a:rPr lang="en-US" dirty="0"/>
              <a:t> </a:t>
            </a:r>
            <a:endParaRPr dirty="0"/>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rot="16200000">
            <a:off x="8593111" y="561668"/>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extLst>
      <p:ext uri="{BB962C8B-B14F-4D97-AF65-F5344CB8AC3E}">
        <p14:creationId xmlns:p14="http://schemas.microsoft.com/office/powerpoint/2010/main" val="35574585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8474" y="484094"/>
            <a:ext cx="7556313" cy="1116106"/>
          </a:xfrm>
          <a:prstGeom prst="rect">
            <a:avLst/>
          </a:prstGeom>
        </p:spPr>
        <p:txBody>
          <a:bodyPr vert="horz" lIns="91440" tIns="45720" rIns="91440" bIns="45720" rtlCol="0" anchor="t" anchorCtr="0">
            <a:noAutofit/>
          </a:bodyPr>
          <a:lstStyle/>
          <a:p>
            <a:r>
              <a:rPr lang="en-US"/>
              <a:t>Click to edit Master title style</a:t>
            </a:r>
            <a:endParaRPr/>
          </a:p>
        </p:txBody>
      </p:sp>
      <p:sp>
        <p:nvSpPr>
          <p:cNvPr id="3" name="Text Placeholder 2"/>
          <p:cNvSpPr>
            <a:spLocks noGrp="1"/>
          </p:cNvSpPr>
          <p:nvPr>
            <p:ph type="body" idx="1"/>
          </p:nvPr>
        </p:nvSpPr>
        <p:spPr>
          <a:xfrm>
            <a:off x="498474" y="1981200"/>
            <a:ext cx="7556313" cy="4144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795247" y="6423585"/>
            <a:ext cx="2133600" cy="365125"/>
          </a:xfrm>
          <a:prstGeom prst="rect">
            <a:avLst/>
          </a:prstGeom>
        </p:spPr>
        <p:txBody>
          <a:bodyPr vert="horz" lIns="91440" tIns="45720" rIns="91440" bIns="45720" rtlCol="0" anchor="ctr"/>
          <a:lstStyle>
            <a:lvl1pPr algn="r">
              <a:defRPr sz="1100">
                <a:solidFill>
                  <a:schemeClr val="tx1">
                    <a:lumMod val="65000"/>
                    <a:lumOff val="35000"/>
                  </a:schemeClr>
                </a:solidFill>
              </a:defRPr>
            </a:lvl1pPr>
          </a:lstStyle>
          <a:p>
            <a:endParaRPr/>
          </a:p>
        </p:txBody>
      </p:sp>
      <p:sp>
        <p:nvSpPr>
          <p:cNvPr id="5" name="Footer Placeholder 4"/>
          <p:cNvSpPr>
            <a:spLocks noGrp="1"/>
          </p:cNvSpPr>
          <p:nvPr>
            <p:ph type="ftr" sz="quarter" idx="3"/>
          </p:nvPr>
        </p:nvSpPr>
        <p:spPr>
          <a:xfrm>
            <a:off x="201706" y="6423585"/>
            <a:ext cx="6122894"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r>
              <a:rPr lang="en-US" dirty="0"/>
              <a:t> </a:t>
            </a:r>
            <a:endParaRPr dirty="0"/>
          </a:p>
        </p:txBody>
      </p:sp>
      <p:sp>
        <p:nvSpPr>
          <p:cNvPr id="6" name="Slide Number Placeholder 5"/>
          <p:cNvSpPr>
            <a:spLocks noGrp="1"/>
          </p:cNvSpPr>
          <p:nvPr>
            <p:ph type="sldNum" sz="quarter" idx="4"/>
          </p:nvPr>
        </p:nvSpPr>
        <p:spPr>
          <a:xfrm>
            <a:off x="8305800" y="242234"/>
            <a:ext cx="554038" cy="365125"/>
          </a:xfrm>
          <a:prstGeom prst="rect">
            <a:avLst/>
          </a:prstGeom>
        </p:spPr>
        <p:txBody>
          <a:bodyPr vert="horz" lIns="91440" tIns="45720" rIns="91440" bIns="45720" rtlCol="0" anchor="ctr"/>
          <a:lstStyle>
            <a:lvl1pPr algn="r">
              <a:defRPr sz="1400">
                <a:solidFill>
                  <a:schemeClr val="bg1"/>
                </a:solidFill>
              </a:defRPr>
            </a:lvl1pPr>
          </a:lstStyle>
          <a:p>
            <a:fld id="{8AF02B71-8991-4516-A01E-F1A9ACD28BDC}" type="slidenum">
              <a:rPr/>
              <a:pPr/>
              <a:t>‹#›</a:t>
            </a:fld>
            <a:endParaRPr/>
          </a:p>
        </p:txBody>
      </p:sp>
    </p:spTree>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 id="2147483695" r:id="rId18"/>
    <p:sldLayoutId id="2147483696" r:id="rId19"/>
    <p:sldLayoutId id="2147483697" r:id="rId20"/>
    <p:sldLayoutId id="2147483698" r:id="rId21"/>
  </p:sldLayoutIdLst>
  <p:hf hdr="0" ftr="0" dt="0"/>
  <p:txStyles>
    <p:titleStyle>
      <a:lvl1pPr algn="l" defTabSz="914400" rtl="0" eaLnBrk="1" latinLnBrk="0" hangingPunct="1">
        <a:spcBef>
          <a:spcPct val="0"/>
        </a:spcBef>
        <a:buNone/>
        <a:defRPr sz="3600" b="0" kern="1200">
          <a:solidFill>
            <a:schemeClr val="accent1"/>
          </a:solidFill>
          <a:latin typeface="+mj-lt"/>
          <a:ea typeface="+mj-ea"/>
          <a:cs typeface="+mj-cs"/>
        </a:defRPr>
      </a:lvl1pPr>
    </p:titleStyle>
    <p:body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7" Type="http://schemas.openxmlformats.org/officeDocument/2006/relationships/image" Target="../media/image10.wmf"/><Relationship Id="rId2" Type="http://schemas.openxmlformats.org/officeDocument/2006/relationships/slideLayout" Target="../slideLayouts/slideLayout16.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9.emf"/><Relationship Id="rId4" Type="http://schemas.openxmlformats.org/officeDocument/2006/relationships/package" Target="../embeddings/Microsoft_Word_Document.docx"/></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539552" y="4293096"/>
            <a:ext cx="6191157" cy="833718"/>
          </a:xfrm>
        </p:spPr>
        <p:txBody>
          <a:bodyPr>
            <a:noAutofit/>
          </a:bodyPr>
          <a:lstStyle/>
          <a:p>
            <a:r>
              <a:rPr lang="en-US" sz="5400">
                <a:effectLst>
                  <a:outerShdw blurRad="38100" dist="38100" dir="2700000" algn="tl">
                    <a:srgbClr val="000000">
                      <a:alpha val="43137"/>
                    </a:srgbClr>
                  </a:outerShdw>
                </a:effectLst>
              </a:rPr>
              <a:t>Chapter 2  </a:t>
            </a:r>
            <a:endParaRPr lang="en-US" sz="5400" dirty="0">
              <a:effectLst>
                <a:outerShdw blurRad="38100" dist="38100" dir="2700000" algn="tl">
                  <a:srgbClr val="000000">
                    <a:alpha val="43137"/>
                  </a:srgbClr>
                </a:outerShdw>
              </a:effectLst>
            </a:endParaRPr>
          </a:p>
        </p:txBody>
      </p:sp>
      <p:sp>
        <p:nvSpPr>
          <p:cNvPr id="11" name="Text Placeholder 10"/>
          <p:cNvSpPr>
            <a:spLocks noGrp="1"/>
          </p:cNvSpPr>
          <p:nvPr>
            <p:ph type="body" sz="half" idx="2"/>
          </p:nvPr>
        </p:nvSpPr>
        <p:spPr>
          <a:xfrm>
            <a:off x="533400" y="5157192"/>
            <a:ext cx="8610600" cy="838200"/>
          </a:xfrm>
        </p:spPr>
        <p:txBody>
          <a:bodyPr>
            <a:normAutofit/>
          </a:bodyPr>
          <a:lstStyle/>
          <a:p>
            <a:r>
              <a:rPr lang="en-US" sz="4400" dirty="0"/>
              <a:t>Performance Issues</a:t>
            </a:r>
          </a:p>
        </p:txBody>
      </p:sp>
      <p:sp>
        <p:nvSpPr>
          <p:cNvPr id="5" name="TextBox 4"/>
          <p:cNvSpPr txBox="1"/>
          <p:nvPr/>
        </p:nvSpPr>
        <p:spPr>
          <a:xfrm>
            <a:off x="5486400" y="1371600"/>
            <a:ext cx="2286000" cy="1938992"/>
          </a:xfrm>
          <a:prstGeom prst="rect">
            <a:avLst/>
          </a:prstGeom>
          <a:solidFill>
            <a:schemeClr val="accent3"/>
          </a:solidFill>
        </p:spPr>
        <p:txBody>
          <a:bodyPr wrap="square" rtlCol="0">
            <a:spAutoFit/>
          </a:bodyPr>
          <a:lstStyle/>
          <a:p>
            <a:endParaRPr lang="en-US" dirty="0"/>
          </a:p>
          <a:p>
            <a:endParaRPr lang="en-US" dirty="0"/>
          </a:p>
          <a:p>
            <a:endParaRPr lang="en-US" dirty="0"/>
          </a:p>
          <a:p>
            <a:endParaRPr lang="en-US" dirty="0"/>
          </a:p>
          <a:p>
            <a:endParaRPr lang="en-US" dirty="0"/>
          </a:p>
        </p:txBody>
      </p:sp>
      <p:sp>
        <p:nvSpPr>
          <p:cNvPr id="3" name="슬라이드 번호 개체 틀 2"/>
          <p:cNvSpPr>
            <a:spLocks noGrp="1"/>
          </p:cNvSpPr>
          <p:nvPr>
            <p:ph type="sldNum" sz="quarter" idx="12"/>
          </p:nvPr>
        </p:nvSpPr>
        <p:spPr/>
        <p:txBody>
          <a:bodyPr/>
          <a:lstStyle/>
          <a:p>
            <a:fld id="{8AF02B71-8991-4516-A01E-F1A9ACD28BDC}" type="slidenum">
              <a:rPr lang="en-US" altLang="ko-KR" smtClean="0"/>
              <a:pPr/>
              <a:t>1</a:t>
            </a:fld>
            <a:endParaRPr lang="en-US" altLang="ko-K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Designing for Performance</a:t>
            </a:r>
          </a:p>
        </p:txBody>
      </p:sp>
      <p:sp>
        <p:nvSpPr>
          <p:cNvPr id="3" name="Content Placeholder 2"/>
          <p:cNvSpPr>
            <a:spLocks noGrp="1"/>
          </p:cNvSpPr>
          <p:nvPr>
            <p:ph idx="1"/>
          </p:nvPr>
        </p:nvSpPr>
        <p:spPr>
          <a:xfrm>
            <a:off x="467544" y="1268760"/>
            <a:ext cx="7556313" cy="5184576"/>
          </a:xfrm>
        </p:spPr>
        <p:txBody>
          <a:bodyPr>
            <a:normAutofit fontScale="70000" lnSpcReduction="20000"/>
          </a:bodyPr>
          <a:lstStyle/>
          <a:p>
            <a:r>
              <a:rPr lang="en-US" dirty="0"/>
              <a:t>The cost of computer systems continues to drop dramatically, while the performance and capacity of those systems continue to rise equally dramatically</a:t>
            </a:r>
          </a:p>
          <a:p>
            <a:r>
              <a:rPr lang="en-US" dirty="0"/>
              <a:t>Today’s laptops have the computing power of an IBM mainframe from 10 or 15 years ago</a:t>
            </a:r>
          </a:p>
          <a:p>
            <a:r>
              <a:rPr lang="en-US" dirty="0"/>
              <a:t>Processors are so inexpensive that we now have microprocessors we throw away</a:t>
            </a:r>
          </a:p>
          <a:p>
            <a:r>
              <a:rPr lang="en-US" dirty="0"/>
              <a:t>Desktop applications that require the great power of today’s microprocessor-based systems include:</a:t>
            </a:r>
          </a:p>
          <a:p>
            <a:pPr lvl="1"/>
            <a:r>
              <a:rPr lang="en-US" dirty="0"/>
              <a:t>Image processing</a:t>
            </a:r>
          </a:p>
          <a:p>
            <a:pPr lvl="1"/>
            <a:r>
              <a:rPr lang="en-US" dirty="0"/>
              <a:t>Three-dimensional rendering</a:t>
            </a:r>
          </a:p>
          <a:p>
            <a:pPr lvl="1"/>
            <a:r>
              <a:rPr lang="en-US" dirty="0"/>
              <a:t>Speech recognition</a:t>
            </a:r>
          </a:p>
          <a:p>
            <a:pPr lvl="1"/>
            <a:r>
              <a:rPr lang="en-US" dirty="0"/>
              <a:t>Videoconferencing</a:t>
            </a:r>
          </a:p>
          <a:p>
            <a:pPr lvl="1"/>
            <a:r>
              <a:rPr lang="en-US" dirty="0"/>
              <a:t>Multimedia authoring </a:t>
            </a:r>
          </a:p>
          <a:p>
            <a:pPr lvl="1"/>
            <a:r>
              <a:rPr lang="en-US" dirty="0"/>
              <a:t>Voice and video annotation of files</a:t>
            </a:r>
          </a:p>
          <a:p>
            <a:pPr lvl="1"/>
            <a:r>
              <a:rPr lang="en-US" dirty="0"/>
              <a:t>Simulation modeling</a:t>
            </a:r>
          </a:p>
          <a:p>
            <a:pPr marL="228600" lvl="1">
              <a:spcBef>
                <a:spcPts val="2000"/>
              </a:spcBef>
              <a:buClr>
                <a:schemeClr val="accent1"/>
              </a:buClr>
            </a:pPr>
            <a:r>
              <a:rPr lang="en-US" sz="2100" dirty="0"/>
              <a:t>Businesses are relying on increasingly powerful servers to handle transaction and database processing and to support massive client/server networks that have replaced the huge mainframe computer centers of yesteryear</a:t>
            </a:r>
          </a:p>
          <a:p>
            <a:pPr marL="228600" lvl="1">
              <a:spcBef>
                <a:spcPts val="2000"/>
              </a:spcBef>
              <a:buClr>
                <a:schemeClr val="accent1"/>
              </a:buClr>
            </a:pPr>
            <a:r>
              <a:rPr lang="en-US" sz="2100" dirty="0"/>
              <a:t>Cloud service providers use massive high-performance banks of servers to satisfy high-volume, high-transaction-rate applications for a broad spectrum of clients</a:t>
            </a:r>
          </a:p>
        </p:txBody>
      </p:sp>
      <p:sp>
        <p:nvSpPr>
          <p:cNvPr id="6" name="슬라이드 번호 개체 틀 5"/>
          <p:cNvSpPr>
            <a:spLocks noGrp="1"/>
          </p:cNvSpPr>
          <p:nvPr>
            <p:ph type="sldNum" sz="quarter" idx="12"/>
          </p:nvPr>
        </p:nvSpPr>
        <p:spPr/>
        <p:txBody>
          <a:bodyPr/>
          <a:lstStyle/>
          <a:p>
            <a:fld id="{8AF02B71-8991-4516-A01E-F1A9ACD28BDC}" type="slidenum">
              <a:rPr lang="en-US" altLang="ko-KR" smtClean="0"/>
              <a:pPr/>
              <a:t>2</a:t>
            </a:fld>
            <a:endParaRPr lang="en-US" altLang="ko-KR"/>
          </a:p>
        </p:txBody>
      </p:sp>
    </p:spTree>
    <p:extLst>
      <p:ext uri="{BB962C8B-B14F-4D97-AF65-F5344CB8AC3E}">
        <p14:creationId xmlns:p14="http://schemas.microsoft.com/office/powerpoint/2010/main" val="2633460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GB" dirty="0"/>
              <a:t>Microprocessor Speed</a:t>
            </a:r>
          </a:p>
        </p:txBody>
      </p:sp>
      <p:graphicFrame>
        <p:nvGraphicFramePr>
          <p:cNvPr id="20" name="Content Placeholder 19"/>
          <p:cNvGraphicFramePr>
            <a:graphicFrameLocks noGrp="1"/>
          </p:cNvGraphicFramePr>
          <p:nvPr>
            <p:ph idx="1"/>
            <p:extLst>
              <p:ext uri="{D42A27DB-BD31-4B8C-83A1-F6EECF244321}">
                <p14:modId xmlns:p14="http://schemas.microsoft.com/office/powerpoint/2010/main" val="3449159562"/>
              </p:ext>
            </p:extLst>
          </p:nvPr>
        </p:nvGraphicFramePr>
        <p:xfrm>
          <a:off x="498474" y="1828800"/>
          <a:ext cx="8898062" cy="47685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 Placeholder 3"/>
          <p:cNvSpPr>
            <a:spLocks noGrp="1"/>
          </p:cNvSpPr>
          <p:nvPr>
            <p:ph type="body" sz="half" idx="4294967295"/>
          </p:nvPr>
        </p:nvSpPr>
        <p:spPr>
          <a:xfrm>
            <a:off x="228600" y="1295400"/>
            <a:ext cx="7559675" cy="609600"/>
          </a:xfrm>
        </p:spPr>
        <p:txBody>
          <a:bodyPr/>
          <a:lstStyle/>
          <a:p>
            <a:pPr>
              <a:buNone/>
            </a:pPr>
            <a:r>
              <a:rPr lang="en-US" dirty="0">
                <a:solidFill>
                  <a:srgbClr val="FF0000"/>
                </a:solidFill>
              </a:rPr>
              <a:t>Techniques built into contemporary processors include:</a:t>
            </a:r>
          </a:p>
        </p:txBody>
      </p:sp>
      <p:sp>
        <p:nvSpPr>
          <p:cNvPr id="3" name="슬라이드 번호 개체 틀 2"/>
          <p:cNvSpPr>
            <a:spLocks noGrp="1"/>
          </p:cNvSpPr>
          <p:nvPr>
            <p:ph type="sldNum" sz="quarter" idx="12"/>
          </p:nvPr>
        </p:nvSpPr>
        <p:spPr/>
        <p:txBody>
          <a:bodyPr/>
          <a:lstStyle/>
          <a:p>
            <a:fld id="{8AF02B71-8991-4516-A01E-F1A9ACD28BDC}" type="slidenum">
              <a:rPr lang="en-US" altLang="ko-KR" smtClean="0"/>
              <a:pPr/>
              <a:t>3</a:t>
            </a:fld>
            <a:endParaRPr lang="en-US" altLang="ko-K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498475" y="484094"/>
            <a:ext cx="4759325" cy="1344706"/>
          </a:xfrm>
        </p:spPr>
        <p:txBody>
          <a:bodyPr/>
          <a:lstStyle/>
          <a:p>
            <a:r>
              <a:rPr lang="en-US" dirty="0">
                <a:effectLst>
                  <a:outerShdw blurRad="38100" dist="38100" dir="2700000" algn="tl">
                    <a:srgbClr val="000000">
                      <a:alpha val="43137"/>
                    </a:srgbClr>
                  </a:outerShdw>
                </a:effectLst>
              </a:rPr>
              <a:t>Performance </a:t>
            </a:r>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Balance</a:t>
            </a:r>
          </a:p>
        </p:txBody>
      </p:sp>
      <p:graphicFrame>
        <p:nvGraphicFramePr>
          <p:cNvPr id="51" name="Content Placeholder 50"/>
          <p:cNvGraphicFramePr>
            <a:graphicFrameLocks noGrp="1"/>
          </p:cNvGraphicFramePr>
          <p:nvPr>
            <p:ph idx="1"/>
            <p:extLst>
              <p:ext uri="{D42A27DB-BD31-4B8C-83A1-F6EECF244321}">
                <p14:modId xmlns:p14="http://schemas.microsoft.com/office/powerpoint/2010/main" val="4045977093"/>
              </p:ext>
            </p:extLst>
          </p:nvPr>
        </p:nvGraphicFramePr>
        <p:xfrm>
          <a:off x="323528" y="0"/>
          <a:ext cx="10873208" cy="685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TextBox 9"/>
          <p:cNvSpPr txBox="1"/>
          <p:nvPr/>
        </p:nvSpPr>
        <p:spPr>
          <a:xfrm>
            <a:off x="0" y="1628800"/>
            <a:ext cx="4419600" cy="2754600"/>
          </a:xfrm>
          <a:prstGeom prst="rect">
            <a:avLst/>
          </a:prstGeom>
          <a:noFill/>
        </p:spPr>
        <p:txBody>
          <a:bodyPr wrap="square" rtlCol="0">
            <a:spAutoFit/>
          </a:bodyPr>
          <a:lstStyle/>
          <a:p>
            <a:pPr lvl="1" indent="-228600" eaLnBrk="1" hangingPunct="1">
              <a:spcBef>
                <a:spcPts val="1200"/>
              </a:spcBef>
              <a:buClr>
                <a:schemeClr val="accent1"/>
              </a:buClr>
              <a:buSzPct val="75000"/>
              <a:buFont typeface="Wingdings" pitchFamily="2" charset="2"/>
              <a:buChar char="n"/>
            </a:pPr>
            <a:r>
              <a:rPr lang="en-US" sz="2000" dirty="0">
                <a:solidFill>
                  <a:schemeClr val="tx1">
                    <a:lumMod val="65000"/>
                    <a:lumOff val="35000"/>
                  </a:schemeClr>
                </a:solidFill>
                <a:latin typeface="+mn-lt"/>
              </a:rPr>
              <a:t>Adjust the organization and </a:t>
            </a:r>
          </a:p>
          <a:p>
            <a:pPr lvl="1" indent="-228600" eaLnBrk="1" hangingPunct="1">
              <a:spcBef>
                <a:spcPts val="0"/>
              </a:spcBef>
              <a:buClr>
                <a:schemeClr val="accent1"/>
              </a:buClr>
              <a:buSzPct val="75000"/>
            </a:pPr>
            <a:r>
              <a:rPr lang="en-US" sz="2000" dirty="0">
                <a:solidFill>
                  <a:schemeClr val="tx1">
                    <a:lumMod val="65000"/>
                    <a:lumOff val="35000"/>
                  </a:schemeClr>
                </a:solidFill>
                <a:latin typeface="+mn-lt"/>
              </a:rPr>
              <a:t>architecture to </a:t>
            </a:r>
            <a:r>
              <a:rPr lang="en-US" sz="2000" dirty="0">
                <a:solidFill>
                  <a:srgbClr val="FF0000"/>
                </a:solidFill>
                <a:latin typeface="+mn-lt"/>
              </a:rPr>
              <a:t>compensate </a:t>
            </a:r>
          </a:p>
          <a:p>
            <a:pPr lvl="1" indent="-228600" eaLnBrk="1" hangingPunct="1">
              <a:spcBef>
                <a:spcPts val="0"/>
              </a:spcBef>
              <a:buClr>
                <a:schemeClr val="accent1"/>
              </a:buClr>
              <a:buSzPct val="75000"/>
            </a:pPr>
            <a:r>
              <a:rPr lang="en-US" sz="2000" dirty="0">
                <a:solidFill>
                  <a:srgbClr val="FF0000"/>
                </a:solidFill>
                <a:latin typeface="+mn-lt"/>
              </a:rPr>
              <a:t>for the mismatch among the </a:t>
            </a:r>
          </a:p>
          <a:p>
            <a:pPr lvl="1" indent="-228600" eaLnBrk="1" hangingPunct="1">
              <a:spcBef>
                <a:spcPts val="0"/>
              </a:spcBef>
              <a:buClr>
                <a:schemeClr val="accent1"/>
              </a:buClr>
              <a:buSzPct val="75000"/>
            </a:pPr>
            <a:r>
              <a:rPr lang="en-US" sz="2000" dirty="0">
                <a:solidFill>
                  <a:srgbClr val="FF0000"/>
                </a:solidFill>
                <a:latin typeface="+mn-lt"/>
              </a:rPr>
              <a:t>capabilities of the various </a:t>
            </a:r>
          </a:p>
          <a:p>
            <a:pPr lvl="1" indent="-228600" eaLnBrk="1" hangingPunct="1">
              <a:spcBef>
                <a:spcPts val="0"/>
              </a:spcBef>
              <a:buClr>
                <a:schemeClr val="accent1"/>
              </a:buClr>
              <a:buSzPct val="75000"/>
            </a:pPr>
            <a:r>
              <a:rPr lang="en-US" sz="2000" dirty="0">
                <a:solidFill>
                  <a:srgbClr val="FF0000"/>
                </a:solidFill>
                <a:latin typeface="+mn-lt"/>
              </a:rPr>
              <a:t>components</a:t>
            </a:r>
          </a:p>
          <a:p>
            <a:pPr lvl="1" indent="-228600" eaLnBrk="1" hangingPunct="1">
              <a:spcBef>
                <a:spcPts val="1200"/>
              </a:spcBef>
              <a:buClr>
                <a:schemeClr val="accent1"/>
              </a:buClr>
              <a:buSzPct val="75000"/>
              <a:buFont typeface="Wingdings" pitchFamily="2" charset="2"/>
              <a:buChar char="n"/>
            </a:pPr>
            <a:r>
              <a:rPr lang="en-US" sz="2000" dirty="0">
                <a:solidFill>
                  <a:schemeClr val="tx1">
                    <a:lumMod val="65000"/>
                    <a:lumOff val="35000"/>
                  </a:schemeClr>
                </a:solidFill>
                <a:latin typeface="+mn-lt"/>
              </a:rPr>
              <a:t>Architectural examples </a:t>
            </a:r>
          </a:p>
          <a:p>
            <a:pPr lvl="1" indent="-228600" eaLnBrk="1" hangingPunct="1">
              <a:spcBef>
                <a:spcPts val="0"/>
              </a:spcBef>
              <a:buClr>
                <a:schemeClr val="accent1"/>
              </a:buClr>
              <a:buSzPct val="75000"/>
            </a:pPr>
            <a:r>
              <a:rPr lang="en-US" sz="2000" dirty="0">
                <a:solidFill>
                  <a:schemeClr val="tx1">
                    <a:lumMod val="65000"/>
                    <a:lumOff val="35000"/>
                  </a:schemeClr>
                </a:solidFill>
                <a:latin typeface="+mn-lt"/>
              </a:rPr>
              <a:t>include:</a:t>
            </a:r>
          </a:p>
          <a:p>
            <a:pPr lvl="1" indent="-228600" eaLnBrk="1" hangingPunct="1">
              <a:spcBef>
                <a:spcPts val="600"/>
              </a:spcBef>
              <a:buClr>
                <a:schemeClr val="accent1">
                  <a:lumMod val="60000"/>
                  <a:lumOff val="40000"/>
                </a:schemeClr>
              </a:buClr>
              <a:buSzPct val="75000"/>
              <a:buFont typeface="Wingdings" pitchFamily="2" charset="2"/>
              <a:buChar char="n"/>
            </a:pPr>
            <a:endParaRPr lang="en-US" sz="1800" dirty="0">
              <a:solidFill>
                <a:schemeClr val="tx1">
                  <a:lumMod val="65000"/>
                  <a:lumOff val="35000"/>
                </a:schemeClr>
              </a:solidFill>
              <a:latin typeface="+mn-lt"/>
            </a:endParaRPr>
          </a:p>
        </p:txBody>
      </p:sp>
      <p:sp>
        <p:nvSpPr>
          <p:cNvPr id="3" name="슬라이드 번호 개체 틀 2"/>
          <p:cNvSpPr>
            <a:spLocks noGrp="1"/>
          </p:cNvSpPr>
          <p:nvPr>
            <p:ph type="sldNum" sz="quarter" idx="12"/>
          </p:nvPr>
        </p:nvSpPr>
        <p:spPr/>
        <p:txBody>
          <a:bodyPr/>
          <a:lstStyle/>
          <a:p>
            <a:fld id="{8AF02B71-8991-4516-A01E-F1A9ACD28BDC}" type="slidenum">
              <a:rPr lang="en-US" altLang="ko-KR" smtClean="0"/>
              <a:pPr/>
              <a:t>4</a:t>
            </a:fld>
            <a:endParaRPr lang="en-US" altLang="ko-K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1.pdf"/>
          <p:cNvPicPr>
            <a:picLocks noChangeAspect="1"/>
          </p:cNvPicPr>
          <p:nvPr/>
        </p:nvPicPr>
        <p:blipFill rotWithShape="1">
          <a:blip r:embed="rId3">
            <a:extLst>
              <a:ext uri="{28A0092B-C50C-407E-A947-70E740481C1C}">
                <a14:useLocalDpi xmlns:a14="http://schemas.microsoft.com/office/drawing/2010/main" val="0"/>
              </a:ext>
            </a:extLst>
          </a:blip>
          <a:srcRect t="21000" b="17156"/>
          <a:stretch/>
        </p:blipFill>
        <p:spPr>
          <a:xfrm>
            <a:off x="19846" y="15527"/>
            <a:ext cx="8424941" cy="6742740"/>
          </a:xfrm>
          <a:prstGeom prst="rect">
            <a:avLst/>
          </a:prstGeom>
        </p:spPr>
      </p:pic>
      <p:cxnSp>
        <p:nvCxnSpPr>
          <p:cNvPr id="5" name="직선 연결선 4"/>
          <p:cNvCxnSpPr/>
          <p:nvPr/>
        </p:nvCxnSpPr>
        <p:spPr>
          <a:xfrm>
            <a:off x="6660320" y="548680"/>
            <a:ext cx="0" cy="4392488"/>
          </a:xfrm>
          <a:prstGeom prst="line">
            <a:avLst/>
          </a:prstGeom>
          <a:ln w="57150">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156264" y="5300951"/>
            <a:ext cx="1008112" cy="461665"/>
          </a:xfrm>
          <a:prstGeom prst="rect">
            <a:avLst/>
          </a:prstGeom>
          <a:noFill/>
        </p:spPr>
        <p:txBody>
          <a:bodyPr wrap="square" rtlCol="0">
            <a:spAutoFit/>
          </a:bodyPr>
          <a:lstStyle/>
          <a:p>
            <a:pPr algn="ctr"/>
            <a:r>
              <a:rPr lang="en-US" altLang="ko-KR" b="1" dirty="0" err="1"/>
              <a:t>Gbps</a:t>
            </a:r>
            <a:endParaRPr lang="ko-KR" altLang="en-US" b="1" dirty="0"/>
          </a:p>
        </p:txBody>
      </p:sp>
      <p:sp>
        <p:nvSpPr>
          <p:cNvPr id="4" name="슬라이드 번호 개체 틀 3"/>
          <p:cNvSpPr>
            <a:spLocks noGrp="1"/>
          </p:cNvSpPr>
          <p:nvPr>
            <p:ph type="sldNum" sz="quarter" idx="12"/>
          </p:nvPr>
        </p:nvSpPr>
        <p:spPr/>
        <p:txBody>
          <a:bodyPr/>
          <a:lstStyle/>
          <a:p>
            <a:fld id="{8AF02B71-8991-4516-A01E-F1A9ACD28BDC}" type="slidenum">
              <a:rPr lang="en-US" altLang="ko-KR" smtClean="0"/>
              <a:pPr/>
              <a:t>5</a:t>
            </a:fld>
            <a:endParaRPr lang="en-US" altLang="ko-KR"/>
          </a:p>
        </p:txBody>
      </p:sp>
    </p:spTree>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10" name="Rectangle 6"/>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Improvements in Chip Organization and Architecture</a:t>
            </a:r>
          </a:p>
        </p:txBody>
      </p:sp>
      <p:sp>
        <p:nvSpPr>
          <p:cNvPr id="98311" name="Rectangle 7"/>
          <p:cNvSpPr>
            <a:spLocks noGrp="1" noChangeArrowheads="1"/>
          </p:cNvSpPr>
          <p:nvPr>
            <p:ph idx="1"/>
          </p:nvPr>
        </p:nvSpPr>
        <p:spPr/>
        <p:txBody>
          <a:bodyPr/>
          <a:lstStyle/>
          <a:p>
            <a:r>
              <a:rPr lang="en-GB" dirty="0"/>
              <a:t>Increase hardware </a:t>
            </a:r>
            <a:r>
              <a:rPr lang="en-GB" b="1" dirty="0">
                <a:solidFill>
                  <a:srgbClr val="C00000"/>
                </a:solidFill>
              </a:rPr>
              <a:t>speed of processor</a:t>
            </a:r>
          </a:p>
          <a:p>
            <a:pPr lvl="1"/>
            <a:r>
              <a:rPr lang="en-GB" dirty="0"/>
              <a:t>Fundamentally due to shrinking logic gate size</a:t>
            </a:r>
          </a:p>
          <a:p>
            <a:pPr lvl="2"/>
            <a:r>
              <a:rPr lang="en-GB" dirty="0"/>
              <a:t>More gates, packed more tightly, increasing clock rate</a:t>
            </a:r>
          </a:p>
          <a:p>
            <a:pPr lvl="2"/>
            <a:r>
              <a:rPr lang="en-GB" dirty="0"/>
              <a:t>Propagation time for signals reduced</a:t>
            </a:r>
          </a:p>
          <a:p>
            <a:r>
              <a:rPr lang="en-GB" dirty="0"/>
              <a:t>Increase size and speed of </a:t>
            </a:r>
            <a:r>
              <a:rPr lang="en-GB" b="1" dirty="0">
                <a:solidFill>
                  <a:srgbClr val="C00000"/>
                </a:solidFill>
              </a:rPr>
              <a:t>caches</a:t>
            </a:r>
          </a:p>
          <a:p>
            <a:pPr lvl="1"/>
            <a:r>
              <a:rPr lang="en-GB" dirty="0"/>
              <a:t>Dedicating part of processor chip </a:t>
            </a:r>
          </a:p>
          <a:p>
            <a:pPr lvl="2"/>
            <a:r>
              <a:rPr lang="en-GB" dirty="0"/>
              <a:t>Cache access times drop significantly</a:t>
            </a:r>
          </a:p>
          <a:p>
            <a:r>
              <a:rPr lang="en-GB" b="1" dirty="0">
                <a:solidFill>
                  <a:srgbClr val="C00000"/>
                </a:solidFill>
              </a:rPr>
              <a:t>Change processor organization and architecture</a:t>
            </a:r>
          </a:p>
          <a:p>
            <a:pPr lvl="1"/>
            <a:r>
              <a:rPr lang="en-GB" dirty="0"/>
              <a:t>Increase effective speed of instruction execution</a:t>
            </a:r>
          </a:p>
          <a:p>
            <a:pPr lvl="1"/>
            <a:r>
              <a:rPr lang="en-GB" dirty="0"/>
              <a:t>Parallelism</a:t>
            </a:r>
          </a:p>
          <a:p>
            <a:pPr>
              <a:buFontTx/>
              <a:buNone/>
            </a:pPr>
            <a:endParaRPr lang="en-GB" dirty="0"/>
          </a:p>
        </p:txBody>
      </p:sp>
      <p:sp>
        <p:nvSpPr>
          <p:cNvPr id="4" name="슬라이드 번호 개체 틀 3"/>
          <p:cNvSpPr>
            <a:spLocks noGrp="1"/>
          </p:cNvSpPr>
          <p:nvPr>
            <p:ph type="sldNum" sz="quarter" idx="12"/>
          </p:nvPr>
        </p:nvSpPr>
        <p:spPr/>
        <p:txBody>
          <a:bodyPr/>
          <a:lstStyle/>
          <a:p>
            <a:fld id="{8AF02B71-8991-4516-A01E-F1A9ACD28BDC}" type="slidenum">
              <a:rPr lang="en-US" altLang="ko-KR" smtClean="0"/>
              <a:pPr/>
              <a:t>6</a:t>
            </a:fld>
            <a:endParaRPr lang="en-US" altLang="ko-K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2" name="Rectangle 4"/>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Problems with Clock Speed and Logic Density</a:t>
            </a:r>
          </a:p>
        </p:txBody>
      </p:sp>
      <p:sp>
        <p:nvSpPr>
          <p:cNvPr id="99333" name="Rectangle 5"/>
          <p:cNvSpPr>
            <a:spLocks noGrp="1" noChangeArrowheads="1"/>
          </p:cNvSpPr>
          <p:nvPr>
            <p:ph idx="1"/>
          </p:nvPr>
        </p:nvSpPr>
        <p:spPr>
          <a:xfrm>
            <a:off x="498474" y="1981200"/>
            <a:ext cx="7556313" cy="4616152"/>
          </a:xfrm>
        </p:spPr>
        <p:txBody>
          <a:bodyPr>
            <a:normAutofit fontScale="92500" lnSpcReduction="20000"/>
          </a:bodyPr>
          <a:lstStyle/>
          <a:p>
            <a:r>
              <a:rPr lang="en-GB" sz="2400" dirty="0"/>
              <a:t>Power   </a:t>
            </a:r>
          </a:p>
          <a:p>
            <a:pPr lvl="1"/>
            <a:r>
              <a:rPr lang="en-GB" sz="2000" b="1" dirty="0">
                <a:solidFill>
                  <a:srgbClr val="C00000"/>
                </a:solidFill>
              </a:rPr>
              <a:t>Power density increases with density of logic and clock speed</a:t>
            </a:r>
          </a:p>
          <a:p>
            <a:pPr lvl="1"/>
            <a:r>
              <a:rPr lang="en-GB" sz="2000" dirty="0"/>
              <a:t>Dissipating heat</a:t>
            </a:r>
          </a:p>
          <a:p>
            <a:r>
              <a:rPr lang="en-GB" sz="2400" dirty="0"/>
              <a:t>RC delay</a:t>
            </a:r>
          </a:p>
          <a:p>
            <a:pPr lvl="1"/>
            <a:r>
              <a:rPr lang="en-GB" sz="2000" dirty="0"/>
              <a:t>Speed at which electrons flow limited by resistance and capacitance of metal wires connecting them</a:t>
            </a:r>
          </a:p>
          <a:p>
            <a:pPr lvl="1"/>
            <a:r>
              <a:rPr lang="en-GB" sz="2000" dirty="0"/>
              <a:t>Delay increases as the RC product increases</a:t>
            </a:r>
          </a:p>
          <a:p>
            <a:pPr lvl="1"/>
            <a:r>
              <a:rPr lang="en-GB" sz="2000" dirty="0">
                <a:solidFill>
                  <a:srgbClr val="C00000"/>
                </a:solidFill>
              </a:rPr>
              <a:t>As components on the chip decrease in size, the wire interconnects become thinner, increasing resistance</a:t>
            </a:r>
          </a:p>
          <a:p>
            <a:pPr lvl="1"/>
            <a:r>
              <a:rPr lang="en-GB" sz="2000" dirty="0"/>
              <a:t>Also, the wires are closer together, increasing capacitance</a:t>
            </a:r>
          </a:p>
          <a:p>
            <a:r>
              <a:rPr lang="en-GB" sz="2400" dirty="0"/>
              <a:t>Memory latency</a:t>
            </a:r>
          </a:p>
          <a:p>
            <a:pPr lvl="1"/>
            <a:r>
              <a:rPr lang="en-GB" sz="2000" dirty="0"/>
              <a:t>Memory speeds lag processor speeds</a:t>
            </a:r>
          </a:p>
        </p:txBody>
      </p:sp>
      <mc:AlternateContent xmlns:mc="http://schemas.openxmlformats.org/markup-compatibility/2006" xmlns:a14="http://schemas.microsoft.com/office/drawing/2010/main">
        <mc:Choice Requires="a14">
          <p:sp>
            <p:nvSpPr>
              <p:cNvPr id="3" name="TextBox 2"/>
              <p:cNvSpPr txBox="1"/>
              <p:nvPr/>
            </p:nvSpPr>
            <p:spPr>
              <a:xfrm>
                <a:off x="4572000" y="1465273"/>
                <a:ext cx="2971006" cy="461665"/>
              </a:xfrm>
              <a:prstGeom prst="rect">
                <a:avLst/>
              </a:prstGeom>
              <a:solidFill>
                <a:schemeClr val="accent6">
                  <a:lumMod val="20000"/>
                  <a:lumOff val="80000"/>
                </a:scheme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ko-KR" b="0" i="1" smtClean="0">
                          <a:latin typeface="Cambria Math"/>
                        </a:rPr>
                        <m:t>𝑃𝑜𝑤𝑒𝑟</m:t>
                      </m:r>
                      <m:r>
                        <a:rPr lang="en-US" altLang="ko-KR" b="0" i="1" smtClean="0">
                          <a:latin typeface="Cambria Math"/>
                          <a:ea typeface="Cambria Math"/>
                        </a:rPr>
                        <m:t>∝</m:t>
                      </m:r>
                      <m:r>
                        <a:rPr lang="en-US" altLang="ko-KR" b="0" i="1" smtClean="0">
                          <a:latin typeface="Cambria Math"/>
                          <a:ea typeface="Cambria Math"/>
                        </a:rPr>
                        <m:t>𝐶</m:t>
                      </m:r>
                      <m:r>
                        <a:rPr lang="en-US" altLang="ko-KR" b="0" i="1" smtClean="0">
                          <a:latin typeface="Cambria Math"/>
                          <a:ea typeface="Cambria Math"/>
                        </a:rPr>
                        <m:t> ∗</m:t>
                      </m:r>
                      <m:sSup>
                        <m:sSupPr>
                          <m:ctrlPr>
                            <a:rPr lang="en-US" altLang="ko-KR" b="0" i="1" smtClean="0">
                              <a:latin typeface="Cambria Math" panose="02040503050406030204" pitchFamily="18" charset="0"/>
                              <a:ea typeface="Cambria Math"/>
                            </a:rPr>
                          </m:ctrlPr>
                        </m:sSupPr>
                        <m:e>
                          <m:r>
                            <a:rPr lang="en-US" altLang="ko-KR" b="0" i="1" smtClean="0">
                              <a:latin typeface="Cambria Math"/>
                              <a:ea typeface="Cambria Math"/>
                            </a:rPr>
                            <m:t>𝑉</m:t>
                          </m:r>
                        </m:e>
                        <m:sup>
                          <m:r>
                            <a:rPr lang="en-US" altLang="ko-KR" b="0" i="1" smtClean="0">
                              <a:latin typeface="Cambria Math"/>
                              <a:ea typeface="Cambria Math"/>
                            </a:rPr>
                            <m:t>2</m:t>
                          </m:r>
                        </m:sup>
                      </m:sSup>
                      <m:r>
                        <a:rPr lang="en-US" altLang="ko-KR" b="0" i="1" smtClean="0">
                          <a:latin typeface="Cambria Math"/>
                          <a:ea typeface="Cambria Math"/>
                        </a:rPr>
                        <m:t> ∗</m:t>
                      </m:r>
                      <m:r>
                        <a:rPr lang="en-US" altLang="ko-KR" b="0" i="1" smtClean="0">
                          <a:latin typeface="Cambria Math"/>
                          <a:ea typeface="Cambria Math"/>
                        </a:rPr>
                        <m:t>𝑓</m:t>
                      </m:r>
                    </m:oMath>
                  </m:oMathPara>
                </a14:m>
                <a:endParaRPr lang="ko-KR" altLang="en-US" dirty="0"/>
              </a:p>
            </p:txBody>
          </p:sp>
        </mc:Choice>
        <mc:Fallback xmlns="">
          <p:sp>
            <p:nvSpPr>
              <p:cNvPr id="3" name="TextBox 2"/>
              <p:cNvSpPr txBox="1">
                <a:spLocks noRot="1" noChangeAspect="1" noMove="1" noResize="1" noEditPoints="1" noAdjustHandles="1" noChangeArrowheads="1" noChangeShapeType="1" noTextEdit="1"/>
              </p:cNvSpPr>
              <p:nvPr/>
            </p:nvSpPr>
            <p:spPr>
              <a:xfrm>
                <a:off x="4572000" y="1465273"/>
                <a:ext cx="2971006" cy="461665"/>
              </a:xfrm>
              <a:prstGeom prst="rect">
                <a:avLst/>
              </a:prstGeom>
              <a:blipFill rotWithShape="1">
                <a:blip r:embed="rId3"/>
                <a:stretch>
                  <a:fillRect b="-18421"/>
                </a:stretch>
              </a:blipFill>
            </p:spPr>
            <p:txBody>
              <a:bodyPr/>
              <a:lstStyle/>
              <a:p>
                <a:r>
                  <a:rPr lang="ko-KR" altLang="en-US">
                    <a:noFill/>
                  </a:rPr>
                  <a:t> </a:t>
                </a:r>
              </a:p>
            </p:txBody>
          </p:sp>
        </mc:Fallback>
      </mc:AlternateContent>
      <p:pic>
        <p:nvPicPr>
          <p:cNvPr id="1026" name="Picture 2" descr="{R} = \rho \frac{l}{a} "/>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6296" y="4509120"/>
            <a:ext cx="899220" cy="576064"/>
          </a:xfrm>
          <a:prstGeom prst="rect">
            <a:avLst/>
          </a:prstGeom>
          <a:solidFill>
            <a:schemeClr val="accent6">
              <a:lumMod val="20000"/>
              <a:lumOff val="80000"/>
            </a:schemeClr>
          </a:solidFill>
        </p:spPr>
      </p:pic>
      <p:sp>
        <p:nvSpPr>
          <p:cNvPr id="4" name="슬라이드 번호 개체 틀 3"/>
          <p:cNvSpPr>
            <a:spLocks noGrp="1"/>
          </p:cNvSpPr>
          <p:nvPr>
            <p:ph type="sldNum" sz="quarter" idx="12"/>
          </p:nvPr>
        </p:nvSpPr>
        <p:spPr/>
        <p:txBody>
          <a:bodyPr/>
          <a:lstStyle/>
          <a:p>
            <a:fld id="{8AF02B71-8991-4516-A01E-F1A9ACD28BDC}" type="slidenum">
              <a:rPr lang="en-US" altLang="ko-KR" smtClean="0"/>
              <a:pPr/>
              <a:t>7</a:t>
            </a:fld>
            <a:endParaRPr lang="en-US" altLang="ko-K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p:cNvSpPr>
            <a:spLocks noGrp="1"/>
          </p:cNvSpPr>
          <p:nvPr>
            <p:ph type="sldNum" sz="quarter" idx="12"/>
          </p:nvPr>
        </p:nvSpPr>
        <p:spPr/>
        <p:txBody>
          <a:bodyPr/>
          <a:lstStyle/>
          <a:p>
            <a:fld id="{8AF02B71-8991-4516-A01E-F1A9ACD28BDC}" type="slidenum">
              <a:rPr lang="en-US" altLang="ko-KR" smtClean="0"/>
              <a:pPr/>
              <a:t>8</a:t>
            </a:fld>
            <a:endParaRPr lang="en-US" altLang="ko-KR"/>
          </a:p>
        </p:txBody>
      </p:sp>
      <p:pic>
        <p:nvPicPr>
          <p:cNvPr id="2" name="그림 1">
            <a:extLst>
              <a:ext uri="{FF2B5EF4-FFF2-40B4-BE49-F238E27FC236}">
                <a16:creationId xmlns:a16="http://schemas.microsoft.com/office/drawing/2014/main" id="{7CDB620C-E414-464E-A04C-B132BCD7F93B}"/>
              </a:ext>
            </a:extLst>
          </p:cNvPr>
          <p:cNvPicPr>
            <a:picLocks noChangeAspect="1"/>
          </p:cNvPicPr>
          <p:nvPr/>
        </p:nvPicPr>
        <p:blipFill>
          <a:blip r:embed="rId3"/>
          <a:stretch>
            <a:fillRect/>
          </a:stretch>
        </p:blipFill>
        <p:spPr>
          <a:xfrm>
            <a:off x="413289" y="332656"/>
            <a:ext cx="8713303" cy="5291989"/>
          </a:xfrm>
          <a:prstGeom prst="rect">
            <a:avLst/>
          </a:prstGeom>
        </p:spPr>
      </p:pic>
      <p:sp>
        <p:nvSpPr>
          <p:cNvPr id="5" name="TextBox 4">
            <a:extLst>
              <a:ext uri="{FF2B5EF4-FFF2-40B4-BE49-F238E27FC236}">
                <a16:creationId xmlns:a16="http://schemas.microsoft.com/office/drawing/2014/main" id="{4828625D-D68B-4B3F-BB2B-CAB580E22325}"/>
              </a:ext>
            </a:extLst>
          </p:cNvPr>
          <p:cNvSpPr txBox="1"/>
          <p:nvPr/>
        </p:nvSpPr>
        <p:spPr>
          <a:xfrm>
            <a:off x="3275856" y="5624645"/>
            <a:ext cx="3528392" cy="461665"/>
          </a:xfrm>
          <a:prstGeom prst="rect">
            <a:avLst/>
          </a:prstGeom>
          <a:noFill/>
        </p:spPr>
        <p:txBody>
          <a:bodyPr wrap="square" rtlCol="0">
            <a:spAutoFit/>
          </a:bodyPr>
          <a:lstStyle/>
          <a:p>
            <a:pPr algn="ctr"/>
            <a:r>
              <a:rPr lang="en-US" altLang="ko-KR"/>
              <a:t>Processor</a:t>
            </a:r>
            <a:r>
              <a:rPr lang="ko-KR" altLang="en-US"/>
              <a:t> </a:t>
            </a:r>
            <a:r>
              <a:rPr lang="en-US" altLang="ko-KR"/>
              <a:t>Trends</a:t>
            </a:r>
            <a:endParaRPr lang="ko-KR" altLang="en-US"/>
          </a:p>
        </p:txBody>
      </p:sp>
    </p:spTree>
  </p:cSld>
  <p:clrMapOvr>
    <a:masterClrMapping/>
  </p:clrMapOvr>
  <p:transition spd="med">
    <p:push/>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0" name="Content Placeholder 19"/>
          <p:cNvGraphicFramePr>
            <a:graphicFrameLocks noGrp="1"/>
          </p:cNvGraphicFramePr>
          <p:nvPr>
            <p:ph idx="4294967295"/>
            <p:extLst>
              <p:ext uri="{D42A27DB-BD31-4B8C-83A1-F6EECF244321}">
                <p14:modId xmlns:p14="http://schemas.microsoft.com/office/powerpoint/2010/main" val="846400964"/>
              </p:ext>
            </p:extLst>
          </p:nvPr>
        </p:nvGraphicFramePr>
        <p:xfrm>
          <a:off x="557360" y="153348"/>
          <a:ext cx="8229600" cy="6248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2404" name="Rectangle 4"/>
          <p:cNvSpPr>
            <a:spLocks noGrp="1" noChangeArrowheads="1"/>
          </p:cNvSpPr>
          <p:nvPr>
            <p:ph type="title" idx="4294967295"/>
          </p:nvPr>
        </p:nvSpPr>
        <p:spPr>
          <a:xfrm>
            <a:off x="899592" y="692696"/>
            <a:ext cx="7556500" cy="1116012"/>
          </a:xfrm>
        </p:spPr>
        <p:txBody>
          <a:bodyPr/>
          <a:lstStyle/>
          <a:p>
            <a:r>
              <a:rPr lang="en-GB" dirty="0">
                <a:solidFill>
                  <a:schemeClr val="accent3">
                    <a:lumMod val="75000"/>
                  </a:schemeClr>
                </a:solidFill>
                <a:effectLst>
                  <a:outerShdw blurRad="38100" dist="38100" dir="2700000" algn="tl">
                    <a:srgbClr val="000000">
                      <a:alpha val="43137"/>
                    </a:srgbClr>
                  </a:outerShdw>
                </a:effectLst>
              </a:rPr>
              <a:t>Multicore</a:t>
            </a:r>
          </a:p>
        </p:txBody>
      </p:sp>
      <p:sp>
        <p:nvSpPr>
          <p:cNvPr id="28" name="TextBox 27"/>
          <p:cNvSpPr txBox="1"/>
          <p:nvPr/>
        </p:nvSpPr>
        <p:spPr>
          <a:xfrm>
            <a:off x="186267" y="1811867"/>
            <a:ext cx="184666" cy="461665"/>
          </a:xfrm>
          <a:prstGeom prst="rect">
            <a:avLst/>
          </a:prstGeom>
          <a:noFill/>
        </p:spPr>
        <p:txBody>
          <a:bodyPr wrap="none" rtlCol="0">
            <a:spAutoFit/>
          </a:bodyPr>
          <a:lstStyle/>
          <a:p>
            <a:endParaRPr lang="en-US" dirty="0"/>
          </a:p>
        </p:txBody>
      </p:sp>
      <p:sp>
        <p:nvSpPr>
          <p:cNvPr id="30" name="TextBox 29"/>
          <p:cNvSpPr txBox="1"/>
          <p:nvPr/>
        </p:nvSpPr>
        <p:spPr>
          <a:xfrm>
            <a:off x="321733" y="795867"/>
            <a:ext cx="184666" cy="461665"/>
          </a:xfrm>
          <a:prstGeom prst="rect">
            <a:avLst/>
          </a:prstGeom>
          <a:noFill/>
        </p:spPr>
        <p:txBody>
          <a:bodyPr wrap="none" rtlCol="0">
            <a:spAutoFit/>
          </a:bodyPr>
          <a:lstStyle/>
          <a:p>
            <a:endParaRPr lang="en-US" dirty="0"/>
          </a:p>
        </p:txBody>
      </p:sp>
      <p:sp>
        <p:nvSpPr>
          <p:cNvPr id="3" name="슬라이드 번호 개체 틀 2"/>
          <p:cNvSpPr>
            <a:spLocks noGrp="1"/>
          </p:cNvSpPr>
          <p:nvPr>
            <p:ph type="sldNum" sz="quarter" idx="12"/>
          </p:nvPr>
        </p:nvSpPr>
        <p:spPr/>
        <p:txBody>
          <a:bodyPr/>
          <a:lstStyle/>
          <a:p>
            <a:fld id="{8AF02B71-8991-4516-A01E-F1A9ACD28BDC}" type="slidenum">
              <a:rPr lang="en-US" altLang="ko-KR" smtClean="0"/>
              <a:pPr/>
              <a:t>9</a:t>
            </a:fld>
            <a:endParaRPr lang="en-US" altLang="ko-K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8" name="Rectangle 4"/>
          <p:cNvSpPr>
            <a:spLocks noGrp="1" noChangeArrowheads="1"/>
          </p:cNvSpPr>
          <p:nvPr>
            <p:ph type="title"/>
          </p:nvPr>
        </p:nvSpPr>
        <p:spPr>
          <a:xfrm>
            <a:off x="498474" y="484094"/>
            <a:ext cx="7556313" cy="1344706"/>
          </a:xfrm>
        </p:spPr>
        <p:txBody>
          <a:bodyPr/>
          <a:lstStyle/>
          <a:p>
            <a:pPr>
              <a:spcBef>
                <a:spcPts val="600"/>
              </a:spcBef>
              <a:spcAft>
                <a:spcPts val="600"/>
              </a:spcAft>
            </a:pPr>
            <a:r>
              <a:rPr lang="en-GB" dirty="0">
                <a:effectLst>
                  <a:outerShdw blurRad="38100" dist="38100" dir="2700000" algn="tl">
                    <a:srgbClr val="000000">
                      <a:alpha val="43137"/>
                    </a:srgbClr>
                  </a:outerShdw>
                </a:effectLst>
              </a:rPr>
              <a:t>Many Integrated Core (MIC)</a:t>
            </a:r>
            <a:br>
              <a:rPr lang="en-GB" dirty="0">
                <a:effectLst>
                  <a:outerShdw blurRad="38100" dist="38100" dir="2700000" algn="tl">
                    <a:srgbClr val="000000">
                      <a:alpha val="43137"/>
                    </a:srgbClr>
                  </a:outerShdw>
                </a:effectLst>
              </a:rPr>
            </a:br>
            <a:r>
              <a:rPr lang="en-GB" dirty="0">
                <a:effectLst>
                  <a:outerShdw blurRad="38100" dist="38100" dir="2700000" algn="tl">
                    <a:srgbClr val="000000">
                      <a:alpha val="43137"/>
                    </a:srgbClr>
                  </a:outerShdw>
                </a:effectLst>
              </a:rPr>
              <a:t>      </a:t>
            </a:r>
            <a:r>
              <a:rPr lang="en-US" dirty="0">
                <a:effectLst>
                  <a:outerShdw blurRad="38100" dist="38100" dir="2700000" algn="tl">
                    <a:srgbClr val="000000">
                      <a:alpha val="43137"/>
                    </a:srgbClr>
                  </a:outerShdw>
                </a:effectLst>
              </a:rPr>
              <a:t>Graphics Processing Unit (GPU)</a:t>
            </a:r>
            <a:br>
              <a:rPr lang="en-US" dirty="0"/>
            </a:br>
            <a:endParaRPr lang="en-GB" dirty="0"/>
          </a:p>
        </p:txBody>
      </p:sp>
      <p:sp>
        <p:nvSpPr>
          <p:cNvPr id="103429" name="Rectangle 5"/>
          <p:cNvSpPr>
            <a:spLocks noGrp="1" noChangeArrowheads="1"/>
          </p:cNvSpPr>
          <p:nvPr>
            <p:ph sz="half" idx="2"/>
          </p:nvPr>
        </p:nvSpPr>
        <p:spPr/>
        <p:txBody>
          <a:bodyPr/>
          <a:lstStyle/>
          <a:p>
            <a:r>
              <a:rPr lang="en-GB" dirty="0">
                <a:solidFill>
                  <a:srgbClr val="C00000"/>
                </a:solidFill>
              </a:rPr>
              <a:t>Leap in performance </a:t>
            </a:r>
            <a:r>
              <a:rPr lang="en-GB" dirty="0"/>
              <a:t>as well as </a:t>
            </a:r>
            <a:r>
              <a:rPr lang="en-GB" dirty="0">
                <a:solidFill>
                  <a:srgbClr val="C00000"/>
                </a:solidFill>
              </a:rPr>
              <a:t>the challenges in developing software </a:t>
            </a:r>
            <a:r>
              <a:rPr lang="en-GB" dirty="0"/>
              <a:t>to exploit such a large number of cores</a:t>
            </a:r>
          </a:p>
          <a:p>
            <a:r>
              <a:rPr lang="en-GB" dirty="0"/>
              <a:t>The multicore and MIC strategy involves a homogeneous collection of general purpose processors on a single chip</a:t>
            </a:r>
          </a:p>
          <a:p>
            <a:endParaRPr lang="en-GB" dirty="0"/>
          </a:p>
          <a:p>
            <a:endParaRPr lang="en-GB" dirty="0"/>
          </a:p>
        </p:txBody>
      </p:sp>
      <p:sp>
        <p:nvSpPr>
          <p:cNvPr id="16" name="Content Placeholder 15"/>
          <p:cNvSpPr>
            <a:spLocks noGrp="1"/>
          </p:cNvSpPr>
          <p:nvPr>
            <p:ph sz="quarter" idx="4"/>
          </p:nvPr>
        </p:nvSpPr>
        <p:spPr>
          <a:xfrm>
            <a:off x="4399878" y="2447365"/>
            <a:ext cx="3753522" cy="4182035"/>
          </a:xfrm>
        </p:spPr>
        <p:txBody>
          <a:bodyPr>
            <a:normAutofit/>
          </a:bodyPr>
          <a:lstStyle/>
          <a:p>
            <a:r>
              <a:rPr lang="en-US" dirty="0"/>
              <a:t>Core designed to perform parallel operations on graphics data</a:t>
            </a:r>
          </a:p>
          <a:p>
            <a:r>
              <a:rPr lang="en-US" dirty="0"/>
              <a:t>Traditionally found on a plug-in graphics card, it is used to encode and render 2D and 3D graphics as well as process video</a:t>
            </a:r>
          </a:p>
          <a:p>
            <a:r>
              <a:rPr lang="en-US" dirty="0"/>
              <a:t>Used as vector processors for a variety of applications that require repetitive computations</a:t>
            </a:r>
          </a:p>
        </p:txBody>
      </p:sp>
      <p:sp>
        <p:nvSpPr>
          <p:cNvPr id="5" name="Text Placeholder 4"/>
          <p:cNvSpPr>
            <a:spLocks noGrp="1"/>
          </p:cNvSpPr>
          <p:nvPr>
            <p:ph type="body" idx="1"/>
          </p:nvPr>
        </p:nvSpPr>
        <p:spPr/>
        <p:txBody>
          <a:bodyPr/>
          <a:lstStyle/>
          <a:p>
            <a:r>
              <a:rPr lang="en-US" dirty="0"/>
              <a:t>MIC	</a:t>
            </a:r>
            <a:endParaRPr lang="en-US" sz="3000" dirty="0">
              <a:solidFill>
                <a:schemeClr val="accent1"/>
              </a:solidFill>
            </a:endParaRPr>
          </a:p>
        </p:txBody>
      </p:sp>
      <p:sp>
        <p:nvSpPr>
          <p:cNvPr id="15" name="Text Placeholder 14"/>
          <p:cNvSpPr>
            <a:spLocks noGrp="1"/>
          </p:cNvSpPr>
          <p:nvPr>
            <p:ph type="body" sz="quarter" idx="3"/>
          </p:nvPr>
        </p:nvSpPr>
        <p:spPr/>
        <p:txBody>
          <a:bodyPr/>
          <a:lstStyle/>
          <a:p>
            <a:r>
              <a:rPr lang="en-US" dirty="0"/>
              <a:t>GPU</a:t>
            </a:r>
          </a:p>
        </p:txBody>
      </p:sp>
      <p:sp>
        <p:nvSpPr>
          <p:cNvPr id="3" name="슬라이드 번호 개체 틀 2"/>
          <p:cNvSpPr>
            <a:spLocks noGrp="1"/>
          </p:cNvSpPr>
          <p:nvPr>
            <p:ph type="sldNum" sz="quarter" idx="12"/>
          </p:nvPr>
        </p:nvSpPr>
        <p:spPr/>
        <p:txBody>
          <a:bodyPr/>
          <a:lstStyle/>
          <a:p>
            <a:fld id="{8AF02B71-8991-4516-A01E-F1A9ACD28BDC}" type="slidenum">
              <a:rPr lang="en-US" altLang="ko-KR" smtClean="0"/>
              <a:pPr/>
              <a:t>10</a:t>
            </a:fld>
            <a:endParaRPr lang="en-US" altLang="ko-K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a:xfrm>
            <a:off x="304800" y="1905000"/>
            <a:ext cx="3255264" cy="1162050"/>
          </a:xfrm>
        </p:spPr>
        <p:txBody>
          <a:bodyPr>
            <a:noAutofit/>
          </a:bodyPr>
          <a:lstStyle/>
          <a:p>
            <a:pPr algn="ctr"/>
            <a:r>
              <a:rPr lang="en-GB" sz="4400" dirty="0">
                <a:effectLst>
                  <a:outerShdw blurRad="38100" dist="38100" dir="2700000" algn="tl">
                    <a:srgbClr val="000000">
                      <a:alpha val="43137"/>
                    </a:srgbClr>
                  </a:outerShdw>
                </a:effectLst>
              </a:rPr>
              <a:t>Amdahl’s Law</a:t>
            </a:r>
          </a:p>
        </p:txBody>
      </p:sp>
      <p:sp>
        <p:nvSpPr>
          <p:cNvPr id="120835" name="Rectangle 3"/>
          <p:cNvSpPr>
            <a:spLocks noGrp="1" noChangeArrowheads="1"/>
          </p:cNvSpPr>
          <p:nvPr>
            <p:ph idx="1"/>
          </p:nvPr>
        </p:nvSpPr>
        <p:spPr>
          <a:xfrm>
            <a:off x="4168775" y="457200"/>
            <a:ext cx="4597399" cy="6096000"/>
          </a:xfrm>
        </p:spPr>
        <p:txBody>
          <a:bodyPr>
            <a:normAutofit/>
          </a:bodyPr>
          <a:lstStyle/>
          <a:p>
            <a:r>
              <a:rPr lang="en-GB" dirty="0"/>
              <a:t>Gene Amdahl</a:t>
            </a:r>
          </a:p>
          <a:p>
            <a:r>
              <a:rPr lang="en-GB" dirty="0"/>
              <a:t>Deals with the potential </a:t>
            </a:r>
            <a:r>
              <a:rPr lang="en-GB" dirty="0">
                <a:solidFill>
                  <a:srgbClr val="C00000"/>
                </a:solidFill>
              </a:rPr>
              <a:t>speedup of a program using multiple processors compared to a single processor</a:t>
            </a:r>
          </a:p>
          <a:p>
            <a:r>
              <a:rPr lang="en-GB" dirty="0"/>
              <a:t>Illustrates the problems facing industry in the development of multi-core machines</a:t>
            </a:r>
          </a:p>
          <a:p>
            <a:pPr lvl="1"/>
            <a:r>
              <a:rPr lang="en-GB" dirty="0">
                <a:solidFill>
                  <a:srgbClr val="FF0000"/>
                </a:solidFill>
              </a:rPr>
              <a:t>Software must be adapted to a highly parallel execution environment to exploit the power of parallel processing</a:t>
            </a:r>
          </a:p>
          <a:p>
            <a:r>
              <a:rPr lang="en-GB" dirty="0"/>
              <a:t>Can be generalized to evaluate and design technical improvement in a computer system</a:t>
            </a:r>
          </a:p>
          <a:p>
            <a:endParaRPr lang="en-GB" dirty="0"/>
          </a:p>
          <a:p>
            <a:endParaRPr lang="en-GB" dirty="0"/>
          </a:p>
          <a:p>
            <a:endParaRPr lang="en-GB" dirty="0"/>
          </a:p>
          <a:p>
            <a:endParaRPr lang="en-GB" dirty="0"/>
          </a:p>
          <a:p>
            <a:endParaRPr lang="en-GB" dirty="0"/>
          </a:p>
        </p:txBody>
      </p:sp>
    </p:spTree>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467544" y="21284"/>
            <a:ext cx="7556313" cy="1116106"/>
          </a:xfrm>
        </p:spPr>
        <p:txBody>
          <a:bodyPr vert="horz" lIns="91440" tIns="45720" rIns="91440" bIns="45720" rtlCol="0" anchor="t" anchorCtr="0">
            <a:noAutofit/>
          </a:bodyPr>
          <a:lstStyle/>
          <a:p>
            <a:r>
              <a:rPr lang="en-GB" altLang="ko-KR" dirty="0">
                <a:effectLst>
                  <a:outerShdw blurRad="38100" dist="38100" dir="2700000" algn="tl">
                    <a:srgbClr val="000000">
                      <a:alpha val="43137"/>
                    </a:srgbClr>
                  </a:outerShdw>
                </a:effectLst>
              </a:rPr>
              <a:t>Amdahl’s Law Formula</a:t>
            </a:r>
          </a:p>
        </p:txBody>
      </p:sp>
      <p:sp>
        <p:nvSpPr>
          <p:cNvPr id="64515" name="Rectangle 3"/>
          <p:cNvSpPr>
            <a:spLocks noGrp="1" noChangeArrowheads="1"/>
          </p:cNvSpPr>
          <p:nvPr>
            <p:ph type="body" idx="1"/>
          </p:nvPr>
        </p:nvSpPr>
        <p:spPr>
          <a:xfrm>
            <a:off x="468313" y="5157788"/>
            <a:ext cx="8178800" cy="1655762"/>
          </a:xfrm>
        </p:spPr>
        <p:txBody>
          <a:bodyPr/>
          <a:lstStyle/>
          <a:p>
            <a:r>
              <a:rPr lang="en-GB" altLang="ko-KR" sz="2400" dirty="0">
                <a:ea typeface="굴림" charset="-127"/>
              </a:rPr>
              <a:t>Conclusions</a:t>
            </a:r>
          </a:p>
          <a:p>
            <a:pPr lvl="1"/>
            <a:r>
              <a:rPr lang="en-GB" altLang="ko-KR" sz="2000" i="1" dirty="0">
                <a:ea typeface="굴림" charset="-127"/>
              </a:rPr>
              <a:t>f </a:t>
            </a:r>
            <a:r>
              <a:rPr lang="en-GB" altLang="ko-KR" sz="2000" dirty="0">
                <a:ea typeface="굴림" charset="-127"/>
              </a:rPr>
              <a:t>small, parallel processors has little effect</a:t>
            </a:r>
          </a:p>
          <a:p>
            <a:pPr lvl="1"/>
            <a:r>
              <a:rPr lang="en-GB" altLang="ko-KR" sz="2000" i="1" dirty="0">
                <a:solidFill>
                  <a:srgbClr val="C00000"/>
                </a:solidFill>
                <a:ea typeface="굴림" charset="-127"/>
              </a:rPr>
              <a:t>N </a:t>
            </a:r>
            <a:r>
              <a:rPr lang="en-GB" altLang="ko-KR" sz="2000" dirty="0">
                <a:solidFill>
                  <a:srgbClr val="C00000"/>
                </a:solidFill>
                <a:ea typeface="굴림" charset="-127"/>
                <a:sym typeface="Wingdings" pitchFamily="2" charset="2"/>
              </a:rPr>
              <a:t> </a:t>
            </a:r>
            <a:r>
              <a:rPr lang="en-GB" altLang="ko-KR" sz="2000" dirty="0">
                <a:solidFill>
                  <a:srgbClr val="C00000"/>
                </a:solidFill>
                <a:ea typeface="굴림" charset="-127"/>
              </a:rPr>
              <a:t>∞, speedup bound by 1/(1 – </a:t>
            </a:r>
            <a:r>
              <a:rPr lang="en-GB" altLang="ko-KR" sz="2000" i="1" dirty="0">
                <a:solidFill>
                  <a:srgbClr val="C00000"/>
                </a:solidFill>
                <a:ea typeface="굴림" charset="-127"/>
              </a:rPr>
              <a:t>f</a:t>
            </a:r>
            <a:r>
              <a:rPr lang="en-GB" altLang="ko-KR" sz="2000" dirty="0">
                <a:solidFill>
                  <a:srgbClr val="C00000"/>
                </a:solidFill>
                <a:ea typeface="굴림" charset="-127"/>
              </a:rPr>
              <a:t>)</a:t>
            </a:r>
          </a:p>
          <a:p>
            <a:pPr lvl="2"/>
            <a:r>
              <a:rPr lang="en-GB" altLang="ko-KR" sz="1800" dirty="0">
                <a:ea typeface="굴림" charset="-127"/>
              </a:rPr>
              <a:t>Diminishing returns for using more processors</a:t>
            </a:r>
          </a:p>
        </p:txBody>
      </p:sp>
      <p:pic>
        <p:nvPicPr>
          <p:cNvPr id="64516" name="Picture 4"/>
          <p:cNvPicPr>
            <a:picLocks noChangeAspect="1" noChangeArrowheads="1"/>
          </p:cNvPicPr>
          <p:nvPr/>
        </p:nvPicPr>
        <p:blipFill>
          <a:blip r:embed="rId3">
            <a:extLst>
              <a:ext uri="{28A0092B-C50C-407E-A947-70E740481C1C}">
                <a14:useLocalDpi xmlns:a14="http://schemas.microsoft.com/office/drawing/2010/main" val="0"/>
              </a:ext>
            </a:extLst>
          </a:blip>
          <a:srcRect l="2693" t="10558" r="2991" b="26218"/>
          <a:stretch>
            <a:fillRect/>
          </a:stretch>
        </p:blipFill>
        <p:spPr bwMode="auto">
          <a:xfrm>
            <a:off x="250825" y="4005263"/>
            <a:ext cx="8532813" cy="97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7" name="Rectangle 5"/>
          <p:cNvSpPr>
            <a:spLocks noChangeArrowheads="1"/>
          </p:cNvSpPr>
          <p:nvPr/>
        </p:nvSpPr>
        <p:spPr bwMode="auto">
          <a:xfrm>
            <a:off x="395288" y="1125538"/>
            <a:ext cx="8178800" cy="196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20000"/>
              </a:spcBef>
              <a:buClr>
                <a:srgbClr val="008080"/>
              </a:buClr>
              <a:buFontTx/>
              <a:buChar char="•"/>
            </a:pPr>
            <a:r>
              <a:rPr kumimoji="1" lang="en-GB" altLang="ko-KR" dirty="0">
                <a:latin typeface="Verdana" pitchFamily="34" charset="0"/>
                <a:ea typeface="굴림" charset="-127"/>
              </a:rPr>
              <a:t>For program running on single processor</a:t>
            </a:r>
          </a:p>
          <a:p>
            <a:pPr marL="742950" lvl="1" indent="-285750">
              <a:spcBef>
                <a:spcPct val="20000"/>
              </a:spcBef>
              <a:buClr>
                <a:srgbClr val="008080"/>
              </a:buClr>
              <a:buFontTx/>
              <a:buChar char="—"/>
            </a:pPr>
            <a:r>
              <a:rPr kumimoji="1" lang="en-GB" altLang="ko-KR" sz="2000" dirty="0">
                <a:solidFill>
                  <a:srgbClr val="6666FF"/>
                </a:solidFill>
                <a:latin typeface="Verdana" pitchFamily="34" charset="0"/>
                <a:ea typeface="굴림" charset="-127"/>
              </a:rPr>
              <a:t>Fraction</a:t>
            </a:r>
            <a:r>
              <a:rPr kumimoji="1" lang="en-GB" altLang="ko-KR" sz="2000" i="1" dirty="0">
                <a:solidFill>
                  <a:srgbClr val="6666FF"/>
                </a:solidFill>
                <a:latin typeface="Verdana" pitchFamily="34" charset="0"/>
                <a:ea typeface="굴림" charset="-127"/>
              </a:rPr>
              <a:t> f </a:t>
            </a:r>
            <a:r>
              <a:rPr kumimoji="1" lang="en-GB" altLang="ko-KR" sz="2000" dirty="0">
                <a:solidFill>
                  <a:srgbClr val="6666FF"/>
                </a:solidFill>
                <a:latin typeface="Verdana" pitchFamily="34" charset="0"/>
                <a:ea typeface="굴림" charset="-127"/>
              </a:rPr>
              <a:t>of code infinitely parallelizable </a:t>
            </a:r>
            <a:r>
              <a:rPr kumimoji="1" lang="en-GB" altLang="ko-KR" sz="2000" dirty="0">
                <a:latin typeface="Verdana" pitchFamily="34" charset="0"/>
                <a:ea typeface="굴림" charset="-127"/>
              </a:rPr>
              <a:t>with no scheduling overhead</a:t>
            </a:r>
          </a:p>
          <a:p>
            <a:pPr marL="742950" lvl="1" indent="-285750">
              <a:spcBef>
                <a:spcPct val="20000"/>
              </a:spcBef>
              <a:buClr>
                <a:srgbClr val="008080"/>
              </a:buClr>
              <a:buFontTx/>
              <a:buChar char="—"/>
            </a:pPr>
            <a:r>
              <a:rPr kumimoji="1" lang="en-GB" altLang="ko-KR" sz="2000" dirty="0">
                <a:solidFill>
                  <a:srgbClr val="FF0000"/>
                </a:solidFill>
                <a:latin typeface="Verdana" pitchFamily="34" charset="0"/>
                <a:ea typeface="굴림" charset="-127"/>
              </a:rPr>
              <a:t>Fraction (1-</a:t>
            </a:r>
            <a:r>
              <a:rPr kumimoji="1" lang="en-GB" altLang="ko-KR" sz="2000" i="1" dirty="0">
                <a:solidFill>
                  <a:srgbClr val="FF0000"/>
                </a:solidFill>
                <a:latin typeface="Verdana" pitchFamily="34" charset="0"/>
                <a:ea typeface="굴림" charset="-127"/>
              </a:rPr>
              <a:t>f</a:t>
            </a:r>
            <a:r>
              <a:rPr kumimoji="1" lang="en-GB" altLang="ko-KR" sz="2000" dirty="0">
                <a:solidFill>
                  <a:srgbClr val="FF0000"/>
                </a:solidFill>
                <a:latin typeface="Verdana" pitchFamily="34" charset="0"/>
                <a:ea typeface="굴림" charset="-127"/>
              </a:rPr>
              <a:t>) of code inherently serial</a:t>
            </a:r>
          </a:p>
          <a:p>
            <a:pPr marL="742950" lvl="1" indent="-285750">
              <a:spcBef>
                <a:spcPct val="20000"/>
              </a:spcBef>
              <a:buClr>
                <a:srgbClr val="008080"/>
              </a:buClr>
              <a:buFontTx/>
              <a:buChar char="—"/>
            </a:pPr>
            <a:r>
              <a:rPr kumimoji="1" lang="en-GB" altLang="ko-KR" sz="2000" dirty="0">
                <a:latin typeface="Verdana" pitchFamily="34" charset="0"/>
                <a:ea typeface="굴림" charset="-127"/>
              </a:rPr>
              <a:t>T is total execution time for program on single processor</a:t>
            </a:r>
          </a:p>
          <a:p>
            <a:pPr marL="742950" lvl="1" indent="-285750">
              <a:spcBef>
                <a:spcPct val="20000"/>
              </a:spcBef>
              <a:buClr>
                <a:srgbClr val="008080"/>
              </a:buClr>
              <a:buFontTx/>
              <a:buChar char="—"/>
            </a:pPr>
            <a:r>
              <a:rPr kumimoji="1" lang="en-GB" altLang="ko-KR" sz="2000" dirty="0">
                <a:latin typeface="Verdana" pitchFamily="34" charset="0"/>
                <a:ea typeface="굴림" charset="-127"/>
              </a:rPr>
              <a:t>N is number of processors that fully exploit parallel portions of code</a:t>
            </a:r>
          </a:p>
        </p:txBody>
      </p:sp>
      <p:sp>
        <p:nvSpPr>
          <p:cNvPr id="64518" name="Rectangle 13"/>
          <p:cNvSpPr txBox="1">
            <a:spLocks noChangeArrowheads="1"/>
          </p:cNvSpPr>
          <p:nvPr/>
        </p:nvSpPr>
        <p:spPr bwMode="auto">
          <a:xfrm>
            <a:off x="7000875" y="6577013"/>
            <a:ext cx="1905000" cy="28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r"/>
            <a:fld id="{A17A3C9B-3488-4050-A5EE-62812FAE93AC}" type="slidenum">
              <a:rPr lang="en-US" altLang="ko-KR" sz="1100">
                <a:ea typeface="굴림" charset="-127"/>
              </a:rPr>
              <a:pPr algn="r"/>
              <a:t>12</a:t>
            </a:fld>
            <a:endParaRPr lang="en-US" altLang="ko-KR" sz="1100">
              <a:ea typeface="굴림" charset="-127"/>
            </a:endParaRPr>
          </a:p>
        </p:txBody>
      </p:sp>
    </p:spTree>
    <p:extLst>
      <p:ext uri="{BB962C8B-B14F-4D97-AF65-F5344CB8AC3E}">
        <p14:creationId xmlns:p14="http://schemas.microsoft.com/office/powerpoint/2010/main" val="751987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3.pdf"/>
          <p:cNvPicPr>
            <a:picLocks noChangeAspect="1"/>
          </p:cNvPicPr>
          <p:nvPr/>
        </p:nvPicPr>
        <p:blipFill rotWithShape="1">
          <a:blip r:embed="rId3">
            <a:extLst>
              <a:ext uri="{28A0092B-C50C-407E-A947-70E740481C1C}">
                <a14:useLocalDpi xmlns:a14="http://schemas.microsoft.com/office/drawing/2010/main" val="0"/>
              </a:ext>
            </a:extLst>
          </a:blip>
          <a:srcRect t="20131" b="26723"/>
          <a:stretch/>
        </p:blipFill>
        <p:spPr>
          <a:xfrm>
            <a:off x="15593" y="188640"/>
            <a:ext cx="9697158" cy="6669360"/>
          </a:xfrm>
          <a:prstGeom prst="rect">
            <a:avLst/>
          </a:prstGeom>
        </p:spPr>
      </p:pic>
      <p:sp>
        <p:nvSpPr>
          <p:cNvPr id="4" name="슬라이드 번호 개체 틀 3"/>
          <p:cNvSpPr>
            <a:spLocks noGrp="1"/>
          </p:cNvSpPr>
          <p:nvPr>
            <p:ph type="sldNum" sz="quarter" idx="12"/>
          </p:nvPr>
        </p:nvSpPr>
        <p:spPr/>
        <p:txBody>
          <a:bodyPr/>
          <a:lstStyle/>
          <a:p>
            <a:fld id="{8AF02B71-8991-4516-A01E-F1A9ACD28BDC}" type="slidenum">
              <a:rPr lang="en-US" altLang="ko-KR" smtClean="0"/>
              <a:pPr/>
              <a:t>13</a:t>
            </a:fld>
            <a:endParaRPr lang="en-US" altLang="ko-KR"/>
          </a:p>
        </p:txBody>
      </p:sp>
    </p:spTree>
  </p:cSld>
  <p:clrMapOvr>
    <a:masterClrMapping/>
  </p:clrMapOvr>
  <p:transition spd="med">
    <p:pull dir="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4.pdf"/>
          <p:cNvPicPr>
            <a:picLocks noChangeAspect="1"/>
          </p:cNvPicPr>
          <p:nvPr/>
        </p:nvPicPr>
        <p:blipFill rotWithShape="1">
          <a:blip r:embed="rId3">
            <a:extLst>
              <a:ext uri="{28A0092B-C50C-407E-A947-70E740481C1C}">
                <a14:useLocalDpi xmlns:a14="http://schemas.microsoft.com/office/drawing/2010/main" val="0"/>
              </a:ext>
            </a:extLst>
          </a:blip>
          <a:srcRect t="20735" b="15651"/>
          <a:stretch/>
        </p:blipFill>
        <p:spPr>
          <a:xfrm>
            <a:off x="899592" y="26092"/>
            <a:ext cx="7962042" cy="6554620"/>
          </a:xfrm>
          <a:prstGeom prst="rect">
            <a:avLst/>
          </a:prstGeom>
        </p:spPr>
      </p:pic>
      <p:sp>
        <p:nvSpPr>
          <p:cNvPr id="4" name="직사각형 3"/>
          <p:cNvSpPr/>
          <p:nvPr/>
        </p:nvSpPr>
        <p:spPr>
          <a:xfrm>
            <a:off x="1763688" y="764704"/>
            <a:ext cx="4572000" cy="307777"/>
          </a:xfrm>
          <a:prstGeom prst="rect">
            <a:avLst/>
          </a:prstGeom>
        </p:spPr>
        <p:txBody>
          <a:bodyPr>
            <a:spAutoFit/>
          </a:bodyPr>
          <a:lstStyle/>
          <a:p>
            <a:r>
              <a:rPr kumimoji="1" lang="en-GB" altLang="ko-KR" sz="1400" i="1" dirty="0">
                <a:solidFill>
                  <a:srgbClr val="6666FF"/>
                </a:solidFill>
                <a:latin typeface="Verdana" pitchFamily="34" charset="0"/>
                <a:ea typeface="굴림" charset="-127"/>
              </a:rPr>
              <a:t>F: </a:t>
            </a:r>
            <a:r>
              <a:rPr kumimoji="1" lang="en-GB" altLang="ko-KR" sz="1400" dirty="0">
                <a:solidFill>
                  <a:srgbClr val="6666FF"/>
                </a:solidFill>
                <a:latin typeface="Verdana" pitchFamily="34" charset="0"/>
                <a:ea typeface="굴림" charset="-127"/>
              </a:rPr>
              <a:t>Fraction of code infinitely parallelizable </a:t>
            </a:r>
            <a:endParaRPr lang="ko-KR" altLang="en-US" sz="1400" dirty="0"/>
          </a:p>
        </p:txBody>
      </p:sp>
      <p:sp>
        <p:nvSpPr>
          <p:cNvPr id="5" name="직사각형 4"/>
          <p:cNvSpPr/>
          <p:nvPr/>
        </p:nvSpPr>
        <p:spPr>
          <a:xfrm>
            <a:off x="1763688" y="1556792"/>
            <a:ext cx="6397046" cy="1077218"/>
          </a:xfrm>
          <a:prstGeom prst="rect">
            <a:avLst/>
          </a:prstGeom>
        </p:spPr>
        <p:txBody>
          <a:bodyPr wrap="square">
            <a:spAutoFit/>
          </a:bodyPr>
          <a:lstStyle/>
          <a:p>
            <a:r>
              <a:rPr lang="en-US" altLang="ko-KR" sz="1600" dirty="0"/>
              <a:t>1. When </a:t>
            </a:r>
            <a:r>
              <a:rPr lang="en-US" altLang="ko-KR" sz="1600" i="1" dirty="0"/>
              <a:t>f is small, the use of parallel processors has little effect.</a:t>
            </a:r>
          </a:p>
          <a:p>
            <a:endParaRPr lang="en-US" altLang="ko-KR" sz="1600" dirty="0"/>
          </a:p>
          <a:p>
            <a:r>
              <a:rPr lang="en-US" altLang="ko-KR" sz="1600" dirty="0"/>
              <a:t>2. As </a:t>
            </a:r>
            <a:r>
              <a:rPr lang="en-US" altLang="ko-KR" sz="1600" i="1" dirty="0"/>
              <a:t>N approaches infinity, speedup is bound by 1/(1 – f), so that there are</a:t>
            </a:r>
          </a:p>
          <a:p>
            <a:r>
              <a:rPr lang="en-US" altLang="ko-KR" sz="1600" dirty="0"/>
              <a:t>diminishing returns for using more processors.</a:t>
            </a:r>
          </a:p>
        </p:txBody>
      </p:sp>
      <p:sp>
        <p:nvSpPr>
          <p:cNvPr id="6" name="슬라이드 번호 개체 틀 5"/>
          <p:cNvSpPr>
            <a:spLocks noGrp="1"/>
          </p:cNvSpPr>
          <p:nvPr>
            <p:ph type="sldNum" sz="quarter" idx="12"/>
          </p:nvPr>
        </p:nvSpPr>
        <p:spPr/>
        <p:txBody>
          <a:bodyPr/>
          <a:lstStyle/>
          <a:p>
            <a:fld id="{8AF02B71-8991-4516-A01E-F1A9ACD28BDC}" type="slidenum">
              <a:rPr lang="en-US" altLang="ko-KR" smtClean="0"/>
              <a:pPr/>
              <a:t>14</a:t>
            </a:fld>
            <a:endParaRPr lang="en-US" altLang="ko-KR"/>
          </a:p>
        </p:txBody>
      </p:sp>
    </p:spTree>
    <p:extLst>
      <p:ext uri="{BB962C8B-B14F-4D97-AF65-F5344CB8AC3E}">
        <p14:creationId xmlns:p14="http://schemas.microsoft.com/office/powerpoint/2010/main" val="2710121457"/>
      </p:ext>
    </p:extLst>
  </p:cSld>
  <p:clrMapOvr>
    <a:masterClrMapping/>
  </p:clrMapOvr>
  <p:transition spd="med">
    <p:pull dir="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24994"/>
            <a:ext cx="7556313" cy="1116106"/>
          </a:xfrm>
        </p:spPr>
        <p:txBody>
          <a:bodyPr/>
          <a:lstStyle/>
          <a:p>
            <a:r>
              <a:rPr lang="en-US" dirty="0">
                <a:effectLst>
                  <a:outerShdw blurRad="38100" dist="38100" dir="2700000" algn="tl">
                    <a:srgbClr val="000000">
                      <a:alpha val="43137"/>
                    </a:srgbClr>
                  </a:outerShdw>
                </a:effectLst>
              </a:rPr>
              <a:t>Little’s Law</a:t>
            </a:r>
          </a:p>
        </p:txBody>
      </p:sp>
      <p:sp>
        <p:nvSpPr>
          <p:cNvPr id="3" name="Content Placeholder 2"/>
          <p:cNvSpPr>
            <a:spLocks noGrp="1"/>
          </p:cNvSpPr>
          <p:nvPr>
            <p:ph idx="1"/>
          </p:nvPr>
        </p:nvSpPr>
        <p:spPr>
          <a:xfrm>
            <a:off x="-9753" y="548680"/>
            <a:ext cx="9144000" cy="5105400"/>
          </a:xfrm>
        </p:spPr>
        <p:txBody>
          <a:bodyPr>
            <a:normAutofit/>
          </a:bodyPr>
          <a:lstStyle/>
          <a:p>
            <a:r>
              <a:rPr lang="en-US" dirty="0"/>
              <a:t>Fundamental and simple relation with broad applications</a:t>
            </a:r>
          </a:p>
          <a:p>
            <a:r>
              <a:rPr lang="en-US" dirty="0"/>
              <a:t>Can be applied to almost any system that is statistically in steady state, and in which there is no leakage</a:t>
            </a:r>
          </a:p>
          <a:p>
            <a:r>
              <a:rPr lang="en-US" dirty="0"/>
              <a:t>Queuing system</a:t>
            </a:r>
          </a:p>
          <a:p>
            <a:pPr lvl="1"/>
            <a:r>
              <a:rPr lang="en-US" dirty="0"/>
              <a:t>If server is idle an item is served immediately, otherwise an arriving item joins a queue</a:t>
            </a:r>
          </a:p>
          <a:p>
            <a:pPr lvl="1"/>
            <a:r>
              <a:rPr lang="en-US" dirty="0"/>
              <a:t>There can be a single queue for a single server or for multiple servers, or multiple queues with one being for each of multiple servers</a:t>
            </a:r>
          </a:p>
        </p:txBody>
      </p:sp>
      <p:pic>
        <p:nvPicPr>
          <p:cNvPr id="2050" name="Picture 2" descr="clip_image00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42960" y="4680300"/>
            <a:ext cx="3774951" cy="2000093"/>
          </a:xfrm>
          <a:prstGeom prst="rect">
            <a:avLst/>
          </a:prstGeom>
          <a:noFill/>
          <a:extLst>
            <a:ext uri="{909E8E84-426E-40DD-AFC4-6F175D3DCCD1}">
              <a14:hiddenFill xmlns:a14="http://schemas.microsoft.com/office/drawing/2010/main">
                <a:solidFill>
                  <a:srgbClr val="FFFFFF"/>
                </a:solidFill>
              </a14:hiddenFill>
            </a:ext>
          </a:extLst>
        </p:spPr>
      </p:pic>
      <p:sp>
        <p:nvSpPr>
          <p:cNvPr id="7" name="직사각형 6"/>
          <p:cNvSpPr/>
          <p:nvPr/>
        </p:nvSpPr>
        <p:spPr>
          <a:xfrm>
            <a:off x="107504" y="3645024"/>
            <a:ext cx="5688632" cy="2308324"/>
          </a:xfrm>
          <a:prstGeom prst="rect">
            <a:avLst/>
          </a:prstGeom>
        </p:spPr>
        <p:txBody>
          <a:bodyPr wrap="square">
            <a:spAutoFit/>
          </a:bodyPr>
          <a:lstStyle/>
          <a:p>
            <a:pPr marL="228600" indent="-228600" eaLnBrk="1" hangingPunct="1">
              <a:spcBef>
                <a:spcPts val="2000"/>
              </a:spcBef>
              <a:buClr>
                <a:schemeClr val="accent1"/>
              </a:buClr>
              <a:buSzPct val="75000"/>
              <a:buFont typeface="Wingdings" pitchFamily="2" charset="2"/>
              <a:buChar char="n"/>
            </a:pPr>
            <a:r>
              <a:rPr lang="en-US" altLang="ko-KR" sz="2000" b="1" dirty="0">
                <a:solidFill>
                  <a:srgbClr val="C00000"/>
                </a:solidFill>
                <a:latin typeface="+mn-lt"/>
              </a:rPr>
              <a:t>Average number of items in a queuing system equals the average rate at which items arrive multiplied by the  time that an item spends in the system</a:t>
            </a:r>
          </a:p>
          <a:p>
            <a:pPr lvl="1" indent="-228600" eaLnBrk="1" hangingPunct="1">
              <a:spcBef>
                <a:spcPts val="600"/>
              </a:spcBef>
              <a:buClr>
                <a:schemeClr val="accent1">
                  <a:lumMod val="60000"/>
                  <a:lumOff val="40000"/>
                </a:schemeClr>
              </a:buClr>
              <a:buSzPct val="75000"/>
              <a:buFont typeface="Wingdings" pitchFamily="2" charset="2"/>
              <a:buChar char="n"/>
            </a:pPr>
            <a:r>
              <a:rPr lang="en-US" altLang="ko-KR" sz="1800" dirty="0">
                <a:solidFill>
                  <a:schemeClr val="tx1">
                    <a:lumMod val="65000"/>
                    <a:lumOff val="35000"/>
                  </a:schemeClr>
                </a:solidFill>
                <a:latin typeface="+mn-lt"/>
              </a:rPr>
              <a:t>Relationship requires very few assumptions</a:t>
            </a:r>
          </a:p>
          <a:p>
            <a:pPr lvl="1" indent="-228600" eaLnBrk="1" hangingPunct="1">
              <a:spcBef>
                <a:spcPts val="600"/>
              </a:spcBef>
              <a:buClr>
                <a:schemeClr val="accent1">
                  <a:lumMod val="60000"/>
                  <a:lumOff val="40000"/>
                </a:schemeClr>
              </a:buClr>
              <a:buSzPct val="75000"/>
              <a:buFont typeface="Wingdings" pitchFamily="2" charset="2"/>
              <a:buChar char="n"/>
            </a:pPr>
            <a:r>
              <a:rPr lang="en-US" altLang="ko-KR" sz="1800" dirty="0">
                <a:solidFill>
                  <a:schemeClr val="tx1">
                    <a:lumMod val="65000"/>
                    <a:lumOff val="35000"/>
                  </a:schemeClr>
                </a:solidFill>
                <a:latin typeface="+mn-lt"/>
              </a:rPr>
              <a:t>Because of its simplicity and generality it is extremely useful</a:t>
            </a:r>
          </a:p>
        </p:txBody>
      </p:sp>
      <p:sp>
        <p:nvSpPr>
          <p:cNvPr id="5" name="슬라이드 번호 개체 틀 4"/>
          <p:cNvSpPr>
            <a:spLocks noGrp="1"/>
          </p:cNvSpPr>
          <p:nvPr>
            <p:ph type="sldNum" sz="quarter" idx="12"/>
          </p:nvPr>
        </p:nvSpPr>
        <p:spPr/>
        <p:txBody>
          <a:bodyPr/>
          <a:lstStyle/>
          <a:p>
            <a:fld id="{8AF02B71-8991-4516-A01E-F1A9ACD28BDC}" type="slidenum">
              <a:rPr lang="en-US" altLang="ko-KR" smtClean="0"/>
              <a:pPr/>
              <a:t>15</a:t>
            </a:fld>
            <a:endParaRPr lang="en-US" altLang="ko-K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5.pdf"/>
          <p:cNvPicPr>
            <a:picLocks noChangeAspect="1"/>
          </p:cNvPicPr>
          <p:nvPr/>
        </p:nvPicPr>
        <p:blipFill rotWithShape="1">
          <a:blip r:embed="rId3">
            <a:extLst>
              <a:ext uri="{28A0092B-C50C-407E-A947-70E740481C1C}">
                <a14:useLocalDpi xmlns:a14="http://schemas.microsoft.com/office/drawing/2010/main" val="0"/>
              </a:ext>
            </a:extLst>
          </a:blip>
          <a:srcRect l="10681" t="31404" r="8321" b="23301"/>
          <a:stretch/>
        </p:blipFill>
        <p:spPr>
          <a:xfrm>
            <a:off x="0" y="240750"/>
            <a:ext cx="9144000" cy="6617250"/>
          </a:xfrm>
          <a:prstGeom prst="rect">
            <a:avLst/>
          </a:prstGeom>
        </p:spPr>
      </p:pic>
      <p:sp>
        <p:nvSpPr>
          <p:cNvPr id="4" name="직사각형 3"/>
          <p:cNvSpPr/>
          <p:nvPr/>
        </p:nvSpPr>
        <p:spPr>
          <a:xfrm>
            <a:off x="3203848" y="21166"/>
            <a:ext cx="5796136" cy="2308324"/>
          </a:xfrm>
          <a:prstGeom prst="rect">
            <a:avLst/>
          </a:prstGeom>
        </p:spPr>
        <p:txBody>
          <a:bodyPr wrap="square">
            <a:spAutoFit/>
          </a:bodyPr>
          <a:lstStyle/>
          <a:p>
            <a:r>
              <a:rPr lang="en-US" altLang="ko-KR" dirty="0"/>
              <a:t>Typically, clock signals are generated by a quartz crystal, which generates a</a:t>
            </a:r>
          </a:p>
          <a:p>
            <a:r>
              <a:rPr lang="en-US" altLang="ko-KR" dirty="0"/>
              <a:t>constant sine wave while power is applied. This wave is converted into a digital</a:t>
            </a:r>
          </a:p>
          <a:p>
            <a:r>
              <a:rPr lang="en-US" altLang="ko-KR" dirty="0"/>
              <a:t>voltage pulse stream that is provided in a constant flow to the processor circuitry</a:t>
            </a:r>
          </a:p>
        </p:txBody>
      </p:sp>
      <p:sp>
        <p:nvSpPr>
          <p:cNvPr id="5" name="슬라이드 번호 개체 틀 4"/>
          <p:cNvSpPr>
            <a:spLocks noGrp="1"/>
          </p:cNvSpPr>
          <p:nvPr>
            <p:ph type="sldNum" sz="quarter" idx="12"/>
          </p:nvPr>
        </p:nvSpPr>
        <p:spPr/>
        <p:txBody>
          <a:bodyPr/>
          <a:lstStyle/>
          <a:p>
            <a:fld id="{8AF02B71-8991-4516-A01E-F1A9ACD28BDC}" type="slidenum">
              <a:rPr lang="en-US" altLang="ko-KR" smtClean="0"/>
              <a:pPr/>
              <a:t>16</a:t>
            </a:fld>
            <a:endParaRPr lang="en-US" altLang="ko-K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p:cNvSpPr txBox="1"/>
          <p:nvPr/>
        </p:nvSpPr>
        <p:spPr>
          <a:xfrm>
            <a:off x="736611" y="-3229"/>
            <a:ext cx="7867600" cy="461665"/>
          </a:xfrm>
          <a:prstGeom prst="rect">
            <a:avLst/>
          </a:prstGeom>
          <a:noFill/>
        </p:spPr>
        <p:txBody>
          <a:bodyPr wrap="square" rtlCol="0">
            <a:spAutoFit/>
          </a:bodyPr>
          <a:lstStyle/>
          <a:p>
            <a:pPr algn="ctr"/>
            <a:r>
              <a:rPr lang="en-US" altLang="ko-KR" dirty="0"/>
              <a:t>Table 2.1  Performance Factors and System Attributes </a:t>
            </a:r>
          </a:p>
        </p:txBody>
      </p:sp>
      <p:sp useBgFill="1">
        <p:nvSpPr>
          <p:cNvPr id="20" name="TextBox 19"/>
          <p:cNvSpPr txBox="1"/>
          <p:nvPr/>
        </p:nvSpPr>
        <p:spPr>
          <a:xfrm>
            <a:off x="0" y="6324600"/>
            <a:ext cx="9144000" cy="533400"/>
          </a:xfrm>
          <a:prstGeom prst="rect">
            <a:avLst/>
          </a:prstGeom>
        </p:spPr>
        <p:txBody>
          <a:bodyPr wrap="square" rtlCol="0">
            <a:spAutoFit/>
          </a:bodyPr>
          <a:lstStyle/>
          <a:p>
            <a:endParaRPr lang="en-US" dirty="0"/>
          </a:p>
        </p:txBody>
      </p:sp>
      <p:graphicFrame>
        <p:nvGraphicFramePr>
          <p:cNvPr id="323589" name="Object 5"/>
          <p:cNvGraphicFramePr>
            <a:graphicFrameLocks noChangeAspect="1"/>
          </p:cNvGraphicFramePr>
          <p:nvPr>
            <p:extLst>
              <p:ext uri="{D42A27DB-BD31-4B8C-83A1-F6EECF244321}">
                <p14:modId xmlns:p14="http://schemas.microsoft.com/office/powerpoint/2010/main" val="1323592510"/>
              </p:ext>
            </p:extLst>
          </p:nvPr>
        </p:nvGraphicFramePr>
        <p:xfrm>
          <a:off x="609600" y="1358900"/>
          <a:ext cx="7708900" cy="2400300"/>
        </p:xfrm>
        <a:graphic>
          <a:graphicData uri="http://schemas.openxmlformats.org/presentationml/2006/ole">
            <mc:AlternateContent xmlns:mc="http://schemas.openxmlformats.org/markup-compatibility/2006">
              <mc:Choice xmlns:v="urn:schemas-microsoft-com:vml" Requires="v">
                <p:oleObj spid="_x0000_s3153" name="문서" r:id="rId4" imgW="6172102" imgH="2080513" progId="Word.Document.12">
                  <p:embed/>
                </p:oleObj>
              </mc:Choice>
              <mc:Fallback>
                <p:oleObj name="문서" r:id="rId4" imgW="6172102" imgH="2080513" progId="Word.Document.12">
                  <p:embed/>
                  <p:pic>
                    <p:nvPicPr>
                      <p:cNvPr id="0" name=""/>
                      <p:cNvPicPr>
                        <a:picLocks noChangeAspect="1" noChangeArrowheads="1"/>
                      </p:cNvPicPr>
                      <p:nvPr/>
                    </p:nvPicPr>
                    <p:blipFill>
                      <a:blip r:embed="rId5"/>
                      <a:srcRect/>
                      <a:stretch>
                        <a:fillRect/>
                      </a:stretch>
                    </p:blipFill>
                    <p:spPr bwMode="auto">
                      <a:xfrm>
                        <a:off x="609600" y="1358900"/>
                        <a:ext cx="7708900" cy="2400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useBgFill="1">
        <p:nvSpPr>
          <p:cNvPr id="9" name="TextBox 8"/>
          <p:cNvSpPr txBox="1"/>
          <p:nvPr/>
        </p:nvSpPr>
        <p:spPr>
          <a:xfrm>
            <a:off x="228600" y="5867400"/>
            <a:ext cx="7772401" cy="685800"/>
          </a:xfrm>
          <a:prstGeom prst="rect">
            <a:avLst/>
          </a:prstGeom>
        </p:spPr>
        <p:txBody>
          <a:bodyPr wrap="square" rtlCol="0">
            <a:spAutoFit/>
          </a:bodyPr>
          <a:lstStyle/>
          <a:p>
            <a:endParaRPr lang="en-US" dirty="0"/>
          </a:p>
        </p:txBody>
      </p:sp>
      <p:sp useBgFill="1">
        <p:nvSpPr>
          <p:cNvPr id="10" name="TextBox 9"/>
          <p:cNvSpPr txBox="1"/>
          <p:nvPr/>
        </p:nvSpPr>
        <p:spPr>
          <a:xfrm>
            <a:off x="0" y="0"/>
            <a:ext cx="304800" cy="6553200"/>
          </a:xfrm>
          <a:prstGeom prst="rect">
            <a:avLst/>
          </a:prstGeom>
        </p:spPr>
        <p:txBody>
          <a:bodyPr wrap="square" rtlCol="0">
            <a:spAutoFit/>
          </a:bodyPr>
          <a:lstStyle/>
          <a:p>
            <a:endParaRPr lang="en-US" dirty="0"/>
          </a:p>
        </p:txBody>
      </p:sp>
      <p:sp>
        <p:nvSpPr>
          <p:cNvPr id="11" name="Rectangle 13"/>
          <p:cNvSpPr txBox="1">
            <a:spLocks noChangeArrowheads="1"/>
          </p:cNvSpPr>
          <p:nvPr/>
        </p:nvSpPr>
        <p:spPr bwMode="auto">
          <a:xfrm>
            <a:off x="7000875" y="6577013"/>
            <a:ext cx="1905000" cy="28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r"/>
            <a:fld id="{DDCC5ADD-596F-44C7-8C67-4B8E23D03D8D}" type="slidenum">
              <a:rPr lang="en-US" altLang="ko-KR" sz="1100">
                <a:ea typeface="굴림" charset="-127"/>
              </a:rPr>
              <a:pPr algn="r"/>
              <a:t>17</a:t>
            </a:fld>
            <a:endParaRPr lang="en-US" altLang="ko-KR" sz="1100">
              <a:ea typeface="굴림" charset="-127"/>
            </a:endParaRPr>
          </a:p>
        </p:txBody>
      </p:sp>
      <p:sp>
        <p:nvSpPr>
          <p:cNvPr id="2" name="직사각형 1"/>
          <p:cNvSpPr/>
          <p:nvPr/>
        </p:nvSpPr>
        <p:spPr>
          <a:xfrm>
            <a:off x="368187" y="5121200"/>
            <a:ext cx="8604448" cy="1477328"/>
          </a:xfrm>
          <a:prstGeom prst="rect">
            <a:avLst/>
          </a:prstGeom>
        </p:spPr>
        <p:txBody>
          <a:bodyPr wrap="square">
            <a:spAutoFit/>
          </a:bodyPr>
          <a:lstStyle/>
          <a:p>
            <a:r>
              <a:rPr lang="en-US" altLang="ko-KR" sz="1800" dirty="0"/>
              <a:t>An X in a cell indicates a system attribute that affects a performance factor.</a:t>
            </a:r>
          </a:p>
          <a:p>
            <a:endParaRPr lang="en-US" altLang="ko-KR" sz="1800" dirty="0"/>
          </a:p>
          <a:p>
            <a:r>
              <a:rPr lang="en-US" altLang="ko-KR" sz="1800" dirty="0"/>
              <a:t>A common measure of performance for a processor is the rate at which</a:t>
            </a:r>
          </a:p>
          <a:p>
            <a:r>
              <a:rPr lang="en-US" altLang="ko-KR" sz="1800" dirty="0"/>
              <a:t>instructions are executed, expressed as millions of instructions per second (MIPS),</a:t>
            </a:r>
          </a:p>
          <a:p>
            <a:r>
              <a:rPr lang="en-US" altLang="ko-KR" sz="1800" dirty="0"/>
              <a:t>referred to as the </a:t>
            </a:r>
            <a:r>
              <a:rPr lang="en-US" altLang="ko-KR" sz="1800" b="1" dirty="0"/>
              <a:t>MIPS rate.</a:t>
            </a:r>
            <a:endParaRPr lang="en-US" altLang="ko-KR" sz="1800" dirty="0"/>
          </a:p>
        </p:txBody>
      </p:sp>
      <p:sp>
        <p:nvSpPr>
          <p:cNvPr id="3" name="TextBox 2"/>
          <p:cNvSpPr txBox="1"/>
          <p:nvPr/>
        </p:nvSpPr>
        <p:spPr>
          <a:xfrm>
            <a:off x="6322096" y="908139"/>
            <a:ext cx="2520280" cy="400110"/>
          </a:xfrm>
          <a:prstGeom prst="rect">
            <a:avLst/>
          </a:prstGeom>
          <a:noFill/>
        </p:spPr>
        <p:txBody>
          <a:bodyPr wrap="square" rtlCol="0">
            <a:spAutoFit/>
          </a:bodyPr>
          <a:lstStyle/>
          <a:p>
            <a:pPr algn="ctr"/>
            <a:r>
              <a:rPr lang="en-US" altLang="ko-KR" sz="2000" dirty="0">
                <a:solidFill>
                  <a:srgbClr val="0070C0"/>
                </a:solidFill>
              </a:rPr>
              <a:t>Performance factor</a:t>
            </a:r>
            <a:endParaRPr lang="ko-KR" altLang="en-US" sz="2000" dirty="0">
              <a:solidFill>
                <a:srgbClr val="0070C0"/>
              </a:solidFill>
            </a:endParaRPr>
          </a:p>
        </p:txBody>
      </p:sp>
      <p:sp>
        <p:nvSpPr>
          <p:cNvPr id="12" name="TextBox 11"/>
          <p:cNvSpPr txBox="1"/>
          <p:nvPr/>
        </p:nvSpPr>
        <p:spPr>
          <a:xfrm>
            <a:off x="522783" y="3289300"/>
            <a:ext cx="2520280" cy="400110"/>
          </a:xfrm>
          <a:prstGeom prst="rect">
            <a:avLst/>
          </a:prstGeom>
          <a:noFill/>
        </p:spPr>
        <p:txBody>
          <a:bodyPr wrap="square" rtlCol="0">
            <a:spAutoFit/>
          </a:bodyPr>
          <a:lstStyle/>
          <a:p>
            <a:pPr algn="ctr"/>
            <a:r>
              <a:rPr lang="en-US" altLang="ko-KR" sz="2000" dirty="0">
                <a:solidFill>
                  <a:srgbClr val="0070C0"/>
                </a:solidFill>
              </a:rPr>
              <a:t>System Attribute</a:t>
            </a:r>
            <a:endParaRPr lang="ko-KR" altLang="en-US" sz="2000" dirty="0">
              <a:solidFill>
                <a:srgbClr val="0070C0"/>
              </a:solidFill>
            </a:endParaRPr>
          </a:p>
        </p:txBody>
      </p:sp>
      <p:graphicFrame>
        <p:nvGraphicFramePr>
          <p:cNvPr id="4" name="개체 3"/>
          <p:cNvGraphicFramePr>
            <a:graphicFrameLocks noChangeAspect="1"/>
          </p:cNvGraphicFramePr>
          <p:nvPr>
            <p:extLst>
              <p:ext uri="{D42A27DB-BD31-4B8C-83A1-F6EECF244321}">
                <p14:modId xmlns:p14="http://schemas.microsoft.com/office/powerpoint/2010/main" val="3365746837"/>
              </p:ext>
            </p:extLst>
          </p:nvPr>
        </p:nvGraphicFramePr>
        <p:xfrm>
          <a:off x="3445548" y="3645024"/>
          <a:ext cx="4165600" cy="1117600"/>
        </p:xfrm>
        <a:graphic>
          <a:graphicData uri="http://schemas.openxmlformats.org/presentationml/2006/ole">
            <mc:AlternateContent xmlns:mc="http://schemas.openxmlformats.org/markup-compatibility/2006">
              <mc:Choice xmlns:v="urn:schemas-microsoft-com:vml" Requires="v">
                <p:oleObj spid="_x0000_s3154" name="Equation" r:id="rId6" imgW="4165560" imgH="1117440" progId="Equation.DSMT4">
                  <p:embed/>
                </p:oleObj>
              </mc:Choice>
              <mc:Fallback>
                <p:oleObj name="Equation" r:id="rId6" imgW="4165560" imgH="1117440" progId="Equation.DSMT4">
                  <p:embed/>
                  <p:pic>
                    <p:nvPicPr>
                      <p:cNvPr id="0" name=""/>
                      <p:cNvPicPr/>
                      <p:nvPr/>
                    </p:nvPicPr>
                    <p:blipFill>
                      <a:blip r:embed="rId7"/>
                      <a:stretch>
                        <a:fillRect/>
                      </a:stretch>
                    </p:blipFill>
                    <p:spPr>
                      <a:xfrm>
                        <a:off x="3445548" y="3645024"/>
                        <a:ext cx="4165600" cy="1117600"/>
                      </a:xfrm>
                      <a:prstGeom prst="rect">
                        <a:avLst/>
                      </a:prstGeom>
                    </p:spPr>
                  </p:pic>
                </p:oleObj>
              </mc:Fallback>
            </mc:AlternateContent>
          </a:graphicData>
        </a:graphic>
      </p:graphicFrame>
      <p:sp>
        <p:nvSpPr>
          <p:cNvPr id="5" name="제목 4"/>
          <p:cNvSpPr>
            <a:spLocks noGrp="1"/>
          </p:cNvSpPr>
          <p:nvPr>
            <p:ph type="title"/>
          </p:nvPr>
        </p:nvSpPr>
        <p:spPr/>
        <p:txBody>
          <a:bodyPr/>
          <a:lstStyle/>
          <a:p>
            <a:r>
              <a:rPr lang="en-US" altLang="ko-KR" dirty="0"/>
              <a:t> </a:t>
            </a:r>
            <a:endParaRPr lang="ko-KR" altLang="en-US" dirty="0"/>
          </a:p>
        </p:txBody>
      </p:sp>
      <p:sp>
        <p:nvSpPr>
          <p:cNvPr id="6" name="슬라이드 번호 개체 틀 5"/>
          <p:cNvSpPr>
            <a:spLocks noGrp="1"/>
          </p:cNvSpPr>
          <p:nvPr>
            <p:ph type="sldNum" sz="quarter" idx="12"/>
          </p:nvPr>
        </p:nvSpPr>
        <p:spPr/>
        <p:txBody>
          <a:bodyPr/>
          <a:lstStyle/>
          <a:p>
            <a:fld id="{8AF02B71-8991-4516-A01E-F1A9ACD28BDC}" type="slidenum">
              <a:rPr lang="en-US" altLang="ko-KR" smtClean="0"/>
              <a:pPr/>
              <a:t>17</a:t>
            </a:fld>
            <a:endParaRPr lang="en-US" altLang="ko-KR"/>
          </a:p>
        </p:txBody>
      </p:sp>
    </p:spTree>
    <p:extLst>
      <p:ext uri="{BB962C8B-B14F-4D97-AF65-F5344CB8AC3E}">
        <p14:creationId xmlns:p14="http://schemas.microsoft.com/office/powerpoint/2010/main" val="3517427801"/>
      </p:ext>
    </p:extLst>
  </p:cSld>
  <p:clrMapOvr>
    <a:masterClrMapping/>
  </p:clrMapOvr>
  <p:transition spd="med">
    <p:wipe di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그룹 4"/>
          <p:cNvGrpSpPr/>
          <p:nvPr/>
        </p:nvGrpSpPr>
        <p:grpSpPr>
          <a:xfrm>
            <a:off x="312787" y="44624"/>
            <a:ext cx="9631957" cy="5798404"/>
            <a:chOff x="312787" y="1628800"/>
            <a:chExt cx="9631957" cy="5798404"/>
          </a:xfrm>
        </p:grpSpPr>
        <p:sp>
          <p:nvSpPr>
            <p:cNvPr id="6" name="자유형 5"/>
            <p:cNvSpPr/>
            <p:nvPr/>
          </p:nvSpPr>
          <p:spPr>
            <a:xfrm>
              <a:off x="467530" y="2420885"/>
              <a:ext cx="3068231" cy="1826650"/>
            </a:xfrm>
            <a:custGeom>
              <a:avLst/>
              <a:gdLst>
                <a:gd name="connsiteX0" fmla="*/ 0 w 3068231"/>
                <a:gd name="connsiteY0" fmla="*/ 0 h 1826650"/>
                <a:gd name="connsiteX1" fmla="*/ 3068231 w 3068231"/>
                <a:gd name="connsiteY1" fmla="*/ 0 h 1826650"/>
                <a:gd name="connsiteX2" fmla="*/ 3068231 w 3068231"/>
                <a:gd name="connsiteY2" fmla="*/ 1826650 h 1826650"/>
                <a:gd name="connsiteX3" fmla="*/ 0 w 3068231"/>
                <a:gd name="connsiteY3" fmla="*/ 1826650 h 1826650"/>
                <a:gd name="connsiteX4" fmla="*/ 0 w 3068231"/>
                <a:gd name="connsiteY4" fmla="*/ 0 h 1826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68231" h="1826650">
                  <a:moveTo>
                    <a:pt x="0" y="0"/>
                  </a:moveTo>
                  <a:lnTo>
                    <a:pt x="3068231" y="0"/>
                  </a:lnTo>
                  <a:lnTo>
                    <a:pt x="3068231" y="1826650"/>
                  </a:lnTo>
                  <a:lnTo>
                    <a:pt x="0" y="182665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0320" tIns="20320" rIns="20320" bIns="20320" numCol="1" spcCol="1270" anchor="ctr" anchorCtr="0">
              <a:noAutofit/>
            </a:bodyPr>
            <a:lstStyle/>
            <a:p>
              <a:pPr lvl="0" algn="ctr" defTabSz="711200" rtl="0">
                <a:lnSpc>
                  <a:spcPct val="90000"/>
                </a:lnSpc>
                <a:spcBef>
                  <a:spcPct val="0"/>
                </a:spcBef>
                <a:spcAft>
                  <a:spcPct val="35000"/>
                </a:spcAft>
              </a:pPr>
              <a:r>
                <a:rPr lang="en-US" sz="1600" kern="1200" dirty="0"/>
                <a:t>The use of benchmarks to compare systems involves calculating the mean value of a set of data points related to execution time</a:t>
              </a:r>
            </a:p>
          </p:txBody>
        </p:sp>
        <p:sp>
          <p:nvSpPr>
            <p:cNvPr id="7" name="타원 6"/>
            <p:cNvSpPr/>
            <p:nvPr/>
          </p:nvSpPr>
          <p:spPr>
            <a:xfrm>
              <a:off x="484485" y="2418610"/>
              <a:ext cx="245282" cy="245282"/>
            </a:xfrm>
            <a:prstGeom prst="ellipse">
              <a:avLst/>
            </a:pr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8" name="타원 7"/>
            <p:cNvSpPr/>
            <p:nvPr/>
          </p:nvSpPr>
          <p:spPr>
            <a:xfrm>
              <a:off x="656183" y="2075214"/>
              <a:ext cx="245282" cy="245282"/>
            </a:xfrm>
            <a:prstGeom prst="ellipse">
              <a:avLst/>
            </a:pr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9" name="타원 8"/>
            <p:cNvSpPr/>
            <p:nvPr/>
          </p:nvSpPr>
          <p:spPr>
            <a:xfrm>
              <a:off x="1068258" y="2143894"/>
              <a:ext cx="385444" cy="385444"/>
            </a:xfrm>
            <a:prstGeom prst="ellipse">
              <a:avLst/>
            </a:pr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0" name="타원 9"/>
            <p:cNvSpPr/>
            <p:nvPr/>
          </p:nvSpPr>
          <p:spPr>
            <a:xfrm>
              <a:off x="1411654" y="1766158"/>
              <a:ext cx="245282" cy="245282"/>
            </a:xfrm>
            <a:prstGeom prst="ellipse">
              <a:avLst/>
            </a:pr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1" name="타원 10"/>
            <p:cNvSpPr/>
            <p:nvPr/>
          </p:nvSpPr>
          <p:spPr>
            <a:xfrm>
              <a:off x="1858069" y="1628800"/>
              <a:ext cx="245282" cy="245282"/>
            </a:xfrm>
            <a:prstGeom prst="ellipse">
              <a:avLst/>
            </a:pr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2" name="타원 11"/>
            <p:cNvSpPr/>
            <p:nvPr/>
          </p:nvSpPr>
          <p:spPr>
            <a:xfrm>
              <a:off x="2407503" y="1869177"/>
              <a:ext cx="245282" cy="245282"/>
            </a:xfrm>
            <a:prstGeom prst="ellipse">
              <a:avLst/>
            </a:pr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3" name="타원 12"/>
            <p:cNvSpPr/>
            <p:nvPr/>
          </p:nvSpPr>
          <p:spPr>
            <a:xfrm>
              <a:off x="2750899" y="2040875"/>
              <a:ext cx="385444" cy="385444"/>
            </a:xfrm>
            <a:prstGeom prst="ellipse">
              <a:avLst/>
            </a:pr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4" name="타원 13"/>
            <p:cNvSpPr/>
            <p:nvPr/>
          </p:nvSpPr>
          <p:spPr>
            <a:xfrm>
              <a:off x="3231653" y="2418610"/>
              <a:ext cx="245282" cy="245282"/>
            </a:xfrm>
            <a:prstGeom prst="ellipse">
              <a:avLst/>
            </a:pr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5" name="타원 14"/>
            <p:cNvSpPr/>
            <p:nvPr/>
          </p:nvSpPr>
          <p:spPr>
            <a:xfrm>
              <a:off x="3437691" y="2796346"/>
              <a:ext cx="245282" cy="245282"/>
            </a:xfrm>
            <a:prstGeom prst="ellipse">
              <a:avLst/>
            </a:pr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6" name="타원 15"/>
            <p:cNvSpPr/>
            <p:nvPr/>
          </p:nvSpPr>
          <p:spPr>
            <a:xfrm>
              <a:off x="1652032" y="2075214"/>
              <a:ext cx="630727" cy="630727"/>
            </a:xfrm>
            <a:prstGeom prst="ellipse">
              <a:avLst/>
            </a:pr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7" name="타원 16"/>
            <p:cNvSpPr/>
            <p:nvPr/>
          </p:nvSpPr>
          <p:spPr>
            <a:xfrm>
              <a:off x="312787" y="3380119"/>
              <a:ext cx="245282" cy="245282"/>
            </a:xfrm>
            <a:prstGeom prst="ellipse">
              <a:avLst/>
            </a:pr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8" name="타원 17"/>
            <p:cNvSpPr/>
            <p:nvPr/>
          </p:nvSpPr>
          <p:spPr>
            <a:xfrm>
              <a:off x="518825" y="3689176"/>
              <a:ext cx="385444" cy="385444"/>
            </a:xfrm>
            <a:prstGeom prst="ellipse">
              <a:avLst/>
            </a:pr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9" name="타원 18"/>
            <p:cNvSpPr/>
            <p:nvPr/>
          </p:nvSpPr>
          <p:spPr>
            <a:xfrm>
              <a:off x="1033919" y="3963893"/>
              <a:ext cx="560646" cy="560646"/>
            </a:xfrm>
            <a:prstGeom prst="ellipse">
              <a:avLst/>
            </a:pr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20" name="타원 19"/>
            <p:cNvSpPr/>
            <p:nvPr/>
          </p:nvSpPr>
          <p:spPr>
            <a:xfrm>
              <a:off x="1755050" y="4410307"/>
              <a:ext cx="245282" cy="245282"/>
            </a:xfrm>
            <a:prstGeom prst="ellipse">
              <a:avLst/>
            </a:pr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21" name="타원 20"/>
            <p:cNvSpPr/>
            <p:nvPr/>
          </p:nvSpPr>
          <p:spPr>
            <a:xfrm>
              <a:off x="1892409" y="3963893"/>
              <a:ext cx="385444" cy="385444"/>
            </a:xfrm>
            <a:prstGeom prst="ellipse">
              <a:avLst/>
            </a:pr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22" name="타원 21"/>
            <p:cNvSpPr/>
            <p:nvPr/>
          </p:nvSpPr>
          <p:spPr>
            <a:xfrm>
              <a:off x="2235805" y="4444647"/>
              <a:ext cx="245282" cy="245282"/>
            </a:xfrm>
            <a:prstGeom prst="ellipse">
              <a:avLst/>
            </a:pr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23" name="타원 22"/>
            <p:cNvSpPr/>
            <p:nvPr/>
          </p:nvSpPr>
          <p:spPr>
            <a:xfrm>
              <a:off x="2544861" y="3895213"/>
              <a:ext cx="560646" cy="560646"/>
            </a:xfrm>
            <a:prstGeom prst="ellipse">
              <a:avLst/>
            </a:pr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24" name="타원 23"/>
            <p:cNvSpPr/>
            <p:nvPr/>
          </p:nvSpPr>
          <p:spPr>
            <a:xfrm>
              <a:off x="3300333" y="3757855"/>
              <a:ext cx="385444" cy="385444"/>
            </a:xfrm>
            <a:prstGeom prst="ellipse">
              <a:avLst/>
            </a:pr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25" name="갈매기형 수장 24"/>
            <p:cNvSpPr/>
            <p:nvPr/>
          </p:nvSpPr>
          <p:spPr>
            <a:xfrm>
              <a:off x="3685777" y="2143322"/>
              <a:ext cx="1131995" cy="2161103"/>
            </a:xfrm>
            <a:prstGeom prst="chevron">
              <a:avLst>
                <a:gd name="adj" fmla="val 62310"/>
              </a:avLst>
            </a:prstGeom>
          </p:spPr>
          <p:style>
            <a:lnRef idx="0">
              <a:schemeClr val="accent1">
                <a:tint val="60000"/>
                <a:hueOff val="0"/>
                <a:satOff val="0"/>
                <a:lumOff val="0"/>
                <a:alphaOff val="0"/>
              </a:schemeClr>
            </a:lnRef>
            <a:fillRef idx="3">
              <a:schemeClr val="accent1">
                <a:tint val="60000"/>
                <a:hueOff val="0"/>
                <a:satOff val="0"/>
                <a:lumOff val="0"/>
                <a:alphaOff val="0"/>
              </a:schemeClr>
            </a:fillRef>
            <a:effectRef idx="2">
              <a:schemeClr val="accent1">
                <a:tint val="60000"/>
                <a:hueOff val="0"/>
                <a:satOff val="0"/>
                <a:lumOff val="0"/>
                <a:alphaOff val="0"/>
              </a:schemeClr>
            </a:effectRef>
            <a:fontRef idx="minor">
              <a:schemeClr val="lt1"/>
            </a:fontRef>
          </p:style>
        </p:sp>
        <p:sp>
          <p:nvSpPr>
            <p:cNvPr id="27" name="갈매기형 수장 26"/>
            <p:cNvSpPr/>
            <p:nvPr/>
          </p:nvSpPr>
          <p:spPr>
            <a:xfrm>
              <a:off x="4611955" y="2143322"/>
              <a:ext cx="1131995" cy="2161103"/>
            </a:xfrm>
            <a:prstGeom prst="chevron">
              <a:avLst>
                <a:gd name="adj" fmla="val 62310"/>
              </a:avLst>
            </a:prstGeom>
          </p:spPr>
          <p:style>
            <a:lnRef idx="0">
              <a:schemeClr val="accent1">
                <a:tint val="60000"/>
                <a:hueOff val="0"/>
                <a:satOff val="0"/>
                <a:lumOff val="0"/>
                <a:alphaOff val="0"/>
              </a:schemeClr>
            </a:lnRef>
            <a:fillRef idx="3">
              <a:schemeClr val="accent1">
                <a:tint val="60000"/>
                <a:hueOff val="0"/>
                <a:satOff val="0"/>
                <a:lumOff val="0"/>
                <a:alphaOff val="0"/>
              </a:schemeClr>
            </a:fillRef>
            <a:effectRef idx="2">
              <a:schemeClr val="accent1">
                <a:tint val="60000"/>
                <a:hueOff val="0"/>
                <a:satOff val="0"/>
                <a:lumOff val="0"/>
                <a:alphaOff val="0"/>
              </a:schemeClr>
            </a:effectRef>
            <a:fontRef idx="minor">
              <a:schemeClr val="lt1"/>
            </a:fontRef>
          </p:style>
          <p:txBody>
            <a:bodyPr/>
            <a:lstStyle/>
            <a:p>
              <a:endParaRPr lang="ko-KR" altLang="en-US" dirty="0"/>
            </a:p>
          </p:txBody>
        </p:sp>
        <p:sp>
          <p:nvSpPr>
            <p:cNvPr id="28" name="자유형 27"/>
            <p:cNvSpPr/>
            <p:nvPr/>
          </p:nvSpPr>
          <p:spPr>
            <a:xfrm>
              <a:off x="5975496" y="1990009"/>
              <a:ext cx="2624171" cy="2624171"/>
            </a:xfrm>
            <a:custGeom>
              <a:avLst/>
              <a:gdLst>
                <a:gd name="connsiteX0" fmla="*/ 0 w 2624171"/>
                <a:gd name="connsiteY0" fmla="*/ 1312086 h 2624171"/>
                <a:gd name="connsiteX1" fmla="*/ 1312086 w 2624171"/>
                <a:gd name="connsiteY1" fmla="*/ 0 h 2624171"/>
                <a:gd name="connsiteX2" fmla="*/ 2624172 w 2624171"/>
                <a:gd name="connsiteY2" fmla="*/ 1312086 h 2624171"/>
                <a:gd name="connsiteX3" fmla="*/ 1312086 w 2624171"/>
                <a:gd name="connsiteY3" fmla="*/ 2624172 h 2624171"/>
                <a:gd name="connsiteX4" fmla="*/ 0 w 2624171"/>
                <a:gd name="connsiteY4" fmla="*/ 1312086 h 26241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4171" h="2624171">
                  <a:moveTo>
                    <a:pt x="0" y="1312086"/>
                  </a:moveTo>
                  <a:cubicBezTo>
                    <a:pt x="0" y="587441"/>
                    <a:pt x="587441" y="0"/>
                    <a:pt x="1312086" y="0"/>
                  </a:cubicBezTo>
                  <a:cubicBezTo>
                    <a:pt x="2036731" y="0"/>
                    <a:pt x="2624172" y="587441"/>
                    <a:pt x="2624172" y="1312086"/>
                  </a:cubicBezTo>
                  <a:cubicBezTo>
                    <a:pt x="2624172" y="2036731"/>
                    <a:pt x="2036731" y="2624172"/>
                    <a:pt x="1312086" y="2624172"/>
                  </a:cubicBezTo>
                  <a:cubicBezTo>
                    <a:pt x="587441" y="2624172"/>
                    <a:pt x="0" y="2036731"/>
                    <a:pt x="0" y="1312086"/>
                  </a:cubicBez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384301" tIns="384301" rIns="384301" bIns="384301" numCol="1" spcCol="1270" anchor="ctr" anchorCtr="0">
              <a:noAutofit/>
            </a:bodyPr>
            <a:lstStyle/>
            <a:p>
              <a:pPr lvl="0" algn="ctr" defTabSz="1022350" rtl="0">
                <a:lnSpc>
                  <a:spcPct val="90000"/>
                </a:lnSpc>
                <a:spcBef>
                  <a:spcPct val="0"/>
                </a:spcBef>
                <a:spcAft>
                  <a:spcPct val="35000"/>
                </a:spcAft>
              </a:pPr>
              <a:r>
                <a:rPr lang="en-US" sz="2300" kern="1200" dirty="0"/>
                <a:t>The three common formulas used for calculating a mean are:</a:t>
              </a:r>
            </a:p>
          </p:txBody>
        </p:sp>
        <mc:AlternateContent xmlns:mc="http://schemas.openxmlformats.org/markup-compatibility/2006" xmlns:a14="http://schemas.microsoft.com/office/drawing/2010/main">
          <mc:Choice Requires="a14">
            <p:sp>
              <p:nvSpPr>
                <p:cNvPr id="29" name="자유형 28"/>
                <p:cNvSpPr/>
                <p:nvPr/>
              </p:nvSpPr>
              <p:spPr>
                <a:xfrm>
                  <a:off x="2085131" y="5523394"/>
                  <a:ext cx="7859613" cy="1903810"/>
                </a:xfrm>
                <a:custGeom>
                  <a:avLst/>
                  <a:gdLst>
                    <a:gd name="connsiteX0" fmla="*/ 0 w 3087261"/>
                    <a:gd name="connsiteY0" fmla="*/ 0 h 1903810"/>
                    <a:gd name="connsiteX1" fmla="*/ 3087261 w 3087261"/>
                    <a:gd name="connsiteY1" fmla="*/ 0 h 1903810"/>
                    <a:gd name="connsiteX2" fmla="*/ 3087261 w 3087261"/>
                    <a:gd name="connsiteY2" fmla="*/ 1903810 h 1903810"/>
                    <a:gd name="connsiteX3" fmla="*/ 0 w 3087261"/>
                    <a:gd name="connsiteY3" fmla="*/ 1903810 h 1903810"/>
                    <a:gd name="connsiteX4" fmla="*/ 0 w 3087261"/>
                    <a:gd name="connsiteY4" fmla="*/ 0 h 1903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7261" h="1903810">
                      <a:moveTo>
                        <a:pt x="0" y="0"/>
                      </a:moveTo>
                      <a:lnTo>
                        <a:pt x="3087261" y="0"/>
                      </a:lnTo>
                      <a:lnTo>
                        <a:pt x="3087261" y="1903810"/>
                      </a:lnTo>
                      <a:lnTo>
                        <a:pt x="0" y="190381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5400" tIns="25400" rIns="25400" bIns="25400" numCol="1" spcCol="1270" anchor="t" anchorCtr="0">
                  <a:noAutofit/>
                </a:bodyPr>
                <a:lstStyle/>
                <a:p>
                  <a:pPr marL="228600" lvl="1" indent="-228600" algn="l" defTabSz="889000" rtl="0">
                    <a:lnSpc>
                      <a:spcPct val="90000"/>
                    </a:lnSpc>
                    <a:spcBef>
                      <a:spcPct val="0"/>
                    </a:spcBef>
                    <a:spcAft>
                      <a:spcPct val="15000"/>
                    </a:spcAft>
                    <a:buChar char="••"/>
                  </a:pPr>
                  <a:r>
                    <a:rPr lang="en-US" sz="2000" kern="1200" dirty="0"/>
                    <a:t>Arithmetic : (</a:t>
                  </a:r>
                  <a:r>
                    <a:rPr lang="en-US" sz="2000" dirty="0"/>
                    <a:t>x</a:t>
                  </a:r>
                  <a:r>
                    <a:rPr lang="en-US" sz="2000" baseline="-25000" dirty="0"/>
                    <a:t>1</a:t>
                  </a:r>
                  <a:r>
                    <a:rPr lang="en-US" sz="2000" kern="1200" dirty="0"/>
                    <a:t>+…+</a:t>
                  </a:r>
                  <a:r>
                    <a:rPr lang="en-US" sz="2000" kern="1200" dirty="0" err="1"/>
                    <a:t>x</a:t>
                  </a:r>
                  <a:r>
                    <a:rPr lang="en-US" sz="2000" kern="1200" baseline="-25000" dirty="0" err="1"/>
                    <a:t>n</a:t>
                  </a:r>
                  <a:r>
                    <a:rPr lang="en-US" sz="2000" kern="1200" dirty="0"/>
                    <a:t>)/n</a:t>
                  </a:r>
                </a:p>
                <a:p>
                  <a:pPr marL="228600" lvl="1" indent="-228600" algn="l" defTabSz="889000" rtl="0">
                    <a:lnSpc>
                      <a:spcPct val="90000"/>
                    </a:lnSpc>
                    <a:spcBef>
                      <a:spcPct val="0"/>
                    </a:spcBef>
                    <a:spcAft>
                      <a:spcPct val="15000"/>
                    </a:spcAft>
                    <a:buChar char="••"/>
                  </a:pPr>
                  <a:endParaRPr lang="en-US" sz="2000" kern="1200" dirty="0"/>
                </a:p>
                <a:p>
                  <a:pPr marL="228600" lvl="1" indent="-228600" algn="l" defTabSz="889000" rtl="0">
                    <a:lnSpc>
                      <a:spcPct val="90000"/>
                    </a:lnSpc>
                    <a:spcBef>
                      <a:spcPct val="0"/>
                    </a:spcBef>
                    <a:spcAft>
                      <a:spcPct val="15000"/>
                    </a:spcAft>
                    <a:buChar char="••"/>
                  </a:pPr>
                  <a:r>
                    <a:rPr lang="en-US" sz="2000" kern="1200" dirty="0">
                      <a:solidFill>
                        <a:srgbClr val="C00000"/>
                      </a:solidFill>
                    </a:rPr>
                    <a:t>Geometric mean : </a:t>
                  </a:r>
                  <a14:m>
                    <m:oMath xmlns:m="http://schemas.openxmlformats.org/officeDocument/2006/math">
                      <m:rad>
                        <m:radPr>
                          <m:ctrlPr>
                            <a:rPr lang="en-US" altLang="ko-KR" sz="2000" i="1" kern="1200" smtClean="0">
                              <a:solidFill>
                                <a:srgbClr val="C00000"/>
                              </a:solidFill>
                              <a:latin typeface="Cambria Math" panose="02040503050406030204" pitchFamily="18" charset="0"/>
                            </a:rPr>
                          </m:ctrlPr>
                        </m:radPr>
                        <m:deg>
                          <m:r>
                            <m:rPr>
                              <m:brk m:alnAt="7"/>
                            </m:rPr>
                            <a:rPr lang="en-US" altLang="ko-KR" sz="2000" b="0" i="1" kern="1200" smtClean="0">
                              <a:solidFill>
                                <a:srgbClr val="C00000"/>
                              </a:solidFill>
                              <a:latin typeface="Cambria Math" panose="02040503050406030204" pitchFamily="18" charset="0"/>
                            </a:rPr>
                            <m:t>𝑛</m:t>
                          </m:r>
                        </m:deg>
                        <m:e>
                          <m:r>
                            <a:rPr lang="en-US" altLang="ko-KR" sz="2000" b="0" i="1" kern="1200" smtClean="0">
                              <a:solidFill>
                                <a:srgbClr val="C00000"/>
                              </a:solidFill>
                              <a:latin typeface="Cambria Math" panose="02040503050406030204" pitchFamily="18" charset="0"/>
                            </a:rPr>
                            <m:t>(</m:t>
                          </m:r>
                          <m:r>
                            <a:rPr lang="en-US" altLang="ko-KR" sz="2000" b="0" i="1" kern="1200" smtClean="0">
                              <a:solidFill>
                                <a:srgbClr val="C00000"/>
                              </a:solidFill>
                              <a:latin typeface="Cambria Math" panose="02040503050406030204" pitchFamily="18" charset="0"/>
                            </a:rPr>
                            <m:t>𝑥</m:t>
                          </m:r>
                          <m:r>
                            <a:rPr lang="en-US" altLang="ko-KR" sz="2000" b="0" i="1" kern="1200" baseline="-25000" smtClean="0">
                              <a:solidFill>
                                <a:srgbClr val="C00000"/>
                              </a:solidFill>
                              <a:latin typeface="Cambria Math" panose="02040503050406030204" pitchFamily="18" charset="0"/>
                            </a:rPr>
                            <m:t>1</m:t>
                          </m:r>
                          <m:r>
                            <a:rPr lang="en-US" altLang="ko-KR" sz="2000" b="0" i="1" kern="1200" smtClean="0">
                              <a:solidFill>
                                <a:srgbClr val="C00000"/>
                              </a:solidFill>
                              <a:latin typeface="Cambria Math" panose="02040503050406030204" pitchFamily="18" charset="0"/>
                            </a:rPr>
                            <m:t>∗</m:t>
                          </m:r>
                          <m:r>
                            <a:rPr lang="en-US" altLang="ko-KR" sz="2000" b="0" i="1" kern="1200" smtClean="0">
                              <a:solidFill>
                                <a:srgbClr val="C00000"/>
                              </a:solidFill>
                              <a:latin typeface="Cambria Math" panose="02040503050406030204" pitchFamily="18" charset="0"/>
                            </a:rPr>
                            <m:t>𝑥</m:t>
                          </m:r>
                          <m:r>
                            <a:rPr lang="en-US" altLang="ko-KR" sz="2000" b="0" i="1" kern="1200" baseline="-25000" smtClean="0">
                              <a:solidFill>
                                <a:srgbClr val="C00000"/>
                              </a:solidFill>
                              <a:latin typeface="Cambria Math" panose="02040503050406030204" pitchFamily="18" charset="0"/>
                            </a:rPr>
                            <m:t>2</m:t>
                          </m:r>
                          <m:r>
                            <a:rPr lang="en-US" altLang="ko-KR" sz="2000" b="0" i="1" kern="1200" smtClean="0">
                              <a:solidFill>
                                <a:srgbClr val="C00000"/>
                              </a:solidFill>
                              <a:latin typeface="Cambria Math" panose="02040503050406030204" pitchFamily="18" charset="0"/>
                            </a:rPr>
                            <m:t>∗…</m:t>
                          </m:r>
                          <m:r>
                            <a:rPr lang="en-US" altLang="ko-KR" sz="2000" b="0" i="1" kern="1200" smtClean="0">
                              <a:solidFill>
                                <a:srgbClr val="C00000"/>
                              </a:solidFill>
                              <a:latin typeface="Cambria Math" panose="02040503050406030204" pitchFamily="18" charset="0"/>
                            </a:rPr>
                            <m:t>𝑥𝑛</m:t>
                          </m:r>
                          <m:r>
                            <a:rPr lang="en-US" altLang="ko-KR" sz="2000" b="0" i="1" kern="1200" smtClean="0">
                              <a:solidFill>
                                <a:srgbClr val="C00000"/>
                              </a:solidFill>
                              <a:latin typeface="Cambria Math" panose="02040503050406030204" pitchFamily="18" charset="0"/>
                            </a:rPr>
                            <m:t>)</m:t>
                          </m:r>
                        </m:e>
                      </m:rad>
                    </m:oMath>
                  </a14:m>
                  <a:endParaRPr lang="en-US" altLang="ko-KR" sz="2000" kern="1200" dirty="0">
                    <a:solidFill>
                      <a:srgbClr val="C00000"/>
                    </a:solidFill>
                  </a:endParaRPr>
                </a:p>
                <a:p>
                  <a:pPr marL="0" lvl="1" algn="l" defTabSz="889000" rtl="0">
                    <a:lnSpc>
                      <a:spcPct val="90000"/>
                    </a:lnSpc>
                    <a:spcBef>
                      <a:spcPct val="0"/>
                    </a:spcBef>
                    <a:spcAft>
                      <a:spcPct val="15000"/>
                    </a:spcAft>
                  </a:pPr>
                  <a:r>
                    <a:rPr lang="en-US" sz="2000" dirty="0">
                      <a:solidFill>
                        <a:srgbClr val="C00000"/>
                      </a:solidFill>
                    </a:rPr>
                    <a:t>- </a:t>
                  </a:r>
                  <a:r>
                    <a:rPr lang="ko-KR" altLang="en-US" sz="2000" dirty="0">
                      <a:solidFill>
                        <a:srgbClr val="C00000"/>
                      </a:solidFill>
                    </a:rPr>
                    <a:t>값의 곱을 사용하여</a:t>
                  </a:r>
                  <a:r>
                    <a:rPr lang="en-US" altLang="ko-KR" sz="2000" dirty="0">
                      <a:solidFill>
                        <a:srgbClr val="C00000"/>
                      </a:solidFill>
                    </a:rPr>
                    <a:t>, </a:t>
                  </a:r>
                  <a:r>
                    <a:rPr lang="ko-KR" altLang="en-US" sz="2000" dirty="0">
                      <a:solidFill>
                        <a:srgbClr val="C00000"/>
                      </a:solidFill>
                    </a:rPr>
                    <a:t>숫자의 어떤 경향을 얻고자 함</a:t>
                  </a:r>
                  <a:endParaRPr lang="en-US" sz="2000" kern="1200" dirty="0">
                    <a:solidFill>
                      <a:srgbClr val="C00000"/>
                    </a:solidFill>
                  </a:endParaRPr>
                </a:p>
                <a:p>
                  <a:pPr marL="228600" lvl="1" indent="-228600" algn="l" defTabSz="889000" rtl="0">
                    <a:lnSpc>
                      <a:spcPct val="90000"/>
                    </a:lnSpc>
                    <a:spcBef>
                      <a:spcPct val="0"/>
                    </a:spcBef>
                    <a:spcAft>
                      <a:spcPct val="15000"/>
                    </a:spcAft>
                    <a:buChar char="••"/>
                  </a:pPr>
                  <a:endParaRPr lang="en-US" sz="2000" kern="1200" dirty="0"/>
                </a:p>
                <a:p>
                  <a:pPr marL="228600" lvl="1" indent="-228600" algn="l" defTabSz="889000" rtl="0">
                    <a:lnSpc>
                      <a:spcPct val="90000"/>
                    </a:lnSpc>
                    <a:spcBef>
                      <a:spcPct val="0"/>
                    </a:spcBef>
                    <a:spcAft>
                      <a:spcPct val="15000"/>
                    </a:spcAft>
                    <a:buChar char="••"/>
                  </a:pPr>
                  <a:r>
                    <a:rPr lang="en-US" sz="2000" kern="1200" dirty="0"/>
                    <a:t>Harmonic : </a:t>
                  </a:r>
                </a:p>
              </p:txBody>
            </p:sp>
          </mc:Choice>
          <mc:Fallback xmlns="">
            <p:sp>
              <p:nvSpPr>
                <p:cNvPr id="29" name="자유형 28"/>
                <p:cNvSpPr>
                  <a:spLocks noRot="1" noChangeAspect="1" noMove="1" noResize="1" noEditPoints="1" noAdjustHandles="1" noChangeArrowheads="1" noChangeShapeType="1" noTextEdit="1"/>
                </p:cNvSpPr>
                <p:nvPr/>
              </p:nvSpPr>
              <p:spPr>
                <a:xfrm>
                  <a:off x="2085131" y="5523394"/>
                  <a:ext cx="7859613" cy="1903810"/>
                </a:xfrm>
                <a:custGeom>
                  <a:avLst/>
                  <a:gdLst>
                    <a:gd name="connsiteX0" fmla="*/ 0 w 3087261"/>
                    <a:gd name="connsiteY0" fmla="*/ 0 h 1903810"/>
                    <a:gd name="connsiteX1" fmla="*/ 3087261 w 3087261"/>
                    <a:gd name="connsiteY1" fmla="*/ 0 h 1903810"/>
                    <a:gd name="connsiteX2" fmla="*/ 3087261 w 3087261"/>
                    <a:gd name="connsiteY2" fmla="*/ 1903810 h 1903810"/>
                    <a:gd name="connsiteX3" fmla="*/ 0 w 3087261"/>
                    <a:gd name="connsiteY3" fmla="*/ 1903810 h 1903810"/>
                    <a:gd name="connsiteX4" fmla="*/ 0 w 3087261"/>
                    <a:gd name="connsiteY4" fmla="*/ 0 h 1903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7261" h="1903810">
                      <a:moveTo>
                        <a:pt x="0" y="0"/>
                      </a:moveTo>
                      <a:lnTo>
                        <a:pt x="3087261" y="0"/>
                      </a:lnTo>
                      <a:lnTo>
                        <a:pt x="3087261" y="1903810"/>
                      </a:lnTo>
                      <a:lnTo>
                        <a:pt x="0" y="1903810"/>
                      </a:lnTo>
                      <a:lnTo>
                        <a:pt x="0" y="0"/>
                      </a:lnTo>
                      <a:close/>
                    </a:path>
                  </a:pathLst>
                </a:custGeom>
                <a:blipFill>
                  <a:blip r:embed="rId3"/>
                  <a:stretch>
                    <a:fillRect l="-1629" t="-4473" b="-11502"/>
                  </a:stretch>
                </a:blipFill>
              </p:spPr>
              <p:txBody>
                <a:bodyPr/>
                <a:lstStyle/>
                <a:p>
                  <a:r>
                    <a:rPr lang="ko-KR" altLang="en-US">
                      <a:noFill/>
                    </a:rPr>
                    <a:t> </a:t>
                  </a:r>
                </a:p>
              </p:txBody>
            </p:sp>
          </mc:Fallback>
        </mc:AlternateContent>
      </p:grpSp>
      <p:sp>
        <p:nvSpPr>
          <p:cNvPr id="4" name="슬라이드 번호 개체 틀 3"/>
          <p:cNvSpPr>
            <a:spLocks noGrp="1"/>
          </p:cNvSpPr>
          <p:nvPr>
            <p:ph type="sldNum" sz="quarter" idx="12"/>
          </p:nvPr>
        </p:nvSpPr>
        <p:spPr/>
        <p:txBody>
          <a:bodyPr/>
          <a:lstStyle/>
          <a:p>
            <a:fld id="{8AF02B71-8991-4516-A01E-F1A9ACD28BDC}" type="slidenum">
              <a:rPr lang="en-US" altLang="ko-KR" smtClean="0"/>
              <a:pPr/>
              <a:t>18</a:t>
            </a:fld>
            <a:endParaRPr lang="en-US" altLang="ko-KR"/>
          </a:p>
        </p:txBody>
      </p:sp>
      <p:pic>
        <p:nvPicPr>
          <p:cNvPr id="30" name="그림 29"/>
          <p:cNvPicPr>
            <a:picLocks noChangeAspect="1"/>
          </p:cNvPicPr>
          <p:nvPr/>
        </p:nvPicPr>
        <p:blipFill>
          <a:blip r:embed="rId4"/>
          <a:stretch>
            <a:fillRect/>
          </a:stretch>
        </p:blipFill>
        <p:spPr>
          <a:xfrm>
            <a:off x="3682973" y="5452612"/>
            <a:ext cx="1591387" cy="599496"/>
          </a:xfrm>
          <a:prstGeom prst="rect">
            <a:avLst/>
          </a:prstGeom>
        </p:spPr>
      </p:pic>
      <p:sp>
        <p:nvSpPr>
          <p:cNvPr id="2" name="Title 1"/>
          <p:cNvSpPr>
            <a:spLocks noGrp="1"/>
          </p:cNvSpPr>
          <p:nvPr>
            <p:ph type="title" idx="4294967295"/>
          </p:nvPr>
        </p:nvSpPr>
        <p:spPr>
          <a:xfrm>
            <a:off x="395536" y="332656"/>
            <a:ext cx="7556500" cy="1116012"/>
          </a:xfrm>
        </p:spPr>
        <p:txBody>
          <a:bodyPr/>
          <a:lstStyle/>
          <a:p>
            <a:r>
              <a:rPr lang="en-US" b="1" dirty="0">
                <a:ln w="12700">
                  <a:solidFill>
                    <a:schemeClr val="tx2">
                      <a:satMod val="155000"/>
                    </a:schemeClr>
                  </a:solidFill>
                  <a:prstDash val="solid"/>
                </a:ln>
                <a:solidFill>
                  <a:schemeClr val="accent3">
                    <a:lumMod val="60000"/>
                    <a:lumOff val="40000"/>
                  </a:schemeClr>
                </a:solidFill>
                <a:effectLst>
                  <a:outerShdw blurRad="41275" dist="20320" dir="1800000" algn="tl" rotWithShape="0">
                    <a:srgbClr val="000000">
                      <a:alpha val="40000"/>
                    </a:srgbClr>
                  </a:outerShdw>
                </a:effectLst>
              </a:rPr>
              <a:t>Calculating the Mean</a:t>
            </a:r>
          </a:p>
        </p:txBody>
      </p:sp>
    </p:spTree>
    <p:extLst>
      <p:ext uri="{BB962C8B-B14F-4D97-AF65-F5344CB8AC3E}">
        <p14:creationId xmlns:p14="http://schemas.microsoft.com/office/powerpoint/2010/main" val="28172863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6.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528" y="0"/>
            <a:ext cx="5299364" cy="6858000"/>
          </a:xfrm>
          <a:prstGeom prst="rect">
            <a:avLst/>
          </a:prstGeom>
        </p:spPr>
      </p:pic>
      <p:sp>
        <p:nvSpPr>
          <p:cNvPr id="7" name="TextBox 6"/>
          <p:cNvSpPr txBox="1"/>
          <p:nvPr/>
        </p:nvSpPr>
        <p:spPr>
          <a:xfrm>
            <a:off x="5744714" y="4527645"/>
            <a:ext cx="3068231" cy="1826650"/>
          </a:xfrm>
          <a:prstGeom prst="rect">
            <a:avLst/>
          </a:prstGeom>
          <a:solidFill>
            <a:schemeClr val="accent6">
              <a:lumMod val="20000"/>
              <a:lumOff val="80000"/>
            </a:schemeClr>
          </a:solidFill>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20320" tIns="20320" rIns="20320" bIns="20320" numCol="1" spcCol="1270" anchor="ctr" anchorCtr="0">
            <a:noAutofit/>
          </a:bodyPr>
          <a:lstStyle/>
          <a:p>
            <a:pPr lvl="0" defTabSz="711200" rtl="0">
              <a:lnSpc>
                <a:spcPct val="90000"/>
              </a:lnSpc>
              <a:spcBef>
                <a:spcPct val="0"/>
              </a:spcBef>
              <a:spcAft>
                <a:spcPct val="35000"/>
              </a:spcAft>
            </a:pPr>
            <a:r>
              <a:rPr lang="ko-KR" altLang="en-US" sz="1600" dirty="0"/>
              <a:t>대략적으로 보면</a:t>
            </a:r>
            <a:r>
              <a:rPr lang="en-US" altLang="ko-KR" sz="1600" dirty="0"/>
              <a:t>, </a:t>
            </a:r>
            <a:r>
              <a:rPr lang="ko-KR" altLang="en-US" sz="1600" dirty="0"/>
              <a:t>왼쪽의 </a:t>
            </a:r>
            <a:r>
              <a:rPr lang="en-US" altLang="ko-KR" sz="1600" dirty="0"/>
              <a:t>(a)~(g)</a:t>
            </a:r>
            <a:r>
              <a:rPr lang="ko-KR" altLang="en-US" sz="1600" dirty="0"/>
              <a:t>까지의 값을 볼 때</a:t>
            </a:r>
            <a:r>
              <a:rPr lang="en-US" altLang="ko-KR" sz="1600" dirty="0"/>
              <a:t>, </a:t>
            </a:r>
          </a:p>
          <a:p>
            <a:pPr marL="285750" lvl="0" indent="-285750" defTabSz="711200" rtl="0">
              <a:lnSpc>
                <a:spcPct val="90000"/>
              </a:lnSpc>
              <a:spcBef>
                <a:spcPct val="0"/>
              </a:spcBef>
              <a:spcAft>
                <a:spcPct val="35000"/>
              </a:spcAft>
              <a:buFontTx/>
              <a:buChar char="-"/>
            </a:pPr>
            <a:r>
              <a:rPr lang="ko-KR" altLang="en-US" sz="1600" kern="1200" dirty="0"/>
              <a:t>값의 변화가 적거나</a:t>
            </a:r>
            <a:r>
              <a:rPr lang="en-US" altLang="ko-KR" sz="1600" kern="1200" dirty="0"/>
              <a:t>, </a:t>
            </a:r>
            <a:r>
              <a:rPr lang="ko-KR" altLang="en-US" sz="1600" kern="1200" dirty="0"/>
              <a:t>많을 경우에는 </a:t>
            </a:r>
            <a:r>
              <a:rPr lang="en-US" altLang="ko-KR" sz="1600" kern="1200" dirty="0"/>
              <a:t>HM(Harmonic Mean)</a:t>
            </a:r>
            <a:r>
              <a:rPr lang="ko-KR" altLang="en-US" sz="1600" kern="1200" dirty="0"/>
              <a:t>이 잘못된 </a:t>
            </a:r>
            <a:r>
              <a:rPr lang="ko-KR" altLang="en-US" sz="1600" kern="1200" dirty="0" err="1"/>
              <a:t>특성값을</a:t>
            </a:r>
            <a:r>
              <a:rPr lang="ko-KR" altLang="en-US" sz="1600" kern="1200" dirty="0"/>
              <a:t> 보임</a:t>
            </a:r>
            <a:r>
              <a:rPr lang="en-US" altLang="ko-KR" sz="1600" dirty="0"/>
              <a:t>( </a:t>
            </a:r>
            <a:r>
              <a:rPr lang="ko-KR" altLang="en-US" sz="1600" dirty="0"/>
              <a:t>예</a:t>
            </a:r>
            <a:r>
              <a:rPr lang="en-US" altLang="ko-KR" sz="1600" dirty="0"/>
              <a:t>: (c):</a:t>
            </a:r>
            <a:r>
              <a:rPr lang="ko-KR" altLang="en-US" sz="1600" dirty="0" err="1"/>
              <a:t>많은변화</a:t>
            </a:r>
            <a:r>
              <a:rPr lang="en-US" altLang="ko-KR" sz="1600" dirty="0"/>
              <a:t>, (g): </a:t>
            </a:r>
            <a:r>
              <a:rPr lang="ko-KR" altLang="en-US" sz="1600" dirty="0" err="1"/>
              <a:t>적은변화</a:t>
            </a:r>
            <a:r>
              <a:rPr lang="en-US" altLang="ko-KR" sz="1600" dirty="0"/>
              <a:t>)</a:t>
            </a:r>
            <a:endParaRPr lang="en-US" sz="1600" kern="1200" dirty="0"/>
          </a:p>
        </p:txBody>
      </p:sp>
      <p:sp>
        <p:nvSpPr>
          <p:cNvPr id="3" name="슬라이드 번호 개체 틀 2"/>
          <p:cNvSpPr>
            <a:spLocks noGrp="1"/>
          </p:cNvSpPr>
          <p:nvPr>
            <p:ph type="sldNum" sz="quarter" idx="12"/>
          </p:nvPr>
        </p:nvSpPr>
        <p:spPr/>
        <p:txBody>
          <a:bodyPr/>
          <a:lstStyle/>
          <a:p>
            <a:fld id="{8AF02B71-8991-4516-A01E-F1A9ACD28BDC}" type="slidenum">
              <a:rPr lang="en-US" altLang="ko-KR" smtClean="0"/>
              <a:pPr/>
              <a:t>19</a:t>
            </a:fld>
            <a:endParaRPr lang="en-US" altLang="ko-KR"/>
          </a:p>
        </p:txBody>
      </p:sp>
    </p:spTree>
    <p:extLst>
      <p:ext uri="{BB962C8B-B14F-4D97-AF65-F5344CB8AC3E}">
        <p14:creationId xmlns:p14="http://schemas.microsoft.com/office/powerpoint/2010/main" val="30634629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half" idx="2"/>
          </p:nvPr>
        </p:nvSpPr>
        <p:spPr>
          <a:xfrm>
            <a:off x="827584" y="116632"/>
            <a:ext cx="5400599" cy="3096344"/>
          </a:xfrm>
        </p:spPr>
        <p:txBody>
          <a:bodyPr>
            <a:normAutofit/>
          </a:bodyPr>
          <a:lstStyle/>
          <a:p>
            <a:pPr marL="228600" indent="-228600">
              <a:spcBef>
                <a:spcPts val="0"/>
              </a:spcBef>
              <a:buFont typeface="Wingdings" pitchFamily="2" charset="2"/>
              <a:buChar char="n"/>
            </a:pPr>
            <a:r>
              <a:rPr lang="en-US" sz="2000" dirty="0"/>
              <a:t>An Arithmetic Mean (AM) is an appropriate measure </a:t>
            </a:r>
            <a:r>
              <a:rPr lang="en-US" sz="2000" dirty="0">
                <a:solidFill>
                  <a:srgbClr val="FF0000"/>
                </a:solidFill>
              </a:rPr>
              <a:t>if the sum of all the measurements is a meaningful and interesting value</a:t>
            </a:r>
          </a:p>
          <a:p>
            <a:pPr marL="228600" indent="-228600">
              <a:spcBef>
                <a:spcPts val="0"/>
              </a:spcBef>
              <a:buFont typeface="Wingdings" pitchFamily="2" charset="2"/>
              <a:buChar char="n"/>
            </a:pPr>
            <a:endParaRPr lang="en-US" sz="2000" dirty="0"/>
          </a:p>
          <a:p>
            <a:pPr marL="228600" indent="-228600">
              <a:spcBef>
                <a:spcPts val="0"/>
              </a:spcBef>
              <a:buFont typeface="Wingdings" pitchFamily="2" charset="2"/>
              <a:buChar char="n"/>
            </a:pPr>
            <a:r>
              <a:rPr lang="en-US" sz="2000" dirty="0"/>
              <a:t>The AM is a good candidate for comparing the execution time performance of several systems</a:t>
            </a:r>
          </a:p>
          <a:p>
            <a:pPr>
              <a:lnSpc>
                <a:spcPct val="120000"/>
              </a:lnSpc>
              <a:spcBef>
                <a:spcPts val="0"/>
              </a:spcBef>
            </a:pPr>
            <a:endParaRPr lang="en-US" sz="2000" dirty="0"/>
          </a:p>
        </p:txBody>
      </p:sp>
      <p:sp>
        <p:nvSpPr>
          <p:cNvPr id="7" name="TextBox 6"/>
          <p:cNvSpPr txBox="1"/>
          <p:nvPr/>
        </p:nvSpPr>
        <p:spPr>
          <a:xfrm>
            <a:off x="6804248" y="980728"/>
            <a:ext cx="2124673" cy="553998"/>
          </a:xfrm>
          <a:prstGeom prst="rect">
            <a:avLst/>
          </a:prstGeom>
          <a:noFill/>
        </p:spPr>
        <p:txBody>
          <a:bodyPr wrap="square" rtlCol="0">
            <a:spAutoFit/>
          </a:bodyPr>
          <a:lstStyle/>
          <a:p>
            <a:pPr algn="ctr"/>
            <a:r>
              <a:rPr lang="en-US" sz="3000" dirty="0">
                <a:latin typeface="+mj-lt"/>
              </a:rPr>
              <a:t>Arithmetic</a:t>
            </a:r>
          </a:p>
        </p:txBody>
      </p:sp>
      <p:sp>
        <p:nvSpPr>
          <p:cNvPr id="8" name="TextBox 7"/>
          <p:cNvSpPr txBox="1"/>
          <p:nvPr/>
        </p:nvSpPr>
        <p:spPr>
          <a:xfrm>
            <a:off x="6804248" y="2996952"/>
            <a:ext cx="2016224" cy="553998"/>
          </a:xfrm>
          <a:prstGeom prst="rect">
            <a:avLst/>
          </a:prstGeom>
          <a:noFill/>
        </p:spPr>
        <p:txBody>
          <a:bodyPr wrap="square" rtlCol="0">
            <a:spAutoFit/>
          </a:bodyPr>
          <a:lstStyle/>
          <a:p>
            <a:pPr algn="ctr"/>
            <a:r>
              <a:rPr lang="en-US" sz="3000" dirty="0">
                <a:latin typeface="+mj-lt"/>
              </a:rPr>
              <a:t>Mean</a:t>
            </a:r>
          </a:p>
        </p:txBody>
      </p:sp>
      <p:sp>
        <p:nvSpPr>
          <p:cNvPr id="10" name="TextBox 9"/>
          <p:cNvSpPr txBox="1"/>
          <p:nvPr/>
        </p:nvSpPr>
        <p:spPr>
          <a:xfrm>
            <a:off x="1115616" y="2708920"/>
            <a:ext cx="5688632" cy="2031325"/>
          </a:xfrm>
          <a:prstGeom prst="rect">
            <a:avLst/>
          </a:prstGeom>
          <a:solidFill>
            <a:schemeClr val="accent3">
              <a:lumMod val="60000"/>
              <a:lumOff val="40000"/>
            </a:schemeClr>
          </a:solidFill>
        </p:spPr>
        <p:txBody>
          <a:bodyPr wrap="square" rtlCol="0">
            <a:spAutoFit/>
          </a:bodyPr>
          <a:lstStyle/>
          <a:p>
            <a:r>
              <a:rPr lang="en-US" sz="1400" dirty="0">
                <a:latin typeface="+mn-lt"/>
              </a:rPr>
              <a:t> For example, suppose we were interested in using a system</a:t>
            </a:r>
          </a:p>
          <a:p>
            <a:r>
              <a:rPr lang="en-US" sz="1400" dirty="0">
                <a:latin typeface="+mn-lt"/>
              </a:rPr>
              <a:t>for large-scale simulation studies and wanted to evaluate several alternative products.  On each system we could run the simulation multiple times with different input values for each run, and then take the average execution time across all runs. The use of</a:t>
            </a:r>
          </a:p>
          <a:p>
            <a:r>
              <a:rPr lang="en-US" sz="1400" dirty="0">
                <a:latin typeface="+mn-lt"/>
              </a:rPr>
              <a:t>multiple runs with different inputs should ensure that the results are not heavily biased by some unusual feature of a given input set. The AM of all the runs is a good measure of the system’s performance on simulations, and a good number to use for system comparison.</a:t>
            </a:r>
          </a:p>
        </p:txBody>
      </p:sp>
      <p:sp>
        <p:nvSpPr>
          <p:cNvPr id="11" name="TextBox 10"/>
          <p:cNvSpPr txBox="1"/>
          <p:nvPr/>
        </p:nvSpPr>
        <p:spPr>
          <a:xfrm>
            <a:off x="827584" y="5013176"/>
            <a:ext cx="6278003" cy="1769715"/>
          </a:xfrm>
          <a:prstGeom prst="rect">
            <a:avLst/>
          </a:prstGeom>
          <a:noFill/>
        </p:spPr>
        <p:txBody>
          <a:bodyPr wrap="square" rtlCol="0">
            <a:spAutoFit/>
          </a:bodyPr>
          <a:lstStyle/>
          <a:p>
            <a:pPr marL="228600" indent="-228600" eaLnBrk="1" hangingPunct="1">
              <a:spcBef>
                <a:spcPts val="0"/>
              </a:spcBef>
              <a:buClr>
                <a:schemeClr val="accent1"/>
              </a:buClr>
              <a:buSzPct val="75000"/>
              <a:buFont typeface="Wingdings" pitchFamily="2" charset="2"/>
              <a:buChar char="n"/>
            </a:pPr>
            <a:r>
              <a:rPr lang="en-US" sz="1900" dirty="0">
                <a:solidFill>
                  <a:schemeClr val="tx1">
                    <a:lumMod val="65000"/>
                    <a:lumOff val="35000"/>
                  </a:schemeClr>
                </a:solidFill>
                <a:latin typeface="+mn-lt"/>
              </a:rPr>
              <a:t>The AM used for a time-based variable, such as program execution time, has the important property that it is directly proportional to the total time </a:t>
            </a:r>
          </a:p>
          <a:p>
            <a:pPr marL="685800" lvl="1" indent="-228600" eaLnBrk="1" hangingPunct="1">
              <a:spcBef>
                <a:spcPts val="900"/>
              </a:spcBef>
              <a:buClr>
                <a:schemeClr val="accent1"/>
              </a:buClr>
              <a:buSzPct val="75000"/>
              <a:buFont typeface="Wingdings" pitchFamily="2" charset="2"/>
              <a:buChar char="n"/>
            </a:pPr>
            <a:r>
              <a:rPr lang="en-US" sz="1800" dirty="0">
                <a:solidFill>
                  <a:schemeClr val="tx1">
                    <a:lumMod val="65000"/>
                    <a:lumOff val="35000"/>
                  </a:schemeClr>
                </a:solidFill>
                <a:latin typeface="+mn-lt"/>
              </a:rPr>
              <a:t>If the total time doubles, the mean value doubles</a:t>
            </a:r>
          </a:p>
          <a:p>
            <a:endParaRPr lang="en-US" dirty="0"/>
          </a:p>
        </p:txBody>
      </p:sp>
      <p:sp>
        <p:nvSpPr>
          <p:cNvPr id="4" name="슬라이드 번호 개체 틀 3"/>
          <p:cNvSpPr>
            <a:spLocks noGrp="1"/>
          </p:cNvSpPr>
          <p:nvPr>
            <p:ph type="sldNum" sz="quarter" idx="12"/>
          </p:nvPr>
        </p:nvSpPr>
        <p:spPr/>
        <p:txBody>
          <a:bodyPr/>
          <a:lstStyle/>
          <a:p>
            <a:fld id="{8AF02B71-8991-4516-A01E-F1A9ACD28BDC}" type="slidenum">
              <a:rPr lang="en-US" altLang="ko-KR" smtClean="0"/>
              <a:pPr/>
              <a:t>20</a:t>
            </a:fld>
            <a:endParaRPr lang="en-US" altLang="ko-KR"/>
          </a:p>
        </p:txBody>
      </p:sp>
    </p:spTree>
    <p:extLst>
      <p:ext uri="{BB962C8B-B14F-4D97-AF65-F5344CB8AC3E}">
        <p14:creationId xmlns:p14="http://schemas.microsoft.com/office/powerpoint/2010/main" val="40138566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rotWithShape="1">
          <a:blip r:embed="rId3"/>
          <a:srcRect r="1726" b="6656"/>
          <a:stretch/>
        </p:blipFill>
        <p:spPr>
          <a:xfrm>
            <a:off x="323528" y="332656"/>
            <a:ext cx="5472608" cy="4715760"/>
          </a:xfrm>
          <a:prstGeom prst="rect">
            <a:avLst/>
          </a:prstGeom>
          <a:ln w="57150" cmpd="sng">
            <a:solidFill>
              <a:schemeClr val="tx1"/>
            </a:solidFill>
          </a:ln>
        </p:spPr>
      </p:pic>
      <p:sp>
        <p:nvSpPr>
          <p:cNvPr id="10" name="TextBox 9"/>
          <p:cNvSpPr txBox="1"/>
          <p:nvPr/>
        </p:nvSpPr>
        <p:spPr>
          <a:xfrm>
            <a:off x="7164288" y="1340768"/>
            <a:ext cx="1979712" cy="2677656"/>
          </a:xfrm>
          <a:prstGeom prst="rect">
            <a:avLst/>
          </a:prstGeom>
          <a:noFill/>
        </p:spPr>
        <p:txBody>
          <a:bodyPr wrap="square" rtlCol="0">
            <a:spAutoFit/>
          </a:bodyPr>
          <a:lstStyle/>
          <a:p>
            <a:pPr algn="ctr"/>
            <a:r>
              <a:rPr lang="en-US" sz="2800" dirty="0">
                <a:latin typeface="+mj-lt"/>
              </a:rPr>
              <a:t>Table 2.2  </a:t>
            </a:r>
          </a:p>
          <a:p>
            <a:pPr algn="ctr"/>
            <a:r>
              <a:rPr lang="en-US" sz="2000" dirty="0">
                <a:latin typeface="+mj-lt"/>
              </a:rPr>
              <a:t> </a:t>
            </a:r>
          </a:p>
          <a:p>
            <a:pPr algn="ctr"/>
            <a:r>
              <a:rPr lang="en-US" sz="2000" dirty="0">
                <a:latin typeface="+mj-lt"/>
              </a:rPr>
              <a:t>A Comparison of Arithmetic and </a:t>
            </a:r>
          </a:p>
          <a:p>
            <a:pPr algn="ctr"/>
            <a:r>
              <a:rPr lang="en-US" sz="2000" dirty="0">
                <a:latin typeface="+mj-lt"/>
              </a:rPr>
              <a:t>Harmonic Means for Rates </a:t>
            </a:r>
          </a:p>
        </p:txBody>
      </p:sp>
      <p:sp>
        <p:nvSpPr>
          <p:cNvPr id="5" name="TextBox 4"/>
          <p:cNvSpPr txBox="1"/>
          <p:nvPr/>
        </p:nvSpPr>
        <p:spPr>
          <a:xfrm>
            <a:off x="305197" y="5441384"/>
            <a:ext cx="7416824" cy="1169551"/>
          </a:xfrm>
          <a:prstGeom prst="rect">
            <a:avLst/>
          </a:prstGeom>
          <a:solidFill>
            <a:schemeClr val="accent3">
              <a:lumMod val="60000"/>
              <a:lumOff val="40000"/>
            </a:schemeClr>
          </a:solidFill>
        </p:spPr>
        <p:txBody>
          <a:bodyPr wrap="square" rtlCol="0">
            <a:spAutoFit/>
          </a:bodyPr>
          <a:lstStyle/>
          <a:p>
            <a:pPr marL="285750" indent="-285750">
              <a:buFontTx/>
              <a:buChar char="-"/>
            </a:pPr>
            <a:r>
              <a:rPr lang="en-US" sz="1400" dirty="0">
                <a:latin typeface="+mn-lt"/>
              </a:rPr>
              <a:t>A </a:t>
            </a:r>
            <a:r>
              <a:rPr lang="ko-KR" altLang="en-US" sz="1400" dirty="0">
                <a:latin typeface="+mn-lt"/>
              </a:rPr>
              <a:t>컴퓨터가 가장 빠른 것은 </a:t>
            </a:r>
            <a:r>
              <a:rPr lang="en-US" altLang="ko-KR" sz="1400" dirty="0">
                <a:latin typeface="+mn-lt"/>
              </a:rPr>
              <a:t>AM, HM </a:t>
            </a:r>
            <a:r>
              <a:rPr lang="ko-KR" altLang="en-US" sz="1400" dirty="0">
                <a:latin typeface="+mn-lt"/>
              </a:rPr>
              <a:t>관점에서도 동일함</a:t>
            </a:r>
            <a:endParaRPr lang="en-US" altLang="ko-KR" sz="1400" dirty="0">
              <a:latin typeface="+mn-lt"/>
            </a:endParaRPr>
          </a:p>
          <a:p>
            <a:pPr marL="285750" indent="-285750">
              <a:buFontTx/>
              <a:buChar char="-"/>
            </a:pPr>
            <a:r>
              <a:rPr lang="ko-KR" altLang="en-US" sz="1400" dirty="0">
                <a:latin typeface="+mn-lt"/>
              </a:rPr>
              <a:t>하지만</a:t>
            </a:r>
            <a:r>
              <a:rPr lang="en-US" altLang="ko-KR" sz="1400" dirty="0">
                <a:latin typeface="+mn-lt"/>
              </a:rPr>
              <a:t>, B</a:t>
            </a:r>
            <a:r>
              <a:rPr lang="ko-KR" altLang="en-US" sz="1400" dirty="0">
                <a:latin typeface="+mn-lt"/>
              </a:rPr>
              <a:t>와 </a:t>
            </a:r>
            <a:r>
              <a:rPr lang="en-US" altLang="ko-KR" sz="1400" dirty="0">
                <a:latin typeface="+mn-lt"/>
              </a:rPr>
              <a:t>C </a:t>
            </a:r>
            <a:r>
              <a:rPr lang="ko-KR" altLang="en-US" sz="1400" dirty="0">
                <a:latin typeface="+mn-lt"/>
              </a:rPr>
              <a:t>컴퓨터의 성능을 보면</a:t>
            </a:r>
            <a:r>
              <a:rPr lang="en-US" altLang="ko-KR" sz="1400" dirty="0">
                <a:latin typeface="+mn-lt"/>
              </a:rPr>
              <a:t>(</a:t>
            </a:r>
            <a:r>
              <a:rPr lang="ko-KR" altLang="en-US" sz="1400" dirty="0">
                <a:latin typeface="+mn-lt"/>
              </a:rPr>
              <a:t>왼쪽에서</a:t>
            </a:r>
            <a:r>
              <a:rPr lang="en-US" altLang="ko-KR" sz="1400" dirty="0">
                <a:latin typeface="+mn-lt"/>
              </a:rPr>
              <a:t>) B</a:t>
            </a:r>
            <a:r>
              <a:rPr lang="ko-KR" altLang="en-US" sz="1400" dirty="0">
                <a:latin typeface="+mn-lt"/>
              </a:rPr>
              <a:t>의 지연시간이 적은 경우가 많아</a:t>
            </a:r>
            <a:r>
              <a:rPr lang="en-US" altLang="ko-KR" sz="1400" dirty="0">
                <a:latin typeface="+mn-lt"/>
              </a:rPr>
              <a:t>, </a:t>
            </a:r>
            <a:r>
              <a:rPr lang="ko-KR" altLang="en-US" sz="1400" dirty="0">
                <a:latin typeface="+mn-lt"/>
              </a:rPr>
              <a:t> </a:t>
            </a:r>
            <a:r>
              <a:rPr lang="en-US" altLang="ko-KR" sz="1400" dirty="0">
                <a:latin typeface="+mn-lt"/>
              </a:rPr>
              <a:t>B</a:t>
            </a:r>
            <a:r>
              <a:rPr lang="ko-KR" altLang="en-US" sz="1400" dirty="0">
                <a:latin typeface="+mn-lt"/>
              </a:rPr>
              <a:t>가 </a:t>
            </a:r>
            <a:r>
              <a:rPr lang="en-US" altLang="ko-KR" sz="1400" dirty="0">
                <a:latin typeface="+mn-lt"/>
              </a:rPr>
              <a:t>C</a:t>
            </a:r>
            <a:r>
              <a:rPr lang="ko-KR" altLang="en-US" sz="1400" dirty="0">
                <a:latin typeface="+mn-lt"/>
              </a:rPr>
              <a:t>보다 성능이 좋다는 것을 직관적으로 알 수 있음</a:t>
            </a:r>
            <a:r>
              <a:rPr lang="en-US" altLang="ko-KR" sz="1400" dirty="0">
                <a:latin typeface="+mn-lt"/>
              </a:rPr>
              <a:t>.</a:t>
            </a:r>
          </a:p>
          <a:p>
            <a:pPr marL="285750" indent="-285750">
              <a:buFontTx/>
              <a:buChar char="-"/>
            </a:pPr>
            <a:r>
              <a:rPr lang="ko-KR" altLang="en-US" sz="1400" dirty="0">
                <a:latin typeface="+mn-lt"/>
              </a:rPr>
              <a:t>하지만</a:t>
            </a:r>
            <a:r>
              <a:rPr lang="en-US" altLang="ko-KR" sz="1400" dirty="0">
                <a:latin typeface="+mn-lt"/>
              </a:rPr>
              <a:t>B,C</a:t>
            </a:r>
            <a:r>
              <a:rPr lang="ko-KR" altLang="en-US" sz="1400" dirty="0">
                <a:latin typeface="+mn-lt"/>
              </a:rPr>
              <a:t>컴퓨터의 </a:t>
            </a:r>
            <a:r>
              <a:rPr lang="en-US" altLang="ko-KR" sz="1400" dirty="0">
                <a:latin typeface="+mn-lt"/>
              </a:rPr>
              <a:t>AM, HM </a:t>
            </a:r>
            <a:r>
              <a:rPr lang="ko-KR" altLang="en-US" sz="1400" dirty="0">
                <a:latin typeface="+mn-lt"/>
              </a:rPr>
              <a:t>값을 보면</a:t>
            </a:r>
            <a:r>
              <a:rPr lang="en-US" altLang="ko-KR" sz="1400" dirty="0">
                <a:latin typeface="+mn-lt"/>
              </a:rPr>
              <a:t>, AM</a:t>
            </a:r>
            <a:r>
              <a:rPr lang="ko-KR" altLang="en-US" sz="1400" dirty="0" err="1">
                <a:latin typeface="+mn-lt"/>
              </a:rPr>
              <a:t>을보면</a:t>
            </a:r>
            <a:r>
              <a:rPr lang="ko-KR" altLang="en-US" sz="1400" dirty="0">
                <a:latin typeface="+mn-lt"/>
              </a:rPr>
              <a:t> </a:t>
            </a:r>
            <a:r>
              <a:rPr lang="en-US" altLang="ko-KR" sz="1400" dirty="0">
                <a:latin typeface="+mn-lt"/>
              </a:rPr>
              <a:t>B</a:t>
            </a:r>
            <a:r>
              <a:rPr lang="ko-KR" altLang="en-US" sz="1400" dirty="0">
                <a:latin typeface="+mn-lt"/>
              </a:rPr>
              <a:t>보다 </a:t>
            </a:r>
            <a:r>
              <a:rPr lang="en-US" altLang="ko-KR" sz="1400" dirty="0">
                <a:latin typeface="+mn-lt"/>
              </a:rPr>
              <a:t>C</a:t>
            </a:r>
            <a:r>
              <a:rPr lang="ko-KR" altLang="en-US" sz="1400" dirty="0">
                <a:latin typeface="+mn-lt"/>
              </a:rPr>
              <a:t>가 더 </a:t>
            </a:r>
            <a:r>
              <a:rPr lang="ko-KR" altLang="en-US" sz="1400" dirty="0" err="1">
                <a:latin typeface="+mn-lt"/>
              </a:rPr>
              <a:t>좋아보이며</a:t>
            </a:r>
            <a:r>
              <a:rPr lang="en-US" altLang="ko-KR" sz="1400" dirty="0">
                <a:latin typeface="+mn-lt"/>
              </a:rPr>
              <a:t>,  HM </a:t>
            </a:r>
            <a:r>
              <a:rPr lang="ko-KR" altLang="en-US" sz="1400" dirty="0">
                <a:latin typeface="+mn-lt"/>
              </a:rPr>
              <a:t>관점에서보면</a:t>
            </a:r>
            <a:r>
              <a:rPr lang="en-US" altLang="ko-KR" sz="1400" dirty="0">
                <a:latin typeface="+mn-lt"/>
              </a:rPr>
              <a:t>, B</a:t>
            </a:r>
            <a:r>
              <a:rPr lang="ko-KR" altLang="en-US" sz="1400" dirty="0">
                <a:latin typeface="+mn-lt"/>
              </a:rPr>
              <a:t>가 성능이 </a:t>
            </a:r>
            <a:r>
              <a:rPr lang="ko-KR" altLang="en-US" sz="1400" dirty="0" err="1">
                <a:latin typeface="+mn-lt"/>
              </a:rPr>
              <a:t>좋아보임</a:t>
            </a:r>
            <a:r>
              <a:rPr lang="en-US" altLang="ko-KR" sz="1400" dirty="0">
                <a:latin typeface="+mn-lt"/>
              </a:rPr>
              <a:t>. (</a:t>
            </a:r>
            <a:r>
              <a:rPr lang="ko-KR" altLang="en-US" sz="1400" dirty="0">
                <a:latin typeface="+mn-lt"/>
              </a:rPr>
              <a:t>여기서는 </a:t>
            </a:r>
            <a:r>
              <a:rPr lang="en-US" altLang="ko-KR" sz="1400" dirty="0">
                <a:latin typeface="+mn-lt"/>
              </a:rPr>
              <a:t>HM</a:t>
            </a:r>
            <a:r>
              <a:rPr lang="ko-KR" altLang="en-US" sz="1400" dirty="0">
                <a:latin typeface="+mn-lt"/>
              </a:rPr>
              <a:t>이 실제 성능을 </a:t>
            </a:r>
            <a:r>
              <a:rPr lang="ko-KR" altLang="en-US" sz="1400" dirty="0" err="1">
                <a:latin typeface="+mn-lt"/>
              </a:rPr>
              <a:t>더잘</a:t>
            </a:r>
            <a:r>
              <a:rPr lang="ko-KR" altLang="en-US" sz="1400" dirty="0">
                <a:latin typeface="+mn-lt"/>
              </a:rPr>
              <a:t> 표현한 사례임</a:t>
            </a:r>
            <a:r>
              <a:rPr lang="en-US" altLang="ko-KR" sz="1400" dirty="0">
                <a:latin typeface="+mn-lt"/>
              </a:rPr>
              <a:t>)</a:t>
            </a:r>
            <a:endParaRPr lang="en-US" sz="1400" dirty="0">
              <a:latin typeface="+mn-lt"/>
            </a:endParaRPr>
          </a:p>
        </p:txBody>
      </p:sp>
      <p:sp>
        <p:nvSpPr>
          <p:cNvPr id="3" name="슬라이드 번호 개체 틀 2"/>
          <p:cNvSpPr>
            <a:spLocks noGrp="1"/>
          </p:cNvSpPr>
          <p:nvPr>
            <p:ph type="sldNum" sz="quarter" idx="12"/>
          </p:nvPr>
        </p:nvSpPr>
        <p:spPr/>
        <p:txBody>
          <a:bodyPr/>
          <a:lstStyle/>
          <a:p>
            <a:fld id="{8AF02B71-8991-4516-A01E-F1A9ACD28BDC}" type="slidenum">
              <a:rPr lang="en-US" altLang="ko-KR" smtClean="0"/>
              <a:pPr/>
              <a:t>21</a:t>
            </a:fld>
            <a:endParaRPr lang="en-US" altLang="ko-KR"/>
          </a:p>
        </p:txBody>
      </p:sp>
    </p:spTree>
    <p:extLst>
      <p:ext uri="{BB962C8B-B14F-4D97-AF65-F5344CB8AC3E}">
        <p14:creationId xmlns:p14="http://schemas.microsoft.com/office/powerpoint/2010/main" val="19893131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115616" y="0"/>
            <a:ext cx="5976664" cy="5528415"/>
          </a:xfrm>
          <a:prstGeom prst="rect">
            <a:avLst/>
          </a:prstGeom>
        </p:spPr>
      </p:pic>
      <p:sp>
        <p:nvSpPr>
          <p:cNvPr id="5" name="TextBox 4"/>
          <p:cNvSpPr txBox="1"/>
          <p:nvPr/>
        </p:nvSpPr>
        <p:spPr>
          <a:xfrm>
            <a:off x="323528" y="5400639"/>
            <a:ext cx="7416824" cy="1384995"/>
          </a:xfrm>
          <a:prstGeom prst="rect">
            <a:avLst/>
          </a:prstGeom>
          <a:solidFill>
            <a:schemeClr val="accent3">
              <a:lumMod val="60000"/>
              <a:lumOff val="40000"/>
            </a:schemeClr>
          </a:solidFill>
        </p:spPr>
        <p:txBody>
          <a:bodyPr wrap="square" rtlCol="0">
            <a:spAutoFit/>
          </a:bodyPr>
          <a:lstStyle/>
          <a:p>
            <a:pPr marL="285750" indent="-285750">
              <a:buFontTx/>
              <a:buChar char="-"/>
            </a:pPr>
            <a:r>
              <a:rPr lang="en-US" sz="1400" dirty="0">
                <a:latin typeface="+mn-lt"/>
              </a:rPr>
              <a:t>Table 2.3(a)</a:t>
            </a:r>
            <a:r>
              <a:rPr lang="ko-KR" altLang="en-US" sz="1400" dirty="0">
                <a:latin typeface="+mn-lt"/>
              </a:rPr>
              <a:t>는 각 지연시간을 </a:t>
            </a:r>
            <a:r>
              <a:rPr lang="en-US" altLang="ko-KR" sz="1400" dirty="0">
                <a:latin typeface="+mn-lt"/>
              </a:rPr>
              <a:t>A</a:t>
            </a:r>
            <a:r>
              <a:rPr lang="ko-KR" altLang="en-US" sz="1400" dirty="0">
                <a:latin typeface="+mn-lt"/>
              </a:rPr>
              <a:t>로 </a:t>
            </a:r>
            <a:r>
              <a:rPr lang="ko-KR" altLang="en-US" sz="1400" dirty="0" err="1">
                <a:latin typeface="+mn-lt"/>
              </a:rPr>
              <a:t>정규화함</a:t>
            </a:r>
            <a:r>
              <a:rPr lang="en-US" altLang="ko-KR" sz="1400" dirty="0">
                <a:latin typeface="+mn-lt"/>
              </a:rPr>
              <a:t>.  2.3(b)</a:t>
            </a:r>
            <a:r>
              <a:rPr lang="ko-KR" altLang="en-US" sz="1400" dirty="0">
                <a:latin typeface="+mn-lt"/>
              </a:rPr>
              <a:t>는 </a:t>
            </a:r>
            <a:r>
              <a:rPr lang="en-US" altLang="ko-KR" sz="1400" dirty="0">
                <a:latin typeface="+mn-lt"/>
              </a:rPr>
              <a:t>B</a:t>
            </a:r>
            <a:r>
              <a:rPr lang="ko-KR" altLang="en-US" sz="1400" dirty="0">
                <a:latin typeface="+mn-lt"/>
              </a:rPr>
              <a:t>로 정규화된 것임</a:t>
            </a:r>
            <a:endParaRPr lang="en-US" altLang="ko-KR" sz="1400" dirty="0">
              <a:latin typeface="+mn-lt"/>
            </a:endParaRPr>
          </a:p>
          <a:p>
            <a:pPr marL="285750" indent="-285750">
              <a:buFontTx/>
              <a:buChar char="-"/>
            </a:pPr>
            <a:r>
              <a:rPr lang="en-US" altLang="ko-KR" sz="1400" dirty="0">
                <a:latin typeface="+mn-lt"/>
                <a:sym typeface="Wingdings" panose="05000000000000000000" pitchFamily="2" charset="2"/>
              </a:rPr>
              <a:t>AM</a:t>
            </a:r>
            <a:r>
              <a:rPr lang="ko-KR" altLang="en-US" sz="1400" dirty="0">
                <a:latin typeface="+mn-lt"/>
                <a:sym typeface="Wingdings" panose="05000000000000000000" pitchFamily="2" charset="2"/>
              </a:rPr>
              <a:t> 결과를 보면</a:t>
            </a:r>
            <a:r>
              <a:rPr lang="en-US" altLang="ko-KR" sz="1400" dirty="0">
                <a:latin typeface="+mn-lt"/>
                <a:sym typeface="Wingdings" panose="05000000000000000000" pitchFamily="2" charset="2"/>
              </a:rPr>
              <a:t>, A-B-C</a:t>
            </a:r>
            <a:r>
              <a:rPr lang="ko-KR" altLang="en-US" sz="1400" dirty="0">
                <a:latin typeface="+mn-lt"/>
                <a:sym typeface="Wingdings" panose="05000000000000000000" pitchFamily="2" charset="2"/>
              </a:rPr>
              <a:t>의 순서로 성능이 좋지만</a:t>
            </a:r>
            <a:r>
              <a:rPr lang="en-US" altLang="ko-KR" sz="1400" dirty="0">
                <a:latin typeface="+mn-lt"/>
                <a:sym typeface="Wingdings" panose="05000000000000000000" pitchFamily="2" charset="2"/>
              </a:rPr>
              <a:t>, 2.3(b)</a:t>
            </a:r>
            <a:r>
              <a:rPr lang="ko-KR" altLang="en-US" sz="1400" dirty="0">
                <a:latin typeface="+mn-lt"/>
                <a:sym typeface="Wingdings" panose="05000000000000000000" pitchFamily="2" charset="2"/>
              </a:rPr>
              <a:t>를 보면</a:t>
            </a:r>
            <a:r>
              <a:rPr lang="en-US" altLang="ko-KR" sz="1400" dirty="0">
                <a:latin typeface="+mn-lt"/>
                <a:sym typeface="Wingdings" panose="05000000000000000000" pitchFamily="2" charset="2"/>
              </a:rPr>
              <a:t>, B-A-C</a:t>
            </a:r>
            <a:r>
              <a:rPr lang="ko-KR" altLang="en-US" sz="1400" dirty="0">
                <a:latin typeface="+mn-lt"/>
                <a:sym typeface="Wingdings" panose="05000000000000000000" pitchFamily="2" charset="2"/>
              </a:rPr>
              <a:t>의 순서로 성능이 보임 </a:t>
            </a:r>
            <a:r>
              <a:rPr lang="en-US" altLang="ko-KR" sz="1400" dirty="0">
                <a:latin typeface="+mn-lt"/>
                <a:sym typeface="Wingdings" panose="05000000000000000000" pitchFamily="2" charset="2"/>
              </a:rPr>
              <a:t> </a:t>
            </a:r>
            <a:r>
              <a:rPr lang="ko-KR" altLang="en-US" sz="1400" dirty="0">
                <a:latin typeface="+mn-lt"/>
                <a:sym typeface="Wingdings" panose="05000000000000000000" pitchFamily="2" charset="2"/>
              </a:rPr>
              <a:t>일관적이지 못함</a:t>
            </a:r>
            <a:endParaRPr lang="en-US" altLang="ko-KR" sz="1400" dirty="0">
              <a:latin typeface="+mn-lt"/>
              <a:sym typeface="Wingdings" panose="05000000000000000000" pitchFamily="2" charset="2"/>
            </a:endParaRPr>
          </a:p>
          <a:p>
            <a:pPr marL="285750" indent="-285750">
              <a:buFontTx/>
              <a:buChar char="-"/>
            </a:pPr>
            <a:r>
              <a:rPr lang="ko-KR" altLang="en-US" sz="1400" dirty="0">
                <a:latin typeface="+mn-lt"/>
                <a:sym typeface="Wingdings" panose="05000000000000000000" pitchFamily="2" charset="2"/>
              </a:rPr>
              <a:t>하지만</a:t>
            </a:r>
            <a:r>
              <a:rPr lang="en-US" altLang="ko-KR" sz="1400" dirty="0">
                <a:latin typeface="+mn-lt"/>
                <a:sym typeface="Wingdings" panose="05000000000000000000" pitchFamily="2" charset="2"/>
              </a:rPr>
              <a:t>, GM </a:t>
            </a:r>
            <a:r>
              <a:rPr lang="ko-KR" altLang="en-US" sz="1400" dirty="0">
                <a:latin typeface="+mn-lt"/>
                <a:sym typeface="Wingdings" panose="05000000000000000000" pitchFamily="2" charset="2"/>
              </a:rPr>
              <a:t>관점에서 보면</a:t>
            </a:r>
            <a:r>
              <a:rPr lang="en-US" altLang="ko-KR" sz="1400" dirty="0">
                <a:latin typeface="+mn-lt"/>
                <a:sym typeface="Wingdings" panose="05000000000000000000" pitchFamily="2" charset="2"/>
              </a:rPr>
              <a:t>, 2.3(a), 2.3(b) </a:t>
            </a:r>
            <a:r>
              <a:rPr lang="ko-KR" altLang="en-US" sz="1400" dirty="0">
                <a:latin typeface="+mn-lt"/>
                <a:sym typeface="Wingdings" panose="05000000000000000000" pitchFamily="2" charset="2"/>
              </a:rPr>
              <a:t>모두 </a:t>
            </a:r>
            <a:r>
              <a:rPr lang="en-US" altLang="ko-KR" sz="1400" dirty="0">
                <a:latin typeface="+mn-lt"/>
                <a:sym typeface="Wingdings" panose="05000000000000000000" pitchFamily="2" charset="2"/>
              </a:rPr>
              <a:t>A – B –C</a:t>
            </a:r>
            <a:r>
              <a:rPr lang="ko-KR" altLang="en-US" sz="1400" dirty="0">
                <a:latin typeface="+mn-lt"/>
                <a:sym typeface="Wingdings" panose="05000000000000000000" pitchFamily="2" charset="2"/>
              </a:rPr>
              <a:t>의 순서로 성능이 </a:t>
            </a:r>
            <a:r>
              <a:rPr lang="ko-KR" altLang="en-US" sz="1400" dirty="0" err="1">
                <a:latin typeface="+mn-lt"/>
                <a:sym typeface="Wingdings" panose="05000000000000000000" pitchFamily="2" charset="2"/>
              </a:rPr>
              <a:t>좋아보임</a:t>
            </a:r>
            <a:endParaRPr lang="en-US" altLang="ko-KR" sz="1400" dirty="0">
              <a:latin typeface="+mn-lt"/>
              <a:sym typeface="Wingdings" panose="05000000000000000000" pitchFamily="2" charset="2"/>
            </a:endParaRPr>
          </a:p>
          <a:p>
            <a:pPr marL="285750" indent="-285750">
              <a:buFontTx/>
              <a:buChar char="-"/>
            </a:pPr>
            <a:r>
              <a:rPr lang="ko-KR" altLang="en-US" sz="1400" dirty="0">
                <a:latin typeface="+mn-lt"/>
                <a:sym typeface="Wingdings" panose="05000000000000000000" pitchFamily="2" charset="2"/>
              </a:rPr>
              <a:t>성능 비교는 상대적이므로</a:t>
            </a:r>
            <a:r>
              <a:rPr lang="en-US" altLang="ko-KR" sz="1400" dirty="0">
                <a:latin typeface="+mn-lt"/>
                <a:sym typeface="Wingdings" panose="05000000000000000000" pitchFamily="2" charset="2"/>
              </a:rPr>
              <a:t>, </a:t>
            </a:r>
            <a:r>
              <a:rPr lang="ko-KR" altLang="en-US" sz="1400" dirty="0">
                <a:latin typeface="+mn-lt"/>
                <a:sym typeface="Wingdings" panose="05000000000000000000" pitchFamily="2" charset="2"/>
              </a:rPr>
              <a:t>그 성능이 </a:t>
            </a:r>
            <a:r>
              <a:rPr lang="ko-KR" altLang="en-US" sz="1400" dirty="0" err="1">
                <a:latin typeface="+mn-lt"/>
                <a:sym typeface="Wingdings" panose="05000000000000000000" pitchFamily="2" charset="2"/>
              </a:rPr>
              <a:t>비교시마다</a:t>
            </a:r>
            <a:r>
              <a:rPr lang="ko-KR" altLang="en-US" sz="1400" dirty="0">
                <a:latin typeface="+mn-lt"/>
                <a:sym typeface="Wingdings" panose="05000000000000000000" pitchFamily="2" charset="2"/>
              </a:rPr>
              <a:t> 다르면 신뢰성 떨어짐</a:t>
            </a:r>
            <a:r>
              <a:rPr lang="en-US" altLang="ko-KR" sz="1400" dirty="0">
                <a:latin typeface="+mn-lt"/>
                <a:sym typeface="Wingdings" panose="05000000000000000000" pitchFamily="2" charset="2"/>
              </a:rPr>
              <a:t>. </a:t>
            </a:r>
            <a:r>
              <a:rPr lang="ko-KR" altLang="en-US" sz="1400" dirty="0">
                <a:latin typeface="+mn-lt"/>
                <a:sym typeface="Wingdings" panose="05000000000000000000" pitchFamily="2" charset="2"/>
              </a:rPr>
              <a:t>이에</a:t>
            </a:r>
            <a:r>
              <a:rPr lang="en-US" altLang="ko-KR" sz="1400" dirty="0">
                <a:latin typeface="+mn-lt"/>
                <a:sym typeface="Wingdings" panose="05000000000000000000" pitchFamily="2" charset="2"/>
              </a:rPr>
              <a:t>, GM</a:t>
            </a:r>
            <a:r>
              <a:rPr lang="ko-KR" altLang="en-US" sz="1400" dirty="0">
                <a:latin typeface="+mn-lt"/>
                <a:sym typeface="Wingdings" panose="05000000000000000000" pitchFamily="2" charset="2"/>
              </a:rPr>
              <a:t>이 장점이 있음</a:t>
            </a:r>
            <a:endParaRPr lang="en-US" sz="1400" dirty="0">
              <a:latin typeface="+mn-lt"/>
            </a:endParaRPr>
          </a:p>
        </p:txBody>
      </p:sp>
      <p:sp>
        <p:nvSpPr>
          <p:cNvPr id="3" name="슬라이드 번호 개체 틀 2"/>
          <p:cNvSpPr>
            <a:spLocks noGrp="1"/>
          </p:cNvSpPr>
          <p:nvPr>
            <p:ph type="sldNum" sz="quarter" idx="12"/>
          </p:nvPr>
        </p:nvSpPr>
        <p:spPr/>
        <p:txBody>
          <a:bodyPr/>
          <a:lstStyle/>
          <a:p>
            <a:fld id="{8AF02B71-8991-4516-A01E-F1A9ACD28BDC}" type="slidenum">
              <a:rPr lang="en-US" altLang="ko-KR" smtClean="0"/>
              <a:pPr/>
              <a:t>22</a:t>
            </a:fld>
            <a:endParaRPr lang="en-US" altLang="ko-KR"/>
          </a:p>
        </p:txBody>
      </p:sp>
    </p:spTree>
    <p:extLst>
      <p:ext uri="{BB962C8B-B14F-4D97-AF65-F5344CB8AC3E}">
        <p14:creationId xmlns:p14="http://schemas.microsoft.com/office/powerpoint/2010/main" val="21387668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755576" y="116632"/>
            <a:ext cx="6480720" cy="5805645"/>
          </a:xfrm>
          <a:prstGeom prst="rect">
            <a:avLst/>
          </a:prstGeom>
        </p:spPr>
      </p:pic>
      <p:sp>
        <p:nvSpPr>
          <p:cNvPr id="5" name="TextBox 4"/>
          <p:cNvSpPr txBox="1"/>
          <p:nvPr/>
        </p:nvSpPr>
        <p:spPr>
          <a:xfrm>
            <a:off x="395536" y="5928726"/>
            <a:ext cx="7416824" cy="523220"/>
          </a:xfrm>
          <a:prstGeom prst="rect">
            <a:avLst/>
          </a:prstGeom>
          <a:solidFill>
            <a:schemeClr val="accent3">
              <a:lumMod val="60000"/>
              <a:lumOff val="40000"/>
            </a:schemeClr>
          </a:solidFill>
        </p:spPr>
        <p:txBody>
          <a:bodyPr wrap="square" rtlCol="0">
            <a:spAutoFit/>
          </a:bodyPr>
          <a:lstStyle/>
          <a:p>
            <a:pPr marL="285750" indent="-285750">
              <a:buFontTx/>
              <a:buChar char="-"/>
            </a:pPr>
            <a:r>
              <a:rPr lang="ko-KR" altLang="en-US" sz="1400" dirty="0">
                <a:latin typeface="+mn-lt"/>
              </a:rPr>
              <a:t>여기서도 </a:t>
            </a:r>
            <a:r>
              <a:rPr lang="en-US" altLang="ko-KR" sz="1400" dirty="0">
                <a:latin typeface="+mn-lt"/>
              </a:rPr>
              <a:t>GM</a:t>
            </a:r>
            <a:r>
              <a:rPr lang="ko-KR" altLang="en-US" sz="1400" dirty="0">
                <a:latin typeface="+mn-lt"/>
              </a:rPr>
              <a:t>은 성능 비교에 있어서 일관적인 분석 결과를 보여주고 있음</a:t>
            </a:r>
            <a:endParaRPr lang="en-US" altLang="ko-KR" sz="1400" dirty="0">
              <a:latin typeface="+mn-lt"/>
            </a:endParaRPr>
          </a:p>
          <a:p>
            <a:pPr marL="285750" indent="-285750">
              <a:buFontTx/>
              <a:buChar char="-"/>
            </a:pPr>
            <a:r>
              <a:rPr lang="ko-KR" altLang="en-US" sz="1400" dirty="0">
                <a:latin typeface="+mn-lt"/>
              </a:rPr>
              <a:t>이에</a:t>
            </a:r>
            <a:r>
              <a:rPr lang="en-US" altLang="ko-KR" sz="1400" dirty="0">
                <a:latin typeface="+mn-lt"/>
              </a:rPr>
              <a:t>, SPEC </a:t>
            </a:r>
            <a:r>
              <a:rPr lang="ko-KR" altLang="en-US" sz="1400" dirty="0">
                <a:latin typeface="+mn-lt"/>
              </a:rPr>
              <a:t>평가에서는 </a:t>
            </a:r>
            <a:r>
              <a:rPr lang="en-US" altLang="ko-KR" sz="1400" dirty="0">
                <a:latin typeface="+mn-lt"/>
              </a:rPr>
              <a:t>GM </a:t>
            </a:r>
            <a:r>
              <a:rPr lang="ko-KR" altLang="en-US" sz="1400" dirty="0">
                <a:latin typeface="+mn-lt"/>
              </a:rPr>
              <a:t>결과를 토대로 비교 분석을 수행함</a:t>
            </a:r>
            <a:endParaRPr lang="en-US" sz="1400" dirty="0">
              <a:latin typeface="+mn-lt"/>
            </a:endParaRPr>
          </a:p>
        </p:txBody>
      </p:sp>
      <p:sp>
        <p:nvSpPr>
          <p:cNvPr id="3" name="슬라이드 번호 개체 틀 2"/>
          <p:cNvSpPr>
            <a:spLocks noGrp="1"/>
          </p:cNvSpPr>
          <p:nvPr>
            <p:ph type="sldNum" sz="quarter" idx="12"/>
          </p:nvPr>
        </p:nvSpPr>
        <p:spPr/>
        <p:txBody>
          <a:bodyPr/>
          <a:lstStyle/>
          <a:p>
            <a:fld id="{8AF02B71-8991-4516-A01E-F1A9ACD28BDC}" type="slidenum">
              <a:rPr lang="en-US" altLang="ko-KR" smtClean="0"/>
              <a:pPr/>
              <a:t>23</a:t>
            </a:fld>
            <a:endParaRPr lang="en-US" altLang="ko-KR"/>
          </a:p>
        </p:txBody>
      </p:sp>
    </p:spTree>
    <p:extLst>
      <p:ext uri="{BB962C8B-B14F-4D97-AF65-F5344CB8AC3E}">
        <p14:creationId xmlns:p14="http://schemas.microsoft.com/office/powerpoint/2010/main" val="14451389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Benchmark Principles</a:t>
            </a:r>
          </a:p>
        </p:txBody>
      </p:sp>
      <p:sp>
        <p:nvSpPr>
          <p:cNvPr id="10" name="Content Placeholder 9"/>
          <p:cNvSpPr>
            <a:spLocks noGrp="1"/>
          </p:cNvSpPr>
          <p:nvPr>
            <p:ph idx="1"/>
          </p:nvPr>
        </p:nvSpPr>
        <p:spPr>
          <a:xfrm>
            <a:off x="395536" y="1700808"/>
            <a:ext cx="7556313" cy="4472136"/>
          </a:xfrm>
        </p:spPr>
        <p:txBody>
          <a:bodyPr>
            <a:normAutofit/>
          </a:bodyPr>
          <a:lstStyle/>
          <a:p>
            <a:pPr>
              <a:lnSpc>
                <a:spcPct val="90000"/>
              </a:lnSpc>
              <a:spcBef>
                <a:spcPts val="0"/>
              </a:spcBef>
            </a:pPr>
            <a:r>
              <a:rPr lang="en-US" sz="2800" dirty="0"/>
              <a:t>Desirable characteristics of a benchmark program:</a:t>
            </a:r>
          </a:p>
          <a:p>
            <a:pPr marL="0" indent="0">
              <a:lnSpc>
                <a:spcPct val="90000"/>
              </a:lnSpc>
              <a:spcBef>
                <a:spcPts val="0"/>
              </a:spcBef>
              <a:buNone/>
            </a:pPr>
            <a:endParaRPr lang="en-US" sz="2800" dirty="0"/>
          </a:p>
          <a:p>
            <a:pPr marL="685800" lvl="1" indent="-457200">
              <a:lnSpc>
                <a:spcPct val="90000"/>
              </a:lnSpc>
              <a:spcBef>
                <a:spcPts val="0"/>
              </a:spcBef>
              <a:buClr>
                <a:schemeClr val="accent2">
                  <a:lumMod val="75000"/>
                  <a:lumOff val="25000"/>
                </a:schemeClr>
              </a:buClr>
              <a:buSzPct val="100000"/>
              <a:buFont typeface="+mj-lt"/>
              <a:buAutoNum type="arabicPeriod"/>
            </a:pPr>
            <a:r>
              <a:rPr lang="en-US" sz="2400" dirty="0"/>
              <a:t>It is written in a high-level language, making it portable across different machines</a:t>
            </a:r>
          </a:p>
          <a:p>
            <a:pPr marL="685800" lvl="1" indent="-457200">
              <a:buClr>
                <a:schemeClr val="accent2">
                  <a:lumMod val="75000"/>
                  <a:lumOff val="25000"/>
                </a:schemeClr>
              </a:buClr>
              <a:buSzPct val="100000"/>
              <a:buFont typeface="+mj-lt"/>
              <a:buAutoNum type="arabicPeriod"/>
            </a:pPr>
            <a:r>
              <a:rPr lang="en-US" sz="2400" dirty="0"/>
              <a:t>It is representative of a particular kind of programming domain or paradigm, such as systems programming, numerical programming, or commercial programming</a:t>
            </a:r>
          </a:p>
          <a:p>
            <a:pPr marL="685800" lvl="1" indent="-457200">
              <a:buClr>
                <a:schemeClr val="accent2">
                  <a:lumMod val="75000"/>
                  <a:lumOff val="25000"/>
                </a:schemeClr>
              </a:buClr>
              <a:buSzPct val="100000"/>
              <a:buFont typeface="+mj-lt"/>
              <a:buAutoNum type="arabicPeriod"/>
            </a:pPr>
            <a:r>
              <a:rPr lang="en-US" sz="2400" dirty="0"/>
              <a:t>It can be measured easily</a:t>
            </a:r>
          </a:p>
          <a:p>
            <a:pPr marL="685800" lvl="1" indent="-457200">
              <a:buClr>
                <a:schemeClr val="accent2">
                  <a:lumMod val="75000"/>
                  <a:lumOff val="25000"/>
                </a:schemeClr>
              </a:buClr>
              <a:buSzPct val="100000"/>
              <a:buFont typeface="+mj-lt"/>
              <a:buAutoNum type="arabicPeriod"/>
            </a:pPr>
            <a:r>
              <a:rPr lang="en-US" sz="2400" dirty="0"/>
              <a:t>It has wide distribution</a:t>
            </a:r>
          </a:p>
          <a:p>
            <a:pPr lvl="1"/>
            <a:endParaRPr lang="en-US" dirty="0"/>
          </a:p>
        </p:txBody>
      </p:sp>
      <p:sp>
        <p:nvSpPr>
          <p:cNvPr id="14" name="TextBox 13"/>
          <p:cNvSpPr txBox="1"/>
          <p:nvPr/>
        </p:nvSpPr>
        <p:spPr>
          <a:xfrm>
            <a:off x="8361513" y="5326820"/>
            <a:ext cx="184666" cy="461665"/>
          </a:xfrm>
          <a:prstGeom prst="rect">
            <a:avLst/>
          </a:prstGeom>
          <a:noFill/>
        </p:spPr>
        <p:txBody>
          <a:bodyPr wrap="none" rtlCol="0">
            <a:spAutoFit/>
          </a:bodyPr>
          <a:lstStyle/>
          <a:p>
            <a:endParaRPr lang="en-US" dirty="0"/>
          </a:p>
        </p:txBody>
      </p:sp>
      <p:sp>
        <p:nvSpPr>
          <p:cNvPr id="3" name="슬라이드 번호 개체 틀 2"/>
          <p:cNvSpPr>
            <a:spLocks noGrp="1"/>
          </p:cNvSpPr>
          <p:nvPr>
            <p:ph type="sldNum" sz="quarter" idx="12"/>
          </p:nvPr>
        </p:nvSpPr>
        <p:spPr/>
        <p:txBody>
          <a:bodyPr/>
          <a:lstStyle/>
          <a:p>
            <a:fld id="{8AF02B71-8991-4516-A01E-F1A9ACD28BDC}" type="slidenum">
              <a:rPr lang="en-US" altLang="ko-KR" smtClean="0"/>
              <a:pPr/>
              <a:t>24</a:t>
            </a:fld>
            <a:endParaRPr lang="en-US" altLang="ko-KR"/>
          </a:p>
        </p:txBody>
      </p:sp>
    </p:spTree>
    <p:extLst>
      <p:ext uri="{BB962C8B-B14F-4D97-AF65-F5344CB8AC3E}">
        <p14:creationId xmlns:p14="http://schemas.microsoft.com/office/powerpoint/2010/main" val="15438854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a:xfrm>
            <a:off x="498474" y="484094"/>
            <a:ext cx="7556313" cy="1268506"/>
          </a:xfrm>
        </p:spPr>
        <p:txBody>
          <a:bodyPr/>
          <a:lstStyle/>
          <a:p>
            <a:r>
              <a:rPr lang="en-GB" dirty="0"/>
              <a:t>System Performance Evaluation Corporation (SPEC)</a:t>
            </a:r>
          </a:p>
        </p:txBody>
      </p:sp>
      <p:sp>
        <p:nvSpPr>
          <p:cNvPr id="7" name="Content Placeholder 6"/>
          <p:cNvSpPr>
            <a:spLocks noGrp="1"/>
          </p:cNvSpPr>
          <p:nvPr>
            <p:ph idx="1"/>
          </p:nvPr>
        </p:nvSpPr>
        <p:spPr/>
        <p:txBody>
          <a:bodyPr/>
          <a:lstStyle/>
          <a:p>
            <a:r>
              <a:rPr lang="en-US" dirty="0"/>
              <a:t>Benchmark suite</a:t>
            </a:r>
          </a:p>
          <a:p>
            <a:pPr lvl="1"/>
            <a:r>
              <a:rPr lang="en-US" dirty="0"/>
              <a:t>A collection of programs, defined in a high-level language</a:t>
            </a:r>
          </a:p>
          <a:p>
            <a:pPr lvl="1"/>
            <a:r>
              <a:rPr lang="en-US" dirty="0"/>
              <a:t>Together attempt to provide a representative test of a computer in a particular application or system programming area</a:t>
            </a:r>
          </a:p>
          <a:p>
            <a:pPr marL="228600" lvl="1">
              <a:spcBef>
                <a:spcPts val="2000"/>
              </a:spcBef>
              <a:buClr>
                <a:schemeClr val="accent1"/>
              </a:buClr>
            </a:pPr>
            <a:r>
              <a:rPr lang="en-US" sz="2000" dirty="0"/>
              <a:t>SPEC</a:t>
            </a:r>
          </a:p>
          <a:p>
            <a:pPr lvl="1"/>
            <a:r>
              <a:rPr lang="en-US" dirty="0"/>
              <a:t>An industry consortium</a:t>
            </a:r>
          </a:p>
          <a:p>
            <a:pPr lvl="1"/>
            <a:r>
              <a:rPr lang="en-US" dirty="0"/>
              <a:t>Defines and maintains the best known collection of benchmark suites aimed at evaluating computer systems</a:t>
            </a:r>
          </a:p>
          <a:p>
            <a:pPr lvl="1"/>
            <a:r>
              <a:rPr lang="en-US" dirty="0"/>
              <a:t>Performance measurements are widely used for comparison and research purposes</a:t>
            </a:r>
          </a:p>
          <a:p>
            <a:endParaRPr lang="en-US" dirty="0"/>
          </a:p>
        </p:txBody>
      </p:sp>
      <p:sp>
        <p:nvSpPr>
          <p:cNvPr id="3" name="슬라이드 번호 개체 틀 2"/>
          <p:cNvSpPr>
            <a:spLocks noGrp="1"/>
          </p:cNvSpPr>
          <p:nvPr>
            <p:ph type="sldNum" sz="quarter" idx="12"/>
          </p:nvPr>
        </p:nvSpPr>
        <p:spPr/>
        <p:txBody>
          <a:bodyPr/>
          <a:lstStyle/>
          <a:p>
            <a:fld id="{8AF02B71-8991-4516-A01E-F1A9ACD28BDC}" type="slidenum">
              <a:rPr lang="en-US" altLang="ko-KR" smtClean="0"/>
              <a:pPr/>
              <a:t>25</a:t>
            </a:fld>
            <a:endParaRPr lang="en-US" altLang="ko-K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Title 61"/>
          <p:cNvSpPr>
            <a:spLocks noGrp="1"/>
          </p:cNvSpPr>
          <p:nvPr>
            <p:ph type="title"/>
          </p:nvPr>
        </p:nvSpPr>
        <p:spPr>
          <a:xfrm>
            <a:off x="381000" y="2362200"/>
            <a:ext cx="3255264" cy="1162050"/>
          </a:xfrm>
        </p:spPr>
        <p:txBody>
          <a:bodyPr>
            <a:noAutofit/>
          </a:bodyPr>
          <a:lstStyle/>
          <a:p>
            <a:pPr algn="ctr"/>
            <a:r>
              <a:rPr lang="en-US" sz="4400" dirty="0">
                <a:effectLst>
                  <a:outerShdw blurRad="38100" dist="38100" dir="2700000" algn="tl">
                    <a:srgbClr val="000000">
                      <a:alpha val="43137"/>
                    </a:srgbClr>
                  </a:outerShdw>
                </a:effectLst>
              </a:rPr>
              <a:t>SPEC </a:t>
            </a:r>
            <a:br>
              <a:rPr lang="en-US" sz="4400" dirty="0">
                <a:effectLst>
                  <a:outerShdw blurRad="38100" dist="38100" dir="2700000" algn="tl">
                    <a:srgbClr val="000000">
                      <a:alpha val="43137"/>
                    </a:srgbClr>
                  </a:outerShdw>
                </a:effectLst>
              </a:rPr>
            </a:br>
            <a:br>
              <a:rPr lang="en-US" sz="4400" dirty="0">
                <a:effectLst>
                  <a:outerShdw blurRad="38100" dist="38100" dir="2700000" algn="tl">
                    <a:srgbClr val="000000">
                      <a:alpha val="43137"/>
                    </a:srgbClr>
                  </a:outerShdw>
                </a:effectLst>
              </a:rPr>
            </a:br>
            <a:r>
              <a:rPr lang="en-US" sz="4400" dirty="0">
                <a:effectLst>
                  <a:outerShdw blurRad="38100" dist="38100" dir="2700000" algn="tl">
                    <a:srgbClr val="000000">
                      <a:alpha val="43137"/>
                    </a:srgbClr>
                  </a:outerShdw>
                </a:effectLst>
              </a:rPr>
              <a:t>CPU2006</a:t>
            </a:r>
          </a:p>
        </p:txBody>
      </p:sp>
      <p:sp>
        <p:nvSpPr>
          <p:cNvPr id="66" name="Content Placeholder 65"/>
          <p:cNvSpPr>
            <a:spLocks noGrp="1"/>
          </p:cNvSpPr>
          <p:nvPr>
            <p:ph idx="1"/>
          </p:nvPr>
        </p:nvSpPr>
        <p:spPr>
          <a:xfrm>
            <a:off x="4114800" y="533400"/>
            <a:ext cx="4597399" cy="5853113"/>
          </a:xfrm>
        </p:spPr>
        <p:txBody>
          <a:bodyPr/>
          <a:lstStyle/>
          <a:p>
            <a:r>
              <a:rPr lang="en-US" dirty="0"/>
              <a:t>Best known SPEC benchmark suite</a:t>
            </a:r>
          </a:p>
          <a:p>
            <a:r>
              <a:rPr lang="en-US" dirty="0"/>
              <a:t>Industry standard suite for processor intensive applications</a:t>
            </a:r>
          </a:p>
          <a:p>
            <a:r>
              <a:rPr lang="en-US" dirty="0"/>
              <a:t>Appropriate for measuring performance for applications that spend most of their time doing computation rather than I/O</a:t>
            </a:r>
          </a:p>
          <a:p>
            <a:r>
              <a:rPr lang="en-US" dirty="0"/>
              <a:t>Consists of 17 floating point programs written in C, C++, and Fortran and 12 integer programs written in C and C++</a:t>
            </a:r>
          </a:p>
          <a:p>
            <a:r>
              <a:rPr lang="en-US" dirty="0"/>
              <a:t>Suite contains over 3 million lines of code</a:t>
            </a:r>
          </a:p>
          <a:p>
            <a:r>
              <a:rPr lang="en-US" dirty="0"/>
              <a:t>Fifth generation of processor intensive suites from SPEC</a:t>
            </a:r>
          </a:p>
        </p:txBody>
      </p:sp>
    </p:spTree>
  </p:cSld>
  <p:clrMapOvr>
    <a:masterClrMapping/>
  </p:clrMapOvr>
  <p:transition spd="med">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181226" y="2416174"/>
            <a:ext cx="184666" cy="461665"/>
          </a:xfrm>
          <a:prstGeom prst="rect">
            <a:avLst/>
          </a:prstGeom>
          <a:noFill/>
        </p:spPr>
        <p:txBody>
          <a:bodyPr wrap="none" rtlCol="0">
            <a:spAutoFit/>
          </a:bodyPr>
          <a:lstStyle/>
          <a:p>
            <a:endParaRPr lang="en-US" dirty="0"/>
          </a:p>
        </p:txBody>
      </p:sp>
      <p:pic>
        <p:nvPicPr>
          <p:cNvPr id="5" name="Picture 4"/>
          <p:cNvPicPr>
            <a:picLocks noChangeAspect="1"/>
          </p:cNvPicPr>
          <p:nvPr/>
        </p:nvPicPr>
        <p:blipFill>
          <a:blip r:embed="rId3"/>
          <a:stretch>
            <a:fillRect/>
          </a:stretch>
        </p:blipFill>
        <p:spPr>
          <a:xfrm>
            <a:off x="395536" y="188640"/>
            <a:ext cx="4952310" cy="6554833"/>
          </a:xfrm>
          <a:prstGeom prst="rect">
            <a:avLst/>
          </a:prstGeom>
        </p:spPr>
      </p:pic>
      <p:sp>
        <p:nvSpPr>
          <p:cNvPr id="6" name="TextBox 5"/>
          <p:cNvSpPr txBox="1"/>
          <p:nvPr/>
        </p:nvSpPr>
        <p:spPr>
          <a:xfrm>
            <a:off x="5796136" y="1700808"/>
            <a:ext cx="3347864" cy="3170099"/>
          </a:xfrm>
          <a:prstGeom prst="rect">
            <a:avLst/>
          </a:prstGeom>
          <a:noFill/>
        </p:spPr>
        <p:txBody>
          <a:bodyPr wrap="square" rtlCol="0">
            <a:spAutoFit/>
          </a:bodyPr>
          <a:lstStyle/>
          <a:p>
            <a:pPr algn="ctr"/>
            <a:r>
              <a:rPr lang="en-US" sz="3600" dirty="0">
                <a:latin typeface="+mj-lt"/>
              </a:rPr>
              <a:t>Table 2.5 </a:t>
            </a:r>
          </a:p>
          <a:p>
            <a:pPr algn="ctr"/>
            <a:r>
              <a:rPr lang="en-US" sz="3600" dirty="0">
                <a:latin typeface="+mj-lt"/>
              </a:rPr>
              <a:t> </a:t>
            </a:r>
          </a:p>
          <a:p>
            <a:pPr algn="ctr"/>
            <a:r>
              <a:rPr lang="en-US" sz="3200" dirty="0">
                <a:latin typeface="+mj-lt"/>
              </a:rPr>
              <a:t>SPEC </a:t>
            </a:r>
          </a:p>
          <a:p>
            <a:pPr algn="ctr"/>
            <a:r>
              <a:rPr lang="en-US" sz="3200" dirty="0">
                <a:latin typeface="+mj-lt"/>
              </a:rPr>
              <a:t>CPU2006 </a:t>
            </a:r>
          </a:p>
          <a:p>
            <a:pPr algn="ctr"/>
            <a:r>
              <a:rPr lang="en-US" sz="3200" dirty="0">
                <a:latin typeface="+mj-lt"/>
              </a:rPr>
              <a:t>Integer Benchmarks </a:t>
            </a:r>
          </a:p>
        </p:txBody>
      </p:sp>
      <p:sp>
        <p:nvSpPr>
          <p:cNvPr id="7" name="TextBox 6"/>
          <p:cNvSpPr txBox="1"/>
          <p:nvPr/>
        </p:nvSpPr>
        <p:spPr>
          <a:xfrm>
            <a:off x="5796136" y="6453336"/>
            <a:ext cx="3347864" cy="253916"/>
          </a:xfrm>
          <a:prstGeom prst="rect">
            <a:avLst/>
          </a:prstGeom>
          <a:noFill/>
        </p:spPr>
        <p:txBody>
          <a:bodyPr wrap="square" rtlCol="0">
            <a:spAutoFit/>
          </a:bodyPr>
          <a:lstStyle/>
          <a:p>
            <a:r>
              <a:rPr lang="en-US" sz="1050" dirty="0">
                <a:latin typeface="+mn-lt"/>
              </a:rPr>
              <a:t>(Table can be found on page 69 in the textbook.)</a:t>
            </a:r>
          </a:p>
        </p:txBody>
      </p:sp>
      <p:sp>
        <p:nvSpPr>
          <p:cNvPr id="3" name="슬라이드 번호 개체 틀 2"/>
          <p:cNvSpPr>
            <a:spLocks noGrp="1"/>
          </p:cNvSpPr>
          <p:nvPr>
            <p:ph type="sldNum" sz="quarter" idx="12"/>
          </p:nvPr>
        </p:nvSpPr>
        <p:spPr/>
        <p:txBody>
          <a:bodyPr/>
          <a:lstStyle/>
          <a:p>
            <a:fld id="{8AF02B71-8991-4516-A01E-F1A9ACD28BDC}" type="slidenum">
              <a:rPr lang="en-US" altLang="ko-KR" smtClean="0"/>
              <a:pPr/>
              <a:t>27</a:t>
            </a:fld>
            <a:endParaRPr lang="en-US" altLang="ko-KR"/>
          </a:p>
        </p:txBody>
      </p:sp>
    </p:spTree>
    <p:extLst>
      <p:ext uri="{BB962C8B-B14F-4D97-AF65-F5344CB8AC3E}">
        <p14:creationId xmlns:p14="http://schemas.microsoft.com/office/powerpoint/2010/main" val="24143587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181226" y="2416174"/>
            <a:ext cx="184666" cy="461665"/>
          </a:xfrm>
          <a:prstGeom prst="rect">
            <a:avLst/>
          </a:prstGeom>
          <a:noFill/>
        </p:spPr>
        <p:txBody>
          <a:bodyPr wrap="none" rtlCol="0">
            <a:spAutoFit/>
          </a:bodyPr>
          <a:lstStyle/>
          <a:p>
            <a:endParaRPr lang="en-US" dirty="0"/>
          </a:p>
        </p:txBody>
      </p:sp>
      <p:sp>
        <p:nvSpPr>
          <p:cNvPr id="6" name="TextBox 5"/>
          <p:cNvSpPr txBox="1"/>
          <p:nvPr/>
        </p:nvSpPr>
        <p:spPr>
          <a:xfrm>
            <a:off x="6300192" y="1700808"/>
            <a:ext cx="2843808" cy="3170099"/>
          </a:xfrm>
          <a:prstGeom prst="rect">
            <a:avLst/>
          </a:prstGeom>
          <a:noFill/>
        </p:spPr>
        <p:txBody>
          <a:bodyPr wrap="square" rtlCol="0">
            <a:spAutoFit/>
          </a:bodyPr>
          <a:lstStyle/>
          <a:p>
            <a:pPr algn="ctr"/>
            <a:r>
              <a:rPr lang="en-US" sz="3600" dirty="0">
                <a:latin typeface="+mj-lt"/>
              </a:rPr>
              <a:t>Table 2.6 </a:t>
            </a:r>
          </a:p>
          <a:p>
            <a:pPr algn="ctr"/>
            <a:r>
              <a:rPr lang="en-US" sz="3600" dirty="0">
                <a:latin typeface="+mj-lt"/>
              </a:rPr>
              <a:t> </a:t>
            </a:r>
          </a:p>
          <a:p>
            <a:pPr algn="ctr"/>
            <a:r>
              <a:rPr lang="en-US" sz="3200" dirty="0">
                <a:latin typeface="+mj-lt"/>
              </a:rPr>
              <a:t>SPEC </a:t>
            </a:r>
          </a:p>
          <a:p>
            <a:pPr algn="ctr"/>
            <a:r>
              <a:rPr lang="en-US" sz="3200" dirty="0">
                <a:latin typeface="+mj-lt"/>
              </a:rPr>
              <a:t>CPU2006 </a:t>
            </a:r>
          </a:p>
          <a:p>
            <a:pPr algn="ctr"/>
            <a:r>
              <a:rPr lang="en-US" sz="3200" dirty="0">
                <a:latin typeface="+mj-lt"/>
              </a:rPr>
              <a:t>Floating-Point Benchmarks </a:t>
            </a:r>
          </a:p>
        </p:txBody>
      </p:sp>
      <p:pic>
        <p:nvPicPr>
          <p:cNvPr id="3" name="Picture 2"/>
          <p:cNvPicPr>
            <a:picLocks noChangeAspect="1"/>
          </p:cNvPicPr>
          <p:nvPr/>
        </p:nvPicPr>
        <p:blipFill>
          <a:blip r:embed="rId3"/>
          <a:stretch>
            <a:fillRect/>
          </a:stretch>
        </p:blipFill>
        <p:spPr>
          <a:xfrm>
            <a:off x="179512" y="169226"/>
            <a:ext cx="6083300" cy="6705600"/>
          </a:xfrm>
          <a:prstGeom prst="rect">
            <a:avLst/>
          </a:prstGeom>
        </p:spPr>
      </p:pic>
      <p:sp>
        <p:nvSpPr>
          <p:cNvPr id="7" name="TextBox 6"/>
          <p:cNvSpPr txBox="1"/>
          <p:nvPr/>
        </p:nvSpPr>
        <p:spPr>
          <a:xfrm>
            <a:off x="6444208" y="6351157"/>
            <a:ext cx="2699792" cy="577081"/>
          </a:xfrm>
          <a:prstGeom prst="rect">
            <a:avLst/>
          </a:prstGeom>
          <a:noFill/>
        </p:spPr>
        <p:txBody>
          <a:bodyPr wrap="square" rtlCol="0">
            <a:spAutoFit/>
          </a:bodyPr>
          <a:lstStyle/>
          <a:p>
            <a:r>
              <a:rPr lang="en-US" sz="1050" dirty="0">
                <a:latin typeface="+mn-lt"/>
              </a:rPr>
              <a:t>(Table can be found on page 70 </a:t>
            </a:r>
          </a:p>
          <a:p>
            <a:r>
              <a:rPr lang="en-US" sz="1050" dirty="0">
                <a:latin typeface="+mn-lt"/>
              </a:rPr>
              <a:t>     in the textbook.)</a:t>
            </a:r>
          </a:p>
          <a:p>
            <a:endParaRPr lang="en-US" sz="1050" dirty="0">
              <a:latin typeface="+mn-lt"/>
            </a:endParaRPr>
          </a:p>
        </p:txBody>
      </p:sp>
      <p:sp>
        <p:nvSpPr>
          <p:cNvPr id="5" name="슬라이드 번호 개체 틀 4"/>
          <p:cNvSpPr>
            <a:spLocks noGrp="1"/>
          </p:cNvSpPr>
          <p:nvPr>
            <p:ph type="sldNum" sz="quarter" idx="12"/>
          </p:nvPr>
        </p:nvSpPr>
        <p:spPr/>
        <p:txBody>
          <a:bodyPr/>
          <a:lstStyle/>
          <a:p>
            <a:fld id="{8AF02B71-8991-4516-A01E-F1A9ACD28BDC}" type="slidenum">
              <a:rPr lang="en-US" altLang="ko-KR" smtClean="0"/>
              <a:pPr/>
              <a:t>28</a:t>
            </a:fld>
            <a:endParaRPr lang="en-US" altLang="ko-KR"/>
          </a:p>
        </p:txBody>
      </p:sp>
    </p:spTree>
    <p:extLst>
      <p:ext uri="{BB962C8B-B14F-4D97-AF65-F5344CB8AC3E}">
        <p14:creationId xmlns:p14="http://schemas.microsoft.com/office/powerpoint/2010/main" val="12775599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23528" y="484094"/>
            <a:ext cx="7731259" cy="1116106"/>
          </a:xfrm>
        </p:spPr>
        <p:txBody>
          <a:bodyPr/>
          <a:lstStyle/>
          <a:p>
            <a:r>
              <a:rPr lang="en-US" dirty="0"/>
              <a:t>Terms Used in SPEC Documentation</a:t>
            </a:r>
          </a:p>
        </p:txBody>
      </p:sp>
      <p:sp>
        <p:nvSpPr>
          <p:cNvPr id="5" name="Content Placeholder 4"/>
          <p:cNvSpPr>
            <a:spLocks noGrp="1"/>
          </p:cNvSpPr>
          <p:nvPr>
            <p:ph sz="half" idx="1"/>
          </p:nvPr>
        </p:nvSpPr>
        <p:spPr>
          <a:xfrm>
            <a:off x="498518" y="1700808"/>
            <a:ext cx="3657600" cy="4896544"/>
          </a:xfrm>
        </p:spPr>
        <p:txBody>
          <a:bodyPr>
            <a:normAutofit fontScale="85000" lnSpcReduction="20000"/>
          </a:bodyPr>
          <a:lstStyle/>
          <a:p>
            <a:r>
              <a:rPr lang="en-US" dirty="0"/>
              <a:t>Benchmark</a:t>
            </a:r>
          </a:p>
          <a:p>
            <a:pPr lvl="1"/>
            <a:r>
              <a:rPr lang="en-US" dirty="0"/>
              <a:t>A program written in a high-level language that can be compiled and executed on any computer that implements the compiler</a:t>
            </a:r>
          </a:p>
          <a:p>
            <a:r>
              <a:rPr lang="en-US" dirty="0"/>
              <a:t>System under test</a:t>
            </a:r>
          </a:p>
          <a:p>
            <a:pPr lvl="1"/>
            <a:r>
              <a:rPr lang="en-US" dirty="0"/>
              <a:t>This is the system to be evaluated</a:t>
            </a:r>
          </a:p>
          <a:p>
            <a:r>
              <a:rPr lang="en-US" dirty="0"/>
              <a:t>Reference machine</a:t>
            </a:r>
          </a:p>
          <a:p>
            <a:pPr lvl="1"/>
            <a:r>
              <a:rPr lang="en-US" dirty="0"/>
              <a:t>This is a system used by SPEC to establish a baseline performance for all benchmarks</a:t>
            </a:r>
          </a:p>
          <a:p>
            <a:pPr lvl="2"/>
            <a:r>
              <a:rPr lang="en-US" dirty="0"/>
              <a:t>Each benchmark is run and measured on this machine to establish a reference time for that benchmark</a:t>
            </a:r>
          </a:p>
          <a:p>
            <a:r>
              <a:rPr lang="en-US" dirty="0"/>
              <a:t>Base metric</a:t>
            </a:r>
          </a:p>
          <a:p>
            <a:pPr lvl="1"/>
            <a:r>
              <a:rPr lang="en-US" dirty="0"/>
              <a:t>These are required for all reported results and have strict guidelines for compilation</a:t>
            </a:r>
          </a:p>
        </p:txBody>
      </p:sp>
      <p:sp>
        <p:nvSpPr>
          <p:cNvPr id="6" name="Content Placeholder 5"/>
          <p:cNvSpPr>
            <a:spLocks noGrp="1"/>
          </p:cNvSpPr>
          <p:nvPr>
            <p:ph sz="half" idx="2"/>
          </p:nvPr>
        </p:nvSpPr>
        <p:spPr>
          <a:xfrm>
            <a:off x="4399878" y="1700808"/>
            <a:ext cx="3657600" cy="4896543"/>
          </a:xfrm>
        </p:spPr>
        <p:txBody>
          <a:bodyPr>
            <a:normAutofit fontScale="77500" lnSpcReduction="20000"/>
          </a:bodyPr>
          <a:lstStyle/>
          <a:p>
            <a:r>
              <a:rPr lang="en-US" dirty="0"/>
              <a:t>Peak metric</a:t>
            </a:r>
          </a:p>
          <a:p>
            <a:pPr lvl="1"/>
            <a:r>
              <a:rPr lang="en-US" dirty="0"/>
              <a:t>This enables users to attempt to optimize system performance by optimizing the compiler output</a:t>
            </a:r>
          </a:p>
          <a:p>
            <a:r>
              <a:rPr lang="en-US" dirty="0"/>
              <a:t>Speed metric</a:t>
            </a:r>
          </a:p>
          <a:p>
            <a:pPr lvl="1"/>
            <a:r>
              <a:rPr lang="en-US" dirty="0"/>
              <a:t>This is simply a measurement of the time it takes to execute a compiled benchmark</a:t>
            </a:r>
          </a:p>
          <a:p>
            <a:pPr lvl="2"/>
            <a:r>
              <a:rPr lang="en-US" dirty="0"/>
              <a:t>Used for comparing the ability of a computer to complete single tasks</a:t>
            </a:r>
          </a:p>
          <a:p>
            <a:r>
              <a:rPr lang="en-US" dirty="0"/>
              <a:t>Rate metric</a:t>
            </a:r>
          </a:p>
          <a:p>
            <a:pPr lvl="1"/>
            <a:r>
              <a:rPr lang="en-US" dirty="0"/>
              <a:t>This is a measurement of how many tasks a computer can accomplish in a certain amount of time</a:t>
            </a:r>
          </a:p>
          <a:p>
            <a:pPr lvl="2"/>
            <a:r>
              <a:rPr lang="en-US" dirty="0"/>
              <a:t>This is called a throughput, capacity, or rate measure</a:t>
            </a:r>
          </a:p>
          <a:p>
            <a:pPr lvl="2"/>
            <a:r>
              <a:rPr lang="en-US" dirty="0"/>
              <a:t>Allows the system under test to execute simultaneous tasks to take advantage of multiple processors</a:t>
            </a:r>
          </a:p>
        </p:txBody>
      </p:sp>
      <p:sp>
        <p:nvSpPr>
          <p:cNvPr id="3" name="슬라이드 번호 개체 틀 2"/>
          <p:cNvSpPr>
            <a:spLocks noGrp="1"/>
          </p:cNvSpPr>
          <p:nvPr>
            <p:ph type="sldNum" sz="quarter" idx="12"/>
          </p:nvPr>
        </p:nvSpPr>
        <p:spPr/>
        <p:txBody>
          <a:bodyPr/>
          <a:lstStyle/>
          <a:p>
            <a:fld id="{8AF02B71-8991-4516-A01E-F1A9ACD28BDC}" type="slidenum">
              <a:rPr lang="en-US" altLang="ko-KR" smtClean="0"/>
              <a:pPr/>
              <a:t>29</a:t>
            </a:fld>
            <a:endParaRPr lang="en-US" altLang="ko-KR"/>
          </a:p>
        </p:txBody>
      </p:sp>
    </p:spTree>
    <p:extLst>
      <p:ext uri="{BB962C8B-B14F-4D97-AF65-F5344CB8AC3E}">
        <p14:creationId xmlns:p14="http://schemas.microsoft.com/office/powerpoint/2010/main" val="41689077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7.pdf"/>
          <p:cNvPicPr>
            <a:picLocks noChangeAspect="1"/>
          </p:cNvPicPr>
          <p:nvPr/>
        </p:nvPicPr>
        <p:blipFill rotWithShape="1">
          <a:blip r:embed="rId3">
            <a:extLst>
              <a:ext uri="{28A0092B-C50C-407E-A947-70E740481C1C}">
                <a14:useLocalDpi xmlns:a14="http://schemas.microsoft.com/office/drawing/2010/main" val="0"/>
              </a:ext>
            </a:extLst>
          </a:blip>
          <a:srcRect l="9624" t="5244" r="12742" b="14789"/>
          <a:stretch/>
        </p:blipFill>
        <p:spPr>
          <a:xfrm>
            <a:off x="1835696" y="-99392"/>
            <a:ext cx="4970892" cy="6669360"/>
          </a:xfrm>
          <a:prstGeom prst="rect">
            <a:avLst/>
          </a:prstGeom>
        </p:spPr>
      </p:pic>
      <p:sp>
        <p:nvSpPr>
          <p:cNvPr id="3" name="슬라이드 번호 개체 틀 2"/>
          <p:cNvSpPr>
            <a:spLocks noGrp="1"/>
          </p:cNvSpPr>
          <p:nvPr>
            <p:ph type="sldNum" sz="quarter" idx="12"/>
          </p:nvPr>
        </p:nvSpPr>
        <p:spPr/>
        <p:txBody>
          <a:bodyPr/>
          <a:lstStyle/>
          <a:p>
            <a:fld id="{8AF02B71-8991-4516-A01E-F1A9ACD28BDC}" type="slidenum">
              <a:rPr lang="en-US" altLang="ko-KR" smtClean="0"/>
              <a:pPr/>
              <a:t>30</a:t>
            </a:fld>
            <a:endParaRPr lang="en-US" altLang="ko-KR"/>
          </a:p>
        </p:txBody>
      </p:sp>
    </p:spTree>
    <p:extLst>
      <p:ext uri="{BB962C8B-B14F-4D97-AF65-F5344CB8AC3E}">
        <p14:creationId xmlns:p14="http://schemas.microsoft.com/office/powerpoint/2010/main" val="34820861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179512" y="692696"/>
            <a:ext cx="8776028" cy="6336704"/>
          </a:xfrm>
          <a:prstGeom prst="rect">
            <a:avLst/>
          </a:prstGeom>
        </p:spPr>
      </p:pic>
      <p:sp>
        <p:nvSpPr>
          <p:cNvPr id="3" name="슬라이드 번호 개체 틀 2"/>
          <p:cNvSpPr>
            <a:spLocks noGrp="1"/>
          </p:cNvSpPr>
          <p:nvPr>
            <p:ph type="sldNum" sz="quarter" idx="12"/>
          </p:nvPr>
        </p:nvSpPr>
        <p:spPr/>
        <p:txBody>
          <a:bodyPr/>
          <a:lstStyle/>
          <a:p>
            <a:fld id="{8AF02B71-8991-4516-A01E-F1A9ACD28BDC}" type="slidenum">
              <a:rPr lang="en-US" altLang="ko-KR" smtClean="0"/>
              <a:pPr/>
              <a:t>31</a:t>
            </a:fld>
            <a:endParaRPr lang="en-US" altLang="ko-KR"/>
          </a:p>
        </p:txBody>
      </p:sp>
    </p:spTree>
    <p:extLst>
      <p:ext uri="{BB962C8B-B14F-4D97-AF65-F5344CB8AC3E}">
        <p14:creationId xmlns:p14="http://schemas.microsoft.com/office/powerpoint/2010/main" val="22400259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251520" y="980728"/>
            <a:ext cx="8771416" cy="5616624"/>
          </a:xfrm>
          <a:prstGeom prst="rect">
            <a:avLst/>
          </a:prstGeom>
        </p:spPr>
      </p:pic>
      <p:sp>
        <p:nvSpPr>
          <p:cNvPr id="5" name="TextBox 4"/>
          <p:cNvSpPr txBox="1"/>
          <p:nvPr/>
        </p:nvSpPr>
        <p:spPr>
          <a:xfrm>
            <a:off x="2157810" y="797899"/>
            <a:ext cx="184666" cy="461665"/>
          </a:xfrm>
          <a:prstGeom prst="rect">
            <a:avLst/>
          </a:prstGeom>
          <a:noFill/>
        </p:spPr>
        <p:txBody>
          <a:bodyPr wrap="none" rtlCol="0">
            <a:spAutoFit/>
          </a:bodyPr>
          <a:lstStyle/>
          <a:p>
            <a:endParaRPr lang="en-US" dirty="0"/>
          </a:p>
        </p:txBody>
      </p:sp>
      <p:sp>
        <p:nvSpPr>
          <p:cNvPr id="3" name="슬라이드 번호 개체 틀 2"/>
          <p:cNvSpPr>
            <a:spLocks noGrp="1"/>
          </p:cNvSpPr>
          <p:nvPr>
            <p:ph type="sldNum" sz="quarter" idx="12"/>
          </p:nvPr>
        </p:nvSpPr>
        <p:spPr/>
        <p:txBody>
          <a:bodyPr/>
          <a:lstStyle/>
          <a:p>
            <a:fld id="{8AF02B71-8991-4516-A01E-F1A9ACD28BDC}" type="slidenum">
              <a:rPr lang="en-US" altLang="ko-KR" smtClean="0"/>
              <a:pPr/>
              <a:t>32</a:t>
            </a:fld>
            <a:endParaRPr lang="en-US" altLang="ko-KR"/>
          </a:p>
        </p:txBody>
      </p:sp>
    </p:spTree>
    <p:extLst>
      <p:ext uri="{BB962C8B-B14F-4D97-AF65-F5344CB8AC3E}">
        <p14:creationId xmlns:p14="http://schemas.microsoft.com/office/powerpoint/2010/main" val="39362904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762000" y="228600"/>
            <a:ext cx="3428999" cy="1116106"/>
          </a:xfrm>
        </p:spPr>
        <p:txBody>
          <a:bodyPr>
            <a:normAutofit/>
          </a:bodyPr>
          <a:lstStyle/>
          <a:p>
            <a:r>
              <a:rPr lang="en-US" sz="4400" dirty="0"/>
              <a:t>Summary</a:t>
            </a:r>
          </a:p>
        </p:txBody>
      </p:sp>
      <p:sp>
        <p:nvSpPr>
          <p:cNvPr id="30" name="Content Placeholder 29"/>
          <p:cNvSpPr>
            <a:spLocks noGrp="1"/>
          </p:cNvSpPr>
          <p:nvPr>
            <p:ph sz="half" idx="2"/>
          </p:nvPr>
        </p:nvSpPr>
        <p:spPr>
          <a:xfrm>
            <a:off x="457200" y="2514600"/>
            <a:ext cx="3657600" cy="4343400"/>
          </a:xfrm>
        </p:spPr>
        <p:txBody>
          <a:bodyPr>
            <a:normAutofit/>
          </a:bodyPr>
          <a:lstStyle/>
          <a:p>
            <a:pPr>
              <a:spcBef>
                <a:spcPts val="600"/>
              </a:spcBef>
            </a:pPr>
            <a:r>
              <a:rPr lang="en-US" dirty="0"/>
              <a:t>Designing for performance</a:t>
            </a:r>
          </a:p>
          <a:p>
            <a:pPr lvl="1"/>
            <a:r>
              <a:rPr lang="en-US" dirty="0"/>
              <a:t>Microprocessor speed</a:t>
            </a:r>
          </a:p>
          <a:p>
            <a:pPr lvl="1"/>
            <a:r>
              <a:rPr lang="en-US" dirty="0"/>
              <a:t>Performance balance</a:t>
            </a:r>
          </a:p>
          <a:p>
            <a:pPr lvl="1"/>
            <a:r>
              <a:rPr lang="en-US" dirty="0"/>
              <a:t>Improvements in chip organization and architecture</a:t>
            </a:r>
          </a:p>
          <a:p>
            <a:pPr>
              <a:spcBef>
                <a:spcPts val="600"/>
              </a:spcBef>
            </a:pPr>
            <a:r>
              <a:rPr lang="en-US" dirty="0"/>
              <a:t>Multicore</a:t>
            </a:r>
          </a:p>
          <a:p>
            <a:pPr>
              <a:spcBef>
                <a:spcPts val="600"/>
              </a:spcBef>
            </a:pPr>
            <a:r>
              <a:rPr lang="en-US" dirty="0"/>
              <a:t>MICs</a:t>
            </a:r>
          </a:p>
          <a:p>
            <a:pPr>
              <a:spcBef>
                <a:spcPts val="600"/>
              </a:spcBef>
            </a:pPr>
            <a:r>
              <a:rPr lang="en-US" dirty="0"/>
              <a:t>GPGPUs</a:t>
            </a:r>
          </a:p>
          <a:p>
            <a:pPr>
              <a:spcBef>
                <a:spcPts val="600"/>
              </a:spcBef>
            </a:pPr>
            <a:r>
              <a:rPr lang="en-US" dirty="0"/>
              <a:t>Amdahl’s Law</a:t>
            </a:r>
          </a:p>
          <a:p>
            <a:pPr>
              <a:spcBef>
                <a:spcPts val="600"/>
              </a:spcBef>
            </a:pPr>
            <a:r>
              <a:rPr lang="en-US" dirty="0"/>
              <a:t>Little’s Law</a:t>
            </a:r>
          </a:p>
        </p:txBody>
      </p:sp>
      <p:sp>
        <p:nvSpPr>
          <p:cNvPr id="32" name="Content Placeholder 31"/>
          <p:cNvSpPr>
            <a:spLocks noGrp="1"/>
          </p:cNvSpPr>
          <p:nvPr>
            <p:ph sz="quarter" idx="4"/>
          </p:nvPr>
        </p:nvSpPr>
        <p:spPr>
          <a:xfrm>
            <a:off x="4495800" y="2492896"/>
            <a:ext cx="3810000" cy="4365104"/>
          </a:xfrm>
        </p:spPr>
        <p:txBody>
          <a:bodyPr>
            <a:normAutofit/>
          </a:bodyPr>
          <a:lstStyle/>
          <a:p>
            <a:pPr marL="228600" lvl="1">
              <a:spcBef>
                <a:spcPts val="1800"/>
              </a:spcBef>
              <a:buClr>
                <a:schemeClr val="accent1"/>
              </a:buClr>
            </a:pPr>
            <a:r>
              <a:rPr lang="en-US" dirty="0"/>
              <a:t>Basic measures of computer performance</a:t>
            </a:r>
          </a:p>
          <a:p>
            <a:pPr lvl="1"/>
            <a:r>
              <a:rPr lang="en-US" dirty="0"/>
              <a:t>Clock speed</a:t>
            </a:r>
          </a:p>
          <a:p>
            <a:pPr lvl="1"/>
            <a:r>
              <a:rPr lang="en-US" dirty="0"/>
              <a:t>Instruction execution rate</a:t>
            </a:r>
          </a:p>
          <a:p>
            <a:pPr marL="228600" lvl="1">
              <a:spcBef>
                <a:spcPts val="1800"/>
              </a:spcBef>
              <a:buClr>
                <a:schemeClr val="accent1"/>
              </a:buClr>
            </a:pPr>
            <a:r>
              <a:rPr lang="en-US" dirty="0"/>
              <a:t>Calculating the mean</a:t>
            </a:r>
          </a:p>
          <a:p>
            <a:pPr lvl="1"/>
            <a:r>
              <a:rPr lang="en-US" dirty="0"/>
              <a:t>Arithmetic mean</a:t>
            </a:r>
          </a:p>
          <a:p>
            <a:pPr lvl="1"/>
            <a:r>
              <a:rPr lang="en-US" dirty="0"/>
              <a:t>Harmonic mean</a:t>
            </a:r>
          </a:p>
          <a:p>
            <a:pPr lvl="1"/>
            <a:r>
              <a:rPr lang="en-US" dirty="0"/>
              <a:t>Geometric mean</a:t>
            </a:r>
          </a:p>
          <a:p>
            <a:pPr marL="228600" lvl="1">
              <a:spcBef>
                <a:spcPts val="1800"/>
              </a:spcBef>
              <a:buClr>
                <a:schemeClr val="accent1"/>
              </a:buClr>
            </a:pPr>
            <a:r>
              <a:rPr lang="en-US" dirty="0"/>
              <a:t>Benchmark principles</a:t>
            </a:r>
          </a:p>
          <a:p>
            <a:pPr marL="228600" lvl="1">
              <a:spcBef>
                <a:spcPts val="1800"/>
              </a:spcBef>
              <a:buClr>
                <a:schemeClr val="accent1"/>
              </a:buClr>
            </a:pPr>
            <a:r>
              <a:rPr lang="en-US" dirty="0"/>
              <a:t>SPEC benchmarks</a:t>
            </a:r>
          </a:p>
        </p:txBody>
      </p:sp>
      <p:sp>
        <p:nvSpPr>
          <p:cNvPr id="44035" name="Rectangle 3"/>
          <p:cNvSpPr>
            <a:spLocks noGrp="1" noChangeArrowheads="1"/>
          </p:cNvSpPr>
          <p:nvPr>
            <p:ph type="body" idx="1"/>
          </p:nvPr>
        </p:nvSpPr>
        <p:spPr>
          <a:xfrm>
            <a:off x="533400" y="1219200"/>
            <a:ext cx="3657600" cy="1098177"/>
          </a:xfrm>
        </p:spPr>
        <p:txBody>
          <a:bodyPr>
            <a:normAutofit/>
          </a:bodyPr>
          <a:lstStyle/>
          <a:p>
            <a:endParaRPr lang="en-US" sz="800" dirty="0"/>
          </a:p>
          <a:p>
            <a:endParaRPr lang="en-US" sz="800" dirty="0"/>
          </a:p>
          <a:p>
            <a:r>
              <a:rPr lang="en-US" sz="3200" dirty="0"/>
              <a:t>Chapter 2</a:t>
            </a:r>
          </a:p>
          <a:p>
            <a:endParaRPr lang="en-US" dirty="0"/>
          </a:p>
        </p:txBody>
      </p:sp>
      <p:sp>
        <p:nvSpPr>
          <p:cNvPr id="31" name="Text Placeholder 30"/>
          <p:cNvSpPr>
            <a:spLocks noGrp="1"/>
          </p:cNvSpPr>
          <p:nvPr>
            <p:ph type="body" sz="quarter" idx="3"/>
          </p:nvPr>
        </p:nvSpPr>
        <p:spPr>
          <a:xfrm>
            <a:off x="4343400" y="228600"/>
            <a:ext cx="3657600" cy="1707776"/>
          </a:xfrm>
        </p:spPr>
        <p:txBody>
          <a:bodyPr/>
          <a:lstStyle/>
          <a:p>
            <a:r>
              <a:rPr lang="en-US" sz="2800" dirty="0">
                <a:solidFill>
                  <a:schemeClr val="tx2"/>
                </a:solidFill>
                <a:latin typeface="+mj-lt"/>
                <a:ea typeface="+mj-ea"/>
                <a:cs typeface="+mj-cs"/>
              </a:rPr>
              <a:t>Performance</a:t>
            </a:r>
            <a:r>
              <a:rPr lang="en-US" sz="2800" dirty="0">
                <a:solidFill>
                  <a:schemeClr val="tx2"/>
                </a:solidFill>
              </a:rPr>
              <a:t>  </a:t>
            </a:r>
          </a:p>
          <a:p>
            <a:r>
              <a:rPr lang="en-US" sz="2800" dirty="0">
                <a:solidFill>
                  <a:schemeClr val="tx2"/>
                </a:solidFill>
              </a:rPr>
              <a:t>Issues</a:t>
            </a:r>
          </a:p>
        </p:txBody>
      </p:sp>
      <p:sp>
        <p:nvSpPr>
          <p:cNvPr id="3" name="슬라이드 번호 개체 틀 2"/>
          <p:cNvSpPr>
            <a:spLocks noGrp="1"/>
          </p:cNvSpPr>
          <p:nvPr>
            <p:ph type="sldNum" sz="quarter" idx="12"/>
          </p:nvPr>
        </p:nvSpPr>
        <p:spPr/>
        <p:txBody>
          <a:bodyPr/>
          <a:lstStyle/>
          <a:p>
            <a:fld id="{8AF02B71-8991-4516-A01E-F1A9ACD28BDC}" type="slidenum">
              <a:rPr lang="en-US" altLang="ko-KR" smtClean="0"/>
              <a:pPr/>
              <a:t>33</a:t>
            </a:fld>
            <a:endParaRPr lang="en-US" altLang="ko-KR"/>
          </a:p>
        </p:txBody>
      </p:sp>
    </p:spTree>
  </p:cSld>
  <p:clrMapOvr>
    <a:masterClrMapping/>
  </p:clrMapOvr>
</p:sld>
</file>

<file path=ppt/theme/theme1.xml><?xml version="1.0" encoding="utf-8"?>
<a:theme xmlns:a="http://schemas.openxmlformats.org/drawingml/2006/main" name="Advantag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45870</TotalTime>
  <Words>9081</Words>
  <Application>Microsoft Office PowerPoint</Application>
  <PresentationFormat>화면 슬라이드 쇼(4:3)</PresentationFormat>
  <Paragraphs>956</Paragraphs>
  <Slides>33</Slides>
  <Notes>33</Notes>
  <HiddenSlides>0</HiddenSlides>
  <MMClips>0</MMClips>
  <ScaleCrop>false</ScaleCrop>
  <HeadingPairs>
    <vt:vector size="8" baseType="variant">
      <vt:variant>
        <vt:lpstr>사용한 글꼴</vt:lpstr>
      </vt:variant>
      <vt:variant>
        <vt:i4>7</vt:i4>
      </vt:variant>
      <vt:variant>
        <vt:lpstr>테마</vt:lpstr>
      </vt:variant>
      <vt:variant>
        <vt:i4>1</vt:i4>
      </vt:variant>
      <vt:variant>
        <vt:lpstr>포함된 OLE 서버</vt:lpstr>
      </vt:variant>
      <vt:variant>
        <vt:i4>2</vt:i4>
      </vt:variant>
      <vt:variant>
        <vt:lpstr>슬라이드 제목</vt:lpstr>
      </vt:variant>
      <vt:variant>
        <vt:i4>33</vt:i4>
      </vt:variant>
    </vt:vector>
  </HeadingPairs>
  <TitlesOfParts>
    <vt:vector size="43" baseType="lpstr">
      <vt:lpstr>TimesTen-Roman</vt:lpstr>
      <vt:lpstr>Arial</vt:lpstr>
      <vt:lpstr>Cambria Math</vt:lpstr>
      <vt:lpstr>Rockwell</vt:lpstr>
      <vt:lpstr>Times New Roman</vt:lpstr>
      <vt:lpstr>Verdana</vt:lpstr>
      <vt:lpstr>Wingdings</vt:lpstr>
      <vt:lpstr>Advantage</vt:lpstr>
      <vt:lpstr>문서</vt:lpstr>
      <vt:lpstr>Equation</vt:lpstr>
      <vt:lpstr>Chapter 2  </vt:lpstr>
      <vt:lpstr>Designing for Performance</vt:lpstr>
      <vt:lpstr>Microprocessor Speed</vt:lpstr>
      <vt:lpstr>Performance  Balance</vt:lpstr>
      <vt:lpstr>PowerPoint 프레젠테이션</vt:lpstr>
      <vt:lpstr>Improvements in Chip Organization and Architecture</vt:lpstr>
      <vt:lpstr>Problems with Clock Speed and Logic Density</vt:lpstr>
      <vt:lpstr>PowerPoint 프레젠테이션</vt:lpstr>
      <vt:lpstr>Multicore</vt:lpstr>
      <vt:lpstr>Many Integrated Core (MIC)       Graphics Processing Unit (GPU) </vt:lpstr>
      <vt:lpstr>Amdahl’s Law</vt:lpstr>
      <vt:lpstr>Amdahl’s Law Formula</vt:lpstr>
      <vt:lpstr>PowerPoint 프레젠테이션</vt:lpstr>
      <vt:lpstr>PowerPoint 프레젠테이션</vt:lpstr>
      <vt:lpstr>Little’s Law</vt:lpstr>
      <vt:lpstr>PowerPoint 프레젠테이션</vt:lpstr>
      <vt:lpstr> </vt:lpstr>
      <vt:lpstr>Calculating the Mean</vt:lpstr>
      <vt:lpstr>PowerPoint 프레젠테이션</vt:lpstr>
      <vt:lpstr>PowerPoint 프레젠테이션</vt:lpstr>
      <vt:lpstr>PowerPoint 프레젠테이션</vt:lpstr>
      <vt:lpstr>PowerPoint 프레젠테이션</vt:lpstr>
      <vt:lpstr>PowerPoint 프레젠테이션</vt:lpstr>
      <vt:lpstr>Benchmark Principles</vt:lpstr>
      <vt:lpstr>System Performance Evaluation Corporation (SPEC)</vt:lpstr>
      <vt:lpstr>SPEC   CPU2006</vt:lpstr>
      <vt:lpstr>PowerPoint 프레젠테이션</vt:lpstr>
      <vt:lpstr>PowerPoint 프레젠테이션</vt:lpstr>
      <vt:lpstr>Terms Used in SPEC Documentation</vt:lpstr>
      <vt:lpstr>PowerPoint 프레젠테이션</vt:lpstr>
      <vt:lpstr>PowerPoint 프레젠테이션</vt:lpstr>
      <vt:lpstr>PowerPoint 프레젠테이션</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02 Computer Evolution and Performance</dc:title>
  <dc:creator>Adrian J Pullin</dc:creator>
  <cp:lastModifiedBy>김호원</cp:lastModifiedBy>
  <cp:revision>323</cp:revision>
  <cp:lastPrinted>2015-03-08T10:08:18Z</cp:lastPrinted>
  <dcterms:created xsi:type="dcterms:W3CDTF">2012-06-10T04:05:19Z</dcterms:created>
  <dcterms:modified xsi:type="dcterms:W3CDTF">2020-03-19T11:25:22Z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1</vt:i4>
  </property>
  <property fmtid="{D5CDD505-2E9C-101B-9397-08002B2CF9AE}" pid="4" name="Compression">
    <vt:i4>100</vt:i4>
  </property>
  <property fmtid="{D5CDD505-2E9C-101B-9397-08002B2CF9AE}" pid="5" name="ScreenSize">
    <vt:i4>2</vt:i4>
  </property>
  <property fmtid="{D5CDD505-2E9C-101B-9397-08002B2CF9AE}" pid="6" name="ScreenUsage">
    <vt:i4>1</vt:i4>
  </property>
  <property fmtid="{D5CDD505-2E9C-101B-9397-08002B2CF9AE}" pid="7" name="MailAddress">
    <vt:lpwstr>a.j.pullin@newi.ac.uk</vt:lpwstr>
  </property>
  <property fmtid="{D5CDD505-2E9C-101B-9397-08002B2CF9AE}" pid="8" name="HomePage">
    <vt:lpwstr>http://www.newi.ac.uk/pullina/default.htm</vt:lpwstr>
  </property>
  <property fmtid="{D5CDD505-2E9C-101B-9397-08002B2CF9AE}" pid="9" name="Other">
    <vt:lpwstr/>
  </property>
  <property fmtid="{D5CDD505-2E9C-101B-9397-08002B2CF9AE}" pid="10" name="DownloadOriginal">
    <vt:bool>true</vt:bool>
  </property>
  <property fmtid="{D5CDD505-2E9C-101B-9397-08002B2CF9AE}" pid="11" name="DownloadIEButton">
    <vt:bool>true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3</vt:i4>
  </property>
  <property fmtid="{D5CDD505-2E9C-101B-9397-08002B2CF9AE}" pid="19" name="ShowNotes">
    <vt:bool>true</vt:bool>
  </property>
  <property fmtid="{D5CDD505-2E9C-101B-9397-08002B2CF9AE}" pid="20" name="NavBtnPos">
    <vt:i4>3</vt:i4>
  </property>
  <property fmtid="{D5CDD505-2E9C-101B-9397-08002B2CF9AE}" pid="21" name="OutputDir">
    <vt:lpwstr>H:\Data\Networks\Notes\HTML</vt:lpwstr>
  </property>
</Properties>
</file>