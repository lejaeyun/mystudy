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1"/>
  </p:sldMasterIdLst>
  <p:notesMasterIdLst>
    <p:notesMasterId r:id="rId36"/>
  </p:notesMasterIdLst>
  <p:handoutMasterIdLst>
    <p:handoutMasterId r:id="rId37"/>
  </p:handoutMasterIdLst>
  <p:sldIdLst>
    <p:sldId id="297" r:id="rId2"/>
    <p:sldId id="711" r:id="rId3"/>
    <p:sldId id="741" r:id="rId4"/>
    <p:sldId id="713" r:id="rId5"/>
    <p:sldId id="742" r:id="rId6"/>
    <p:sldId id="719" r:id="rId7"/>
    <p:sldId id="712" r:id="rId8"/>
    <p:sldId id="714" r:id="rId9"/>
    <p:sldId id="764" r:id="rId10"/>
    <p:sldId id="765" r:id="rId11"/>
    <p:sldId id="743" r:id="rId12"/>
    <p:sldId id="744" r:id="rId13"/>
    <p:sldId id="745" r:id="rId14"/>
    <p:sldId id="746" r:id="rId15"/>
    <p:sldId id="747" r:id="rId16"/>
    <p:sldId id="748" r:id="rId17"/>
    <p:sldId id="749" r:id="rId18"/>
    <p:sldId id="750" r:id="rId19"/>
    <p:sldId id="751" r:id="rId20"/>
    <p:sldId id="752" r:id="rId21"/>
    <p:sldId id="753" r:id="rId22"/>
    <p:sldId id="754" r:id="rId23"/>
    <p:sldId id="755" r:id="rId24"/>
    <p:sldId id="756" r:id="rId25"/>
    <p:sldId id="757" r:id="rId26"/>
    <p:sldId id="758" r:id="rId27"/>
    <p:sldId id="759" r:id="rId28"/>
    <p:sldId id="760" r:id="rId29"/>
    <p:sldId id="761" r:id="rId30"/>
    <p:sldId id="762" r:id="rId31"/>
    <p:sldId id="763" r:id="rId32"/>
    <p:sldId id="718" r:id="rId33"/>
    <p:sldId id="717" r:id="rId34"/>
    <p:sldId id="738" r:id="rId35"/>
  </p:sldIdLst>
  <p:sldSz cx="9144000" cy="6858000" type="screen4x3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5pPr>
    <a:lvl6pPr marL="2286000" algn="l" defTabSz="914400" rtl="0" eaLnBrk="1" latinLnBrk="1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6pPr>
    <a:lvl7pPr marL="2743200" algn="l" defTabSz="914400" rtl="0" eaLnBrk="1" latinLnBrk="1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7pPr>
    <a:lvl8pPr marL="3200400" algn="l" defTabSz="914400" rtl="0" eaLnBrk="1" latinLnBrk="1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8pPr>
    <a:lvl9pPr marL="3657600" algn="l" defTabSz="914400" rtl="0" eaLnBrk="1" latinLnBrk="1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Times New Roman (Hebrew)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0000FF"/>
    <a:srgbClr val="FFFFCC"/>
    <a:srgbClr val="89FFE0"/>
    <a:srgbClr val="FF0000"/>
    <a:srgbClr val="990099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0" autoAdjust="0"/>
    <p:restoredTop sz="95039" autoAdjust="0"/>
  </p:normalViewPr>
  <p:slideViewPr>
    <p:cSldViewPr>
      <p:cViewPr varScale="1">
        <p:scale>
          <a:sx n="152" d="100"/>
          <a:sy n="152" d="100"/>
        </p:scale>
        <p:origin x="2046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104" y="-84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5.xml"/><Relationship Id="rId13" Type="http://schemas.openxmlformats.org/officeDocument/2006/relationships/slide" Target="slides/slide20.xml"/><Relationship Id="rId18" Type="http://schemas.openxmlformats.org/officeDocument/2006/relationships/slide" Target="slides/slide25.xml"/><Relationship Id="rId3" Type="http://schemas.openxmlformats.org/officeDocument/2006/relationships/slide" Target="slides/slide10.xml"/><Relationship Id="rId21" Type="http://schemas.openxmlformats.org/officeDocument/2006/relationships/slide" Target="slides/slide28.xml"/><Relationship Id="rId7" Type="http://schemas.openxmlformats.org/officeDocument/2006/relationships/slide" Target="slides/slide14.xml"/><Relationship Id="rId12" Type="http://schemas.openxmlformats.org/officeDocument/2006/relationships/slide" Target="slides/slide19.xml"/><Relationship Id="rId17" Type="http://schemas.openxmlformats.org/officeDocument/2006/relationships/slide" Target="slides/slide24.xml"/><Relationship Id="rId2" Type="http://schemas.openxmlformats.org/officeDocument/2006/relationships/slide" Target="slides/slide9.xml"/><Relationship Id="rId16" Type="http://schemas.openxmlformats.org/officeDocument/2006/relationships/slide" Target="slides/slide23.xml"/><Relationship Id="rId20" Type="http://schemas.openxmlformats.org/officeDocument/2006/relationships/slide" Target="slides/slide27.xml"/><Relationship Id="rId1" Type="http://schemas.openxmlformats.org/officeDocument/2006/relationships/slide" Target="slides/slide1.xml"/><Relationship Id="rId6" Type="http://schemas.openxmlformats.org/officeDocument/2006/relationships/slide" Target="slides/slide13.xml"/><Relationship Id="rId11" Type="http://schemas.openxmlformats.org/officeDocument/2006/relationships/slide" Target="slides/slide18.xml"/><Relationship Id="rId5" Type="http://schemas.openxmlformats.org/officeDocument/2006/relationships/slide" Target="slides/slide12.xml"/><Relationship Id="rId15" Type="http://schemas.openxmlformats.org/officeDocument/2006/relationships/slide" Target="slides/slide22.xml"/><Relationship Id="rId23" Type="http://schemas.openxmlformats.org/officeDocument/2006/relationships/slide" Target="slides/slide30.xml"/><Relationship Id="rId10" Type="http://schemas.openxmlformats.org/officeDocument/2006/relationships/slide" Target="slides/slide17.xml"/><Relationship Id="rId19" Type="http://schemas.openxmlformats.org/officeDocument/2006/relationships/slide" Target="slides/slide26.xml"/><Relationship Id="rId4" Type="http://schemas.openxmlformats.org/officeDocument/2006/relationships/slide" Target="slides/slide11.xml"/><Relationship Id="rId9" Type="http://schemas.openxmlformats.org/officeDocument/2006/relationships/slide" Target="slides/slide16.xml"/><Relationship Id="rId14" Type="http://schemas.openxmlformats.org/officeDocument/2006/relationships/slide" Target="slides/slide21.xml"/><Relationship Id="rId22" Type="http://schemas.openxmlformats.org/officeDocument/2006/relationships/slide" Target="slides/slide2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8CF26C-3B9E-EC4D-B017-A6EDD2D78F18}" type="doc">
      <dgm:prSet loTypeId="urn:microsoft.com/office/officeart/2005/8/layout/cycle4#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CAEE6A-D8FA-1A4E-8E6A-4450A6DD048D}">
      <dgm:prSet/>
      <dgm:spPr/>
      <dgm:t>
        <a:bodyPr/>
        <a:lstStyle/>
        <a:p>
          <a:pPr rtl="0"/>
          <a:r>
            <a:rPr lang="en-US" b="1" dirty="0" smtClean="0">
              <a:solidFill>
                <a:schemeClr val="tx1"/>
              </a:solidFill>
              <a:effectLst/>
            </a:rPr>
            <a:t>Computer Architecture</a:t>
          </a:r>
          <a:endParaRPr lang="en-US" b="1" dirty="0">
            <a:solidFill>
              <a:schemeClr val="tx1"/>
            </a:solidFill>
            <a:effectLst/>
          </a:endParaRPr>
        </a:p>
      </dgm:t>
    </dgm:pt>
    <dgm:pt modelId="{688287C0-0BBB-B04A-B8B2-AB36598391AC}" type="parTrans" cxnId="{D3324486-6DB6-E64B-B1A8-C30BAEA50D60}">
      <dgm:prSet/>
      <dgm:spPr/>
      <dgm:t>
        <a:bodyPr/>
        <a:lstStyle/>
        <a:p>
          <a:endParaRPr lang="en-US"/>
        </a:p>
      </dgm:t>
    </dgm:pt>
    <dgm:pt modelId="{06346C9A-108C-B141-813D-843AF3CECB9B}" type="sibTrans" cxnId="{D3324486-6DB6-E64B-B1A8-C30BAEA50D60}">
      <dgm:prSet/>
      <dgm:spPr/>
      <dgm:t>
        <a:bodyPr/>
        <a:lstStyle/>
        <a:p>
          <a:endParaRPr lang="en-US"/>
        </a:p>
      </dgm:t>
    </dgm:pt>
    <dgm:pt modelId="{28315CB9-8304-2142-842C-3463531B3569}">
      <dgm:prSet custT="1"/>
      <dgm:spPr/>
      <dgm:t>
        <a:bodyPr/>
        <a:lstStyle/>
        <a:p>
          <a:pPr rtl="0"/>
          <a:r>
            <a:rPr lang="en-US" sz="1400" dirty="0" smtClean="0"/>
            <a:t>Attributes of a system visible to the programmer</a:t>
          </a:r>
          <a:endParaRPr lang="en-US" sz="1400" dirty="0"/>
        </a:p>
      </dgm:t>
    </dgm:pt>
    <dgm:pt modelId="{A7B6E241-54E6-4343-8A9E-03120641D454}" type="parTrans" cxnId="{0982BD52-6017-0E45-866D-E6B00540A5AF}">
      <dgm:prSet/>
      <dgm:spPr/>
      <dgm:t>
        <a:bodyPr/>
        <a:lstStyle/>
        <a:p>
          <a:endParaRPr lang="en-US"/>
        </a:p>
      </dgm:t>
    </dgm:pt>
    <dgm:pt modelId="{8805F3BF-5747-FA44-B2D6-8E46921DD5F2}" type="sibTrans" cxnId="{0982BD52-6017-0E45-866D-E6B00540A5AF}">
      <dgm:prSet/>
      <dgm:spPr/>
      <dgm:t>
        <a:bodyPr/>
        <a:lstStyle/>
        <a:p>
          <a:endParaRPr lang="en-US"/>
        </a:p>
      </dgm:t>
    </dgm:pt>
    <dgm:pt modelId="{21A469AC-73E4-2148-8557-29B0050DEDC0}">
      <dgm:prSet custT="1"/>
      <dgm:spPr/>
      <dgm:t>
        <a:bodyPr/>
        <a:lstStyle/>
        <a:p>
          <a:pPr rtl="0"/>
          <a:r>
            <a:rPr lang="en-US" sz="1400" dirty="0" smtClean="0"/>
            <a:t>Have a direct impact on the logical execution of a program</a:t>
          </a:r>
          <a:endParaRPr lang="en-US" sz="1400" dirty="0"/>
        </a:p>
      </dgm:t>
    </dgm:pt>
    <dgm:pt modelId="{94BC96F5-293D-3C4D-A2F1-79679BBF38E8}" type="parTrans" cxnId="{174D5ABD-454D-0D4F-8354-0209701BD34D}">
      <dgm:prSet/>
      <dgm:spPr/>
      <dgm:t>
        <a:bodyPr/>
        <a:lstStyle/>
        <a:p>
          <a:endParaRPr lang="en-US"/>
        </a:p>
      </dgm:t>
    </dgm:pt>
    <dgm:pt modelId="{C5D2949D-BDAD-0542-A3C2-B076CCD0AE72}" type="sibTrans" cxnId="{174D5ABD-454D-0D4F-8354-0209701BD34D}">
      <dgm:prSet/>
      <dgm:spPr/>
      <dgm:t>
        <a:bodyPr/>
        <a:lstStyle/>
        <a:p>
          <a:endParaRPr lang="en-US"/>
        </a:p>
      </dgm:t>
    </dgm:pt>
    <dgm:pt modelId="{308789E6-82F7-DB43-B928-143FCBCCB864}">
      <dgm:prSet/>
      <dgm:spPr/>
      <dgm:t>
        <a:bodyPr/>
        <a:lstStyle/>
        <a:p>
          <a:pPr rtl="0"/>
          <a:r>
            <a:rPr lang="en-US" b="1" smtClean="0">
              <a:solidFill>
                <a:schemeClr val="tx1"/>
              </a:solidFill>
              <a:effectLst/>
            </a:rPr>
            <a:t>Architectural attributes include:</a:t>
          </a:r>
          <a:endParaRPr lang="en-US" b="1" dirty="0">
            <a:solidFill>
              <a:schemeClr val="tx1"/>
            </a:solidFill>
            <a:effectLst/>
          </a:endParaRPr>
        </a:p>
      </dgm:t>
    </dgm:pt>
    <dgm:pt modelId="{FB24C361-90FF-A246-9A34-69E4A6A8AF57}" type="parTrans" cxnId="{30023AC5-9093-4448-B688-57B5C6556549}">
      <dgm:prSet/>
      <dgm:spPr/>
      <dgm:t>
        <a:bodyPr/>
        <a:lstStyle/>
        <a:p>
          <a:endParaRPr lang="en-US"/>
        </a:p>
      </dgm:t>
    </dgm:pt>
    <dgm:pt modelId="{616A0DCE-F636-194D-9DA8-C39FF48D7209}" type="sibTrans" cxnId="{30023AC5-9093-4448-B688-57B5C6556549}">
      <dgm:prSet/>
      <dgm:spPr/>
      <dgm:t>
        <a:bodyPr/>
        <a:lstStyle/>
        <a:p>
          <a:endParaRPr lang="en-US"/>
        </a:p>
      </dgm:t>
    </dgm:pt>
    <dgm:pt modelId="{CE5F8666-70FC-564C-8B7D-337BE33E4106}">
      <dgm:prSet custT="1"/>
      <dgm:spPr/>
      <dgm:t>
        <a:bodyPr/>
        <a:lstStyle/>
        <a:p>
          <a:pPr rtl="0"/>
          <a:r>
            <a:rPr lang="en-US" sz="1400" dirty="0" smtClean="0"/>
            <a:t>Instruction set, number of bits used to represent various data types,   I/O mechanisms, techniques for addressing memory</a:t>
          </a:r>
          <a:endParaRPr lang="en-US" sz="1400" dirty="0"/>
        </a:p>
      </dgm:t>
    </dgm:pt>
    <dgm:pt modelId="{76348B6E-B52D-394F-A7D3-0CFAABB89617}" type="parTrans" cxnId="{1387E257-C914-334F-A738-A616B99E545F}">
      <dgm:prSet/>
      <dgm:spPr/>
      <dgm:t>
        <a:bodyPr/>
        <a:lstStyle/>
        <a:p>
          <a:endParaRPr lang="en-US"/>
        </a:p>
      </dgm:t>
    </dgm:pt>
    <dgm:pt modelId="{AC6E989A-20AA-194C-A7C6-0BE634EC1713}" type="sibTrans" cxnId="{1387E257-C914-334F-A738-A616B99E545F}">
      <dgm:prSet/>
      <dgm:spPr/>
      <dgm:t>
        <a:bodyPr/>
        <a:lstStyle/>
        <a:p>
          <a:endParaRPr lang="en-US"/>
        </a:p>
      </dgm:t>
    </dgm:pt>
    <dgm:pt modelId="{74536227-6FB9-EA42-B0D1-89175BB10E79}">
      <dgm:prSet/>
      <dgm:spPr/>
      <dgm:t>
        <a:bodyPr/>
        <a:lstStyle/>
        <a:p>
          <a:pPr rtl="0"/>
          <a:r>
            <a:rPr lang="en-US" b="1" smtClean="0">
              <a:solidFill>
                <a:schemeClr val="tx1"/>
              </a:solidFill>
              <a:effectLst/>
            </a:rPr>
            <a:t>Computer Organization </a:t>
          </a:r>
          <a:endParaRPr lang="en-US" b="1" dirty="0">
            <a:solidFill>
              <a:schemeClr val="tx1"/>
            </a:solidFill>
            <a:effectLst/>
          </a:endParaRPr>
        </a:p>
      </dgm:t>
    </dgm:pt>
    <dgm:pt modelId="{0F4E1031-08A1-144E-B04B-64D102B658EE}" type="parTrans" cxnId="{8E989642-BD8C-7744-8EF6-FBB60B8A00FD}">
      <dgm:prSet/>
      <dgm:spPr/>
      <dgm:t>
        <a:bodyPr/>
        <a:lstStyle/>
        <a:p>
          <a:endParaRPr lang="en-US"/>
        </a:p>
      </dgm:t>
    </dgm:pt>
    <dgm:pt modelId="{134FF832-CB26-164C-83F8-265482D291A9}" type="sibTrans" cxnId="{8E989642-BD8C-7744-8EF6-FBB60B8A00FD}">
      <dgm:prSet/>
      <dgm:spPr/>
      <dgm:t>
        <a:bodyPr/>
        <a:lstStyle/>
        <a:p>
          <a:endParaRPr lang="en-US"/>
        </a:p>
      </dgm:t>
    </dgm:pt>
    <dgm:pt modelId="{4ABB395C-A2BC-EB46-8166-8924AE293271}">
      <dgm:prSet custT="1"/>
      <dgm:spPr/>
      <dgm:t>
        <a:bodyPr lIns="36000" tIns="36000" rIns="36000" bIns="36000"/>
        <a:lstStyle/>
        <a:p>
          <a:pPr marL="0" indent="0" rtl="0"/>
          <a:r>
            <a:rPr lang="en-US" sz="1400" dirty="0" smtClean="0"/>
            <a:t>The operational units and their interconnections that realize the architectural specifications</a:t>
          </a:r>
          <a:endParaRPr lang="en-US" sz="1400" dirty="0"/>
        </a:p>
      </dgm:t>
    </dgm:pt>
    <dgm:pt modelId="{39F91221-9930-CA4C-BDE4-128319DAD71D}" type="parTrans" cxnId="{B9F257A1-A141-2245-873F-A8263CDB5102}">
      <dgm:prSet/>
      <dgm:spPr/>
      <dgm:t>
        <a:bodyPr/>
        <a:lstStyle/>
        <a:p>
          <a:endParaRPr lang="en-US"/>
        </a:p>
      </dgm:t>
    </dgm:pt>
    <dgm:pt modelId="{FAA95E30-E469-594E-8C2C-8129BB965E39}" type="sibTrans" cxnId="{B9F257A1-A141-2245-873F-A8263CDB5102}">
      <dgm:prSet/>
      <dgm:spPr/>
      <dgm:t>
        <a:bodyPr/>
        <a:lstStyle/>
        <a:p>
          <a:endParaRPr lang="en-US"/>
        </a:p>
      </dgm:t>
    </dgm:pt>
    <dgm:pt modelId="{54AC2B3A-9757-C341-B161-89A6E0CA9575}">
      <dgm:prSet/>
      <dgm:spPr/>
      <dgm:t>
        <a:bodyPr/>
        <a:lstStyle/>
        <a:p>
          <a:pPr rtl="0"/>
          <a:r>
            <a:rPr lang="en-US" b="1" smtClean="0">
              <a:solidFill>
                <a:schemeClr val="tx1"/>
              </a:solidFill>
              <a:effectLst/>
            </a:rPr>
            <a:t>Organizational attributes include:</a:t>
          </a:r>
          <a:endParaRPr lang="en-US" b="1" dirty="0">
            <a:solidFill>
              <a:schemeClr val="tx1"/>
            </a:solidFill>
            <a:effectLst/>
          </a:endParaRPr>
        </a:p>
      </dgm:t>
    </dgm:pt>
    <dgm:pt modelId="{83493404-DFEF-9E42-ABB4-FBBE426B3AF9}" type="parTrans" cxnId="{734FF944-1D40-0F41-B4EE-7FBCB36088CC}">
      <dgm:prSet/>
      <dgm:spPr/>
      <dgm:t>
        <a:bodyPr/>
        <a:lstStyle/>
        <a:p>
          <a:endParaRPr lang="en-US"/>
        </a:p>
      </dgm:t>
    </dgm:pt>
    <dgm:pt modelId="{D8E9FC16-4D96-4648-AE70-EC41FE4D60A6}" type="sibTrans" cxnId="{734FF944-1D40-0F41-B4EE-7FBCB36088CC}">
      <dgm:prSet/>
      <dgm:spPr/>
      <dgm:t>
        <a:bodyPr/>
        <a:lstStyle/>
        <a:p>
          <a:endParaRPr lang="en-US"/>
        </a:p>
      </dgm:t>
    </dgm:pt>
    <dgm:pt modelId="{601FD3FE-0540-834F-BCAB-697B63FDDAF5}">
      <dgm:prSet custT="1"/>
      <dgm:spPr/>
      <dgm:t>
        <a:bodyPr/>
        <a:lstStyle/>
        <a:p>
          <a:pPr rtl="0"/>
          <a:r>
            <a:rPr lang="en-US" sz="1400" dirty="0" smtClean="0"/>
            <a:t>Hardware details transparent to the programmer, control signals, interfaces between the computer and peripherals, memory technology used</a:t>
          </a:r>
          <a:endParaRPr lang="en-US" sz="1400" dirty="0"/>
        </a:p>
      </dgm:t>
    </dgm:pt>
    <dgm:pt modelId="{7AC73AAD-48BD-0141-801C-7F03F555A865}" type="parTrans" cxnId="{1014AC31-BFCA-4C40-9E55-38A36284F8BC}">
      <dgm:prSet/>
      <dgm:spPr/>
      <dgm:t>
        <a:bodyPr/>
        <a:lstStyle/>
        <a:p>
          <a:endParaRPr lang="en-US"/>
        </a:p>
      </dgm:t>
    </dgm:pt>
    <dgm:pt modelId="{2B5FD2A9-EFF7-224B-968B-602AA09A0E4E}" type="sibTrans" cxnId="{1014AC31-BFCA-4C40-9E55-38A36284F8BC}">
      <dgm:prSet/>
      <dgm:spPr/>
      <dgm:t>
        <a:bodyPr/>
        <a:lstStyle/>
        <a:p>
          <a:endParaRPr lang="en-US"/>
        </a:p>
      </dgm:t>
    </dgm:pt>
    <dgm:pt modelId="{CDA0A06D-0FB6-1E45-90C3-5F07AC6489BF}" type="pres">
      <dgm:prSet presAssocID="{218CF26C-3B9E-EC4D-B017-A6EDD2D78F1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E230A46-0396-8548-BFE6-7DE77B7F5698}" type="pres">
      <dgm:prSet presAssocID="{218CF26C-3B9E-EC4D-B017-A6EDD2D78F18}" presName="children" presStyleCnt="0"/>
      <dgm:spPr/>
      <dgm:t>
        <a:bodyPr/>
        <a:lstStyle/>
        <a:p>
          <a:pPr latinLnBrk="1"/>
          <a:endParaRPr lang="ko-KR" altLang="en-US"/>
        </a:p>
      </dgm:t>
    </dgm:pt>
    <dgm:pt modelId="{9355E2DA-ED4B-FF45-A420-CEC2FAD4F47F}" type="pres">
      <dgm:prSet presAssocID="{218CF26C-3B9E-EC4D-B017-A6EDD2D78F18}" presName="child1group" presStyleCnt="0"/>
      <dgm:spPr/>
      <dgm:t>
        <a:bodyPr/>
        <a:lstStyle/>
        <a:p>
          <a:pPr latinLnBrk="1"/>
          <a:endParaRPr lang="ko-KR" altLang="en-US"/>
        </a:p>
      </dgm:t>
    </dgm:pt>
    <dgm:pt modelId="{EAF475D4-71BA-AC4A-A978-8E1A58675943}" type="pres">
      <dgm:prSet presAssocID="{218CF26C-3B9E-EC4D-B017-A6EDD2D78F18}" presName="child1" presStyleLbl="bgAcc1" presStyleIdx="0" presStyleCnt="4" custScaleX="132259" custScaleY="105536" custLinFactNeighborX="-36942" custLinFactNeighborY="21714"/>
      <dgm:spPr/>
      <dgm:t>
        <a:bodyPr/>
        <a:lstStyle/>
        <a:p>
          <a:pPr latinLnBrk="1"/>
          <a:endParaRPr lang="ko-KR" altLang="en-US"/>
        </a:p>
      </dgm:t>
    </dgm:pt>
    <dgm:pt modelId="{8DC48612-CC3B-434C-BDCA-2D368136FE30}" type="pres">
      <dgm:prSet presAssocID="{218CF26C-3B9E-EC4D-B017-A6EDD2D78F18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6650470-D0B6-4E4B-B2CF-C9FC9D98A3AF}" type="pres">
      <dgm:prSet presAssocID="{218CF26C-3B9E-EC4D-B017-A6EDD2D78F18}" presName="child2group" presStyleCnt="0"/>
      <dgm:spPr/>
      <dgm:t>
        <a:bodyPr/>
        <a:lstStyle/>
        <a:p>
          <a:pPr latinLnBrk="1"/>
          <a:endParaRPr lang="ko-KR" altLang="en-US"/>
        </a:p>
      </dgm:t>
    </dgm:pt>
    <dgm:pt modelId="{D6EE7FF3-03D5-1248-B164-AC203683EA31}" type="pres">
      <dgm:prSet presAssocID="{218CF26C-3B9E-EC4D-B017-A6EDD2D78F18}" presName="child2" presStyleLbl="bgAcc1" presStyleIdx="1" presStyleCnt="4" custScaleX="137119" custLinFactNeighborX="29508" custLinFactNeighborY="4735"/>
      <dgm:spPr/>
      <dgm:t>
        <a:bodyPr/>
        <a:lstStyle/>
        <a:p>
          <a:pPr latinLnBrk="1"/>
          <a:endParaRPr lang="ko-KR" altLang="en-US"/>
        </a:p>
      </dgm:t>
    </dgm:pt>
    <dgm:pt modelId="{7378E5CD-5D97-4946-88A6-1649F23BF4FB}" type="pres">
      <dgm:prSet presAssocID="{218CF26C-3B9E-EC4D-B017-A6EDD2D78F18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79BE95B-2F90-7845-93AC-93020A91204D}" type="pres">
      <dgm:prSet presAssocID="{218CF26C-3B9E-EC4D-B017-A6EDD2D78F18}" presName="child3group" presStyleCnt="0"/>
      <dgm:spPr/>
      <dgm:t>
        <a:bodyPr/>
        <a:lstStyle/>
        <a:p>
          <a:pPr latinLnBrk="1"/>
          <a:endParaRPr lang="ko-KR" altLang="en-US"/>
        </a:p>
      </dgm:t>
    </dgm:pt>
    <dgm:pt modelId="{F4B243E3-6A78-9746-BEE9-84ACAEA02E36}" type="pres">
      <dgm:prSet presAssocID="{218CF26C-3B9E-EC4D-B017-A6EDD2D78F18}" presName="child3" presStyleLbl="bgAcc1" presStyleIdx="2" presStyleCnt="4" custScaleX="114928" custScaleY="123315" custLinFactNeighborX="29508" custLinFactNeighborY="-37311"/>
      <dgm:spPr/>
      <dgm:t>
        <a:bodyPr/>
        <a:lstStyle/>
        <a:p>
          <a:pPr latinLnBrk="1"/>
          <a:endParaRPr lang="ko-KR" altLang="en-US"/>
        </a:p>
      </dgm:t>
    </dgm:pt>
    <dgm:pt modelId="{28FF47C2-252F-AD4F-9FFC-C7380D031906}" type="pres">
      <dgm:prSet presAssocID="{218CF26C-3B9E-EC4D-B017-A6EDD2D78F18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57D66DE-4C1F-C044-A0CF-897ECE7AFBB6}" type="pres">
      <dgm:prSet presAssocID="{218CF26C-3B9E-EC4D-B017-A6EDD2D78F18}" presName="child4group" presStyleCnt="0"/>
      <dgm:spPr/>
      <dgm:t>
        <a:bodyPr/>
        <a:lstStyle/>
        <a:p>
          <a:pPr latinLnBrk="1"/>
          <a:endParaRPr lang="ko-KR" altLang="en-US"/>
        </a:p>
      </dgm:t>
    </dgm:pt>
    <dgm:pt modelId="{82886FAE-83A2-704D-92D1-F4CC571A92A1}" type="pres">
      <dgm:prSet presAssocID="{218CF26C-3B9E-EC4D-B017-A6EDD2D78F18}" presName="child4" presStyleLbl="bgAcc1" presStyleIdx="3" presStyleCnt="4" custScaleX="143396" custScaleY="140831" custLinFactNeighborX="-34300" custLinFactNeighborY="-37311"/>
      <dgm:spPr/>
      <dgm:t>
        <a:bodyPr/>
        <a:lstStyle/>
        <a:p>
          <a:pPr latinLnBrk="1"/>
          <a:endParaRPr lang="ko-KR" altLang="en-US"/>
        </a:p>
      </dgm:t>
    </dgm:pt>
    <dgm:pt modelId="{946504B0-6F32-CA4D-B160-51F1CA3B2486}" type="pres">
      <dgm:prSet presAssocID="{218CF26C-3B9E-EC4D-B017-A6EDD2D78F18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36011C0-D512-5B43-AFFF-B5EF3477E6BC}" type="pres">
      <dgm:prSet presAssocID="{218CF26C-3B9E-EC4D-B017-A6EDD2D78F18}" presName="childPlaceholder" presStyleCnt="0"/>
      <dgm:spPr/>
      <dgm:t>
        <a:bodyPr/>
        <a:lstStyle/>
        <a:p>
          <a:pPr latinLnBrk="1"/>
          <a:endParaRPr lang="ko-KR" altLang="en-US"/>
        </a:p>
      </dgm:t>
    </dgm:pt>
    <dgm:pt modelId="{0176A4A2-93EB-3B4F-8E44-E15DD76601A9}" type="pres">
      <dgm:prSet presAssocID="{218CF26C-3B9E-EC4D-B017-A6EDD2D78F18}" presName="circle" presStyleCnt="0"/>
      <dgm:spPr/>
      <dgm:t>
        <a:bodyPr/>
        <a:lstStyle/>
        <a:p>
          <a:pPr latinLnBrk="1"/>
          <a:endParaRPr lang="ko-KR" altLang="en-US"/>
        </a:p>
      </dgm:t>
    </dgm:pt>
    <dgm:pt modelId="{0995DE62-81B9-0E4E-9982-90865C30B506}" type="pres">
      <dgm:prSet presAssocID="{218CF26C-3B9E-EC4D-B017-A6EDD2D78F18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56301CE-27B0-6744-BFE7-3637DF690F07}" type="pres">
      <dgm:prSet presAssocID="{218CF26C-3B9E-EC4D-B017-A6EDD2D78F18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FC8C78-AEC8-1E4B-9265-AE1BCBD2AB12}" type="pres">
      <dgm:prSet presAssocID="{218CF26C-3B9E-EC4D-B017-A6EDD2D78F18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4C6FD03-EE72-914E-B7C9-68870374A795}" type="pres">
      <dgm:prSet presAssocID="{218CF26C-3B9E-EC4D-B017-A6EDD2D78F18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6826F6B-04DC-E742-8F5F-D9B2D824E236}" type="pres">
      <dgm:prSet presAssocID="{218CF26C-3B9E-EC4D-B017-A6EDD2D78F18}" presName="quadrantPlaceholder" presStyleCnt="0"/>
      <dgm:spPr/>
      <dgm:t>
        <a:bodyPr/>
        <a:lstStyle/>
        <a:p>
          <a:pPr latinLnBrk="1"/>
          <a:endParaRPr lang="ko-KR" altLang="en-US"/>
        </a:p>
      </dgm:t>
    </dgm:pt>
    <dgm:pt modelId="{1A971C7A-02BC-2144-9C44-48A4E03337B1}" type="pres">
      <dgm:prSet presAssocID="{218CF26C-3B9E-EC4D-B017-A6EDD2D78F18}" presName="center1" presStyleLbl="fgShp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290E4CF8-E8EE-584A-BC6F-814759FDAB7A}" type="pres">
      <dgm:prSet presAssocID="{218CF26C-3B9E-EC4D-B017-A6EDD2D78F18}" presName="center2" presStyleLbl="fgShp" presStyleIdx="1" presStyleCnt="2"/>
      <dgm:spPr/>
      <dgm:t>
        <a:bodyPr/>
        <a:lstStyle/>
        <a:p>
          <a:pPr latinLnBrk="1"/>
          <a:endParaRPr lang="ko-KR" altLang="en-US"/>
        </a:p>
      </dgm:t>
    </dgm:pt>
  </dgm:ptLst>
  <dgm:cxnLst>
    <dgm:cxn modelId="{666BF88B-FC38-42CC-9817-8702EBD02A44}" type="presOf" srcId="{601FD3FE-0540-834F-BCAB-697B63FDDAF5}" destId="{946504B0-6F32-CA4D-B160-51F1CA3B2486}" srcOrd="1" destOrd="0" presId="urn:microsoft.com/office/officeart/2005/8/layout/cycle4#1"/>
    <dgm:cxn modelId="{7769BEA3-A5CF-4913-8AF4-E1164465ECD9}" type="presOf" srcId="{54AC2B3A-9757-C341-B161-89A6E0CA9575}" destId="{84C6FD03-EE72-914E-B7C9-68870374A795}" srcOrd="0" destOrd="0" presId="urn:microsoft.com/office/officeart/2005/8/layout/cycle4#1"/>
    <dgm:cxn modelId="{91B63580-1FA2-45F7-80DC-87B783F8448E}" type="presOf" srcId="{308789E6-82F7-DB43-B928-143FCBCCB864}" destId="{E56301CE-27B0-6744-BFE7-3637DF690F07}" srcOrd="0" destOrd="0" presId="urn:microsoft.com/office/officeart/2005/8/layout/cycle4#1"/>
    <dgm:cxn modelId="{734FF944-1D40-0F41-B4EE-7FBCB36088CC}" srcId="{218CF26C-3B9E-EC4D-B017-A6EDD2D78F18}" destId="{54AC2B3A-9757-C341-B161-89A6E0CA9575}" srcOrd="3" destOrd="0" parTransId="{83493404-DFEF-9E42-ABB4-FBBE426B3AF9}" sibTransId="{D8E9FC16-4D96-4648-AE70-EC41FE4D60A6}"/>
    <dgm:cxn modelId="{09841759-A9BE-4762-80DA-E8BEC7517874}" type="presOf" srcId="{4ABB395C-A2BC-EB46-8166-8924AE293271}" destId="{F4B243E3-6A78-9746-BEE9-84ACAEA02E36}" srcOrd="0" destOrd="0" presId="urn:microsoft.com/office/officeart/2005/8/layout/cycle4#1"/>
    <dgm:cxn modelId="{8B6EABF4-02CF-4DD3-826A-0D249D20D8D9}" type="presOf" srcId="{B0CAEE6A-D8FA-1A4E-8E6A-4450A6DD048D}" destId="{0995DE62-81B9-0E4E-9982-90865C30B506}" srcOrd="0" destOrd="0" presId="urn:microsoft.com/office/officeart/2005/8/layout/cycle4#1"/>
    <dgm:cxn modelId="{8E989642-BD8C-7744-8EF6-FBB60B8A00FD}" srcId="{218CF26C-3B9E-EC4D-B017-A6EDD2D78F18}" destId="{74536227-6FB9-EA42-B0D1-89175BB10E79}" srcOrd="2" destOrd="0" parTransId="{0F4E1031-08A1-144E-B04B-64D102B658EE}" sibTransId="{134FF832-CB26-164C-83F8-265482D291A9}"/>
    <dgm:cxn modelId="{30023AC5-9093-4448-B688-57B5C6556549}" srcId="{218CF26C-3B9E-EC4D-B017-A6EDD2D78F18}" destId="{308789E6-82F7-DB43-B928-143FCBCCB864}" srcOrd="1" destOrd="0" parTransId="{FB24C361-90FF-A246-9A34-69E4A6A8AF57}" sibTransId="{616A0DCE-F636-194D-9DA8-C39FF48D7209}"/>
    <dgm:cxn modelId="{174D5ABD-454D-0D4F-8354-0209701BD34D}" srcId="{B0CAEE6A-D8FA-1A4E-8E6A-4450A6DD048D}" destId="{21A469AC-73E4-2148-8557-29B0050DEDC0}" srcOrd="1" destOrd="0" parTransId="{94BC96F5-293D-3C4D-A2F1-79679BBF38E8}" sibTransId="{C5D2949D-BDAD-0542-A3C2-B076CCD0AE72}"/>
    <dgm:cxn modelId="{B9F257A1-A141-2245-873F-A8263CDB5102}" srcId="{74536227-6FB9-EA42-B0D1-89175BB10E79}" destId="{4ABB395C-A2BC-EB46-8166-8924AE293271}" srcOrd="0" destOrd="0" parTransId="{39F91221-9930-CA4C-BDE4-128319DAD71D}" sibTransId="{FAA95E30-E469-594E-8C2C-8129BB965E39}"/>
    <dgm:cxn modelId="{1387E257-C914-334F-A738-A616B99E545F}" srcId="{308789E6-82F7-DB43-B928-143FCBCCB864}" destId="{CE5F8666-70FC-564C-8B7D-337BE33E4106}" srcOrd="0" destOrd="0" parTransId="{76348B6E-B52D-394F-A7D3-0CFAABB89617}" sibTransId="{AC6E989A-20AA-194C-A7C6-0BE634EC1713}"/>
    <dgm:cxn modelId="{0982BD52-6017-0E45-866D-E6B00540A5AF}" srcId="{B0CAEE6A-D8FA-1A4E-8E6A-4450A6DD048D}" destId="{28315CB9-8304-2142-842C-3463531B3569}" srcOrd="0" destOrd="0" parTransId="{A7B6E241-54E6-4343-8A9E-03120641D454}" sibTransId="{8805F3BF-5747-FA44-B2D6-8E46921DD5F2}"/>
    <dgm:cxn modelId="{8C9C0BCA-AB42-4571-8036-02D0C623CF09}" type="presOf" srcId="{21A469AC-73E4-2148-8557-29B0050DEDC0}" destId="{8DC48612-CC3B-434C-BDCA-2D368136FE30}" srcOrd="1" destOrd="1" presId="urn:microsoft.com/office/officeart/2005/8/layout/cycle4#1"/>
    <dgm:cxn modelId="{3B715EB7-F3E3-4DC6-AC2C-D1409BFB12E9}" type="presOf" srcId="{4ABB395C-A2BC-EB46-8166-8924AE293271}" destId="{28FF47C2-252F-AD4F-9FFC-C7380D031906}" srcOrd="1" destOrd="0" presId="urn:microsoft.com/office/officeart/2005/8/layout/cycle4#1"/>
    <dgm:cxn modelId="{AC5FC2F7-E536-4FF0-926A-4F732A3097EE}" type="presOf" srcId="{21A469AC-73E4-2148-8557-29B0050DEDC0}" destId="{EAF475D4-71BA-AC4A-A978-8E1A58675943}" srcOrd="0" destOrd="1" presId="urn:microsoft.com/office/officeart/2005/8/layout/cycle4#1"/>
    <dgm:cxn modelId="{8BDD9DB4-1288-4CB2-A626-65D8E0A00573}" type="presOf" srcId="{CE5F8666-70FC-564C-8B7D-337BE33E4106}" destId="{D6EE7FF3-03D5-1248-B164-AC203683EA31}" srcOrd="0" destOrd="0" presId="urn:microsoft.com/office/officeart/2005/8/layout/cycle4#1"/>
    <dgm:cxn modelId="{D3324486-6DB6-E64B-B1A8-C30BAEA50D60}" srcId="{218CF26C-3B9E-EC4D-B017-A6EDD2D78F18}" destId="{B0CAEE6A-D8FA-1A4E-8E6A-4450A6DD048D}" srcOrd="0" destOrd="0" parTransId="{688287C0-0BBB-B04A-B8B2-AB36598391AC}" sibTransId="{06346C9A-108C-B141-813D-843AF3CECB9B}"/>
    <dgm:cxn modelId="{5A74FB53-4019-4BED-8ED6-1F2143314826}" type="presOf" srcId="{218CF26C-3B9E-EC4D-B017-A6EDD2D78F18}" destId="{CDA0A06D-0FB6-1E45-90C3-5F07AC6489BF}" srcOrd="0" destOrd="0" presId="urn:microsoft.com/office/officeart/2005/8/layout/cycle4#1"/>
    <dgm:cxn modelId="{B437992D-1351-4050-9216-53FFF818DCDD}" type="presOf" srcId="{74536227-6FB9-EA42-B0D1-89175BB10E79}" destId="{48FC8C78-AEC8-1E4B-9265-AE1BCBD2AB12}" srcOrd="0" destOrd="0" presId="urn:microsoft.com/office/officeart/2005/8/layout/cycle4#1"/>
    <dgm:cxn modelId="{6A30B4DB-6A9E-49C3-B74B-62B43530B00F}" type="presOf" srcId="{601FD3FE-0540-834F-BCAB-697B63FDDAF5}" destId="{82886FAE-83A2-704D-92D1-F4CC571A92A1}" srcOrd="0" destOrd="0" presId="urn:microsoft.com/office/officeart/2005/8/layout/cycle4#1"/>
    <dgm:cxn modelId="{BF163F2C-3959-4F14-BE9D-24802495320F}" type="presOf" srcId="{28315CB9-8304-2142-842C-3463531B3569}" destId="{8DC48612-CC3B-434C-BDCA-2D368136FE30}" srcOrd="1" destOrd="0" presId="urn:microsoft.com/office/officeart/2005/8/layout/cycle4#1"/>
    <dgm:cxn modelId="{1014AC31-BFCA-4C40-9E55-38A36284F8BC}" srcId="{54AC2B3A-9757-C341-B161-89A6E0CA9575}" destId="{601FD3FE-0540-834F-BCAB-697B63FDDAF5}" srcOrd="0" destOrd="0" parTransId="{7AC73AAD-48BD-0141-801C-7F03F555A865}" sibTransId="{2B5FD2A9-EFF7-224B-968B-602AA09A0E4E}"/>
    <dgm:cxn modelId="{6C02BD48-3982-4E2C-81CB-27CA2824A367}" type="presOf" srcId="{CE5F8666-70FC-564C-8B7D-337BE33E4106}" destId="{7378E5CD-5D97-4946-88A6-1649F23BF4FB}" srcOrd="1" destOrd="0" presId="urn:microsoft.com/office/officeart/2005/8/layout/cycle4#1"/>
    <dgm:cxn modelId="{D9EEC43D-B002-4DE8-A313-3CEBEC6F59AC}" type="presOf" srcId="{28315CB9-8304-2142-842C-3463531B3569}" destId="{EAF475D4-71BA-AC4A-A978-8E1A58675943}" srcOrd="0" destOrd="0" presId="urn:microsoft.com/office/officeart/2005/8/layout/cycle4#1"/>
    <dgm:cxn modelId="{738BB1DB-0337-46E3-9FEC-8F4D0395587B}" type="presParOf" srcId="{CDA0A06D-0FB6-1E45-90C3-5F07AC6489BF}" destId="{AE230A46-0396-8548-BFE6-7DE77B7F5698}" srcOrd="0" destOrd="0" presId="urn:microsoft.com/office/officeart/2005/8/layout/cycle4#1"/>
    <dgm:cxn modelId="{5979AEAB-40F1-4D69-B68A-BA52F006619E}" type="presParOf" srcId="{AE230A46-0396-8548-BFE6-7DE77B7F5698}" destId="{9355E2DA-ED4B-FF45-A420-CEC2FAD4F47F}" srcOrd="0" destOrd="0" presId="urn:microsoft.com/office/officeart/2005/8/layout/cycle4#1"/>
    <dgm:cxn modelId="{132D9B28-5E32-4048-BC28-DE439F005F98}" type="presParOf" srcId="{9355E2DA-ED4B-FF45-A420-CEC2FAD4F47F}" destId="{EAF475D4-71BA-AC4A-A978-8E1A58675943}" srcOrd="0" destOrd="0" presId="urn:microsoft.com/office/officeart/2005/8/layout/cycle4#1"/>
    <dgm:cxn modelId="{0B0066DD-DD45-4B91-9324-99BD64FC0E48}" type="presParOf" srcId="{9355E2DA-ED4B-FF45-A420-CEC2FAD4F47F}" destId="{8DC48612-CC3B-434C-BDCA-2D368136FE30}" srcOrd="1" destOrd="0" presId="urn:microsoft.com/office/officeart/2005/8/layout/cycle4#1"/>
    <dgm:cxn modelId="{5B5FA384-2C7A-4D95-BFD5-061BB4CF4B95}" type="presParOf" srcId="{AE230A46-0396-8548-BFE6-7DE77B7F5698}" destId="{36650470-D0B6-4E4B-B2CF-C9FC9D98A3AF}" srcOrd="1" destOrd="0" presId="urn:microsoft.com/office/officeart/2005/8/layout/cycle4#1"/>
    <dgm:cxn modelId="{68D0F4A6-F710-4676-91E0-54397B6B284D}" type="presParOf" srcId="{36650470-D0B6-4E4B-B2CF-C9FC9D98A3AF}" destId="{D6EE7FF3-03D5-1248-B164-AC203683EA31}" srcOrd="0" destOrd="0" presId="urn:microsoft.com/office/officeart/2005/8/layout/cycle4#1"/>
    <dgm:cxn modelId="{20FAD92E-EDC0-4A9F-A9C8-435EEC0C6D1C}" type="presParOf" srcId="{36650470-D0B6-4E4B-B2CF-C9FC9D98A3AF}" destId="{7378E5CD-5D97-4946-88A6-1649F23BF4FB}" srcOrd="1" destOrd="0" presId="urn:microsoft.com/office/officeart/2005/8/layout/cycle4#1"/>
    <dgm:cxn modelId="{248E7DD3-75BE-471E-9DD2-54C1970FDBAD}" type="presParOf" srcId="{AE230A46-0396-8548-BFE6-7DE77B7F5698}" destId="{079BE95B-2F90-7845-93AC-93020A91204D}" srcOrd="2" destOrd="0" presId="urn:microsoft.com/office/officeart/2005/8/layout/cycle4#1"/>
    <dgm:cxn modelId="{CA96F89D-F25C-4666-B7D1-287C83A3E600}" type="presParOf" srcId="{079BE95B-2F90-7845-93AC-93020A91204D}" destId="{F4B243E3-6A78-9746-BEE9-84ACAEA02E36}" srcOrd="0" destOrd="0" presId="urn:microsoft.com/office/officeart/2005/8/layout/cycle4#1"/>
    <dgm:cxn modelId="{29CCFEA9-28C6-4179-9DDF-D6D4A9913D60}" type="presParOf" srcId="{079BE95B-2F90-7845-93AC-93020A91204D}" destId="{28FF47C2-252F-AD4F-9FFC-C7380D031906}" srcOrd="1" destOrd="0" presId="urn:microsoft.com/office/officeart/2005/8/layout/cycle4#1"/>
    <dgm:cxn modelId="{1F2FC1D3-E053-4CA3-B29F-1C5C0C41A45B}" type="presParOf" srcId="{AE230A46-0396-8548-BFE6-7DE77B7F5698}" destId="{857D66DE-4C1F-C044-A0CF-897ECE7AFBB6}" srcOrd="3" destOrd="0" presId="urn:microsoft.com/office/officeart/2005/8/layout/cycle4#1"/>
    <dgm:cxn modelId="{0AA9497A-C306-4F35-90DD-A6FF00BA45FD}" type="presParOf" srcId="{857D66DE-4C1F-C044-A0CF-897ECE7AFBB6}" destId="{82886FAE-83A2-704D-92D1-F4CC571A92A1}" srcOrd="0" destOrd="0" presId="urn:microsoft.com/office/officeart/2005/8/layout/cycle4#1"/>
    <dgm:cxn modelId="{1A934115-4DF3-4590-8136-8520287FB179}" type="presParOf" srcId="{857D66DE-4C1F-C044-A0CF-897ECE7AFBB6}" destId="{946504B0-6F32-CA4D-B160-51F1CA3B2486}" srcOrd="1" destOrd="0" presId="urn:microsoft.com/office/officeart/2005/8/layout/cycle4#1"/>
    <dgm:cxn modelId="{838CF40B-892F-4082-B196-CFF521E2176A}" type="presParOf" srcId="{AE230A46-0396-8548-BFE6-7DE77B7F5698}" destId="{B36011C0-D512-5B43-AFFF-B5EF3477E6BC}" srcOrd="4" destOrd="0" presId="urn:microsoft.com/office/officeart/2005/8/layout/cycle4#1"/>
    <dgm:cxn modelId="{8EAF8F31-ECFB-431C-AE27-23E8612F1D06}" type="presParOf" srcId="{CDA0A06D-0FB6-1E45-90C3-5F07AC6489BF}" destId="{0176A4A2-93EB-3B4F-8E44-E15DD76601A9}" srcOrd="1" destOrd="0" presId="urn:microsoft.com/office/officeart/2005/8/layout/cycle4#1"/>
    <dgm:cxn modelId="{06511B9F-87B6-41D9-9AA3-5F3C044F2D7A}" type="presParOf" srcId="{0176A4A2-93EB-3B4F-8E44-E15DD76601A9}" destId="{0995DE62-81B9-0E4E-9982-90865C30B506}" srcOrd="0" destOrd="0" presId="urn:microsoft.com/office/officeart/2005/8/layout/cycle4#1"/>
    <dgm:cxn modelId="{1006DD86-F624-485A-BEB5-D493CF5A2296}" type="presParOf" srcId="{0176A4A2-93EB-3B4F-8E44-E15DD76601A9}" destId="{E56301CE-27B0-6744-BFE7-3637DF690F07}" srcOrd="1" destOrd="0" presId="urn:microsoft.com/office/officeart/2005/8/layout/cycle4#1"/>
    <dgm:cxn modelId="{484691A7-C708-4FE9-A554-7BE71C5C076E}" type="presParOf" srcId="{0176A4A2-93EB-3B4F-8E44-E15DD76601A9}" destId="{48FC8C78-AEC8-1E4B-9265-AE1BCBD2AB12}" srcOrd="2" destOrd="0" presId="urn:microsoft.com/office/officeart/2005/8/layout/cycle4#1"/>
    <dgm:cxn modelId="{8C077730-36C2-40D8-9AD3-08A301291E4D}" type="presParOf" srcId="{0176A4A2-93EB-3B4F-8E44-E15DD76601A9}" destId="{84C6FD03-EE72-914E-B7C9-68870374A795}" srcOrd="3" destOrd="0" presId="urn:microsoft.com/office/officeart/2005/8/layout/cycle4#1"/>
    <dgm:cxn modelId="{76CE9687-624F-4AAE-9B08-BB5D440986A2}" type="presParOf" srcId="{0176A4A2-93EB-3B4F-8E44-E15DD76601A9}" destId="{D6826F6B-04DC-E742-8F5F-D9B2D824E236}" srcOrd="4" destOrd="0" presId="urn:microsoft.com/office/officeart/2005/8/layout/cycle4#1"/>
    <dgm:cxn modelId="{B5499DB1-0F5C-446B-A74C-EFC8E5D23D58}" type="presParOf" srcId="{CDA0A06D-0FB6-1E45-90C3-5F07AC6489BF}" destId="{1A971C7A-02BC-2144-9C44-48A4E03337B1}" srcOrd="2" destOrd="0" presId="urn:microsoft.com/office/officeart/2005/8/layout/cycle4#1"/>
    <dgm:cxn modelId="{74270413-2F86-4B95-9F02-F0CBBC5AEFC8}" type="presParOf" srcId="{CDA0A06D-0FB6-1E45-90C3-5F07AC6489BF}" destId="{290E4CF8-E8EE-584A-BC6F-814759FDAB7A}" srcOrd="3" destOrd="0" presId="urn:microsoft.com/office/officeart/2005/8/layout/cycle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243E3-6A78-9746-BEE9-84ACAEA02E36}">
      <dsp:nvSpPr>
        <dsp:cNvPr id="0" name=""/>
        <dsp:cNvSpPr/>
      </dsp:nvSpPr>
      <dsp:spPr>
        <a:xfrm>
          <a:off x="5606456" y="2490473"/>
          <a:ext cx="2775541" cy="19291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00" tIns="36000" rIns="36000" bIns="36000" numCol="1" spcCol="1270" anchor="t" anchorCtr="0">
          <a:noAutofit/>
        </a:bodyPr>
        <a:lstStyle/>
        <a:p>
          <a:pPr marL="0" lvl="1" indent="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operational units and their interconnections that realize the architectural specifications</a:t>
          </a:r>
          <a:endParaRPr lang="en-US" sz="1400" kern="1200" dirty="0"/>
        </a:p>
      </dsp:txBody>
      <dsp:txXfrm>
        <a:off x="6481495" y="3015131"/>
        <a:ext cx="1858125" cy="1362091"/>
      </dsp:txXfrm>
    </dsp:sp>
    <dsp:sp modelId="{82886FAE-83A2-704D-92D1-F4CC571A92A1}">
      <dsp:nvSpPr>
        <dsp:cNvPr id="0" name=""/>
        <dsp:cNvSpPr/>
      </dsp:nvSpPr>
      <dsp:spPr>
        <a:xfrm>
          <a:off x="0" y="2353463"/>
          <a:ext cx="3463051" cy="22031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Hardware details transparent to the programmer, control signals, interfaces between the computer and peripherals, memory technology used</a:t>
          </a:r>
          <a:endParaRPr lang="en-US" sz="1400" kern="1200" dirty="0"/>
        </a:p>
      </dsp:txBody>
      <dsp:txXfrm>
        <a:off x="48396" y="2952646"/>
        <a:ext cx="2327344" cy="1555567"/>
      </dsp:txXfrm>
    </dsp:sp>
    <dsp:sp modelId="{D6EE7FF3-03D5-1248-B164-AC203683EA31}">
      <dsp:nvSpPr>
        <dsp:cNvPr id="0" name=""/>
        <dsp:cNvSpPr/>
      </dsp:nvSpPr>
      <dsp:spPr>
        <a:xfrm>
          <a:off x="5235639" y="6277"/>
          <a:ext cx="3311460" cy="15643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Instruction set, number of bits used to represent various data types,   I/O mechanisms, techniques for addressing memory</a:t>
          </a:r>
          <a:endParaRPr lang="en-US" sz="1400" kern="1200" dirty="0"/>
        </a:p>
      </dsp:txBody>
      <dsp:txXfrm>
        <a:off x="6263442" y="40642"/>
        <a:ext cx="2249292" cy="1104562"/>
      </dsp:txXfrm>
    </dsp:sp>
    <dsp:sp modelId="{EAF475D4-71BA-AC4A-A978-8E1A58675943}">
      <dsp:nvSpPr>
        <dsp:cNvPr id="0" name=""/>
        <dsp:cNvSpPr/>
      </dsp:nvSpPr>
      <dsp:spPr>
        <a:xfrm>
          <a:off x="0" y="228592"/>
          <a:ext cx="3194090" cy="16509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Attributes of a system visible to the programmer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Have a direct impact on the logical execution of a program</a:t>
          </a:r>
          <a:endParaRPr lang="en-US" sz="1400" kern="1200" dirty="0"/>
        </a:p>
      </dsp:txBody>
      <dsp:txXfrm>
        <a:off x="36267" y="264859"/>
        <a:ext cx="2163329" cy="1165711"/>
      </dsp:txXfrm>
    </dsp:sp>
    <dsp:sp modelId="{0995DE62-81B9-0E4E-9982-90865C30B506}">
      <dsp:nvSpPr>
        <dsp:cNvPr id="0" name=""/>
        <dsp:cNvSpPr/>
      </dsp:nvSpPr>
      <dsp:spPr>
        <a:xfrm>
          <a:off x="2107848" y="348898"/>
          <a:ext cx="2116814" cy="211681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  <a:effectLst/>
            </a:rPr>
            <a:t>Computer Architecture</a:t>
          </a:r>
          <a:endParaRPr lang="en-US" sz="1300" b="1" kern="1200" dirty="0">
            <a:solidFill>
              <a:schemeClr val="tx1"/>
            </a:solidFill>
            <a:effectLst/>
          </a:endParaRPr>
        </a:p>
      </dsp:txBody>
      <dsp:txXfrm>
        <a:off x="2727848" y="968898"/>
        <a:ext cx="1496814" cy="1496814"/>
      </dsp:txXfrm>
    </dsp:sp>
    <dsp:sp modelId="{E56301CE-27B0-6744-BFE7-3637DF690F07}">
      <dsp:nvSpPr>
        <dsp:cNvPr id="0" name=""/>
        <dsp:cNvSpPr/>
      </dsp:nvSpPr>
      <dsp:spPr>
        <a:xfrm rot="5400000">
          <a:off x="4322437" y="348898"/>
          <a:ext cx="2116814" cy="211681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smtClean="0">
              <a:solidFill>
                <a:schemeClr val="tx1"/>
              </a:solidFill>
              <a:effectLst/>
            </a:rPr>
            <a:t>Architectural attributes include:</a:t>
          </a:r>
          <a:endParaRPr lang="en-US" sz="1300" b="1" kern="1200" dirty="0">
            <a:solidFill>
              <a:schemeClr val="tx1"/>
            </a:solidFill>
            <a:effectLst/>
          </a:endParaRPr>
        </a:p>
      </dsp:txBody>
      <dsp:txXfrm rot="-5400000">
        <a:off x="4322437" y="968898"/>
        <a:ext cx="1496814" cy="1496814"/>
      </dsp:txXfrm>
    </dsp:sp>
    <dsp:sp modelId="{48FC8C78-AEC8-1E4B-9265-AE1BCBD2AB12}">
      <dsp:nvSpPr>
        <dsp:cNvPr id="0" name=""/>
        <dsp:cNvSpPr/>
      </dsp:nvSpPr>
      <dsp:spPr>
        <a:xfrm rot="10800000">
          <a:off x="4322437" y="2563487"/>
          <a:ext cx="2116814" cy="211681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smtClean="0">
              <a:solidFill>
                <a:schemeClr val="tx1"/>
              </a:solidFill>
              <a:effectLst/>
            </a:rPr>
            <a:t>Computer Organization </a:t>
          </a:r>
          <a:endParaRPr lang="en-US" sz="1300" b="1" kern="1200" dirty="0">
            <a:solidFill>
              <a:schemeClr val="tx1"/>
            </a:solidFill>
            <a:effectLst/>
          </a:endParaRPr>
        </a:p>
      </dsp:txBody>
      <dsp:txXfrm rot="10800000">
        <a:off x="4322437" y="2563487"/>
        <a:ext cx="1496814" cy="1496814"/>
      </dsp:txXfrm>
    </dsp:sp>
    <dsp:sp modelId="{84C6FD03-EE72-914E-B7C9-68870374A795}">
      <dsp:nvSpPr>
        <dsp:cNvPr id="0" name=""/>
        <dsp:cNvSpPr/>
      </dsp:nvSpPr>
      <dsp:spPr>
        <a:xfrm rot="16200000">
          <a:off x="2107848" y="2563487"/>
          <a:ext cx="2116814" cy="211681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smtClean="0">
              <a:solidFill>
                <a:schemeClr val="tx1"/>
              </a:solidFill>
              <a:effectLst/>
            </a:rPr>
            <a:t>Organizational attributes include:</a:t>
          </a:r>
          <a:endParaRPr lang="en-US" sz="1300" b="1" kern="1200" dirty="0">
            <a:solidFill>
              <a:schemeClr val="tx1"/>
            </a:solidFill>
            <a:effectLst/>
          </a:endParaRPr>
        </a:p>
      </dsp:txBody>
      <dsp:txXfrm rot="5400000">
        <a:off x="2727848" y="2563487"/>
        <a:ext cx="1496814" cy="1496814"/>
      </dsp:txXfrm>
    </dsp:sp>
    <dsp:sp modelId="{1A971C7A-02BC-2144-9C44-48A4E03337B1}">
      <dsp:nvSpPr>
        <dsp:cNvPr id="0" name=""/>
        <dsp:cNvSpPr/>
      </dsp:nvSpPr>
      <dsp:spPr>
        <a:xfrm>
          <a:off x="3908118" y="2074615"/>
          <a:ext cx="730863" cy="63553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E4CF8-E8EE-584A-BC6F-814759FDAB7A}">
      <dsp:nvSpPr>
        <dsp:cNvPr id="0" name=""/>
        <dsp:cNvSpPr/>
      </dsp:nvSpPr>
      <dsp:spPr>
        <a:xfrm rot="10800000">
          <a:off x="3908118" y="2319051"/>
          <a:ext cx="730863" cy="63553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charset="0"/>
                <a:ea typeface="굴림" charset="-127"/>
                <a:cs typeface="Times New Roman (Hebrew)" charset="-79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ea typeface="굴림" charset="-127"/>
                <a:cs typeface="Times New Roman (Hebrew)" charset="-79"/>
              </a:defRPr>
            </a:lvl1pPr>
          </a:lstStyle>
          <a:p>
            <a:pPr>
              <a:defRPr/>
            </a:pPr>
            <a:fld id="{E73E5095-F783-49AF-AB44-25DF7B0F4442}" type="datetime1">
              <a:rPr lang="en-US" altLang="ko-KR"/>
              <a:pPr>
                <a:defRPr/>
              </a:pPr>
              <a:t>3/15/2020</a:t>
            </a:fld>
            <a:endParaRPr lang="en-US" altLang="ko-KR"/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charset="0"/>
                <a:ea typeface="굴림" charset="-127"/>
                <a:cs typeface="Times New Roman (Hebrew)" charset="-79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 smtClean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9566543-2CF4-4DF5-9921-62E6835E53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charset="0"/>
                <a:ea typeface="굴림" charset="-127"/>
                <a:cs typeface="Times New Roman (Hebrew)" charset="-79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ea typeface="굴림" charset="-127"/>
                <a:cs typeface="Times New Roman (Hebrew)" charset="-79"/>
              </a:defRPr>
            </a:lvl1pPr>
          </a:lstStyle>
          <a:p>
            <a:pPr>
              <a:defRPr/>
            </a:pPr>
            <a:fld id="{163F6BC3-9833-4641-B5F5-EEFB4835C399}" type="datetime1">
              <a:rPr lang="en-US" altLang="ko-KR"/>
              <a:pPr>
                <a:defRPr/>
              </a:pPr>
              <a:t>3/15/2020</a:t>
            </a:fld>
            <a:endParaRPr lang="en-US" altLang="ko-K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3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373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charset="0"/>
                <a:ea typeface="굴림" charset="-127"/>
                <a:cs typeface="Times New Roman (Hebrew)" charset="-79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3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 smtClean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39436B6-E848-4667-AD4A-40A091C58D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 (Hebrew)" charset="-79"/>
      </a:defRPr>
    </a:lvl1pPr>
    <a:lvl2pPr marL="4572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 (Hebrew)" charset="-79"/>
      </a:defRPr>
    </a:lvl2pPr>
    <a:lvl3pPr marL="9144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 (Hebrew)" charset="-79"/>
      </a:defRPr>
    </a:lvl3pPr>
    <a:lvl4pPr marL="13716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 (Hebrew)" charset="-79"/>
      </a:defRPr>
    </a:lvl4pPr>
    <a:lvl5pPr marL="18288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 (Hebrew)" charset="-79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B6E92850-619B-477F-9206-23481DF25EDF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71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3536DE12-BF81-4990-B910-5EF9CD6A362E}" type="slidenum">
              <a:rPr kumimoji="0" lang="en-US" altLang="ko-KR"/>
              <a:pPr>
                <a:spcBef>
                  <a:spcPct val="0"/>
                </a:spcBef>
              </a:pPr>
              <a:t>1</a:t>
            </a:fld>
            <a:endParaRPr kumimoji="0" lang="en-US" altLang="ko-KR"/>
          </a:p>
        </p:txBody>
      </p:sp>
      <p:sp>
        <p:nvSpPr>
          <p:cNvPr id="7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  <a:cs typeface="Times New Roman (Hebrew)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11268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1E1D167E-4221-48EB-9101-995C76C2C0FE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11269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92434458-3E88-4611-A828-5C226E3E56D9}" type="slidenum">
              <a:rPr kumimoji="0" lang="en-US" altLang="ko-KR"/>
              <a:pPr>
                <a:spcBef>
                  <a:spcPct val="0"/>
                </a:spcBef>
              </a:pPr>
              <a:t>3</a:t>
            </a:fld>
            <a:endParaRPr kumimoji="0"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3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13316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B415ECB9-80FD-4035-8593-3D655DF3A75D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13317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5DBACDF7-7D18-4082-B1F0-796CB68E6A92}" type="slidenum">
              <a:rPr kumimoji="0" lang="en-US" altLang="ko-KR"/>
              <a:pPr>
                <a:spcBef>
                  <a:spcPct val="0"/>
                </a:spcBef>
              </a:pPr>
              <a:t>4</a:t>
            </a:fld>
            <a:endParaRPr kumimoji="0"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15364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86FAB994-DBCC-4130-88A0-8CED0AA63B4F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15365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94B0D8BB-DBC5-441F-9D47-72462D35847C}" type="slidenum">
              <a:rPr kumimoji="0" lang="en-US" altLang="ko-KR"/>
              <a:pPr>
                <a:spcBef>
                  <a:spcPct val="0"/>
                </a:spcBef>
              </a:pPr>
              <a:t>5</a:t>
            </a:fld>
            <a:endParaRPr kumimoji="0"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17412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5A9E0BAC-5EA8-40EA-9D33-7AD6CB0B9550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17413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750070A4-228F-463C-90E3-6D173B6FFBB8}" type="slidenum">
              <a:rPr kumimoji="0" lang="en-US" altLang="ko-KR"/>
              <a:pPr>
                <a:spcBef>
                  <a:spcPct val="0"/>
                </a:spcBef>
              </a:pPr>
              <a:t>6</a:t>
            </a:fld>
            <a:endParaRPr kumimoji="0"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945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19460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3739C2A1-2D81-4BC7-AE73-8E66075B696D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19461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96F8D8E7-8824-44F0-885C-98DF6F1C53BB}" type="slidenum">
              <a:rPr kumimoji="0" lang="en-US" altLang="ko-KR"/>
              <a:pPr>
                <a:spcBef>
                  <a:spcPct val="0"/>
                </a:spcBef>
              </a:pPr>
              <a:t>7</a:t>
            </a:fld>
            <a:endParaRPr kumimoji="0"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21508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7CC02D60-471A-4BA8-83DE-B80847C40F27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21509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5B0619B8-0CF9-400A-987B-59AD533EA889}" type="slidenum">
              <a:rPr kumimoji="0" lang="en-US" altLang="ko-KR"/>
              <a:pPr>
                <a:spcBef>
                  <a:spcPct val="0"/>
                </a:spcBef>
              </a:pPr>
              <a:t>8</a:t>
            </a:fld>
            <a:endParaRPr kumimoji="0"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C8780EA9-A513-4EB7-A89D-1774827AE5DA}" type="slidenum">
              <a:rPr kumimoji="0" lang="en-US" altLang="ko-KR"/>
              <a:pPr>
                <a:spcBef>
                  <a:spcPct val="0"/>
                </a:spcBef>
              </a:pPr>
              <a:t>9</a:t>
            </a:fld>
            <a:endParaRPr kumimoji="0" lang="en-US" altLang="ko-KR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271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C8780EA9-A513-4EB7-A89D-1774827AE5DA}" type="slidenum">
              <a:rPr kumimoji="0" lang="en-US" altLang="ko-KR"/>
              <a:pPr>
                <a:spcBef>
                  <a:spcPct val="0"/>
                </a:spcBef>
              </a:pPr>
              <a:t>10</a:t>
            </a:fld>
            <a:endParaRPr kumimoji="0" lang="en-US" altLang="ko-KR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43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40CFAC47-94FA-4636-BCD0-956926A9C5A5}" type="slidenum">
              <a:rPr kumimoji="0" lang="en-US" altLang="ko-KR"/>
              <a:pPr>
                <a:spcBef>
                  <a:spcPct val="0"/>
                </a:spcBef>
              </a:pPr>
              <a:t>11</a:t>
            </a:fld>
            <a:endParaRPr kumimoji="0" lang="en-US" altLang="ko-KR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239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7455CA3E-0B22-4DBB-A7AC-6FF8BBB4E100}" type="slidenum">
              <a:rPr kumimoji="0" lang="en-US" altLang="ko-KR"/>
              <a:pPr>
                <a:spcBef>
                  <a:spcPct val="0"/>
                </a:spcBef>
              </a:pPr>
              <a:t>12</a:t>
            </a:fld>
            <a:endParaRPr kumimoji="0" lang="en-US" altLang="ko-KR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251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3295EF3A-A544-4AE8-9CD9-3E57AADB551C}" type="slidenum">
              <a:rPr kumimoji="0" lang="en-US" altLang="ko-KR"/>
              <a:pPr>
                <a:spcBef>
                  <a:spcPct val="0"/>
                </a:spcBef>
              </a:pPr>
              <a:t>13</a:t>
            </a:fld>
            <a:endParaRPr kumimoji="0" lang="en-US" altLang="ko-KR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384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436FC928-616C-4AA7-BC29-3D3BE1F99086}" type="slidenum">
              <a:rPr kumimoji="0" lang="en-US" altLang="ko-KR"/>
              <a:pPr>
                <a:spcBef>
                  <a:spcPct val="0"/>
                </a:spcBef>
              </a:pPr>
              <a:t>14</a:t>
            </a:fld>
            <a:endParaRPr kumimoji="0" lang="en-US" altLang="ko-KR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075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DAE1107-0E62-4763-A426-2B99586E1A59}" type="slidenum">
              <a:rPr kumimoji="0" lang="en-US" altLang="ko-KR">
                <a:ea typeface="굴림" panose="020B0600000101010101" pitchFamily="50" charset="-127"/>
              </a:rPr>
              <a:pPr eaLnBrk="1" hangingPunct="1">
                <a:spcBef>
                  <a:spcPct val="0"/>
                </a:spcBef>
              </a:pPr>
              <a:t>15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156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74BB1B36-310E-4C68-B560-188AD60C548E}" type="slidenum">
              <a:rPr kumimoji="0" lang="en-US" altLang="ko-KR"/>
              <a:pPr>
                <a:spcBef>
                  <a:spcPct val="0"/>
                </a:spcBef>
              </a:pPr>
              <a:t>16</a:t>
            </a:fld>
            <a:endParaRPr kumimoji="0" lang="en-US" altLang="ko-KR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144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92441BA0-63F8-4483-B04D-BD218052EC13}" type="slidenum">
              <a:rPr kumimoji="0" lang="en-US" altLang="ko-KR"/>
              <a:pPr>
                <a:spcBef>
                  <a:spcPct val="0"/>
                </a:spcBef>
              </a:pPr>
              <a:t>17</a:t>
            </a:fld>
            <a:endParaRPr kumimoji="0" lang="en-US" altLang="ko-KR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41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703BAD87-D08B-4A01-A3C0-D9D269D4F75A}" type="slidenum">
              <a:rPr kumimoji="0" lang="en-US" altLang="ko-KR"/>
              <a:pPr>
                <a:spcBef>
                  <a:spcPct val="0"/>
                </a:spcBef>
              </a:pPr>
              <a:t>18</a:t>
            </a:fld>
            <a:endParaRPr kumimoji="0" lang="en-US" altLang="ko-KR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341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04FD6091-3A8C-4421-B1C7-AF730F004015}" type="slidenum">
              <a:rPr kumimoji="0" lang="en-US" altLang="ko-KR"/>
              <a:pPr>
                <a:spcBef>
                  <a:spcPct val="0"/>
                </a:spcBef>
              </a:pPr>
              <a:t>19</a:t>
            </a:fld>
            <a:endParaRPr kumimoji="0" lang="en-US" altLang="ko-KR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53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24ED6C33-CCDF-465A-8AE5-60B2D387D907}" type="slidenum">
              <a:rPr kumimoji="0" lang="en-US" altLang="ko-KR"/>
              <a:pPr>
                <a:spcBef>
                  <a:spcPct val="0"/>
                </a:spcBef>
              </a:pPr>
              <a:t>20</a:t>
            </a:fld>
            <a:endParaRPr kumimoji="0" lang="en-US" altLang="ko-KR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73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E8CA1F48-C14A-4410-B867-56CCC2139977}" type="slidenum">
              <a:rPr kumimoji="0" lang="en-US" altLang="ko-KR"/>
              <a:pPr>
                <a:spcBef>
                  <a:spcPct val="0"/>
                </a:spcBef>
              </a:pPr>
              <a:t>21</a:t>
            </a:fld>
            <a:endParaRPr kumimoji="0" lang="en-US" altLang="ko-KR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823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B48CC3FE-7154-49A9-9B9E-66E22554C186}" type="slidenum">
              <a:rPr kumimoji="0" lang="en-US" altLang="ko-KR"/>
              <a:pPr>
                <a:spcBef>
                  <a:spcPct val="0"/>
                </a:spcBef>
              </a:pPr>
              <a:t>22</a:t>
            </a:fld>
            <a:endParaRPr kumimoji="0" lang="en-US" altLang="ko-KR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7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8DB83F0C-EDC9-4830-8037-8E8A75E514D3}" type="slidenum">
              <a:rPr kumimoji="0" lang="en-US" altLang="ko-KR"/>
              <a:pPr>
                <a:spcBef>
                  <a:spcPct val="0"/>
                </a:spcBef>
              </a:pPr>
              <a:t>23</a:t>
            </a:fld>
            <a:endParaRPr kumimoji="0" lang="en-US" altLang="ko-KR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071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1366B622-C360-413A-A3AD-6E98AE4F7141}" type="slidenum">
              <a:rPr kumimoji="0" lang="en-US" altLang="ko-KR"/>
              <a:pPr>
                <a:spcBef>
                  <a:spcPct val="0"/>
                </a:spcBef>
              </a:pPr>
              <a:t>24</a:t>
            </a:fld>
            <a:endParaRPr kumimoji="0" lang="en-US" altLang="ko-KR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07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E612816F-17A6-4107-A047-6CAF7D5AD7A3}" type="slidenum">
              <a:rPr kumimoji="0" lang="en-US" altLang="ko-KR"/>
              <a:pPr>
                <a:spcBef>
                  <a:spcPct val="0"/>
                </a:spcBef>
              </a:pPr>
              <a:t>25</a:t>
            </a:fld>
            <a:endParaRPr kumimoji="0" lang="en-US" altLang="ko-KR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2438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441305D0-F20D-4D3F-8676-84FA2314720D}" type="slidenum">
              <a:rPr kumimoji="0" lang="en-US" altLang="ko-KR"/>
              <a:pPr>
                <a:spcBef>
                  <a:spcPct val="0"/>
                </a:spcBef>
              </a:pPr>
              <a:t>26</a:t>
            </a:fld>
            <a:endParaRPr kumimoji="0" lang="en-US" altLang="ko-KR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4553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B04BA80F-DC91-441C-AE53-E4DC658795C2}" type="slidenum">
              <a:rPr kumimoji="0" lang="en-US" altLang="ko-KR"/>
              <a:pPr>
                <a:spcBef>
                  <a:spcPct val="0"/>
                </a:spcBef>
              </a:pPr>
              <a:t>27</a:t>
            </a:fld>
            <a:endParaRPr kumimoji="0" lang="en-US" altLang="ko-KR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7044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34B3256F-BEC8-4005-BA7A-122A5B57232F}" type="slidenum">
              <a:rPr kumimoji="0" lang="en-US" altLang="ko-KR"/>
              <a:pPr>
                <a:spcBef>
                  <a:spcPct val="0"/>
                </a:spcBef>
              </a:pPr>
              <a:t>28</a:t>
            </a:fld>
            <a:endParaRPr kumimoji="0" lang="en-US" altLang="ko-KR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0977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642372DE-AE4B-4541-98AA-D4050623E3CB}" type="slidenum">
              <a:rPr kumimoji="0" lang="en-US" altLang="ko-KR"/>
              <a:pPr>
                <a:spcBef>
                  <a:spcPct val="0"/>
                </a:spcBef>
              </a:pPr>
              <a:t>29</a:t>
            </a:fld>
            <a:endParaRPr kumimoji="0" lang="en-US" altLang="ko-KR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7076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DFF10AFF-FD0A-4452-B63E-43478E409029}" type="slidenum">
              <a:rPr kumimoji="0" lang="en-US" altLang="ko-KR"/>
              <a:pPr>
                <a:spcBef>
                  <a:spcPct val="0"/>
                </a:spcBef>
              </a:pPr>
              <a:t>30</a:t>
            </a:fld>
            <a:endParaRPr kumimoji="0" lang="en-US" altLang="ko-KR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ko-KR" smtClean="0">
              <a:latin typeface="Arial" panose="020B0604020202020204" pitchFamily="34" charset="0"/>
              <a:ea typeface="굴림" panose="020B0600000101010101" pitchFamily="50" charset="-127"/>
              <a:cs typeface="Times New Roman (Hebrew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1750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45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64516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0C51BEFC-88CE-4ED3-A0C2-BE8C0FB66606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64517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38DDD90D-9CD3-4881-AD12-1C7E2CA4F170}" type="slidenum">
              <a:rPr kumimoji="0" lang="en-US" altLang="ko-KR"/>
              <a:pPr>
                <a:spcBef>
                  <a:spcPct val="0"/>
                </a:spcBef>
              </a:pPr>
              <a:t>31</a:t>
            </a:fld>
            <a:endParaRPr kumimoji="0" lang="en-US" altLang="ko-KR"/>
          </a:p>
        </p:txBody>
      </p:sp>
    </p:spTree>
    <p:extLst>
      <p:ext uri="{BB962C8B-B14F-4D97-AF65-F5344CB8AC3E}">
        <p14:creationId xmlns:p14="http://schemas.microsoft.com/office/powerpoint/2010/main" val="36938533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45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64516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25361061-D59C-4E10-B9D3-A8D664579B74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64517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803F5535-3056-40E9-A4F1-BF878EC930DC}" type="slidenum">
              <a:rPr kumimoji="0" lang="en-US" altLang="ko-KR"/>
              <a:pPr>
                <a:spcBef>
                  <a:spcPct val="0"/>
                </a:spcBef>
              </a:pPr>
              <a:t>32</a:t>
            </a:fld>
            <a:endParaRPr kumimoji="0" lang="en-US" altLang="ko-K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851275" y="9434513"/>
            <a:ext cx="29464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773" tIns="44386" rIns="88773" bIns="44386" anchor="b"/>
          <a:lstStyle>
            <a:lvl1pPr algn="r" defTabSz="887413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defTabSz="887413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defTabSz="887413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defTabSz="887413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defTabSz="887413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defTabSz="887413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defTabSz="887413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defTabSz="887413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defTabSz="887413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 rtl="0" eaLnBrk="1" latinLnBrk="1" hangingPunct="1">
              <a:spcBef>
                <a:spcPct val="0"/>
              </a:spcBef>
            </a:pPr>
            <a:fld id="{1072F13A-EE54-4975-AD86-52A0F2F6EDEB}" type="slidenum">
              <a:rPr lang="en-US" altLang="ko-KR">
                <a:latin typeface="Times New Roman" panose="02020603050405020304" pitchFamily="18" charset="0"/>
                <a:ea typeface="굴림" panose="020B0600000101010101" pitchFamily="50" charset="-127"/>
              </a:rPr>
              <a:pPr rtl="0" eaLnBrk="1" latinLnBrk="1" hangingPunct="1">
                <a:spcBef>
                  <a:spcPct val="0"/>
                </a:spcBef>
              </a:pPr>
              <a:t>33</a:t>
            </a:fld>
            <a:endParaRPr lang="en-US" altLang="ko-KR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4112" cy="3722687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4875"/>
            <a:ext cx="4984750" cy="44688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773" tIns="44386" rIns="88773" bIns="44386"/>
          <a:lstStyle/>
          <a:p>
            <a:r>
              <a:rPr lang="en-US" altLang="ko-KR" smtClean="0">
                <a:latin typeface="Arial" panose="020B0604020202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rPr>
              <a:t>Thank you for your attention.</a:t>
            </a:r>
          </a:p>
          <a:p>
            <a:endParaRPr lang="en-US" altLang="ko-KR" smtClean="0">
              <a:latin typeface="Arial" panose="020B0604020202020204" pitchFamily="34" charset="0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mtClean="0">
                <a:latin typeface="Arial" panose="020B0604020202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rPr>
              <a:t>Thank you. </a:t>
            </a:r>
          </a:p>
          <a:p>
            <a:endParaRPr lang="en-US" altLang="ko-KR" smtClean="0">
              <a:latin typeface="Arial" panose="020B0604020202020204" pitchFamily="34" charset="0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endParaRPr lang="ko-KR" altLang="en-US" smtClean="0">
              <a:latin typeface="Arial" panose="020B0604020202020204" pitchFamily="34" charset="0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eaLnBrk="1" hangingPunct="1"/>
            <a:endParaRPr lang="ko-KR" altLang="ko-KR" smtClean="0">
              <a:latin typeface="Arial" panose="020B0604020202020204" pitchFamily="34" charset="0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86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>
              <a:latin typeface="Arial" panose="020B0604020202020204" pitchFamily="34" charset="0"/>
              <a:cs typeface="Times New Roman (Hebrew)" charset="0"/>
            </a:endParaRPr>
          </a:p>
        </p:txBody>
      </p:sp>
      <p:sp>
        <p:nvSpPr>
          <p:cNvPr id="68612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63F02582-13ED-41B3-B534-A71A3672BD83}" type="datetime1">
              <a:rPr kumimoji="0" lang="en-US" altLang="ko-KR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3/15/2020</a:t>
            </a:fld>
            <a:endParaRPr kumimoji="0"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68613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1pPr>
            <a:lvl2pPr marL="742950" indent="-28575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2pPr>
            <a:lvl3pPr marL="11430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3pPr>
            <a:lvl4pPr marL="16002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4pPr>
            <a:lvl5pPr marL="2057400" indent="-228600" algn="r" rtl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</a:pPr>
            <a:fld id="{37C79909-FE4D-4D28-8E25-F102F4CCAD1A}" type="slidenum">
              <a:rPr kumimoji="0" lang="en-US" altLang="ko-KR"/>
              <a:pPr>
                <a:spcBef>
                  <a:spcPct val="0"/>
                </a:spcBef>
              </a:pPr>
              <a:t>34</a:t>
            </a:fld>
            <a:endParaRPr kumimoji="0"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5pPr>
                <a:lvl6pPr marL="25146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6pPr>
                <a:lvl7pPr marL="29718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7pPr>
                <a:lvl8pPr marL="34290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8pPr>
                <a:lvl9pPr marL="38862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9pPr>
              </a:lstStyle>
              <a:p>
                <a:pPr algn="ctr" rtl="1" eaLnBrk="1" hangingPunct="1">
                  <a:defRPr/>
                </a:pPr>
                <a:endParaRPr lang="ko-KR" altLang="en-US" smtClean="0">
                  <a:ea typeface="굴림" charset="-127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5pPr>
                <a:lvl6pPr marL="25146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6pPr>
                <a:lvl7pPr marL="29718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7pPr>
                <a:lvl8pPr marL="34290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8pPr>
                <a:lvl9pPr marL="38862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9pPr>
              </a:lstStyle>
              <a:p>
                <a:pPr algn="ctr" rtl="1" eaLnBrk="1" hangingPunct="1">
                  <a:defRPr/>
                </a:pPr>
                <a:endParaRPr lang="ko-KR" altLang="en-US" smtClean="0">
                  <a:ea typeface="굴림" charset="-127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5pPr>
                <a:lvl6pPr marL="25146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6pPr>
                <a:lvl7pPr marL="29718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7pPr>
                <a:lvl8pPr marL="34290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8pPr>
                <a:lvl9pPr marL="38862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9pPr>
              </a:lstStyle>
              <a:p>
                <a:pPr algn="ctr" rtl="1" eaLnBrk="1" hangingPunct="1">
                  <a:defRPr/>
                </a:pPr>
                <a:endParaRPr lang="ko-KR" altLang="en-US" smtClean="0">
                  <a:ea typeface="굴림" charset="-127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5pPr>
                <a:lvl6pPr marL="25146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6pPr>
                <a:lvl7pPr marL="29718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7pPr>
                <a:lvl8pPr marL="34290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8pPr>
                <a:lvl9pPr marL="3886200" indent="-228600" algn="ct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cs typeface="Times New Roman (Hebrew)" charset="-79"/>
                  </a:defRPr>
                </a:lvl9pPr>
              </a:lstStyle>
              <a:p>
                <a:pPr algn="ctr" rtl="1" eaLnBrk="1" hangingPunct="1">
                  <a:defRPr/>
                </a:pPr>
                <a:endParaRPr lang="ko-KR" altLang="en-US" smtClean="0">
                  <a:ea typeface="굴림" charset="-127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5pPr>
              <a:lvl6pPr marL="25146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6pPr>
              <a:lvl7pPr marL="29718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7pPr>
              <a:lvl8pPr marL="34290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8pPr>
              <a:lvl9pPr marL="38862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9pPr>
            </a:lstStyle>
            <a:p>
              <a:pPr algn="ctr" rtl="1" eaLnBrk="1" hangingPunct="1">
                <a:defRPr/>
              </a:pPr>
              <a:endParaRPr lang="ko-KR" altLang="en-US" smtClean="0">
                <a:ea typeface="굴림" charset="-127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5pPr>
              <a:lvl6pPr marL="25146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6pPr>
              <a:lvl7pPr marL="29718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7pPr>
              <a:lvl8pPr marL="34290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8pPr>
              <a:lvl9pPr marL="38862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9pPr>
            </a:lstStyle>
            <a:p>
              <a:pPr algn="ctr" rtl="1" eaLnBrk="1" hangingPunct="1">
                <a:defRPr/>
              </a:pPr>
              <a:endParaRPr lang="ko-KR" altLang="en-US" smtClean="0">
                <a:ea typeface="굴림" charset="-127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5pPr>
              <a:lvl6pPr marL="25146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6pPr>
              <a:lvl7pPr marL="29718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7pPr>
              <a:lvl8pPr marL="34290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8pPr>
              <a:lvl9pPr marL="38862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9pPr>
            </a:lstStyle>
            <a:p>
              <a:pPr algn="ctr" rtl="1" eaLnBrk="1" hangingPunct="1">
                <a:defRPr/>
              </a:pPr>
              <a:endParaRPr lang="ko-KR" altLang="en-US" smtClean="0">
                <a:ea typeface="굴림" charset="-127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6E58326-677F-4264-8FB9-691C5F2700E6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088934-EC52-44E6-8A61-4A7D78DADC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60557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793038" cy="838200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19200"/>
            <a:ext cx="7772400" cy="4913313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660A9-FBAF-4F30-8CD0-2E0977E11324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B6D71-C84E-4D63-B1C5-D438FF08FD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931494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505D3-4173-4445-8F26-C80CDE5A14A4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5BF25-80BB-48A2-A4FC-5D1C9570FD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812992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800600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768E2-4A0B-40C8-BEB5-BB27562D207A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73581-941B-400F-B3F2-241556D844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757877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81F42-F95E-4282-AA24-D8CCB24C6333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83AD5-9FE8-4D86-87E2-897B5EB507A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022506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3F038-486E-4D62-AA5B-1BC8862C7532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E905E-7B89-49C7-B000-32FDD8E1C9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00757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CCD7B-90A6-447A-9491-B9669B77FB83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1A131-644A-46E0-B836-82F50B9109E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000392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5552F-DBD0-418B-8F11-04B3DFFCE5B6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ED41B-3809-486B-AA3F-3C1230B522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519686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3E782-E65F-4D73-8430-2250D21D964C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E86C3-33DA-42B1-A51C-9F2880267E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414645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C6508-505D-47BC-B6C8-C0968034AE04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DDEA3-CFAD-4F17-B90D-A736C5CC535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371125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18325" y="617538"/>
            <a:ext cx="2025650" cy="55149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617538"/>
            <a:ext cx="5927725" cy="55149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9710B-AE2D-4644-A041-FFFC6CEEA5EA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C98A8-29D7-407C-8EDA-DC1E36B4BED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048651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33AFE-430A-4674-B67C-DE3017217BD3}" type="datetime1">
              <a:rPr lang="en-US"/>
              <a:pPr>
                <a:defRPr/>
              </a:pPr>
              <a:t>3/15/2020</a:t>
            </a:fld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
             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2A9AA2-7725-4B89-B2D3-5A8420073571}" type="slidenum">
              <a:rPr lang="ko-KR" altLang="ko-KR"/>
              <a:pPr>
                <a:defRPr/>
              </a:pPr>
              <a:t>‹#›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7417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42913" y="6413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ctr" eaLnBrk="1" hangingPunct="1">
              <a:defRPr/>
            </a:pPr>
            <a:endParaRPr kumimoji="1" lang="ko-KR" altLang="ko-KR" sz="2400" smtClean="0">
              <a:ea typeface="굴림" charset="-127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25500" y="6413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ctr" eaLnBrk="1" hangingPunct="1">
              <a:defRPr/>
            </a:pPr>
            <a:endParaRPr kumimoji="1" lang="ko-KR" altLang="ko-KR" sz="2400" smtClean="0">
              <a:ea typeface="굴림" charset="-127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66738" y="10636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ctr" eaLnBrk="1" hangingPunct="1">
              <a:defRPr/>
            </a:pPr>
            <a:endParaRPr kumimoji="1" lang="ko-KR" altLang="ko-KR" sz="2400" smtClean="0">
              <a:ea typeface="굴림" charset="-127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36625" y="10636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ctr" eaLnBrk="1" hangingPunct="1">
              <a:defRPr/>
            </a:pPr>
            <a:endParaRPr kumimoji="1" lang="ko-KR" altLang="ko-KR" sz="2400" smtClean="0">
              <a:ea typeface="굴림" charset="-127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52400" y="990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ctr" eaLnBrk="1" hangingPunct="1">
              <a:defRPr/>
            </a:pPr>
            <a:endParaRPr kumimoji="1" lang="ko-KR" altLang="ko-KR" sz="2400" smtClean="0">
              <a:ea typeface="굴림" charset="-127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874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ctr" eaLnBrk="1" hangingPunct="1">
              <a:defRPr/>
            </a:pPr>
            <a:endParaRPr kumimoji="1" lang="ko-KR" altLang="ko-KR" sz="2400" smtClean="0">
              <a:ea typeface="굴림" charset="-127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533400" y="11430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5pPr>
            <a:lvl6pPr marL="25146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6pPr>
            <a:lvl7pPr marL="29718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7pPr>
            <a:lvl8pPr marL="34290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8pPr>
            <a:lvl9pPr marL="3886200" indent="-228600" algn="ctr" rtl="1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 algn="ctr" eaLnBrk="1" hangingPunct="1">
              <a:defRPr/>
            </a:pPr>
            <a:endParaRPr kumimoji="1" lang="ko-KR" altLang="ko-KR" sz="2400" smtClean="0">
              <a:ea typeface="굴림" charset="-127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0"/>
            <a:ext cx="77930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295400"/>
            <a:ext cx="77724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defRPr sz="1400">
                <a:ea typeface="굴림" pitchFamily="50" charset="-127"/>
                <a:cs typeface="Times New Roman (Hebrew)" charset="-79"/>
              </a:defRPr>
            </a:lvl1pPr>
          </a:lstStyle>
          <a:p>
            <a:pPr>
              <a:defRPr/>
            </a:pPr>
            <a:fld id="{1E6372F1-73EE-4A16-BCD7-142F6D5E07CF}" type="datetime1">
              <a:rPr lang="ko-KR" altLang="en-US"/>
              <a:pPr>
                <a:defRPr/>
              </a:pPr>
              <a:t>2020-03-15</a:t>
            </a:fld>
            <a:endParaRPr lang="en-US" altLang="ko-KR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hangingPunct="1">
              <a:defRPr sz="1400">
                <a:ea typeface="굴림" pitchFamily="50" charset="-127"/>
                <a:cs typeface="Times New Roman (Hebrew)" charset="-79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 smtClean="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C4BC7B3-AF99-4707-A7B5-8CB3505CE0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9" r:id="rId12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cs typeface="Times New Roman (Hebrew)" charset="-79"/>
        </a:defRPr>
      </a:lvl9pPr>
    </p:titleStyle>
    <p:bodyStyle>
      <a:lvl1pPr marL="342900" indent="-34290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q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nfosec.pusan.ac.k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iscv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uterhistory.org/timeline/computer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antum_computing" TargetMode="External"/><Relationship Id="rId4" Type="http://schemas.openxmlformats.org/officeDocument/2006/relationships/hyperlink" Target="https://en.wikipedia.org/wiki/Computer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hyperlink" Target="../../../KISA.EXE" TargetMode="Externa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1676400"/>
            <a:ext cx="8191500" cy="1143000"/>
          </a:xfrm>
        </p:spPr>
        <p:txBody>
          <a:bodyPr/>
          <a:lstStyle/>
          <a:p>
            <a:pPr algn="ctr" eaLnBrk="1" hangingPunct="1"/>
            <a:r>
              <a:rPr lang="en-US" altLang="ko-KR" smtClean="0">
                <a:ea typeface="굴림" panose="020B0600000101010101" pitchFamily="50" charset="-127"/>
              </a:rPr>
              <a:t>Computer Architecture</a:t>
            </a:r>
            <a:br>
              <a:rPr lang="en-US" altLang="ko-KR" smtClean="0">
                <a:ea typeface="굴림" panose="020B0600000101010101" pitchFamily="50" charset="-127"/>
              </a:rPr>
            </a:br>
            <a:r>
              <a:rPr lang="en-US" altLang="ko-KR" sz="3200" smtClean="0">
                <a:ea typeface="굴림" panose="020B0600000101010101" pitchFamily="50" charset="-127"/>
              </a:rPr>
              <a:t>- Introduction - </a:t>
            </a:r>
            <a:endParaRPr lang="en-US" altLang="ko-KR" smtClean="0">
              <a:ea typeface="굴림" panose="020B0600000101010101" pitchFamily="50" charset="-127"/>
            </a:endParaRP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95800"/>
            <a:ext cx="6477000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000" dirty="0" err="1" smtClean="0">
                <a:ea typeface="굴림" panose="020B0600000101010101" pitchFamily="50" charset="-127"/>
              </a:rPr>
              <a:t>Howon</a:t>
            </a:r>
            <a:r>
              <a:rPr lang="en-US" altLang="ko-KR" sz="2000" dirty="0" smtClean="0">
                <a:ea typeface="굴림" panose="020B0600000101010101" pitchFamily="50" charset="-127"/>
              </a:rPr>
              <a:t> Kim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smtClean="0">
                <a:ea typeface="굴림" panose="020B0600000101010101" pitchFamily="50" charset="-127"/>
              </a:rPr>
              <a:t>2020.3.16</a:t>
            </a:r>
            <a:endParaRPr lang="en-US" altLang="ko-KR" sz="1000" dirty="0" smtClean="0">
              <a:ea typeface="굴림" panose="020B0600000101010101" pitchFamily="50" charset="-127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4089400" y="2794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Equation" r:id="rId4" imgW="435285" imgH="677109" progId="Equation.DSMT4">
                  <p:embed/>
                </p:oleObj>
              </mc:Choice>
              <mc:Fallback>
                <p:oleObj name="Equation" r:id="rId4" imgW="435285" imgH="67710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7940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4089400" y="2794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Equation" r:id="rId6" imgW="435285" imgH="677109" progId="Equation.DSMT4">
                  <p:embed/>
                </p:oleObj>
              </mc:Choice>
              <mc:Fallback>
                <p:oleObj name="Equation" r:id="rId6" imgW="435285" imgH="67710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7940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045B5C-DDDB-4853-9D3B-E2AAAAE3A5F7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ko-KR" sz="100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About this course…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8371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sz="2800" smtClean="0">
                <a:ea typeface="굴림" panose="020B0600000101010101" pitchFamily="50" charset="-127"/>
              </a:rPr>
              <a:t>Course name : computer architecture (CP26139)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ko-KR" sz="2400" smtClean="0">
                <a:solidFill>
                  <a:schemeClr val="folHlink"/>
                </a:solidFill>
                <a:ea typeface="굴림" panose="020B0600000101010101" pitchFamily="50" charset="-127"/>
              </a:rPr>
              <a:t>Study the basics on computer systems 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ko-KR" sz="1800" smtClean="0">
                <a:ea typeface="굴림" panose="020B0600000101010101" pitchFamily="50" charset="-127"/>
              </a:rPr>
              <a:t>Study the basic knowledge about computer systems including CPU, memory system, I/O device, and bus. Study cache, internal &amp; external memory, interconnection mechanism, computer arithmetic and CPU structure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ko-KR" sz="1800" smtClean="0">
                <a:ea typeface="굴림" panose="020B0600000101010101" pitchFamily="50" charset="-127"/>
              </a:rPr>
              <a:t>Also study RISC based CPU structure and control units of RISC and CISC systems</a:t>
            </a:r>
            <a:endParaRPr lang="ko-KR" altLang="ko-KR" sz="1800" smtClean="0">
              <a:ea typeface="굴림" panose="020B0600000101010101" pitchFamily="50" charset="-127"/>
            </a:endParaRPr>
          </a:p>
          <a:p>
            <a:pPr lvl="1">
              <a:lnSpc>
                <a:spcPct val="80000"/>
              </a:lnSpc>
              <a:buFontTx/>
              <a:buChar char="-"/>
            </a:pPr>
            <a:endParaRPr lang="en-US" altLang="ko-KR" sz="1800" smtClean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09DD18-DF98-41EE-9910-8BBC62AAE874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ko-KR" sz="10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About this course…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837113"/>
          </a:xfrm>
        </p:spPr>
        <p:txBody>
          <a:bodyPr/>
          <a:lstStyle/>
          <a:p>
            <a:r>
              <a:rPr lang="en-US" altLang="ko-KR" sz="2400" dirty="0" smtClean="0">
                <a:ea typeface="굴림" panose="020B0600000101010101" pitchFamily="50" charset="-127"/>
              </a:rPr>
              <a:t>What you can expect to get from this class 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to become conversant with computer architecture terms and concepts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to understand fundamental concepts in computer architecture and how they impact computer and application performance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rgbClr val="FF0000"/>
                </a:solidFill>
                <a:ea typeface="굴림" panose="020B0600000101010101" pitchFamily="50" charset="-127"/>
              </a:rPr>
              <a:t>to be able to read and evaluate architectural descriptions of even today’s most complex processors (i.e., Superscalar Processor, GPU, etc.)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to learn experimental techniques used to evaluate advanced architectural ideas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to understand current PC architecture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rgbClr val="FF0000"/>
                </a:solidFill>
                <a:ea typeface="굴림" panose="020B0600000101010101" pitchFamily="50" charset="-127"/>
              </a:rPr>
              <a:t>to understand current embedded processor architecture and embedded programming technique, etc. 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rgbClr val="FF0000"/>
                </a:solidFill>
                <a:ea typeface="굴림" panose="020B0600000101010101" pitchFamily="50" charset="-127"/>
              </a:rPr>
              <a:t>To understand “Quantum Computer” which is the next generation of the computer </a:t>
            </a:r>
          </a:p>
          <a:p>
            <a:pPr marL="457200" lvl="1" indent="0">
              <a:buNone/>
            </a:pPr>
            <a:endParaRPr lang="en-US" altLang="ko-KR" sz="2000" dirty="0" smtClean="0">
              <a:solidFill>
                <a:srgbClr val="FF0000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ko-KR" altLang="en-US" sz="20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066A5E-72FE-453E-AB3F-9B2548522729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ko-KR" sz="10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About this course…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80772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 dirty="0">
                <a:ea typeface="굴림" panose="020B0600000101010101" pitchFamily="50" charset="-127"/>
              </a:rPr>
              <a:t>About me…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2000" dirty="0">
                <a:solidFill>
                  <a:schemeClr val="folHlink"/>
                </a:solidFill>
                <a:ea typeface="굴림" panose="020B0600000101010101" pitchFamily="50" charset="-127"/>
              </a:rPr>
              <a:t>Office : A06-6503 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2000" dirty="0">
                <a:solidFill>
                  <a:schemeClr val="folHlink"/>
                </a:solidFill>
                <a:ea typeface="굴림" panose="020B0600000101010101" pitchFamily="50" charset="-127"/>
              </a:rPr>
              <a:t>Office hours :  Monday &amp; Wednesday</a:t>
            </a:r>
            <a:r>
              <a:rPr lang="en-US" altLang="ko-KR" sz="2000">
                <a:solidFill>
                  <a:schemeClr val="folHlink"/>
                </a:solidFill>
                <a:ea typeface="굴림" panose="020B0600000101010101" pitchFamily="50" charset="-127"/>
              </a:rPr>
              <a:t>, </a:t>
            </a: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12:00~13:00</a:t>
            </a:r>
            <a:endParaRPr lang="en-US" altLang="ko-KR" sz="2000" dirty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2000" dirty="0">
                <a:solidFill>
                  <a:schemeClr val="folHlink"/>
                </a:solidFill>
                <a:ea typeface="굴림" panose="020B0600000101010101" pitchFamily="50" charset="-127"/>
              </a:rPr>
              <a:t>Email: howonkim@pusan.ac.kr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2000" dirty="0">
                <a:solidFill>
                  <a:schemeClr val="folHlink"/>
                </a:solidFill>
                <a:ea typeface="굴림" panose="020B0600000101010101" pitchFamily="50" charset="-127"/>
              </a:rPr>
              <a:t>Phone: 010-8540-6336 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2000" dirty="0">
                <a:solidFill>
                  <a:schemeClr val="folHlink"/>
                </a:solidFill>
                <a:ea typeface="굴림" panose="020B0600000101010101" pitchFamily="50" charset="-127"/>
              </a:rPr>
              <a:t>http://infosec.pusan.ac.kr</a:t>
            </a:r>
          </a:p>
          <a:p>
            <a:pPr>
              <a:lnSpc>
                <a:spcPct val="90000"/>
              </a:lnSpc>
            </a:pPr>
            <a:r>
              <a:rPr lang="en-US" altLang="ko-KR" sz="2400" dirty="0">
                <a:ea typeface="굴림" panose="020B0600000101010101" pitchFamily="50" charset="-127"/>
              </a:rPr>
              <a:t>Current Major Interests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Cryptography &amp; Security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1800" dirty="0" err="1">
                <a:solidFill>
                  <a:srgbClr val="FF0000"/>
                </a:solidFill>
                <a:ea typeface="굴림" panose="020B0600000101010101" pitchFamily="50" charset="-127"/>
              </a:rPr>
              <a:t>Blockchain</a:t>
            </a: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 &amp; Its Security Issues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AI, </a:t>
            </a:r>
            <a:r>
              <a:rPr lang="en-US" altLang="ko-KR" sz="1800">
                <a:solidFill>
                  <a:srgbClr val="FF0000"/>
                </a:solidFill>
                <a:ea typeface="굴림" panose="020B0600000101010101" pitchFamily="50" charset="-127"/>
              </a:rPr>
              <a:t>Deep </a:t>
            </a:r>
            <a:r>
              <a:rPr lang="en-US" altLang="ko-KR" sz="1800" smtClean="0">
                <a:solidFill>
                  <a:srgbClr val="FF0000"/>
                </a:solidFill>
                <a:ea typeface="굴림" panose="020B0600000101010101" pitchFamily="50" charset="-127"/>
              </a:rPr>
              <a:t>Learning</a:t>
            </a:r>
            <a:endParaRPr lang="en-US" altLang="ko-KR" sz="1800" dirty="0">
              <a:solidFill>
                <a:srgbClr val="FF0000"/>
              </a:solidFill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FPGA &amp; ASIC chip </a:t>
            </a:r>
            <a:r>
              <a:rPr lang="en-US" altLang="ko-KR" sz="1800" dirty="0" smtClean="0">
                <a:solidFill>
                  <a:srgbClr val="FF0000"/>
                </a:solidFill>
                <a:ea typeface="굴림" panose="020B0600000101010101" pitchFamily="50" charset="-127"/>
              </a:rPr>
              <a:t>design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ko-KR" sz="1800" dirty="0" smtClean="0">
                <a:solidFill>
                  <a:srgbClr val="FF0000"/>
                </a:solidFill>
                <a:ea typeface="굴림" panose="020B0600000101010101" pitchFamily="50" charset="-127"/>
              </a:rPr>
              <a:t>Quantum Computer</a:t>
            </a:r>
            <a:endParaRPr lang="en-US" altLang="ko-KR" sz="1800" dirty="0">
              <a:solidFill>
                <a:srgbClr val="FF0000"/>
              </a:solidFill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ko-KR" altLang="en-US" sz="1800" dirty="0" err="1">
                <a:solidFill>
                  <a:schemeClr val="folHlink"/>
                </a:solidFill>
                <a:ea typeface="굴림" panose="020B0600000101010101" pitchFamily="50" charset="-127"/>
              </a:rPr>
              <a:t>과기정통부</a:t>
            </a:r>
            <a:r>
              <a:rPr lang="ko-KR" altLang="en-US" sz="1800" dirty="0">
                <a:solidFill>
                  <a:schemeClr val="folHlink"/>
                </a:solidFill>
                <a:ea typeface="굴림" panose="020B0600000101010101" pitchFamily="50" charset="-127"/>
              </a:rPr>
              <a:t> </a:t>
            </a:r>
            <a:r>
              <a:rPr lang="ko-KR" altLang="en-US" sz="1800" dirty="0" err="1">
                <a:solidFill>
                  <a:schemeClr val="folHlink"/>
                </a:solidFill>
                <a:ea typeface="굴림" panose="020B0600000101010101" pitchFamily="50" charset="-127"/>
              </a:rPr>
              <a:t>사물인터넷</a:t>
            </a:r>
            <a:r>
              <a:rPr lang="ko-KR" altLang="en-US" sz="1800" dirty="0">
                <a:solidFill>
                  <a:schemeClr val="folHlink"/>
                </a:solidFill>
                <a:ea typeface="굴림" panose="020B0600000101010101" pitchFamily="50" charset="-127"/>
              </a:rPr>
              <a:t> 연구센터</a:t>
            </a:r>
            <a:endParaRPr lang="en-US" altLang="ko-KR" sz="1800" dirty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ko-KR" altLang="en-US" sz="1800" dirty="0" err="1">
                <a:solidFill>
                  <a:schemeClr val="folHlink"/>
                </a:solidFill>
                <a:ea typeface="굴림" panose="020B0600000101010101" pitchFamily="50" charset="-127"/>
              </a:rPr>
              <a:t>과기정통부</a:t>
            </a:r>
            <a:r>
              <a:rPr lang="ko-KR" altLang="en-US" sz="1800" dirty="0">
                <a:solidFill>
                  <a:schemeClr val="folHlink"/>
                </a:solidFill>
                <a:ea typeface="굴림" panose="020B0600000101010101" pitchFamily="50" charset="-127"/>
              </a:rPr>
              <a:t> </a:t>
            </a:r>
            <a:r>
              <a:rPr lang="ko-KR" altLang="en-US" sz="1800" dirty="0" err="1">
                <a:solidFill>
                  <a:schemeClr val="folHlink"/>
                </a:solidFill>
                <a:ea typeface="굴림" panose="020B0600000101010101" pitchFamily="50" charset="-127"/>
              </a:rPr>
              <a:t>블록체인</a:t>
            </a:r>
            <a:r>
              <a:rPr lang="ko-KR" altLang="en-US" sz="1800" dirty="0">
                <a:solidFill>
                  <a:schemeClr val="folHlink"/>
                </a:solidFill>
                <a:ea typeface="굴림" panose="020B0600000101010101" pitchFamily="50" charset="-127"/>
              </a:rPr>
              <a:t> 보안 </a:t>
            </a:r>
            <a:r>
              <a:rPr lang="ko-KR" altLang="en-US" sz="1800" dirty="0" err="1">
                <a:solidFill>
                  <a:schemeClr val="folHlink"/>
                </a:solidFill>
                <a:ea typeface="굴림" panose="020B0600000101010101" pitchFamily="50" charset="-127"/>
              </a:rPr>
              <a:t>전문연구실</a:t>
            </a:r>
            <a:endParaRPr lang="en-US" altLang="ko-KR" sz="1800" dirty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ko-KR" altLang="en-US" sz="1800" dirty="0" err="1">
                <a:solidFill>
                  <a:schemeClr val="folHlink"/>
                </a:solidFill>
                <a:ea typeface="굴림" panose="020B0600000101010101" pitchFamily="50" charset="-127"/>
              </a:rPr>
              <a:t>과기정통부</a:t>
            </a:r>
            <a:r>
              <a:rPr lang="ko-KR" altLang="en-US" sz="1800" dirty="0">
                <a:solidFill>
                  <a:schemeClr val="folHlink"/>
                </a:solidFill>
                <a:ea typeface="굴림" panose="020B0600000101010101" pitchFamily="50" charset="-127"/>
              </a:rPr>
              <a:t> 양자컴퓨터 </a:t>
            </a:r>
            <a:r>
              <a:rPr lang="ko-KR" altLang="en-US" sz="1800">
                <a:solidFill>
                  <a:schemeClr val="folHlink"/>
                </a:solidFill>
                <a:ea typeface="굴림" panose="020B0600000101010101" pitchFamily="50" charset="-127"/>
              </a:rPr>
              <a:t>보안 </a:t>
            </a:r>
            <a:r>
              <a:rPr lang="ko-KR" altLang="en-US" sz="1800" smtClean="0">
                <a:solidFill>
                  <a:schemeClr val="folHlink"/>
                </a:solidFill>
                <a:ea typeface="굴림" panose="020B0600000101010101" pitchFamily="50" charset="-127"/>
              </a:rPr>
              <a:t>전문연구실 </a:t>
            </a:r>
            <a:endParaRPr lang="en-US" altLang="ko-KR" sz="1800" dirty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ko-KR" altLang="en-US" sz="1800" dirty="0">
                <a:solidFill>
                  <a:schemeClr val="folHlink"/>
                </a:solidFill>
                <a:ea typeface="굴림" panose="020B0600000101010101" pitchFamily="50" charset="-127"/>
              </a:rPr>
              <a:t>국가보안기술연구소</a:t>
            </a:r>
            <a:r>
              <a:rPr lang="en-US" altLang="ko-KR" sz="1800" dirty="0">
                <a:solidFill>
                  <a:schemeClr val="folHlink"/>
                </a:solidFill>
                <a:ea typeface="굴림" panose="020B0600000101010101" pitchFamily="50" charset="-127"/>
              </a:rPr>
              <a:t>, ETRI</a:t>
            </a:r>
            <a:r>
              <a:rPr lang="en-US" altLang="ko-KR" sz="1800">
                <a:solidFill>
                  <a:schemeClr val="folHlink"/>
                </a:solidFill>
                <a:ea typeface="굴림" panose="020B0600000101010101" pitchFamily="50" charset="-127"/>
              </a:rPr>
              <a:t>, </a:t>
            </a:r>
            <a:r>
              <a:rPr lang="en-US" altLang="ko-KR" sz="1800" smtClean="0">
                <a:solidFill>
                  <a:schemeClr val="folHlink"/>
                </a:solidFill>
                <a:ea typeface="굴림" panose="020B0600000101010101" pitchFamily="50" charset="-127"/>
              </a:rPr>
              <a:t>KISA, Virginia Tech</a:t>
            </a:r>
            <a:r>
              <a:rPr lang="ko-KR" altLang="en-US" sz="1800" smtClean="0">
                <a:solidFill>
                  <a:schemeClr val="folHlink"/>
                </a:solidFill>
                <a:ea typeface="굴림" panose="020B0600000101010101" pitchFamily="50" charset="-127"/>
              </a:rPr>
              <a:t>와 공동연구</a:t>
            </a:r>
            <a:endParaRPr lang="en-US" altLang="ko-KR" sz="1800" dirty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1C96BC-F3A1-47A8-90F7-86E27478B5D4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ko-KR" sz="10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About this course…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648201" y="1371600"/>
            <a:ext cx="4457700" cy="152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kern="0">
                <a:ea typeface="굴림" charset="-127"/>
              </a:rPr>
              <a:t>Course Materials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1800" b="1" kern="0" smtClean="0">
                <a:solidFill>
                  <a:srgbClr val="33CC33"/>
                </a:solidFill>
                <a:ea typeface="굴림" charset="-127"/>
              </a:rPr>
              <a:t>1.</a:t>
            </a:r>
            <a:r>
              <a:rPr lang="ko-KR" altLang="en-US" sz="1800" b="1" kern="0" smtClean="0">
                <a:solidFill>
                  <a:srgbClr val="33CC33"/>
                </a:solidFill>
                <a:ea typeface="굴림" charset="-127"/>
              </a:rPr>
              <a:t> </a:t>
            </a:r>
            <a:r>
              <a:rPr lang="en-US" altLang="ko-KR" sz="1800" b="1" kern="0" smtClean="0">
                <a:solidFill>
                  <a:srgbClr val="33CC33"/>
                </a:solidFill>
                <a:ea typeface="굴림" charset="-127"/>
              </a:rPr>
              <a:t>PLATO</a:t>
            </a:r>
            <a:endParaRPr lang="en-US" altLang="ko-KR" sz="1800" b="1" kern="0" smtClean="0">
              <a:solidFill>
                <a:srgbClr val="33CC33"/>
              </a:solidFill>
              <a:ea typeface="굴림" charset="-127"/>
              <a:hlinkClick r:id="rId3"/>
            </a:endParaRP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1800" kern="0" smtClean="0">
                <a:solidFill>
                  <a:schemeClr val="folHlink"/>
                </a:solidFill>
                <a:ea typeface="굴림" charset="-127"/>
                <a:hlinkClick r:id="rId3"/>
              </a:rPr>
              <a:t>2. </a:t>
            </a:r>
            <a:r>
              <a:rPr lang="ko-KR" altLang="en-US" sz="1800" kern="0" smtClean="0">
                <a:solidFill>
                  <a:schemeClr val="folHlink"/>
                </a:solidFill>
                <a:ea typeface="굴림" charset="-127"/>
                <a:hlinkClick r:id="rId3"/>
              </a:rPr>
              <a:t>추가 자료 </a:t>
            </a:r>
            <a:r>
              <a:rPr lang="en-US" altLang="ko-KR" sz="1800" kern="0" smtClean="0">
                <a:solidFill>
                  <a:schemeClr val="folHlink"/>
                </a:solidFill>
                <a:ea typeface="굴림" charset="-127"/>
                <a:hlinkClick r:id="rId3"/>
              </a:rPr>
              <a:t>http</a:t>
            </a:r>
            <a:r>
              <a:rPr lang="en-US" altLang="ko-KR" sz="1800" kern="0">
                <a:solidFill>
                  <a:schemeClr val="folHlink"/>
                </a:solidFill>
                <a:ea typeface="굴림" charset="-127"/>
                <a:hlinkClick r:id="rId3"/>
              </a:rPr>
              <a:t>://infosec.pusan.ac.kr</a:t>
            </a:r>
            <a:endParaRPr lang="en-US" altLang="ko-KR" sz="1800" kern="0">
              <a:solidFill>
                <a:schemeClr val="folHlink"/>
              </a:solidFill>
              <a:ea typeface="굴림" charset="-127"/>
            </a:endParaRPr>
          </a:p>
          <a:p>
            <a:pPr lvl="1">
              <a:buFontTx/>
              <a:buChar char="-"/>
              <a:defRPr/>
            </a:pPr>
            <a:endParaRPr lang="en-US" altLang="ko-KR" sz="1800" u="sng" kern="0" dirty="0">
              <a:solidFill>
                <a:schemeClr val="folHlink"/>
              </a:solidFill>
              <a:ea typeface="굴림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38200" y="4468283"/>
            <a:ext cx="7326077" cy="1856317"/>
            <a:chOff x="419100" y="3274483"/>
            <a:chExt cx="7326077" cy="1856317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9100" y="3274483"/>
              <a:ext cx="7326077" cy="18563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타원 13"/>
            <p:cNvSpPr/>
            <p:nvPr/>
          </p:nvSpPr>
          <p:spPr>
            <a:xfrm>
              <a:off x="571500" y="4495800"/>
              <a:ext cx="914400" cy="54768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1" eaLnBrk="1" hangingPunct="1">
                <a:defRPr/>
              </a:pPr>
              <a:endParaRPr lang="ko-KR" altLang="en-US">
                <a:solidFill>
                  <a:srgbClr val="FFFFFF"/>
                </a:solidFill>
                <a:ea typeface="굴림" pitchFamily="50" charset="-127"/>
              </a:endParaRPr>
            </a:p>
          </p:txBody>
        </p:sp>
      </p:grpSp>
      <p:cxnSp>
        <p:nvCxnSpPr>
          <p:cNvPr id="15" name="직선 화살표 연결선 14"/>
          <p:cNvCxnSpPr/>
          <p:nvPr/>
        </p:nvCxnSpPr>
        <p:spPr>
          <a:xfrm flipH="1">
            <a:off x="1886607" y="2715683"/>
            <a:ext cx="3828393" cy="297070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120119" y="1915180"/>
            <a:ext cx="4243919" cy="523220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altLang="ko-KR">
                <a:solidFill>
                  <a:srgbClr val="33CC33"/>
                </a:solidFill>
              </a:rPr>
              <a:t>https://</a:t>
            </a:r>
            <a:r>
              <a:rPr lang="en-US" altLang="ko-KR" smtClean="0">
                <a:solidFill>
                  <a:srgbClr val="33CC33"/>
                </a:solidFill>
              </a:rPr>
              <a:t>plato.pusan.ac.kr</a:t>
            </a:r>
            <a:endParaRPr lang="ko-KR" altLang="en-US">
              <a:solidFill>
                <a:srgbClr val="33CC33"/>
              </a:solidFill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4114800" y="2081212"/>
            <a:ext cx="924719" cy="95578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2F7FE4-FA1F-44B1-BEA0-AF46F07468EC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ko-KR" sz="10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About this course…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772400" cy="4837113"/>
          </a:xfrm>
        </p:spPr>
        <p:txBody>
          <a:bodyPr/>
          <a:lstStyle/>
          <a:p>
            <a:r>
              <a:rPr lang="en-US" altLang="ko-KR" sz="2400" dirty="0" smtClean="0">
                <a:ea typeface="굴림" panose="020B0600000101010101" pitchFamily="50" charset="-127"/>
              </a:rPr>
              <a:t>Textbook 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Computer Organization and Architecture : Designing for Performance, 10th Edition, W. Stallings, Prentice Hall, 2015</a:t>
            </a:r>
          </a:p>
          <a:p>
            <a:pPr lvl="1">
              <a:buFontTx/>
              <a:buChar char="-"/>
            </a:pPr>
            <a:r>
              <a:rPr lang="en-US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http://williamstallings.com/ComputerOrganization/</a:t>
            </a:r>
            <a:endParaRPr lang="ko-KR" altLang="ko-KR" sz="20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r>
              <a:rPr lang="en-US" altLang="ko-KR" sz="2400" dirty="0" smtClean="0">
                <a:ea typeface="굴림" panose="020B0600000101010101" pitchFamily="50" charset="-127"/>
              </a:rPr>
              <a:t>References</a:t>
            </a:r>
          </a:p>
          <a:p>
            <a:pPr lvl="1">
              <a:buFontTx/>
              <a:buChar char="-"/>
            </a:pPr>
            <a:r>
              <a:rPr lang="en-US" altLang="ko-KR" sz="18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Computer Organization and Design: The Hardware/Software Interface, Morgan Kaufmann3</a:t>
            </a:r>
            <a:r>
              <a:rPr lang="en-US" altLang="ko-KR" sz="1800" baseline="30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rd</a:t>
            </a:r>
            <a:r>
              <a:rPr lang="en-US" altLang="ko-KR" sz="18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 edition, 2007</a:t>
            </a:r>
          </a:p>
          <a:p>
            <a:r>
              <a:rPr lang="en-US" altLang="ko-KR" sz="2400" dirty="0" smtClean="0">
                <a:ea typeface="굴림" panose="020B0600000101010101" pitchFamily="50" charset="-127"/>
              </a:rPr>
              <a:t>Class time &amp; Classroom </a:t>
            </a:r>
          </a:p>
          <a:p>
            <a:pPr lvl="1">
              <a:buFontTx/>
              <a:buChar char="-"/>
            </a:pPr>
            <a:r>
              <a:rPr lang="en-US" altLang="ko-KR" sz="18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Monday, Wednesday </a:t>
            </a:r>
            <a:r>
              <a:rPr lang="en-US" altLang="ko-KR" sz="1800" smtClean="0">
                <a:solidFill>
                  <a:schemeClr val="folHlink"/>
                </a:solidFill>
                <a:ea typeface="굴림" panose="020B0600000101010101" pitchFamily="50" charset="-127"/>
              </a:rPr>
              <a:t>:  15:00~16:15 (75min), A6-514 </a:t>
            </a:r>
            <a:endParaRPr lang="ko-KR" altLang="en-US" sz="1800" dirty="0" smtClean="0">
              <a:solidFill>
                <a:srgbClr val="FF0000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ko-KR" altLang="en-US" sz="18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  <p:pic>
        <p:nvPicPr>
          <p:cNvPr id="1638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665663"/>
            <a:ext cx="1914525" cy="199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8" descr="http://ecx.images-amazon.com/images/I/51ZPjWFFNb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665663"/>
            <a:ext cx="16002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9F3EF5-8410-4E5B-81F1-9FBCCA2DF2B7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ko-KR" sz="10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About this course…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772400" cy="4837113"/>
          </a:xfrm>
        </p:spPr>
        <p:txBody>
          <a:bodyPr/>
          <a:lstStyle/>
          <a:p>
            <a:r>
              <a:rPr lang="en-US" altLang="ko-KR" sz="2800" smtClean="0">
                <a:ea typeface="굴림" panose="020B0600000101010101" pitchFamily="50" charset="-127"/>
              </a:rPr>
              <a:t>Detailed schedule on this class </a:t>
            </a:r>
          </a:p>
          <a:p>
            <a:pPr lvl="1">
              <a:buFontTx/>
              <a:buChar char="-"/>
            </a:pPr>
            <a:endParaRPr lang="en-US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US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US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58500" name="Group 132"/>
          <p:cNvGraphicFramePr>
            <a:graphicFrameLocks noGrp="1"/>
          </p:cNvGraphicFramePr>
          <p:nvPr/>
        </p:nvGraphicFramePr>
        <p:xfrm>
          <a:off x="533400" y="1600200"/>
          <a:ext cx="8305800" cy="5051420"/>
        </p:xfrm>
        <a:graphic>
          <a:graphicData uri="http://schemas.openxmlformats.org/drawingml/2006/table">
            <a:tbl>
              <a:tblPr rtl="1"/>
              <a:tblGrid>
                <a:gridCol w="300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범위 등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학습내용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주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CH1 &amp; 2, H/W #1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Introduction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CH3</a:t>
                      </a: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Computer Function and Interconnection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CH3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Computer Function and Interconnection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CH4, H/W #2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Cache Memory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Internal Memory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CH6, H/W #3</a:t>
                      </a: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External Memory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CH9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Computer Arithmetic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7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Midterm Exam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8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CH12,H/W #4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Processor Structure and Function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9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CH13</a:t>
                      </a: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Reduced Instruction Set Computers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CH13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Reduced Instruction Set Computers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23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CH16, H/W #5</a:t>
                      </a: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Control Unit Operation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CH17</a:t>
                      </a: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Micro-programmed Control</a:t>
                      </a:r>
                      <a:endParaRPr kumimoji="0" lang="ko-KR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23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CH17, H/W #6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Micro-programmed Control</a:t>
                      </a:r>
                      <a:endParaRPr kumimoji="0" lang="ko-KR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r>
                        <a:rPr kumimoji="0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Final Exam</a:t>
                      </a:r>
                      <a:endParaRPr kumimoji="0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1600200" algn="l"/>
                          <a:tab pos="1828800" algn="l"/>
                          <a:tab pos="2057400" algn="l"/>
                          <a:tab pos="2286000" algn="l"/>
                          <a:tab pos="2514600" algn="l"/>
                          <a:tab pos="2743200" algn="l"/>
                          <a:tab pos="2971800" algn="l"/>
                        </a:tabLst>
                      </a:pPr>
                      <a:endParaRPr kumimoji="0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E78EB2-BB25-4772-852E-16DECD2BF3E5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ko-KR" sz="10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About this course…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837113"/>
          </a:xfrm>
        </p:spPr>
        <p:txBody>
          <a:bodyPr/>
          <a:lstStyle/>
          <a:p>
            <a:r>
              <a:rPr lang="en-US" altLang="ko-KR" sz="2800" smtClean="0">
                <a:ea typeface="굴림" panose="020B0600000101010101" pitchFamily="50" charset="-127"/>
              </a:rPr>
              <a:t>Assessment</a:t>
            </a:r>
            <a:endParaRPr lang="en-US" altLang="ko-KR" sz="240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US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US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60521" name="Group 105"/>
          <p:cNvGraphicFramePr>
            <a:graphicFrameLocks noGrp="1"/>
          </p:cNvGraphicFramePr>
          <p:nvPr/>
        </p:nvGraphicFramePr>
        <p:xfrm>
          <a:off x="762000" y="1828800"/>
          <a:ext cx="7620000" cy="3654425"/>
        </p:xfrm>
        <a:graphic>
          <a:graphicData uri="http://schemas.openxmlformats.org/drawingml/2006/table">
            <a:tbl>
              <a:tblPr rtl="1"/>
              <a:tblGrid>
                <a:gridCol w="503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점 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항 목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출 석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중간고사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기말고사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15  (1 week delay: -20% penalty)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과제물 </a:t>
                      </a:r>
                      <a:endParaRPr kumimoji="0" lang="en-US" altLang="ko-K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굴림" pitchFamily="50" charset="-127"/>
                        <a:cs typeface="Times New Roman (Hebrew)" charset="-79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100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89FFE0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pitchFamily="50" charset="-127"/>
                          <a:cs typeface="Times New Roman (Hebrew)" charset="-79"/>
                        </a:rPr>
                        <a:t>합 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89FFE0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RISC-V Processor ! </a:t>
            </a:r>
            <a:endParaRPr lang="en-GB" altLang="ko-KR" dirty="0" smtClean="0">
              <a:ea typeface="굴림" panose="020B0600000101010101" pitchFamily="50" charset="-127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ko-KR" sz="2400" smtClean="0">
                <a:ea typeface="굴림" panose="020B0600000101010101" pitchFamily="50" charset="-127"/>
              </a:rPr>
              <a:t>Visit the following URL </a:t>
            </a:r>
            <a:endParaRPr lang="en-GB" altLang="ko-KR" sz="2400" dirty="0" smtClean="0"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RISC-V processor ? </a:t>
            </a:r>
            <a:endParaRPr lang="en-GB" altLang="ko-KR" sz="2000" dirty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2">
              <a:buFontTx/>
              <a:buChar char="-"/>
            </a:pPr>
            <a:r>
              <a:rPr lang="en-US" altLang="ko-KR" sz="1600" smtClean="0">
                <a:hlinkClick r:id="rId3"/>
              </a:rPr>
              <a:t>https</a:t>
            </a:r>
            <a:r>
              <a:rPr lang="en-US" altLang="ko-KR" sz="1600">
                <a:hlinkClick r:id="rId3"/>
              </a:rPr>
              <a:t>://riscv.org</a:t>
            </a:r>
            <a:r>
              <a:rPr lang="en-US" altLang="ko-KR" sz="1600" smtClean="0">
                <a:hlinkClick r:id="rId3"/>
              </a:rPr>
              <a:t>/</a:t>
            </a:r>
            <a:endParaRPr lang="en-GB" altLang="ko-KR" sz="16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29" y="2362200"/>
            <a:ext cx="6705600" cy="43238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85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dirty="0" smtClean="0">
                <a:ea typeface="굴림" panose="020B0600000101010101" pitchFamily="50" charset="-127"/>
              </a:rPr>
              <a:t>The History of Computer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ko-KR" sz="2400" dirty="0" smtClean="0">
                <a:ea typeface="굴림" panose="020B0600000101010101" pitchFamily="50" charset="-127"/>
              </a:rPr>
              <a:t>Read the following material ! </a:t>
            </a:r>
          </a:p>
          <a:p>
            <a:pPr lvl="1">
              <a:buFontTx/>
              <a:buChar char="-"/>
            </a:pPr>
            <a:r>
              <a:rPr lang="en-GB" altLang="ko-KR" sz="2000" dirty="0">
                <a:solidFill>
                  <a:schemeClr val="folHlink"/>
                </a:solidFill>
                <a:ea typeface="굴림" panose="020B0600000101010101" pitchFamily="50" charset="-127"/>
              </a:rPr>
              <a:t>Timeline of Computer history </a:t>
            </a:r>
          </a:p>
          <a:p>
            <a:pPr lvl="2">
              <a:buFontTx/>
              <a:buChar char="-"/>
            </a:pPr>
            <a:r>
              <a:rPr lang="en-GB" altLang="ko-KR" sz="1600" dirty="0" smtClean="0">
                <a:solidFill>
                  <a:schemeClr val="folHlink"/>
                </a:solidFill>
                <a:ea typeface="굴림" panose="020B0600000101010101" pitchFamily="50" charset="-127"/>
                <a:hlinkClick r:id="rId3"/>
              </a:rPr>
              <a:t>http://www.computerhistory.org/timeline/computers/</a:t>
            </a:r>
            <a:endParaRPr lang="en-GB" altLang="ko-KR" sz="16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GB" altLang="ko-KR" sz="20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r>
              <a:rPr lang="en-GB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The history of computer: </a:t>
            </a:r>
          </a:p>
          <a:p>
            <a:pPr lvl="2">
              <a:buFontTx/>
              <a:buChar char="-"/>
            </a:pPr>
            <a:r>
              <a:rPr lang="en-GB" altLang="ko-KR" sz="1600" dirty="0" smtClean="0">
                <a:solidFill>
                  <a:schemeClr val="folHlink"/>
                </a:solidFill>
                <a:ea typeface="굴림" panose="020B0600000101010101" pitchFamily="50" charset="-127"/>
                <a:hlinkClick r:id="rId4"/>
              </a:rPr>
              <a:t>https://en.wikipedia.org/wiki/Computer</a:t>
            </a:r>
            <a:endParaRPr lang="en-GB" altLang="ko-KR" sz="16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GB" altLang="ko-KR" sz="2000" dirty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r>
              <a:rPr lang="en-GB" altLang="ko-KR" sz="2000" dirty="0" smtClean="0">
                <a:solidFill>
                  <a:schemeClr val="folHlink"/>
                </a:solidFill>
                <a:ea typeface="굴림" panose="020B0600000101010101" pitchFamily="50" charset="-127"/>
              </a:rPr>
              <a:t>The quantum computer: </a:t>
            </a:r>
          </a:p>
          <a:p>
            <a:pPr lvl="2">
              <a:buFontTx/>
              <a:buChar char="-"/>
            </a:pPr>
            <a:r>
              <a:rPr lang="en-GB" altLang="ko-KR" sz="1600" dirty="0" smtClean="0">
                <a:solidFill>
                  <a:schemeClr val="folHlink"/>
                </a:solidFill>
                <a:ea typeface="굴림" panose="020B0600000101010101" pitchFamily="50" charset="-127"/>
                <a:hlinkClick r:id="rId5"/>
              </a:rPr>
              <a:t>https://en.wikipedia.org/wiki/Quantum_computing</a:t>
            </a:r>
            <a:endParaRPr lang="en-GB" altLang="ko-KR" sz="16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GB" altLang="ko-KR" sz="20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pPr lvl="1">
              <a:buFontTx/>
              <a:buChar char="-"/>
            </a:pPr>
            <a:endParaRPr lang="en-GB" altLang="ko-KR" sz="2000" dirty="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000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What is Computer Architecture 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ko-KR" sz="2400" smtClean="0">
                <a:ea typeface="굴림" panose="020B0600000101010101" pitchFamily="50" charset="-127"/>
              </a:rPr>
              <a:t>Hardware designer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</a:t>
            </a: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thinks about circuits, components, timing, functionality, ease of debugging</a:t>
            </a:r>
            <a:endParaRPr lang="en-GB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  <a:p>
            <a:r>
              <a:rPr lang="en-GB" altLang="ko-KR" sz="2400" smtClean="0">
                <a:ea typeface="굴림" panose="020B0600000101010101" pitchFamily="50" charset="-127"/>
              </a:rPr>
              <a:t>Computer architect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</a:t>
            </a: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thinks about high-level components, how they fit together, how they work together to deliver performance</a:t>
            </a:r>
          </a:p>
        </p:txBody>
      </p:sp>
    </p:spTree>
    <p:extLst>
      <p:ext uri="{BB962C8B-B14F-4D97-AF65-F5344CB8AC3E}">
        <p14:creationId xmlns:p14="http://schemas.microsoft.com/office/powerpoint/2010/main" val="321797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Why do I care 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smtClean="0">
                <a:ea typeface="굴림" panose="020B0600000101010101" pitchFamily="50" charset="-127"/>
              </a:rPr>
              <a:t>You may actually do computer architecture someday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You may actually care about software performance someday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The ability of application programs, compilers, operating systems, etc. to deliver performance </a:t>
            </a:r>
            <a:r>
              <a:rPr lang="en-US" altLang="ko-KR" sz="2000" smtClean="0">
                <a:solidFill>
                  <a:srgbClr val="FF0000"/>
                </a:solidFill>
                <a:ea typeface="굴림" panose="020B0600000101010101" pitchFamily="50" charset="-127"/>
              </a:rPr>
              <a:t>depends critically on an understanding of the underlying computer organization</a:t>
            </a:r>
          </a:p>
          <a:p>
            <a:pPr lvl="2">
              <a:buFontTx/>
              <a:buChar char="•"/>
            </a:pPr>
            <a:r>
              <a:rPr lang="en-US" altLang="ko-KR" sz="1800" smtClean="0">
                <a:solidFill>
                  <a:srgbClr val="990099"/>
                </a:solidFill>
                <a:ea typeface="굴림" panose="020B0600000101010101" pitchFamily="50" charset="-127"/>
              </a:rPr>
              <a:t>What does the option in GCC compiler mean ? </a:t>
            </a:r>
          </a:p>
          <a:p>
            <a:pPr lvl="2">
              <a:buFontTx/>
              <a:buChar char="•"/>
            </a:pPr>
            <a:r>
              <a:rPr lang="en-US" altLang="ko-KR" sz="1800" smtClean="0">
                <a:solidFill>
                  <a:srgbClr val="990099"/>
                </a:solidFill>
                <a:ea typeface="굴림" panose="020B0600000101010101" pitchFamily="50" charset="-127"/>
              </a:rPr>
              <a:t>For example, the -m</a:t>
            </a:r>
            <a:r>
              <a:rPr lang="en-US" altLang="ko-KR" sz="1800" smtClean="0">
                <a:solidFill>
                  <a:srgbClr val="33CC33"/>
                </a:solidFill>
                <a:ea typeface="굴림" panose="020B0600000101010101" pitchFamily="50" charset="-127"/>
              </a:rPr>
              <a:t>thumb</a:t>
            </a:r>
            <a:r>
              <a:rPr lang="en-US" altLang="ko-KR" sz="1800" smtClean="0">
                <a:solidFill>
                  <a:srgbClr val="990099"/>
                </a:solidFill>
                <a:ea typeface="굴림" panose="020B0600000101010101" pitchFamily="50" charset="-127"/>
              </a:rPr>
              <a:t> option for ARM-gcc. What does it  mean?</a:t>
            </a:r>
          </a:p>
          <a:p>
            <a:pPr lvl="2">
              <a:buFontTx/>
              <a:buChar char="•"/>
            </a:pPr>
            <a:endParaRPr lang="en-US" altLang="ko-KR" sz="1800" smtClean="0">
              <a:solidFill>
                <a:srgbClr val="990099"/>
              </a:solidFill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That becomes more true every year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Computer architectures become more difficult to understand every year</a:t>
            </a:r>
          </a:p>
        </p:txBody>
      </p:sp>
    </p:spTree>
    <p:extLst>
      <p:ext uri="{BB962C8B-B14F-4D97-AF65-F5344CB8AC3E}">
        <p14:creationId xmlns:p14="http://schemas.microsoft.com/office/powerpoint/2010/main" val="94652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Architecture &amp; Organization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ko-KR" sz="2400" smtClean="0">
                <a:solidFill>
                  <a:srgbClr val="FF0000"/>
                </a:solidFill>
                <a:ea typeface="굴림" panose="020B0600000101010101" pitchFamily="50" charset="-127"/>
              </a:rPr>
              <a:t>Architecture</a:t>
            </a:r>
            <a:r>
              <a:rPr lang="en-GB" altLang="ko-KR" sz="2400" smtClean="0">
                <a:solidFill>
                  <a:srgbClr val="990099"/>
                </a:solidFill>
                <a:ea typeface="굴림" panose="020B0600000101010101" pitchFamily="50" charset="-127"/>
              </a:rPr>
              <a:t> is</a:t>
            </a:r>
            <a:r>
              <a:rPr lang="en-GB" altLang="ko-KR" sz="2400" smtClean="0">
                <a:ea typeface="굴림" panose="020B0600000101010101" pitchFamily="50" charset="-127"/>
              </a:rPr>
              <a:t> those attributes </a:t>
            </a:r>
            <a:r>
              <a:rPr lang="en-GB" altLang="ko-KR" sz="2400" smtClean="0">
                <a:solidFill>
                  <a:srgbClr val="990099"/>
                </a:solidFill>
                <a:ea typeface="굴림" panose="020B0600000101010101" pitchFamily="50" charset="-127"/>
              </a:rPr>
              <a:t>visible to the programmer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Instruction set, number of bits used for data representation, I/O mechanisms, addressing techniques.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e.g. Is there a multiply instruction?</a:t>
            </a:r>
          </a:p>
          <a:p>
            <a:pPr>
              <a:lnSpc>
                <a:spcPct val="90000"/>
              </a:lnSpc>
            </a:pPr>
            <a:r>
              <a:rPr lang="en-GB" altLang="ko-KR" sz="2400" smtClean="0">
                <a:solidFill>
                  <a:srgbClr val="009900"/>
                </a:solidFill>
                <a:ea typeface="굴림" panose="020B0600000101010101" pitchFamily="50" charset="-127"/>
              </a:rPr>
              <a:t>Organization</a:t>
            </a:r>
            <a:r>
              <a:rPr lang="en-GB" altLang="ko-KR" sz="2400" smtClean="0">
                <a:solidFill>
                  <a:srgbClr val="990099"/>
                </a:solidFill>
                <a:ea typeface="굴림" panose="020B0600000101010101" pitchFamily="50" charset="-127"/>
              </a:rPr>
              <a:t> is how features are implemented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Control signals, interfaces, memory technology.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- e.g. Is there a hardware multiply unit or is it done by repeated addition?</a:t>
            </a:r>
          </a:p>
          <a:p>
            <a:pPr>
              <a:lnSpc>
                <a:spcPct val="90000"/>
              </a:lnSpc>
            </a:pPr>
            <a:r>
              <a:rPr lang="en-GB" altLang="ko-KR" sz="2400" smtClean="0">
                <a:ea typeface="굴림" panose="020B0600000101010101" pitchFamily="50" charset="-127"/>
              </a:rPr>
              <a:t>All Intel x86 family share the same basic </a:t>
            </a:r>
            <a:r>
              <a:rPr lang="en-GB" altLang="ko-KR" sz="2400" smtClean="0">
                <a:solidFill>
                  <a:srgbClr val="FF0000"/>
                </a:solidFill>
                <a:ea typeface="굴림" panose="020B0600000101010101" pitchFamily="50" charset="-127"/>
              </a:rPr>
              <a:t>architecture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GB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This gives code compatibility (at least backwards)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GB" altLang="ko-KR" sz="2000" smtClean="0">
                <a:solidFill>
                  <a:srgbClr val="009900"/>
                </a:solidFill>
                <a:ea typeface="굴림" panose="020B0600000101010101" pitchFamily="50" charset="-127"/>
              </a:rPr>
              <a:t>Organization</a:t>
            </a:r>
            <a:r>
              <a:rPr lang="en-GB" altLang="ko-KR" sz="2000" smtClean="0">
                <a:ea typeface="굴림" panose="020B0600000101010101" pitchFamily="50" charset="-127"/>
              </a:rPr>
              <a:t> differs between different versions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246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</p:nvPr>
        </p:nvGraphicFramePr>
        <p:xfrm>
          <a:off x="304800" y="1600200"/>
          <a:ext cx="85471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066800" y="304800"/>
            <a:ext cx="7793038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cs typeface="Times New Roman (Hebrew)" charset="-79"/>
              </a:defRPr>
            </a:lvl9pPr>
          </a:lstStyle>
          <a:p>
            <a:pPr>
              <a:defRPr/>
            </a:pPr>
            <a:r>
              <a:rPr lang="en-GB" altLang="ko-KR" kern="0" dirty="0" smtClean="0">
                <a:ea typeface="굴림" pitchFamily="50" charset="-127"/>
              </a:rPr>
              <a:t>Architecture &amp; Organization </a:t>
            </a:r>
          </a:p>
        </p:txBody>
      </p:sp>
    </p:spTree>
    <p:extLst>
      <p:ext uri="{BB962C8B-B14F-4D97-AF65-F5344CB8AC3E}">
        <p14:creationId xmlns:p14="http://schemas.microsoft.com/office/powerpoint/2010/main" val="13123356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Architecture &amp; Organization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19200"/>
            <a:ext cx="7772400" cy="4913313"/>
          </a:xfrm>
          <a:solidFill>
            <a:schemeClr val="bg1"/>
          </a:solidFill>
        </p:spPr>
        <p:txBody>
          <a:bodyPr/>
          <a:lstStyle/>
          <a:p>
            <a:r>
              <a:rPr lang="en-US" altLang="ko-KR" sz="2400" smtClean="0">
                <a:ea typeface="굴림" panose="020B0600000101010101" pitchFamily="50" charset="-127"/>
              </a:rPr>
              <a:t>For example, </a:t>
            </a:r>
          </a:p>
          <a:p>
            <a:pPr lvl="1"/>
            <a:r>
              <a:rPr lang="en-US" altLang="ko-KR" sz="2000" smtClean="0">
                <a:ea typeface="굴림" panose="020B0600000101010101" pitchFamily="50" charset="-127"/>
              </a:rPr>
              <a:t>It is an </a:t>
            </a:r>
            <a:r>
              <a:rPr lang="en-US" altLang="ko-KR" sz="2000" smtClean="0">
                <a:solidFill>
                  <a:srgbClr val="0000FF"/>
                </a:solidFill>
                <a:ea typeface="굴림" panose="020B0600000101010101" pitchFamily="50" charset="-127"/>
              </a:rPr>
              <a:t>architectural issue</a:t>
            </a:r>
            <a:r>
              <a:rPr lang="en-US" altLang="ko-KR" sz="2000" smtClean="0">
                <a:ea typeface="굴림" panose="020B0600000101010101" pitchFamily="50" charset="-127"/>
              </a:rPr>
              <a:t> </a:t>
            </a:r>
            <a:r>
              <a:rPr lang="en-US" altLang="ko-KR" sz="2000" smtClean="0">
                <a:solidFill>
                  <a:srgbClr val="990099"/>
                </a:solidFill>
                <a:ea typeface="굴림" panose="020B0600000101010101" pitchFamily="50" charset="-127"/>
              </a:rPr>
              <a:t>whether a computer will have a multiply instruction</a:t>
            </a:r>
          </a:p>
          <a:p>
            <a:pPr lvl="1"/>
            <a:r>
              <a:rPr lang="en-US" altLang="ko-KR" sz="2000" smtClean="0">
                <a:ea typeface="굴림" panose="020B0600000101010101" pitchFamily="50" charset="-127"/>
              </a:rPr>
              <a:t>It is an </a:t>
            </a:r>
            <a:r>
              <a:rPr lang="en-US" altLang="ko-KR" sz="2000" smtClean="0">
                <a:solidFill>
                  <a:srgbClr val="0000FF"/>
                </a:solidFill>
                <a:ea typeface="굴림" panose="020B0600000101010101" pitchFamily="50" charset="-127"/>
              </a:rPr>
              <a:t>organizational issue</a:t>
            </a:r>
            <a:r>
              <a:rPr lang="en-US" altLang="ko-KR" sz="2000" smtClean="0">
                <a:ea typeface="굴림" panose="020B0600000101010101" pitchFamily="50" charset="-127"/>
              </a:rPr>
              <a:t> </a:t>
            </a:r>
            <a:r>
              <a:rPr lang="en-US" altLang="ko-KR" sz="2000" smtClean="0">
                <a:solidFill>
                  <a:srgbClr val="990099"/>
                </a:solidFill>
                <a:ea typeface="굴림" panose="020B0600000101010101" pitchFamily="50" charset="-127"/>
              </a:rPr>
              <a:t>whether that instruction will be implemented by a special multiply unit or by a mechanism that makes repeated use of the add unit of the system</a:t>
            </a:r>
          </a:p>
          <a:p>
            <a:pPr lvl="1"/>
            <a:endParaRPr lang="en-US" altLang="ko-KR" sz="2000" smtClean="0">
              <a:solidFill>
                <a:srgbClr val="990099"/>
              </a:solidFill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GB" altLang="ko-KR" sz="2000" smtClean="0">
              <a:solidFill>
                <a:schemeClr val="folHlink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70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How to Speak Computer 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4800" y="1143000"/>
            <a:ext cx="2819400" cy="1143000"/>
          </a:xfrm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GB" altLang="ko-KR" sz="1600" smtClean="0">
                <a:solidFill>
                  <a:schemeClr val="folHlink"/>
                </a:solidFill>
                <a:ea typeface="굴림" panose="020B0600000101010101" pitchFamily="50" charset="-127"/>
              </a:rPr>
              <a:t>Temp = V[k];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ko-KR" sz="1600" smtClean="0">
                <a:solidFill>
                  <a:schemeClr val="folHlink"/>
                </a:solidFill>
                <a:ea typeface="굴림" panose="020B0600000101010101" pitchFamily="50" charset="-127"/>
              </a:rPr>
              <a:t>V[k] = V[k+1];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ko-KR" sz="1600" smtClean="0">
                <a:solidFill>
                  <a:schemeClr val="folHlink"/>
                </a:solidFill>
                <a:ea typeface="굴림" panose="020B0600000101010101" pitchFamily="50" charset="-127"/>
              </a:rPr>
              <a:t>V[k+1] = temp; </a:t>
            </a:r>
          </a:p>
        </p:txBody>
      </p:sp>
      <p:sp>
        <p:nvSpPr>
          <p:cNvPr id="32772" name="직사각형 3"/>
          <p:cNvSpPr>
            <a:spLocks noChangeArrowheads="1"/>
          </p:cNvSpPr>
          <p:nvPr/>
        </p:nvSpPr>
        <p:spPr bwMode="auto">
          <a:xfrm>
            <a:off x="609600" y="1676400"/>
            <a:ext cx="2819400" cy="646113"/>
          </a:xfrm>
          <a:prstGeom prst="rect">
            <a:avLst/>
          </a:prstGeom>
          <a:solidFill>
            <a:srgbClr val="FFFFCC"/>
          </a:solidFill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굴림" panose="020B0600000101010101" pitchFamily="50" charset="-127"/>
              </a:rPr>
              <a:t>High Level Language Program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sp>
        <p:nvSpPr>
          <p:cNvPr id="32773" name="직사각형 5"/>
          <p:cNvSpPr>
            <a:spLocks noChangeArrowheads="1"/>
          </p:cNvSpPr>
          <p:nvPr/>
        </p:nvSpPr>
        <p:spPr bwMode="auto">
          <a:xfrm>
            <a:off x="609600" y="2819400"/>
            <a:ext cx="2819400" cy="646113"/>
          </a:xfrm>
          <a:prstGeom prst="rect">
            <a:avLst/>
          </a:prstGeom>
          <a:solidFill>
            <a:srgbClr val="FFFFCC"/>
          </a:solidFill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굴림" panose="020B0600000101010101" pitchFamily="50" charset="-127"/>
              </a:rPr>
              <a:t>Assembly Language Program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sp>
        <p:nvSpPr>
          <p:cNvPr id="32774" name="직사각형 6"/>
          <p:cNvSpPr>
            <a:spLocks noChangeArrowheads="1"/>
          </p:cNvSpPr>
          <p:nvPr/>
        </p:nvSpPr>
        <p:spPr bwMode="auto">
          <a:xfrm>
            <a:off x="609600" y="3962400"/>
            <a:ext cx="2819400" cy="646113"/>
          </a:xfrm>
          <a:prstGeom prst="rect">
            <a:avLst/>
          </a:prstGeom>
          <a:solidFill>
            <a:srgbClr val="FFFFCC"/>
          </a:solidFill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굴림" panose="020B0600000101010101" pitchFamily="50" charset="-127"/>
              </a:rPr>
              <a:t>Machine Language Program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sp>
        <p:nvSpPr>
          <p:cNvPr id="32775" name="직사각형 7"/>
          <p:cNvSpPr>
            <a:spLocks noChangeArrowheads="1"/>
          </p:cNvSpPr>
          <p:nvPr/>
        </p:nvSpPr>
        <p:spPr bwMode="auto">
          <a:xfrm>
            <a:off x="609600" y="5105400"/>
            <a:ext cx="2819400" cy="646113"/>
          </a:xfrm>
          <a:prstGeom prst="rect">
            <a:avLst/>
          </a:prstGeom>
          <a:solidFill>
            <a:srgbClr val="FFFFCC"/>
          </a:solidFill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굴림" panose="020B0600000101010101" pitchFamily="50" charset="-127"/>
              </a:rPr>
              <a:t>Control Signal Spec.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cxnSp>
        <p:nvCxnSpPr>
          <p:cNvPr id="32776" name="직선 화살표 연결선 9"/>
          <p:cNvCxnSpPr>
            <a:cxnSpLocks noChangeShapeType="1"/>
            <a:stCxn id="32772" idx="2"/>
            <a:endCxn id="32773" idx="0"/>
          </p:cNvCxnSpPr>
          <p:nvPr/>
        </p:nvCxnSpPr>
        <p:spPr bwMode="auto">
          <a:xfrm rot="5400000">
            <a:off x="1772444" y="2570956"/>
            <a:ext cx="495300" cy="158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7" name="직선 화살표 연결선 10"/>
          <p:cNvCxnSpPr>
            <a:cxnSpLocks noChangeShapeType="1"/>
          </p:cNvCxnSpPr>
          <p:nvPr/>
        </p:nvCxnSpPr>
        <p:spPr bwMode="auto">
          <a:xfrm rot="5400000">
            <a:off x="1809750" y="3676650"/>
            <a:ext cx="496888" cy="158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8" name="직선 화살표 연결선 11"/>
          <p:cNvCxnSpPr>
            <a:cxnSpLocks noChangeShapeType="1"/>
          </p:cNvCxnSpPr>
          <p:nvPr/>
        </p:nvCxnSpPr>
        <p:spPr bwMode="auto">
          <a:xfrm rot="5400000">
            <a:off x="1809750" y="4895850"/>
            <a:ext cx="496888" cy="158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9" name="TextBox 12"/>
          <p:cNvSpPr txBox="1">
            <a:spLocks noChangeArrowheads="1"/>
          </p:cNvSpPr>
          <p:nvPr/>
        </p:nvSpPr>
        <p:spPr bwMode="auto">
          <a:xfrm>
            <a:off x="2209800" y="2438400"/>
            <a:ext cx="9810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ea typeface="굴림" panose="020B0600000101010101" pitchFamily="50" charset="-127"/>
              </a:rPr>
              <a:t>Compiler</a:t>
            </a:r>
            <a:endParaRPr lang="ko-KR" altLang="en-US" sz="1600">
              <a:ea typeface="굴림" panose="020B0600000101010101" pitchFamily="50" charset="-127"/>
            </a:endParaRPr>
          </a:p>
        </p:txBody>
      </p:sp>
      <p:sp>
        <p:nvSpPr>
          <p:cNvPr id="32780" name="TextBox 13"/>
          <p:cNvSpPr txBox="1">
            <a:spLocks noChangeArrowheads="1"/>
          </p:cNvSpPr>
          <p:nvPr/>
        </p:nvSpPr>
        <p:spPr bwMode="auto">
          <a:xfrm>
            <a:off x="2362200" y="3581400"/>
            <a:ext cx="11128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ea typeface="굴림" panose="020B0600000101010101" pitchFamily="50" charset="-127"/>
              </a:rPr>
              <a:t>Assembler</a:t>
            </a:r>
            <a:endParaRPr lang="ko-KR" altLang="en-US" sz="1600">
              <a:ea typeface="굴림" panose="020B0600000101010101" pitchFamily="50" charset="-127"/>
            </a:endParaRPr>
          </a:p>
        </p:txBody>
      </p:sp>
      <p:sp>
        <p:nvSpPr>
          <p:cNvPr id="32781" name="TextBox 14"/>
          <p:cNvSpPr txBox="1">
            <a:spLocks noChangeArrowheads="1"/>
          </p:cNvSpPr>
          <p:nvPr/>
        </p:nvSpPr>
        <p:spPr bwMode="auto">
          <a:xfrm>
            <a:off x="2209800" y="4724400"/>
            <a:ext cx="22431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ea typeface="굴림" panose="020B0600000101010101" pitchFamily="50" charset="-127"/>
              </a:rPr>
              <a:t>Machine Interpretation</a:t>
            </a:r>
            <a:endParaRPr lang="ko-KR" altLang="en-US" sz="1600">
              <a:ea typeface="굴림" panose="020B0600000101010101" pitchFamily="50" charset="-127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191000" y="2514600"/>
            <a:ext cx="2819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spcBef>
                <a:spcPct val="4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GB" altLang="ko-KR" sz="1600" kern="0" dirty="0" err="1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l</a:t>
            </a: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w $15, 0($2)</a:t>
            </a:r>
          </a:p>
          <a:p>
            <a:pPr marL="342900" indent="-342900">
              <a:spcBef>
                <a:spcPct val="4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GB" altLang="ko-KR" sz="1600" kern="0" dirty="0" err="1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lw</a:t>
            </a: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 $16, 4($2) </a:t>
            </a:r>
          </a:p>
          <a:p>
            <a:pPr marL="342900" indent="-342900">
              <a:spcBef>
                <a:spcPct val="4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GB" altLang="ko-KR" sz="1600" kern="0" dirty="0" err="1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sw</a:t>
            </a: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 $16, 0($2)</a:t>
            </a:r>
          </a:p>
          <a:p>
            <a:pPr marL="342900" indent="-342900">
              <a:spcBef>
                <a:spcPct val="4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GB" altLang="ko-KR" sz="1600" kern="0" dirty="0" err="1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s</a:t>
            </a: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w $15, 4($2)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4267200" y="3810000"/>
            <a:ext cx="4038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spcBef>
                <a:spcPct val="4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1000110001100010000000000...</a:t>
            </a:r>
          </a:p>
          <a:p>
            <a:pPr marL="342900" indent="-342900">
              <a:spcBef>
                <a:spcPct val="4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1000110011110010000000000...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343400" y="4953000"/>
            <a:ext cx="4038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spcBef>
                <a:spcPct val="4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ALUOP[0:3] &lt;= </a:t>
            </a:r>
            <a:r>
              <a:rPr lang="en-GB" altLang="ko-KR" sz="1600" kern="0" dirty="0" err="1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InstReg</a:t>
            </a:r>
            <a:r>
              <a:rPr lang="en-GB" altLang="ko-KR" sz="1600" kern="0" dirty="0">
                <a:solidFill>
                  <a:schemeClr val="folHlink"/>
                </a:solidFill>
                <a:latin typeface="+mn-lt"/>
                <a:ea typeface="굴림" pitchFamily="50" charset="-127"/>
                <a:cs typeface="+mn-cs"/>
              </a:rPr>
              <a:t>[9:11] &amp; MASK; </a:t>
            </a:r>
          </a:p>
        </p:txBody>
      </p:sp>
    </p:spTree>
    <p:extLst>
      <p:ext uri="{BB962C8B-B14F-4D97-AF65-F5344CB8AC3E}">
        <p14:creationId xmlns:p14="http://schemas.microsoft.com/office/powerpoint/2010/main" val="281450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Complex Computer System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800" smtClean="0">
                <a:ea typeface="굴림" panose="020B0600000101010101" pitchFamily="50" charset="-127"/>
              </a:rPr>
              <a:t>A computer is a complex system</a:t>
            </a:r>
          </a:p>
          <a:p>
            <a:pPr lvl="1"/>
            <a:r>
              <a:rPr lang="en-US" altLang="ko-KR" sz="2400" smtClean="0">
                <a:solidFill>
                  <a:srgbClr val="009900"/>
                </a:solidFill>
                <a:ea typeface="굴림" panose="020B0600000101010101" pitchFamily="50" charset="-127"/>
              </a:rPr>
              <a:t>Contemporary computers contain millions of Elementary electronic components</a:t>
            </a:r>
          </a:p>
          <a:p>
            <a:pPr lvl="1"/>
            <a:r>
              <a:rPr lang="en-US" altLang="ko-KR" sz="2400" smtClean="0">
                <a:solidFill>
                  <a:srgbClr val="009900"/>
                </a:solidFill>
                <a:ea typeface="굴림" panose="020B0600000101010101" pitchFamily="50" charset="-127"/>
              </a:rPr>
              <a:t>How can one clearly describe them?</a:t>
            </a:r>
          </a:p>
          <a:p>
            <a:pPr lvl="2"/>
            <a:r>
              <a:rPr lang="en-US" altLang="ko-KR" sz="2000" smtClean="0">
                <a:solidFill>
                  <a:srgbClr val="009900"/>
                </a:solidFill>
                <a:ea typeface="굴림" panose="020B0600000101010101" pitchFamily="50" charset="-127"/>
              </a:rPr>
              <a:t>The key is to recognize the hierarchical nature of most complex systems</a:t>
            </a:r>
          </a:p>
          <a:p>
            <a:r>
              <a:rPr lang="en-US" altLang="ko-KR" sz="2800" smtClean="0">
                <a:ea typeface="굴림" panose="020B0600000101010101" pitchFamily="50" charset="-127"/>
              </a:rPr>
              <a:t>The hierarchical nature of complex systems is essential to both their design and their description</a:t>
            </a:r>
          </a:p>
          <a:p>
            <a:pPr lvl="1"/>
            <a:r>
              <a:rPr lang="en-US" altLang="ko-KR" sz="2400" smtClean="0">
                <a:solidFill>
                  <a:srgbClr val="009900"/>
                </a:solidFill>
                <a:ea typeface="굴림" panose="020B0600000101010101" pitchFamily="50" charset="-127"/>
              </a:rPr>
              <a:t>The designer needs to only deal </a:t>
            </a:r>
            <a:r>
              <a:rPr lang="en-US" altLang="ko-KR" sz="2400" b="1" smtClean="0">
                <a:solidFill>
                  <a:srgbClr val="009900"/>
                </a:solidFill>
                <a:ea typeface="굴림" panose="020B0600000101010101" pitchFamily="50" charset="-127"/>
              </a:rPr>
              <a:t>with a particular level of the system at a time.</a:t>
            </a:r>
          </a:p>
          <a:p>
            <a:pPr lvl="1"/>
            <a:r>
              <a:rPr lang="en-US" altLang="ko-KR" sz="2400" smtClean="0">
                <a:solidFill>
                  <a:srgbClr val="009900"/>
                </a:solidFill>
                <a:ea typeface="굴림" panose="020B0600000101010101" pitchFamily="50" charset="-127"/>
              </a:rPr>
              <a:t>At each level, the designer is concerned with </a:t>
            </a:r>
            <a:r>
              <a:rPr lang="en-US" altLang="ko-KR" sz="2400" b="1" smtClean="0">
                <a:solidFill>
                  <a:srgbClr val="C00000"/>
                </a:solidFill>
                <a:ea typeface="굴림" panose="020B0600000101010101" pitchFamily="50" charset="-127"/>
              </a:rPr>
              <a:t>structure and function</a:t>
            </a:r>
          </a:p>
          <a:p>
            <a:pPr lvl="1"/>
            <a:endParaRPr lang="en-GB" altLang="ko-KR" sz="2400" smtClean="0">
              <a:solidFill>
                <a:srgbClr val="009900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491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Structure &amp; Function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ko-KR" sz="2800" smtClean="0">
                <a:solidFill>
                  <a:srgbClr val="009900"/>
                </a:solidFill>
                <a:ea typeface="굴림" panose="020B0600000101010101" pitchFamily="50" charset="-127"/>
              </a:rPr>
              <a:t>Structure</a:t>
            </a:r>
            <a:r>
              <a:rPr lang="en-GB" altLang="ko-KR" sz="2800" smtClean="0">
                <a:ea typeface="굴림" panose="020B0600000101010101" pitchFamily="50" charset="-127"/>
              </a:rPr>
              <a:t> is </a:t>
            </a:r>
            <a:r>
              <a:rPr lang="en-GB" altLang="ko-KR" sz="2800" smtClean="0">
                <a:solidFill>
                  <a:srgbClr val="0070C0"/>
                </a:solidFill>
                <a:ea typeface="굴림" panose="020B0600000101010101" pitchFamily="50" charset="-127"/>
              </a:rPr>
              <a:t>the way in which components relate to each other</a:t>
            </a:r>
          </a:p>
          <a:p>
            <a:r>
              <a:rPr lang="en-GB" altLang="ko-KR" sz="2800" smtClean="0">
                <a:ea typeface="굴림" panose="020B0600000101010101" pitchFamily="50" charset="-127"/>
              </a:rPr>
              <a:t>Function is </a:t>
            </a:r>
            <a:r>
              <a:rPr lang="en-GB" altLang="ko-KR" sz="2800" smtClean="0">
                <a:solidFill>
                  <a:srgbClr val="0070C0"/>
                </a:solidFill>
                <a:ea typeface="굴림" panose="020B0600000101010101" pitchFamily="50" charset="-127"/>
              </a:rPr>
              <a:t>the operation of individual components</a:t>
            </a:r>
            <a:r>
              <a:rPr lang="en-GB" altLang="ko-KR" sz="2800" smtClean="0">
                <a:ea typeface="굴림" panose="020B0600000101010101" pitchFamily="50" charset="-127"/>
              </a:rPr>
              <a:t> </a:t>
            </a:r>
            <a:r>
              <a:rPr lang="en-GB" altLang="ko-KR" sz="2800" smtClean="0">
                <a:solidFill>
                  <a:srgbClr val="009900"/>
                </a:solidFill>
                <a:ea typeface="굴림" panose="020B0600000101010101" pitchFamily="50" charset="-127"/>
              </a:rPr>
              <a:t>as part of the structure</a:t>
            </a:r>
          </a:p>
        </p:txBody>
      </p:sp>
    </p:spTree>
    <p:extLst>
      <p:ext uri="{BB962C8B-B14F-4D97-AF65-F5344CB8AC3E}">
        <p14:creationId xmlns:p14="http://schemas.microsoft.com/office/powerpoint/2010/main" val="263666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1" t="11363" r="23865" b="17046"/>
          <a:stretch>
            <a:fillRect/>
          </a:stretch>
        </p:blipFill>
        <p:spPr bwMode="auto">
          <a:xfrm>
            <a:off x="5562600" y="914400"/>
            <a:ext cx="319087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Function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All computer functions are:</a:t>
            </a:r>
          </a:p>
          <a:p>
            <a:pPr lvl="1">
              <a:buFont typeface="Tahoma" panose="020B0604030504040204" pitchFamily="34" charset="0"/>
              <a:buChar char="–"/>
            </a:pPr>
            <a:r>
              <a:rPr lang="en-GB" altLang="ko-KR" sz="2400" smtClean="0">
                <a:solidFill>
                  <a:schemeClr val="folHlink"/>
                </a:solidFill>
                <a:ea typeface="굴림" panose="020B0600000101010101" pitchFamily="50" charset="-127"/>
              </a:rPr>
              <a:t>Data processing</a:t>
            </a:r>
          </a:p>
          <a:p>
            <a:pPr lvl="1">
              <a:buFont typeface="Tahoma" panose="020B0604030504040204" pitchFamily="34" charset="0"/>
              <a:buChar char="–"/>
            </a:pPr>
            <a:r>
              <a:rPr lang="en-GB" altLang="ko-KR" sz="2400" smtClean="0">
                <a:solidFill>
                  <a:schemeClr val="folHlink"/>
                </a:solidFill>
                <a:ea typeface="굴림" panose="020B0600000101010101" pitchFamily="50" charset="-127"/>
              </a:rPr>
              <a:t>Data storage</a:t>
            </a:r>
          </a:p>
          <a:p>
            <a:pPr lvl="1">
              <a:buFont typeface="Tahoma" panose="020B0604030504040204" pitchFamily="34" charset="0"/>
              <a:buChar char="–"/>
            </a:pPr>
            <a:r>
              <a:rPr lang="en-GB" altLang="ko-KR" sz="2400" smtClean="0">
                <a:solidFill>
                  <a:schemeClr val="folHlink"/>
                </a:solidFill>
                <a:ea typeface="굴림" panose="020B0600000101010101" pitchFamily="50" charset="-127"/>
              </a:rPr>
              <a:t>Data movement</a:t>
            </a:r>
          </a:p>
          <a:p>
            <a:pPr lvl="1">
              <a:buFont typeface="Tahoma" panose="020B0604030504040204" pitchFamily="34" charset="0"/>
              <a:buChar char="–"/>
            </a:pPr>
            <a:r>
              <a:rPr lang="en-GB" altLang="ko-KR" sz="2400" smtClean="0">
                <a:solidFill>
                  <a:schemeClr val="folHlink"/>
                </a:solidFill>
                <a:ea typeface="굴림" panose="020B0600000101010101" pitchFamily="50" charset="-127"/>
              </a:rPr>
              <a:t>Control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28600" y="4343400"/>
            <a:ext cx="4953000" cy="15700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rtl="1" eaLnBrk="1" hangingPunct="1">
              <a:defRPr/>
            </a:pPr>
            <a:r>
              <a:rPr kumimoji="1" lang="en-US" altLang="ko-KR" sz="2400" dirty="0">
                <a:latin typeface="Times New Roman" pitchFamily="-109" charset="0"/>
                <a:cs typeface="Times New Roman (Hebrew)" charset="-79"/>
              </a:rPr>
              <a:t>The number of possible operations that</a:t>
            </a:r>
          </a:p>
          <a:p>
            <a:pPr algn="ctr" rtl="1" eaLnBrk="1" hangingPunct="1">
              <a:defRPr/>
            </a:pPr>
            <a:r>
              <a:rPr kumimoji="1" lang="en-US" altLang="ko-KR" sz="2400" dirty="0">
                <a:latin typeface="Times New Roman" pitchFamily="-109" charset="0"/>
                <a:cs typeface="Times New Roman (Hebrew)" charset="-79"/>
              </a:rPr>
              <a:t>can be performed is few. This figure depicts the four possible types of operations.</a:t>
            </a:r>
          </a:p>
        </p:txBody>
      </p:sp>
    </p:spTree>
    <p:extLst>
      <p:ext uri="{BB962C8B-B14F-4D97-AF65-F5344CB8AC3E}">
        <p14:creationId xmlns:p14="http://schemas.microsoft.com/office/powerpoint/2010/main" val="137610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noFill/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Operations - </a:t>
            </a:r>
            <a:r>
              <a:rPr lang="en-GB" altLang="ko-KR" sz="2800" smtClean="0">
                <a:ea typeface="굴림" panose="020B0600000101010101" pitchFamily="50" charset="-127"/>
              </a:rPr>
              <a:t>Data movement</a:t>
            </a:r>
          </a:p>
        </p:txBody>
      </p:sp>
      <p:pic>
        <p:nvPicPr>
          <p:cNvPr id="40963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5" t="6470" r="54846" b="58243"/>
          <a:stretch>
            <a:fillRect/>
          </a:stretch>
        </p:blipFill>
        <p:spPr bwMode="auto">
          <a:xfrm>
            <a:off x="457200" y="1295400"/>
            <a:ext cx="4238625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038600" y="1828800"/>
            <a:ext cx="4572000" cy="1938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rtl="1" eaLnBrk="1" hangingPunct="1">
              <a:defRPr/>
            </a:pPr>
            <a:r>
              <a:rPr kumimoji="1" lang="en-US" altLang="ko-KR" sz="2400">
                <a:latin typeface="Times New Roman" pitchFamily="18" charset="0"/>
                <a:ea typeface="굴림" charset="-127"/>
                <a:cs typeface="Times New Roman (Hebrew)" charset="-79"/>
              </a:rPr>
              <a:t>The computer can function as a data movement device, simply</a:t>
            </a:r>
          </a:p>
          <a:p>
            <a:pPr algn="ctr" rtl="1" eaLnBrk="1" hangingPunct="1">
              <a:defRPr/>
            </a:pPr>
            <a:r>
              <a:rPr kumimoji="1" lang="en-US" altLang="ko-KR" sz="2400">
                <a:latin typeface="Times New Roman" pitchFamily="18" charset="0"/>
                <a:ea typeface="굴림" charset="-127"/>
                <a:cs typeface="Times New Roman (Hebrew)" charset="-79"/>
              </a:rPr>
              <a:t>transferring data from one peripheral or communication line to another.</a:t>
            </a:r>
            <a:endParaRPr kumimoji="1" lang="en-GB" altLang="ko-KR" sz="2400">
              <a:latin typeface="Times New Roman" pitchFamily="18" charset="0"/>
              <a:ea typeface="굴림" charset="-127"/>
              <a:cs typeface="Times New Roman (Hebrew)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531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838200"/>
          </a:xfrm>
          <a:noFill/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Operations -</a:t>
            </a:r>
            <a:r>
              <a:rPr lang="en-GB" altLang="ko-KR" sz="2800" smtClean="0">
                <a:ea typeface="굴림" panose="020B0600000101010101" pitchFamily="50" charset="-127"/>
              </a:rPr>
              <a:t> Storage </a:t>
            </a:r>
          </a:p>
        </p:txBody>
      </p:sp>
      <p:pic>
        <p:nvPicPr>
          <p:cNvPr id="43011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70" t="6207" r="9694" b="58510"/>
          <a:stretch>
            <a:fillRect/>
          </a:stretch>
        </p:blipFill>
        <p:spPr bwMode="auto">
          <a:xfrm>
            <a:off x="153988" y="1125538"/>
            <a:ext cx="4418012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038600" y="1524000"/>
            <a:ext cx="4572000" cy="23082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rtl="1" eaLnBrk="1" hangingPunct="1">
              <a:defRPr/>
            </a:pPr>
            <a:r>
              <a:rPr kumimoji="1" lang="en-US" altLang="ko-KR" sz="2400">
                <a:latin typeface="Times New Roman" pitchFamily="18" charset="0"/>
                <a:ea typeface="굴림" charset="-127"/>
                <a:cs typeface="Times New Roman (Hebrew)" charset="-79"/>
              </a:rPr>
              <a:t>It can also function as a data storage device, with data transferred from</a:t>
            </a:r>
          </a:p>
          <a:p>
            <a:pPr algn="ctr" rtl="1" eaLnBrk="1" hangingPunct="1">
              <a:defRPr/>
            </a:pPr>
            <a:r>
              <a:rPr kumimoji="1" lang="en-US" altLang="ko-KR" sz="2400">
                <a:latin typeface="Times New Roman" pitchFamily="18" charset="0"/>
                <a:ea typeface="굴림" charset="-127"/>
                <a:cs typeface="Times New Roman (Hebrew)" charset="-79"/>
              </a:rPr>
              <a:t>the external environment to computer storage (read) and vice versa (write).</a:t>
            </a:r>
            <a:endParaRPr kumimoji="1" lang="en-GB" altLang="ko-KR" sz="2400">
              <a:latin typeface="Times New Roman" pitchFamily="18" charset="0"/>
              <a:ea typeface="굴림" charset="-127"/>
              <a:cs typeface="Times New Roman (Hebrew)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3684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Operation -</a:t>
            </a:r>
            <a:r>
              <a:rPr lang="en-GB" altLang="ko-KR" sz="2800" smtClean="0">
                <a:ea typeface="굴림" panose="020B0600000101010101" pitchFamily="50" charset="-127"/>
              </a:rPr>
              <a:t> Processing from/to storage </a:t>
            </a:r>
            <a:endParaRPr lang="en-GB" altLang="ko-KR" smtClean="0">
              <a:ea typeface="굴림" panose="020B0600000101010101" pitchFamily="50" charset="-127"/>
            </a:endParaRPr>
          </a:p>
        </p:txBody>
      </p:sp>
      <p:pic>
        <p:nvPicPr>
          <p:cNvPr id="45059" name="Picture 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2" t="50000" r="52945" b="13637"/>
          <a:stretch>
            <a:fillRect/>
          </a:stretch>
        </p:blipFill>
        <p:spPr bwMode="auto">
          <a:xfrm>
            <a:off x="152400" y="1042988"/>
            <a:ext cx="470535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267200" y="1371600"/>
            <a:ext cx="4572000" cy="8302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rtl="1" eaLnBrk="1" hangingPunct="1">
              <a:defRPr/>
            </a:pPr>
            <a:r>
              <a:rPr kumimoji="1" lang="en-US" altLang="ko-KR" sz="2400">
                <a:latin typeface="Times New Roman" pitchFamily="18" charset="0"/>
                <a:ea typeface="굴림" charset="-127"/>
                <a:cs typeface="Times New Roman (Hebrew)" charset="-79"/>
              </a:rPr>
              <a:t>It processes the data, which is in</a:t>
            </a:r>
          </a:p>
          <a:p>
            <a:pPr algn="ctr" rtl="1" eaLnBrk="1" hangingPunct="1">
              <a:defRPr/>
            </a:pPr>
            <a:r>
              <a:rPr kumimoji="1" lang="en-US" altLang="ko-KR" sz="2400">
                <a:latin typeface="Times New Roman" pitchFamily="18" charset="0"/>
                <a:ea typeface="굴림" charset="-127"/>
                <a:cs typeface="Times New Roman (Hebrew)" charset="-79"/>
              </a:rPr>
              <a:t>storage</a:t>
            </a:r>
            <a:endParaRPr kumimoji="1" lang="en-GB" altLang="ko-KR" sz="2400">
              <a:latin typeface="Times New Roman" pitchFamily="18" charset="0"/>
              <a:ea typeface="굴림" charset="-127"/>
              <a:cs typeface="Times New Roman (Hebrew)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6244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869238" cy="838200"/>
          </a:xfrm>
          <a:noFill/>
        </p:spPr>
        <p:txBody>
          <a:bodyPr/>
          <a:lstStyle/>
          <a:p>
            <a:r>
              <a:rPr lang="en-GB" altLang="ko-KR" smtClean="0">
                <a:ea typeface="굴림" panose="020B0600000101010101" pitchFamily="50" charset="-127"/>
              </a:rPr>
              <a:t>Operation - </a:t>
            </a:r>
            <a:r>
              <a:rPr lang="en-GB" altLang="ko-KR" sz="2800" smtClean="0">
                <a:ea typeface="굴림" panose="020B0600000101010101" pitchFamily="50" charset="-127"/>
              </a:rPr>
              <a:t>Processing from storage to I/O</a:t>
            </a:r>
          </a:p>
        </p:txBody>
      </p:sp>
      <p:pic>
        <p:nvPicPr>
          <p:cNvPr id="47107" name="Picture 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07" t="50000" r="7791" b="13637"/>
          <a:stretch>
            <a:fillRect/>
          </a:stretch>
        </p:blipFill>
        <p:spPr bwMode="auto">
          <a:xfrm>
            <a:off x="304800" y="1143000"/>
            <a:ext cx="45847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419600" y="1350963"/>
            <a:ext cx="4572000" cy="1200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rtl="1" eaLnBrk="1" hangingPunct="1">
              <a:defRPr/>
            </a:pPr>
            <a:r>
              <a:rPr kumimoji="1" lang="en-US" altLang="ko-KR" sz="2400" dirty="0">
                <a:latin typeface="Times New Roman" pitchFamily="-109" charset="0"/>
                <a:cs typeface="Times New Roman (Hebrew)" charset="-79"/>
              </a:rPr>
              <a:t>It functions as a route between storage and the external environment</a:t>
            </a:r>
          </a:p>
        </p:txBody>
      </p:sp>
    </p:spTree>
    <p:extLst>
      <p:ext uri="{BB962C8B-B14F-4D97-AF65-F5344CB8AC3E}">
        <p14:creationId xmlns:p14="http://schemas.microsoft.com/office/powerpoint/2010/main" val="361110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000" tIns="46800" rIns="90000" bIns="46800"/>
          <a:lstStyle/>
          <a:p>
            <a:r>
              <a:rPr lang="en-GB" altLang="ko-KR" smtClean="0">
                <a:ea typeface="굴림" panose="020B0600000101010101" pitchFamily="50" charset="-127"/>
              </a:rPr>
              <a:t>Computer </a:t>
            </a:r>
            <a:r>
              <a:rPr lang="en-GB" altLang="ko-KR" sz="3200" smtClean="0">
                <a:ea typeface="굴림" panose="020B0600000101010101" pitchFamily="50" charset="-127"/>
              </a:rPr>
              <a:t>– External/Internal View</a:t>
            </a:r>
            <a:endParaRPr lang="en-GB" altLang="ko-KR" sz="2800" smtClean="0">
              <a:ea typeface="굴림" panose="020B0600000101010101" pitchFamily="50" charset="-127"/>
            </a:endParaRPr>
          </a:p>
        </p:txBody>
      </p:sp>
      <p:pic>
        <p:nvPicPr>
          <p:cNvPr id="49155" name="Picture 3" descr="f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21819" b="14545"/>
          <a:stretch>
            <a:fillRect/>
          </a:stretch>
        </p:blipFill>
        <p:spPr bwMode="auto">
          <a:xfrm>
            <a:off x="23813" y="1447800"/>
            <a:ext cx="5843587" cy="545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직사각형 1"/>
          <p:cNvSpPr>
            <a:spLocks noChangeArrowheads="1"/>
          </p:cNvSpPr>
          <p:nvPr/>
        </p:nvSpPr>
        <p:spPr bwMode="auto">
          <a:xfrm>
            <a:off x="4319588" y="1143000"/>
            <a:ext cx="4572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This is the simplest possible depiction of a computer. 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The computer interacts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in some fashion with its external environment.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In general, all of its linkages to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the external environment can be classified as peripheral devices or communication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lines. 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We will have something to say about both types of linkages.</a:t>
            </a:r>
            <a:endParaRPr lang="en-US" altLang="ko-KR" sz="200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22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000" tIns="46800" rIns="90000" bIns="46800"/>
          <a:lstStyle/>
          <a:p>
            <a:r>
              <a:rPr lang="en-GB" altLang="ko-KR" smtClean="0">
                <a:ea typeface="굴림" panose="020B0600000101010101" pitchFamily="50" charset="-127"/>
              </a:rPr>
              <a:t>Structure - </a:t>
            </a:r>
            <a:r>
              <a:rPr lang="en-GB" altLang="ko-KR" sz="2800" smtClean="0">
                <a:ea typeface="굴림" panose="020B0600000101010101" pitchFamily="50" charset="-127"/>
              </a:rPr>
              <a:t>Top Level</a:t>
            </a:r>
          </a:p>
        </p:txBody>
      </p:sp>
      <p:grpSp>
        <p:nvGrpSpPr>
          <p:cNvPr id="51203" name="그룹 2"/>
          <p:cNvGrpSpPr>
            <a:grpSpLocks/>
          </p:cNvGrpSpPr>
          <p:nvPr/>
        </p:nvGrpSpPr>
        <p:grpSpPr bwMode="auto">
          <a:xfrm>
            <a:off x="512763" y="1649413"/>
            <a:ext cx="5348287" cy="2743200"/>
            <a:chOff x="138113" y="2057400"/>
            <a:chExt cx="8472487" cy="4648200"/>
          </a:xfrm>
        </p:grpSpPr>
        <p:sp>
          <p:nvSpPr>
            <p:cNvPr id="51206" name="Oval 5" descr="50%"/>
            <p:cNvSpPr>
              <a:spLocks noChangeArrowheads="1"/>
            </p:cNvSpPr>
            <p:nvPr/>
          </p:nvSpPr>
          <p:spPr bwMode="auto">
            <a:xfrm>
              <a:off x="3886200" y="2057400"/>
              <a:ext cx="4724400" cy="4648200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ko-KR" sz="160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207" name="Oval 9"/>
            <p:cNvSpPr>
              <a:spLocks noChangeArrowheads="1"/>
            </p:cNvSpPr>
            <p:nvPr/>
          </p:nvSpPr>
          <p:spPr bwMode="auto">
            <a:xfrm>
              <a:off x="5410200" y="3581400"/>
              <a:ext cx="1524000" cy="152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800">
                <a:ea typeface="굴림" panose="020B0600000101010101" pitchFamily="50" charset="-127"/>
              </a:endParaRPr>
            </a:p>
          </p:txBody>
        </p:sp>
        <p:sp>
          <p:nvSpPr>
            <p:cNvPr id="51208" name="Oval 6"/>
            <p:cNvSpPr>
              <a:spLocks noChangeArrowheads="1"/>
            </p:cNvSpPr>
            <p:nvPr/>
          </p:nvSpPr>
          <p:spPr bwMode="auto">
            <a:xfrm>
              <a:off x="4648200" y="2743200"/>
              <a:ext cx="1371600" cy="1371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800">
                <a:ea typeface="굴림" panose="020B0600000101010101" pitchFamily="50" charset="-127"/>
              </a:endParaRPr>
            </a:p>
          </p:txBody>
        </p:sp>
        <p:sp>
          <p:nvSpPr>
            <p:cNvPr id="51209" name="Oval 4"/>
            <p:cNvSpPr>
              <a:spLocks noChangeArrowheads="1"/>
            </p:cNvSpPr>
            <p:nvPr/>
          </p:nvSpPr>
          <p:spPr bwMode="auto">
            <a:xfrm>
              <a:off x="533400" y="3657600"/>
              <a:ext cx="10668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800">
                <a:ea typeface="굴림" panose="020B0600000101010101" pitchFamily="50" charset="-127"/>
              </a:endParaRPr>
            </a:p>
          </p:txBody>
        </p:sp>
        <p:sp>
          <p:nvSpPr>
            <p:cNvPr id="51210" name="Oval 7"/>
            <p:cNvSpPr>
              <a:spLocks noChangeArrowheads="1"/>
            </p:cNvSpPr>
            <p:nvPr/>
          </p:nvSpPr>
          <p:spPr bwMode="auto">
            <a:xfrm>
              <a:off x="6400800" y="2743200"/>
              <a:ext cx="1371600" cy="1371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800">
                <a:ea typeface="굴림" panose="020B0600000101010101" pitchFamily="50" charset="-127"/>
              </a:endParaRPr>
            </a:p>
          </p:txBody>
        </p:sp>
        <p:sp>
          <p:nvSpPr>
            <p:cNvPr id="51211" name="Oval 8"/>
            <p:cNvSpPr>
              <a:spLocks noChangeArrowheads="1"/>
            </p:cNvSpPr>
            <p:nvPr/>
          </p:nvSpPr>
          <p:spPr bwMode="auto">
            <a:xfrm>
              <a:off x="5486400" y="4800600"/>
              <a:ext cx="1371600" cy="1371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800">
                <a:ea typeface="굴림" panose="020B0600000101010101" pitchFamily="50" charset="-127"/>
              </a:endParaRPr>
            </a:p>
          </p:txBody>
        </p:sp>
        <p:sp>
          <p:nvSpPr>
            <p:cNvPr id="51212" name="Text Box 10"/>
            <p:cNvSpPr txBox="1">
              <a:spLocks noChangeArrowheads="1"/>
            </p:cNvSpPr>
            <p:nvPr/>
          </p:nvSpPr>
          <p:spPr bwMode="auto">
            <a:xfrm>
              <a:off x="378451" y="3946524"/>
              <a:ext cx="1354478" cy="473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ko-KR" sz="1200">
                  <a:latin typeface="Arial" panose="020B0604020202020204" pitchFamily="34" charset="0"/>
                  <a:ea typeface="굴림" panose="020B0600000101010101" pitchFamily="50" charset="-127"/>
                </a:rPr>
                <a:t>Computer</a:t>
              </a:r>
              <a:endParaRPr lang="en-GB" altLang="ko-KR" sz="2000">
                <a:ea typeface="굴림" panose="020B0600000101010101" pitchFamily="50" charset="-127"/>
              </a:endParaRPr>
            </a:p>
          </p:txBody>
        </p:sp>
        <p:sp>
          <p:nvSpPr>
            <p:cNvPr id="23562" name="Text Box 12"/>
            <p:cNvSpPr txBox="1">
              <a:spLocks noChangeArrowheads="1"/>
            </p:cNvSpPr>
            <p:nvPr/>
          </p:nvSpPr>
          <p:spPr bwMode="auto">
            <a:xfrm>
              <a:off x="6540889" y="3047294"/>
              <a:ext cx="1093954" cy="73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5pPr>
              <a:lvl6pPr marL="25146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6pPr>
              <a:lvl7pPr marL="29718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7pPr>
              <a:lvl8pPr marL="34290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8pPr>
              <a:lvl9pPr marL="38862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9pPr>
            </a:lstStyle>
            <a:p>
              <a:pPr algn="ctr" rtl="1" eaLnBrk="1" hangingPunct="1">
                <a:defRPr/>
              </a:pPr>
              <a:r>
                <a:rPr lang="en-GB" altLang="ko-KR" sz="1050" smtClean="0">
                  <a:latin typeface="Arial" charset="0"/>
                  <a:ea typeface="굴림" pitchFamily="50" charset="-127"/>
                </a:rPr>
                <a:t>Main </a:t>
              </a:r>
            </a:p>
            <a:p>
              <a:pPr algn="ctr" rtl="1" eaLnBrk="1" hangingPunct="1">
                <a:defRPr/>
              </a:pPr>
              <a:r>
                <a:rPr lang="en-GB" altLang="ko-KR" sz="1050" smtClean="0">
                  <a:latin typeface="Arial" charset="0"/>
                  <a:ea typeface="굴림" pitchFamily="50" charset="-127"/>
                </a:rPr>
                <a:t>Memory</a:t>
              </a:r>
            </a:p>
          </p:txBody>
        </p:sp>
        <p:sp>
          <p:nvSpPr>
            <p:cNvPr id="23563" name="Text Box 13"/>
            <p:cNvSpPr txBox="1">
              <a:spLocks noChangeArrowheads="1"/>
            </p:cNvSpPr>
            <p:nvPr/>
          </p:nvSpPr>
          <p:spPr bwMode="auto">
            <a:xfrm>
              <a:off x="5708477" y="5134681"/>
              <a:ext cx="955638" cy="73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5pPr>
              <a:lvl6pPr marL="25146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6pPr>
              <a:lvl7pPr marL="29718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7pPr>
              <a:lvl8pPr marL="34290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8pPr>
              <a:lvl9pPr marL="38862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9pPr>
            </a:lstStyle>
            <a:p>
              <a:pPr algn="ctr" rtl="1" eaLnBrk="1" hangingPunct="1">
                <a:defRPr/>
              </a:pPr>
              <a:r>
                <a:rPr lang="en-GB" altLang="ko-KR" sz="1050" smtClean="0">
                  <a:latin typeface="Arial" charset="0"/>
                  <a:ea typeface="굴림" pitchFamily="50" charset="-127"/>
                </a:rPr>
                <a:t>Input</a:t>
              </a:r>
            </a:p>
            <a:p>
              <a:pPr algn="ctr" rtl="1" eaLnBrk="1" hangingPunct="1">
                <a:defRPr/>
              </a:pPr>
              <a:r>
                <a:rPr lang="en-GB" altLang="ko-KR" sz="1050" smtClean="0">
                  <a:latin typeface="Arial" charset="0"/>
                  <a:ea typeface="굴림" pitchFamily="50" charset="-127"/>
                </a:rPr>
                <a:t>Output</a:t>
              </a:r>
            </a:p>
          </p:txBody>
        </p:sp>
        <p:sp>
          <p:nvSpPr>
            <p:cNvPr id="23564" name="Text Box 14"/>
            <p:cNvSpPr txBox="1">
              <a:spLocks noChangeArrowheads="1"/>
            </p:cNvSpPr>
            <p:nvPr/>
          </p:nvSpPr>
          <p:spPr bwMode="auto">
            <a:xfrm>
              <a:off x="5288500" y="4066777"/>
              <a:ext cx="1813197" cy="734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5pPr>
              <a:lvl6pPr marL="25146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6pPr>
              <a:lvl7pPr marL="29718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7pPr>
              <a:lvl8pPr marL="34290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8pPr>
              <a:lvl9pPr marL="38862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9pPr>
            </a:lstStyle>
            <a:p>
              <a:pPr algn="ctr" rtl="1" eaLnBrk="1" hangingPunct="1">
                <a:defRPr/>
              </a:pPr>
              <a:r>
                <a:rPr lang="en-GB" altLang="ko-KR" sz="1050" smtClean="0">
                  <a:latin typeface="Arial" charset="0"/>
                  <a:ea typeface="굴림" pitchFamily="50" charset="-127"/>
                </a:rPr>
                <a:t>Systems</a:t>
              </a:r>
            </a:p>
            <a:p>
              <a:pPr algn="ctr" rtl="1" eaLnBrk="1" hangingPunct="1">
                <a:defRPr/>
              </a:pPr>
              <a:r>
                <a:rPr lang="en-GB" altLang="ko-KR" sz="1050" smtClean="0">
                  <a:latin typeface="Arial" charset="0"/>
                  <a:ea typeface="굴림" pitchFamily="50" charset="-127"/>
                </a:rPr>
                <a:t>Interconnection</a:t>
              </a:r>
            </a:p>
          </p:txBody>
        </p:sp>
        <p:sp>
          <p:nvSpPr>
            <p:cNvPr id="51216" name="Line 15"/>
            <p:cNvSpPr>
              <a:spLocks noChangeShapeType="1"/>
            </p:cNvSpPr>
            <p:nvPr/>
          </p:nvSpPr>
          <p:spPr bwMode="auto">
            <a:xfrm flipV="1">
              <a:off x="1066800" y="2209800"/>
              <a:ext cx="4343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51217" name="Line 16"/>
            <p:cNvSpPr>
              <a:spLocks noChangeShapeType="1"/>
            </p:cNvSpPr>
            <p:nvPr/>
          </p:nvSpPr>
          <p:spPr bwMode="auto">
            <a:xfrm>
              <a:off x="1066800" y="4724400"/>
              <a:ext cx="4191000" cy="1752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51218" name="Text Box 19"/>
            <p:cNvSpPr txBox="1">
              <a:spLocks noChangeArrowheads="1"/>
            </p:cNvSpPr>
            <p:nvPr/>
          </p:nvSpPr>
          <p:spPr bwMode="auto">
            <a:xfrm>
              <a:off x="290513" y="2346325"/>
              <a:ext cx="12065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ko-KR" sz="1600">
                  <a:latin typeface="Arial" panose="020B0604020202020204" pitchFamily="34" charset="0"/>
                  <a:ea typeface="굴림" panose="020B0600000101010101" pitchFamily="50" charset="-127"/>
                </a:rPr>
                <a:t>Peripherals</a:t>
              </a:r>
            </a:p>
          </p:txBody>
        </p:sp>
        <p:sp>
          <p:nvSpPr>
            <p:cNvPr id="51219" name="Text Box 20"/>
            <p:cNvSpPr txBox="1">
              <a:spLocks noChangeArrowheads="1"/>
            </p:cNvSpPr>
            <p:nvPr/>
          </p:nvSpPr>
          <p:spPr bwMode="auto">
            <a:xfrm>
              <a:off x="138113" y="5622925"/>
              <a:ext cx="159067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ko-KR" sz="1600">
                  <a:latin typeface="Arial" panose="020B0604020202020204" pitchFamily="34" charset="0"/>
                  <a:ea typeface="굴림" panose="020B0600000101010101" pitchFamily="50" charset="-127"/>
                </a:rPr>
                <a:t>Communication</a:t>
              </a:r>
            </a:p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ko-KR" sz="1600">
                  <a:latin typeface="Arial" panose="020B0604020202020204" pitchFamily="34" charset="0"/>
                  <a:ea typeface="굴림" panose="020B0600000101010101" pitchFamily="50" charset="-127"/>
                </a:rPr>
                <a:t>lines</a:t>
              </a:r>
            </a:p>
          </p:txBody>
        </p:sp>
        <p:sp>
          <p:nvSpPr>
            <p:cNvPr id="23569" name="Text Box 11"/>
            <p:cNvSpPr txBox="1">
              <a:spLocks noChangeArrowheads="1"/>
            </p:cNvSpPr>
            <p:nvPr/>
          </p:nvSpPr>
          <p:spPr bwMode="auto">
            <a:xfrm>
              <a:off x="4717631" y="2971976"/>
              <a:ext cx="1405795" cy="981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5pPr>
              <a:lvl6pPr marL="25146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6pPr>
              <a:lvl7pPr marL="29718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7pPr>
              <a:lvl8pPr marL="34290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8pPr>
              <a:lvl9pPr marL="3886200" indent="-228600" algn="ctr" rtl="1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cs typeface="Times New Roman (Hebrew)" charset="-79"/>
                </a:defRPr>
              </a:lvl9pPr>
            </a:lstStyle>
            <a:p>
              <a:pPr algn="ctr" rtl="1" eaLnBrk="1" hangingPunct="1">
                <a:defRPr/>
              </a:pPr>
              <a:r>
                <a:rPr lang="en-GB" altLang="ko-KR" sz="1050" dirty="0" smtClean="0">
                  <a:latin typeface="Arial" charset="0"/>
                  <a:ea typeface="굴림" pitchFamily="50" charset="-127"/>
                </a:rPr>
                <a:t>Central</a:t>
              </a:r>
            </a:p>
            <a:p>
              <a:pPr algn="ctr" rtl="1" eaLnBrk="1" hangingPunct="1">
                <a:defRPr/>
              </a:pPr>
              <a:r>
                <a:rPr lang="en-GB" altLang="ko-KR" sz="1050" dirty="0" smtClean="0">
                  <a:latin typeface="Arial" charset="0"/>
                  <a:ea typeface="굴림" pitchFamily="50" charset="-127"/>
                </a:rPr>
                <a:t>Processing </a:t>
              </a:r>
            </a:p>
            <a:p>
              <a:pPr algn="ctr" rtl="1" eaLnBrk="1" hangingPunct="1">
                <a:defRPr/>
              </a:pPr>
              <a:r>
                <a:rPr lang="en-GB" altLang="ko-KR" sz="1050" dirty="0" smtClean="0">
                  <a:latin typeface="Arial" charset="0"/>
                  <a:ea typeface="굴림" pitchFamily="50" charset="-127"/>
                </a:rPr>
                <a:t>Unit</a:t>
              </a:r>
            </a:p>
          </p:txBody>
        </p:sp>
        <p:sp>
          <p:nvSpPr>
            <p:cNvPr id="51221" name="Line 21"/>
            <p:cNvSpPr>
              <a:spLocks noChangeShapeType="1"/>
            </p:cNvSpPr>
            <p:nvPr/>
          </p:nvSpPr>
          <p:spPr bwMode="auto">
            <a:xfrm>
              <a:off x="914400" y="27432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51222" name="Line 22"/>
            <p:cNvSpPr>
              <a:spLocks noChangeShapeType="1"/>
            </p:cNvSpPr>
            <p:nvPr/>
          </p:nvSpPr>
          <p:spPr bwMode="auto">
            <a:xfrm>
              <a:off x="914400" y="47244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/>
            </a:p>
          </p:txBody>
        </p:sp>
        <p:sp>
          <p:nvSpPr>
            <p:cNvPr id="51223" name="Text Box 24"/>
            <p:cNvSpPr txBox="1">
              <a:spLocks noChangeArrowheads="1"/>
            </p:cNvSpPr>
            <p:nvPr/>
          </p:nvSpPr>
          <p:spPr bwMode="auto">
            <a:xfrm>
              <a:off x="5603875" y="2257425"/>
              <a:ext cx="1295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q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Times New Roman (Hebrew)" charset="0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000">
                  <a:latin typeface="Arial" panose="020B0604020202020204" pitchFamily="34" charset="0"/>
                  <a:ea typeface="굴림" panose="020B0600000101010101" pitchFamily="50" charset="-127"/>
                </a:rPr>
                <a:t>Computer</a:t>
              </a:r>
              <a:endParaRPr lang="en-US" altLang="ko-KR" sz="160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55575" y="914400"/>
            <a:ext cx="8853488" cy="8302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ctr" rtl="1" eaLnBrk="1" hangingPunct="1">
              <a:defRPr/>
            </a:pPr>
            <a:r>
              <a:rPr kumimoji="1" lang="en-US" altLang="ko-KR" sz="1600">
                <a:latin typeface="Times New Roman" pitchFamily="18" charset="0"/>
                <a:ea typeface="굴림" charset="-127"/>
                <a:cs typeface="Times New Roman (Hebrew)" charset="-79"/>
              </a:rPr>
              <a:t>But of greater concern in this course </a:t>
            </a:r>
            <a:r>
              <a:rPr kumimoji="1" lang="en-US" altLang="ko-KR" sz="1600" b="1">
                <a:latin typeface="Times New Roman" pitchFamily="18" charset="0"/>
                <a:ea typeface="굴림" charset="-127"/>
                <a:cs typeface="Times New Roman (Hebrew)" charset="-79"/>
              </a:rPr>
              <a:t>is the internal structure of the computer</a:t>
            </a:r>
          </a:p>
          <a:p>
            <a:pPr algn="ctr" rtl="1" eaLnBrk="1" hangingPunct="1">
              <a:defRPr/>
            </a:pPr>
            <a:r>
              <a:rPr kumimoji="1" lang="en-US" altLang="ko-KR" sz="1600" b="1">
                <a:latin typeface="Times New Roman" pitchFamily="18" charset="0"/>
                <a:ea typeface="굴림" charset="-127"/>
                <a:cs typeface="Times New Roman (Hebrew)" charset="-79"/>
              </a:rPr>
              <a:t>itself</a:t>
            </a:r>
            <a:r>
              <a:rPr kumimoji="1" lang="en-US" altLang="ko-KR" sz="1600">
                <a:latin typeface="Times New Roman" pitchFamily="18" charset="0"/>
                <a:ea typeface="굴림" charset="-127"/>
                <a:cs typeface="Times New Roman (Hebrew)" charset="-79"/>
              </a:rPr>
              <a:t>, which is shown in Figure. There are four main structural components: </a:t>
            </a:r>
          </a:p>
          <a:p>
            <a:pPr algn="ctr" rtl="1" eaLnBrk="1" hangingPunct="1">
              <a:defRPr/>
            </a:pPr>
            <a:r>
              <a:rPr kumimoji="1" lang="en-US" altLang="ko-KR" sz="1600" b="1">
                <a:solidFill>
                  <a:srgbClr val="C00000"/>
                </a:solidFill>
                <a:latin typeface="Times New Roman" pitchFamily="18" charset="0"/>
                <a:ea typeface="굴림" charset="-127"/>
                <a:cs typeface="Times New Roman (Hebrew)" charset="-79"/>
              </a:rPr>
              <a:t>Central Processing Unit (CPU), Main Memory, I/O System Interconnection</a:t>
            </a:r>
            <a:endParaRPr lang="en-US" altLang="ko-KR" sz="1600" b="1">
              <a:solidFill>
                <a:srgbClr val="C00000"/>
              </a:solidFill>
              <a:ea typeface="굴림" charset="-127"/>
              <a:cs typeface="Times New Roman (Hebrew)" charset="-79"/>
            </a:endParaRPr>
          </a:p>
        </p:txBody>
      </p:sp>
      <p:sp>
        <p:nvSpPr>
          <p:cNvPr id="51205" name="직사각형 3"/>
          <p:cNvSpPr>
            <a:spLocks noChangeArrowheads="1"/>
          </p:cNvSpPr>
          <p:nvPr/>
        </p:nvSpPr>
        <p:spPr bwMode="auto">
          <a:xfrm flipH="1">
            <a:off x="155575" y="4572000"/>
            <a:ext cx="86836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• </a:t>
            </a:r>
            <a:r>
              <a:rPr kumimoji="1" lang="en-US" altLang="ko-KR" sz="1600" b="1">
                <a:latin typeface="Times New Roman" panose="02020603050405020304" pitchFamily="18" charset="0"/>
                <a:ea typeface="굴림" panose="020B0600000101010101" pitchFamily="50" charset="-127"/>
              </a:rPr>
              <a:t>Central processing unit (CPU): </a:t>
            </a: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Controls the operation of the computer and performs its data processing functions; often simply referred to as </a:t>
            </a:r>
            <a:r>
              <a:rPr kumimoji="1" lang="en-US" altLang="ko-KR" sz="1600" b="1">
                <a:latin typeface="Times New Roman" panose="02020603050405020304" pitchFamily="18" charset="0"/>
                <a:ea typeface="굴림" panose="020B0600000101010101" pitchFamily="50" charset="-127"/>
              </a:rPr>
              <a:t>processor.</a:t>
            </a:r>
          </a:p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• </a:t>
            </a:r>
            <a:r>
              <a:rPr kumimoji="1" lang="en-US" altLang="ko-KR" sz="1600" b="1">
                <a:latin typeface="Times New Roman" panose="02020603050405020304" pitchFamily="18" charset="0"/>
                <a:ea typeface="굴림" panose="020B0600000101010101" pitchFamily="50" charset="-127"/>
              </a:rPr>
              <a:t>Main memory: </a:t>
            </a: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Stores data.</a:t>
            </a:r>
          </a:p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• </a:t>
            </a:r>
            <a:r>
              <a:rPr kumimoji="1" lang="en-US" altLang="ko-KR" sz="1600" b="1">
                <a:latin typeface="Times New Roman" panose="02020603050405020304" pitchFamily="18" charset="0"/>
                <a:ea typeface="굴림" panose="020B0600000101010101" pitchFamily="50" charset="-127"/>
              </a:rPr>
              <a:t>I/O: </a:t>
            </a: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Moves data between the computer and its external environment.</a:t>
            </a:r>
          </a:p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• </a:t>
            </a:r>
            <a:r>
              <a:rPr kumimoji="1" lang="en-US" altLang="ko-KR" sz="1600" b="1">
                <a:latin typeface="Times New Roman" panose="02020603050405020304" pitchFamily="18" charset="0"/>
                <a:ea typeface="굴림" panose="020B0600000101010101" pitchFamily="50" charset="-127"/>
              </a:rPr>
              <a:t>System interconnection: </a:t>
            </a: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Some mechanism that provides for communication among CPU, main memory, and I/O. A common example of system interconnection is by means of a </a:t>
            </a:r>
            <a:r>
              <a:rPr kumimoji="1" lang="en-US" altLang="ko-KR" sz="1600" b="1">
                <a:latin typeface="Times New Roman" panose="02020603050405020304" pitchFamily="18" charset="0"/>
                <a:ea typeface="굴림" panose="020B0600000101010101" pitchFamily="50" charset="-127"/>
              </a:rPr>
              <a:t>system bus, </a:t>
            </a:r>
            <a:r>
              <a:rPr kumimoji="1" lang="en-US" altLang="ko-KR" sz="1600">
                <a:latin typeface="Times New Roman" panose="02020603050405020304" pitchFamily="18" charset="0"/>
                <a:ea typeface="굴림" panose="020B0600000101010101" pitchFamily="50" charset="-127"/>
              </a:rPr>
              <a:t>consisting of a number of conducting wires to which all the other components attach</a:t>
            </a:r>
            <a:endParaRPr lang="en-US" altLang="ko-KR" sz="160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336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Oval 20" descr="50%"/>
          <p:cNvSpPr>
            <a:spLocks noChangeArrowheads="1"/>
          </p:cNvSpPr>
          <p:nvPr/>
        </p:nvSpPr>
        <p:spPr bwMode="auto">
          <a:xfrm>
            <a:off x="104775" y="2057400"/>
            <a:ext cx="4724400" cy="46482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ko-KR" sz="16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53251" name="Oval 25"/>
          <p:cNvSpPr>
            <a:spLocks noChangeArrowheads="1"/>
          </p:cNvSpPr>
          <p:nvPr/>
        </p:nvSpPr>
        <p:spPr bwMode="auto">
          <a:xfrm>
            <a:off x="1628775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000" tIns="46800" rIns="90000" bIns="46800"/>
          <a:lstStyle/>
          <a:p>
            <a:r>
              <a:rPr lang="en-GB" altLang="ko-KR" smtClean="0">
                <a:ea typeface="굴림" panose="020B0600000101010101" pitchFamily="50" charset="-127"/>
              </a:rPr>
              <a:t>Structure - </a:t>
            </a:r>
            <a:r>
              <a:rPr lang="en-GB" altLang="ko-KR" sz="2800" smtClean="0">
                <a:ea typeface="굴림" panose="020B0600000101010101" pitchFamily="50" charset="-127"/>
              </a:rPr>
              <a:t>The CPU</a:t>
            </a:r>
          </a:p>
        </p:txBody>
      </p:sp>
      <p:sp>
        <p:nvSpPr>
          <p:cNvPr id="53253" name="Oval 21"/>
          <p:cNvSpPr>
            <a:spLocks noChangeArrowheads="1"/>
          </p:cNvSpPr>
          <p:nvPr/>
        </p:nvSpPr>
        <p:spPr bwMode="auto">
          <a:xfrm>
            <a:off x="866775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3254" name="Oval 23"/>
          <p:cNvSpPr>
            <a:spLocks noChangeArrowheads="1"/>
          </p:cNvSpPr>
          <p:nvPr/>
        </p:nvSpPr>
        <p:spPr bwMode="auto">
          <a:xfrm>
            <a:off x="2619375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3255" name="Oval 24"/>
          <p:cNvSpPr>
            <a:spLocks noChangeArrowheads="1"/>
          </p:cNvSpPr>
          <p:nvPr/>
        </p:nvSpPr>
        <p:spPr bwMode="auto">
          <a:xfrm>
            <a:off x="1704975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3256" name="Text Box 27"/>
          <p:cNvSpPr txBox="1">
            <a:spLocks noChangeArrowheads="1"/>
          </p:cNvSpPr>
          <p:nvPr/>
        </p:nvSpPr>
        <p:spPr bwMode="auto">
          <a:xfrm>
            <a:off x="2776538" y="2971800"/>
            <a:ext cx="1084262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Arithmetic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and 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Logi</a:t>
            </a: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c</a:t>
            </a:r>
            <a:r>
              <a:rPr lang="ko-KR" altLang="en-GB" sz="1600">
                <a:latin typeface="Arial" panose="020B0604020202020204" pitchFamily="34" charset="0"/>
                <a:ea typeface="굴림" panose="020B0600000101010101" pitchFamily="50" charset="-127"/>
              </a:rPr>
              <a:t> </a:t>
            </a: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Unit</a:t>
            </a:r>
          </a:p>
        </p:txBody>
      </p:sp>
      <p:sp>
        <p:nvSpPr>
          <p:cNvPr id="53257" name="Text Box 28"/>
          <p:cNvSpPr txBox="1">
            <a:spLocks noChangeArrowheads="1"/>
          </p:cNvSpPr>
          <p:nvPr/>
        </p:nvSpPr>
        <p:spPr bwMode="auto">
          <a:xfrm>
            <a:off x="1933575" y="5133975"/>
            <a:ext cx="835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Control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Unit</a:t>
            </a:r>
          </a:p>
        </p:txBody>
      </p:sp>
      <p:sp>
        <p:nvSpPr>
          <p:cNvPr id="53258" name="Text Box 29"/>
          <p:cNvSpPr txBox="1">
            <a:spLocks noChangeArrowheads="1"/>
          </p:cNvSpPr>
          <p:nvPr/>
        </p:nvSpPr>
        <p:spPr bwMode="auto">
          <a:xfrm>
            <a:off x="1628775" y="4067175"/>
            <a:ext cx="15700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Internal CPU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Interconnection</a:t>
            </a:r>
          </a:p>
        </p:txBody>
      </p:sp>
      <p:sp>
        <p:nvSpPr>
          <p:cNvPr id="53259" name="Text Box 34"/>
          <p:cNvSpPr txBox="1">
            <a:spLocks noChangeArrowheads="1"/>
          </p:cNvSpPr>
          <p:nvPr/>
        </p:nvSpPr>
        <p:spPr bwMode="auto">
          <a:xfrm>
            <a:off x="1047750" y="3168650"/>
            <a:ext cx="1038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Registers</a:t>
            </a:r>
          </a:p>
        </p:txBody>
      </p:sp>
      <p:sp>
        <p:nvSpPr>
          <p:cNvPr id="53260" name="Text Box 46"/>
          <p:cNvSpPr txBox="1">
            <a:spLocks noChangeArrowheads="1"/>
          </p:cNvSpPr>
          <p:nvPr/>
        </p:nvSpPr>
        <p:spPr bwMode="auto">
          <a:xfrm>
            <a:off x="2128838" y="2317750"/>
            <a:ext cx="71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Arial" panose="020B0604020202020204" pitchFamily="34" charset="0"/>
                <a:ea typeface="굴림" panose="020B0600000101010101" pitchFamily="50" charset="-127"/>
              </a:rPr>
              <a:t>CPU</a:t>
            </a:r>
            <a:endParaRPr lang="en-US" altLang="ko-KR" sz="16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4511675" y="1447800"/>
            <a:ext cx="4597400" cy="5410200"/>
          </a:xfrm>
        </p:spPr>
        <p:txBody>
          <a:bodyPr/>
          <a:lstStyle/>
          <a:p>
            <a:pPr>
              <a:defRPr/>
            </a:pPr>
            <a:r>
              <a:rPr lang="en-US" sz="2000" b="1" dirty="0" smtClean="0">
                <a:solidFill>
                  <a:srgbClr val="000000"/>
                </a:solidFill>
              </a:rPr>
              <a:t>Control Unit</a:t>
            </a:r>
          </a:p>
          <a:p>
            <a:pPr lvl="1"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Controls the operation of the CPU and hence the computer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  <a:defRPr/>
            </a:pPr>
            <a:r>
              <a:rPr lang="en-US" sz="1800" b="1" dirty="0" smtClean="0">
                <a:solidFill>
                  <a:srgbClr val="000000"/>
                </a:solidFill>
              </a:rPr>
              <a:t>Arithmetic and Logic Unit (ALU)</a:t>
            </a:r>
          </a:p>
          <a:p>
            <a:pPr lvl="1"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Performs the computer’s data processing function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  <a:defRPr/>
            </a:pPr>
            <a:r>
              <a:rPr lang="en-US" sz="1800" b="1" dirty="0" smtClean="0">
                <a:solidFill>
                  <a:srgbClr val="000000"/>
                </a:solidFill>
              </a:rPr>
              <a:t>Registers</a:t>
            </a:r>
          </a:p>
          <a:p>
            <a:pPr lvl="1"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Provide storage internal to the CPU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  <a:defRPr/>
            </a:pPr>
            <a:r>
              <a:rPr lang="en-US" sz="1800" b="1" dirty="0" smtClean="0">
                <a:solidFill>
                  <a:srgbClr val="000000"/>
                </a:solidFill>
              </a:rPr>
              <a:t>CPU Interconnection</a:t>
            </a:r>
          </a:p>
          <a:p>
            <a:pPr lvl="1"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Some mechanism that provides for communication among the control unit, ALU, and registers</a:t>
            </a:r>
          </a:p>
        </p:txBody>
      </p:sp>
    </p:spTree>
    <p:extLst>
      <p:ext uri="{BB962C8B-B14F-4D97-AF65-F5344CB8AC3E}">
        <p14:creationId xmlns:p14="http://schemas.microsoft.com/office/powerpoint/2010/main" val="308998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Oval 35" descr="50%"/>
          <p:cNvSpPr>
            <a:spLocks noChangeArrowheads="1"/>
          </p:cNvSpPr>
          <p:nvPr/>
        </p:nvSpPr>
        <p:spPr bwMode="auto">
          <a:xfrm>
            <a:off x="3886200" y="2057400"/>
            <a:ext cx="4724400" cy="46482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5299" name="Oval 40"/>
          <p:cNvSpPr>
            <a:spLocks noChangeArrowheads="1"/>
          </p:cNvSpPr>
          <p:nvPr/>
        </p:nvSpPr>
        <p:spPr bwMode="auto">
          <a:xfrm>
            <a:off x="5410200" y="3581400"/>
            <a:ext cx="1828800" cy="1828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000" tIns="46800" rIns="90000" bIns="46800"/>
          <a:lstStyle/>
          <a:p>
            <a:r>
              <a:rPr lang="en-GB" altLang="ko-KR" smtClean="0">
                <a:ea typeface="굴림" panose="020B0600000101010101" pitchFamily="50" charset="-127"/>
              </a:rPr>
              <a:t>Structure - </a:t>
            </a:r>
            <a:r>
              <a:rPr lang="en-GB" altLang="ko-KR" sz="2800" smtClean="0">
                <a:ea typeface="굴림" panose="020B0600000101010101" pitchFamily="50" charset="-127"/>
              </a:rPr>
              <a:t>The Control Unit</a:t>
            </a:r>
          </a:p>
        </p:txBody>
      </p:sp>
      <p:sp>
        <p:nvSpPr>
          <p:cNvPr id="55301" name="Oval 36"/>
          <p:cNvSpPr>
            <a:spLocks noChangeArrowheads="1"/>
          </p:cNvSpPr>
          <p:nvPr/>
        </p:nvSpPr>
        <p:spPr bwMode="auto">
          <a:xfrm>
            <a:off x="4648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5302" name="Oval 39"/>
          <p:cNvSpPr>
            <a:spLocks noChangeArrowheads="1"/>
          </p:cNvSpPr>
          <p:nvPr/>
        </p:nvSpPr>
        <p:spPr bwMode="auto">
          <a:xfrm>
            <a:off x="5715000" y="5029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800">
              <a:ea typeface="굴림" panose="020B0600000101010101" pitchFamily="50" charset="-127"/>
            </a:endParaRPr>
          </a:p>
        </p:txBody>
      </p:sp>
      <p:sp>
        <p:nvSpPr>
          <p:cNvPr id="55303" name="Text Box 43"/>
          <p:cNvSpPr txBox="1">
            <a:spLocks noChangeArrowheads="1"/>
          </p:cNvSpPr>
          <p:nvPr/>
        </p:nvSpPr>
        <p:spPr bwMode="auto">
          <a:xfrm>
            <a:off x="5942013" y="5362575"/>
            <a:ext cx="915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Control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Memory</a:t>
            </a:r>
          </a:p>
        </p:txBody>
      </p:sp>
      <p:sp>
        <p:nvSpPr>
          <p:cNvPr id="55304" name="Text Box 44"/>
          <p:cNvSpPr txBox="1">
            <a:spLocks noChangeArrowheads="1"/>
          </p:cNvSpPr>
          <p:nvPr/>
        </p:nvSpPr>
        <p:spPr bwMode="auto">
          <a:xfrm>
            <a:off x="5672138" y="4067175"/>
            <a:ext cx="1490662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Control Unit 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Registers and 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Decoders</a:t>
            </a:r>
          </a:p>
        </p:txBody>
      </p:sp>
      <p:sp>
        <p:nvSpPr>
          <p:cNvPr id="55305" name="Text Box 47"/>
          <p:cNvSpPr txBox="1">
            <a:spLocks noChangeArrowheads="1"/>
          </p:cNvSpPr>
          <p:nvPr/>
        </p:nvSpPr>
        <p:spPr bwMode="auto">
          <a:xfrm>
            <a:off x="4829175" y="3168650"/>
            <a:ext cx="1250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Sequencing</a:t>
            </a:r>
          </a:p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ko-KR" sz="1600">
                <a:latin typeface="Arial" panose="020B0604020202020204" pitchFamily="34" charset="0"/>
                <a:ea typeface="굴림" panose="020B0600000101010101" pitchFamily="50" charset="-127"/>
              </a:rPr>
              <a:t>Logic</a:t>
            </a:r>
          </a:p>
        </p:txBody>
      </p:sp>
      <p:sp>
        <p:nvSpPr>
          <p:cNvPr id="55306" name="Text Box 55"/>
          <p:cNvSpPr txBox="1">
            <a:spLocks noChangeArrowheads="1"/>
          </p:cNvSpPr>
          <p:nvPr/>
        </p:nvSpPr>
        <p:spPr bwMode="auto">
          <a:xfrm>
            <a:off x="5411788" y="2286000"/>
            <a:ext cx="1522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Arial" panose="020B0604020202020204" pitchFamily="34" charset="0"/>
                <a:ea typeface="굴림" panose="020B0600000101010101" pitchFamily="50" charset="-127"/>
              </a:rPr>
              <a:t>Control Unit</a:t>
            </a:r>
            <a:endParaRPr lang="en-US" altLang="ko-KR" sz="16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55307" name="직사각형 1"/>
          <p:cNvSpPr>
            <a:spLocks noChangeArrowheads="1"/>
          </p:cNvSpPr>
          <p:nvPr/>
        </p:nvSpPr>
        <p:spPr bwMode="auto">
          <a:xfrm>
            <a:off x="257175" y="1703388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• </a:t>
            </a:r>
            <a:r>
              <a:rPr kumimoji="1" lang="en-US" altLang="ko-KR" sz="2000" b="1">
                <a:latin typeface="Times New Roman" panose="02020603050405020304" pitchFamily="18" charset="0"/>
                <a:ea typeface="굴림" panose="020B0600000101010101" pitchFamily="50" charset="-127"/>
              </a:rPr>
              <a:t>Control unit: </a:t>
            </a:r>
            <a:r>
              <a:rPr kumimoji="1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Controls the operation of the CPU and hence the computer.</a:t>
            </a:r>
          </a:p>
        </p:txBody>
      </p:sp>
    </p:spTree>
    <p:extLst>
      <p:ext uri="{BB962C8B-B14F-4D97-AF65-F5344CB8AC3E}">
        <p14:creationId xmlns:p14="http://schemas.microsoft.com/office/powerpoint/2010/main" val="6947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Outline of the Main textbook (1)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smtClean="0">
                <a:ea typeface="굴림" panose="020B0600000101010101" pitchFamily="50" charset="-127"/>
              </a:rPr>
              <a:t>Computer Evolution and Performance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Computer Interconnection Structures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Internal Memory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External Memory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Input/Output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Operating Systems Support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Computer Arithmetic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Instruction Sets</a:t>
            </a:r>
          </a:p>
          <a:p>
            <a:endParaRPr lang="en-US" altLang="ko-KR" sz="2400" smtClean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259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Outline of the Main textbook (2)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smtClean="0">
                <a:ea typeface="굴림" panose="020B0600000101010101" pitchFamily="50" charset="-127"/>
              </a:rPr>
              <a:t>CPU Structure and Function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Reduced Instruction Set Computers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Superscalar Processors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Control Unit Operation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Microprogrammed Control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Multiprocessors and Vector Processing</a:t>
            </a:r>
          </a:p>
          <a:p>
            <a:r>
              <a:rPr lang="en-US" altLang="ko-KR" sz="2400" smtClean="0">
                <a:ea typeface="굴림" panose="020B0600000101010101" pitchFamily="50" charset="-127"/>
              </a:rPr>
              <a:t>Digital Logic (Appendix)</a:t>
            </a:r>
          </a:p>
        </p:txBody>
      </p:sp>
    </p:spTree>
    <p:extLst>
      <p:ext uri="{BB962C8B-B14F-4D97-AF65-F5344CB8AC3E}">
        <p14:creationId xmlns:p14="http://schemas.microsoft.com/office/powerpoint/2010/main" val="9769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886700" cy="838200"/>
          </a:xfrm>
        </p:spPr>
        <p:txBody>
          <a:bodyPr/>
          <a:lstStyle/>
          <a:p>
            <a:r>
              <a:rPr lang="en-US" altLang="ko-KR" smtClean="0">
                <a:ea typeface="굴림" panose="020B0600000101010101" pitchFamily="50" charset="-127"/>
              </a:rPr>
              <a:t>Internet Resources - </a:t>
            </a:r>
            <a:r>
              <a:rPr lang="en-US" altLang="ko-KR" sz="2400" smtClean="0">
                <a:ea typeface="굴림" panose="020B0600000101010101" pitchFamily="50" charset="-127"/>
              </a:rPr>
              <a:t>Web site for textbook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10600" cy="4913313"/>
          </a:xfrm>
        </p:spPr>
        <p:txBody>
          <a:bodyPr/>
          <a:lstStyle/>
          <a:p>
            <a:r>
              <a:rPr lang="en-US" altLang="ko-KR" sz="2000" b="1" smtClean="0">
                <a:ea typeface="굴림" panose="020B0600000101010101" pitchFamily="50" charset="-127"/>
              </a:rPr>
              <a:t>http://williamstallings.com/ComputerOrganization/styled-6/</a:t>
            </a:r>
          </a:p>
          <a:p>
            <a:pPr lvl="1"/>
            <a:r>
              <a:rPr lang="en-US" altLang="ko-KR" sz="2000" smtClean="0">
                <a:ea typeface="굴림" panose="020B0600000101010101" pitchFamily="50" charset="-127"/>
              </a:rPr>
              <a:t>Links to sites of interest</a:t>
            </a:r>
          </a:p>
          <a:p>
            <a:pPr lvl="1"/>
            <a:r>
              <a:rPr lang="en-US" altLang="ko-KR" sz="2000" smtClean="0">
                <a:ea typeface="굴림" panose="020B0600000101010101" pitchFamily="50" charset="-127"/>
              </a:rPr>
              <a:t>Links to sites for courses that use the book</a:t>
            </a:r>
          </a:p>
          <a:p>
            <a:pPr lvl="1"/>
            <a:r>
              <a:rPr lang="en-US" altLang="ko-KR" sz="2000" smtClean="0">
                <a:ea typeface="굴림" panose="020B0600000101010101" pitchFamily="50" charset="-127"/>
              </a:rPr>
              <a:t>Errata list for book</a:t>
            </a:r>
          </a:p>
          <a:p>
            <a:pPr lvl="1"/>
            <a:r>
              <a:rPr lang="en-US" altLang="ko-KR" sz="2000" smtClean="0">
                <a:ea typeface="굴림" panose="020B0600000101010101" pitchFamily="50" charset="-127"/>
              </a:rPr>
              <a:t>Information on other books by W. Stallings</a:t>
            </a:r>
          </a:p>
          <a:p>
            <a:pPr lvl="1"/>
            <a:endParaRPr lang="en-US" altLang="ko-KR" sz="2000" smtClean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083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0B0F04-1721-494D-9B90-C304BB1A5B56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ko-KR" sz="10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z="3600" smtClean="0">
                <a:ea typeface="굴림" panose="020B0600000101010101" pitchFamily="50" charset="-127"/>
              </a:rPr>
              <a:t>Next… 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837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 smtClean="0">
                <a:ea typeface="굴림" panose="020B0600000101010101" pitchFamily="50" charset="-127"/>
              </a:rPr>
              <a:t>Study on the computer evolution &amp; performance …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ENIAC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Von Neumann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IBM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Moore’s Law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Performance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etc.</a:t>
            </a:r>
          </a:p>
          <a:p>
            <a:pPr lvl="1">
              <a:lnSpc>
                <a:spcPct val="90000"/>
              </a:lnSpc>
            </a:pPr>
            <a:endParaRPr lang="en-US" altLang="ko-KR" sz="2000" smtClean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908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C2D185-7FD6-4957-8CB0-5A5349594596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ko-KR" sz="10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z="3600" smtClean="0">
                <a:ea typeface="굴림" panose="020B0600000101010101" pitchFamily="50" charset="-127"/>
              </a:rPr>
              <a:t>Next… 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837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 smtClean="0">
                <a:ea typeface="굴림" panose="020B0600000101010101" pitchFamily="50" charset="-127"/>
              </a:rPr>
              <a:t>Study on the computer evolution &amp; performance …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ENIAC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Von Neumann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IBM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Moore’s Law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Performance </a:t>
            </a:r>
          </a:p>
          <a:p>
            <a:pPr lvl="1">
              <a:lnSpc>
                <a:spcPct val="90000"/>
              </a:lnSpc>
              <a:buFont typeface="Tahoma" panose="020B0604030504040204" pitchFamily="34" charset="0"/>
              <a:buChar char="–"/>
            </a:pPr>
            <a:r>
              <a:rPr lang="en-US" altLang="ko-KR" sz="2000" smtClean="0">
                <a:solidFill>
                  <a:schemeClr val="folHlink"/>
                </a:solidFill>
                <a:ea typeface="굴림" panose="020B0600000101010101" pitchFamily="50" charset="-127"/>
              </a:rPr>
              <a:t>etc.</a:t>
            </a:r>
          </a:p>
          <a:p>
            <a:pPr lvl="1">
              <a:lnSpc>
                <a:spcPct val="90000"/>
              </a:lnSpc>
            </a:pPr>
            <a:endParaRPr lang="en-US" altLang="ko-KR" sz="2000" smtClean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1646A4-1E7C-484D-9E14-A8EA4C5EFDBE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ko-KR" sz="1000"/>
          </a:p>
        </p:txBody>
      </p:sp>
      <p:pic>
        <p:nvPicPr>
          <p:cNvPr id="65539" name="Picture 2" descr="인터넷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28125" cy="65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Picture 3" descr="설명박스5"/>
          <p:cNvPicPr>
            <a:picLocks noChangeAspect="1" noChangeArrowheads="1"/>
          </p:cNvPicPr>
          <p:nvPr/>
        </p:nvPicPr>
        <p:blipFill>
          <a:blip r:embed="rId4">
            <a:lum bright="54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4" r="21893"/>
          <a:stretch>
            <a:fillRect/>
          </a:stretch>
        </p:blipFill>
        <p:spPr bwMode="auto">
          <a:xfrm>
            <a:off x="0" y="320040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Text Box 4">
            <a:hlinkClick r:id="rId5" action="ppaction://hlinkfile"/>
          </p:cNvPr>
          <p:cNvSpPr txBox="1">
            <a:spLocks noChangeArrowheads="1"/>
          </p:cNvSpPr>
          <p:nvPr/>
        </p:nvSpPr>
        <p:spPr bwMode="auto">
          <a:xfrm>
            <a:off x="2711450" y="3284538"/>
            <a:ext cx="38417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3800" b="1" i="1">
                <a:solidFill>
                  <a:srgbClr val="FF9933"/>
                </a:solidFill>
                <a:latin typeface="Arial" panose="020B0604020202020204" pitchFamily="34" charset="0"/>
                <a:ea typeface="HY견고딕" panose="02030600000101010101" pitchFamily="18" charset="-127"/>
              </a:rPr>
              <a:t>Q&amp;A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 (Hebrew)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1AD256-6628-4598-B8CE-4A26AAE0914B}" type="slidenum">
              <a:rPr lang="en-US" altLang="ko-KR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ko-KR" sz="100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143000"/>
          </a:xfrm>
        </p:spPr>
        <p:txBody>
          <a:bodyPr/>
          <a:lstStyle/>
          <a:p>
            <a:r>
              <a:rPr lang="en-US" altLang="ko-KR" sz="3600" smtClean="0">
                <a:ea typeface="굴림" panose="020B0600000101010101" pitchFamily="50" charset="-127"/>
              </a:rPr>
              <a:t>Reference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83711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400" dirty="0" smtClean="0">
                <a:ea typeface="굴림" pitchFamily="50" charset="-127"/>
              </a:rPr>
              <a:t>[1] Introduction to Computer Architecture by Allan </a:t>
            </a:r>
            <a:r>
              <a:rPr lang="en-US" altLang="ko-KR" sz="2400" dirty="0" err="1" smtClean="0">
                <a:ea typeface="굴림" pitchFamily="50" charset="-127"/>
              </a:rPr>
              <a:t>Snaverly</a:t>
            </a:r>
            <a:endParaRPr lang="en-US" altLang="ko-KR" sz="2400" dirty="0" smtClean="0">
              <a:ea typeface="굴림" pitchFamily="50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400" dirty="0" smtClean="0">
                <a:ea typeface="굴림" pitchFamily="50" charset="-127"/>
              </a:rPr>
              <a:t> </a:t>
            </a:r>
          </a:p>
          <a:p>
            <a:pPr marL="342900" lvl="1" indent="-342900">
              <a:lnSpc>
                <a:spcPct val="90000"/>
              </a:lnSpc>
              <a:spcBef>
                <a:spcPct val="40000"/>
              </a:spcBef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ko-KR" sz="2400" dirty="0" smtClean="0">
                <a:ea typeface="굴림" pitchFamily="50" charset="-127"/>
              </a:rPr>
              <a:t> </a:t>
            </a:r>
            <a:endParaRPr lang="ko-KR" altLang="ko-KR" sz="2400" dirty="0" smtClean="0">
              <a:ea typeface="굴림" pitchFamily="50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2400" dirty="0" smtClean="0">
              <a:ea typeface="굴림" pitchFamily="50" charset="-127"/>
            </a:endParaRPr>
          </a:p>
          <a:p>
            <a:pPr lvl="1">
              <a:lnSpc>
                <a:spcPct val="90000"/>
              </a:lnSpc>
              <a:defRPr/>
            </a:pPr>
            <a:endParaRPr lang="en-US" altLang="ko-KR" sz="2000" dirty="0" smtClean="0">
              <a:ea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Times New Roman (Hebrew)"/>
      </a:majorFont>
      <a:minorFont>
        <a:latin typeface="Tahoma"/>
        <a:ea typeface=""/>
        <a:cs typeface="Times New Roman (Hebrew)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Times New Roman (Hebrew)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Times New Roman (Hebrew)" charset="-79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19969</TotalTime>
  <Words>1691</Words>
  <Application>Microsoft Office PowerPoint</Application>
  <PresentationFormat>화면 슬라이드 쇼(4:3)</PresentationFormat>
  <Paragraphs>373</Paragraphs>
  <Slides>34</Slides>
  <Notes>34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6" baseType="lpstr">
      <vt:lpstr>Arial Unicode MS</vt:lpstr>
      <vt:lpstr>HY견고딕</vt:lpstr>
      <vt:lpstr>Times New Roman (Hebrew)</vt:lpstr>
      <vt:lpstr>굴림</vt:lpstr>
      <vt:lpstr>맑은 고딕</vt:lpstr>
      <vt:lpstr>Arial</vt:lpstr>
      <vt:lpstr>Arial Narrow</vt:lpstr>
      <vt:lpstr>Tahoma</vt:lpstr>
      <vt:lpstr>Times New Roman</vt:lpstr>
      <vt:lpstr>Wingdings</vt:lpstr>
      <vt:lpstr>Blends</vt:lpstr>
      <vt:lpstr>Equation</vt:lpstr>
      <vt:lpstr>Computer Architecture - Introduction - </vt:lpstr>
      <vt:lpstr>About this course…</vt:lpstr>
      <vt:lpstr>About this course…</vt:lpstr>
      <vt:lpstr>About this course…</vt:lpstr>
      <vt:lpstr>About this course…</vt:lpstr>
      <vt:lpstr>About this course…</vt:lpstr>
      <vt:lpstr>About this course…</vt:lpstr>
      <vt:lpstr>About this course…</vt:lpstr>
      <vt:lpstr>RISC-V Processor ! </vt:lpstr>
      <vt:lpstr>The History of Computer</vt:lpstr>
      <vt:lpstr>What is Computer Architecture ?</vt:lpstr>
      <vt:lpstr>Why do I care ?</vt:lpstr>
      <vt:lpstr>Architecture &amp; Organization </vt:lpstr>
      <vt:lpstr>PowerPoint 프레젠테이션</vt:lpstr>
      <vt:lpstr>Architecture &amp; Organization </vt:lpstr>
      <vt:lpstr>How to Speak Computer ?</vt:lpstr>
      <vt:lpstr>Complex Computer System </vt:lpstr>
      <vt:lpstr>Structure &amp; Function</vt:lpstr>
      <vt:lpstr>Function</vt:lpstr>
      <vt:lpstr>Operations - Data movement</vt:lpstr>
      <vt:lpstr>Operations - Storage </vt:lpstr>
      <vt:lpstr>Operation - Processing from/to storage </vt:lpstr>
      <vt:lpstr>Operation - Processing from storage to I/O</vt:lpstr>
      <vt:lpstr>Computer – External/Internal View</vt:lpstr>
      <vt:lpstr>Structure - Top Level</vt:lpstr>
      <vt:lpstr>Structure - The CPU</vt:lpstr>
      <vt:lpstr>Structure - The Control Unit</vt:lpstr>
      <vt:lpstr>Outline of the Main textbook (1)</vt:lpstr>
      <vt:lpstr>Outline of the Main textbook (2)</vt:lpstr>
      <vt:lpstr>Internet Resources - Web site for textbook</vt:lpstr>
      <vt:lpstr>Next… </vt:lpstr>
      <vt:lpstr>Next… </vt:lpstr>
      <vt:lpstr>PowerPoint 프레젠테이션</vt:lpstr>
      <vt:lpstr>Reference </vt:lpstr>
    </vt:vector>
  </TitlesOfParts>
  <Company>University of Maryland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HB/HB+</dc:title>
  <dc:creator>Jonathan Katz</dc:creator>
  <cp:lastModifiedBy>Windows 사용자</cp:lastModifiedBy>
  <cp:revision>1175</cp:revision>
  <cp:lastPrinted>2013-03-05T01:48:42Z</cp:lastPrinted>
  <dcterms:created xsi:type="dcterms:W3CDTF">2002-05-06T14:20:59Z</dcterms:created>
  <dcterms:modified xsi:type="dcterms:W3CDTF">2020-03-15T05:28:27Z</dcterms:modified>
</cp:coreProperties>
</file>