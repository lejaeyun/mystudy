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trictFirstAndLastChars="0">
  <p:sldMasterIdLst>
    <p:sldMasterId id="2147483979" r:id="rId1"/>
  </p:sldMasterIdLst>
  <p:notesMasterIdLst>
    <p:notesMasterId r:id="rId2"/>
  </p:notesMasterIdLst>
  <p:handoutMasterIdLst>
    <p:handoutMasterId r:id="rId3"/>
  </p:handout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a:ea typeface="+mn-ea"/>
        <a:cs typeface="+mn-cs"/>
      </a:defRPr>
    </a:lvl1pPr>
    <a:lvl2pPr marL="457200" algn="l" rtl="0" eaLnBrk="0" fontAlgn="base" hangingPunct="0">
      <a:spcBef>
        <a:spcPct val="0"/>
      </a:spcBef>
      <a:spcAft>
        <a:spcPct val="0"/>
      </a:spcAft>
      <a:defRPr sz="2400" kern="1200">
        <a:solidFill>
          <a:schemeClr val="tx1"/>
        </a:solidFill>
        <a:latin typeface="Times New Roman"/>
        <a:ea typeface="+mn-ea"/>
        <a:cs typeface="+mn-cs"/>
      </a:defRPr>
    </a:lvl2pPr>
    <a:lvl3pPr marL="914400" algn="l" rtl="0" eaLnBrk="0" fontAlgn="base" hangingPunct="0">
      <a:spcBef>
        <a:spcPct val="0"/>
      </a:spcBef>
      <a:spcAft>
        <a:spcPct val="0"/>
      </a:spcAft>
      <a:defRPr sz="2400" kern="1200">
        <a:solidFill>
          <a:schemeClr val="tx1"/>
        </a:solidFill>
        <a:latin typeface="Times New Roman"/>
        <a:ea typeface="+mn-ea"/>
        <a:cs typeface="+mn-cs"/>
      </a:defRPr>
    </a:lvl3pPr>
    <a:lvl4pPr marL="1371600" algn="l" rtl="0" eaLnBrk="0" fontAlgn="base" hangingPunct="0">
      <a:spcBef>
        <a:spcPct val="0"/>
      </a:spcBef>
      <a:spcAft>
        <a:spcPct val="0"/>
      </a:spcAft>
      <a:defRPr sz="2400" kern="1200">
        <a:solidFill>
          <a:schemeClr val="tx1"/>
        </a:solidFill>
        <a:latin typeface="Times New Roman"/>
        <a:ea typeface="+mn-ea"/>
        <a:cs typeface="+mn-cs"/>
      </a:defRPr>
    </a:lvl4pPr>
    <a:lvl5pPr marL="1828800" algn="l" rtl="0" eaLnBrk="0" fontAlgn="base" hangingPunct="0">
      <a:spcBef>
        <a:spcPct val="0"/>
      </a:spcBef>
      <a:spcAft>
        <a:spcPct val="0"/>
      </a:spcAft>
      <a:defRPr sz="2400" kern="1200">
        <a:solidFill>
          <a:schemeClr val="tx1"/>
        </a:solidFill>
        <a:latin typeface="Times New Roman"/>
        <a:ea typeface="+mn-ea"/>
        <a:cs typeface="+mn-cs"/>
      </a:defRPr>
    </a:lvl5pPr>
    <a:lvl6pPr marL="2286000" algn="l" defTabSz="914400" rtl="0" eaLnBrk="1" latinLnBrk="1" hangingPunct="1">
      <a:defRPr sz="2400" kern="1200">
        <a:solidFill>
          <a:schemeClr val="tx1"/>
        </a:solidFill>
        <a:latin typeface="Times New Roman"/>
        <a:ea typeface="+mn-ea"/>
        <a:cs typeface="+mn-cs"/>
      </a:defRPr>
    </a:lvl6pPr>
    <a:lvl7pPr marL="2743200" algn="l" defTabSz="914400" rtl="0" eaLnBrk="1" latinLnBrk="1" hangingPunct="1">
      <a:defRPr sz="2400" kern="1200">
        <a:solidFill>
          <a:schemeClr val="tx1"/>
        </a:solidFill>
        <a:latin typeface="Times New Roman"/>
        <a:ea typeface="+mn-ea"/>
        <a:cs typeface="+mn-cs"/>
      </a:defRPr>
    </a:lvl7pPr>
    <a:lvl8pPr marL="3200400" algn="l" defTabSz="914400" rtl="0" eaLnBrk="1" latinLnBrk="1" hangingPunct="1">
      <a:defRPr sz="2400" kern="1200">
        <a:solidFill>
          <a:schemeClr val="tx1"/>
        </a:solidFill>
        <a:latin typeface="Times New Roman"/>
        <a:ea typeface="+mn-ea"/>
        <a:cs typeface="+mn-cs"/>
      </a:defRPr>
    </a:lvl8pPr>
    <a:lvl9pPr marL="3657600" algn="l" defTabSz="914400" rtl="0" eaLnBrk="1" latinLnBrk="1" hangingPunct="1">
      <a:defRPr sz="2400" kern="1200">
        <a:solidFill>
          <a:schemeClr val="tx1"/>
        </a:solidFill>
        <a:latin typeface="Times New Roman"/>
        <a:ea typeface="+mn-ea"/>
        <a:cs typeface="+mn-cs"/>
      </a:defRPr>
    </a:lvl9pPr>
  </p:defaultTextStyle>
  <p:extLst>
    <p:ext uri="{521415D9-36F7-43E2-AB2F-B90AF26B5E84}">
      <p14:sectionLst xmlns:p14="http://schemas.microsoft.com/office/powerpoint/2010/main">
        <p14:section id="{E6E2FE5C-AFCF-4F62-ABD2-EB85E88DE173}" name="기본 구역">
          <p14:sldIdLst>
            <p14:sldId id="256"/>
            <p14:sldId id="257"/>
            <p14:sldId id="258"/>
            <p14:sldId id="259"/>
          </p14:sldIdLst>
        </p14:section>
        <p14:section id="{A3906D06-9B71-4FB4-8137-3B6F4800E001}" name="제목 없는 구역">
          <p14:sldIdLst>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Lst>
        </p14:section>
      </p14:sectionLst>
    </p:ext>
  </p:extLst>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0845" autoAdjust="0"/>
    <p:restoredTop sz="95021" autoAdjust="0"/>
  </p:normalViewPr>
  <p:slideViewPr>
    <p:cSldViewPr>
      <p:cViewPr varScale="1">
        <p:scale>
          <a:sx n="100" d="100"/>
          <a:sy n="100" d="100"/>
        </p:scale>
        <p:origin x="2142" y="132"/>
      </p:cViewPr>
      <p:guideLst>
        <p:guide orient="horz" pos="2159"/>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542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slide" Target="slides/slide13.xml"  /><Relationship Id="rId17" Type="http://schemas.openxmlformats.org/officeDocument/2006/relationships/slide" Target="slides/slide14.xml"  /><Relationship Id="rId18" Type="http://schemas.openxmlformats.org/officeDocument/2006/relationships/slide" Target="slides/slide15.xml"  /><Relationship Id="rId19" Type="http://schemas.openxmlformats.org/officeDocument/2006/relationships/slide" Target="slides/slide16.xml"  /><Relationship Id="rId2" Type="http://schemas.openxmlformats.org/officeDocument/2006/relationships/notesMaster" Target="notesMasters/notesMaster1.xml"  /><Relationship Id="rId20" Type="http://schemas.openxmlformats.org/officeDocument/2006/relationships/slide" Target="slides/slide17.xml"  /><Relationship Id="rId21" Type="http://schemas.openxmlformats.org/officeDocument/2006/relationships/slide" Target="slides/slide18.xml"  /><Relationship Id="rId22" Type="http://schemas.openxmlformats.org/officeDocument/2006/relationships/slide" Target="slides/slide19.xml"  /><Relationship Id="rId23" Type="http://schemas.openxmlformats.org/officeDocument/2006/relationships/slide" Target="slides/slide20.xml"  /><Relationship Id="rId24" Type="http://schemas.openxmlformats.org/officeDocument/2006/relationships/slide" Target="slides/slide21.xml"  /><Relationship Id="rId25" Type="http://schemas.openxmlformats.org/officeDocument/2006/relationships/slide" Target="slides/slide22.xml"  /><Relationship Id="rId26" Type="http://schemas.openxmlformats.org/officeDocument/2006/relationships/slide" Target="slides/slide23.xml"  /><Relationship Id="rId27" Type="http://schemas.openxmlformats.org/officeDocument/2006/relationships/slide" Target="slides/slide24.xml"  /><Relationship Id="rId28" Type="http://schemas.openxmlformats.org/officeDocument/2006/relationships/slide" Target="slides/slide25.xml"  /><Relationship Id="rId29" Type="http://schemas.openxmlformats.org/officeDocument/2006/relationships/slide" Target="slides/slide26.xml"  /><Relationship Id="rId3" Type="http://schemas.openxmlformats.org/officeDocument/2006/relationships/handoutMaster" Target="handoutMasters/handoutMaster1.xml"  /><Relationship Id="rId30" Type="http://schemas.openxmlformats.org/officeDocument/2006/relationships/slide" Target="slides/slide27.xml"  /><Relationship Id="rId31" Type="http://schemas.openxmlformats.org/officeDocument/2006/relationships/slide" Target="slides/slide28.xml"  /><Relationship Id="rId32" Type="http://schemas.openxmlformats.org/officeDocument/2006/relationships/slide" Target="slides/slide29.xml"  /><Relationship Id="rId33" Type="http://schemas.openxmlformats.org/officeDocument/2006/relationships/slide" Target="slides/slide30.xml"  /><Relationship Id="rId34" Type="http://schemas.openxmlformats.org/officeDocument/2006/relationships/slide" Target="slides/slide31.xml"  /><Relationship Id="rId35" Type="http://schemas.openxmlformats.org/officeDocument/2006/relationships/slide" Target="slides/slide32.xml"  /><Relationship Id="rId36" Type="http://schemas.openxmlformats.org/officeDocument/2006/relationships/slide" Target="slides/slide33.xml"  /><Relationship Id="rId37" Type="http://schemas.openxmlformats.org/officeDocument/2006/relationships/slide" Target="slides/slide34.xml"  /><Relationship Id="rId38" Type="http://schemas.openxmlformats.org/officeDocument/2006/relationships/slide" Target="slides/slide35.xml"  /><Relationship Id="rId39" Type="http://schemas.openxmlformats.org/officeDocument/2006/relationships/slide" Target="slides/slide36.xml"  /><Relationship Id="rId4" Type="http://schemas.openxmlformats.org/officeDocument/2006/relationships/slide" Target="slides/slide1.xml"  /><Relationship Id="rId40" Type="http://schemas.openxmlformats.org/officeDocument/2006/relationships/slide" Target="slides/slide37.xml"  /><Relationship Id="rId41" Type="http://schemas.openxmlformats.org/officeDocument/2006/relationships/slide" Target="slides/slide38.xml"  /><Relationship Id="rId42" Type="http://schemas.openxmlformats.org/officeDocument/2006/relationships/slide" Target="slides/slide39.xml"  /><Relationship Id="rId43" Type="http://schemas.openxmlformats.org/officeDocument/2006/relationships/slide" Target="slides/slide40.xml"  /><Relationship Id="rId44" Type="http://schemas.openxmlformats.org/officeDocument/2006/relationships/slide" Target="slides/slide41.xml"  /><Relationship Id="rId45" Type="http://schemas.openxmlformats.org/officeDocument/2006/relationships/slide" Target="slides/slide42.xml"  /><Relationship Id="rId46" Type="http://schemas.openxmlformats.org/officeDocument/2006/relationships/slide" Target="slides/slide43.xml"  /><Relationship Id="rId47" Type="http://schemas.openxmlformats.org/officeDocument/2006/relationships/slide" Target="slides/slide44.xml"  /><Relationship Id="rId48" Type="http://schemas.openxmlformats.org/officeDocument/2006/relationships/slide" Target="slides/slide45.xml"  /><Relationship Id="rId49" Type="http://schemas.openxmlformats.org/officeDocument/2006/relationships/slide" Target="slides/slide46.xml"  /><Relationship Id="rId5" Type="http://schemas.openxmlformats.org/officeDocument/2006/relationships/slide" Target="slides/slide2.xml"  /><Relationship Id="rId50" Type="http://schemas.openxmlformats.org/officeDocument/2006/relationships/slide" Target="slides/slide47.xml"  /><Relationship Id="rId51" Type="http://schemas.openxmlformats.org/officeDocument/2006/relationships/slide" Target="slides/slide48.xml"  /><Relationship Id="rId52" Type="http://schemas.openxmlformats.org/officeDocument/2006/relationships/slide" Target="slides/slide49.xml"  /><Relationship Id="rId53" Type="http://schemas.openxmlformats.org/officeDocument/2006/relationships/slide" Target="slides/slide50.xml"  /><Relationship Id="rId54" Type="http://schemas.openxmlformats.org/officeDocument/2006/relationships/slide" Target="slides/slide51.xml"  /><Relationship Id="rId55" Type="http://schemas.openxmlformats.org/officeDocument/2006/relationships/slide" Target="slides/slide52.xml"  /><Relationship Id="rId56" Type="http://schemas.openxmlformats.org/officeDocument/2006/relationships/slide" Target="slides/slide53.xml"  /><Relationship Id="rId57" Type="http://schemas.openxmlformats.org/officeDocument/2006/relationships/slide" Target="slides/slide54.xml"  /><Relationship Id="rId58" Type="http://schemas.openxmlformats.org/officeDocument/2006/relationships/slide" Target="slides/slide55.xml"  /><Relationship Id="rId59" Type="http://schemas.openxmlformats.org/officeDocument/2006/relationships/slide" Target="slides/slide56.xml"  /><Relationship Id="rId6" Type="http://schemas.openxmlformats.org/officeDocument/2006/relationships/slide" Target="slides/slide3.xml"  /><Relationship Id="rId60" Type="http://schemas.openxmlformats.org/officeDocument/2006/relationships/slide" Target="slides/slide57.xml"  /><Relationship Id="rId61" Type="http://schemas.openxmlformats.org/officeDocument/2006/relationships/slide" Target="slides/slide58.xml"  /><Relationship Id="rId62" Type="http://schemas.openxmlformats.org/officeDocument/2006/relationships/slide" Target="slides/slide59.xml"  /><Relationship Id="rId63" Type="http://schemas.openxmlformats.org/officeDocument/2006/relationships/slide" Target="slides/slide60.xml"  /><Relationship Id="rId64" Type="http://schemas.openxmlformats.org/officeDocument/2006/relationships/slide" Target="slides/slide61.xml"  /><Relationship Id="rId65" Type="http://schemas.openxmlformats.org/officeDocument/2006/relationships/slide" Target="slides/slide62.xml"  /><Relationship Id="rId66" Type="http://schemas.openxmlformats.org/officeDocument/2006/relationships/slide" Target="slides/slide63.xml"  /><Relationship Id="rId67" Type="http://schemas.openxmlformats.org/officeDocument/2006/relationships/presProps" Target="presProps.xml"  /><Relationship Id="rId68" Type="http://schemas.openxmlformats.org/officeDocument/2006/relationships/viewProps" Target="viewProps.xml"  /><Relationship Id="rId69" Type="http://schemas.openxmlformats.org/officeDocument/2006/relationships/theme" Target="theme/theme1.xml"  /><Relationship Id="rId7" Type="http://schemas.openxmlformats.org/officeDocument/2006/relationships/slide" Target="slides/slide4.xml"  /><Relationship Id="rId70" Type="http://schemas.openxmlformats.org/officeDocument/2006/relationships/tableStyles" Target="tableStyles.xml"  /><Relationship Id="rId8" Type="http://schemas.openxmlformats.org/officeDocument/2006/relationships/slide" Target="slides/slide5.xml"  /><Relationship Id="rId9" Type="http://schemas.openxmlformats.org/officeDocument/2006/relationships/slide" Target="slides/slide6.xml"  /></Relationships>
</file>

<file path=ppt/_rels/viewProps.xml.rels><?xml version="1.0" encoding="UTF-8" standalone="yes" ?><Relationships xmlns="http://schemas.openxmlformats.org/package/2006/relationships"></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wmf"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chemeClr val="bg1"/>
        </a:solidFill>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idx="0"/>
          </p:nvPr>
        </p:nvSpPr>
        <p:spPr>
          <a:xfrm>
            <a:off x="0" y="0"/>
            <a:ext cx="2971800" cy="457200"/>
          </a:xfrm>
          <a:prstGeom prst="rect">
            <a:avLst/>
          </a:prstGeom>
          <a:noFill/>
          <a:ln w="9525">
            <a:noFill/>
            <a:miter/>
          </a:ln>
          <a:effectLst/>
        </p:spPr>
        <p:txBody>
          <a:bodyPr vert="horz" wrap="square" lIns="89999" tIns="46800" rIns="89999" bIns="46800" anchor="t" anchorCtr="0">
            <a:prstTxWarp prst="textNoShape">
              <a:avLst/>
            </a:prstTxWarp>
          </a:bodyPr>
          <a:lstStyle>
            <a:lvl1pPr>
              <a:defRPr sz="1200">
                <a:latin typeface="Times New Roman"/>
                <a:ea typeface="굴림"/>
              </a:defRPr>
            </a:lvl1pPr>
          </a:lstStyle>
          <a:p>
            <a:pPr>
              <a:defRPr/>
            </a:pPr>
            <a:r>
              <a:rPr lang="ko-KR" altLang="en-US"/>
              <a:t/>
            </a:r>
            <a:endParaRPr lang="ko-KR" altLang="en-US"/>
          </a:p>
        </p:txBody>
      </p:sp>
      <p:sp>
        <p:nvSpPr>
          <p:cNvPr id="84995" name="Rectangle 3"/>
          <p:cNvSpPr>
            <a:spLocks noGrp="1" noChangeArrowheads="1"/>
          </p:cNvSpPr>
          <p:nvPr>
            <p:ph type="dt" sz="quarter" idx="1"/>
          </p:nvPr>
        </p:nvSpPr>
        <p:spPr>
          <a:xfrm>
            <a:off x="3886200" y="0"/>
            <a:ext cx="2971800" cy="457200"/>
          </a:xfrm>
          <a:prstGeom prst="rect">
            <a:avLst/>
          </a:prstGeom>
          <a:noFill/>
          <a:ln w="9525">
            <a:noFill/>
            <a:miter/>
          </a:ln>
          <a:effectLst/>
        </p:spPr>
        <p:txBody>
          <a:bodyPr vert="horz" wrap="square" lIns="89999" tIns="46800" rIns="89999" bIns="46800" anchor="t" anchorCtr="0">
            <a:prstTxWarp prst="textNoShape">
              <a:avLst/>
            </a:prstTxWarp>
          </a:bodyPr>
          <a:lstStyle>
            <a:lvl1pPr algn="r">
              <a:defRPr sz="1200">
                <a:latin typeface="Times New Roman"/>
                <a:ea typeface="굴림"/>
              </a:defRPr>
            </a:lvl1pPr>
          </a:lstStyle>
          <a:p>
            <a:pPr>
              <a:defRPr/>
            </a:pPr>
            <a:r>
              <a:rPr lang="ko-KR" altLang="en-US"/>
              <a:t/>
            </a:r>
            <a:endParaRPr lang="ko-KR" altLang="en-US"/>
          </a:p>
        </p:txBody>
      </p:sp>
      <p:sp>
        <p:nvSpPr>
          <p:cNvPr id="84996" name="Rectangle 4"/>
          <p:cNvSpPr>
            <a:spLocks noGrp="1" noChangeArrowheads="1"/>
          </p:cNvSpPr>
          <p:nvPr>
            <p:ph type="ftr" sz="quarter" idx="2"/>
          </p:nvPr>
        </p:nvSpPr>
        <p:spPr>
          <a:xfrm>
            <a:off x="0" y="8686800"/>
            <a:ext cx="2971800" cy="457200"/>
          </a:xfrm>
          <a:prstGeom prst="rect">
            <a:avLst/>
          </a:prstGeom>
          <a:noFill/>
          <a:ln w="9525">
            <a:noFill/>
            <a:miter/>
          </a:ln>
          <a:effectLst/>
        </p:spPr>
        <p:txBody>
          <a:bodyPr vert="horz" wrap="square" lIns="89999" tIns="46800" rIns="89999" bIns="46800" anchor="b" anchorCtr="0">
            <a:prstTxWarp prst="textNoShape">
              <a:avLst/>
            </a:prstTxWarp>
          </a:bodyPr>
          <a:lstStyle>
            <a:lvl1pPr>
              <a:defRPr sz="1200">
                <a:latin typeface="Times New Roman"/>
                <a:ea typeface="굴림"/>
              </a:defRPr>
            </a:lvl1pPr>
          </a:lstStyle>
          <a:p>
            <a:pPr>
              <a:defRPr/>
            </a:pPr>
            <a:r>
              <a:rPr lang="ko-KR" altLang="en-US"/>
              <a:t/>
            </a:r>
            <a:endParaRPr lang="ko-KR" altLang="en-US"/>
          </a:p>
        </p:txBody>
      </p:sp>
      <p:sp>
        <p:nvSpPr>
          <p:cNvPr id="84997" name="Rectangle 5"/>
          <p:cNvSpPr>
            <a:spLocks noGrp="1" noChangeArrowheads="1"/>
          </p:cNvSpPr>
          <p:nvPr>
            <p:ph type="sldNum" sz="quarter" idx="3"/>
          </p:nvPr>
        </p:nvSpPr>
        <p:spPr>
          <a:xfrm>
            <a:off x="3886200" y="8686800"/>
            <a:ext cx="2971800" cy="457200"/>
          </a:xfrm>
          <a:prstGeom prst="rect">
            <a:avLst/>
          </a:prstGeom>
          <a:noFill/>
          <a:ln w="9525">
            <a:noFill/>
            <a:miter/>
          </a:ln>
          <a:effectLst/>
        </p:spPr>
        <p:txBody>
          <a:bodyPr vert="horz" wrap="square" lIns="89999" tIns="46800" rIns="89999" bIns="46800" anchor="b" anchorCtr="0">
            <a:prstTxWarp prst="textNoShape">
              <a:avLst/>
            </a:prstTxWarp>
          </a:bodyPr>
          <a:lstStyle>
            <a:lvl1pPr algn="r">
              <a:defRPr sz="1200" smtClean="0">
                <a:ea typeface="굴림"/>
              </a:defRPr>
            </a:lvl1pPr>
          </a:lstStyle>
          <a:p>
            <a:pPr>
              <a:defRPr/>
            </a:pPr>
            <a:fld id="{2C845633-836D-416C-A238-DAA62F9E51DF}" type="slidenum">
              <a:rPr lang="ko-KR" altLang="en-US"/>
              <a:pPr>
                <a:defRPr/>
              </a:pPr>
              <a:t>‹#›</a:t>
            </a:fld>
            <a:endParaRPr lang="en-US" altLang="ko-K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Pr shadeToTitle="0">
        <a:solidFill>
          <a:schemeClr val="bg1"/>
        </a:solidFill>
      </p:bgPr>
    </p:bg>
    <p:spTree>
      <p:nvGrpSpPr>
        <p:cNvPr id="1" name=""/>
        <p:cNvGrpSpPr/>
        <p:nvPr/>
      </p:nvGrpSpPr>
      <p:grpSpPr>
        <a:xfrm>
          <a:off x="0" y="0"/>
          <a:ext cx="0" cy="0"/>
          <a:chOff x="0" y="0"/>
          <a:chExt cx="0" cy="0"/>
        </a:xfrm>
      </p:grpSpPr>
      <p:sp>
        <p:nvSpPr>
          <p:cNvPr id="83970" name="Rectangle 2"/>
          <p:cNvSpPr>
            <a:spLocks noGrp="1" noChangeArrowheads="1"/>
          </p:cNvSpPr>
          <p:nvPr>
            <p:ph type="hdr" sz="quarter" idx="0"/>
          </p:nvPr>
        </p:nvSpPr>
        <p:spPr>
          <a:xfrm>
            <a:off x="0" y="0"/>
            <a:ext cx="2971800" cy="457200"/>
          </a:xfrm>
          <a:prstGeom prst="rect">
            <a:avLst/>
          </a:prstGeom>
          <a:noFill/>
          <a:ln w="9525">
            <a:noFill/>
            <a:miter/>
          </a:ln>
          <a:effectLst/>
        </p:spPr>
        <p:txBody>
          <a:bodyPr vert="horz" wrap="square" lIns="89999" tIns="46800" rIns="89999" bIns="46800" anchor="t" anchorCtr="0">
            <a:prstTxWarp prst="textNoShape">
              <a:avLst/>
            </a:prstTxWarp>
          </a:bodyPr>
          <a:lstStyle>
            <a:lvl1pPr>
              <a:defRPr sz="1200">
                <a:latin typeface="Times New Roman"/>
                <a:ea typeface="굴림"/>
              </a:defRPr>
            </a:lvl1pPr>
          </a:lstStyle>
          <a:p>
            <a:pPr>
              <a:defRPr/>
            </a:pPr>
            <a:r>
              <a:rPr lang="ko-KR" altLang="en-US"/>
              <a:t/>
            </a:r>
            <a:endParaRPr lang="ko-KR" altLang="en-US"/>
          </a:p>
        </p:txBody>
      </p:sp>
      <p:sp>
        <p:nvSpPr>
          <p:cNvPr id="83971" name="Rectangle 3"/>
          <p:cNvSpPr>
            <a:spLocks noGrp="1" noChangeArrowheads="1"/>
          </p:cNvSpPr>
          <p:nvPr>
            <p:ph type="dt" idx="1"/>
          </p:nvPr>
        </p:nvSpPr>
        <p:spPr>
          <a:xfrm>
            <a:off x="3886200" y="0"/>
            <a:ext cx="2971800" cy="457200"/>
          </a:xfrm>
          <a:prstGeom prst="rect">
            <a:avLst/>
          </a:prstGeom>
          <a:noFill/>
          <a:ln w="9525">
            <a:noFill/>
            <a:miter/>
          </a:ln>
          <a:effectLst/>
        </p:spPr>
        <p:txBody>
          <a:bodyPr vert="horz" wrap="square" lIns="89999" tIns="46800" rIns="89999" bIns="46800" anchor="t" anchorCtr="0">
            <a:prstTxWarp prst="textNoShape">
              <a:avLst/>
            </a:prstTxWarp>
          </a:bodyPr>
          <a:lstStyle>
            <a:lvl1pPr algn="r">
              <a:defRPr sz="1200">
                <a:latin typeface="Times New Roman"/>
                <a:ea typeface="굴림"/>
              </a:defRPr>
            </a:lvl1pPr>
          </a:lstStyle>
          <a:p>
            <a:pPr>
              <a:defRPr/>
            </a:pPr>
            <a:r>
              <a:rPr lang="ko-KR" altLang="en-US"/>
              <a:t/>
            </a:r>
            <a:endParaRPr lang="ko-KR" altLang="en-US"/>
          </a:p>
        </p:txBody>
      </p:sp>
      <p:sp>
        <p:nvSpPr>
          <p:cNvPr id="5124" name="Rectangle 4"/>
          <p:cNvSpPr>
            <a:spLocks noGrp="1" noRot="1" noChangeAspect="1" noChangeArrowheads="1" noTextEdit="1"/>
          </p:cNvSpPr>
          <p:nvPr>
            <p:ph type="sldImg" idx="2"/>
          </p:nvPr>
        </p:nvSpPr>
        <p:spPr>
          <a:xfrm>
            <a:off x="1143000" y="685800"/>
            <a:ext cx="4572000" cy="3429000"/>
          </a:xfrm>
          <a:prstGeom prst="rect">
            <a:avLst/>
          </a:prstGeom>
          <a:noFill/>
          <a:ln w="9525">
            <a:solidFill>
              <a:srgbClr val="000000"/>
            </a:solidFill>
            <a:miter/>
          </a:ln>
        </p:spPr>
      </p:sp>
      <p:sp>
        <p:nvSpPr>
          <p:cNvPr id="83973" name="Rectangle 5"/>
          <p:cNvSpPr>
            <a:spLocks noGrp="1" noChangeArrowheads="1"/>
          </p:cNvSpPr>
          <p:nvPr>
            <p:ph type="body" sz="quarter" idx="3"/>
          </p:nvPr>
        </p:nvSpPr>
        <p:spPr>
          <a:xfrm>
            <a:off x="914400" y="4343400"/>
            <a:ext cx="5029200" cy="4114800"/>
          </a:xfrm>
          <a:prstGeom prst="rect">
            <a:avLst/>
          </a:prstGeom>
          <a:noFill/>
          <a:ln w="9525">
            <a:noFill/>
            <a:miter/>
          </a:ln>
          <a:effectLst/>
        </p:spPr>
        <p:txBody>
          <a:bodyPr vert="horz" wrap="square" lIns="89999" tIns="46800" rIns="89999" bIns="46800" anchor="t" anchorCtr="0">
            <a:prstTxWarp prst="textNoShape">
              <a:avLst/>
            </a:prstTxWarp>
          </a:bodyPr>
          <a:lstStyle/>
          <a:p>
            <a:pPr lvl="0">
              <a:defRPr/>
            </a:pPr>
            <a:r>
              <a:rPr lang="en-US" altLang="ko-KR"/>
              <a:t>Click to edit Master text styles</a:t>
            </a:r>
            <a:endParaRPr lang="en-US" altLang="ko-KR"/>
          </a:p>
          <a:p>
            <a:pPr lvl="1">
              <a:defRPr/>
            </a:pPr>
            <a:r>
              <a:rPr lang="en-US" altLang="ko-KR"/>
              <a:t>Second level</a:t>
            </a:r>
            <a:endParaRPr lang="en-US" altLang="ko-KR"/>
          </a:p>
          <a:p>
            <a:pPr lvl="2">
              <a:defRPr/>
            </a:pPr>
            <a:r>
              <a:rPr lang="en-US" altLang="ko-KR"/>
              <a:t>Third level</a:t>
            </a:r>
            <a:endParaRPr lang="en-US" altLang="ko-KR"/>
          </a:p>
          <a:p>
            <a:pPr lvl="3">
              <a:defRPr/>
            </a:pPr>
            <a:r>
              <a:rPr lang="en-US" altLang="ko-KR"/>
              <a:t>Fourth level</a:t>
            </a:r>
            <a:endParaRPr lang="en-US" altLang="ko-KR"/>
          </a:p>
          <a:p>
            <a:pPr lvl="4">
              <a:defRPr/>
            </a:pPr>
            <a:r>
              <a:rPr lang="en-US" altLang="ko-KR"/>
              <a:t>Fifth level</a:t>
            </a:r>
            <a:endParaRPr lang="en-US" altLang="ko-KR"/>
          </a:p>
        </p:txBody>
      </p:sp>
      <p:sp>
        <p:nvSpPr>
          <p:cNvPr id="83974" name="Rectangle 6"/>
          <p:cNvSpPr>
            <a:spLocks noGrp="1" noChangeArrowheads="1"/>
          </p:cNvSpPr>
          <p:nvPr>
            <p:ph type="ftr" sz="quarter" idx="4"/>
          </p:nvPr>
        </p:nvSpPr>
        <p:spPr>
          <a:xfrm>
            <a:off x="0" y="8686800"/>
            <a:ext cx="2971800" cy="457200"/>
          </a:xfrm>
          <a:prstGeom prst="rect">
            <a:avLst/>
          </a:prstGeom>
          <a:noFill/>
          <a:ln w="9525">
            <a:noFill/>
            <a:miter/>
          </a:ln>
          <a:effectLst/>
        </p:spPr>
        <p:txBody>
          <a:bodyPr vert="horz" wrap="square" lIns="89999" tIns="46800" rIns="89999" bIns="46800" anchor="b" anchorCtr="0">
            <a:prstTxWarp prst="textNoShape">
              <a:avLst/>
            </a:prstTxWarp>
          </a:bodyPr>
          <a:lstStyle>
            <a:lvl1pPr>
              <a:defRPr sz="1200">
                <a:latin typeface="Times New Roman"/>
                <a:ea typeface="굴림"/>
              </a:defRPr>
            </a:lvl1pPr>
          </a:lstStyle>
          <a:p>
            <a:pPr>
              <a:defRPr/>
            </a:pPr>
            <a:r>
              <a:rPr lang="ko-KR" altLang="en-US"/>
              <a:t/>
            </a:r>
            <a:endParaRPr lang="ko-KR" altLang="en-US"/>
          </a:p>
        </p:txBody>
      </p:sp>
      <p:sp>
        <p:nvSpPr>
          <p:cNvPr id="83975" name="Rectangle 7"/>
          <p:cNvSpPr>
            <a:spLocks noGrp="1" noChangeArrowheads="1"/>
          </p:cNvSpPr>
          <p:nvPr>
            <p:ph type="sldNum" sz="quarter" idx="5"/>
          </p:nvPr>
        </p:nvSpPr>
        <p:spPr>
          <a:xfrm>
            <a:off x="3886200" y="8686800"/>
            <a:ext cx="2971800" cy="457200"/>
          </a:xfrm>
          <a:prstGeom prst="rect">
            <a:avLst/>
          </a:prstGeom>
          <a:noFill/>
          <a:ln w="9525">
            <a:noFill/>
            <a:miter/>
          </a:ln>
          <a:effectLst/>
        </p:spPr>
        <p:txBody>
          <a:bodyPr vert="horz" wrap="square" lIns="89999" tIns="46800" rIns="89999" bIns="46800" anchor="b" anchorCtr="0">
            <a:prstTxWarp prst="textNoShape">
              <a:avLst/>
            </a:prstTxWarp>
          </a:bodyPr>
          <a:lstStyle>
            <a:lvl1pPr algn="r">
              <a:defRPr sz="1200" smtClean="0">
                <a:ea typeface="굴림"/>
              </a:defRPr>
            </a:lvl1pPr>
          </a:lstStyle>
          <a:p>
            <a:pPr>
              <a:defRPr/>
            </a:pPr>
            <a:fld id="{99636047-C558-4C95-80B9-4D53BC23B9B2}" type="slidenum">
              <a:rPr lang="ko-KR" altLang="en-US"/>
              <a:pPr>
                <a:defRPr/>
              </a:pPr>
              <a:t>‹#›</a:t>
            </a:fld>
            <a:endParaRPr lang="en-US" altLang="ko-KR"/>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Times New Roman"/>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  /><Relationship Id="rId2"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  /><Relationship Id="rId2"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  /><Relationship Id="rId2"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  /><Relationship Id="rId2"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  /><Relationship Id="rId2"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  /><Relationship Id="rId2"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  /><Relationship Id="rId2"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  /><Relationship Id="rId2"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  /><Relationship Id="rId2"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  /><Relationship Id="rId2"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  /><Relationship Id="rId2"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  /><Relationship Id="rId2"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  /><Relationship Id="rId2"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  /><Relationship Id="rId2"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  /><Relationship Id="rId2"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  /><Relationship Id="rId2"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  /><Relationship Id="rId2"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  /><Relationship Id="rId2"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  /><Relationship Id="rId2" Type="http://schemas.openxmlformats.org/officeDocument/2006/relationships/notesMaster" Target="../notesMasters/notesMaster1.xml"  /></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  /><Relationship Id="rId2" Type="http://schemas.openxmlformats.org/officeDocument/2006/relationships/notesMaster" Target="../notesMasters/notesMaster1.xml"  /></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  /><Relationship Id="rId2" Type="http://schemas.openxmlformats.org/officeDocument/2006/relationships/notesMaster" Target="../notesMasters/notesMaster1.xml"  /></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  /><Relationship Id="rId2" Type="http://schemas.openxmlformats.org/officeDocument/2006/relationships/notesMaster" Target="../notesMasters/notesMaster1.xml"  /></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  /><Relationship Id="rId2" Type="http://schemas.openxmlformats.org/officeDocument/2006/relationships/notesMaster" Target="../notesMasters/notesMaster1.xml"  /></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46.xml"  /><Relationship Id="rId2" Type="http://schemas.openxmlformats.org/officeDocument/2006/relationships/notesMaster" Target="../notesMasters/notesMaster1.xml"  /></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47.xml"  /><Relationship Id="rId2" Type="http://schemas.openxmlformats.org/officeDocument/2006/relationships/notesMaster" Target="../notesMasters/notesMaster1.xml"  /></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48.xml"  /><Relationship Id="rId2" Type="http://schemas.openxmlformats.org/officeDocument/2006/relationships/notesMaster" Target="../notesMasters/notesMaster1.xml"  /></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49.xml"  /><Relationship Id="rId2" Type="http://schemas.openxmlformats.org/officeDocument/2006/relationships/notesMaster" Target="../notesMasters/notesMaster1.xml"  /></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50.xml"  /><Relationship Id="rId2" Type="http://schemas.openxmlformats.org/officeDocument/2006/relationships/notesMaster" Target="../notesMasters/notesMaster1.xml"  /></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51.xml"  /><Relationship Id="rId2" Type="http://schemas.openxmlformats.org/officeDocument/2006/relationships/notesMaster" Target="../notesMasters/notesMaster1.xml"  /></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52.xml"  /><Relationship Id="rId2" Type="http://schemas.openxmlformats.org/officeDocument/2006/relationships/notesMaster" Target="../notesMasters/notesMaster1.xml"  /></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53.xml"  /><Relationship Id="rId2" Type="http://schemas.openxmlformats.org/officeDocument/2006/relationships/notesMaster" Target="../notesMasters/notesMaster1.xml"  /></Relationships>
</file>

<file path=ppt/notesSlides/_rels/notesSlide54.xml.rels><?xml version="1.0" encoding="UTF-8" standalone="yes" ?><Relationships xmlns="http://schemas.openxmlformats.org/package/2006/relationships"><Relationship Id="rId1" Type="http://schemas.openxmlformats.org/officeDocument/2006/relationships/slide" Target="../slides/slide54.xml"  /><Relationship Id="rId2" Type="http://schemas.openxmlformats.org/officeDocument/2006/relationships/notesMaster" Target="../notesMasters/notesMaster1.xml"  /></Relationships>
</file>

<file path=ppt/notesSlides/_rels/notesSlide55.xml.rels><?xml version="1.0" encoding="UTF-8" standalone="yes" ?><Relationships xmlns="http://schemas.openxmlformats.org/package/2006/relationships"><Relationship Id="rId1" Type="http://schemas.openxmlformats.org/officeDocument/2006/relationships/slide" Target="../slides/slide55.xml"  /><Relationship Id="rId2" Type="http://schemas.openxmlformats.org/officeDocument/2006/relationships/notesMaster" Target="../notesMasters/notesMaster1.xml"  /></Relationships>
</file>

<file path=ppt/notesSlides/_rels/notesSlide56.xml.rels><?xml version="1.0" encoding="UTF-8" standalone="yes" ?><Relationships xmlns="http://schemas.openxmlformats.org/package/2006/relationships"><Relationship Id="rId1" Type="http://schemas.openxmlformats.org/officeDocument/2006/relationships/slide" Target="../slides/slide56.xml"  /><Relationship Id="rId2" Type="http://schemas.openxmlformats.org/officeDocument/2006/relationships/notesMaster" Target="../notesMasters/notesMaster1.xml"  /></Relationships>
</file>

<file path=ppt/notesSlides/_rels/notesSlide57.xml.rels><?xml version="1.0" encoding="UTF-8" standalone="yes" ?><Relationships xmlns="http://schemas.openxmlformats.org/package/2006/relationships"><Relationship Id="rId1" Type="http://schemas.openxmlformats.org/officeDocument/2006/relationships/slide" Target="../slides/slide57.xml"  /><Relationship Id="rId2" Type="http://schemas.openxmlformats.org/officeDocument/2006/relationships/notesMaster" Target="../notesMasters/notesMaster1.xml"  /></Relationships>
</file>

<file path=ppt/notesSlides/_rels/notesSlide58.xml.rels><?xml version="1.0" encoding="UTF-8" standalone="yes" ?><Relationships xmlns="http://schemas.openxmlformats.org/package/2006/relationships"><Relationship Id="rId1" Type="http://schemas.openxmlformats.org/officeDocument/2006/relationships/slide" Target="../slides/slide58.xml"  /><Relationship Id="rId2" Type="http://schemas.openxmlformats.org/officeDocument/2006/relationships/notesMaster" Target="../notesMasters/notesMaster1.xml"  /></Relationships>
</file>

<file path=ppt/notesSlides/_rels/notesSlide59.xml.rels><?xml version="1.0" encoding="UTF-8" standalone="yes" ?><Relationships xmlns="http://schemas.openxmlformats.org/package/2006/relationships"><Relationship Id="rId1" Type="http://schemas.openxmlformats.org/officeDocument/2006/relationships/slide" Target="../slides/slide59.xml"  /><Relationship Id="rId2" Type="http://schemas.openxmlformats.org/officeDocument/2006/relationships/notesMaster" Target="../notesMasters/notesMaster1.xml"  /></Relationships>
</file>

<file path=ppt/notesSlides/_rels/notesSlide60.xml.rels><?xml version="1.0" encoding="UTF-8" standalone="yes" ?><Relationships xmlns="http://schemas.openxmlformats.org/package/2006/relationships"><Relationship Id="rId1" Type="http://schemas.openxmlformats.org/officeDocument/2006/relationships/slide" Target="../slides/slide60.xml"  /><Relationship Id="rId2" Type="http://schemas.openxmlformats.org/officeDocument/2006/relationships/notesMaster" Target="../notesMasters/notesMaster1.xml"  /></Relationships>
</file>

<file path=ppt/notesSlides/_rels/notesSlide61.xml.rels><?xml version="1.0" encoding="UTF-8" standalone="yes" ?><Relationships xmlns="http://schemas.openxmlformats.org/package/2006/relationships"><Relationship Id="rId1" Type="http://schemas.openxmlformats.org/officeDocument/2006/relationships/slide" Target="../slides/slide61.xml"  /><Relationship Id="rId2" Type="http://schemas.openxmlformats.org/officeDocument/2006/relationships/notesMaster" Target="../notesMasters/notesMaster1.xml"  /></Relationships>
</file>

<file path=ppt/notesSlides/_rels/notesSlide62.xml.rels><?xml version="1.0" encoding="UTF-8" standalone="yes" ?><Relationships xmlns="http://schemas.openxmlformats.org/package/2006/relationships"><Relationship Id="rId1" Type="http://schemas.openxmlformats.org/officeDocument/2006/relationships/slide" Target="../slides/slide62.xml"  /><Relationship Id="rId2" Type="http://schemas.openxmlformats.org/officeDocument/2006/relationships/notesMaster" Target="../notesMasters/notesMaster1.xml"  /></Relationships>
</file>

<file path=ppt/notesSlides/_rels/notesSlide63.xml.rels><?xml version="1.0" encoding="UTF-8" standalone="yes" ?><Relationships xmlns="http://schemas.openxmlformats.org/package/2006/relationships"><Relationship Id="rId1" Type="http://schemas.openxmlformats.org/officeDocument/2006/relationships/slide" Target="../slides/slide63.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05C0D3DC-FD91-4CF1-8603-A5E5D5DDA03D}" type="slidenum">
              <a:rPr lang="en-US" altLang="en-US" sz="1200"/>
              <a:pPr lvl="0">
                <a:defRPr/>
              </a:pPr>
              <a:t>1</a:t>
            </a:fld>
            <a:endParaRPr lang="en-US" altLang="en-US" sz="1200"/>
          </a:p>
        </p:txBody>
      </p:sp>
      <p:sp>
        <p:nvSpPr>
          <p:cNvPr id="8195" name="Rectangle 2"/>
          <p:cNvSpPr>
            <a:spLocks noGrp="1" noRot="1" noChangeAspect="1" noChangeArrowheads="1" noTextEdit="1"/>
          </p:cNvSpPr>
          <p:nvPr>
            <p:ph type="sldImg" idx="0"/>
          </p:nvPr>
        </p:nvSpPr>
        <p:spPr>
          <a:ln/>
        </p:spPr>
      </p:sp>
      <p:sp>
        <p:nvSpPr>
          <p:cNvPr id="8196" name="Rectangle 3"/>
          <p:cNvSpPr>
            <a:spLocks noGrp="1" noChangeArrowheads="1"/>
          </p:cNvSpPr>
          <p:nvPr>
            <p:ph type="body" idx="1"/>
          </p:nvPr>
        </p:nvSpPr>
        <p:spPr>
          <a:noFill/>
          <a:ln/>
        </p:spPr>
        <p:txBody>
          <a:bodyPr/>
          <a:lstStyle/>
          <a:p>
            <a:pPr lvl="0">
              <a:defRPr/>
            </a:pPr>
            <a:r>
              <a:rPr lang="ko-KR" altLang="en-US">
                <a:ea typeface="굴림"/>
              </a:rPr>
              <a:t/>
            </a:r>
            <a:endParaRPr lang="ko-KR" altLang="en-US">
              <a:ea typeface="굴림"/>
            </a:endParaRPr>
          </a:p>
        </p:txBody>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0242" name="슬라이드 이미지 개체 틀 1"/>
          <p:cNvSpPr>
            <a:spLocks noGrp="1" noRot="1" noChangeAspect="1" noChangeArrowheads="1" noTextEdit="1"/>
          </p:cNvSpPr>
          <p:nvPr>
            <p:ph type="sldImg" idx="0"/>
          </p:nvPr>
        </p:nvSpPr>
        <p:spPr>
          <a:ln/>
        </p:spPr>
      </p:sp>
      <p:sp>
        <p:nvSpPr>
          <p:cNvPr id="10243"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10244"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5AF0E52B-BE49-4EC4-A050-32453E09626F}" type="slidenum">
              <a:rPr lang="en-US" altLang="en-US" sz="1200"/>
              <a:pPr lvl="0">
                <a:defRPr/>
              </a:pPr>
              <a:t>2</a:t>
            </a:fld>
            <a:endParaRPr lang="en-US" altLang="en-US" sz="1200"/>
          </a:p>
        </p:txBody>
      </p:sp>
    </p:spTree>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2290" name="슬라이드 이미지 개체 틀 1"/>
          <p:cNvSpPr>
            <a:spLocks noGrp="1" noRot="1" noChangeAspect="1" noChangeArrowheads="1" noTextEdit="1"/>
          </p:cNvSpPr>
          <p:nvPr>
            <p:ph type="sldImg" idx="0"/>
          </p:nvPr>
        </p:nvSpPr>
        <p:spPr>
          <a:ln/>
        </p:spPr>
      </p:sp>
      <p:sp>
        <p:nvSpPr>
          <p:cNvPr id="12291"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12292"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23B2266D-831B-492F-97DE-8847B7355899}" type="slidenum">
              <a:rPr lang="en-US" altLang="en-US" sz="1200"/>
              <a:pPr lvl="0">
                <a:defRPr/>
              </a:pPr>
              <a:t>3</a:t>
            </a:fld>
            <a:endParaRPr lang="en-US" altLang="en-US" sz="1200"/>
          </a:p>
        </p:txBody>
      </p:sp>
    </p:spTree>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00354" name="슬라이드 이미지 개체 틀 1"/>
          <p:cNvSpPr>
            <a:spLocks noGrp="1" noRot="1" noChangeAspect="1" noChangeArrowheads="1" noTextEdit="1"/>
          </p:cNvSpPr>
          <p:nvPr>
            <p:ph type="sldImg" idx="0"/>
          </p:nvPr>
        </p:nvSpPr>
        <p:spPr>
          <a:ln/>
        </p:spPr>
      </p:sp>
      <p:sp>
        <p:nvSpPr>
          <p:cNvPr id="100355"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100356"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11666A3A-E834-44A1-8660-9D517792921F}" type="slidenum">
              <a:rPr lang="en-US" altLang="en-US" sz="1200"/>
              <a:pPr lvl="0">
                <a:defRPr/>
              </a:pPr>
              <a:t>4</a:t>
            </a:fld>
            <a:endParaRPr lang="en-US" altLang="en-US" sz="1200"/>
          </a:p>
        </p:txBody>
      </p:sp>
    </p:spTree>
  </p:cSld>
  <p:clrMapOvr>
    <a:masterClrMapping/>
  </p:clrMapOvr>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4818" name="슬라이드 이미지 개체 틀 1"/>
          <p:cNvSpPr>
            <a:spLocks noGrp="1" noRot="1" noChangeAspect="1" noChangeArrowheads="1" noTextEdit="1"/>
          </p:cNvSpPr>
          <p:nvPr>
            <p:ph type="sldImg" idx="0"/>
          </p:nvPr>
        </p:nvSpPr>
        <p:spPr>
          <a:ln/>
        </p:spPr>
      </p:sp>
      <p:sp>
        <p:nvSpPr>
          <p:cNvPr id="34819"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34820"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FF2A3C73-F17A-435F-9E6D-AA213ADB74A1}" type="slidenum">
              <a:rPr lang="en-US" altLang="en-US" sz="1200"/>
              <a:pPr lvl="0">
                <a:defRPr/>
              </a:pPr>
              <a:t>5</a:t>
            </a:fld>
            <a:endParaRPr lang="en-US" altLang="en-US" sz="1200"/>
          </a:p>
        </p:txBody>
      </p:sp>
    </p:spTree>
  </p:cSld>
  <p:clrMapOvr>
    <a:masterClrMapping/>
  </p:clrMapOvr>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4338" name="슬라이드 이미지 개체 틀 1"/>
          <p:cNvSpPr>
            <a:spLocks noGrp="1" noRot="1" noChangeAspect="1" noChangeArrowheads="1" noTextEdit="1"/>
          </p:cNvSpPr>
          <p:nvPr>
            <p:ph type="sldImg" idx="0"/>
          </p:nvPr>
        </p:nvSpPr>
        <p:spPr>
          <a:ln/>
        </p:spPr>
      </p:sp>
      <p:sp>
        <p:nvSpPr>
          <p:cNvPr id="14339"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14340"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0567C385-C038-4C3F-B859-05AC652C5D22}" type="slidenum">
              <a:rPr lang="en-US" altLang="en-US" sz="1200"/>
              <a:pPr lvl="0">
                <a:defRPr/>
              </a:pPr>
              <a:t>6</a:t>
            </a:fld>
            <a:endParaRPr lang="en-US" altLang="en-US" sz="1200"/>
          </a:p>
        </p:txBody>
      </p:sp>
    </p:spTree>
  </p:cSld>
  <p:clrMapOvr>
    <a:masterClrMapping/>
  </p:clrMapOvr>
</p:notes>
</file>

<file path=ppt/notesSlides/notesSlide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6386" name="슬라이드 이미지 개체 틀 1"/>
          <p:cNvSpPr>
            <a:spLocks noGrp="1" noRot="1" noChangeAspect="1" noChangeArrowheads="1" noTextEdit="1"/>
          </p:cNvSpPr>
          <p:nvPr>
            <p:ph type="sldImg" idx="0"/>
          </p:nvPr>
        </p:nvSpPr>
        <p:spPr>
          <a:ln/>
        </p:spPr>
      </p:sp>
      <p:sp>
        <p:nvSpPr>
          <p:cNvPr id="16387"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16388"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EC88BFB1-CD2A-47B5-BE4D-B4E86DBC7246}" type="slidenum">
              <a:rPr lang="en-US" altLang="en-US" sz="1200"/>
              <a:pPr lvl="0">
                <a:defRPr/>
              </a:pPr>
              <a:t>7</a:t>
            </a:fld>
            <a:endParaRPr lang="en-US" altLang="en-US" sz="1200"/>
          </a:p>
        </p:txBody>
      </p:sp>
    </p:spTree>
  </p:cSld>
  <p:clrMapOvr>
    <a:masterClrMapping/>
  </p:clrMapOvr>
</p:notes>
</file>

<file path=ppt/notesSlides/notesSlide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8434" name="슬라이드 이미지 개체 틀 1"/>
          <p:cNvSpPr>
            <a:spLocks noGrp="1" noRot="1" noChangeAspect="1" noChangeArrowheads="1" noTextEdit="1"/>
          </p:cNvSpPr>
          <p:nvPr>
            <p:ph type="sldImg" idx="0"/>
          </p:nvPr>
        </p:nvSpPr>
        <p:spPr>
          <a:ln/>
        </p:spPr>
      </p:sp>
      <p:sp>
        <p:nvSpPr>
          <p:cNvPr id="18435"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18436"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537FF7FB-7A71-43AC-8215-ADF41558A782}" type="slidenum">
              <a:rPr lang="en-US" altLang="en-US" sz="1200"/>
              <a:pPr lvl="0">
                <a:defRPr/>
              </a:pPr>
              <a:t>8</a:t>
            </a:fld>
            <a:endParaRPr lang="en-US" altLang="en-US" sz="1200"/>
          </a:p>
        </p:txBody>
      </p:sp>
    </p:spTree>
  </p:cSld>
  <p:clrMapOvr>
    <a:masterClrMapping/>
  </p:clrMapOvr>
</p:notes>
</file>

<file path=ppt/notesSlides/notesSlide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0482" name="슬라이드 이미지 개체 틀 1"/>
          <p:cNvSpPr>
            <a:spLocks noGrp="1" noRot="1" noChangeAspect="1" noChangeArrowheads="1" noTextEdit="1"/>
          </p:cNvSpPr>
          <p:nvPr>
            <p:ph type="sldImg" idx="0"/>
          </p:nvPr>
        </p:nvSpPr>
        <p:spPr>
          <a:ln/>
        </p:spPr>
      </p:sp>
      <p:sp>
        <p:nvSpPr>
          <p:cNvPr id="20483"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20484"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3E5DD4CE-EDC2-4967-8E4E-B424934C3EAF}" type="slidenum">
              <a:rPr lang="en-US" altLang="en-US" sz="1200"/>
              <a:pPr lvl="0">
                <a:defRPr/>
              </a:pPr>
              <a:t>9</a:t>
            </a:fld>
            <a:endParaRPr lang="en-US" altLang="en-US" sz="1200"/>
          </a:p>
        </p:txBody>
      </p:sp>
    </p:spTree>
  </p:cSld>
  <p:clrMapOvr>
    <a:masterClrMapping/>
  </p:clrMapOvr>
</p:notes>
</file>

<file path=ppt/notesSlides/notesSlide1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2530" name="슬라이드 이미지 개체 틀 1"/>
          <p:cNvSpPr>
            <a:spLocks noGrp="1" noRot="1" noChangeAspect="1" noChangeArrowheads="1" noTextEdit="1"/>
          </p:cNvSpPr>
          <p:nvPr>
            <p:ph type="sldImg" idx="0"/>
          </p:nvPr>
        </p:nvSpPr>
        <p:spPr>
          <a:ln/>
        </p:spPr>
      </p:sp>
      <p:sp>
        <p:nvSpPr>
          <p:cNvPr id="22531"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22532"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AF21E9FD-18D6-43EE-B437-1D8750F3E887}" type="slidenum">
              <a:rPr lang="en-US" altLang="en-US" sz="1200"/>
              <a:pPr lvl="0">
                <a:defRPr/>
              </a:pPr>
              <a:t>10</a:t>
            </a:fld>
            <a:endParaRPr lang="en-US" altLang="en-US" sz="1200"/>
          </a:p>
        </p:txBody>
      </p:sp>
    </p:spTree>
  </p:cSld>
  <p:clrMapOvr>
    <a:masterClrMapping/>
  </p:clrMapOvr>
</p:notes>
</file>

<file path=ppt/notesSlides/notesSlide1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2ED2AF04-3AEC-4CAF-BBB0-AABB1E492DDF}" type="slidenum">
              <a:rPr lang="en-US" altLang="en-US" sz="1200"/>
              <a:pPr lvl="0">
                <a:defRPr/>
              </a:pPr>
              <a:t>11</a:t>
            </a:fld>
            <a:endParaRPr lang="en-US" altLang="en-US" sz="1200"/>
          </a:p>
        </p:txBody>
      </p:sp>
      <p:sp>
        <p:nvSpPr>
          <p:cNvPr id="24579" name="Rectangle 2"/>
          <p:cNvSpPr>
            <a:spLocks noGrp="1" noRot="1" noChangeAspect="1" noChangeArrowheads="1" noTextEdit="1"/>
          </p:cNvSpPr>
          <p:nvPr>
            <p:ph type="sldImg" idx="0"/>
          </p:nvPr>
        </p:nvSpPr>
        <p:spPr>
          <a:ln/>
        </p:spPr>
      </p:sp>
      <p:sp>
        <p:nvSpPr>
          <p:cNvPr id="24580" name="Rectangle 3"/>
          <p:cNvSpPr>
            <a:spLocks noGrp="1" noChangeArrowheads="1"/>
          </p:cNvSpPr>
          <p:nvPr>
            <p:ph type="body" idx="1"/>
          </p:nvPr>
        </p:nvSpPr>
        <p:spPr>
          <a:noFill/>
          <a:ln/>
        </p:spPr>
        <p:txBody>
          <a:bodyPr/>
          <a:lstStyle/>
          <a:p>
            <a:pPr lvl="0">
              <a:defRPr/>
            </a:pPr>
            <a:r>
              <a:rPr lang="ko-KR" altLang="en-US">
                <a:ea typeface="굴림"/>
              </a:rPr>
              <a:t/>
            </a:r>
            <a:endParaRPr lang="ko-KR" altLang="en-US">
              <a:ea typeface="굴림"/>
            </a:endParaRPr>
          </a:p>
        </p:txBody>
      </p:sp>
    </p:spTree>
  </p:cSld>
  <p:clrMapOvr>
    <a:masterClrMapping/>
  </p:clrMapOvr>
</p:notes>
</file>

<file path=ppt/notesSlides/notesSlide1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4DBD22E4-9A8D-49CF-A905-CC07326732D1}" type="slidenum">
              <a:rPr lang="en-US" altLang="en-US" sz="1200"/>
              <a:pPr lvl="0">
                <a:defRPr/>
              </a:pPr>
              <a:t>12</a:t>
            </a:fld>
            <a:endParaRPr lang="en-US" altLang="en-US" sz="1200"/>
          </a:p>
        </p:txBody>
      </p:sp>
      <p:sp>
        <p:nvSpPr>
          <p:cNvPr id="26627" name="Rectangle 2"/>
          <p:cNvSpPr>
            <a:spLocks noGrp="1" noRot="1" noChangeAspect="1" noChangeArrowheads="1" noTextEdit="1"/>
          </p:cNvSpPr>
          <p:nvPr>
            <p:ph type="sldImg" idx="0"/>
          </p:nvPr>
        </p:nvSpPr>
        <p:spPr>
          <a:ln/>
        </p:spPr>
      </p:sp>
      <p:sp>
        <p:nvSpPr>
          <p:cNvPr id="26628" name="Rectangle 3"/>
          <p:cNvSpPr>
            <a:spLocks noGrp="1" noChangeArrowheads="1"/>
          </p:cNvSpPr>
          <p:nvPr>
            <p:ph type="body" idx="1"/>
          </p:nvPr>
        </p:nvSpPr>
        <p:spPr>
          <a:noFill/>
          <a:ln/>
        </p:spPr>
        <p:txBody>
          <a:bodyPr/>
          <a:lstStyle/>
          <a:p>
            <a:pPr lvl="0">
              <a:defRPr/>
            </a:pPr>
            <a:r>
              <a:rPr lang="ko-KR" altLang="en-US">
                <a:ea typeface="굴림"/>
              </a:rPr>
              <a:t/>
            </a:r>
            <a:endParaRPr lang="ko-KR" altLang="en-US">
              <a:ea typeface="굴림"/>
            </a:endParaRPr>
          </a:p>
        </p:txBody>
      </p:sp>
    </p:spTree>
  </p:cSld>
  <p:clrMapOvr>
    <a:masterClrMapping/>
  </p:clrMapOvr>
</p:notes>
</file>

<file path=ppt/notesSlides/notesSlide1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8674" name="슬라이드 이미지 개체 틀 1"/>
          <p:cNvSpPr>
            <a:spLocks noGrp="1" noRot="1" noChangeAspect="1" noChangeArrowheads="1" noTextEdit="1"/>
          </p:cNvSpPr>
          <p:nvPr>
            <p:ph type="sldImg" idx="0"/>
          </p:nvPr>
        </p:nvSpPr>
        <p:spPr>
          <a:ln/>
        </p:spPr>
      </p:sp>
      <p:sp>
        <p:nvSpPr>
          <p:cNvPr id="28675"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28676"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EFAC4AC9-4F96-4D91-B1FC-3EDBBA339424}" type="slidenum">
              <a:rPr lang="en-US" altLang="en-US" sz="1200"/>
              <a:pPr lvl="0">
                <a:defRPr/>
              </a:pPr>
              <a:t>13</a:t>
            </a:fld>
            <a:endParaRPr lang="en-US" altLang="en-US" sz="1200"/>
          </a:p>
        </p:txBody>
      </p:sp>
    </p:spTree>
  </p:cSld>
  <p:clrMapOvr>
    <a:masterClrMapping/>
  </p:clrMapOvr>
</p:notes>
</file>

<file path=ppt/notesSlides/notesSlide1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0722" name="슬라이드 이미지 개체 틀 1"/>
          <p:cNvSpPr>
            <a:spLocks noGrp="1" noRot="1" noChangeAspect="1" noChangeArrowheads="1" noTextEdit="1"/>
          </p:cNvSpPr>
          <p:nvPr>
            <p:ph type="sldImg" idx="0"/>
          </p:nvPr>
        </p:nvSpPr>
        <p:spPr>
          <a:ln/>
        </p:spPr>
      </p:sp>
      <p:sp>
        <p:nvSpPr>
          <p:cNvPr id="30723"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30724"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73D25171-5327-4F89-AABC-386F4D8B6CC9}" type="slidenum">
              <a:rPr lang="en-US" altLang="en-US" sz="1200"/>
              <a:pPr lvl="0">
                <a:defRPr/>
              </a:pPr>
              <a:t>14</a:t>
            </a:fld>
            <a:endParaRPr lang="en-US" altLang="en-US" sz="1200"/>
          </a:p>
        </p:txBody>
      </p:sp>
    </p:spTree>
  </p:cSld>
  <p:clrMapOvr>
    <a:masterClrMapping/>
  </p:clrMapOvr>
</p:notes>
</file>

<file path=ppt/notesSlides/notesSlide1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2770" name="슬라이드 이미지 개체 틀 1"/>
          <p:cNvSpPr>
            <a:spLocks noGrp="1" noRot="1" noChangeAspect="1" noChangeArrowheads="1" noTextEdit="1"/>
          </p:cNvSpPr>
          <p:nvPr>
            <p:ph type="sldImg" idx="0"/>
          </p:nvPr>
        </p:nvSpPr>
        <p:spPr>
          <a:ln/>
        </p:spPr>
      </p:sp>
      <p:sp>
        <p:nvSpPr>
          <p:cNvPr id="32771"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32772"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BB88B019-1EA1-42C7-B598-B6699F1B5A62}" type="slidenum">
              <a:rPr lang="en-US" altLang="en-US" sz="1200"/>
              <a:pPr lvl="0">
                <a:defRPr/>
              </a:pPr>
              <a:t>15</a:t>
            </a:fld>
            <a:endParaRPr lang="en-US" altLang="en-US" sz="1200"/>
          </a:p>
        </p:txBody>
      </p:sp>
    </p:spTree>
  </p:cSld>
  <p:clrMapOvr>
    <a:masterClrMapping/>
  </p:clrMapOvr>
</p:notes>
</file>

<file path=ppt/notesSlides/notesSlide1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8914" name="슬라이드 이미지 개체 틀 1"/>
          <p:cNvSpPr>
            <a:spLocks noGrp="1" noRot="1" noChangeAspect="1" noChangeArrowheads="1" noTextEdit="1"/>
          </p:cNvSpPr>
          <p:nvPr>
            <p:ph type="sldImg" idx="0"/>
          </p:nvPr>
        </p:nvSpPr>
        <p:spPr>
          <a:ln/>
        </p:spPr>
      </p:sp>
      <p:sp>
        <p:nvSpPr>
          <p:cNvPr id="38915"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38916"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A9D4E92F-91E1-4008-8A9F-7DCA9406169A}" type="slidenum">
              <a:rPr lang="en-US" altLang="en-US" sz="1200"/>
              <a:pPr lvl="0">
                <a:defRPr/>
              </a:pPr>
              <a:t>16</a:t>
            </a:fld>
            <a:endParaRPr lang="en-US" altLang="en-US" sz="1200"/>
          </a:p>
        </p:txBody>
      </p:sp>
    </p:spTree>
  </p:cSld>
  <p:clrMapOvr>
    <a:masterClrMapping/>
  </p:clrMapOvr>
</p:notes>
</file>

<file path=ppt/notesSlides/notesSlide1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40962" name="슬라이드 이미지 개체 틀 1"/>
          <p:cNvSpPr>
            <a:spLocks noGrp="1" noRot="1" noChangeAspect="1" noChangeArrowheads="1" noTextEdit="1"/>
          </p:cNvSpPr>
          <p:nvPr>
            <p:ph type="sldImg" idx="0"/>
          </p:nvPr>
        </p:nvSpPr>
        <p:spPr>
          <a:ln/>
        </p:spPr>
      </p:sp>
      <p:sp>
        <p:nvSpPr>
          <p:cNvPr id="40963"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40964"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A9F204F7-DAD2-4A0A-B288-742BE45EC74E}" type="slidenum">
              <a:rPr lang="en-US" altLang="en-US" sz="1200"/>
              <a:pPr lvl="0">
                <a:defRPr/>
              </a:pPr>
              <a:t>17</a:t>
            </a:fld>
            <a:endParaRPr lang="en-US" altLang="en-US" sz="1200"/>
          </a:p>
        </p:txBody>
      </p:sp>
    </p:spTree>
  </p:cSld>
  <p:clrMapOvr>
    <a:masterClrMapping/>
  </p:clrMapOvr>
</p:notes>
</file>

<file path=ppt/notesSlides/notesSlide1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43010" name="슬라이드 이미지 개체 틀 1"/>
          <p:cNvSpPr>
            <a:spLocks noGrp="1" noRot="1" noChangeAspect="1" noChangeArrowheads="1" noTextEdit="1"/>
          </p:cNvSpPr>
          <p:nvPr>
            <p:ph type="sldImg" idx="0"/>
          </p:nvPr>
        </p:nvSpPr>
        <p:spPr>
          <a:ln/>
        </p:spPr>
      </p:sp>
      <p:sp>
        <p:nvSpPr>
          <p:cNvPr id="43011"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43012"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99150A83-C1D5-4716-B590-7F12CE03D8B3}" type="slidenum">
              <a:rPr lang="en-US" altLang="en-US" sz="1200"/>
              <a:pPr lvl="0">
                <a:defRPr/>
              </a:pPr>
              <a:t>18</a:t>
            </a:fld>
            <a:endParaRPr lang="en-US" altLang="en-US" sz="1200"/>
          </a:p>
        </p:txBody>
      </p:sp>
    </p:spTree>
  </p:cSld>
  <p:clrMapOvr>
    <a:masterClrMapping/>
  </p:clrMapOvr>
</p:notes>
</file>

<file path=ppt/notesSlides/notesSlide1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45058" name="슬라이드 이미지 개체 틀 1"/>
          <p:cNvSpPr>
            <a:spLocks noGrp="1" noRot="1" noChangeAspect="1" noChangeArrowheads="1" noTextEdit="1"/>
          </p:cNvSpPr>
          <p:nvPr>
            <p:ph type="sldImg" idx="0"/>
          </p:nvPr>
        </p:nvSpPr>
        <p:spPr>
          <a:ln/>
        </p:spPr>
      </p:sp>
      <p:sp>
        <p:nvSpPr>
          <p:cNvPr id="45059"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45060"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B13F6D4A-A6E0-4875-A4D4-432C2CB4F3AC}" type="slidenum">
              <a:rPr lang="en-US" altLang="en-US" sz="1200"/>
              <a:pPr lvl="0">
                <a:defRPr/>
              </a:pPr>
              <a:t>19</a:t>
            </a:fld>
            <a:endParaRPr lang="en-US" altLang="en-US" sz="1200"/>
          </a:p>
        </p:txBody>
      </p:sp>
    </p:spTree>
  </p:cSld>
  <p:clrMapOvr>
    <a:masterClrMapping/>
  </p:clrMapOvr>
</p:notes>
</file>

<file path=ppt/notesSlides/notesSlide2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47106" name="슬라이드 이미지 개체 틀 1"/>
          <p:cNvSpPr>
            <a:spLocks noGrp="1" noRot="1" noChangeAspect="1" noChangeArrowheads="1" noTextEdit="1"/>
          </p:cNvSpPr>
          <p:nvPr>
            <p:ph type="sldImg" idx="0"/>
          </p:nvPr>
        </p:nvSpPr>
        <p:spPr>
          <a:ln/>
        </p:spPr>
      </p:sp>
      <p:sp>
        <p:nvSpPr>
          <p:cNvPr id="47107"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47108"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90EA7626-2A4B-4173-BEAA-35222A5653EF}" type="slidenum">
              <a:rPr lang="en-US" altLang="en-US" sz="1200"/>
              <a:pPr lvl="0">
                <a:defRPr/>
              </a:pPr>
              <a:t>20</a:t>
            </a:fld>
            <a:endParaRPr lang="en-US" altLang="en-US" sz="1200"/>
          </a:p>
        </p:txBody>
      </p:sp>
    </p:spTree>
  </p:cSld>
  <p:clrMapOvr>
    <a:masterClrMapping/>
  </p:clrMapOvr>
</p:notes>
</file>

<file path=ppt/notesSlides/notesSlide2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49154" name="슬라이드 이미지 개체 틀 1"/>
          <p:cNvSpPr>
            <a:spLocks noGrp="1" noRot="1" noChangeAspect="1" noChangeArrowheads="1" noTextEdit="1"/>
          </p:cNvSpPr>
          <p:nvPr>
            <p:ph type="sldImg" idx="0"/>
          </p:nvPr>
        </p:nvSpPr>
        <p:spPr>
          <a:ln/>
        </p:spPr>
      </p:sp>
      <p:sp>
        <p:nvSpPr>
          <p:cNvPr id="49155"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49156"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C5873828-D575-4C7A-8E4F-EC874114A1C1}" type="slidenum">
              <a:rPr lang="en-US" altLang="en-US" sz="1200"/>
              <a:pPr lvl="0">
                <a:defRPr/>
              </a:pPr>
              <a:t>21</a:t>
            </a:fld>
            <a:endParaRPr lang="en-US" altLang="en-US" sz="1200"/>
          </a:p>
        </p:txBody>
      </p:sp>
    </p:spTree>
  </p:cSld>
  <p:clrMapOvr>
    <a:masterClrMapping/>
  </p:clrMapOvr>
</p:notes>
</file>

<file path=ppt/notesSlides/notesSlide2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51202" name="슬라이드 이미지 개체 틀 1"/>
          <p:cNvSpPr>
            <a:spLocks noGrp="1" noRot="1" noChangeAspect="1" noChangeArrowheads="1" noTextEdit="1"/>
          </p:cNvSpPr>
          <p:nvPr>
            <p:ph type="sldImg" idx="0"/>
          </p:nvPr>
        </p:nvSpPr>
        <p:spPr>
          <a:ln/>
        </p:spPr>
      </p:sp>
      <p:sp>
        <p:nvSpPr>
          <p:cNvPr id="51203"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51204"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17BE8BA0-134D-4DA0-9B6B-C44E3C3339EC}" type="slidenum">
              <a:rPr lang="en-US" altLang="en-US" sz="1200"/>
              <a:pPr lvl="0">
                <a:defRPr/>
              </a:pPr>
              <a:t>22</a:t>
            </a:fld>
            <a:endParaRPr lang="en-US" altLang="en-US" sz="1200"/>
          </a:p>
        </p:txBody>
      </p:sp>
    </p:spTree>
  </p:cSld>
  <p:clrMapOvr>
    <a:masterClrMapping/>
  </p:clrMapOvr>
</p:notes>
</file>

<file path=ppt/notesSlides/notesSlide2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53250" name="슬라이드 이미지 개체 틀 1"/>
          <p:cNvSpPr>
            <a:spLocks noGrp="1" noRot="1" noChangeAspect="1" noChangeArrowheads="1" noTextEdit="1"/>
          </p:cNvSpPr>
          <p:nvPr>
            <p:ph type="sldImg" idx="0"/>
          </p:nvPr>
        </p:nvSpPr>
        <p:spPr>
          <a:ln/>
        </p:spPr>
      </p:sp>
      <p:sp>
        <p:nvSpPr>
          <p:cNvPr id="53251"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53252"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F9093985-EAA3-4C37-ACB0-4C234BBF750F}" type="slidenum">
              <a:rPr lang="en-US" altLang="en-US" sz="1200"/>
              <a:pPr lvl="0">
                <a:defRPr/>
              </a:pPr>
              <a:t>23</a:t>
            </a:fld>
            <a:endParaRPr lang="en-US" altLang="en-US" sz="1200"/>
          </a:p>
        </p:txBody>
      </p:sp>
    </p:spTree>
  </p:cSld>
  <p:clrMapOvr>
    <a:masterClrMapping/>
  </p:clrMapOvr>
</p:notes>
</file>

<file path=ppt/notesSlides/notesSlide2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55298" name="슬라이드 이미지 개체 틀 1"/>
          <p:cNvSpPr>
            <a:spLocks noGrp="1" noRot="1" noChangeAspect="1" noChangeArrowheads="1" noTextEdit="1"/>
          </p:cNvSpPr>
          <p:nvPr>
            <p:ph type="sldImg" idx="0"/>
          </p:nvPr>
        </p:nvSpPr>
        <p:spPr>
          <a:ln/>
        </p:spPr>
      </p:sp>
      <p:sp>
        <p:nvSpPr>
          <p:cNvPr id="55299"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55300"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FB6C61A1-57A4-49CC-AF71-76FED57D0B83}" type="slidenum">
              <a:rPr lang="en-US" altLang="en-US" sz="1200"/>
              <a:pPr lvl="0">
                <a:defRPr/>
              </a:pPr>
              <a:t>24</a:t>
            </a:fld>
            <a:endParaRPr lang="en-US" altLang="en-US" sz="1200"/>
          </a:p>
        </p:txBody>
      </p:sp>
    </p:spTree>
  </p:cSld>
  <p:clrMapOvr>
    <a:masterClrMapping/>
  </p:clrMapOvr>
</p:notes>
</file>

<file path=ppt/notesSlides/notesSlide2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57346" name="슬라이드 이미지 개체 틀 1"/>
          <p:cNvSpPr>
            <a:spLocks noGrp="1" noRot="1" noChangeAspect="1" noChangeArrowheads="1" noTextEdit="1"/>
          </p:cNvSpPr>
          <p:nvPr>
            <p:ph type="sldImg" idx="0"/>
          </p:nvPr>
        </p:nvSpPr>
        <p:spPr>
          <a:ln/>
        </p:spPr>
      </p:sp>
      <p:sp>
        <p:nvSpPr>
          <p:cNvPr id="57347"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57348"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0ADD1550-B969-41D5-A255-B062353623FE}" type="slidenum">
              <a:rPr lang="en-US" altLang="en-US" sz="1200"/>
              <a:pPr lvl="0">
                <a:defRPr/>
              </a:pPr>
              <a:t>25</a:t>
            </a:fld>
            <a:endParaRPr lang="en-US" altLang="en-US" sz="1200"/>
          </a:p>
        </p:txBody>
      </p:sp>
    </p:spTree>
  </p:cSld>
  <p:clrMapOvr>
    <a:masterClrMapping/>
  </p:clrMapOvr>
</p:notes>
</file>

<file path=ppt/notesSlides/notesSlide2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59394" name="슬라이드 이미지 개체 틀 1"/>
          <p:cNvSpPr>
            <a:spLocks noGrp="1" noRot="1" noChangeAspect="1" noChangeArrowheads="1" noTextEdit="1"/>
          </p:cNvSpPr>
          <p:nvPr>
            <p:ph type="sldImg" idx="0"/>
          </p:nvPr>
        </p:nvSpPr>
        <p:spPr>
          <a:ln/>
        </p:spPr>
      </p:sp>
      <p:sp>
        <p:nvSpPr>
          <p:cNvPr id="59395"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59396"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076171D2-F817-4EB6-B338-F60E694FB00B}" type="slidenum">
              <a:rPr lang="en-US" altLang="en-US" sz="1200"/>
              <a:pPr lvl="0">
                <a:defRPr/>
              </a:pPr>
              <a:t>26</a:t>
            </a:fld>
            <a:endParaRPr lang="en-US" altLang="en-US" sz="1200"/>
          </a:p>
        </p:txBody>
      </p:sp>
    </p:spTree>
  </p:cSld>
  <p:clrMapOvr>
    <a:masterClrMapping/>
  </p:clrMapOvr>
</p:notes>
</file>

<file path=ppt/notesSlides/notesSlide2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6866" name="슬라이드 이미지 개체 틀 1"/>
          <p:cNvSpPr>
            <a:spLocks noGrp="1" noRot="1" noChangeAspect="1" noChangeArrowheads="1" noTextEdit="1"/>
          </p:cNvSpPr>
          <p:nvPr>
            <p:ph type="sldImg" idx="0"/>
          </p:nvPr>
        </p:nvSpPr>
        <p:spPr>
          <a:ln/>
        </p:spPr>
      </p:sp>
      <p:sp>
        <p:nvSpPr>
          <p:cNvPr id="36867"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36868"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A2B88754-525F-4A2E-9AB7-FBD26364848A}" type="slidenum">
              <a:rPr lang="en-US" altLang="en-US" sz="1200"/>
              <a:pPr lvl="0">
                <a:defRPr/>
              </a:pPr>
              <a:t>27</a:t>
            </a:fld>
            <a:endParaRPr lang="en-US" altLang="en-US" sz="1200"/>
          </a:p>
        </p:txBody>
      </p:sp>
    </p:spTree>
  </p:cSld>
  <p:clrMapOvr>
    <a:masterClrMapping/>
  </p:clrMapOvr>
</p:notes>
</file>

<file path=ppt/notesSlides/notesSlide2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61442" name="슬라이드 이미지 개체 틀 1"/>
          <p:cNvSpPr>
            <a:spLocks noGrp="1" noRot="1" noChangeAspect="1" noChangeArrowheads="1" noTextEdit="1"/>
          </p:cNvSpPr>
          <p:nvPr>
            <p:ph type="sldImg" idx="0"/>
          </p:nvPr>
        </p:nvSpPr>
        <p:spPr>
          <a:ln/>
        </p:spPr>
      </p:sp>
      <p:sp>
        <p:nvSpPr>
          <p:cNvPr id="61443"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61444"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5D572FE6-C18D-4539-B210-67C8715E5E63}" type="slidenum">
              <a:rPr lang="en-US" altLang="en-US" sz="1200"/>
              <a:pPr lvl="0">
                <a:defRPr/>
              </a:pPr>
              <a:t>28</a:t>
            </a:fld>
            <a:endParaRPr lang="en-US" altLang="en-US" sz="1200"/>
          </a:p>
        </p:txBody>
      </p:sp>
    </p:spTree>
  </p:cSld>
  <p:clrMapOvr>
    <a:masterClrMapping/>
  </p:clrMapOvr>
</p:notes>
</file>

<file path=ppt/notesSlides/notesSlide2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63490" name="슬라이드 이미지 개체 틀 1"/>
          <p:cNvSpPr>
            <a:spLocks noGrp="1" noRot="1" noChangeAspect="1" noChangeArrowheads="1" noTextEdit="1"/>
          </p:cNvSpPr>
          <p:nvPr>
            <p:ph type="sldImg" idx="0"/>
          </p:nvPr>
        </p:nvSpPr>
        <p:spPr>
          <a:ln/>
        </p:spPr>
      </p:sp>
      <p:sp>
        <p:nvSpPr>
          <p:cNvPr id="63491"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63492"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C5DE9AAD-1F9D-4C0D-8EDA-7E749595DD05}" type="slidenum">
              <a:rPr lang="en-US" altLang="en-US" sz="1200"/>
              <a:pPr lvl="0">
                <a:defRPr/>
              </a:pPr>
              <a:t>29</a:t>
            </a:fld>
            <a:endParaRPr lang="en-US" altLang="en-US" sz="1200"/>
          </a:p>
        </p:txBody>
      </p:sp>
    </p:spTree>
  </p:cSld>
  <p:clrMapOvr>
    <a:masterClrMapping/>
  </p:clrMapOvr>
</p:notes>
</file>

<file path=ppt/notesSlides/notesSlide3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20A7EC94-D21F-497E-B991-8DE42D78D463}" type="slidenum">
              <a:rPr lang="en-US" altLang="en-US" sz="1200"/>
              <a:pPr lvl="0">
                <a:defRPr/>
              </a:pPr>
              <a:t>30</a:t>
            </a:fld>
            <a:endParaRPr lang="en-US" altLang="en-US" sz="1200"/>
          </a:p>
        </p:txBody>
      </p:sp>
      <p:sp>
        <p:nvSpPr>
          <p:cNvPr id="65539" name="Rectangle 2"/>
          <p:cNvSpPr>
            <a:spLocks noGrp="1" noRot="1" noChangeAspect="1" noChangeArrowheads="1" noTextEdit="1"/>
          </p:cNvSpPr>
          <p:nvPr>
            <p:ph type="sldImg" idx="0"/>
          </p:nvPr>
        </p:nvSpPr>
        <p:spPr>
          <a:ln/>
        </p:spPr>
      </p:sp>
      <p:sp>
        <p:nvSpPr>
          <p:cNvPr id="65540" name="Rectangle 3"/>
          <p:cNvSpPr>
            <a:spLocks noGrp="1" noChangeArrowheads="1"/>
          </p:cNvSpPr>
          <p:nvPr>
            <p:ph type="body" idx="1"/>
          </p:nvPr>
        </p:nvSpPr>
        <p:spPr>
          <a:noFill/>
          <a:ln/>
        </p:spPr>
        <p:txBody>
          <a:bodyPr/>
          <a:lstStyle/>
          <a:p>
            <a:pPr lvl="0">
              <a:defRPr/>
            </a:pPr>
            <a:r>
              <a:rPr lang="ko-KR" altLang="en-US">
                <a:ea typeface="굴림"/>
              </a:rPr>
              <a:t/>
            </a:r>
            <a:endParaRPr lang="ko-KR" altLang="en-US">
              <a:ea typeface="굴림"/>
            </a:endParaRPr>
          </a:p>
        </p:txBody>
      </p:sp>
    </p:spTree>
  </p:cSld>
  <p:clrMapOvr>
    <a:masterClrMapping/>
  </p:clrMapOvr>
</p:notes>
</file>

<file path=ppt/notesSlides/notesSlide3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EF9441F9-636C-470A-B61C-D16F59D37F4D}" type="slidenum">
              <a:rPr lang="en-US" altLang="en-US" sz="1200"/>
              <a:pPr lvl="0">
                <a:defRPr/>
              </a:pPr>
              <a:t>31</a:t>
            </a:fld>
            <a:endParaRPr lang="en-US" altLang="en-US" sz="1200"/>
          </a:p>
        </p:txBody>
      </p:sp>
      <p:sp>
        <p:nvSpPr>
          <p:cNvPr id="67587" name="Rectangle 2"/>
          <p:cNvSpPr>
            <a:spLocks noGrp="1" noRot="1" noChangeAspect="1" noChangeArrowheads="1" noTextEdit="1"/>
          </p:cNvSpPr>
          <p:nvPr>
            <p:ph type="sldImg" idx="0"/>
          </p:nvPr>
        </p:nvSpPr>
        <p:spPr>
          <a:ln/>
        </p:spPr>
      </p:sp>
      <p:sp>
        <p:nvSpPr>
          <p:cNvPr id="67588" name="Rectangle 3"/>
          <p:cNvSpPr>
            <a:spLocks noGrp="1" noChangeArrowheads="1"/>
          </p:cNvSpPr>
          <p:nvPr>
            <p:ph type="body" idx="1"/>
          </p:nvPr>
        </p:nvSpPr>
        <p:spPr>
          <a:noFill/>
          <a:ln/>
        </p:spPr>
        <p:txBody>
          <a:bodyPr/>
          <a:lstStyle/>
          <a:p>
            <a:pPr lvl="0">
              <a:defRPr/>
            </a:pPr>
            <a:r>
              <a:rPr lang="ko-KR" altLang="en-US">
                <a:ea typeface="굴림"/>
              </a:rPr>
              <a:t/>
            </a:r>
            <a:endParaRPr lang="ko-KR" altLang="en-US">
              <a:ea typeface="굴림"/>
            </a:endParaRPr>
          </a:p>
        </p:txBody>
      </p:sp>
    </p:spTree>
  </p:cSld>
  <p:clrMapOvr>
    <a:masterClrMapping/>
  </p:clrMapOvr>
</p:notes>
</file>

<file path=ppt/notesSlides/notesSlide3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69634" name="슬라이드 이미지 개체 틀 1"/>
          <p:cNvSpPr>
            <a:spLocks noGrp="1" noRot="1" noChangeAspect="1" noChangeArrowheads="1" noTextEdit="1"/>
          </p:cNvSpPr>
          <p:nvPr>
            <p:ph type="sldImg" idx="0"/>
          </p:nvPr>
        </p:nvSpPr>
        <p:spPr>
          <a:ln/>
        </p:spPr>
      </p:sp>
      <p:sp>
        <p:nvSpPr>
          <p:cNvPr id="69635"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69636"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874BAFF0-46AC-476E-BFC2-2932E929B79F}" type="slidenum">
              <a:rPr lang="en-US" altLang="en-US" sz="1200"/>
              <a:pPr lvl="0">
                <a:defRPr/>
              </a:pPr>
              <a:t>32</a:t>
            </a:fld>
            <a:endParaRPr lang="en-US" altLang="en-US" sz="1200"/>
          </a:p>
        </p:txBody>
      </p:sp>
    </p:spTree>
  </p:cSld>
  <p:clrMapOvr>
    <a:masterClrMapping/>
  </p:clrMapOvr>
</p:notes>
</file>

<file path=ppt/notesSlides/notesSlide3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2BC9EE15-4D23-4422-9DEC-32654718A0EE}" type="slidenum">
              <a:rPr lang="en-US" altLang="en-US" sz="1200"/>
              <a:pPr lvl="0">
                <a:defRPr/>
              </a:pPr>
              <a:t>33</a:t>
            </a:fld>
            <a:endParaRPr lang="en-US" altLang="en-US" sz="1200"/>
          </a:p>
        </p:txBody>
      </p:sp>
      <p:sp>
        <p:nvSpPr>
          <p:cNvPr id="73731" name="Rectangle 2"/>
          <p:cNvSpPr>
            <a:spLocks noGrp="1" noRot="1" noChangeAspect="1" noChangeArrowheads="1" noTextEdit="1"/>
          </p:cNvSpPr>
          <p:nvPr>
            <p:ph type="sldImg" idx="0"/>
          </p:nvPr>
        </p:nvSpPr>
        <p:spPr>
          <a:ln/>
        </p:spPr>
      </p:sp>
      <p:sp>
        <p:nvSpPr>
          <p:cNvPr id="73732" name="Rectangle 3"/>
          <p:cNvSpPr>
            <a:spLocks noGrp="1" noChangeArrowheads="1"/>
          </p:cNvSpPr>
          <p:nvPr>
            <p:ph type="body" idx="1"/>
          </p:nvPr>
        </p:nvSpPr>
        <p:spPr>
          <a:noFill/>
          <a:ln/>
        </p:spPr>
        <p:txBody>
          <a:bodyPr/>
          <a:lstStyle/>
          <a:p>
            <a:pPr lvl="0">
              <a:defRPr/>
            </a:pPr>
            <a:r>
              <a:rPr lang="ko-KR" altLang="en-US">
                <a:ea typeface="굴림"/>
              </a:rPr>
              <a:t/>
            </a:r>
            <a:endParaRPr lang="ko-KR" altLang="en-US">
              <a:ea typeface="굴림"/>
            </a:endParaRPr>
          </a:p>
        </p:txBody>
      </p:sp>
    </p:spTree>
  </p:cSld>
  <p:clrMapOvr>
    <a:masterClrMapping/>
  </p:clrMapOvr>
</p:notes>
</file>

<file path=ppt/notesSlides/notesSlide3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0EC0DC29-3A9F-41DB-A600-1B28506BD1F5}" type="slidenum">
              <a:rPr lang="en-US" altLang="ko-KR" sz="1200"/>
              <a:pPr lvl="0">
                <a:defRPr/>
              </a:pPr>
              <a:t>34</a:t>
            </a:fld>
            <a:endParaRPr lang="en-US" altLang="ko-KR" sz="1200"/>
          </a:p>
        </p:txBody>
      </p:sp>
      <p:sp>
        <p:nvSpPr>
          <p:cNvPr id="75779" name="Rectangle 2"/>
          <p:cNvSpPr>
            <a:spLocks noGrp="1" noRot="1" noChangeAspect="1" noChangeArrowheads="1" noTextEdit="1"/>
          </p:cNvSpPr>
          <p:nvPr>
            <p:ph type="sldImg" idx="0"/>
          </p:nvPr>
        </p:nvSpPr>
        <p:spPr>
          <a:ln/>
        </p:spPr>
      </p:sp>
      <p:sp>
        <p:nvSpPr>
          <p:cNvPr id="75780" name="Rectangle 3"/>
          <p:cNvSpPr>
            <a:spLocks noGrp="1" noChangeArrowheads="1"/>
          </p:cNvSpPr>
          <p:nvPr>
            <p:ph type="body" idx="1"/>
          </p:nvPr>
        </p:nvSpPr>
        <p:spPr>
          <a:noFill/>
          <a:ln/>
        </p:spPr>
        <p:txBody>
          <a:bodyPr lIns="91414" tIns="45706" rIns="91414" bIns="45706"/>
          <a:lstStyle/>
          <a:p>
            <a:pPr lvl="0">
              <a:defRPr/>
            </a:pPr>
            <a:r>
              <a:rPr lang="ko-KR" altLang="en-US">
                <a:ea typeface="굴림"/>
              </a:rPr>
              <a:t/>
            </a:r>
            <a:endParaRPr lang="ko-KR" altLang="en-US">
              <a:ea typeface="굴림"/>
            </a:endParaRPr>
          </a:p>
        </p:txBody>
      </p:sp>
    </p:spTree>
  </p:cSld>
  <p:clrMapOvr>
    <a:masterClrMapping/>
  </p:clrMapOvr>
</p:notes>
</file>

<file path=ppt/notesSlides/notesSlide3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29EE5EE2-1F0D-4E14-BCED-8828A27D9660}" type="slidenum">
              <a:rPr lang="en-US" altLang="en-US" sz="1200"/>
              <a:pPr lvl="0">
                <a:defRPr/>
              </a:pPr>
              <a:t>35</a:t>
            </a:fld>
            <a:endParaRPr lang="en-US" altLang="en-US" sz="1200"/>
          </a:p>
        </p:txBody>
      </p:sp>
      <p:sp>
        <p:nvSpPr>
          <p:cNvPr id="77827" name="Rectangle 2"/>
          <p:cNvSpPr>
            <a:spLocks noGrp="1" noRot="1" noChangeAspect="1" noChangeArrowheads="1" noTextEdit="1"/>
          </p:cNvSpPr>
          <p:nvPr>
            <p:ph type="sldImg" idx="0"/>
          </p:nvPr>
        </p:nvSpPr>
        <p:spPr>
          <a:ln/>
        </p:spPr>
      </p:sp>
      <p:sp>
        <p:nvSpPr>
          <p:cNvPr id="77828" name="Rectangle 3"/>
          <p:cNvSpPr>
            <a:spLocks noGrp="1" noChangeArrowheads="1"/>
          </p:cNvSpPr>
          <p:nvPr>
            <p:ph type="body" idx="1"/>
          </p:nvPr>
        </p:nvSpPr>
        <p:spPr>
          <a:noFill/>
          <a:ln/>
        </p:spPr>
        <p:txBody>
          <a:bodyPr/>
          <a:lstStyle/>
          <a:p>
            <a:pPr lvl="0">
              <a:defRPr/>
            </a:pPr>
            <a:r>
              <a:rPr lang="ko-KR" altLang="en-US">
                <a:ea typeface="굴림"/>
              </a:rPr>
              <a:t/>
            </a:r>
            <a:endParaRPr lang="ko-KR" altLang="en-US">
              <a:ea typeface="굴림"/>
            </a:endParaRPr>
          </a:p>
        </p:txBody>
      </p:sp>
    </p:spTree>
  </p:cSld>
  <p:clrMapOvr>
    <a:masterClrMapping/>
  </p:clrMapOvr>
</p:notes>
</file>

<file path=ppt/notesSlides/notesSlide3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5C32ED2A-780E-4A68-B40C-9EDD13D5E55B}" type="slidenum">
              <a:rPr lang="en-US" altLang="ko-KR" sz="1200"/>
              <a:pPr lvl="0">
                <a:defRPr/>
              </a:pPr>
              <a:t>36</a:t>
            </a:fld>
            <a:endParaRPr lang="en-US" altLang="ko-KR" sz="1200"/>
          </a:p>
        </p:txBody>
      </p:sp>
      <p:sp>
        <p:nvSpPr>
          <p:cNvPr id="79875" name="Rectangle 2"/>
          <p:cNvSpPr>
            <a:spLocks noGrp="1" noRot="1" noChangeAspect="1" noChangeArrowheads="1" noTextEdit="1"/>
          </p:cNvSpPr>
          <p:nvPr>
            <p:ph type="sldImg" idx="0"/>
          </p:nvPr>
        </p:nvSpPr>
        <p:spPr>
          <a:ln/>
        </p:spPr>
      </p:sp>
      <p:sp>
        <p:nvSpPr>
          <p:cNvPr id="79876" name="Rectangle 3"/>
          <p:cNvSpPr>
            <a:spLocks noGrp="1" noChangeArrowheads="1"/>
          </p:cNvSpPr>
          <p:nvPr>
            <p:ph type="body" idx="1"/>
          </p:nvPr>
        </p:nvSpPr>
        <p:spPr>
          <a:noFill/>
          <a:ln/>
        </p:spPr>
        <p:txBody>
          <a:bodyPr lIns="91414" tIns="45706" rIns="91414" bIns="45706"/>
          <a:lstStyle/>
          <a:p>
            <a:pPr lvl="0">
              <a:defRPr/>
            </a:pPr>
            <a:r>
              <a:rPr lang="ko-KR" altLang="en-US">
                <a:ea typeface="굴림"/>
              </a:rPr>
              <a:t/>
            </a:r>
            <a:endParaRPr lang="ko-KR" altLang="en-US">
              <a:ea typeface="굴림"/>
            </a:endParaRPr>
          </a:p>
        </p:txBody>
      </p:sp>
    </p:spTree>
  </p:cSld>
  <p:clrMapOvr>
    <a:masterClrMapping/>
  </p:clrMapOvr>
</p:notes>
</file>

<file path=ppt/notesSlides/notesSlide3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48132023-A55D-4E13-9807-9775B4BE7287}" type="slidenum">
              <a:rPr lang="en-US" altLang="ko-KR" sz="1200"/>
              <a:pPr lvl="0">
                <a:defRPr/>
              </a:pPr>
              <a:t>37</a:t>
            </a:fld>
            <a:endParaRPr lang="en-US" altLang="ko-KR" sz="1200"/>
          </a:p>
        </p:txBody>
      </p:sp>
      <p:sp>
        <p:nvSpPr>
          <p:cNvPr id="81923" name="Rectangle 2"/>
          <p:cNvSpPr>
            <a:spLocks noGrp="1" noRot="1" noChangeAspect="1" noChangeArrowheads="1" noTextEdit="1"/>
          </p:cNvSpPr>
          <p:nvPr>
            <p:ph type="sldImg" idx="0"/>
          </p:nvPr>
        </p:nvSpPr>
        <p:spPr>
          <a:ln/>
        </p:spPr>
      </p:sp>
      <p:sp>
        <p:nvSpPr>
          <p:cNvPr id="81924" name="Rectangle 3"/>
          <p:cNvSpPr>
            <a:spLocks noGrp="1" noChangeArrowheads="1"/>
          </p:cNvSpPr>
          <p:nvPr>
            <p:ph type="body" idx="1"/>
          </p:nvPr>
        </p:nvSpPr>
        <p:spPr>
          <a:noFill/>
          <a:ln/>
        </p:spPr>
        <p:txBody>
          <a:bodyPr/>
          <a:lstStyle/>
          <a:p>
            <a:pPr lvl="0">
              <a:defRPr/>
            </a:pPr>
            <a:r>
              <a:rPr lang="en-US" altLang="ko-KR"/>
              <a:t>In the case in which larger memory is required, an array of chips is</a:t>
            </a:r>
            <a:endParaRPr lang="en-US" altLang="ko-KR"/>
          </a:p>
          <a:p>
            <a:pPr lvl="0">
              <a:defRPr/>
            </a:pPr>
            <a:r>
              <a:rPr lang="en-US" altLang="ko-KR"/>
              <a:t>needed. Figure 5.6 shows the possible organization of a memory consisting of 1M</a:t>
            </a:r>
            <a:endParaRPr lang="en-US" altLang="ko-KR"/>
          </a:p>
          <a:p>
            <a:pPr lvl="0">
              <a:defRPr/>
            </a:pPr>
            <a:r>
              <a:rPr lang="en-US" altLang="ko-KR"/>
              <a:t>word by 8 bits per word. In this case, we have four columns of chips, each column</a:t>
            </a:r>
            <a:endParaRPr lang="en-US" altLang="ko-KR"/>
          </a:p>
          <a:p>
            <a:pPr lvl="0">
              <a:defRPr/>
            </a:pPr>
            <a:r>
              <a:rPr lang="en-US" altLang="ko-KR"/>
              <a:t>containing 256K words arranged as in Figure 5.5. For 1M word, 20 address lines are</a:t>
            </a:r>
            <a:endParaRPr lang="en-US" altLang="ko-KR"/>
          </a:p>
          <a:p>
            <a:pPr lvl="0">
              <a:defRPr/>
            </a:pPr>
            <a:r>
              <a:rPr lang="en-US" altLang="ko-KR"/>
              <a:t>needed. The 18 least significant bits are routed to all 32 modules. The high-order</a:t>
            </a:r>
            <a:endParaRPr lang="en-US" altLang="ko-KR"/>
          </a:p>
          <a:p>
            <a:pPr lvl="0">
              <a:defRPr/>
            </a:pPr>
            <a:r>
              <a:rPr lang="en-US" altLang="ko-KR"/>
              <a:t>2 bits are input to a group select logic module that sends a chip enable signal to one</a:t>
            </a:r>
            <a:endParaRPr lang="en-US" altLang="ko-KR"/>
          </a:p>
          <a:p>
            <a:pPr lvl="0">
              <a:defRPr/>
            </a:pPr>
            <a:r>
              <a:rPr lang="en-US" altLang="ko-KR"/>
              <a:t>of the four columns of modules.</a:t>
            </a:r>
            <a:endParaRPr lang="en-GB" altLang="ko-KR"/>
          </a:p>
        </p:txBody>
      </p:sp>
    </p:spTree>
  </p:cSld>
  <p:clrMapOvr>
    <a:masterClrMapping/>
  </p:clrMapOvr>
</p:notes>
</file>

<file path=ppt/notesSlides/notesSlide3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B4497049-8642-4B88-B0CB-BA46346CE616}" type="slidenum">
              <a:rPr lang="en-US" altLang="en-US" sz="1200"/>
              <a:pPr lvl="0">
                <a:defRPr/>
              </a:pPr>
              <a:t>38</a:t>
            </a:fld>
            <a:endParaRPr lang="en-US" altLang="en-US" sz="1200"/>
          </a:p>
        </p:txBody>
      </p:sp>
      <p:sp>
        <p:nvSpPr>
          <p:cNvPr id="83971" name="Rectangle 2"/>
          <p:cNvSpPr>
            <a:spLocks noGrp="1" noRot="1" noChangeAspect="1" noChangeArrowheads="1" noTextEdit="1"/>
          </p:cNvSpPr>
          <p:nvPr>
            <p:ph type="sldImg" idx="0"/>
          </p:nvPr>
        </p:nvSpPr>
        <p:spPr>
          <a:ln/>
        </p:spPr>
      </p:sp>
      <p:sp>
        <p:nvSpPr>
          <p:cNvPr id="83972" name="Rectangle 3"/>
          <p:cNvSpPr>
            <a:spLocks noGrp="1" noChangeArrowheads="1"/>
          </p:cNvSpPr>
          <p:nvPr>
            <p:ph type="body" idx="1"/>
          </p:nvPr>
        </p:nvSpPr>
        <p:spPr>
          <a:noFill/>
          <a:ln/>
        </p:spPr>
        <p:txBody>
          <a:bodyPr/>
          <a:lstStyle/>
          <a:p>
            <a:pPr lvl="0">
              <a:defRPr/>
            </a:pPr>
            <a:r>
              <a:rPr lang="ko-KR" altLang="en-US">
                <a:ea typeface="굴림"/>
              </a:rPr>
              <a:t/>
            </a:r>
            <a:endParaRPr lang="ko-KR" altLang="en-US">
              <a:ea typeface="굴림"/>
            </a:endParaRPr>
          </a:p>
        </p:txBody>
      </p:sp>
    </p:spTree>
  </p:cSld>
  <p:clrMapOvr>
    <a:masterClrMapping/>
  </p:clrMapOvr>
</p:notes>
</file>

<file path=ppt/notesSlides/notesSlide3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86018" name="슬라이드 이미지 개체 틀 1"/>
          <p:cNvSpPr>
            <a:spLocks noGrp="1" noRot="1" noChangeAspect="1" noChangeArrowheads="1" noTextEdit="1"/>
          </p:cNvSpPr>
          <p:nvPr>
            <p:ph type="sldImg" idx="0"/>
          </p:nvPr>
        </p:nvSpPr>
        <p:spPr>
          <a:ln/>
        </p:spPr>
      </p:sp>
      <p:sp>
        <p:nvSpPr>
          <p:cNvPr id="86019"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86020"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14607D89-60FE-4FCC-BD65-4EA3D5396F50}" type="slidenum">
              <a:rPr lang="en-US" altLang="en-US" sz="1200"/>
              <a:pPr lvl="0">
                <a:defRPr/>
              </a:pPr>
              <a:t>39</a:t>
            </a:fld>
            <a:endParaRPr lang="en-US" altLang="en-US" sz="1200"/>
          </a:p>
        </p:txBody>
      </p:sp>
    </p:spTree>
  </p:cSld>
  <p:clrMapOvr>
    <a:masterClrMapping/>
  </p:clrMapOvr>
</p:notes>
</file>

<file path=ppt/notesSlides/notesSlide4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88066" name="슬라이드 이미지 개체 틀 1"/>
          <p:cNvSpPr>
            <a:spLocks noGrp="1" noRot="1" noChangeAspect="1" noChangeArrowheads="1" noTextEdit="1"/>
          </p:cNvSpPr>
          <p:nvPr>
            <p:ph type="sldImg" idx="0"/>
          </p:nvPr>
        </p:nvSpPr>
        <p:spPr>
          <a:ln/>
        </p:spPr>
      </p:sp>
      <p:sp>
        <p:nvSpPr>
          <p:cNvPr id="88067"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88068"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276003D7-5354-453D-8BBA-843DFB644C8E}" type="slidenum">
              <a:rPr lang="en-US" altLang="en-US" sz="1200"/>
              <a:pPr lvl="0">
                <a:defRPr/>
              </a:pPr>
              <a:t>40</a:t>
            </a:fld>
            <a:endParaRPr lang="en-US" altLang="en-US" sz="1200"/>
          </a:p>
        </p:txBody>
      </p:sp>
    </p:spTree>
  </p:cSld>
  <p:clrMapOvr>
    <a:masterClrMapping/>
  </p:clrMapOvr>
</p:notes>
</file>

<file path=ppt/notesSlides/notesSlide4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90114" name="슬라이드 이미지 개체 틀 1"/>
          <p:cNvSpPr>
            <a:spLocks noGrp="1" noRot="1" noChangeAspect="1" noChangeArrowheads="1" noTextEdit="1"/>
          </p:cNvSpPr>
          <p:nvPr>
            <p:ph type="sldImg" idx="0"/>
          </p:nvPr>
        </p:nvSpPr>
        <p:spPr>
          <a:ln/>
        </p:spPr>
      </p:sp>
      <p:sp>
        <p:nvSpPr>
          <p:cNvPr id="90115"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90116"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81CEF38E-873B-4F20-9C34-71194487890F}" type="slidenum">
              <a:rPr lang="en-US" altLang="en-US" sz="1200"/>
              <a:pPr lvl="0">
                <a:defRPr/>
              </a:pPr>
              <a:t>41</a:t>
            </a:fld>
            <a:endParaRPr lang="en-US" altLang="en-US" sz="1200"/>
          </a:p>
        </p:txBody>
      </p:sp>
    </p:spTree>
  </p:cSld>
  <p:clrMapOvr>
    <a:masterClrMapping/>
  </p:clrMapOvr>
</p:notes>
</file>

<file path=ppt/notesSlides/notesSlide4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92162" name="슬라이드 이미지 개체 틀 1"/>
          <p:cNvSpPr>
            <a:spLocks noGrp="1" noRot="1" noChangeAspect="1" noChangeArrowheads="1" noTextEdit="1"/>
          </p:cNvSpPr>
          <p:nvPr>
            <p:ph type="sldImg" idx="0"/>
          </p:nvPr>
        </p:nvSpPr>
        <p:spPr>
          <a:ln/>
        </p:spPr>
      </p:sp>
      <p:sp>
        <p:nvSpPr>
          <p:cNvPr id="92163"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92164"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01B3DF8B-1774-45E1-A185-74B7F73E1C9D}" type="slidenum">
              <a:rPr lang="en-US" altLang="en-US" sz="1200"/>
              <a:pPr lvl="0">
                <a:defRPr/>
              </a:pPr>
              <a:t>42</a:t>
            </a:fld>
            <a:endParaRPr lang="en-US" altLang="en-US" sz="1200"/>
          </a:p>
        </p:txBody>
      </p:sp>
    </p:spTree>
  </p:cSld>
  <p:clrMapOvr>
    <a:masterClrMapping/>
  </p:clrMapOvr>
</p:notes>
</file>

<file path=ppt/notesSlides/notesSlide4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94210" name="슬라이드 이미지 개체 틀 1"/>
          <p:cNvSpPr>
            <a:spLocks noGrp="1" noRot="1" noChangeAspect="1" noChangeArrowheads="1" noTextEdit="1"/>
          </p:cNvSpPr>
          <p:nvPr>
            <p:ph type="sldImg" idx="0"/>
          </p:nvPr>
        </p:nvSpPr>
        <p:spPr>
          <a:ln/>
        </p:spPr>
      </p:sp>
      <p:sp>
        <p:nvSpPr>
          <p:cNvPr id="94211"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94212"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16CC58E7-9B86-4143-8631-A595B33F5A7F}" type="slidenum">
              <a:rPr lang="en-US" altLang="en-US" sz="1200"/>
              <a:pPr lvl="0">
                <a:defRPr/>
              </a:pPr>
              <a:t>43</a:t>
            </a:fld>
            <a:endParaRPr lang="en-US" altLang="en-US" sz="1200"/>
          </a:p>
        </p:txBody>
      </p:sp>
    </p:spTree>
  </p:cSld>
  <p:clrMapOvr>
    <a:masterClrMapping/>
  </p:clrMapOvr>
</p:notes>
</file>

<file path=ppt/notesSlides/notesSlide4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96258" name="슬라이드 이미지 개체 틀 1"/>
          <p:cNvSpPr>
            <a:spLocks noGrp="1" noRot="1" noChangeAspect="1" noChangeArrowheads="1" noTextEdit="1"/>
          </p:cNvSpPr>
          <p:nvPr>
            <p:ph type="sldImg" idx="0"/>
          </p:nvPr>
        </p:nvSpPr>
        <p:spPr>
          <a:ln/>
        </p:spPr>
      </p:sp>
      <p:sp>
        <p:nvSpPr>
          <p:cNvPr id="96259"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96260"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501BBAF9-C1B1-4FC8-B670-FD44EC143CB1}" type="slidenum">
              <a:rPr lang="en-US" altLang="en-US" sz="1200"/>
              <a:pPr lvl="0">
                <a:defRPr/>
              </a:pPr>
              <a:t>44</a:t>
            </a:fld>
            <a:endParaRPr lang="en-US" altLang="en-US" sz="1200"/>
          </a:p>
        </p:txBody>
      </p:sp>
    </p:spTree>
  </p:cSld>
  <p:clrMapOvr>
    <a:masterClrMapping/>
  </p:clrMapOvr>
</p:notes>
</file>

<file path=ppt/notesSlides/notesSlide4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98306" name="슬라이드 이미지 개체 틀 1"/>
          <p:cNvSpPr>
            <a:spLocks noGrp="1" noRot="1" noChangeAspect="1" noChangeArrowheads="1" noTextEdit="1"/>
          </p:cNvSpPr>
          <p:nvPr>
            <p:ph type="sldImg" idx="0"/>
          </p:nvPr>
        </p:nvSpPr>
        <p:spPr>
          <a:ln/>
        </p:spPr>
      </p:sp>
      <p:sp>
        <p:nvSpPr>
          <p:cNvPr id="98307"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98308"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F2B4C9D9-A1A0-4B07-9C93-276FF10669E3}" type="slidenum">
              <a:rPr lang="en-US" altLang="en-US" sz="1200"/>
              <a:pPr lvl="0">
                <a:defRPr/>
              </a:pPr>
              <a:t>45</a:t>
            </a:fld>
            <a:endParaRPr lang="en-US" altLang="en-US" sz="1200"/>
          </a:p>
        </p:txBody>
      </p:sp>
    </p:spTree>
  </p:cSld>
  <p:clrMapOvr>
    <a:masterClrMapping/>
  </p:clrMapOvr>
</p:notes>
</file>

<file path=ppt/notesSlides/notesSlide4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02402" name="슬라이드 이미지 개체 틀 1"/>
          <p:cNvSpPr>
            <a:spLocks noGrp="1" noRot="1" noChangeAspect="1" noChangeArrowheads="1" noTextEdit="1"/>
          </p:cNvSpPr>
          <p:nvPr>
            <p:ph type="sldImg" idx="0"/>
          </p:nvPr>
        </p:nvSpPr>
        <p:spPr>
          <a:ln/>
        </p:spPr>
      </p:sp>
      <p:sp>
        <p:nvSpPr>
          <p:cNvPr id="102403"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102404"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FA4E5541-C517-4117-8B0C-970C3B0C779B}" type="slidenum">
              <a:rPr lang="en-US" altLang="en-US" sz="1200"/>
              <a:pPr lvl="0">
                <a:defRPr/>
              </a:pPr>
              <a:t>46</a:t>
            </a:fld>
            <a:endParaRPr lang="en-US" altLang="en-US" sz="1200"/>
          </a:p>
        </p:txBody>
      </p:sp>
    </p:spTree>
  </p:cSld>
  <p:clrMapOvr>
    <a:masterClrMapping/>
  </p:clrMapOvr>
</p:notes>
</file>

<file path=ppt/notesSlides/notesSlide4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04450" name="슬라이드 이미지 개체 틀 1"/>
          <p:cNvSpPr>
            <a:spLocks noGrp="1" noRot="1" noChangeAspect="1" noChangeArrowheads="1" noTextEdit="1"/>
          </p:cNvSpPr>
          <p:nvPr>
            <p:ph type="sldImg" idx="0"/>
          </p:nvPr>
        </p:nvSpPr>
        <p:spPr>
          <a:ln/>
        </p:spPr>
      </p:sp>
      <p:sp>
        <p:nvSpPr>
          <p:cNvPr id="104451"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104452"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9C99BAEE-D501-4461-BFA4-380C2BA6BFEB}" type="slidenum">
              <a:rPr lang="en-US" altLang="en-US" sz="1200"/>
              <a:pPr lvl="0">
                <a:defRPr/>
              </a:pPr>
              <a:t>47</a:t>
            </a:fld>
            <a:endParaRPr lang="en-US" altLang="en-US" sz="1200"/>
          </a:p>
        </p:txBody>
      </p:sp>
    </p:spTree>
  </p:cSld>
  <p:clrMapOvr>
    <a:masterClrMapping/>
  </p:clrMapOvr>
</p:notes>
</file>

<file path=ppt/notesSlides/notesSlide4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2F2BC180-C212-463E-885E-BB765C68C488}" type="slidenum">
              <a:rPr lang="en-US" altLang="ko-KR" sz="1200"/>
              <a:pPr lvl="0">
                <a:defRPr/>
              </a:pPr>
              <a:t>48</a:t>
            </a:fld>
            <a:endParaRPr lang="en-US" altLang="ko-KR" sz="1200"/>
          </a:p>
        </p:txBody>
      </p:sp>
      <p:sp>
        <p:nvSpPr>
          <p:cNvPr id="106499" name="Rectangle 2"/>
          <p:cNvSpPr>
            <a:spLocks noGrp="1" noRot="1" noChangeAspect="1" noChangeArrowheads="1" noTextEdit="1"/>
          </p:cNvSpPr>
          <p:nvPr>
            <p:ph type="sldImg" idx="0"/>
          </p:nvPr>
        </p:nvSpPr>
        <p:spPr>
          <a:ln/>
        </p:spPr>
      </p:sp>
      <p:sp>
        <p:nvSpPr>
          <p:cNvPr id="106500" name="Rectangle 3"/>
          <p:cNvSpPr>
            <a:spLocks noGrp="1" noChangeArrowheads="1"/>
          </p:cNvSpPr>
          <p:nvPr>
            <p:ph type="body" idx="1"/>
          </p:nvPr>
        </p:nvSpPr>
        <p:spPr>
          <a:noFill/>
          <a:ln/>
        </p:spPr>
        <p:txBody>
          <a:bodyPr/>
          <a:lstStyle/>
          <a:p>
            <a:pPr lvl="0">
              <a:defRPr/>
            </a:pPr>
            <a:r>
              <a:rPr lang="ko-KR" altLang="en-US">
                <a:ea typeface="굴림"/>
              </a:rPr>
              <a:t/>
            </a:r>
            <a:endParaRPr lang="ko-KR" altLang="en-US">
              <a:ea typeface="굴림"/>
            </a:endParaRPr>
          </a:p>
        </p:txBody>
      </p:sp>
    </p:spTree>
  </p:cSld>
  <p:clrMapOvr>
    <a:masterClrMapping/>
  </p:clrMapOvr>
</p:notes>
</file>

<file path=ppt/notesSlides/notesSlide4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93CDFABD-071A-458B-8575-5BC672AD9194}" type="slidenum">
              <a:rPr lang="en-US" altLang="en-US" sz="1200"/>
              <a:pPr lvl="0">
                <a:defRPr/>
              </a:pPr>
              <a:t>49</a:t>
            </a:fld>
            <a:endParaRPr lang="en-US" altLang="en-US" sz="1200"/>
          </a:p>
        </p:txBody>
      </p:sp>
      <p:sp>
        <p:nvSpPr>
          <p:cNvPr id="108547" name="Rectangle 2"/>
          <p:cNvSpPr>
            <a:spLocks noGrp="1" noRot="1" noChangeAspect="1" noChangeArrowheads="1" noTextEdit="1"/>
          </p:cNvSpPr>
          <p:nvPr>
            <p:ph type="sldImg" idx="0"/>
          </p:nvPr>
        </p:nvSpPr>
        <p:spPr>
          <a:ln/>
        </p:spPr>
      </p:sp>
      <p:sp>
        <p:nvSpPr>
          <p:cNvPr id="108548" name="Rectangle 3"/>
          <p:cNvSpPr>
            <a:spLocks noGrp="1" noChangeArrowheads="1"/>
          </p:cNvSpPr>
          <p:nvPr>
            <p:ph type="body" idx="1"/>
          </p:nvPr>
        </p:nvSpPr>
        <p:spPr>
          <a:noFill/>
          <a:ln/>
        </p:spPr>
        <p:txBody>
          <a:bodyPr/>
          <a:lstStyle/>
          <a:p>
            <a:pPr lvl="0">
              <a:defRPr/>
            </a:pPr>
            <a:r>
              <a:rPr lang="ko-KR" altLang="en-US">
                <a:ea typeface="굴림"/>
              </a:rPr>
              <a:t/>
            </a:r>
            <a:endParaRPr lang="ko-KR" altLang="en-US">
              <a:ea typeface="굴림"/>
            </a:endParaRPr>
          </a:p>
        </p:txBody>
      </p:sp>
    </p:spTree>
  </p:cSld>
  <p:clrMapOvr>
    <a:masterClrMapping/>
  </p:clrMapOvr>
</p:notes>
</file>

<file path=ppt/notesSlides/notesSlide5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10594" name="슬라이드 이미지 개체 틀 1"/>
          <p:cNvSpPr>
            <a:spLocks noGrp="1" noRot="1" noChangeAspect="1" noChangeArrowheads="1" noTextEdit="1"/>
          </p:cNvSpPr>
          <p:nvPr>
            <p:ph type="sldImg" idx="0"/>
          </p:nvPr>
        </p:nvSpPr>
        <p:spPr>
          <a:ln/>
        </p:spPr>
      </p:sp>
      <p:sp>
        <p:nvSpPr>
          <p:cNvPr id="110595"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110596"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8F822E29-E37B-4A78-9647-E71FE1EDFF78}" type="slidenum">
              <a:rPr lang="en-US" altLang="en-US" sz="1200"/>
              <a:pPr lvl="0">
                <a:defRPr/>
              </a:pPr>
              <a:t>50</a:t>
            </a:fld>
            <a:endParaRPr lang="en-US" altLang="en-US" sz="1200"/>
          </a:p>
        </p:txBody>
      </p:sp>
    </p:spTree>
  </p:cSld>
  <p:clrMapOvr>
    <a:masterClrMapping/>
  </p:clrMapOvr>
</p:notes>
</file>

<file path=ppt/notesSlides/notesSlide5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1BB6D3DE-3F71-4E88-93D1-6F9847CC596D}" type="slidenum">
              <a:rPr lang="en-US" altLang="en-US" sz="1200"/>
              <a:pPr lvl="0">
                <a:defRPr/>
              </a:pPr>
              <a:t>51</a:t>
            </a:fld>
            <a:endParaRPr lang="en-US" altLang="en-US" sz="1200"/>
          </a:p>
        </p:txBody>
      </p:sp>
      <p:sp>
        <p:nvSpPr>
          <p:cNvPr id="112643" name="Rectangle 2"/>
          <p:cNvSpPr>
            <a:spLocks noGrp="1" noRot="1" noChangeAspect="1" noChangeArrowheads="1" noTextEdit="1"/>
          </p:cNvSpPr>
          <p:nvPr>
            <p:ph type="sldImg" idx="0"/>
          </p:nvPr>
        </p:nvSpPr>
        <p:spPr>
          <a:ln/>
        </p:spPr>
      </p:sp>
      <p:sp>
        <p:nvSpPr>
          <p:cNvPr id="112644" name="Rectangle 3"/>
          <p:cNvSpPr>
            <a:spLocks noGrp="1" noChangeArrowheads="1"/>
          </p:cNvSpPr>
          <p:nvPr>
            <p:ph type="body" idx="1"/>
          </p:nvPr>
        </p:nvSpPr>
        <p:spPr>
          <a:noFill/>
          <a:ln/>
        </p:spPr>
        <p:txBody>
          <a:bodyPr/>
          <a:lstStyle/>
          <a:p>
            <a:pPr lvl="0">
              <a:defRPr/>
            </a:pPr>
            <a:r>
              <a:rPr lang="ko-KR" altLang="en-US">
                <a:ea typeface="굴림"/>
              </a:rPr>
              <a:t/>
            </a:r>
            <a:endParaRPr lang="ko-KR" altLang="en-US">
              <a:ea typeface="굴림"/>
            </a:endParaRPr>
          </a:p>
        </p:txBody>
      </p:sp>
    </p:spTree>
  </p:cSld>
  <p:clrMapOvr>
    <a:masterClrMapping/>
  </p:clrMapOvr>
</p:notes>
</file>

<file path=ppt/notesSlides/notesSlide5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14690" name="슬라이드 이미지 개체 틀 1"/>
          <p:cNvSpPr>
            <a:spLocks noGrp="1" noRot="1" noChangeAspect="1" noChangeArrowheads="1" noTextEdit="1"/>
          </p:cNvSpPr>
          <p:nvPr>
            <p:ph type="sldImg" idx="0"/>
          </p:nvPr>
        </p:nvSpPr>
        <p:spPr>
          <a:ln/>
        </p:spPr>
      </p:sp>
      <p:sp>
        <p:nvSpPr>
          <p:cNvPr id="114691"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114692"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E533EF3C-336F-4798-866B-ABBBB5CF7990}" type="slidenum">
              <a:rPr lang="en-US" altLang="en-US" sz="1200"/>
              <a:pPr lvl="0">
                <a:defRPr/>
              </a:pPr>
              <a:t>52</a:t>
            </a:fld>
            <a:endParaRPr lang="en-US" altLang="en-US" sz="1200"/>
          </a:p>
        </p:txBody>
      </p:sp>
    </p:spTree>
  </p:cSld>
  <p:clrMapOvr>
    <a:masterClrMapping/>
  </p:clrMapOvr>
</p:notes>
</file>

<file path=ppt/notesSlides/notesSlide5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16738" name="슬라이드 이미지 개체 틀 1"/>
          <p:cNvSpPr>
            <a:spLocks noGrp="1" noRot="1" noChangeAspect="1" noChangeArrowheads="1" noTextEdit="1"/>
          </p:cNvSpPr>
          <p:nvPr>
            <p:ph type="sldImg" idx="0"/>
          </p:nvPr>
        </p:nvSpPr>
        <p:spPr>
          <a:ln/>
        </p:spPr>
      </p:sp>
      <p:sp>
        <p:nvSpPr>
          <p:cNvPr id="116739"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116740"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B110BB63-6B64-4218-9CF7-5C80C1F18984}" type="slidenum">
              <a:rPr lang="en-US" altLang="en-US" sz="1200"/>
              <a:pPr lvl="0">
                <a:defRPr/>
              </a:pPr>
              <a:t>53</a:t>
            </a:fld>
            <a:endParaRPr lang="en-US" altLang="en-US" sz="1200"/>
          </a:p>
        </p:txBody>
      </p:sp>
    </p:spTree>
  </p:cSld>
  <p:clrMapOvr>
    <a:masterClrMapping/>
  </p:clrMapOvr>
</p:notes>
</file>

<file path=ppt/notesSlides/notesSlide5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idx="0"/>
          </p:nvPr>
        </p:nvSpPr>
        <p:spPr>
          <a:ln/>
        </p:spPr>
      </p:sp>
      <p:sp>
        <p:nvSpPr>
          <p:cNvPr id="118787" name="Rectangle 3"/>
          <p:cNvSpPr>
            <a:spLocks noGrp="1" noChangeArrowheads="1"/>
          </p:cNvSpPr>
          <p:nvPr>
            <p:ph type="body" idx="1"/>
          </p:nvPr>
        </p:nvSpPr>
        <p:spPr>
          <a:noFill/>
          <a:ln/>
        </p:spPr>
        <p:txBody>
          <a:bodyPr/>
          <a:lstStyle/>
          <a:p>
            <a:pPr lvl="0">
              <a:defRPr/>
            </a:pPr>
            <a:r>
              <a:rPr lang="ko-KR" altLang="en-US">
                <a:ea typeface="굴림"/>
              </a:rPr>
              <a:t/>
            </a:r>
            <a:endParaRPr lang="ko-KR" altLang="en-US">
              <a:ea typeface="굴림"/>
            </a:endParaRPr>
          </a:p>
        </p:txBody>
      </p:sp>
    </p:spTree>
  </p:cSld>
  <p:clrMapOvr>
    <a:masterClrMapping/>
  </p:clrMapOvr>
</p:notes>
</file>

<file path=ppt/notesSlides/notesSlide5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idx="0"/>
          </p:nvPr>
        </p:nvSpPr>
        <p:spPr>
          <a:ln/>
        </p:spPr>
      </p:sp>
      <p:sp>
        <p:nvSpPr>
          <p:cNvPr id="120835" name="Rectangle 3"/>
          <p:cNvSpPr>
            <a:spLocks noGrp="1" noChangeArrowheads="1"/>
          </p:cNvSpPr>
          <p:nvPr>
            <p:ph type="body" idx="1"/>
          </p:nvPr>
        </p:nvSpPr>
        <p:spPr>
          <a:noFill/>
          <a:ln/>
        </p:spPr>
        <p:txBody>
          <a:bodyPr/>
          <a:lstStyle/>
          <a:p>
            <a:pPr lvl="0">
              <a:defRPr/>
            </a:pPr>
            <a:r>
              <a:rPr lang="ko-KR" altLang="en-US">
                <a:ea typeface="굴림"/>
              </a:rPr>
              <a:t/>
            </a:r>
            <a:endParaRPr lang="ko-KR" altLang="en-US">
              <a:ea typeface="굴림"/>
            </a:endParaRPr>
          </a:p>
        </p:txBody>
      </p:sp>
    </p:spTree>
  </p:cSld>
  <p:clrMapOvr>
    <a:masterClrMapping/>
  </p:clrMapOvr>
</p:notes>
</file>

<file path=ppt/notesSlides/notesSlide5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22882" name="슬라이드 이미지 개체 틀 1"/>
          <p:cNvSpPr>
            <a:spLocks noGrp="1" noRot="1" noChangeAspect="1" noChangeArrowheads="1" noTextEdit="1"/>
          </p:cNvSpPr>
          <p:nvPr>
            <p:ph type="sldImg" idx="0"/>
          </p:nvPr>
        </p:nvSpPr>
        <p:spPr>
          <a:ln/>
        </p:spPr>
      </p:sp>
      <p:sp>
        <p:nvSpPr>
          <p:cNvPr id="122883"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122884"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0BB42CF2-5FFF-46C3-A306-DD845E034403}" type="slidenum">
              <a:rPr lang="en-US" altLang="en-US" sz="1200"/>
              <a:pPr lvl="0">
                <a:defRPr/>
              </a:pPr>
              <a:t>56</a:t>
            </a:fld>
            <a:endParaRPr lang="en-US" altLang="en-US" sz="1200"/>
          </a:p>
        </p:txBody>
      </p:sp>
    </p:spTree>
  </p:cSld>
  <p:clrMapOvr>
    <a:masterClrMapping/>
  </p:clrMapOvr>
</p:notes>
</file>

<file path=ppt/notesSlides/notesSlide5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24930" name="슬라이드 이미지 개체 틀 1"/>
          <p:cNvSpPr>
            <a:spLocks noGrp="1" noRot="1" noChangeAspect="1" noChangeArrowheads="1" noTextEdit="1"/>
          </p:cNvSpPr>
          <p:nvPr>
            <p:ph type="sldImg" idx="0"/>
          </p:nvPr>
        </p:nvSpPr>
        <p:spPr>
          <a:ln/>
        </p:spPr>
      </p:sp>
      <p:sp>
        <p:nvSpPr>
          <p:cNvPr id="124931"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124932"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8AB378B4-65B2-4AA2-BE04-04574E818FE6}" type="slidenum">
              <a:rPr lang="en-US" altLang="en-US" sz="1200"/>
              <a:pPr lvl="0">
                <a:defRPr/>
              </a:pPr>
              <a:t>57</a:t>
            </a:fld>
            <a:endParaRPr lang="en-US" altLang="en-US" sz="1200"/>
          </a:p>
        </p:txBody>
      </p:sp>
    </p:spTree>
  </p:cSld>
  <p:clrMapOvr>
    <a:masterClrMapping/>
  </p:clrMapOvr>
</p:notes>
</file>

<file path=ppt/notesSlides/notesSlide5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71682" name="슬라이드 이미지 개체 틀 1"/>
          <p:cNvSpPr>
            <a:spLocks noGrp="1" noRot="1" noChangeAspect="1" noChangeArrowheads="1" noTextEdit="1"/>
          </p:cNvSpPr>
          <p:nvPr>
            <p:ph type="sldImg" idx="0"/>
          </p:nvPr>
        </p:nvSpPr>
        <p:spPr>
          <a:ln/>
        </p:spPr>
      </p:sp>
      <p:sp>
        <p:nvSpPr>
          <p:cNvPr id="71683" name="슬라이드 노트 개체 틀 2"/>
          <p:cNvSpPr>
            <a:spLocks noGrp="1"/>
          </p:cNvSpPr>
          <p:nvPr>
            <p:ph type="body" idx="1"/>
          </p:nvPr>
        </p:nvSpPr>
        <p:spPr>
          <a:noFill/>
          <a:ln/>
        </p:spPr>
        <p:txBody>
          <a:bodyPr/>
          <a:lstStyle/>
          <a:p>
            <a:pPr lvl="0">
              <a:defRPr/>
            </a:pPr>
            <a:r>
              <a:rPr lang="ko-KR" altLang="en-US"/>
              <a:t/>
            </a:r>
            <a:endParaRPr lang="ko-KR" altLang="en-US"/>
          </a:p>
        </p:txBody>
      </p:sp>
      <p:sp>
        <p:nvSpPr>
          <p:cNvPr id="71684" name="슬라이드 번호 개체 틀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DDC949F0-3146-4B85-85F5-5B3140CE537E}" type="slidenum">
              <a:rPr lang="en-US" altLang="en-US" sz="1200"/>
              <a:pPr lvl="0">
                <a:defRPr/>
              </a:pPr>
              <a:t>59</a:t>
            </a:fld>
            <a:endParaRPr lang="en-US" altLang="en-US" sz="1200"/>
          </a:p>
        </p:txBody>
      </p:sp>
    </p:spTree>
  </p:cSld>
  <p:clrMapOvr>
    <a:masterClrMapping/>
  </p:clrMapOvr>
</p:notes>
</file>

<file path=ppt/notesSlides/notesSlide5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ChangeArrowheads="1" noTextEdit="1"/>
          </p:cNvSpPr>
          <p:nvPr>
            <p:ph type="sldImg" idx="0"/>
          </p:nvPr>
        </p:nvSpPr>
        <p:spPr>
          <a:ln/>
        </p:spPr>
      </p:sp>
      <p:sp>
        <p:nvSpPr>
          <p:cNvPr id="126979" name="Notes Placeholder 2"/>
          <p:cNvSpPr>
            <a:spLocks noGrp="1"/>
          </p:cNvSpPr>
          <p:nvPr>
            <p:ph type="body" idx="1"/>
          </p:nvPr>
        </p:nvSpPr>
        <p:spPr>
          <a:noFill/>
          <a:ln/>
        </p:spPr>
        <p:txBody>
          <a:bodyPr/>
          <a:lstStyle/>
          <a:p>
            <a:pPr lvl="0">
              <a:defRPr/>
            </a:pPr>
            <a:r>
              <a:rPr lang="en-US" altLang="ko-KR">
                <a:ea typeface="굴림"/>
              </a:rPr>
              <a:t> Another form of semiconductor memory is flash memory. Flash memory is used</a:t>
            </a:r>
            <a:endParaRPr lang="en-US" altLang="ko-KR">
              <a:ea typeface="굴림"/>
            </a:endParaRPr>
          </a:p>
          <a:p>
            <a:pPr lvl="0">
              <a:defRPr/>
            </a:pPr>
            <a:r>
              <a:rPr lang="en-US" altLang="ko-KR">
                <a:ea typeface="굴림"/>
              </a:rPr>
              <a:t>both for internal memory and external memory applications. Here, we provide a</a:t>
            </a:r>
            <a:endParaRPr lang="en-US" altLang="ko-KR">
              <a:ea typeface="굴림"/>
            </a:endParaRPr>
          </a:p>
          <a:p>
            <a:pPr lvl="0">
              <a:defRPr/>
            </a:pPr>
            <a:r>
              <a:rPr lang="en-US" altLang="ko-KR">
                <a:ea typeface="굴림"/>
              </a:rPr>
              <a:t>technical overview and look at its use for internal memory.</a:t>
            </a:r>
            <a:endParaRPr lang="en-US" altLang="ko-KR">
              <a:ea typeface="굴림"/>
            </a:endParaRPr>
          </a:p>
          <a:p>
            <a:pPr lvl="0">
              <a:defRPr/>
            </a:pPr>
            <a:endParaRPr lang="en-US" altLang="ko-KR">
              <a:ea typeface="굴림"/>
            </a:endParaRPr>
          </a:p>
          <a:p>
            <a:pPr lvl="0">
              <a:defRPr/>
            </a:pPr>
            <a:r>
              <a:rPr lang="en-US" altLang="ko-KR">
                <a:ea typeface="굴림"/>
              </a:rPr>
              <a:t>First introduced in the mid-1980s, flash memory is intermediate between</a:t>
            </a:r>
            <a:endParaRPr lang="en-US" altLang="ko-KR">
              <a:ea typeface="굴림"/>
            </a:endParaRPr>
          </a:p>
          <a:p>
            <a:pPr lvl="0">
              <a:defRPr/>
            </a:pPr>
            <a:r>
              <a:rPr lang="en-US" altLang="ko-KR">
                <a:ea typeface="굴림"/>
              </a:rPr>
              <a:t>EPROM and EEPROM in both cost and functionality. Like EEPROM, flash memory</a:t>
            </a:r>
            <a:endParaRPr lang="en-US" altLang="ko-KR">
              <a:ea typeface="굴림"/>
            </a:endParaRPr>
          </a:p>
          <a:p>
            <a:pPr lvl="0">
              <a:defRPr/>
            </a:pPr>
            <a:r>
              <a:rPr lang="en-US" altLang="ko-KR">
                <a:ea typeface="굴림"/>
              </a:rPr>
              <a:t>uses an electrical erasing technology. An entire flash memory can be erased in</a:t>
            </a:r>
            <a:endParaRPr lang="en-US" altLang="ko-KR">
              <a:ea typeface="굴림"/>
            </a:endParaRPr>
          </a:p>
          <a:p>
            <a:pPr lvl="0">
              <a:defRPr/>
            </a:pPr>
            <a:r>
              <a:rPr lang="en-US" altLang="ko-KR">
                <a:ea typeface="굴림"/>
              </a:rPr>
              <a:t>one or a few seconds, which is much faster than EPROM. In addition, it is possible</a:t>
            </a:r>
            <a:endParaRPr lang="en-US" altLang="ko-KR">
              <a:ea typeface="굴림"/>
            </a:endParaRPr>
          </a:p>
          <a:p>
            <a:pPr lvl="0">
              <a:defRPr/>
            </a:pPr>
            <a:r>
              <a:rPr lang="en-US" altLang="ko-KR">
                <a:ea typeface="굴림"/>
              </a:rPr>
              <a:t>to erase just blocks of memory rather than an entire chip. Flash memory gets its</a:t>
            </a:r>
            <a:endParaRPr lang="en-US" altLang="ko-KR">
              <a:ea typeface="굴림"/>
            </a:endParaRPr>
          </a:p>
          <a:p>
            <a:pPr lvl="0">
              <a:defRPr/>
            </a:pPr>
            <a:r>
              <a:rPr lang="en-US" altLang="ko-KR">
                <a:ea typeface="굴림"/>
              </a:rPr>
              <a:t>name because the microchip is organized so that a section of memory cells are</a:t>
            </a:r>
            <a:endParaRPr lang="en-US" altLang="ko-KR">
              <a:ea typeface="굴림"/>
            </a:endParaRPr>
          </a:p>
          <a:p>
            <a:pPr lvl="0">
              <a:defRPr/>
            </a:pPr>
            <a:r>
              <a:rPr lang="en-US" altLang="ko-KR">
                <a:ea typeface="굴림"/>
              </a:rPr>
              <a:t>erased in a single action or "flash." However, flash memory does not provide bytelevel</a:t>
            </a:r>
            <a:endParaRPr lang="en-US" altLang="ko-KR">
              <a:ea typeface="굴림"/>
            </a:endParaRPr>
          </a:p>
          <a:p>
            <a:pPr lvl="0">
              <a:defRPr/>
            </a:pPr>
            <a:r>
              <a:rPr lang="en-US" altLang="ko-KR">
                <a:ea typeface="굴림"/>
              </a:rPr>
              <a:t>erasure. Like EPROM, flash memory uses only one transistor per bit, and so</a:t>
            </a:r>
            <a:endParaRPr lang="en-US" altLang="ko-KR">
              <a:ea typeface="굴림"/>
            </a:endParaRPr>
          </a:p>
          <a:p>
            <a:pPr lvl="0">
              <a:defRPr/>
            </a:pPr>
            <a:r>
              <a:rPr lang="en-US" altLang="ko-KR">
                <a:ea typeface="굴림"/>
              </a:rPr>
              <a:t>achieves the high density (compared with EEPROM) of EPROM.</a:t>
            </a:r>
            <a:endParaRPr lang="en-US" altLang="ko-KR">
              <a:ea typeface="굴림"/>
            </a:endParaRPr>
          </a:p>
        </p:txBody>
      </p:sp>
      <p:sp>
        <p:nvSpPr>
          <p:cNvPr id="126980" name="Slide Number Placeholder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70F25268-ECD0-4415-9710-7544665A6287}" type="slidenum">
              <a:rPr lang="en-US" altLang="ko-KR" sz="1200"/>
              <a:pPr lvl="0">
                <a:defRPr/>
              </a:pPr>
              <a:t>58</a:t>
            </a:fld>
            <a:endParaRPr lang="en-US" altLang="ko-KR" sz="1200"/>
          </a:p>
        </p:txBody>
      </p:sp>
      <p:sp>
        <p:nvSpPr>
          <p:cNvPr id="126981" name="Footer Placeholder 4"/>
          <p:cNvSpPr>
            <a:spLocks noGrp="1"/>
          </p:cNvSpPr>
          <p:nvPr>
            <p:ph type="ftr" sz="quarter" idx="4"/>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r>
              <a:rPr lang="en-US" altLang="ko-KR" sz="1200"/>
              <a:t> </a:t>
            </a:r>
            <a:endParaRPr lang="en-US" altLang="ko-KR" sz="1200"/>
          </a:p>
        </p:txBody>
      </p:sp>
    </p:spTree>
  </p:cSld>
  <p:clrMapOvr>
    <a:masterClrMapping/>
  </p:clrMapOvr>
</p:notes>
</file>

<file path=ppt/notesSlides/notesSlide6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ChangeArrowheads="1" noTextEdit="1"/>
          </p:cNvSpPr>
          <p:nvPr>
            <p:ph type="sldImg" idx="0"/>
          </p:nvPr>
        </p:nvSpPr>
        <p:spPr>
          <a:ln/>
        </p:spPr>
      </p:sp>
      <p:sp>
        <p:nvSpPr>
          <p:cNvPr id="129027" name="Notes Placeholder 2"/>
          <p:cNvSpPr>
            <a:spLocks noGrp="1"/>
          </p:cNvSpPr>
          <p:nvPr>
            <p:ph type="body" idx="1"/>
          </p:nvPr>
        </p:nvSpPr>
        <p:spPr>
          <a:noFill/>
          <a:ln/>
        </p:spPr>
        <p:txBody>
          <a:bodyPr/>
          <a:lstStyle/>
          <a:p>
            <a:pPr lvl="0">
              <a:defRPr/>
            </a:pPr>
            <a:r>
              <a:rPr lang="en-US" altLang="ko-KR">
                <a:ea typeface="굴림"/>
              </a:rPr>
              <a:t> Figure 5.15 illustrates the basic operation of a flash memory. For comparison, Figure</a:t>
            </a:r>
            <a:endParaRPr lang="en-US" altLang="ko-KR">
              <a:ea typeface="굴림"/>
            </a:endParaRPr>
          </a:p>
          <a:p>
            <a:pPr lvl="0">
              <a:defRPr/>
            </a:pPr>
            <a:r>
              <a:rPr lang="en-US" altLang="ko-KR">
                <a:ea typeface="굴림"/>
              </a:rPr>
              <a:t>5.15a depicts the operation of a transistor. Transistors exploit the properties of</a:t>
            </a:r>
            <a:endParaRPr lang="en-US" altLang="ko-KR">
              <a:ea typeface="굴림"/>
            </a:endParaRPr>
          </a:p>
          <a:p>
            <a:pPr lvl="0">
              <a:defRPr/>
            </a:pPr>
            <a:r>
              <a:rPr lang="en-US" altLang="ko-KR">
                <a:ea typeface="굴림"/>
              </a:rPr>
              <a:t>semiconductors so that a small voltage applied to the gate can be used to control the</a:t>
            </a:r>
            <a:endParaRPr lang="en-US" altLang="ko-KR">
              <a:ea typeface="굴림"/>
            </a:endParaRPr>
          </a:p>
          <a:p>
            <a:pPr lvl="0">
              <a:defRPr/>
            </a:pPr>
            <a:r>
              <a:rPr lang="en-US" altLang="ko-KR">
                <a:ea typeface="굴림"/>
              </a:rPr>
              <a:t>flow of a large current between the source and the drain.</a:t>
            </a:r>
            <a:endParaRPr lang="en-US" altLang="ko-KR">
              <a:ea typeface="굴림"/>
            </a:endParaRPr>
          </a:p>
          <a:p>
            <a:pPr lvl="0">
              <a:defRPr/>
            </a:pPr>
            <a:endParaRPr lang="en-US" altLang="ko-KR">
              <a:ea typeface="굴림"/>
            </a:endParaRPr>
          </a:p>
          <a:p>
            <a:pPr lvl="0">
              <a:defRPr/>
            </a:pPr>
            <a:r>
              <a:rPr lang="en-US" altLang="ko-KR">
                <a:ea typeface="굴림"/>
              </a:rPr>
              <a:t>In a flash memory cell, a second gate—called a floating gate, because it is insulated</a:t>
            </a:r>
            <a:endParaRPr lang="en-US" altLang="ko-KR">
              <a:ea typeface="굴림"/>
            </a:endParaRPr>
          </a:p>
          <a:p>
            <a:pPr lvl="0">
              <a:defRPr/>
            </a:pPr>
            <a:r>
              <a:rPr lang="en-US" altLang="ko-KR">
                <a:ea typeface="굴림"/>
              </a:rPr>
              <a:t>by a thin oxide layer—is added to the transistor. Initially, the floating gate</a:t>
            </a:r>
            <a:endParaRPr lang="en-US" altLang="ko-KR">
              <a:ea typeface="굴림"/>
            </a:endParaRPr>
          </a:p>
          <a:p>
            <a:pPr lvl="0">
              <a:defRPr/>
            </a:pPr>
            <a:r>
              <a:rPr lang="en-US" altLang="ko-KR">
                <a:ea typeface="굴림"/>
              </a:rPr>
              <a:t>does not interfere with the operation of the transistor (Figure 5.15b). In this state,</a:t>
            </a:r>
            <a:endParaRPr lang="en-US" altLang="ko-KR">
              <a:ea typeface="굴림"/>
            </a:endParaRPr>
          </a:p>
          <a:p>
            <a:pPr lvl="0">
              <a:defRPr/>
            </a:pPr>
            <a:r>
              <a:rPr lang="en-US" altLang="ko-KR">
                <a:ea typeface="굴림"/>
              </a:rPr>
              <a:t>the cell is deemed to represent binary 1. Applying a large voltage across the oxide</a:t>
            </a:r>
            <a:endParaRPr lang="en-US" altLang="ko-KR">
              <a:ea typeface="굴림"/>
            </a:endParaRPr>
          </a:p>
          <a:p>
            <a:pPr lvl="0">
              <a:defRPr/>
            </a:pPr>
            <a:r>
              <a:rPr lang="en-US" altLang="ko-KR">
                <a:ea typeface="굴림"/>
              </a:rPr>
              <a:t>layer causes electrons to tunnel through it and become trapped on the floating gate,</a:t>
            </a:r>
            <a:endParaRPr lang="en-US" altLang="ko-KR">
              <a:ea typeface="굴림"/>
            </a:endParaRPr>
          </a:p>
          <a:p>
            <a:pPr lvl="0">
              <a:defRPr/>
            </a:pPr>
            <a:r>
              <a:rPr lang="en-US" altLang="ko-KR">
                <a:ea typeface="굴림"/>
              </a:rPr>
              <a:t>where they remain even if the power is disconnected (Figure 5.15c). In this state, the</a:t>
            </a:r>
            <a:endParaRPr lang="en-US" altLang="ko-KR">
              <a:ea typeface="굴림"/>
            </a:endParaRPr>
          </a:p>
          <a:p>
            <a:pPr lvl="0">
              <a:defRPr/>
            </a:pPr>
            <a:r>
              <a:rPr lang="en-US" altLang="ko-KR">
                <a:ea typeface="굴림"/>
              </a:rPr>
              <a:t>cell is deemed to represent binary 0. The state of the cell can be read by using external</a:t>
            </a:r>
            <a:endParaRPr lang="en-US" altLang="ko-KR">
              <a:ea typeface="굴림"/>
            </a:endParaRPr>
          </a:p>
          <a:p>
            <a:pPr lvl="0">
              <a:defRPr/>
            </a:pPr>
            <a:r>
              <a:rPr lang="en-US" altLang="ko-KR">
                <a:ea typeface="굴림"/>
              </a:rPr>
              <a:t>circuitry to test whether the transistor is working or not. Applying a large voltage</a:t>
            </a:r>
            <a:endParaRPr lang="en-US" altLang="ko-KR">
              <a:ea typeface="굴림"/>
            </a:endParaRPr>
          </a:p>
          <a:p>
            <a:pPr lvl="0">
              <a:defRPr/>
            </a:pPr>
            <a:r>
              <a:rPr lang="en-US" altLang="ko-KR">
                <a:ea typeface="굴림"/>
              </a:rPr>
              <a:t>in the opposite direction removes the electrons from the floating gate, returning</a:t>
            </a:r>
            <a:endParaRPr lang="en-US" altLang="ko-KR">
              <a:ea typeface="굴림"/>
            </a:endParaRPr>
          </a:p>
          <a:p>
            <a:pPr lvl="0">
              <a:defRPr/>
            </a:pPr>
            <a:r>
              <a:rPr lang="en-US" altLang="ko-KR">
                <a:ea typeface="굴림"/>
              </a:rPr>
              <a:t>to a state of binary 1.</a:t>
            </a:r>
            <a:endParaRPr lang="en-US" altLang="ko-KR">
              <a:ea typeface="굴림"/>
            </a:endParaRPr>
          </a:p>
          <a:p>
            <a:pPr lvl="0">
              <a:defRPr/>
            </a:pPr>
            <a:endParaRPr lang="en-US" altLang="ko-KR">
              <a:ea typeface="굴림"/>
            </a:endParaRPr>
          </a:p>
          <a:p>
            <a:pPr lvl="0">
              <a:defRPr/>
            </a:pPr>
            <a:r>
              <a:rPr lang="en-US" altLang="ko-KR">
                <a:ea typeface="굴림"/>
              </a:rPr>
              <a:t> An important characteristic of flash memory is that it is persistent memory,</a:t>
            </a:r>
            <a:endParaRPr lang="en-US" altLang="ko-KR">
              <a:ea typeface="굴림"/>
            </a:endParaRPr>
          </a:p>
          <a:p>
            <a:pPr lvl="0">
              <a:defRPr/>
            </a:pPr>
            <a:r>
              <a:rPr lang="en-US" altLang="ko-KR">
                <a:ea typeface="굴림"/>
              </a:rPr>
              <a:t>which means that it retains data when there is no power applied to the memory.</a:t>
            </a:r>
            <a:endParaRPr lang="en-US" altLang="ko-KR">
              <a:ea typeface="굴림"/>
            </a:endParaRPr>
          </a:p>
          <a:p>
            <a:pPr lvl="0">
              <a:defRPr/>
            </a:pPr>
            <a:r>
              <a:rPr lang="en-US" altLang="ko-KR">
                <a:ea typeface="굴림"/>
              </a:rPr>
              <a:t>Thus, it is useful for secondary (external) storage, and as an alternative to random</a:t>
            </a:r>
            <a:endParaRPr lang="en-US" altLang="ko-KR">
              <a:ea typeface="굴림"/>
            </a:endParaRPr>
          </a:p>
          <a:p>
            <a:pPr lvl="0">
              <a:defRPr/>
            </a:pPr>
            <a:r>
              <a:rPr lang="en-US" altLang="ko-KR">
                <a:ea typeface="굴림"/>
              </a:rPr>
              <a:t>access memory in computers.</a:t>
            </a:r>
            <a:endParaRPr lang="en-US" altLang="ko-KR">
              <a:ea typeface="굴림"/>
            </a:endParaRPr>
          </a:p>
        </p:txBody>
      </p:sp>
      <p:sp>
        <p:nvSpPr>
          <p:cNvPr id="129028" name="Slide Number Placeholder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45682C6D-99F8-42A1-9ED9-916158FA2C45}" type="slidenum">
              <a:rPr lang="en-US" altLang="ko-KR" sz="1200"/>
              <a:pPr lvl="0">
                <a:defRPr/>
              </a:pPr>
              <a:t>60</a:t>
            </a:fld>
            <a:endParaRPr lang="en-US" altLang="ko-KR" sz="1200"/>
          </a:p>
        </p:txBody>
      </p:sp>
      <p:sp>
        <p:nvSpPr>
          <p:cNvPr id="129029" name="Footer Placeholder 4"/>
          <p:cNvSpPr>
            <a:spLocks noGrp="1"/>
          </p:cNvSpPr>
          <p:nvPr>
            <p:ph type="ftr" sz="quarter" idx="4"/>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r>
              <a:rPr lang="en-US" altLang="ko-KR" sz="1200"/>
              <a:t> </a:t>
            </a:r>
            <a:endParaRPr lang="en-US" altLang="ko-KR" sz="1200"/>
          </a:p>
        </p:txBody>
      </p:sp>
    </p:spTree>
  </p:cSld>
  <p:clrMapOvr>
    <a:masterClrMapping/>
  </p:clrMapOvr>
</p:notes>
</file>

<file path=ppt/notesSlides/notesSlide6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ChangeArrowheads="1" noTextEdit="1"/>
          </p:cNvSpPr>
          <p:nvPr>
            <p:ph type="sldImg" idx="0"/>
          </p:nvPr>
        </p:nvSpPr>
        <p:spPr>
          <a:ln/>
        </p:spPr>
      </p:sp>
      <p:sp>
        <p:nvSpPr>
          <p:cNvPr id="131075" name="Notes Placeholder 2"/>
          <p:cNvSpPr>
            <a:spLocks noGrp="1"/>
          </p:cNvSpPr>
          <p:nvPr>
            <p:ph type="body" idx="1"/>
          </p:nvPr>
        </p:nvSpPr>
        <p:spPr>
          <a:noFill/>
          <a:ln/>
        </p:spPr>
        <p:txBody>
          <a:bodyPr/>
          <a:lstStyle/>
          <a:p>
            <a:pPr lvl="0">
              <a:defRPr/>
            </a:pPr>
            <a:r>
              <a:rPr lang="en-US" altLang="ko-KR">
                <a:ea typeface="굴림"/>
              </a:rPr>
              <a:t> There are two distinctive types of flash memory, designated as NOR and NAND</a:t>
            </a:r>
            <a:endParaRPr lang="en-US" altLang="ko-KR">
              <a:ea typeface="굴림"/>
            </a:endParaRPr>
          </a:p>
          <a:p>
            <a:pPr lvl="0">
              <a:defRPr/>
            </a:pPr>
            <a:r>
              <a:rPr lang="en-US" altLang="ko-KR">
                <a:ea typeface="굴림"/>
              </a:rPr>
              <a:t>(Figure 5.16). In NOR flash memory , the basic unit of access is a bit, referred to as a</a:t>
            </a:r>
            <a:endParaRPr lang="en-US" altLang="ko-KR">
              <a:ea typeface="굴림"/>
            </a:endParaRPr>
          </a:p>
          <a:p>
            <a:pPr lvl="0">
              <a:defRPr/>
            </a:pPr>
            <a:r>
              <a:rPr lang="en-US" altLang="ko-KR">
                <a:ea typeface="굴림"/>
              </a:rPr>
              <a:t>memory cell . Cells in NOR flash are connected in parallel to the bit lines so that each</a:t>
            </a:r>
            <a:endParaRPr lang="en-US" altLang="ko-KR">
              <a:ea typeface="굴림"/>
            </a:endParaRPr>
          </a:p>
          <a:p>
            <a:pPr lvl="0">
              <a:defRPr/>
            </a:pPr>
            <a:r>
              <a:rPr lang="en-US" altLang="ko-KR">
                <a:ea typeface="굴림"/>
              </a:rPr>
              <a:t>cell can be read/write/erased individually. If any memory cell of the device is turned</a:t>
            </a:r>
            <a:endParaRPr lang="en-US" altLang="ko-KR">
              <a:ea typeface="굴림"/>
            </a:endParaRPr>
          </a:p>
          <a:p>
            <a:pPr lvl="0">
              <a:defRPr/>
            </a:pPr>
            <a:r>
              <a:rPr lang="en-US" altLang="ko-KR">
                <a:ea typeface="굴림"/>
              </a:rPr>
              <a:t>on by the corresponding word line, the bit line goes low. This is similar in function to</a:t>
            </a:r>
            <a:endParaRPr lang="en-US" altLang="ko-KR">
              <a:ea typeface="굴림"/>
            </a:endParaRPr>
          </a:p>
          <a:p>
            <a:pPr lvl="0">
              <a:defRPr/>
            </a:pPr>
            <a:r>
              <a:rPr lang="en-US" altLang="ko-KR">
                <a:ea typeface="굴림"/>
              </a:rPr>
              <a:t>a NOR logic gate.</a:t>
            </a:r>
            <a:endParaRPr lang="en-US" altLang="ko-KR">
              <a:ea typeface="굴림"/>
            </a:endParaRPr>
          </a:p>
          <a:p>
            <a:pPr lvl="0">
              <a:defRPr/>
            </a:pPr>
            <a:endParaRPr lang="en-US" altLang="ko-KR">
              <a:ea typeface="굴림"/>
            </a:endParaRPr>
          </a:p>
          <a:p>
            <a:pPr lvl="0">
              <a:defRPr/>
            </a:pPr>
            <a:r>
              <a:rPr lang="en-US" altLang="ko-KR">
                <a:ea typeface="굴림"/>
              </a:rPr>
              <a:t>NAND flash memory  is organized in transistor arrays with 16 or 32 transistors</a:t>
            </a:r>
            <a:endParaRPr lang="en-US" altLang="ko-KR">
              <a:ea typeface="굴림"/>
            </a:endParaRPr>
          </a:p>
          <a:p>
            <a:pPr lvl="0">
              <a:defRPr/>
            </a:pPr>
            <a:r>
              <a:rPr lang="en-US" altLang="ko-KR">
                <a:ea typeface="굴림"/>
              </a:rPr>
              <a:t>in series. The bit line goes low only if all the transistors in the corresponding word</a:t>
            </a:r>
            <a:endParaRPr lang="en-US" altLang="ko-KR">
              <a:ea typeface="굴림"/>
            </a:endParaRPr>
          </a:p>
          <a:p>
            <a:pPr lvl="0">
              <a:defRPr/>
            </a:pPr>
            <a:r>
              <a:rPr lang="en-US" altLang="ko-KR">
                <a:ea typeface="굴림"/>
              </a:rPr>
              <a:t>lines are turned on. This is similar in function to a NAND logic gate.</a:t>
            </a:r>
            <a:endParaRPr lang="en-US" altLang="ko-KR">
              <a:ea typeface="굴림"/>
            </a:endParaRPr>
          </a:p>
        </p:txBody>
      </p:sp>
      <p:sp>
        <p:nvSpPr>
          <p:cNvPr id="131076" name="Slide Number Placeholder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82C4C0F4-C539-48AB-A487-A92B915E67F5}" type="slidenum">
              <a:rPr lang="en-US" altLang="ko-KR" sz="1200"/>
              <a:pPr lvl="0">
                <a:defRPr/>
              </a:pPr>
              <a:t>61</a:t>
            </a:fld>
            <a:endParaRPr lang="en-US" altLang="ko-KR" sz="1200"/>
          </a:p>
        </p:txBody>
      </p:sp>
      <p:sp>
        <p:nvSpPr>
          <p:cNvPr id="131077" name="Footer Placeholder 4"/>
          <p:cNvSpPr>
            <a:spLocks noGrp="1"/>
          </p:cNvSpPr>
          <p:nvPr>
            <p:ph type="ftr" sz="quarter" idx="4"/>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r>
              <a:rPr lang="en-US" altLang="ko-KR" sz="1200"/>
              <a:t> </a:t>
            </a:r>
            <a:endParaRPr lang="en-US" altLang="ko-KR" sz="1200"/>
          </a:p>
        </p:txBody>
      </p:sp>
    </p:spTree>
  </p:cSld>
  <p:clrMapOvr>
    <a:masterClrMapping/>
  </p:clrMapOvr>
</p:notes>
</file>

<file path=ppt/notesSlides/notesSlide6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33122" name="Slide Image Placeholder 1"/>
          <p:cNvSpPr>
            <a:spLocks noGrp="1" noRot="1" noChangeAspect="1" noChangeArrowheads="1" noTextEdit="1"/>
          </p:cNvSpPr>
          <p:nvPr>
            <p:ph type="sldImg" idx="0"/>
          </p:nvPr>
        </p:nvSpPr>
        <p:spPr>
          <a:ln/>
        </p:spPr>
      </p:sp>
      <p:sp>
        <p:nvSpPr>
          <p:cNvPr id="133123" name="Notes Placeholder 2"/>
          <p:cNvSpPr>
            <a:spLocks noGrp="1"/>
          </p:cNvSpPr>
          <p:nvPr>
            <p:ph type="body" idx="1"/>
          </p:nvPr>
        </p:nvSpPr>
        <p:spPr>
          <a:noFill/>
          <a:ln/>
        </p:spPr>
        <p:txBody>
          <a:bodyPr/>
          <a:lstStyle/>
          <a:p>
            <a:pPr lvl="0">
              <a:defRPr/>
            </a:pPr>
            <a:r>
              <a:rPr lang="en-US" altLang="ko-KR">
                <a:ea typeface="굴림"/>
              </a:rPr>
              <a:t> There are two distinctive types of flash memory, designated as NOR and NAND</a:t>
            </a:r>
            <a:endParaRPr lang="en-US" altLang="ko-KR">
              <a:ea typeface="굴림"/>
            </a:endParaRPr>
          </a:p>
          <a:p>
            <a:pPr lvl="0">
              <a:defRPr/>
            </a:pPr>
            <a:r>
              <a:rPr lang="en-US" altLang="ko-KR">
                <a:ea typeface="굴림"/>
              </a:rPr>
              <a:t>(Figure 5.16). In NOR flash memory , the basic unit of access is a bit, referred to as a</a:t>
            </a:r>
            <a:endParaRPr lang="en-US" altLang="ko-KR">
              <a:ea typeface="굴림"/>
            </a:endParaRPr>
          </a:p>
          <a:p>
            <a:pPr lvl="0">
              <a:defRPr/>
            </a:pPr>
            <a:r>
              <a:rPr lang="en-US" altLang="ko-KR">
                <a:ea typeface="굴림"/>
              </a:rPr>
              <a:t>memory cell . Cells in NOR flash are connected in parallel to the bit lines so that each</a:t>
            </a:r>
            <a:endParaRPr lang="en-US" altLang="ko-KR">
              <a:ea typeface="굴림"/>
            </a:endParaRPr>
          </a:p>
          <a:p>
            <a:pPr lvl="0">
              <a:defRPr/>
            </a:pPr>
            <a:r>
              <a:rPr lang="en-US" altLang="ko-KR">
                <a:ea typeface="굴림"/>
              </a:rPr>
              <a:t>cell can be read/write/erased individually. If any memory cell of the device is turned</a:t>
            </a:r>
            <a:endParaRPr lang="en-US" altLang="ko-KR">
              <a:ea typeface="굴림"/>
            </a:endParaRPr>
          </a:p>
          <a:p>
            <a:pPr lvl="0">
              <a:defRPr/>
            </a:pPr>
            <a:r>
              <a:rPr lang="en-US" altLang="ko-KR">
                <a:ea typeface="굴림"/>
              </a:rPr>
              <a:t>on by the corresponding word line, the bit line goes low. This is similar in function to</a:t>
            </a:r>
            <a:endParaRPr lang="en-US" altLang="ko-KR">
              <a:ea typeface="굴림"/>
            </a:endParaRPr>
          </a:p>
          <a:p>
            <a:pPr lvl="0">
              <a:defRPr/>
            </a:pPr>
            <a:r>
              <a:rPr lang="en-US" altLang="ko-KR">
                <a:ea typeface="굴림"/>
              </a:rPr>
              <a:t>a NOR logic gate.</a:t>
            </a:r>
            <a:endParaRPr lang="en-US" altLang="ko-KR">
              <a:ea typeface="굴림"/>
            </a:endParaRPr>
          </a:p>
          <a:p>
            <a:pPr lvl="0">
              <a:defRPr/>
            </a:pPr>
            <a:endParaRPr lang="en-US" altLang="ko-KR">
              <a:ea typeface="굴림"/>
            </a:endParaRPr>
          </a:p>
          <a:p>
            <a:pPr lvl="0">
              <a:defRPr/>
            </a:pPr>
            <a:r>
              <a:rPr lang="en-US" altLang="ko-KR">
                <a:ea typeface="굴림"/>
              </a:rPr>
              <a:t>NAND flash memory  is organized in transistor arrays with 16 or 32 transistors</a:t>
            </a:r>
            <a:endParaRPr lang="en-US" altLang="ko-KR">
              <a:ea typeface="굴림"/>
            </a:endParaRPr>
          </a:p>
          <a:p>
            <a:pPr lvl="0">
              <a:defRPr/>
            </a:pPr>
            <a:r>
              <a:rPr lang="en-US" altLang="ko-KR">
                <a:ea typeface="굴림"/>
              </a:rPr>
              <a:t>in series. The bit line goes low only if all the transistors in the corresponding word</a:t>
            </a:r>
            <a:endParaRPr lang="en-US" altLang="ko-KR">
              <a:ea typeface="굴림"/>
            </a:endParaRPr>
          </a:p>
          <a:p>
            <a:pPr lvl="0">
              <a:defRPr/>
            </a:pPr>
            <a:r>
              <a:rPr lang="en-US" altLang="ko-KR">
                <a:ea typeface="굴림"/>
              </a:rPr>
              <a:t>lines are turned on. This is similar in function to a NAND logic gate.</a:t>
            </a:r>
            <a:endParaRPr lang="en-US" altLang="ko-KR">
              <a:ea typeface="굴림"/>
            </a:endParaRPr>
          </a:p>
        </p:txBody>
      </p:sp>
      <p:sp>
        <p:nvSpPr>
          <p:cNvPr id="133124" name="Slide Number Placeholder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6B1AC107-0F8B-48AF-92D8-B93AB88726FE}" type="slidenum">
              <a:rPr lang="en-US" altLang="ko-KR" sz="1200"/>
              <a:pPr lvl="0">
                <a:defRPr/>
              </a:pPr>
              <a:t>62</a:t>
            </a:fld>
            <a:endParaRPr lang="en-US" altLang="ko-KR" sz="1200"/>
          </a:p>
        </p:txBody>
      </p:sp>
      <p:sp>
        <p:nvSpPr>
          <p:cNvPr id="133125" name="Footer Placeholder 4"/>
          <p:cNvSpPr>
            <a:spLocks noGrp="1"/>
          </p:cNvSpPr>
          <p:nvPr>
            <p:ph type="ftr" sz="quarter" idx="4"/>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r>
              <a:rPr lang="en-US" altLang="ko-KR" sz="1200"/>
              <a:t> </a:t>
            </a:r>
            <a:endParaRPr lang="en-US" altLang="ko-KR" sz="1200"/>
          </a:p>
        </p:txBody>
      </p:sp>
    </p:spTree>
  </p:cSld>
  <p:clrMapOvr>
    <a:masterClrMapping/>
  </p:clrMapOvr>
</p:notes>
</file>

<file path=ppt/notesSlides/notesSlide6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ChangeArrowheads="1" noTextEdit="1"/>
          </p:cNvSpPr>
          <p:nvPr>
            <p:ph type="sldImg" idx="0"/>
          </p:nvPr>
        </p:nvSpPr>
        <p:spPr>
          <a:ln/>
        </p:spPr>
      </p:sp>
      <p:sp>
        <p:nvSpPr>
          <p:cNvPr id="135171" name="Notes Placeholder 2"/>
          <p:cNvSpPr>
            <a:spLocks noGrp="1"/>
          </p:cNvSpPr>
          <p:nvPr>
            <p:ph type="body" idx="1"/>
          </p:nvPr>
        </p:nvSpPr>
        <p:spPr>
          <a:noFill/>
          <a:ln/>
        </p:spPr>
        <p:txBody>
          <a:bodyPr/>
          <a:lstStyle/>
          <a:p>
            <a:pPr lvl="0">
              <a:defRPr/>
            </a:pPr>
            <a:r>
              <a:rPr lang="en-US" altLang="ko-KR">
                <a:ea typeface="굴림"/>
              </a:rPr>
              <a:t> There are two distinctive types of flash memory, designated as NOR and NAND</a:t>
            </a:r>
            <a:endParaRPr lang="en-US" altLang="ko-KR">
              <a:ea typeface="굴림"/>
            </a:endParaRPr>
          </a:p>
          <a:p>
            <a:pPr lvl="0">
              <a:defRPr/>
            </a:pPr>
            <a:r>
              <a:rPr lang="en-US" altLang="ko-KR">
                <a:ea typeface="굴림"/>
              </a:rPr>
              <a:t>(Figure 5.16). In NOR flash memory , the basic unit of access is a bit, referred to as a</a:t>
            </a:r>
            <a:endParaRPr lang="en-US" altLang="ko-KR">
              <a:ea typeface="굴림"/>
            </a:endParaRPr>
          </a:p>
          <a:p>
            <a:pPr lvl="0">
              <a:defRPr/>
            </a:pPr>
            <a:r>
              <a:rPr lang="en-US" altLang="ko-KR">
                <a:ea typeface="굴림"/>
              </a:rPr>
              <a:t>memory cell . Cells in NOR flash are connected in parallel to the bit lines so that each</a:t>
            </a:r>
            <a:endParaRPr lang="en-US" altLang="ko-KR">
              <a:ea typeface="굴림"/>
            </a:endParaRPr>
          </a:p>
          <a:p>
            <a:pPr lvl="0">
              <a:defRPr/>
            </a:pPr>
            <a:r>
              <a:rPr lang="en-US" altLang="ko-KR">
                <a:ea typeface="굴림"/>
              </a:rPr>
              <a:t>cell can be read/write/erased individually. If any memory cell of the device is turned</a:t>
            </a:r>
            <a:endParaRPr lang="en-US" altLang="ko-KR">
              <a:ea typeface="굴림"/>
            </a:endParaRPr>
          </a:p>
          <a:p>
            <a:pPr lvl="0">
              <a:defRPr/>
            </a:pPr>
            <a:r>
              <a:rPr lang="en-US" altLang="ko-KR">
                <a:ea typeface="굴림"/>
              </a:rPr>
              <a:t>on by the corresponding word line, the bit line goes low. This is similar in function to</a:t>
            </a:r>
            <a:endParaRPr lang="en-US" altLang="ko-KR">
              <a:ea typeface="굴림"/>
            </a:endParaRPr>
          </a:p>
          <a:p>
            <a:pPr lvl="0">
              <a:defRPr/>
            </a:pPr>
            <a:r>
              <a:rPr lang="en-US" altLang="ko-KR">
                <a:ea typeface="굴림"/>
              </a:rPr>
              <a:t>a NOR logic gate.</a:t>
            </a:r>
            <a:endParaRPr lang="en-US" altLang="ko-KR">
              <a:ea typeface="굴림"/>
            </a:endParaRPr>
          </a:p>
          <a:p>
            <a:pPr lvl="0">
              <a:defRPr/>
            </a:pPr>
            <a:endParaRPr lang="en-US" altLang="ko-KR">
              <a:ea typeface="굴림"/>
            </a:endParaRPr>
          </a:p>
          <a:p>
            <a:pPr lvl="0">
              <a:defRPr/>
            </a:pPr>
            <a:r>
              <a:rPr lang="en-US" altLang="ko-KR">
                <a:ea typeface="굴림"/>
              </a:rPr>
              <a:t>NAND flash memory  is organized in transistor arrays with 16 or 32 transistors</a:t>
            </a:r>
            <a:endParaRPr lang="en-US" altLang="ko-KR">
              <a:ea typeface="굴림"/>
            </a:endParaRPr>
          </a:p>
          <a:p>
            <a:pPr lvl="0">
              <a:defRPr/>
            </a:pPr>
            <a:r>
              <a:rPr lang="en-US" altLang="ko-KR">
                <a:ea typeface="굴림"/>
              </a:rPr>
              <a:t>in series. The bit line goes low only if all the transistors in the corresponding word</a:t>
            </a:r>
            <a:endParaRPr lang="en-US" altLang="ko-KR">
              <a:ea typeface="굴림"/>
            </a:endParaRPr>
          </a:p>
          <a:p>
            <a:pPr lvl="0">
              <a:defRPr/>
            </a:pPr>
            <a:r>
              <a:rPr lang="en-US" altLang="ko-KR">
                <a:ea typeface="굴림"/>
              </a:rPr>
              <a:t>lines are turned on. This is similar in function to a NAND logic gate.</a:t>
            </a:r>
            <a:endParaRPr lang="en-US" altLang="ko-KR">
              <a:ea typeface="굴림"/>
            </a:endParaRPr>
          </a:p>
        </p:txBody>
      </p:sp>
      <p:sp>
        <p:nvSpPr>
          <p:cNvPr id="135172" name="Slide Number Placeholder 3"/>
          <p:cNvSpPr>
            <a:spLocks noGrp="1"/>
          </p:cNvSpPr>
          <p:nvPr>
            <p:ph type="sldNum" sz="quarter" idx="5"/>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fld id="{C9664DD8-7C21-4ECC-A711-D8BF6EED12D0}" type="slidenum">
              <a:rPr lang="en-US" altLang="ko-KR" sz="1200"/>
              <a:pPr lvl="0">
                <a:defRPr/>
              </a:pPr>
              <a:t>63</a:t>
            </a:fld>
            <a:endParaRPr lang="en-US" altLang="ko-KR" sz="1200"/>
          </a:p>
        </p:txBody>
      </p:sp>
      <p:sp>
        <p:nvSpPr>
          <p:cNvPr id="135173" name="Footer Placeholder 4"/>
          <p:cNvSpPr>
            <a:spLocks noGrp="1"/>
          </p:cNvSpPr>
          <p:nvPr>
            <p:ph type="ftr" sz="quarter" idx="4"/>
          </p:nvPr>
        </p:nvSpPr>
        <p:spPr>
          <a:noFill/>
          <a:ln/>
        </p:spPr>
        <p:txBody>
          <a:bodyPr/>
          <a:lstStyle>
            <a:lvl1pPr>
              <a:defRPr sz="2400">
                <a:solidFill>
                  <a:schemeClr val="tx1"/>
                </a:solidFill>
                <a:latin typeface="Times New Roman"/>
              </a:defRPr>
            </a:lvl1pPr>
            <a:lvl2pPr marL="742950" indent="-285750">
              <a:defRPr sz="2400">
                <a:solidFill>
                  <a:schemeClr val="tx1"/>
                </a:solidFill>
                <a:latin typeface="Times New Roman"/>
              </a:defRPr>
            </a:lvl2pPr>
            <a:lvl3pPr marL="1143000" indent="-228600">
              <a:defRPr sz="2400">
                <a:solidFill>
                  <a:schemeClr val="tx1"/>
                </a:solidFill>
                <a:latin typeface="Times New Roman"/>
              </a:defRPr>
            </a:lvl3pPr>
            <a:lvl4pPr marL="1600200" indent="-228600">
              <a:defRPr sz="2400">
                <a:solidFill>
                  <a:schemeClr val="tx1"/>
                </a:solidFill>
                <a:latin typeface="Times New Roman"/>
              </a:defRPr>
            </a:lvl4pPr>
            <a:lvl5pPr marL="2057400" indent="-228600">
              <a:defRPr sz="2400">
                <a:solidFill>
                  <a:schemeClr val="tx1"/>
                </a:solidFill>
                <a:latin typeface="Times New Roman"/>
              </a:defRPr>
            </a:lvl5pPr>
            <a:lvl6pPr marL="2514600" indent="-228600" eaLnBrk="0" fontAlgn="base" hangingPunct="0">
              <a:spcBef>
                <a:spcPct val="0"/>
              </a:spcBef>
              <a:spcAft>
                <a:spcPct val="0"/>
              </a:spcAft>
              <a:defRPr sz="2400">
                <a:solidFill>
                  <a:schemeClr val="tx1"/>
                </a:solidFill>
                <a:latin typeface="Times New Roman"/>
              </a:defRPr>
            </a:lvl6pPr>
            <a:lvl7pPr marL="2971800" indent="-228600" eaLnBrk="0" fontAlgn="base" hangingPunct="0">
              <a:spcBef>
                <a:spcPct val="0"/>
              </a:spcBef>
              <a:spcAft>
                <a:spcPct val="0"/>
              </a:spcAft>
              <a:defRPr sz="2400">
                <a:solidFill>
                  <a:schemeClr val="tx1"/>
                </a:solidFill>
                <a:latin typeface="Times New Roman"/>
              </a:defRPr>
            </a:lvl7pPr>
            <a:lvl8pPr marL="3429000" indent="-228600" eaLnBrk="0" fontAlgn="base" hangingPunct="0">
              <a:spcBef>
                <a:spcPct val="0"/>
              </a:spcBef>
              <a:spcAft>
                <a:spcPct val="0"/>
              </a:spcAft>
              <a:defRPr sz="2400">
                <a:solidFill>
                  <a:schemeClr val="tx1"/>
                </a:solidFill>
                <a:latin typeface="Times New Roman"/>
              </a:defRPr>
            </a:lvl8pPr>
            <a:lvl9pPr marL="3886200" indent="-228600" eaLnBrk="0" fontAlgn="base" hangingPunct="0">
              <a:spcBef>
                <a:spcPct val="0"/>
              </a:spcBef>
              <a:spcAft>
                <a:spcPct val="0"/>
              </a:spcAft>
              <a:defRPr sz="2400">
                <a:solidFill>
                  <a:schemeClr val="tx1"/>
                </a:solidFill>
                <a:latin typeface="Times New Roman"/>
              </a:defRPr>
            </a:lvl9pPr>
          </a:lstStyle>
          <a:p>
            <a:pPr lvl="0">
              <a:defRPr/>
            </a:pPr>
            <a:r>
              <a:rPr lang="en-US" altLang="ko-KR" sz="1200"/>
              <a:t> </a:t>
            </a:r>
            <a:endParaRPr lang="en-US" altLang="ko-KR"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제목 슬라이드">
    <p:spTree>
      <p:nvGrpSpPr>
        <p:cNvPr id="1" name=""/>
        <p:cNvGrpSpPr/>
        <p:nvPr/>
      </p:nvGrpSpPr>
      <p:grpSpPr>
        <a:xfrm>
          <a:off x="0" y="0"/>
          <a:ext cx="0" cy="0"/>
          <a:chOff x="0" y="0"/>
          <a:chExt cx="0" cy="0"/>
        </a:xfrm>
      </p:grpSpPr>
      <p:sp>
        <p:nvSpPr>
          <p:cNvPr id="4" name="Line 7">
            <a:extLst>
              <a:ext uri="{FF2B5EF4-FFF2-40B4-BE49-F238E27FC236}">
                <a16:creationId xmlns:a16="http://schemas.microsoft.com/office/drawing/2014/main" id="{37849DA8-37E3-419E-829C-D4EC426C5A23}"/>
              </a:ext>
            </a:extLst>
          </p:cNvPr>
          <p:cNvSpPr>
            <a:spLocks noChangeShapeType="1"/>
          </p:cNvSpPr>
          <p:nvPr/>
        </p:nvSpPr>
        <p:spPr bwMode="auto">
          <a:xfrm>
            <a:off x="457200" y="2514600"/>
            <a:ext cx="8153400"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ko-KR" altLang="en-US"/>
          </a:p>
        </p:txBody>
      </p:sp>
      <p:sp>
        <p:nvSpPr>
          <p:cNvPr id="165890" name="Rectangle 2"/>
          <p:cNvSpPr>
            <a:spLocks noGrp="1" noChangeArrowheads="1"/>
          </p:cNvSpPr>
          <p:nvPr>
            <p:ph type="ctrTitle"/>
          </p:nvPr>
        </p:nvSpPr>
        <p:spPr>
          <a:xfrm>
            <a:off x="914400" y="533400"/>
            <a:ext cx="7721600" cy="1905000"/>
          </a:xfrm>
        </p:spPr>
        <p:txBody>
          <a:bodyPr/>
          <a:lstStyle>
            <a:lvl1pPr>
              <a:defRPr/>
            </a:lvl1pPr>
          </a:lstStyle>
          <a:p>
            <a:r>
              <a:rPr lang="en-GB"/>
              <a:t>Click to edit Master title style</a:t>
            </a:r>
          </a:p>
        </p:txBody>
      </p:sp>
      <p:sp>
        <p:nvSpPr>
          <p:cNvPr id="165891" name="Rectangle 3"/>
          <p:cNvSpPr>
            <a:spLocks noGrp="1" noChangeArrowheads="1"/>
          </p:cNvSpPr>
          <p:nvPr>
            <p:ph type="subTitle" idx="1"/>
          </p:nvPr>
        </p:nvSpPr>
        <p:spPr>
          <a:xfrm>
            <a:off x="914400" y="3028950"/>
            <a:ext cx="6400800" cy="1771650"/>
          </a:xfrm>
        </p:spPr>
        <p:txBody>
          <a:bodyPr/>
          <a:lstStyle>
            <a:lvl1pPr marL="0" indent="0">
              <a:buFontTx/>
              <a:buNone/>
              <a:defRPr>
                <a:latin typeface="Arial Black" pitchFamily="34" charset="0"/>
              </a:defRPr>
            </a:lvl1pPr>
          </a:lstStyle>
          <a:p>
            <a:r>
              <a:rPr lang="en-GB"/>
              <a:t>Click to edit Master subtitle style</a:t>
            </a:r>
          </a:p>
        </p:txBody>
      </p:sp>
      <p:sp>
        <p:nvSpPr>
          <p:cNvPr id="5" name="Rectangle 4">
            <a:extLst>
              <a:ext uri="{FF2B5EF4-FFF2-40B4-BE49-F238E27FC236}">
                <a16:creationId xmlns:a16="http://schemas.microsoft.com/office/drawing/2014/main" id="{7158E75B-0959-422D-87DC-6733B81C599C}"/>
              </a:ext>
            </a:extLst>
          </p:cNvPr>
          <p:cNvSpPr>
            <a:spLocks noGrp="1" noChangeArrowheads="1"/>
          </p:cNvSpPr>
          <p:nvPr>
            <p:ph type="dt" sz="half" idx="10"/>
          </p:nvPr>
        </p:nvSpPr>
        <p:spPr bwMode="auto">
          <a:xfrm>
            <a:off x="711200" y="6229350"/>
            <a:ext cx="1930400" cy="51435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spcBef>
                <a:spcPct val="50000"/>
              </a:spcBef>
              <a:defRPr sz="1400">
                <a:solidFill>
                  <a:srgbClr val="5E574E"/>
                </a:solidFill>
                <a:latin typeface="Arial" charset="0"/>
                <a:ea typeface="굴림" charset="-127"/>
              </a:defRPr>
            </a:lvl1pPr>
          </a:lstStyle>
          <a:p>
            <a:pPr>
              <a:defRPr/>
            </a:pPr>
            <a:endParaRPr lang="en-GB" altLang="ko-KR"/>
          </a:p>
        </p:txBody>
      </p:sp>
      <p:sp>
        <p:nvSpPr>
          <p:cNvPr id="6" name="Rectangle 5">
            <a:extLst>
              <a:ext uri="{FF2B5EF4-FFF2-40B4-BE49-F238E27FC236}">
                <a16:creationId xmlns:a16="http://schemas.microsoft.com/office/drawing/2014/main" id="{8D52E230-0109-443E-8193-E79568E1458E}"/>
              </a:ext>
            </a:extLst>
          </p:cNvPr>
          <p:cNvSpPr>
            <a:spLocks noGrp="1" noChangeArrowheads="1"/>
          </p:cNvSpPr>
          <p:nvPr>
            <p:ph type="ftr" sz="quarter" idx="11"/>
          </p:nvPr>
        </p:nvSpPr>
        <p:spPr bwMode="auto">
          <a:xfrm>
            <a:off x="3149600" y="6229350"/>
            <a:ext cx="2844800" cy="51435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1400">
                <a:solidFill>
                  <a:srgbClr val="5E574E"/>
                </a:solidFill>
                <a:latin typeface="Arial" charset="0"/>
                <a:ea typeface="굴림" charset="-127"/>
              </a:defRPr>
            </a:lvl1pPr>
          </a:lstStyle>
          <a:p>
            <a:pPr>
              <a:defRPr/>
            </a:pPr>
            <a:endParaRPr lang="en-GB" altLang="ko-KR"/>
          </a:p>
        </p:txBody>
      </p:sp>
      <p:sp>
        <p:nvSpPr>
          <p:cNvPr id="7" name="Rectangle 6">
            <a:extLst>
              <a:ext uri="{FF2B5EF4-FFF2-40B4-BE49-F238E27FC236}">
                <a16:creationId xmlns:a16="http://schemas.microsoft.com/office/drawing/2014/main" id="{A2E1EAD2-D164-4D1A-96C7-D9C63B2E2CF2}"/>
              </a:ext>
            </a:extLst>
          </p:cNvPr>
          <p:cNvSpPr>
            <a:spLocks noGrp="1" noChangeArrowheads="1"/>
          </p:cNvSpPr>
          <p:nvPr>
            <p:ph type="sldNum" sz="quarter" idx="12"/>
          </p:nvPr>
        </p:nvSpPr>
        <p:spPr bwMode="auto">
          <a:xfrm>
            <a:off x="6604000" y="6229350"/>
            <a:ext cx="1828800" cy="51435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1400" smtClean="0">
                <a:solidFill>
                  <a:srgbClr val="5E574E"/>
                </a:solidFill>
                <a:latin typeface="Arial" panose="020B0604020202020204" pitchFamily="34" charset="0"/>
                <a:ea typeface="굴림" panose="020B0600000101010101" pitchFamily="50" charset="-127"/>
              </a:defRPr>
            </a:lvl1pPr>
          </a:lstStyle>
          <a:p>
            <a:pPr>
              <a:defRPr/>
            </a:pPr>
            <a:fld id="{5885AFEF-FE8D-46FF-968F-395B042AEF6A}" type="slidenum">
              <a:rPr lang="en-GB" altLang="ko-KR"/>
              <a:pPr>
                <a:defRPr/>
              </a:pPr>
              <a:t>‹#›</a:t>
            </a:fld>
            <a:endParaRPr lang="en-GB" altLang="ko-KR"/>
          </a:p>
        </p:txBody>
      </p:sp>
    </p:spTree>
    <p:extLst>
      <p:ext uri="{BB962C8B-B14F-4D97-AF65-F5344CB8AC3E}">
        <p14:creationId xmlns:p14="http://schemas.microsoft.com/office/powerpoint/2010/main" val="2329109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3740782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Tree>
    <p:extLst>
      <p:ext uri="{BB962C8B-B14F-4D97-AF65-F5344CB8AC3E}">
        <p14:creationId xmlns:p14="http://schemas.microsoft.com/office/powerpoint/2010/main" val="2326945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066800"/>
            <a:ext cx="40132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22800" y="1066800"/>
            <a:ext cx="40132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3913635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2315686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Tree>
    <p:extLst>
      <p:ext uri="{BB962C8B-B14F-4D97-AF65-F5344CB8AC3E}">
        <p14:creationId xmlns:p14="http://schemas.microsoft.com/office/powerpoint/2010/main" val="1015057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3880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Tree>
    <p:extLst>
      <p:ext uri="{BB962C8B-B14F-4D97-AF65-F5344CB8AC3E}">
        <p14:creationId xmlns:p14="http://schemas.microsoft.com/office/powerpoint/2010/main" val="3004503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Tree>
    <p:extLst>
      <p:ext uri="{BB962C8B-B14F-4D97-AF65-F5344CB8AC3E}">
        <p14:creationId xmlns:p14="http://schemas.microsoft.com/office/powerpoint/2010/main" val="2725256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1213921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578600" y="152400"/>
            <a:ext cx="2057400" cy="6553200"/>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06400" y="152400"/>
            <a:ext cx="6019800" cy="65532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7085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4" name="TextBox 5">
            <a:extLst>
              <a:ext uri="{FF2B5EF4-FFF2-40B4-BE49-F238E27FC236}">
                <a16:creationId xmlns:a16="http://schemas.microsoft.com/office/drawing/2014/main" id="{5EAC0A40-8D4D-4523-86A0-E6A5F3D7389B}"/>
              </a:ext>
            </a:extLst>
          </p:cNvPr>
          <p:cNvSpPr txBox="1">
            <a:spLocks noChangeArrowheads="1"/>
          </p:cNvSpPr>
          <p:nvPr/>
        </p:nvSpPr>
        <p:spPr bwMode="auto">
          <a:xfrm>
            <a:off x="223838" y="228600"/>
            <a:ext cx="260350" cy="554038"/>
          </a:xfrm>
          <a:prstGeom prst="rect">
            <a:avLst/>
          </a:prstGeom>
          <a:noFill/>
          <a:ln>
            <a:noFill/>
          </a:ln>
        </p:spPr>
        <p:txBody>
          <a:bodyPr lIns="0" tIns="0" rIns="0" bIns="0">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r>
              <a:rPr lang="ko-KR" altLang="ko-KR" sz="3600" b="1">
                <a:solidFill>
                  <a:srgbClr val="FFA366"/>
                </a:solidFill>
              </a:rPr>
              <a:t>+</a:t>
            </a:r>
          </a:p>
        </p:txBody>
      </p:sp>
      <p:sp>
        <p:nvSpPr>
          <p:cNvPr id="5" name="Rectangle 9">
            <a:extLst>
              <a:ext uri="{FF2B5EF4-FFF2-40B4-BE49-F238E27FC236}">
                <a16:creationId xmlns:a16="http://schemas.microsoft.com/office/drawing/2014/main" id="{CCED1A65-0F1B-4F30-BAE0-2531E2BA0FD5}"/>
              </a:ext>
            </a:extLst>
          </p:cNvPr>
          <p:cNvSpPr/>
          <p:nvPr/>
        </p:nvSpPr>
        <p:spPr>
          <a:xfrm>
            <a:off x="8067675" y="282575"/>
            <a:ext cx="92075"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3">
            <a:extLst>
              <a:ext uri="{FF2B5EF4-FFF2-40B4-BE49-F238E27FC236}">
                <a16:creationId xmlns:a16="http://schemas.microsoft.com/office/drawing/2014/main" id="{376E3E5D-CD27-4465-AD2C-908608E32861}"/>
              </a:ext>
            </a:extLst>
          </p:cNvPr>
          <p:cNvSpPr>
            <a:spLocks noGrp="1"/>
          </p:cNvSpPr>
          <p:nvPr>
            <p:ph type="dt" sz="half" idx="10"/>
          </p:nvPr>
        </p:nvSpPr>
        <p:spPr>
          <a:xfrm>
            <a:off x="6794500" y="6423025"/>
            <a:ext cx="2133600" cy="365125"/>
          </a:xfrm>
          <a:prstGeom prst="rect">
            <a:avLst/>
          </a:prstGeom>
        </p:spPr>
        <p:txBody>
          <a:bodyPr/>
          <a:lstStyle>
            <a:lvl1pPr>
              <a:defRPr>
                <a:latin typeface="Times New Roman" pitchFamily="18" charset="0"/>
              </a:defRPr>
            </a:lvl1pPr>
          </a:lstStyle>
          <a:p>
            <a:pPr>
              <a:defRPr/>
            </a:pPr>
            <a:endParaRPr/>
          </a:p>
        </p:txBody>
      </p:sp>
      <p:sp>
        <p:nvSpPr>
          <p:cNvPr id="7" name="Slide Number Placeholder 5">
            <a:extLst>
              <a:ext uri="{FF2B5EF4-FFF2-40B4-BE49-F238E27FC236}">
                <a16:creationId xmlns:a16="http://schemas.microsoft.com/office/drawing/2014/main" id="{F017E60B-291B-4F5A-A575-A244DCD7EA49}"/>
              </a:ext>
            </a:extLst>
          </p:cNvPr>
          <p:cNvSpPr>
            <a:spLocks noGrp="1"/>
          </p:cNvSpPr>
          <p:nvPr>
            <p:ph type="sldNum" sz="quarter" idx="11"/>
          </p:nvPr>
        </p:nvSpPr>
        <p:spPr>
          <a:xfrm>
            <a:off x="8305800" y="242888"/>
            <a:ext cx="554038" cy="365125"/>
          </a:xfrm>
          <a:prstGeom prst="rect">
            <a:avLst/>
          </a:prstGeom>
        </p:spPr>
        <p:txBody>
          <a:bodyPr vert="horz" wrap="square" lIns="91440" tIns="45720" rIns="91440" bIns="45720" numCol="1" anchor="t" anchorCtr="0" compatLnSpc="1">
            <a:prstTxWarp prst="textNoShape">
              <a:avLst/>
            </a:prstTxWarp>
          </a:bodyPr>
          <a:lstStyle>
            <a:lvl1pPr>
              <a:defRPr smtClean="0">
                <a:ea typeface="굴림" panose="020B0600000101010101" pitchFamily="50" charset="-127"/>
              </a:defRPr>
            </a:lvl1pPr>
          </a:lstStyle>
          <a:p>
            <a:pPr>
              <a:defRPr/>
            </a:pPr>
            <a:fld id="{02DFB9AF-F685-4278-8CDB-9858A9E0A303}" type="slidenum">
              <a:rPr lang="ko-KR" altLang="ko-KR"/>
              <a:pPr>
                <a:defRPr/>
              </a:pPr>
              <a:t>‹#›</a:t>
            </a:fld>
            <a:endParaRPr lang="ko-KR" altLang="ko-KR"/>
          </a:p>
        </p:txBody>
      </p:sp>
    </p:spTree>
    <p:extLst>
      <p:ext uri="{BB962C8B-B14F-4D97-AF65-F5344CB8AC3E}">
        <p14:creationId xmlns:p14="http://schemas.microsoft.com/office/powerpoint/2010/main" val="3593692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45DB01-8036-4F72-9B20-9EADE160ACD3}"/>
              </a:ext>
            </a:extLst>
          </p:cNvPr>
          <p:cNvSpPr>
            <a:spLocks noGrp="1"/>
          </p:cNvSpPr>
          <p:nvPr>
            <p:ph type="dt" sz="half" idx="10"/>
          </p:nvPr>
        </p:nvSpPr>
        <p:spPr>
          <a:xfrm>
            <a:off x="6794500" y="6423025"/>
            <a:ext cx="2133600" cy="365125"/>
          </a:xfrm>
          <a:prstGeom prst="rect">
            <a:avLst/>
          </a:prstGeom>
        </p:spPr>
        <p:txBody>
          <a:bodyPr/>
          <a:lstStyle>
            <a:lvl1pPr>
              <a:defRPr>
                <a:latin typeface="Times New Roman" pitchFamily="18" charset="0"/>
              </a:defRPr>
            </a:lvl1pPr>
          </a:lstStyle>
          <a:p>
            <a:pPr>
              <a:defRPr/>
            </a:pPr>
            <a:endParaRPr/>
          </a:p>
        </p:txBody>
      </p:sp>
      <p:sp>
        <p:nvSpPr>
          <p:cNvPr id="3" name="Slide Number Placeholder 3">
            <a:extLst>
              <a:ext uri="{FF2B5EF4-FFF2-40B4-BE49-F238E27FC236}">
                <a16:creationId xmlns:a16="http://schemas.microsoft.com/office/drawing/2014/main" id="{ECEBEF15-24D8-426F-879F-C7AD1E3716F6}"/>
              </a:ext>
            </a:extLst>
          </p:cNvPr>
          <p:cNvSpPr>
            <a:spLocks noGrp="1"/>
          </p:cNvSpPr>
          <p:nvPr>
            <p:ph type="sldNum" sz="quarter" idx="11"/>
          </p:nvPr>
        </p:nvSpPr>
        <p:spPr>
          <a:xfrm>
            <a:off x="8305800" y="242888"/>
            <a:ext cx="554038" cy="365125"/>
          </a:xfrm>
          <a:prstGeom prst="rect">
            <a:avLst/>
          </a:prstGeom>
        </p:spPr>
        <p:txBody>
          <a:bodyPr vert="horz" wrap="square" lIns="91440" tIns="45720" rIns="91440" bIns="45720" numCol="1" anchor="t" anchorCtr="0" compatLnSpc="1">
            <a:prstTxWarp prst="textNoShape">
              <a:avLst/>
            </a:prstTxWarp>
          </a:bodyPr>
          <a:lstStyle>
            <a:lvl1pPr>
              <a:defRPr smtClean="0">
                <a:ea typeface="굴림" panose="020B0600000101010101" pitchFamily="50" charset="-127"/>
              </a:defRPr>
            </a:lvl1pPr>
          </a:lstStyle>
          <a:p>
            <a:pPr>
              <a:defRPr/>
            </a:pPr>
            <a:fld id="{3387D257-1D48-4DDB-9759-228EEC2D0BFB}" type="slidenum">
              <a:rPr lang="ko-KR" altLang="ko-KR"/>
              <a:pPr>
                <a:defRPr/>
              </a:pPr>
              <a:t>‹#›</a:t>
            </a:fld>
            <a:endParaRPr lang="ko-KR" altLang="ko-KR"/>
          </a:p>
        </p:txBody>
      </p:sp>
    </p:spTree>
    <p:extLst>
      <p:ext uri="{BB962C8B-B14F-4D97-AF65-F5344CB8AC3E}">
        <p14:creationId xmlns:p14="http://schemas.microsoft.com/office/powerpoint/2010/main" val="399141572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slideLayout" Target="../slideLayouts/slideLayout13.xml"  /><Relationship Id="rId14"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BDDEFCA-7AB5-4ADC-800D-68D18359513B}"/>
              </a:ext>
            </a:extLst>
          </p:cNvPr>
          <p:cNvSpPr>
            <a:spLocks noGrp="1" noChangeArrowheads="1"/>
          </p:cNvSpPr>
          <p:nvPr>
            <p:ph type="title"/>
          </p:nvPr>
        </p:nvSpPr>
        <p:spPr bwMode="auto">
          <a:xfrm>
            <a:off x="406400" y="152400"/>
            <a:ext cx="8204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GB" altLang="ko-KR"/>
              <a:t>Click to edit Master title style</a:t>
            </a:r>
          </a:p>
        </p:txBody>
      </p:sp>
      <p:sp>
        <p:nvSpPr>
          <p:cNvPr id="1027" name="Rectangle 3">
            <a:extLst>
              <a:ext uri="{FF2B5EF4-FFF2-40B4-BE49-F238E27FC236}">
                <a16:creationId xmlns:a16="http://schemas.microsoft.com/office/drawing/2014/main" id="{D0C4F7E2-FFB3-497A-A786-5553B97E84B0}"/>
              </a:ext>
            </a:extLst>
          </p:cNvPr>
          <p:cNvSpPr>
            <a:spLocks noGrp="1" noChangeArrowheads="1"/>
          </p:cNvSpPr>
          <p:nvPr>
            <p:ph type="body" idx="1"/>
          </p:nvPr>
        </p:nvSpPr>
        <p:spPr bwMode="auto">
          <a:xfrm>
            <a:off x="457200" y="1066800"/>
            <a:ext cx="81788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ko-KR"/>
              <a:t>Click to edit Master text styles</a:t>
            </a:r>
          </a:p>
          <a:p>
            <a:pPr lvl="1"/>
            <a:r>
              <a:rPr lang="en-GB" altLang="ko-KR"/>
              <a:t>Second level</a:t>
            </a:r>
          </a:p>
          <a:p>
            <a:pPr lvl="2"/>
            <a:r>
              <a:rPr lang="en-GB" altLang="ko-KR"/>
              <a:t>Third level</a:t>
            </a:r>
          </a:p>
          <a:p>
            <a:pPr lvl="3"/>
            <a:r>
              <a:rPr lang="en-GB" altLang="ko-KR"/>
              <a:t>Fourth level</a:t>
            </a:r>
          </a:p>
          <a:p>
            <a:pPr lvl="4"/>
            <a:r>
              <a:rPr lang="en-GB" altLang="ko-KR"/>
              <a:t>Fifth level</a:t>
            </a:r>
          </a:p>
        </p:txBody>
      </p:sp>
      <p:sp>
        <p:nvSpPr>
          <p:cNvPr id="1028" name="Line 4">
            <a:extLst>
              <a:ext uri="{FF2B5EF4-FFF2-40B4-BE49-F238E27FC236}">
                <a16:creationId xmlns:a16="http://schemas.microsoft.com/office/drawing/2014/main" id="{C934561C-0F93-494E-9645-DE63ABBC336E}"/>
              </a:ext>
            </a:extLst>
          </p:cNvPr>
          <p:cNvSpPr>
            <a:spLocks noChangeShapeType="1"/>
          </p:cNvSpPr>
          <p:nvPr/>
        </p:nvSpPr>
        <p:spPr bwMode="auto">
          <a:xfrm>
            <a:off x="457200" y="990600"/>
            <a:ext cx="8153400"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ko-KR" altLang="en-US"/>
          </a:p>
        </p:txBody>
      </p:sp>
    </p:spTree>
  </p:cSld>
  <p:clrMap bg1="lt1" tx1="dk1" bg2="lt2" tx2="dk2" accent1="accent1" accent2="accent2" accent3="accent3" accent4="accent4" accent5="accent5" accent6="accent6" hlink="hlink" folHlink="folHlink"/>
  <p:sldLayoutIdLst>
    <p:sldLayoutId id="2147483972"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 id="2147483973" r:id="rId12"/>
    <p:sldLayoutId id="2147483974" r:id="rId13"/>
  </p:sldLayoutIdLst>
  <p:hf hdr="0" ftr="0" dt="0"/>
  <p:txStyles>
    <p:titleStyle>
      <a:lvl1pPr algn="l" rtl="0" eaLnBrk="0" fontAlgn="base" hangingPunct="0">
        <a:spcBef>
          <a:spcPct val="0"/>
        </a:spcBef>
        <a:spcAft>
          <a:spcPct val="0"/>
        </a:spcAft>
        <a:defRPr kumimoji="1" sz="2800">
          <a:solidFill>
            <a:schemeClr val="tx2"/>
          </a:solidFill>
          <a:latin typeface="+mj-lt"/>
          <a:ea typeface="+mj-ea"/>
          <a:cs typeface="+mj-cs"/>
        </a:defRPr>
      </a:lvl1pPr>
      <a:lvl2pPr algn="l" rtl="0" eaLnBrk="0" fontAlgn="base" hangingPunct="0">
        <a:spcBef>
          <a:spcPct val="0"/>
        </a:spcBef>
        <a:spcAft>
          <a:spcPct val="0"/>
        </a:spcAft>
        <a:defRPr kumimoji="1" sz="2800">
          <a:solidFill>
            <a:schemeClr val="tx2"/>
          </a:solidFill>
          <a:latin typeface="Arial Black" pitchFamily="34" charset="0"/>
        </a:defRPr>
      </a:lvl2pPr>
      <a:lvl3pPr algn="l" rtl="0" eaLnBrk="0" fontAlgn="base" hangingPunct="0">
        <a:spcBef>
          <a:spcPct val="0"/>
        </a:spcBef>
        <a:spcAft>
          <a:spcPct val="0"/>
        </a:spcAft>
        <a:defRPr kumimoji="1" sz="2800">
          <a:solidFill>
            <a:schemeClr val="tx2"/>
          </a:solidFill>
          <a:latin typeface="Arial Black" pitchFamily="34" charset="0"/>
        </a:defRPr>
      </a:lvl3pPr>
      <a:lvl4pPr algn="l" rtl="0" eaLnBrk="0" fontAlgn="base" hangingPunct="0">
        <a:spcBef>
          <a:spcPct val="0"/>
        </a:spcBef>
        <a:spcAft>
          <a:spcPct val="0"/>
        </a:spcAft>
        <a:defRPr kumimoji="1" sz="2800">
          <a:solidFill>
            <a:schemeClr val="tx2"/>
          </a:solidFill>
          <a:latin typeface="Arial Black" pitchFamily="34" charset="0"/>
        </a:defRPr>
      </a:lvl4pPr>
      <a:lvl5pPr algn="l" rtl="0" eaLnBrk="0" fontAlgn="base" hangingPunct="0">
        <a:spcBef>
          <a:spcPct val="0"/>
        </a:spcBef>
        <a:spcAft>
          <a:spcPct val="0"/>
        </a:spcAft>
        <a:defRPr kumimoji="1" sz="2800">
          <a:solidFill>
            <a:schemeClr val="tx2"/>
          </a:solidFill>
          <a:latin typeface="Arial Black" pitchFamily="34" charset="0"/>
        </a:defRPr>
      </a:lvl5pPr>
      <a:lvl6pPr marL="457200" algn="l" rtl="0" eaLnBrk="0" fontAlgn="base" hangingPunct="0">
        <a:spcBef>
          <a:spcPct val="0"/>
        </a:spcBef>
        <a:spcAft>
          <a:spcPct val="0"/>
        </a:spcAft>
        <a:defRPr kumimoji="1" sz="2800">
          <a:solidFill>
            <a:schemeClr val="tx2"/>
          </a:solidFill>
          <a:latin typeface="Arial Black" pitchFamily="34" charset="0"/>
        </a:defRPr>
      </a:lvl6pPr>
      <a:lvl7pPr marL="914400" algn="l" rtl="0" eaLnBrk="0" fontAlgn="base" hangingPunct="0">
        <a:spcBef>
          <a:spcPct val="0"/>
        </a:spcBef>
        <a:spcAft>
          <a:spcPct val="0"/>
        </a:spcAft>
        <a:defRPr kumimoji="1" sz="2800">
          <a:solidFill>
            <a:schemeClr val="tx2"/>
          </a:solidFill>
          <a:latin typeface="Arial Black" pitchFamily="34" charset="0"/>
        </a:defRPr>
      </a:lvl7pPr>
      <a:lvl8pPr marL="1371600" algn="l" rtl="0" eaLnBrk="0" fontAlgn="base" hangingPunct="0">
        <a:spcBef>
          <a:spcPct val="0"/>
        </a:spcBef>
        <a:spcAft>
          <a:spcPct val="0"/>
        </a:spcAft>
        <a:defRPr kumimoji="1" sz="2800">
          <a:solidFill>
            <a:schemeClr val="tx2"/>
          </a:solidFill>
          <a:latin typeface="Arial Black" pitchFamily="34" charset="0"/>
        </a:defRPr>
      </a:lvl8pPr>
      <a:lvl9pPr marL="1828800" algn="l" rtl="0" eaLnBrk="0" fontAlgn="base" hangingPunct="0">
        <a:spcBef>
          <a:spcPct val="0"/>
        </a:spcBef>
        <a:spcAft>
          <a:spcPct val="0"/>
        </a:spcAft>
        <a:defRPr kumimoji="1" sz="28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rgbClr val="FF0000"/>
        </a:buClr>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Char char="—"/>
        <a:defRPr kumimoji="1" sz="2400">
          <a:solidFill>
            <a:schemeClr val="tx1"/>
          </a:solidFill>
          <a:latin typeface="+mn-lt"/>
        </a:defRPr>
      </a:lvl2pPr>
      <a:lvl3pPr marL="1143000" indent="-228600" algn="l" rtl="0" eaLnBrk="0" fontAlgn="base" hangingPunct="0">
        <a:spcBef>
          <a:spcPct val="20000"/>
        </a:spcBef>
        <a:spcAft>
          <a:spcPct val="0"/>
        </a:spcAft>
        <a:buClr>
          <a:srgbClr val="FF0000"/>
        </a:buClr>
        <a:buChar char="–"/>
        <a:defRPr kumimoji="1" sz="2000">
          <a:solidFill>
            <a:schemeClr val="tx1"/>
          </a:solidFill>
          <a:latin typeface="+mn-lt"/>
        </a:defRPr>
      </a:lvl3pPr>
      <a:lvl4pPr marL="1600200" indent="-228600" algn="l" rtl="0" eaLnBrk="0" fontAlgn="base" hangingPunct="0">
        <a:spcBef>
          <a:spcPct val="20000"/>
        </a:spcBef>
        <a:spcAft>
          <a:spcPct val="0"/>
        </a:spcAft>
        <a:buClr>
          <a:srgbClr val="FF0000"/>
        </a:buClr>
        <a:buChar char="+"/>
        <a:defRPr kumimoji="1" sz="2000">
          <a:solidFill>
            <a:schemeClr val="tx1"/>
          </a:solidFill>
          <a:latin typeface="+mn-lt"/>
        </a:defRPr>
      </a:lvl4pPr>
      <a:lvl5pPr marL="2057400" indent="-228600" algn="l" rtl="0" eaLnBrk="0" fontAlgn="base" hangingPunct="0">
        <a:spcBef>
          <a:spcPct val="20000"/>
        </a:spcBef>
        <a:spcAft>
          <a:spcPct val="0"/>
        </a:spcAft>
        <a:buClr>
          <a:srgbClr val="FF0000"/>
        </a:buClr>
        <a:buChar char="o"/>
        <a:defRPr kumimoji="1" sz="2000">
          <a:solidFill>
            <a:schemeClr val="tx1"/>
          </a:solidFill>
          <a:latin typeface="+mn-lt"/>
        </a:defRPr>
      </a:lvl5pPr>
      <a:lvl6pPr marL="2514600" indent="-228600" algn="l" rtl="0" eaLnBrk="0" fontAlgn="base" hangingPunct="0">
        <a:spcBef>
          <a:spcPct val="20000"/>
        </a:spcBef>
        <a:spcAft>
          <a:spcPct val="0"/>
        </a:spcAft>
        <a:buClr>
          <a:srgbClr val="FF0000"/>
        </a:buClr>
        <a:buChar char="o"/>
        <a:defRPr kumimoji="1">
          <a:solidFill>
            <a:schemeClr val="tx1"/>
          </a:solidFill>
          <a:latin typeface="+mn-lt"/>
        </a:defRPr>
      </a:lvl6pPr>
      <a:lvl7pPr marL="2971800" indent="-228600" algn="l" rtl="0" eaLnBrk="0" fontAlgn="base" hangingPunct="0">
        <a:spcBef>
          <a:spcPct val="20000"/>
        </a:spcBef>
        <a:spcAft>
          <a:spcPct val="0"/>
        </a:spcAft>
        <a:buClr>
          <a:srgbClr val="FF0000"/>
        </a:buClr>
        <a:buChar char="o"/>
        <a:defRPr kumimoji="1">
          <a:solidFill>
            <a:schemeClr val="tx1"/>
          </a:solidFill>
          <a:latin typeface="+mn-lt"/>
        </a:defRPr>
      </a:lvl7pPr>
      <a:lvl8pPr marL="3429000" indent="-228600" algn="l" rtl="0" eaLnBrk="0" fontAlgn="base" hangingPunct="0">
        <a:spcBef>
          <a:spcPct val="20000"/>
        </a:spcBef>
        <a:spcAft>
          <a:spcPct val="0"/>
        </a:spcAft>
        <a:buClr>
          <a:srgbClr val="FF0000"/>
        </a:buClr>
        <a:buChar char="o"/>
        <a:defRPr kumimoji="1">
          <a:solidFill>
            <a:schemeClr val="tx1"/>
          </a:solidFill>
          <a:latin typeface="+mn-lt"/>
        </a:defRPr>
      </a:lvl8pPr>
      <a:lvl9pPr marL="3886200" indent="-228600" algn="l" rtl="0" eaLnBrk="0" fontAlgn="base" hangingPunct="0">
        <a:spcBef>
          <a:spcPct val="20000"/>
        </a:spcBef>
        <a:spcAft>
          <a:spcPct val="0"/>
        </a:spcAft>
        <a:buClr>
          <a:srgbClr val="FF0000"/>
        </a:buClr>
        <a:buChar char="o"/>
        <a:defRPr kumimoji="1">
          <a:solidFill>
            <a:schemeClr val="tx1"/>
          </a:solidFill>
          <a:latin typeface="+mn-lt"/>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1.png"  /><Relationship Id="rId4" Type="http://schemas.openxmlformats.org/officeDocument/2006/relationships/image" Target="../media/image2.png"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Relationship Id="rId1" Type="http://schemas.openxmlformats.org/officeDocument/2006/relationships/notesSlide" Target="../notesSlides/notesSlide4.xml"  /><Relationship Id="rId2" Type="http://schemas.openxmlformats.org/officeDocument/2006/relationships/slideLayout" Target="../slideLayouts/slideLayout2.xml"  /><Relationship Id="rId3" Type="http://schemas.openxmlformats.org/officeDocument/2006/relationships/image" Target="../media/image2.png"  /><Relationship Id="rId4" Type="http://schemas.openxmlformats.org/officeDocument/2006/relationships/image" Target="../media/image3.png"  /></Relationships>
</file>

<file path=ppt/slides/_rels/slide5.xml.rels><?xml version="1.0" encoding="UTF-8" standalone="yes" ?><Relationships xmlns="http://schemas.openxmlformats.org/package/2006/relationships"><Relationship Id="rId1" Type="http://schemas.openxmlformats.org/officeDocument/2006/relationships/notesSlide" Target="../notesSlides/notesSlide5.xml"  /><Relationship Id="rId2"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hyperlink" Target="http://upload.wikimedia.org/wikipedia/commons/5/51/Magnetic_core.jpg" TargetMode="External" /><Relationship Id="rId4" Type="http://schemas.openxmlformats.org/officeDocument/2006/relationships/image" Target="../media/image4.jpeg"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5.png"  /><Relationship Id="rId4" Type="http://schemas.openxmlformats.org/officeDocument/2006/relationships/image" Target="../media/image6.gif"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7.png"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9.xml"  /><Relationship Id="rId3" Type="http://schemas.openxmlformats.org/officeDocument/2006/relationships/image" Target="../media/image8.jpeg"  /><Relationship Id="rId4" Type="http://schemas.openxmlformats.org/officeDocument/2006/relationships/image" Target="../media/image9.jpeg"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10.png"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11.png"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image" Target="../media/image12.png"  /><Relationship Id="rId4" Type="http://schemas.openxmlformats.org/officeDocument/2006/relationships/image" Target="../media/image13.jpeg"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14.png"  /><Relationship Id="rId4" Type="http://schemas.openxmlformats.org/officeDocument/2006/relationships/image" Target="../media/image15.png"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16.png"  /></Relationships>
</file>

<file path=ppt/slides/_rels/slide18.xml.rels><?xml version="1.0" encoding="UTF-8" standalone="yes" ?><Relationships xmlns="http://schemas.openxmlformats.org/package/2006/relationships"><Relationship Id="rId1" Type="http://schemas.openxmlformats.org/officeDocument/2006/relationships/vmlDrawing" Target="../drawings/vmlDrawing1.vml"  /><Relationship Id="rId2" Type="http://schemas.openxmlformats.org/officeDocument/2006/relationships/slideLayout" Target="../slideLayouts/slideLayout2.xml"  /><Relationship Id="rId3" Type="http://schemas.openxmlformats.org/officeDocument/2006/relationships/notesSlide" Target="../notesSlides/notesSlide18.xml"  /><Relationship Id="rId4" Type="http://schemas.openxmlformats.org/officeDocument/2006/relationships/oleObject" Target="../embeddings/oleObject1.bin"  /><Relationship Id="rId5" Type="http://schemas.openxmlformats.org/officeDocument/2006/relationships/image" Target="../media/image17.wmf"  /></Relationships>
</file>

<file path=ppt/slides/_rels/slide19.xml.rels><?xml version="1.0" encoding="UTF-8" standalone="yes" ?><Relationships xmlns="http://schemas.openxmlformats.org/package/2006/relationships"><Relationship Id="rId1" Type="http://schemas.openxmlformats.org/officeDocument/2006/relationships/notesSlide" Target="../notesSlides/notesSlide19.xml"  /><Relationship Id="rId2" Type="http://schemas.openxmlformats.org/officeDocument/2006/relationships/slideLayout" Target="../slideLayouts/slideLayout2.xml"  /><Relationship Id="rId3" Type="http://schemas.openxmlformats.org/officeDocument/2006/relationships/image" Target="../media/image18.png"  /><Relationship Id="rId4" Type="http://schemas.openxmlformats.org/officeDocument/2006/relationships/image" Target="../media/image19.png"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image" Target="../media/image20.png"  /><Relationship Id="rId4" Type="http://schemas.openxmlformats.org/officeDocument/2006/relationships/image" Target="../media/image18.png"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21.png"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22.png"  /><Relationship Id="rId4" Type="http://schemas.openxmlformats.org/officeDocument/2006/relationships/image" Target="../media/image23.png"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image" Target="../media/image23.png"  /><Relationship Id="rId4" Type="http://schemas.openxmlformats.org/officeDocument/2006/relationships/image" Target="../media/image24.png"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 Id="rId3" Type="http://schemas.openxmlformats.org/officeDocument/2006/relationships/image" Target="../media/image25.png"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 Id="rId3" Type="http://schemas.openxmlformats.org/officeDocument/2006/relationships/image" Target="../media/image26.png"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image" Target="../media/image27.png"  /><Relationship Id="rId4" Type="http://schemas.openxmlformats.org/officeDocument/2006/relationships/image" Target="../media/image28.png"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 Id="rId3" Type="http://schemas.openxmlformats.org/officeDocument/2006/relationships/image" Target="../media/image29.png"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rId3" Type="http://schemas.openxmlformats.org/officeDocument/2006/relationships/image" Target="../media/image30.png"  /><Relationship Id="rId4" Type="http://schemas.openxmlformats.org/officeDocument/2006/relationships/image" Target="../media/image31.png"  /><Relationship Id="rId5" Type="http://schemas.openxmlformats.org/officeDocument/2006/relationships/image" Target="../media/image32.png"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 Id="rId3" Type="http://schemas.openxmlformats.org/officeDocument/2006/relationships/image" Target="../media/image33.png"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35.xml"  /><Relationship Id="rId3" Type="http://schemas.openxmlformats.org/officeDocument/2006/relationships/image" Target="../media/image34.png"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 Id="rId3" Type="http://schemas.openxmlformats.org/officeDocument/2006/relationships/image" Target="../media/image35.png"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37.xml"  /><Relationship Id="rId3" Type="http://schemas.openxmlformats.org/officeDocument/2006/relationships/image" Target="../media/image36.png"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 Id="rId3" Type="http://schemas.openxmlformats.org/officeDocument/2006/relationships/image" Target="../media/image37.png"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40.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41.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 Id="rId3" Type="http://schemas.openxmlformats.org/officeDocument/2006/relationships/image" Target="../media/image38.png"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45.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 Id="rId3" Type="http://schemas.openxmlformats.org/officeDocument/2006/relationships/image" Target="../media/image39.png"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 Id="rId3" Type="http://schemas.openxmlformats.org/officeDocument/2006/relationships/image" Target="../media/image40.png"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 Id="rId3" Type="http://schemas.openxmlformats.org/officeDocument/2006/relationships/image" Target="../media/image41.png"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 Id="rId3" Type="http://schemas.openxmlformats.org/officeDocument/2006/relationships/image" Target="../media/image42.png"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 Id="rId3" Type="http://schemas.openxmlformats.org/officeDocument/2006/relationships/image" Target="../media/image43.png"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  /><Relationship Id="rId2" Type="http://schemas.openxmlformats.org/officeDocument/2006/relationships/notesSlide" Target="../notesSlides/notesSlide57.xml"  /><Relationship Id="rId3" Type="http://schemas.openxmlformats.org/officeDocument/2006/relationships/image" Target="../media/image44.png"  /></Relationships>
</file>

<file path=ppt/slides/_rels/slide58.xml.rels><?xml version="1.0" encoding="UTF-8" standalone="yes" ?><Relationships xmlns="http://schemas.openxmlformats.org/package/2006/relationships"><Relationship Id="rId1" Type="http://schemas.openxmlformats.org/officeDocument/2006/relationships/notesSlide" Target="../notesSlides/notesSlide58.xml"  /><Relationship Id="rId2"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  /><Relationship Id="rId2" Type="http://schemas.openxmlformats.org/officeDocument/2006/relationships/notesSlide" Target="../notesSlides/notesSlide59.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  /><Relationship Id="rId2" Type="http://schemas.openxmlformats.org/officeDocument/2006/relationships/notesSlide" Target="../notesSlides/notesSlide60.xml"  /><Relationship Id="rId3" Type="http://schemas.openxmlformats.org/officeDocument/2006/relationships/image" Target="../media/image45.emf"  /><Relationship Id="rId4" Type="http://schemas.openxmlformats.org/officeDocument/2006/relationships/image" Target="../media/image46.png"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  /><Relationship Id="rId2" Type="http://schemas.openxmlformats.org/officeDocument/2006/relationships/notesSlide" Target="../notesSlides/notesSlide61.xml"  /><Relationship Id="rId3" Type="http://schemas.openxmlformats.org/officeDocument/2006/relationships/image" Target="../media/image47.emf"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  /><Relationship Id="rId2" Type="http://schemas.openxmlformats.org/officeDocument/2006/relationships/notesSlide" Target="../notesSlides/notesSlide62.xml"  /><Relationship Id="rId3" Type="http://schemas.openxmlformats.org/officeDocument/2006/relationships/image" Target="../media/image48.png"  /><Relationship Id="rId4" Type="http://schemas.openxmlformats.org/officeDocument/2006/relationships/image" Target="../media/image46.png"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  /><Relationship Id="rId2" Type="http://schemas.openxmlformats.org/officeDocument/2006/relationships/notesSlide" Target="../notesSlides/notesSlide63.xml"  /><Relationship Id="rId3" Type="http://schemas.openxmlformats.org/officeDocument/2006/relationships/hyperlink" Target="https://www.cactus-tech.com/resources/blog/details/solid-state-drive-primer-2-slc-mlc-and-tlc-nand-flash" TargetMode="External" /><Relationship Id="rId4" Type="http://schemas.openxmlformats.org/officeDocument/2006/relationships/image" Target="../media/image49.png"  /><Relationship Id="rId5" Type="http://schemas.openxmlformats.org/officeDocument/2006/relationships/image" Target="../media/image50.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제목 5">
            <a:extLst>
              <a:ext uri="{FF2B5EF4-FFF2-40B4-BE49-F238E27FC236}">
                <a16:creationId xmlns:a16="http://schemas.microsoft.com/office/drawing/2014/main" id="{8930B1E7-A6BF-49C4-BE08-E93F9BD4FE1E}"/>
              </a:ext>
            </a:extLst>
          </p:cNvPr>
          <p:cNvSpPr>
            <a:spLocks noGrp="1" noChangeArrowheads="1"/>
          </p:cNvSpPr>
          <p:nvPr>
            <p:ph type="ctrTitle"/>
          </p:nvPr>
        </p:nvSpPr>
        <p:spPr/>
        <p:txBody>
          <a:bodyPr/>
          <a:lstStyle/>
          <a:p>
            <a:pPr algn="ctr"/>
            <a:r>
              <a:rPr lang="en-GB" altLang="ko-KR">
                <a:ea typeface="굴림" panose="020B0600000101010101" pitchFamily="50" charset="-127"/>
              </a:rPr>
              <a:t>Chapter 5</a:t>
            </a:r>
            <a:br>
              <a:rPr lang="en-GB" altLang="ko-KR">
                <a:ea typeface="굴림" panose="020B0600000101010101" pitchFamily="50" charset="-127"/>
              </a:rPr>
            </a:br>
            <a:r>
              <a:rPr lang="en-GB" altLang="ko-KR">
                <a:ea typeface="굴림" panose="020B0600000101010101" pitchFamily="50" charset="-127"/>
              </a:rPr>
              <a:t>Internal Memory </a:t>
            </a:r>
            <a:br>
              <a:rPr lang="en-GB" altLang="ko-KR">
                <a:ea typeface="굴림" panose="020B0600000101010101" pitchFamily="50" charset="-127"/>
              </a:rPr>
            </a:br>
            <a:endParaRPr lang="ko-KR" altLang="en-US">
              <a:ea typeface="굴림" panose="020B0600000101010101" pitchFamily="50" charset="-127"/>
            </a:endParaRPr>
          </a:p>
        </p:txBody>
      </p:sp>
      <p:sp>
        <p:nvSpPr>
          <p:cNvPr id="7171" name="슬라이드 번호 개체 틀 1">
            <a:extLst>
              <a:ext uri="{FF2B5EF4-FFF2-40B4-BE49-F238E27FC236}">
                <a16:creationId xmlns:a16="http://schemas.microsoft.com/office/drawing/2014/main" id="{8E7DCC43-5386-45A1-B706-13E949A2DB6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fld id="{67C8B845-CD49-426D-A8A0-FD94B6AB07AF}" type="slidenum">
              <a:rPr kumimoji="0" lang="en-GB" altLang="ko-KR" sz="1400">
                <a:solidFill>
                  <a:srgbClr val="5E574E"/>
                </a:solidFill>
                <a:latin typeface="Arial" panose="020B0604020202020204" pitchFamily="34" charset="0"/>
              </a:rPr>
              <a:pPr>
                <a:spcBef>
                  <a:spcPct val="50000"/>
                </a:spcBef>
                <a:buClrTx/>
                <a:buFontTx/>
                <a:buNone/>
              </a:pPr>
              <a:t>1</a:t>
            </a:fld>
            <a:endParaRPr kumimoji="0" lang="en-GB" altLang="ko-KR" sz="1400">
              <a:solidFill>
                <a:srgbClr val="5E574E"/>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72601357-0C47-4A65-B411-740FF7827E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2420938"/>
            <a:ext cx="6880225" cy="336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Rectangle 3">
            <a:extLst>
              <a:ext uri="{FF2B5EF4-FFF2-40B4-BE49-F238E27FC236}">
                <a16:creationId xmlns:a16="http://schemas.microsoft.com/office/drawing/2014/main" id="{E1C82617-A665-4009-8820-184A951D0954}"/>
              </a:ext>
            </a:extLst>
          </p:cNvPr>
          <p:cNvSpPr>
            <a:spLocks noChangeArrowheads="1"/>
          </p:cNvSpPr>
          <p:nvPr/>
        </p:nvSpPr>
        <p:spPr bwMode="auto">
          <a:xfrm>
            <a:off x="406400" y="228600"/>
            <a:ext cx="8204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eaLnBrk="1" hangingPunct="1">
              <a:spcBef>
                <a:spcPct val="0"/>
              </a:spcBef>
              <a:buClrTx/>
              <a:buFontTx/>
              <a:buNone/>
            </a:pPr>
            <a:endParaRPr kumimoji="0" lang="en-GB" altLang="ko-KR" sz="3600" b="1">
              <a:solidFill>
                <a:schemeClr val="tx2"/>
              </a:solidFill>
              <a:latin typeface="Times New Roman" panose="02020603050405020304" pitchFamily="18" charset="0"/>
              <a:ea typeface="굴림" panose="020B0600000101010101" pitchFamily="50" charset="-127"/>
            </a:endParaRPr>
          </a:p>
        </p:txBody>
      </p:sp>
      <p:sp>
        <p:nvSpPr>
          <p:cNvPr id="9220" name="Rectangle 4">
            <a:extLst>
              <a:ext uri="{FF2B5EF4-FFF2-40B4-BE49-F238E27FC236}">
                <a16:creationId xmlns:a16="http://schemas.microsoft.com/office/drawing/2014/main" id="{B1980174-F477-42B9-A7A8-2EB5BFEF58F5}"/>
              </a:ext>
            </a:extLst>
          </p:cNvPr>
          <p:cNvSpPr>
            <a:spLocks noChangeArrowheads="1"/>
          </p:cNvSpPr>
          <p:nvPr/>
        </p:nvSpPr>
        <p:spPr bwMode="auto">
          <a:xfrm>
            <a:off x="533400" y="990600"/>
            <a:ext cx="81534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eaLnBrk="1" hangingPunct="1">
              <a:buClrTx/>
              <a:buFontTx/>
              <a:buBlip>
                <a:blip r:embed="rId4"/>
              </a:buBlip>
            </a:pPr>
            <a:endParaRPr kumimoji="0" lang="en-GB" altLang="ko-KR" sz="2000">
              <a:latin typeface="Times New Roman" panose="02020603050405020304" pitchFamily="18" charset="0"/>
              <a:ea typeface="굴림" panose="020B0600000101010101" pitchFamily="50" charset="-127"/>
            </a:endParaRPr>
          </a:p>
        </p:txBody>
      </p:sp>
      <p:sp>
        <p:nvSpPr>
          <p:cNvPr id="9221" name="Rectangle 5">
            <a:extLst>
              <a:ext uri="{FF2B5EF4-FFF2-40B4-BE49-F238E27FC236}">
                <a16:creationId xmlns:a16="http://schemas.microsoft.com/office/drawing/2014/main" id="{859145FD-54FB-43DF-9404-54E03019BB0D}"/>
              </a:ext>
            </a:extLst>
          </p:cNvPr>
          <p:cNvSpPr>
            <a:spLocks noGrp="1" noChangeArrowheads="1"/>
          </p:cNvSpPr>
          <p:nvPr>
            <p:ph type="title"/>
          </p:nvPr>
        </p:nvSpPr>
        <p:spPr/>
        <p:txBody>
          <a:bodyPr/>
          <a:lstStyle/>
          <a:p>
            <a:r>
              <a:rPr lang="en-GB" altLang="ko-KR">
                <a:ea typeface="굴림" panose="020B0600000101010101" pitchFamily="50" charset="-127"/>
              </a:rPr>
              <a:t>Memory </a:t>
            </a:r>
            <a:r>
              <a:rPr lang="en-US" altLang="ko-KR">
                <a:ea typeface="굴림" panose="020B0600000101010101" pitchFamily="50" charset="-127"/>
              </a:rPr>
              <a:t>Cell</a:t>
            </a:r>
            <a:endParaRPr lang="ko-KR" altLang="en-GB">
              <a:ea typeface="굴림" panose="020B0600000101010101" pitchFamily="50" charset="-127"/>
            </a:endParaRPr>
          </a:p>
        </p:txBody>
      </p:sp>
      <p:sp>
        <p:nvSpPr>
          <p:cNvPr id="9222" name="Rectangle 6">
            <a:extLst>
              <a:ext uri="{FF2B5EF4-FFF2-40B4-BE49-F238E27FC236}">
                <a16:creationId xmlns:a16="http://schemas.microsoft.com/office/drawing/2014/main" id="{18525714-2509-4205-AFA5-C27F0ED5CEED}"/>
              </a:ext>
            </a:extLst>
          </p:cNvPr>
          <p:cNvSpPr>
            <a:spLocks noGrp="1" noChangeArrowheads="1"/>
          </p:cNvSpPr>
          <p:nvPr>
            <p:ph type="body" idx="1"/>
          </p:nvPr>
        </p:nvSpPr>
        <p:spPr/>
        <p:txBody>
          <a:bodyPr/>
          <a:lstStyle/>
          <a:p>
            <a:r>
              <a:rPr lang="en-GB" altLang="ko-KR" sz="2400">
                <a:ea typeface="굴림" panose="020B0600000101010101" pitchFamily="50" charset="-127"/>
              </a:rPr>
              <a:t>Basic element – memory cell</a:t>
            </a:r>
          </a:p>
          <a:p>
            <a:pPr lvl="1"/>
            <a:r>
              <a:rPr lang="en-GB" altLang="ko-KR" sz="2000">
                <a:solidFill>
                  <a:srgbClr val="3333CC"/>
                </a:solidFill>
                <a:ea typeface="굴림" panose="020B0600000101010101" pitchFamily="50" charset="-127"/>
              </a:rPr>
              <a:t>Exhibit 2 stable states used to represent 0 and 1</a:t>
            </a:r>
          </a:p>
          <a:p>
            <a:pPr lvl="1"/>
            <a:r>
              <a:rPr lang="en-GB" altLang="ko-KR" sz="2000">
                <a:solidFill>
                  <a:srgbClr val="3333CC"/>
                </a:solidFill>
                <a:ea typeface="굴림" panose="020B0600000101010101" pitchFamily="50" charset="-127"/>
              </a:rPr>
              <a:t>Can be written into (at least once)</a:t>
            </a:r>
          </a:p>
          <a:p>
            <a:pPr lvl="1"/>
            <a:r>
              <a:rPr lang="en-GB" altLang="ko-KR" sz="2000">
                <a:solidFill>
                  <a:srgbClr val="3333CC"/>
                </a:solidFill>
                <a:ea typeface="굴림" panose="020B0600000101010101" pitchFamily="50" charset="-127"/>
              </a:rPr>
              <a:t>Can be read to sense state</a:t>
            </a:r>
          </a:p>
          <a:p>
            <a:endParaRPr lang="ko-KR" altLang="en-US" sz="2400">
              <a:solidFill>
                <a:srgbClr val="3333CC"/>
              </a:solidFill>
              <a:ea typeface="굴림" panose="020B0600000101010101" pitchFamily="50" charset="-12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71C8D890-A67B-41A6-8274-030BA838E95A}"/>
              </a:ext>
            </a:extLst>
          </p:cNvPr>
          <p:cNvSpPr>
            <a:spLocks noGrp="1" noChangeArrowheads="1"/>
          </p:cNvSpPr>
          <p:nvPr>
            <p:ph type="title"/>
          </p:nvPr>
        </p:nvSpPr>
        <p:spPr/>
        <p:txBody>
          <a:bodyPr/>
          <a:lstStyle/>
          <a:p>
            <a:r>
              <a:rPr lang="en-US" altLang="ko-KR">
                <a:ea typeface="굴림" panose="020B0600000101010101" pitchFamily="50" charset="-127"/>
              </a:rPr>
              <a:t>Ferrite Core Memory</a:t>
            </a:r>
          </a:p>
        </p:txBody>
      </p:sp>
      <p:sp>
        <p:nvSpPr>
          <p:cNvPr id="11267" name="Rectangle 4">
            <a:extLst>
              <a:ext uri="{FF2B5EF4-FFF2-40B4-BE49-F238E27FC236}">
                <a16:creationId xmlns:a16="http://schemas.microsoft.com/office/drawing/2014/main" id="{68469315-DF00-49C3-8BFB-61C52D174637}"/>
              </a:ext>
            </a:extLst>
          </p:cNvPr>
          <p:cNvSpPr>
            <a:spLocks noGrp="1" noChangeArrowheads="1"/>
          </p:cNvSpPr>
          <p:nvPr>
            <p:ph type="body" idx="1"/>
          </p:nvPr>
        </p:nvSpPr>
        <p:spPr/>
        <p:txBody>
          <a:bodyPr/>
          <a:lstStyle/>
          <a:p>
            <a:r>
              <a:rPr lang="en-GB" altLang="ko-KR" sz="2400">
                <a:ea typeface="굴림" panose="020B0600000101010101" pitchFamily="50" charset="-127"/>
              </a:rPr>
              <a:t>Before semiconductor memory: core memory</a:t>
            </a:r>
          </a:p>
          <a:p>
            <a:pPr lvl="1"/>
            <a:r>
              <a:rPr lang="en-GB" altLang="ko-KR" sz="2000">
                <a:solidFill>
                  <a:srgbClr val="3333CC"/>
                </a:solidFill>
                <a:ea typeface="굴림" panose="020B0600000101010101" pitchFamily="50" charset="-127"/>
              </a:rPr>
              <a:t>Magnetic core, 1 core = 1 bit</a:t>
            </a:r>
          </a:p>
          <a:p>
            <a:pPr lvl="1"/>
            <a:r>
              <a:rPr lang="en-GB" altLang="ko-KR" sz="2000">
                <a:solidFill>
                  <a:srgbClr val="3333CC"/>
                </a:solidFill>
                <a:ea typeface="굴림" panose="020B0600000101010101" pitchFamily="50" charset="-127"/>
              </a:rPr>
              <a:t>Destructive read</a:t>
            </a:r>
          </a:p>
          <a:p>
            <a:pPr lvl="1"/>
            <a:r>
              <a:rPr lang="en-GB" altLang="ko-KR" sz="2000">
                <a:solidFill>
                  <a:srgbClr val="3333CC"/>
                </a:solidFill>
                <a:ea typeface="굴림" panose="020B0600000101010101" pitchFamily="50" charset="-127"/>
              </a:rPr>
              <a:t>Obsolete</a:t>
            </a:r>
          </a:p>
          <a:p>
            <a:endParaRPr lang="ko-KR" altLang="en-US" sz="2400">
              <a:ea typeface="굴림" panose="020B0600000101010101" pitchFamily="50" charset="-127"/>
            </a:endParaRPr>
          </a:p>
        </p:txBody>
      </p:sp>
      <p:sp>
        <p:nvSpPr>
          <p:cNvPr id="11268" name="Text Box 6">
            <a:extLst>
              <a:ext uri="{FF2B5EF4-FFF2-40B4-BE49-F238E27FC236}">
                <a16:creationId xmlns:a16="http://schemas.microsoft.com/office/drawing/2014/main" id="{E8660FF1-0926-4137-B6FC-4BE69B1EA1C8}"/>
              </a:ext>
            </a:extLst>
          </p:cNvPr>
          <p:cNvSpPr txBox="1">
            <a:spLocks noChangeArrowheads="1"/>
          </p:cNvSpPr>
          <p:nvPr/>
        </p:nvSpPr>
        <p:spPr bwMode="auto">
          <a:xfrm>
            <a:off x="6659563" y="6381750"/>
            <a:ext cx="16684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200">
                <a:latin typeface="Times New Roman" panose="02020603050405020304" pitchFamily="18" charset="0"/>
                <a:ea typeface="굴림" panose="020B0600000101010101" pitchFamily="50" charset="-127"/>
              </a:rPr>
              <a:t>Exerted from Wikipedia</a:t>
            </a:r>
          </a:p>
        </p:txBody>
      </p:sp>
    </p:spTree>
  </p:cSld>
  <p:clrMapOvr>
    <a:masterClrMapping/>
  </p:clrMapOvr>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99330" name="슬라이드 번호 개체 틀 4"/>
          <p:cNvSpPr>
            <a:spLocks noGrp="1"/>
          </p:cNvSpPr>
          <p:nvPr>
            <p:ph type="sldNum" sz="quarter" idx="4294967295"/>
          </p:nvPr>
        </p:nvSpPr>
        <p:spPr>
          <a:xfrm>
            <a:off x="7924800" y="6400800"/>
            <a:ext cx="685800" cy="381000"/>
          </a:xfrm>
          <a:prstGeom prst="rect">
            <a:avLst/>
          </a:prstGeom>
          <a:noFill/>
        </p:spPr>
        <p:txBody>
          <a:bodyPr/>
          <a:lstStyle>
            <a:lvl1pPr>
              <a:spcBef>
                <a:spcPct val="20000"/>
              </a:spcBef>
              <a:buClr>
                <a:srgbClr val="ff0000"/>
              </a:buClr>
              <a:buChar char="•"/>
              <a:defRPr kumimoji="1" sz="2800">
                <a:solidFill>
                  <a:schemeClr val="tx1"/>
                </a:solidFill>
                <a:latin typeface="Verdana"/>
              </a:defRPr>
            </a:lvl1pPr>
            <a:lvl2pPr marL="742950" indent="-285750">
              <a:spcBef>
                <a:spcPct val="20000"/>
              </a:spcBef>
              <a:buClr>
                <a:srgbClr val="ff0000"/>
              </a:buClr>
              <a:buChar char="—"/>
              <a:defRPr kumimoji="1" sz="2400">
                <a:solidFill>
                  <a:schemeClr val="tx1"/>
                </a:solidFill>
                <a:latin typeface="Verdana"/>
              </a:defRPr>
            </a:lvl2pPr>
            <a:lvl3pPr marL="1143000" indent="-228600">
              <a:spcBef>
                <a:spcPct val="20000"/>
              </a:spcBef>
              <a:buClr>
                <a:srgbClr val="ff0000"/>
              </a:buClr>
              <a:buChar char="–"/>
              <a:defRPr kumimoji="1" sz="2000">
                <a:solidFill>
                  <a:schemeClr val="tx1"/>
                </a:solidFill>
                <a:latin typeface="Verdana"/>
              </a:defRPr>
            </a:lvl3pPr>
            <a:lvl4pPr marL="1600200" indent="-228600">
              <a:spcBef>
                <a:spcPct val="20000"/>
              </a:spcBef>
              <a:buClr>
                <a:srgbClr val="ff0000"/>
              </a:buClr>
              <a:buChar char="+"/>
              <a:defRPr kumimoji="1" sz="2000">
                <a:solidFill>
                  <a:schemeClr val="tx1"/>
                </a:solidFill>
                <a:latin typeface="Verdana"/>
              </a:defRPr>
            </a:lvl4pPr>
            <a:lvl5pPr marL="2057400" indent="-228600">
              <a:spcBef>
                <a:spcPct val="20000"/>
              </a:spcBef>
              <a:buClr>
                <a:srgbClr val="ff0000"/>
              </a:buClr>
              <a:buChar char="o"/>
              <a:defRPr kumimoji="1" sz="2000">
                <a:solidFill>
                  <a:schemeClr val="tx1"/>
                </a:solidFill>
                <a:latin typeface="Verdana"/>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a:defRPr>
            </a:lvl9pPr>
          </a:lstStyle>
          <a:p>
            <a:pPr>
              <a:spcBef>
                <a:spcPct val="0"/>
              </a:spcBef>
              <a:buClrTx/>
              <a:buFontTx/>
              <a:buNone/>
              <a:defRPr/>
            </a:pPr>
            <a:fld id="{18C34C85-0137-4582-AA29-3ABE3FC440A6}" type="slidenum">
              <a:rPr kumimoji="0" lang="en-US" altLang="ko-KR" sz="2400">
                <a:latin typeface="Times New Roman"/>
                <a:ea typeface="굴림"/>
              </a:rPr>
              <a:pPr>
                <a:spcBef>
                  <a:spcPct val="0"/>
                </a:spcBef>
                <a:buClrTx/>
                <a:buFontTx/>
                <a:buNone/>
                <a:defRPr/>
              </a:pPr>
              <a:t>4</a:t>
            </a:fld>
            <a:endParaRPr kumimoji="0" lang="en-US" altLang="ko-KR" sz="2400">
              <a:latin typeface="Times New Roman"/>
              <a:ea typeface="굴림"/>
            </a:endParaRPr>
          </a:p>
        </p:txBody>
      </p:sp>
      <p:sp>
        <p:nvSpPr>
          <p:cNvPr id="99331" name="Rectangle 3"/>
          <p:cNvSpPr>
            <a:spLocks noChangeArrowheads="1"/>
          </p:cNvSpPr>
          <p:nvPr/>
        </p:nvSpPr>
        <p:spPr>
          <a:xfrm>
            <a:off x="533400" y="838200"/>
            <a:ext cx="8610600" cy="2819400"/>
          </a:xfrm>
          <a:prstGeom prst="rect">
            <a:avLst/>
          </a:prstGeom>
          <a:noFill/>
          <a:ln>
            <a:noFill/>
          </a:ln>
        </p:spPr>
        <p:txBody>
          <a:bodyPr/>
          <a:lstStyle>
            <a:lvl1pPr marL="342900" indent="-342900">
              <a:spcBef>
                <a:spcPct val="20000"/>
              </a:spcBef>
              <a:buClr>
                <a:srgbClr val="ff0000"/>
              </a:buClr>
              <a:buChar char="•"/>
              <a:defRPr kumimoji="1" sz="2800">
                <a:solidFill>
                  <a:schemeClr val="tx1"/>
                </a:solidFill>
                <a:latin typeface="Verdana"/>
              </a:defRPr>
            </a:lvl1pPr>
            <a:lvl2pPr marL="742950" indent="-285750">
              <a:spcBef>
                <a:spcPct val="20000"/>
              </a:spcBef>
              <a:buClr>
                <a:srgbClr val="ff0000"/>
              </a:buClr>
              <a:buChar char="—"/>
              <a:defRPr kumimoji="1" sz="2400">
                <a:solidFill>
                  <a:schemeClr val="tx1"/>
                </a:solidFill>
                <a:latin typeface="Verdana"/>
              </a:defRPr>
            </a:lvl2pPr>
            <a:lvl3pPr marL="1143000" indent="-228600">
              <a:spcBef>
                <a:spcPct val="20000"/>
              </a:spcBef>
              <a:buClr>
                <a:srgbClr val="ff0000"/>
              </a:buClr>
              <a:buChar char="–"/>
              <a:defRPr kumimoji="1" sz="2000">
                <a:solidFill>
                  <a:schemeClr val="tx1"/>
                </a:solidFill>
                <a:latin typeface="Verdana"/>
              </a:defRPr>
            </a:lvl3pPr>
            <a:lvl4pPr marL="1600200" indent="-228600">
              <a:spcBef>
                <a:spcPct val="20000"/>
              </a:spcBef>
              <a:buClr>
                <a:srgbClr val="ff0000"/>
              </a:buClr>
              <a:buChar char="+"/>
              <a:defRPr kumimoji="1" sz="2000">
                <a:solidFill>
                  <a:schemeClr val="tx1"/>
                </a:solidFill>
                <a:latin typeface="Verdana"/>
              </a:defRPr>
            </a:lvl4pPr>
            <a:lvl5pPr marL="2057400" indent="-228600">
              <a:spcBef>
                <a:spcPct val="20000"/>
              </a:spcBef>
              <a:buClr>
                <a:srgbClr val="ff0000"/>
              </a:buClr>
              <a:buChar char="o"/>
              <a:defRPr kumimoji="1" sz="2000">
                <a:solidFill>
                  <a:schemeClr val="tx1"/>
                </a:solidFill>
                <a:latin typeface="Verdana"/>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a:defRPr>
            </a:lvl9pPr>
          </a:lstStyle>
          <a:p>
            <a:pPr>
              <a:buClrTx/>
              <a:buFontTx/>
              <a:buBlip>
                <a:blip r:embed="rId3"/>
              </a:buBlip>
              <a:defRPr/>
            </a:pPr>
            <a:endParaRPr kumimoji="0" lang="ko-KR" altLang="ko-KR" sz="2000">
              <a:latin typeface="Times New Roman"/>
              <a:ea typeface="굴림"/>
              <a:sym typeface="Symbol"/>
            </a:endParaRPr>
          </a:p>
        </p:txBody>
      </p:sp>
      <p:graphicFrame>
        <p:nvGraphicFramePr>
          <p:cNvPr id="37923" name="Group 35"/>
          <p:cNvGraphicFramePr>
            <a:graphicFrameLocks noGrp="1"/>
          </p:cNvGraphicFramePr>
          <p:nvPr/>
        </p:nvGraphicFramePr>
        <p:xfrm>
          <a:off x="5784850" y="4572000"/>
          <a:ext cx="2819400" cy="1993383"/>
        </p:xfrm>
        <a:graphic>
          <a:graphicData uri="http://schemas.openxmlformats.org/drawingml/2006/table">
            <a:tbl>
              <a:tblGrid>
                <a:gridCol w="563563"/>
                <a:gridCol w="563562"/>
                <a:gridCol w="565150"/>
                <a:gridCol w="563563"/>
                <a:gridCol w="563562"/>
              </a:tblGrid>
              <a:tr h="465535">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endParaRPr kumimoji="0" lang="ko-KR" altLang="ko-KR" sz="2200" b="0" i="0" u="none" strike="noStrike" cap="none" normalizeH="0" baseline="0">
                        <a:solidFill>
                          <a:schemeClr val="tx1"/>
                        </a:solidFill>
                        <a:effectLst/>
                        <a:latin typeface="Times New Roman"/>
                        <a:ea typeface="굴림"/>
                      </a:endParaRPr>
                    </a:p>
                  </a:txBody>
                  <a:tcPr marL="91440" marR="91440" marT="49148" marB="49148" horzOverflow="overflow">
                    <a:lnL>
                      <a:noFill/>
                    </a:lnL>
                    <a:lnR>
                      <a:noFill/>
                    </a:lnR>
                    <a:lnT>
                      <a:noFill/>
                    </a:lnT>
                    <a:lnB>
                      <a:noFill/>
                    </a:lnB>
                    <a:lnTlToBr>
                      <a:noFill/>
                    </a:lnTlToBr>
                    <a:lnBlToTr>
                      <a:noFill/>
                    </a:lnBlToTr>
                    <a:noFill/>
                  </a:tcPr>
                </a:tc>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2200" b="1" i="0" u="none" strike="noStrike" cap="none" normalizeH="0" baseline="0">
                          <a:solidFill>
                            <a:srgbClr val="ff0000"/>
                          </a:solidFill>
                          <a:effectLst/>
                          <a:latin typeface="Times New Roman"/>
                          <a:ea typeface="굴림"/>
                        </a:rPr>
                        <a:t>C4</a:t>
                      </a:r>
                      <a:endParaRPr kumimoji="0" lang="en-US" altLang="ko-KR" sz="2200" b="1" i="0" u="none" strike="noStrike" cap="none" normalizeH="0" baseline="0">
                        <a:solidFill>
                          <a:srgbClr val="ff0000"/>
                        </a:solidFill>
                        <a:latin typeface="Times New Roman"/>
                        <a:ea typeface="굴림"/>
                      </a:endParaRPr>
                    </a:p>
                  </a:txBody>
                  <a:tcPr marL="91440" marR="91440" marT="49148" marB="49148" horzOverflow="overflow">
                    <a:lnL>
                      <a:noFill/>
                    </a:lnL>
                    <a:lnR>
                      <a:noFill/>
                    </a:lnR>
                    <a:lnT>
                      <a:noFill/>
                    </a:lnT>
                    <a:lnB>
                      <a:noFill/>
                    </a:lnB>
                    <a:lnTlToBr>
                      <a:noFill/>
                    </a:lnTlToBr>
                    <a:lnBlToTr>
                      <a:noFill/>
                    </a:lnBlToTr>
                    <a:noFill/>
                  </a:tcPr>
                </a:tc>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2200" b="1" i="0" u="none" strike="noStrike" cap="none" normalizeH="0" baseline="0">
                          <a:solidFill>
                            <a:srgbClr val="ff0000"/>
                          </a:solidFill>
                          <a:effectLst/>
                          <a:latin typeface="Times New Roman"/>
                          <a:ea typeface="굴림"/>
                        </a:rPr>
                        <a:t>C3</a:t>
                      </a:r>
                      <a:endParaRPr kumimoji="0" lang="en-US" altLang="ko-KR" sz="2200" b="1" i="0" u="none" strike="noStrike" cap="none" normalizeH="0" baseline="0">
                        <a:solidFill>
                          <a:srgbClr val="ff0000"/>
                        </a:solidFill>
                        <a:latin typeface="Times New Roman"/>
                        <a:ea typeface="굴림"/>
                      </a:endParaRPr>
                    </a:p>
                  </a:txBody>
                  <a:tcPr marL="91440" marR="91440" marT="49148" marB="49148" horzOverflow="overflow">
                    <a:lnL>
                      <a:noFill/>
                    </a:lnL>
                    <a:lnR>
                      <a:noFill/>
                    </a:lnR>
                    <a:lnT>
                      <a:noFill/>
                    </a:lnT>
                    <a:lnB>
                      <a:noFill/>
                    </a:lnB>
                    <a:lnTlToBr>
                      <a:noFill/>
                    </a:lnTlToBr>
                    <a:lnBlToTr>
                      <a:noFill/>
                    </a:lnBlToTr>
                    <a:noFill/>
                  </a:tcPr>
                </a:tc>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2200" b="1" i="0" u="none" strike="noStrike" cap="none" normalizeH="0" baseline="0">
                          <a:solidFill>
                            <a:srgbClr val="ff0000"/>
                          </a:solidFill>
                          <a:effectLst/>
                          <a:latin typeface="Times New Roman"/>
                          <a:ea typeface="굴림"/>
                        </a:rPr>
                        <a:t>C2</a:t>
                      </a:r>
                      <a:endParaRPr kumimoji="0" lang="en-US" altLang="ko-KR" sz="2200" b="1" i="0" u="none" strike="noStrike" cap="none" normalizeH="0" baseline="0">
                        <a:solidFill>
                          <a:srgbClr val="ff0000"/>
                        </a:solidFill>
                        <a:latin typeface="Times New Roman"/>
                        <a:ea typeface="굴림"/>
                      </a:endParaRPr>
                    </a:p>
                  </a:txBody>
                  <a:tcPr marL="91440" marR="91440" marT="49148" marB="49148" horzOverflow="overflow">
                    <a:lnL>
                      <a:noFill/>
                    </a:lnL>
                    <a:lnR>
                      <a:noFill/>
                    </a:lnR>
                    <a:lnT>
                      <a:noFill/>
                    </a:lnT>
                    <a:lnB>
                      <a:noFill/>
                    </a:lnB>
                    <a:lnTlToBr>
                      <a:noFill/>
                    </a:lnTlToBr>
                    <a:lnBlToTr>
                      <a:noFill/>
                    </a:lnBlToTr>
                    <a:noFill/>
                  </a:tcPr>
                </a:tc>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2200" b="1" i="0" u="none" strike="noStrike" cap="none" normalizeH="0" baseline="0">
                          <a:solidFill>
                            <a:srgbClr val="ff0000"/>
                          </a:solidFill>
                          <a:effectLst/>
                          <a:latin typeface="Times New Roman"/>
                          <a:ea typeface="굴림"/>
                        </a:rPr>
                        <a:t>C1</a:t>
                      </a:r>
                      <a:endParaRPr kumimoji="0" lang="en-US" altLang="ko-KR" sz="2200" b="1" i="0" u="none" strike="noStrike" cap="none" normalizeH="0" baseline="0">
                        <a:solidFill>
                          <a:srgbClr val="ff0000"/>
                        </a:solidFill>
                        <a:latin typeface="Times New Roman"/>
                        <a:ea typeface="굴림"/>
                      </a:endParaRPr>
                    </a:p>
                  </a:txBody>
                  <a:tcPr marL="91440" marR="91440" marT="49148" marB="49148" horzOverflow="overflow">
                    <a:lnL>
                      <a:noFill/>
                    </a:lnL>
                    <a:lnR>
                      <a:noFill/>
                    </a:lnR>
                    <a:lnT>
                      <a:noFill/>
                    </a:lnT>
                    <a:lnB>
                      <a:noFill/>
                    </a:lnB>
                    <a:lnTlToBr>
                      <a:noFill/>
                    </a:lnTlToBr>
                    <a:lnBlToTr>
                      <a:noFill/>
                    </a:lnBlToTr>
                    <a:noFill/>
                  </a:tcPr>
                </a:tc>
              </a:tr>
              <a:tr h="465535">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endParaRPr kumimoji="0" lang="ko-KR" altLang="ko-KR" sz="2200" b="0" i="0" u="none" strike="noStrike" cap="none" normalizeH="0" baseline="0">
                        <a:solidFill>
                          <a:schemeClr val="tx1"/>
                        </a:solidFill>
                        <a:effectLst/>
                        <a:latin typeface="Times New Roman"/>
                        <a:ea typeface="굴림"/>
                      </a:endParaRPr>
                    </a:p>
                  </a:txBody>
                  <a:tcPr marL="91440" marR="91440" marT="49148" marB="49148" horzOverflow="overflow">
                    <a:lnL>
                      <a:noFill/>
                    </a:lnL>
                    <a:lnR>
                      <a:noFill/>
                    </a:lnR>
                    <a:lnT>
                      <a:noFill/>
                    </a:lnT>
                    <a:lnB>
                      <a:noFill/>
                    </a:lnB>
                    <a:lnTlToBr>
                      <a:noFill/>
                    </a:lnTlToBr>
                    <a:lnBlToTr>
                      <a:noFill/>
                    </a:lnBlToTr>
                    <a:noFill/>
                  </a:tcPr>
                </a:tc>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2200" b="0" i="0" u="none" strike="noStrike" cap="none" normalizeH="0" baseline="0">
                          <a:solidFill>
                            <a:srgbClr val="ff0000"/>
                          </a:solidFill>
                          <a:effectLst/>
                          <a:latin typeface="Times New Roman"/>
                          <a:ea typeface="굴림"/>
                        </a:rPr>
                        <a:t>0</a:t>
                      </a:r>
                      <a:endParaRPr kumimoji="0" lang="en-US" altLang="ko-KR" sz="2200" b="0" i="0" u="none" strike="noStrike" cap="none" normalizeH="0" baseline="0">
                        <a:solidFill>
                          <a:srgbClr val="ff0000"/>
                        </a:solidFill>
                        <a:latin typeface="Times New Roman"/>
                        <a:ea typeface="굴림"/>
                      </a:endParaRPr>
                    </a:p>
                  </a:txBody>
                  <a:tcPr marL="91440" marR="91440" marT="49148" marB="49148" horzOverflow="overflow">
                    <a:lnL>
                      <a:noFill/>
                    </a:lnL>
                    <a:lnR>
                      <a:noFill/>
                    </a:lnR>
                    <a:lnT>
                      <a:noFill/>
                    </a:lnT>
                    <a:lnB>
                      <a:noFill/>
                    </a:lnB>
                    <a:lnTlToBr>
                      <a:noFill/>
                    </a:lnTlToBr>
                    <a:lnBlToTr>
                      <a:noFill/>
                    </a:lnBlToTr>
                    <a:noFill/>
                  </a:tcPr>
                </a:tc>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2200" b="0" i="0" u="none" strike="noStrike" cap="none" normalizeH="0" baseline="0">
                          <a:solidFill>
                            <a:srgbClr val="ff0000"/>
                          </a:solidFill>
                          <a:effectLst/>
                          <a:latin typeface="Times New Roman"/>
                          <a:ea typeface="굴림"/>
                        </a:rPr>
                        <a:t>1</a:t>
                      </a:r>
                      <a:endParaRPr kumimoji="0" lang="en-US" altLang="ko-KR" sz="2200" b="0" i="0" u="none" strike="noStrike" cap="none" normalizeH="0" baseline="0">
                        <a:solidFill>
                          <a:srgbClr val="ff0000"/>
                        </a:solidFill>
                        <a:latin typeface="Times New Roman"/>
                        <a:ea typeface="굴림"/>
                      </a:endParaRPr>
                    </a:p>
                  </a:txBody>
                  <a:tcPr marL="91440" marR="91440" marT="49148" marB="49148" horzOverflow="overflow">
                    <a:lnL>
                      <a:noFill/>
                    </a:lnL>
                    <a:lnR>
                      <a:noFill/>
                    </a:lnR>
                    <a:lnT>
                      <a:noFill/>
                    </a:lnT>
                    <a:lnB>
                      <a:noFill/>
                    </a:lnB>
                    <a:lnTlToBr>
                      <a:noFill/>
                    </a:lnTlToBr>
                    <a:lnBlToTr>
                      <a:noFill/>
                    </a:lnBlToTr>
                    <a:noFill/>
                  </a:tcPr>
                </a:tc>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2200" b="0" i="0" u="none" strike="noStrike" cap="none" normalizeH="0" baseline="0">
                          <a:solidFill>
                            <a:srgbClr val="ff0000"/>
                          </a:solidFill>
                          <a:effectLst/>
                          <a:latin typeface="Times New Roman"/>
                          <a:ea typeface="굴림"/>
                        </a:rPr>
                        <a:t>1</a:t>
                      </a:r>
                      <a:endParaRPr kumimoji="0" lang="en-US" altLang="ko-KR" sz="2200" b="0" i="0" u="none" strike="noStrike" cap="none" normalizeH="0" baseline="0">
                        <a:solidFill>
                          <a:srgbClr val="ff0000"/>
                        </a:solidFill>
                        <a:latin typeface="Times New Roman"/>
                        <a:ea typeface="굴림"/>
                      </a:endParaRPr>
                    </a:p>
                  </a:txBody>
                  <a:tcPr marL="91440" marR="91440" marT="49148" marB="49148" horzOverflow="overflow">
                    <a:lnL>
                      <a:noFill/>
                    </a:lnL>
                    <a:lnR>
                      <a:noFill/>
                    </a:lnR>
                    <a:lnT>
                      <a:noFill/>
                    </a:lnT>
                    <a:lnB>
                      <a:noFill/>
                    </a:lnB>
                    <a:lnTlToBr>
                      <a:noFill/>
                    </a:lnTlToBr>
                    <a:lnBlToTr>
                      <a:noFill/>
                    </a:lnBlToTr>
                    <a:noFill/>
                  </a:tcPr>
                </a:tc>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2200" b="0" i="0" u="none" strike="noStrike" cap="none" normalizeH="0" baseline="0">
                          <a:solidFill>
                            <a:srgbClr val="ff0000"/>
                          </a:solidFill>
                          <a:effectLst/>
                          <a:latin typeface="Times New Roman"/>
                          <a:ea typeface="굴림"/>
                        </a:rPr>
                        <a:t>1</a:t>
                      </a:r>
                      <a:endParaRPr kumimoji="0" lang="en-US" altLang="ko-KR" sz="2200" b="0" i="0" u="none" strike="noStrike" cap="none" normalizeH="0" baseline="0">
                        <a:solidFill>
                          <a:srgbClr val="ff0000"/>
                        </a:solidFill>
                        <a:latin typeface="Times New Roman"/>
                        <a:ea typeface="굴림"/>
                      </a:endParaRPr>
                    </a:p>
                  </a:txBody>
                  <a:tcPr marL="91440" marR="91440" marT="49148" marB="49148" horzOverflow="overflow">
                    <a:lnL>
                      <a:noFill/>
                    </a:lnL>
                    <a:lnR>
                      <a:noFill/>
                    </a:lnR>
                    <a:lnT>
                      <a:noFill/>
                    </a:lnT>
                    <a:lnB>
                      <a:noFill/>
                    </a:lnB>
                    <a:lnTlToBr>
                      <a:noFill/>
                    </a:lnTlToBr>
                    <a:lnBlToTr>
                      <a:noFill/>
                    </a:lnBlToTr>
                    <a:noFill/>
                  </a:tcPr>
                </a:tc>
              </a:tr>
              <a:tr h="465535">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endParaRPr kumimoji="0" lang="ko-KR" altLang="ko-KR" sz="2200" b="0" i="0" u="none" strike="noStrike" cap="none" normalizeH="0" baseline="0">
                        <a:solidFill>
                          <a:schemeClr val="tx1"/>
                        </a:solidFill>
                        <a:effectLst/>
                        <a:latin typeface="Times New Roman"/>
                        <a:ea typeface="굴림"/>
                      </a:endParaRPr>
                    </a:p>
                  </a:txBody>
                  <a:tcPr marL="91440" marR="91440" marT="49148" marB="49148" horzOverflow="overflow">
                    <a:lnL>
                      <a:noFill/>
                    </a:lnL>
                    <a:lnR>
                      <a:noFill/>
                    </a:lnR>
                    <a:lnT>
                      <a:noFill/>
                    </a:lnT>
                    <a:lnB>
                      <a:noFill/>
                    </a:lnB>
                    <a:lnTlToBr>
                      <a:noFill/>
                    </a:lnTlToBr>
                    <a:lnBlToTr>
                      <a:noFill/>
                    </a:lnBlToTr>
                    <a:noFill/>
                  </a:tcPr>
                </a:tc>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2200" b="0" i="0" u="none" strike="noStrike" cap="none" normalizeH="0" baseline="0">
                          <a:solidFill>
                            <a:schemeClr val="tx1"/>
                          </a:solidFill>
                          <a:effectLst/>
                          <a:latin typeface="Times New Roman"/>
                          <a:ea typeface="굴림"/>
                        </a:rPr>
                        <a:t>0</a:t>
                      </a:r>
                      <a:endParaRPr kumimoji="0" lang="en-US" altLang="ko-KR" sz="2200" b="0" i="0" u="none" strike="noStrike" cap="none" normalizeH="0" baseline="0">
                        <a:solidFill>
                          <a:schemeClr val="tx1"/>
                        </a:solidFill>
                        <a:latin typeface="Times New Roman"/>
                        <a:ea typeface="굴림"/>
                      </a:endParaRPr>
                    </a:p>
                  </a:txBody>
                  <a:tcPr marL="91440" marR="91440" marT="49148" marB="49148" horzOverflow="overflow">
                    <a:lnL>
                      <a:noFill/>
                    </a:lnL>
                    <a:lnR>
                      <a:noFill/>
                    </a:lnR>
                    <a:lnT>
                      <a:noFill/>
                    </a:lnT>
                    <a:lnB w="28575" cap="flat" cmpd="sng" algn="ctr">
                      <a:solidFill>
                        <a:schemeClr val="tx1"/>
                      </a:solidFill>
                      <a:prstDash val="solid"/>
                      <a:round/>
                      <a:headEnd w="med" len="med"/>
                      <a:tailEnd w="med" len="med"/>
                    </a:lnB>
                    <a:lnTlToBr>
                      <a:noFill/>
                    </a:lnTlToBr>
                    <a:lnBlToTr>
                      <a:noFill/>
                    </a:lnBlToTr>
                    <a:noFill/>
                  </a:tcPr>
                </a:tc>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2200" b="0" i="0" u="none" strike="noStrike" cap="none" normalizeH="0" baseline="0">
                          <a:solidFill>
                            <a:srgbClr val="3333ff"/>
                          </a:solidFill>
                          <a:effectLst/>
                          <a:latin typeface="Times New Roman"/>
                          <a:ea typeface="굴림"/>
                        </a:rPr>
                        <a:t>0</a:t>
                      </a:r>
                      <a:endParaRPr kumimoji="0" lang="en-US" altLang="ko-KR" sz="2200" b="0" i="0" u="none" strike="noStrike" cap="none" normalizeH="0" baseline="0">
                        <a:solidFill>
                          <a:srgbClr val="3333ff"/>
                        </a:solidFill>
                        <a:latin typeface="Times New Roman"/>
                        <a:ea typeface="굴림"/>
                      </a:endParaRPr>
                    </a:p>
                  </a:txBody>
                  <a:tcPr marL="91440" marR="91440" marT="49148" marB="49148" horzOverflow="overflow">
                    <a:lnL>
                      <a:noFill/>
                    </a:lnL>
                    <a:lnR>
                      <a:noFill/>
                    </a:lnR>
                    <a:lnT>
                      <a:noFill/>
                    </a:lnT>
                    <a:lnB w="28575" cap="flat" cmpd="sng" algn="ctr">
                      <a:solidFill>
                        <a:schemeClr val="tx1"/>
                      </a:solidFill>
                      <a:prstDash val="solid"/>
                      <a:round/>
                      <a:headEnd w="med" len="med"/>
                      <a:tailEnd w="med" len="med"/>
                    </a:lnB>
                    <a:lnTlToBr>
                      <a:noFill/>
                    </a:lnTlToBr>
                    <a:lnBlToTr>
                      <a:noFill/>
                    </a:lnBlToTr>
                    <a:noFill/>
                  </a:tcPr>
                </a:tc>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2200" b="0" i="0" u="none" strike="noStrike" cap="none" normalizeH="0" baseline="0">
                          <a:solidFill>
                            <a:srgbClr val="3333ff"/>
                          </a:solidFill>
                          <a:effectLst/>
                          <a:latin typeface="Times New Roman"/>
                          <a:ea typeface="굴림"/>
                        </a:rPr>
                        <a:t>0</a:t>
                      </a:r>
                      <a:endParaRPr kumimoji="0" lang="en-US" altLang="ko-KR" sz="2200" b="0" i="0" u="none" strike="noStrike" cap="none" normalizeH="0" baseline="0">
                        <a:solidFill>
                          <a:srgbClr val="3333ff"/>
                        </a:solidFill>
                        <a:latin typeface="Times New Roman"/>
                        <a:ea typeface="굴림"/>
                      </a:endParaRPr>
                    </a:p>
                  </a:txBody>
                  <a:tcPr marL="91440" marR="91440" marT="49148" marB="49148" horzOverflow="overflow">
                    <a:lnL>
                      <a:noFill/>
                    </a:lnL>
                    <a:lnR>
                      <a:noFill/>
                    </a:lnR>
                    <a:lnT>
                      <a:noFill/>
                    </a:lnT>
                    <a:lnB w="28575" cap="flat" cmpd="sng" algn="ctr">
                      <a:solidFill>
                        <a:schemeClr val="tx1"/>
                      </a:solidFill>
                      <a:prstDash val="solid"/>
                      <a:round/>
                      <a:headEnd w="med" len="med"/>
                      <a:tailEnd w="med" len="med"/>
                    </a:lnB>
                    <a:lnTlToBr>
                      <a:noFill/>
                    </a:lnTlToBr>
                    <a:lnBlToTr>
                      <a:noFill/>
                    </a:lnBlToTr>
                    <a:noFill/>
                  </a:tcPr>
                </a:tc>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2200" b="0" i="0" u="none" strike="noStrike" cap="none" normalizeH="0" baseline="0">
                          <a:solidFill>
                            <a:schemeClr val="tx1"/>
                          </a:solidFill>
                          <a:effectLst/>
                          <a:latin typeface="Times New Roman"/>
                          <a:ea typeface="굴림"/>
                        </a:rPr>
                        <a:t>1</a:t>
                      </a:r>
                      <a:endParaRPr kumimoji="0" lang="en-US" altLang="ko-KR" sz="2200" b="0" i="0" u="none" strike="noStrike" cap="none" normalizeH="0" baseline="0">
                        <a:solidFill>
                          <a:schemeClr val="tx1"/>
                        </a:solidFill>
                        <a:latin typeface="Times New Roman"/>
                        <a:ea typeface="굴림"/>
                      </a:endParaRPr>
                    </a:p>
                  </a:txBody>
                  <a:tcPr marL="91440" marR="91440" marT="49148" marB="49148" horzOverflow="overflow">
                    <a:lnL>
                      <a:noFill/>
                    </a:lnL>
                    <a:lnR>
                      <a:noFill/>
                    </a:lnR>
                    <a:lnT>
                      <a:noFill/>
                    </a:lnT>
                    <a:lnB w="28575" cap="flat" cmpd="sng" algn="ctr">
                      <a:solidFill>
                        <a:schemeClr val="tx1"/>
                      </a:solidFill>
                      <a:prstDash val="solid"/>
                      <a:round/>
                      <a:headEnd w="med" len="med"/>
                      <a:tailEnd w="med" len="med"/>
                    </a:lnB>
                    <a:lnTlToBr>
                      <a:noFill/>
                    </a:lnTlToBr>
                    <a:lnBlToTr>
                      <a:noFill/>
                    </a:lnBlToTr>
                    <a:noFill/>
                  </a:tcPr>
                </a:tc>
              </a:tr>
              <a:tr h="465535">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endParaRPr kumimoji="0" lang="ko-KR" altLang="ko-KR" sz="1900" b="0" i="0" u="none" strike="noStrike" cap="none" normalizeH="0" baseline="0">
                        <a:solidFill>
                          <a:schemeClr val="tx1"/>
                        </a:solidFill>
                        <a:effectLst/>
                        <a:latin typeface="Times New Roman"/>
                        <a:ea typeface="굴림"/>
                        <a:sym typeface="Symbol"/>
                      </a:endParaRPr>
                    </a:p>
                  </a:txBody>
                  <a:tcPr marL="91440" marR="91440" marT="49148" marB="49148" horzOverflow="overflow">
                    <a:lnL>
                      <a:noFill/>
                    </a:lnL>
                    <a:lnR>
                      <a:noFill/>
                    </a:lnR>
                    <a:lnT>
                      <a:noFill/>
                    </a:lnT>
                    <a:lnB>
                      <a:noFill/>
                    </a:lnB>
                    <a:lnTlToBr>
                      <a:noFill/>
                    </a:lnTlToBr>
                    <a:lnBlToTr>
                      <a:noFill/>
                    </a:lnBlToTr>
                    <a:noFill/>
                  </a:tcPr>
                </a:tc>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2200" b="0" i="0" u="none" strike="noStrike" cap="none" normalizeH="0" baseline="0">
                          <a:solidFill>
                            <a:schemeClr val="tx1"/>
                          </a:solidFill>
                          <a:effectLst/>
                          <a:latin typeface="Times New Roman"/>
                          <a:ea typeface="굴림"/>
                        </a:rPr>
                        <a:t>0</a:t>
                      </a:r>
                      <a:endParaRPr kumimoji="0" lang="en-US" altLang="ko-KR" sz="2200" b="0" i="0" u="none" strike="noStrike" cap="none" normalizeH="0" baseline="0">
                        <a:solidFill>
                          <a:schemeClr val="tx1"/>
                        </a:solidFill>
                        <a:latin typeface="Times New Roman"/>
                        <a:ea typeface="굴림"/>
                      </a:endParaRPr>
                    </a:p>
                  </a:txBody>
                  <a:tcPr marL="91440" marR="91440" marT="49148" marB="49148" horzOverflow="overflow">
                    <a:lnL>
                      <a:noFill/>
                    </a:lnL>
                    <a:lnR>
                      <a:noFill/>
                    </a:lnR>
                    <a:lnT w="28575" cap="flat" cmpd="sng" algn="ctr">
                      <a:solidFill>
                        <a:schemeClr val="tx1"/>
                      </a:solidFill>
                      <a:prstDash val="solid"/>
                      <a:round/>
                      <a:headEnd w="med" len="med"/>
                      <a:tailEnd w="med" len="med"/>
                    </a:lnT>
                    <a:lnB>
                      <a:noFill/>
                    </a:lnB>
                    <a:lnTlToBr>
                      <a:noFill/>
                    </a:lnTlToBr>
                    <a:lnBlToTr>
                      <a:noFill/>
                    </a:lnBlToTr>
                    <a:noFill/>
                  </a:tcPr>
                </a:tc>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2200" b="0" i="0" u="none" strike="noStrike" cap="none" normalizeH="0" baseline="0">
                          <a:solidFill>
                            <a:schemeClr val="tx1"/>
                          </a:solidFill>
                          <a:effectLst/>
                          <a:latin typeface="Times New Roman"/>
                          <a:ea typeface="굴림"/>
                        </a:rPr>
                        <a:t>1</a:t>
                      </a:r>
                      <a:endParaRPr kumimoji="0" lang="en-US" altLang="ko-KR" sz="2200" b="0" i="0" u="none" strike="noStrike" cap="none" normalizeH="0" baseline="0">
                        <a:solidFill>
                          <a:schemeClr val="tx1"/>
                        </a:solidFill>
                        <a:latin typeface="Times New Roman"/>
                        <a:ea typeface="굴림"/>
                      </a:endParaRPr>
                    </a:p>
                  </a:txBody>
                  <a:tcPr marL="91440" marR="91440" marT="49148" marB="49148" horzOverflow="overflow">
                    <a:lnL>
                      <a:noFill/>
                    </a:lnL>
                    <a:lnR>
                      <a:noFill/>
                    </a:lnR>
                    <a:lnT w="28575" cap="flat" cmpd="sng" algn="ctr">
                      <a:solidFill>
                        <a:schemeClr val="tx1"/>
                      </a:solidFill>
                      <a:prstDash val="solid"/>
                      <a:round/>
                      <a:headEnd w="med" len="med"/>
                      <a:tailEnd w="med" len="med"/>
                    </a:lnT>
                    <a:lnB>
                      <a:noFill/>
                    </a:lnB>
                    <a:lnTlToBr>
                      <a:noFill/>
                    </a:lnTlToBr>
                    <a:lnBlToTr>
                      <a:noFill/>
                    </a:lnBlToTr>
                    <a:noFill/>
                  </a:tcPr>
                </a:tc>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2200" b="0" i="0" u="none" strike="noStrike" cap="none" normalizeH="0" baseline="0">
                          <a:solidFill>
                            <a:schemeClr val="tx1"/>
                          </a:solidFill>
                          <a:effectLst/>
                          <a:latin typeface="Times New Roman"/>
                          <a:ea typeface="굴림"/>
                        </a:rPr>
                        <a:t>1</a:t>
                      </a:r>
                      <a:endParaRPr kumimoji="0" lang="en-US" altLang="ko-KR" sz="2200" b="0" i="0" u="none" strike="noStrike" cap="none" normalizeH="0" baseline="0">
                        <a:solidFill>
                          <a:schemeClr val="tx1"/>
                        </a:solidFill>
                        <a:latin typeface="Times New Roman"/>
                        <a:ea typeface="굴림"/>
                      </a:endParaRPr>
                    </a:p>
                  </a:txBody>
                  <a:tcPr marL="91440" marR="91440" marT="49148" marB="49148" horzOverflow="overflow">
                    <a:lnL>
                      <a:noFill/>
                    </a:lnL>
                    <a:lnR>
                      <a:noFill/>
                    </a:lnR>
                    <a:lnT w="28575" cap="flat" cmpd="sng" algn="ctr">
                      <a:solidFill>
                        <a:schemeClr val="tx1"/>
                      </a:solidFill>
                      <a:prstDash val="solid"/>
                      <a:round/>
                      <a:headEnd w="med" len="med"/>
                      <a:tailEnd w="med" len="med"/>
                    </a:lnT>
                    <a:lnB>
                      <a:noFill/>
                    </a:lnB>
                    <a:lnTlToBr>
                      <a:noFill/>
                    </a:lnTlToBr>
                    <a:lnBlToTr>
                      <a:noFill/>
                    </a:lnBlToTr>
                    <a:noFill/>
                  </a:tcPr>
                </a:tc>
                <a:tc>
                  <a:txBody>
                    <a:bodyPr vert="horz" lIns="91440" tIns="49148" rIns="91440" bIns="49148"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2200" b="0" i="0" u="none" strike="noStrike" cap="none" normalizeH="0" baseline="0">
                          <a:solidFill>
                            <a:schemeClr val="tx1"/>
                          </a:solidFill>
                          <a:effectLst/>
                          <a:latin typeface="Times New Roman"/>
                          <a:ea typeface="굴림"/>
                        </a:rPr>
                        <a:t>0</a:t>
                      </a:r>
                      <a:endParaRPr kumimoji="0" lang="en-US" altLang="ko-KR" sz="2200" b="0" i="0" u="none" strike="noStrike" cap="none" normalizeH="0" baseline="0">
                        <a:solidFill>
                          <a:schemeClr val="tx1"/>
                        </a:solidFill>
                        <a:latin typeface="Times New Roman"/>
                        <a:ea typeface="굴림"/>
                      </a:endParaRPr>
                    </a:p>
                  </a:txBody>
                  <a:tcPr marL="91440" marR="91440" marT="49148" marB="49148" horzOverflow="overflow">
                    <a:lnL>
                      <a:noFill/>
                    </a:lnL>
                    <a:lnR>
                      <a:noFill/>
                    </a:lnR>
                    <a:lnT w="28575" cap="flat" cmpd="sng" algn="ctr">
                      <a:solidFill>
                        <a:schemeClr val="tx1"/>
                      </a:solidFill>
                      <a:prstDash val="solid"/>
                      <a:round/>
                      <a:headEnd w="med" len="med"/>
                      <a:tailEnd w="med" len="med"/>
                    </a:lnT>
                    <a:lnB>
                      <a:noFill/>
                    </a:lnB>
                    <a:lnTlToBr>
                      <a:noFill/>
                    </a:lnTlToBr>
                    <a:lnBlToTr>
                      <a:noFill/>
                    </a:lnBlToTr>
                    <a:noFill/>
                  </a:tcPr>
                </a:tc>
              </a:tr>
            </a:tbl>
          </a:graphicData>
        </a:graphic>
      </p:graphicFrame>
      <p:sp>
        <p:nvSpPr>
          <p:cNvPr id="99354" name="Freeform 44"/>
          <p:cNvSpPr/>
          <p:nvPr/>
        </p:nvSpPr>
        <p:spPr>
          <a:xfrm>
            <a:off x="4224338" y="5470525"/>
            <a:ext cx="1600200" cy="254000"/>
          </a:xfrm>
          <a:custGeom>
            <a:avLst/>
            <a:gdLst>
              <a:gd name="T0" fmla="*/ 0 w 1008"/>
              <a:gd name="T1" fmla="*/ 2147483646 h 160"/>
              <a:gd name="T2" fmla="*/ 2147483646 w 1008"/>
              <a:gd name="T3" fmla="*/ 2147483646 h 160"/>
              <a:gd name="T4" fmla="*/ 2147483646 w 1008"/>
              <a:gd name="T5" fmla="*/ 0 h 160"/>
              <a:gd name="T6" fmla="*/ 0 60000 65536"/>
              <a:gd name="T7" fmla="*/ 0 60000 65536"/>
              <a:gd name="T8" fmla="*/ 0 60000 65536"/>
              <a:gd name="T9" fmla="*/ 0 w 1008"/>
              <a:gd name="T10" fmla="*/ 0 h 160"/>
              <a:gd name="T11" fmla="*/ 1008 w 1008"/>
              <a:gd name="T12" fmla="*/ 160 h 160"/>
            </a:gdLst>
            <a:cxnLst>
              <a:cxn ang="T6">
                <a:pos x="T0" y="T1"/>
              </a:cxn>
              <a:cxn ang="T7">
                <a:pos x="T2" y="T3"/>
              </a:cxn>
              <a:cxn ang="T8">
                <a:pos x="T4" y="T5"/>
              </a:cxn>
            </a:cxnLst>
            <a:rect l="T9" t="T10" r="T11" b="T12"/>
            <a:pathLst>
              <a:path w="1008" h="160">
                <a:moveTo>
                  <a:pt x="0" y="96"/>
                </a:moveTo>
                <a:cubicBezTo>
                  <a:pt x="180" y="128"/>
                  <a:pt x="360" y="160"/>
                  <a:pt x="528" y="144"/>
                </a:cubicBezTo>
                <a:cubicBezTo>
                  <a:pt x="696" y="128"/>
                  <a:pt x="852" y="64"/>
                  <a:pt x="1008" y="0"/>
                </a:cubicBezTo>
              </a:path>
            </a:pathLst>
          </a:custGeom>
          <a:noFill/>
          <a:ln w="38100">
            <a:solidFill>
              <a:schemeClr val="tx1"/>
            </a:solidFill>
            <a:round/>
            <a:tailEnd type="triangle" w="lg" len="lg"/>
          </a:ln>
        </p:spPr>
        <p:txBody>
          <a:bodyPr/>
          <a:lstStyle/>
          <a:p>
            <a:pPr lvl="0">
              <a:defRPr/>
            </a:pPr>
            <a:endParaRPr lang="ko-KR" altLang="en-US"/>
          </a:p>
        </p:txBody>
      </p:sp>
      <p:grpSp>
        <p:nvGrpSpPr>
          <p:cNvPr id="99355" name="Group 45"/>
          <p:cNvGrpSpPr/>
          <p:nvPr/>
        </p:nvGrpSpPr>
        <p:grpSpPr>
          <a:xfrm rot="0">
            <a:off x="6011863" y="5805488"/>
            <a:ext cx="228600" cy="228600"/>
            <a:chOff x="1200" y="1680"/>
            <a:chExt cx="192" cy="192"/>
          </a:xfrm>
        </p:grpSpPr>
        <p:sp>
          <p:nvSpPr>
            <p:cNvPr id="99362" name="Oval 46"/>
            <p:cNvSpPr>
              <a:spLocks noChangeArrowheads="1"/>
            </p:cNvSpPr>
            <p:nvPr/>
          </p:nvSpPr>
          <p:spPr>
            <a:xfrm>
              <a:off x="1200" y="1680"/>
              <a:ext cx="192" cy="192"/>
            </a:xfrm>
            <a:prstGeom prst="ellipse">
              <a:avLst/>
            </a:prstGeom>
            <a:noFill/>
            <a:ln w="12700">
              <a:solidFill>
                <a:schemeClr val="tx1"/>
              </a:solidFill>
              <a:round/>
            </a:ln>
          </p:spPr>
          <p:txBody>
            <a:bodyPr wrap="none" anchor="ctr"/>
            <a:lstStyle>
              <a:lvl1pPr>
                <a:spcBef>
                  <a:spcPct val="20000"/>
                </a:spcBef>
                <a:buClr>
                  <a:srgbClr val="ff0000"/>
                </a:buClr>
                <a:buChar char="•"/>
                <a:defRPr kumimoji="1" sz="2800">
                  <a:solidFill>
                    <a:schemeClr val="tx1"/>
                  </a:solidFill>
                  <a:latin typeface="Verdana"/>
                </a:defRPr>
              </a:lvl1pPr>
              <a:lvl2pPr marL="742950" indent="-285750">
                <a:spcBef>
                  <a:spcPct val="20000"/>
                </a:spcBef>
                <a:buClr>
                  <a:srgbClr val="ff0000"/>
                </a:buClr>
                <a:buChar char="—"/>
                <a:defRPr kumimoji="1" sz="2400">
                  <a:solidFill>
                    <a:schemeClr val="tx1"/>
                  </a:solidFill>
                  <a:latin typeface="Verdana"/>
                </a:defRPr>
              </a:lvl2pPr>
              <a:lvl3pPr marL="1143000" indent="-228600">
                <a:spcBef>
                  <a:spcPct val="20000"/>
                </a:spcBef>
                <a:buClr>
                  <a:srgbClr val="ff0000"/>
                </a:buClr>
                <a:buChar char="–"/>
                <a:defRPr kumimoji="1" sz="2000">
                  <a:solidFill>
                    <a:schemeClr val="tx1"/>
                  </a:solidFill>
                  <a:latin typeface="Verdana"/>
                </a:defRPr>
              </a:lvl3pPr>
              <a:lvl4pPr marL="1600200" indent="-228600">
                <a:spcBef>
                  <a:spcPct val="20000"/>
                </a:spcBef>
                <a:buClr>
                  <a:srgbClr val="ff0000"/>
                </a:buClr>
                <a:buChar char="+"/>
                <a:defRPr kumimoji="1" sz="2000">
                  <a:solidFill>
                    <a:schemeClr val="tx1"/>
                  </a:solidFill>
                  <a:latin typeface="Verdana"/>
                </a:defRPr>
              </a:lvl4pPr>
              <a:lvl5pPr marL="2057400" indent="-228600">
                <a:spcBef>
                  <a:spcPct val="20000"/>
                </a:spcBef>
                <a:buClr>
                  <a:srgbClr val="ff0000"/>
                </a:buClr>
                <a:buChar char="o"/>
                <a:defRPr kumimoji="1" sz="2000">
                  <a:solidFill>
                    <a:schemeClr val="tx1"/>
                  </a:solidFill>
                  <a:latin typeface="Verdana"/>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a:defRPr>
              </a:lvl9pPr>
            </a:lstStyle>
            <a:p>
              <a:pPr>
                <a:spcBef>
                  <a:spcPct val="0"/>
                </a:spcBef>
                <a:buClrTx/>
                <a:buFontTx/>
                <a:buNone/>
                <a:defRPr/>
              </a:pPr>
              <a:endParaRPr kumimoji="0" lang="ko-KR" altLang="en-US" sz="2400">
                <a:latin typeface="Times New Roman"/>
                <a:ea typeface="굴림"/>
              </a:endParaRPr>
            </a:p>
          </p:txBody>
        </p:sp>
        <p:sp>
          <p:nvSpPr>
            <p:cNvPr id="99363" name="Line 47"/>
            <p:cNvSpPr>
              <a:spLocks noChangeShapeType="1"/>
            </p:cNvSpPr>
            <p:nvPr/>
          </p:nvSpPr>
          <p:spPr>
            <a:xfrm>
              <a:off x="1200" y="1776"/>
              <a:ext cx="192" cy="0"/>
            </a:xfrm>
            <a:prstGeom prst="line">
              <a:avLst/>
            </a:prstGeom>
            <a:noFill/>
            <a:ln w="12700">
              <a:solidFill>
                <a:schemeClr val="tx1"/>
              </a:solidFill>
              <a:round/>
            </a:ln>
          </p:spPr>
          <p:txBody>
            <a:bodyPr wrap="square"/>
            <a:lstStyle/>
            <a:p>
              <a:pPr lvl="0">
                <a:defRPr/>
              </a:pPr>
              <a:endParaRPr lang="ko-KR" altLang="en-US"/>
            </a:p>
          </p:txBody>
        </p:sp>
        <p:sp>
          <p:nvSpPr>
            <p:cNvPr id="99364" name="Line 48"/>
            <p:cNvSpPr>
              <a:spLocks noChangeShapeType="1"/>
            </p:cNvSpPr>
            <p:nvPr/>
          </p:nvSpPr>
          <p:spPr>
            <a:xfrm flipV="1">
              <a:off x="1296" y="1680"/>
              <a:ext cx="0" cy="192"/>
            </a:xfrm>
            <a:prstGeom prst="line">
              <a:avLst/>
            </a:prstGeom>
            <a:noFill/>
            <a:ln w="12700">
              <a:solidFill>
                <a:schemeClr val="tx1"/>
              </a:solidFill>
              <a:round/>
            </a:ln>
          </p:spPr>
          <p:txBody>
            <a:bodyPr wrap="square"/>
            <a:lstStyle/>
            <a:p>
              <a:pPr lvl="0">
                <a:defRPr/>
              </a:pPr>
              <a:endParaRPr lang="ko-KR" altLang="en-US"/>
            </a:p>
          </p:txBody>
        </p:sp>
      </p:grpSp>
      <p:sp>
        <p:nvSpPr>
          <p:cNvPr id="99356" name="Rectangle 50"/>
          <p:cNvSpPr>
            <a:spLocks noGrp="1" noChangeArrowheads="1"/>
          </p:cNvSpPr>
          <p:nvPr>
            <p:ph type="title" idx="0"/>
          </p:nvPr>
        </p:nvSpPr>
        <p:spPr/>
        <p:txBody>
          <a:bodyPr/>
          <a:lstStyle/>
          <a:p>
            <a:pPr lvl="0">
              <a:defRPr/>
            </a:pPr>
            <a:r>
              <a:rPr lang="en-US" altLang="ko-KR">
                <a:latin typeface="Times New Roman"/>
                <a:ea typeface="굴림"/>
                <a:cs typeface="+mn-cs"/>
              </a:rPr>
              <a:t>Example</a:t>
            </a:r>
            <a:endParaRPr lang="en-US" altLang="ko-KR">
              <a:latin typeface="Times New Roman"/>
              <a:ea typeface="굴림"/>
              <a:cs typeface="+mn-cs"/>
            </a:endParaRPr>
          </a:p>
        </p:txBody>
      </p:sp>
      <p:sp>
        <p:nvSpPr>
          <p:cNvPr id="99357" name="Rectangle 51"/>
          <p:cNvSpPr>
            <a:spLocks noGrp="1" noChangeArrowheads="1"/>
          </p:cNvSpPr>
          <p:nvPr>
            <p:ph type="body" idx="1"/>
          </p:nvPr>
        </p:nvSpPr>
        <p:spPr>
          <a:xfrm>
            <a:off x="500063" y="1143000"/>
            <a:ext cx="5643562" cy="5181600"/>
          </a:xfrm>
        </p:spPr>
        <p:txBody>
          <a:bodyPr/>
          <a:lstStyle/>
          <a:p>
            <a:pPr lvl="0">
              <a:defRPr/>
            </a:pPr>
            <a:r>
              <a:rPr lang="en-GB" altLang="ko-KR" sz="1800">
                <a:latin typeface="Times New Roman"/>
                <a:ea typeface="굴림"/>
                <a:cs typeface="+mn-cs"/>
              </a:rPr>
              <a:t>Input word:  00111001 </a:t>
            </a:r>
            <a:br>
              <a:rPr lang="en-GB" altLang="ko-KR" sz="1800">
                <a:latin typeface="Times New Roman"/>
                <a:ea typeface="굴림"/>
                <a:cs typeface="+mn-cs"/>
              </a:rPr>
            </a:br>
            <a:r>
              <a:rPr lang="en-GB" altLang="ko-KR" sz="1800">
                <a:latin typeface="Times New Roman"/>
                <a:ea typeface="굴림"/>
                <a:cs typeface="+mn-cs"/>
              </a:rPr>
              <a:t>Databit D1 in rightmost position</a:t>
            </a:r>
            <a:endParaRPr lang="en-GB" altLang="ko-KR" sz="1800">
              <a:latin typeface="Times New Roman"/>
              <a:ea typeface="굴림"/>
              <a:cs typeface="+mn-cs"/>
            </a:endParaRPr>
          </a:p>
          <a:p>
            <a:pPr lvl="0">
              <a:defRPr/>
            </a:pPr>
            <a:r>
              <a:rPr lang="en-GB" altLang="ko-KR" sz="1800">
                <a:latin typeface="Times New Roman"/>
                <a:ea typeface="굴림"/>
                <a:cs typeface="+mn-cs"/>
              </a:rPr>
              <a:t>Calculate check bits:</a:t>
            </a:r>
            <a:endParaRPr lang="en-GB" altLang="ko-KR" sz="1800">
              <a:latin typeface="Times New Roman"/>
              <a:ea typeface="굴림"/>
              <a:cs typeface="+mn-cs"/>
            </a:endParaRPr>
          </a:p>
          <a:p>
            <a:pPr>
              <a:buFont typeface="굴림"/>
              <a:buNone/>
              <a:defRPr/>
            </a:pPr>
            <a:r>
              <a:rPr lang="en-GB" altLang="ko-KR" sz="1800">
                <a:latin typeface="Times New Roman"/>
                <a:ea typeface="굴림"/>
                <a:cs typeface="+mn-cs"/>
              </a:rPr>
              <a:t>	C1 = 1 </a:t>
            </a:r>
            <a:r>
              <a:rPr lang="en-GB" altLang="ko-KR" sz="1800">
                <a:ea typeface="굴림"/>
                <a:sym typeface="Symbol"/>
              </a:rPr>
              <a:t>  0  1 </a:t>
            </a:r>
            <a:r>
              <a:rPr lang="en-US" altLang="ko-KR" sz="1800">
                <a:ea typeface="굴림"/>
                <a:sym typeface="Symbol"/>
              </a:rPr>
              <a:t> </a:t>
            </a:r>
            <a:r>
              <a:rPr lang="en-GB" altLang="ko-KR" sz="1800">
                <a:latin typeface="Times New Roman"/>
                <a:ea typeface="굴림"/>
                <a:cs typeface="+mn-cs"/>
              </a:rPr>
              <a:t>1 </a:t>
            </a:r>
            <a:r>
              <a:rPr lang="en-GB" altLang="ko-KR" sz="1800">
                <a:ea typeface="굴림"/>
                <a:sym typeface="Symbol"/>
              </a:rPr>
              <a:t>  0 = </a:t>
            </a:r>
            <a:r>
              <a:rPr lang="en-GB" altLang="ko-KR" sz="1800">
                <a:solidFill>
                  <a:srgbClr val="ff0000"/>
                </a:solidFill>
                <a:ea typeface="굴림"/>
                <a:sym typeface="Symbol"/>
              </a:rPr>
              <a:t>1</a:t>
            </a:r>
            <a:endParaRPr lang="en-GB" altLang="ko-KR" sz="1800">
              <a:solidFill>
                <a:srgbClr val="ff0000"/>
              </a:solidFill>
              <a:ea typeface="굴림"/>
              <a:sym typeface="Symbol"/>
            </a:endParaRPr>
          </a:p>
          <a:p>
            <a:pPr>
              <a:buFont typeface="굴림"/>
              <a:buNone/>
              <a:defRPr/>
            </a:pPr>
            <a:r>
              <a:rPr lang="en-GB" altLang="ko-KR" sz="1800">
                <a:ea typeface="굴림"/>
                <a:sym typeface="Symbol"/>
              </a:rPr>
              <a:t>	C2 = </a:t>
            </a:r>
            <a:r>
              <a:rPr lang="en-GB" altLang="ko-KR" sz="1800">
                <a:latin typeface="Times New Roman"/>
                <a:ea typeface="굴림"/>
                <a:cs typeface="+mn-cs"/>
              </a:rPr>
              <a:t>1 </a:t>
            </a:r>
            <a:r>
              <a:rPr lang="en-GB" altLang="ko-KR" sz="1800">
                <a:ea typeface="굴림"/>
                <a:sym typeface="Symbol"/>
              </a:rPr>
              <a:t>  0  1 </a:t>
            </a:r>
            <a:r>
              <a:rPr lang="en-US" altLang="ko-KR" sz="1800">
                <a:ea typeface="굴림"/>
                <a:sym typeface="Symbol"/>
              </a:rPr>
              <a:t> </a:t>
            </a:r>
            <a:r>
              <a:rPr lang="en-GB" altLang="ko-KR" sz="1800">
                <a:latin typeface="Times New Roman"/>
                <a:ea typeface="굴림"/>
                <a:cs typeface="+mn-cs"/>
              </a:rPr>
              <a:t>1 </a:t>
            </a:r>
            <a:r>
              <a:rPr lang="en-GB" altLang="ko-KR" sz="1800">
                <a:ea typeface="굴림"/>
                <a:sym typeface="Symbol"/>
              </a:rPr>
              <a:t>  0 = </a:t>
            </a:r>
            <a:r>
              <a:rPr lang="en-GB" altLang="ko-KR" sz="1800">
                <a:solidFill>
                  <a:srgbClr val="ff0000"/>
                </a:solidFill>
                <a:ea typeface="굴림"/>
                <a:sym typeface="Symbol"/>
              </a:rPr>
              <a:t>1</a:t>
            </a:r>
            <a:endParaRPr lang="en-GB" altLang="ko-KR" sz="1800">
              <a:solidFill>
                <a:srgbClr val="ff0000"/>
              </a:solidFill>
              <a:ea typeface="굴림"/>
              <a:sym typeface="Symbol"/>
            </a:endParaRPr>
          </a:p>
          <a:p>
            <a:pPr>
              <a:buFont typeface="굴림"/>
              <a:buNone/>
              <a:defRPr/>
            </a:pPr>
            <a:r>
              <a:rPr lang="en-GB" altLang="ko-KR" sz="1800">
                <a:ea typeface="굴림"/>
                <a:sym typeface="Symbol"/>
              </a:rPr>
              <a:t>	C3 = </a:t>
            </a:r>
            <a:r>
              <a:rPr lang="en-GB" altLang="ko-KR" sz="1800">
                <a:latin typeface="Times New Roman"/>
                <a:ea typeface="굴림"/>
                <a:cs typeface="+mn-cs"/>
              </a:rPr>
              <a:t>0 </a:t>
            </a:r>
            <a:r>
              <a:rPr lang="en-GB" altLang="ko-KR" sz="1800">
                <a:ea typeface="굴림"/>
                <a:sym typeface="Symbol"/>
              </a:rPr>
              <a:t>  0  1 </a:t>
            </a:r>
            <a:r>
              <a:rPr lang="en-US" altLang="ko-KR" sz="1800">
                <a:ea typeface="굴림"/>
                <a:sym typeface="Symbol"/>
              </a:rPr>
              <a:t> </a:t>
            </a:r>
            <a:r>
              <a:rPr lang="en-GB" altLang="ko-KR" sz="1800">
                <a:latin typeface="Times New Roman"/>
                <a:ea typeface="굴림"/>
                <a:cs typeface="+mn-cs"/>
              </a:rPr>
              <a:t>0 </a:t>
            </a:r>
            <a:r>
              <a:rPr lang="en-GB" altLang="ko-KR" sz="1800">
                <a:ea typeface="굴림"/>
                <a:sym typeface="Symbol"/>
              </a:rPr>
              <a:t>= </a:t>
            </a:r>
            <a:r>
              <a:rPr lang="en-GB" altLang="ko-KR" sz="1800">
                <a:solidFill>
                  <a:srgbClr val="ff0000"/>
                </a:solidFill>
                <a:ea typeface="굴림"/>
                <a:sym typeface="Symbol"/>
              </a:rPr>
              <a:t>1</a:t>
            </a:r>
            <a:endParaRPr lang="en-GB" altLang="ko-KR" sz="1800">
              <a:solidFill>
                <a:srgbClr val="ff0000"/>
              </a:solidFill>
              <a:ea typeface="굴림"/>
              <a:sym typeface="Symbol"/>
            </a:endParaRPr>
          </a:p>
          <a:p>
            <a:pPr>
              <a:buFont typeface="굴림"/>
              <a:buNone/>
              <a:defRPr/>
            </a:pPr>
            <a:r>
              <a:rPr lang="en-GB" altLang="ko-KR" sz="1800">
                <a:ea typeface="굴림"/>
                <a:sym typeface="Symbol"/>
              </a:rPr>
              <a:t>	C4 = </a:t>
            </a:r>
            <a:r>
              <a:rPr lang="en-GB" altLang="ko-KR" sz="1800">
                <a:latin typeface="Times New Roman"/>
                <a:ea typeface="굴림"/>
                <a:cs typeface="+mn-cs"/>
              </a:rPr>
              <a:t>1 </a:t>
            </a:r>
            <a:r>
              <a:rPr lang="en-GB" altLang="ko-KR" sz="1800">
                <a:ea typeface="굴림"/>
                <a:sym typeface="Symbol"/>
              </a:rPr>
              <a:t>  1  0 </a:t>
            </a:r>
            <a:r>
              <a:rPr lang="en-US" altLang="ko-KR" sz="1800">
                <a:ea typeface="굴림"/>
                <a:sym typeface="Symbol"/>
              </a:rPr>
              <a:t> </a:t>
            </a:r>
            <a:r>
              <a:rPr lang="en-GB" altLang="ko-KR" sz="1800">
                <a:latin typeface="Times New Roman"/>
                <a:ea typeface="굴림"/>
                <a:cs typeface="+mn-cs"/>
              </a:rPr>
              <a:t>0</a:t>
            </a:r>
            <a:r>
              <a:rPr lang="en-GB" altLang="ko-KR" sz="1800">
                <a:ea typeface="굴림"/>
                <a:sym typeface="Symbol"/>
              </a:rPr>
              <a:t> = </a:t>
            </a:r>
            <a:r>
              <a:rPr lang="en-GB" altLang="ko-KR" sz="1800">
                <a:solidFill>
                  <a:srgbClr val="ff0000"/>
                </a:solidFill>
                <a:ea typeface="굴림"/>
                <a:sym typeface="Symbol"/>
              </a:rPr>
              <a:t>0</a:t>
            </a:r>
            <a:br>
              <a:rPr lang="en-GB" altLang="ko-KR" sz="1800">
                <a:ea typeface="굴림"/>
                <a:sym typeface="Symbol"/>
              </a:rPr>
            </a:br>
            <a:r>
              <a:rPr lang="en-GB" altLang="ko-KR" sz="1800">
                <a:ea typeface="굴림"/>
                <a:sym typeface="Symbol"/>
              </a:rPr>
              <a:t>Stored word = 0011</a:t>
            </a:r>
            <a:r>
              <a:rPr lang="en-GB" altLang="ko-KR" sz="1800">
                <a:solidFill>
                  <a:srgbClr val="ff0000"/>
                </a:solidFill>
                <a:ea typeface="굴림"/>
                <a:sym typeface="Symbol"/>
              </a:rPr>
              <a:t>0</a:t>
            </a:r>
            <a:r>
              <a:rPr lang="en-GB" altLang="ko-KR" sz="1800">
                <a:ea typeface="굴림"/>
                <a:sym typeface="Symbol"/>
              </a:rPr>
              <a:t>1</a:t>
            </a:r>
            <a:r>
              <a:rPr lang="en-GB" altLang="ko-KR" sz="1800" b="1" u="sng">
                <a:solidFill>
                  <a:srgbClr val="3333ff"/>
                </a:solidFill>
                <a:ea typeface="굴림"/>
                <a:sym typeface="Symbol"/>
              </a:rPr>
              <a:t>0</a:t>
            </a:r>
            <a:r>
              <a:rPr lang="en-GB" altLang="ko-KR" sz="1800">
                <a:ea typeface="굴림"/>
                <a:sym typeface="Symbol"/>
              </a:rPr>
              <a:t>0</a:t>
            </a:r>
            <a:r>
              <a:rPr lang="en-GB" altLang="ko-KR" sz="1800">
                <a:solidFill>
                  <a:srgbClr val="ff0000"/>
                </a:solidFill>
                <a:ea typeface="굴림"/>
                <a:sym typeface="Symbol"/>
              </a:rPr>
              <a:t>1</a:t>
            </a:r>
            <a:r>
              <a:rPr lang="en-GB" altLang="ko-KR" sz="1800">
                <a:ea typeface="굴림"/>
                <a:sym typeface="Symbol"/>
              </a:rPr>
              <a:t>1</a:t>
            </a:r>
            <a:r>
              <a:rPr lang="en-GB" altLang="ko-KR" sz="1800">
                <a:solidFill>
                  <a:srgbClr val="ff0000"/>
                </a:solidFill>
                <a:ea typeface="굴림"/>
                <a:sym typeface="Symbol"/>
              </a:rPr>
              <a:t>11</a:t>
            </a:r>
            <a:endParaRPr lang="en-GB" altLang="ko-KR" sz="1800">
              <a:solidFill>
                <a:srgbClr val="ff0000"/>
              </a:solidFill>
              <a:ea typeface="굴림"/>
              <a:sym typeface="Symbol"/>
            </a:endParaRPr>
          </a:p>
          <a:p>
            <a:pPr lvl="0">
              <a:defRPr/>
            </a:pPr>
            <a:r>
              <a:rPr lang="en-GB" altLang="ko-KR" sz="1800">
                <a:ea typeface="굴림"/>
                <a:sym typeface="Symbol"/>
              </a:rPr>
              <a:t>If </a:t>
            </a:r>
            <a:r>
              <a:rPr lang="en-GB" altLang="ko-KR" sz="1800" u="sng">
                <a:solidFill>
                  <a:srgbClr val="ff0000"/>
                </a:solidFill>
                <a:ea typeface="굴림"/>
                <a:sym typeface="Symbol"/>
              </a:rPr>
              <a:t>data bit 3</a:t>
            </a:r>
            <a:r>
              <a:rPr lang="en-GB" altLang="ko-KR" sz="1800">
                <a:ea typeface="굴림"/>
                <a:sym typeface="Symbol"/>
              </a:rPr>
              <a:t> sustains an error (0011</a:t>
            </a:r>
            <a:r>
              <a:rPr lang="en-GB" altLang="ko-KR" sz="1800">
                <a:solidFill>
                  <a:srgbClr val="ff0000"/>
                </a:solidFill>
                <a:ea typeface="굴림"/>
                <a:sym typeface="Symbol"/>
              </a:rPr>
              <a:t>0</a:t>
            </a:r>
            <a:r>
              <a:rPr lang="en-GB" altLang="ko-KR" sz="1800">
                <a:ea typeface="굴림"/>
                <a:sym typeface="Symbol"/>
              </a:rPr>
              <a:t>1</a:t>
            </a:r>
            <a:r>
              <a:rPr lang="en-GB" altLang="ko-KR" sz="1800" b="1" u="sng">
                <a:solidFill>
                  <a:srgbClr val="0000cc"/>
                </a:solidFill>
                <a:ea typeface="굴림"/>
                <a:sym typeface="Symbol"/>
              </a:rPr>
              <a:t>1</a:t>
            </a:r>
            <a:r>
              <a:rPr lang="en-GB" altLang="ko-KR" sz="1800">
                <a:ea typeface="굴림"/>
                <a:sym typeface="Symbol"/>
              </a:rPr>
              <a:t>0</a:t>
            </a:r>
            <a:r>
              <a:rPr lang="en-GB" altLang="ko-KR" sz="1800">
                <a:solidFill>
                  <a:srgbClr val="ff0000"/>
                </a:solidFill>
                <a:ea typeface="굴림"/>
                <a:sym typeface="Symbol"/>
              </a:rPr>
              <a:t>1</a:t>
            </a:r>
            <a:r>
              <a:rPr lang="en-GB" altLang="ko-KR" sz="1800">
                <a:ea typeface="굴림"/>
                <a:sym typeface="Symbol"/>
              </a:rPr>
              <a:t>1</a:t>
            </a:r>
            <a:r>
              <a:rPr lang="en-GB" altLang="ko-KR" sz="1800">
                <a:solidFill>
                  <a:srgbClr val="ff0000"/>
                </a:solidFill>
                <a:ea typeface="굴림"/>
                <a:sym typeface="Symbol"/>
              </a:rPr>
              <a:t>11</a:t>
            </a:r>
            <a:r>
              <a:rPr lang="en-GB" altLang="ko-KR" sz="1800">
                <a:ea typeface="굴림"/>
                <a:sym typeface="Symbol"/>
              </a:rPr>
              <a:t>)</a:t>
            </a:r>
            <a:endParaRPr lang="en-GB" altLang="ko-KR" sz="1800">
              <a:ea typeface="굴림"/>
              <a:sym typeface="Symbol"/>
            </a:endParaRPr>
          </a:p>
          <a:p>
            <a:pPr>
              <a:buFont typeface="굴림"/>
              <a:buNone/>
              <a:defRPr/>
            </a:pPr>
            <a:r>
              <a:rPr lang="en-GB" altLang="ko-KR" sz="1800">
                <a:ea typeface="굴림"/>
                <a:sym typeface="Symbol"/>
              </a:rPr>
              <a:t>	</a:t>
            </a:r>
            <a:r>
              <a:rPr lang="en-GB" altLang="ko-KR" sz="1800">
                <a:latin typeface="Times New Roman"/>
                <a:ea typeface="굴림"/>
                <a:cs typeface="+mn-cs"/>
              </a:rPr>
              <a:t>C1 = 1 </a:t>
            </a:r>
            <a:r>
              <a:rPr lang="en-GB" altLang="ko-KR" sz="1800">
                <a:ea typeface="굴림"/>
                <a:sym typeface="Symbol"/>
              </a:rPr>
              <a:t>  0  1 </a:t>
            </a:r>
            <a:r>
              <a:rPr lang="en-US" altLang="ko-KR" sz="1800">
                <a:ea typeface="굴림"/>
                <a:sym typeface="Symbol"/>
              </a:rPr>
              <a:t> </a:t>
            </a:r>
            <a:r>
              <a:rPr lang="en-GB" altLang="ko-KR" sz="1800">
                <a:latin typeface="Times New Roman"/>
                <a:ea typeface="굴림"/>
                <a:cs typeface="+mn-cs"/>
              </a:rPr>
              <a:t>1 </a:t>
            </a:r>
            <a:r>
              <a:rPr lang="en-GB" altLang="ko-KR" sz="1800">
                <a:ea typeface="굴림"/>
                <a:sym typeface="Symbol"/>
              </a:rPr>
              <a:t>  0 = 1</a:t>
            </a:r>
            <a:endParaRPr lang="en-GB" altLang="ko-KR" sz="1800">
              <a:ea typeface="굴림"/>
              <a:sym typeface="Symbol"/>
            </a:endParaRPr>
          </a:p>
          <a:p>
            <a:pPr>
              <a:buFont typeface="굴림"/>
              <a:buNone/>
              <a:defRPr/>
            </a:pPr>
            <a:r>
              <a:rPr lang="en-GB" altLang="ko-KR" sz="1800">
                <a:ea typeface="굴림"/>
                <a:sym typeface="Symbol"/>
              </a:rPr>
              <a:t>	C2 = </a:t>
            </a:r>
            <a:r>
              <a:rPr lang="en-GB" altLang="ko-KR" sz="1800">
                <a:latin typeface="Times New Roman"/>
                <a:ea typeface="굴림"/>
                <a:cs typeface="+mn-cs"/>
              </a:rPr>
              <a:t>1 </a:t>
            </a:r>
            <a:r>
              <a:rPr lang="en-GB" altLang="ko-KR" sz="1800">
                <a:ea typeface="굴림"/>
                <a:sym typeface="Symbol"/>
              </a:rPr>
              <a:t>  </a:t>
            </a:r>
            <a:r>
              <a:rPr lang="en-GB" altLang="ko-KR" sz="1800" b="1">
                <a:solidFill>
                  <a:srgbClr val="0000cc"/>
                </a:solidFill>
                <a:ea typeface="굴림"/>
                <a:sym typeface="Symbol"/>
              </a:rPr>
              <a:t>1</a:t>
            </a:r>
            <a:r>
              <a:rPr lang="en-GB" altLang="ko-KR" sz="1800">
                <a:ea typeface="굴림"/>
                <a:sym typeface="Symbol"/>
              </a:rPr>
              <a:t>  1 </a:t>
            </a:r>
            <a:r>
              <a:rPr lang="en-US" altLang="ko-KR" sz="1800">
                <a:ea typeface="굴림"/>
                <a:sym typeface="Symbol"/>
              </a:rPr>
              <a:t> </a:t>
            </a:r>
            <a:r>
              <a:rPr lang="en-GB" altLang="ko-KR" sz="1800">
                <a:latin typeface="Times New Roman"/>
                <a:ea typeface="굴림"/>
                <a:cs typeface="+mn-cs"/>
              </a:rPr>
              <a:t>1 </a:t>
            </a:r>
            <a:r>
              <a:rPr lang="en-GB" altLang="ko-KR" sz="1800">
                <a:ea typeface="굴림"/>
                <a:sym typeface="Symbol"/>
              </a:rPr>
              <a:t>  0 = </a:t>
            </a:r>
            <a:r>
              <a:rPr lang="en-GB" altLang="ko-KR" sz="1800">
                <a:solidFill>
                  <a:srgbClr val="3333ff"/>
                </a:solidFill>
                <a:ea typeface="굴림"/>
                <a:sym typeface="Symbol"/>
              </a:rPr>
              <a:t>0</a:t>
            </a:r>
            <a:endParaRPr lang="en-GB" altLang="ko-KR" sz="1800">
              <a:solidFill>
                <a:srgbClr val="3333ff"/>
              </a:solidFill>
              <a:ea typeface="굴림"/>
              <a:sym typeface="Symbol"/>
            </a:endParaRPr>
          </a:p>
          <a:p>
            <a:pPr>
              <a:buFont typeface="굴림"/>
              <a:buNone/>
              <a:defRPr/>
            </a:pPr>
            <a:r>
              <a:rPr lang="en-GB" altLang="ko-KR" sz="1800">
                <a:ea typeface="굴림"/>
                <a:sym typeface="Symbol"/>
              </a:rPr>
              <a:t>	C3 = </a:t>
            </a:r>
            <a:r>
              <a:rPr lang="en-GB" altLang="ko-KR" sz="1800">
                <a:latin typeface="Times New Roman"/>
                <a:ea typeface="굴림"/>
                <a:cs typeface="+mn-cs"/>
              </a:rPr>
              <a:t>0 </a:t>
            </a:r>
            <a:r>
              <a:rPr lang="en-GB" altLang="ko-KR" sz="1800">
                <a:ea typeface="굴림"/>
                <a:sym typeface="Symbol"/>
              </a:rPr>
              <a:t>  </a:t>
            </a:r>
            <a:r>
              <a:rPr lang="en-GB" altLang="ko-KR" sz="1800" b="1">
                <a:solidFill>
                  <a:srgbClr val="0000cc"/>
                </a:solidFill>
                <a:ea typeface="굴림"/>
                <a:sym typeface="Symbol"/>
              </a:rPr>
              <a:t>1</a:t>
            </a:r>
            <a:r>
              <a:rPr lang="en-GB" altLang="ko-KR" sz="1800">
                <a:ea typeface="굴림"/>
                <a:sym typeface="Symbol"/>
              </a:rPr>
              <a:t>  1 </a:t>
            </a:r>
            <a:r>
              <a:rPr lang="en-US" altLang="ko-KR" sz="1800">
                <a:ea typeface="굴림"/>
                <a:sym typeface="Symbol"/>
              </a:rPr>
              <a:t> </a:t>
            </a:r>
            <a:r>
              <a:rPr lang="en-GB" altLang="ko-KR" sz="1800">
                <a:latin typeface="Times New Roman"/>
                <a:ea typeface="굴림"/>
                <a:cs typeface="+mn-cs"/>
              </a:rPr>
              <a:t>0 </a:t>
            </a:r>
            <a:r>
              <a:rPr lang="en-GB" altLang="ko-KR" sz="1800">
                <a:ea typeface="굴림"/>
                <a:sym typeface="Symbol"/>
              </a:rPr>
              <a:t>= </a:t>
            </a:r>
            <a:r>
              <a:rPr lang="en-GB" altLang="ko-KR" sz="1800">
                <a:solidFill>
                  <a:srgbClr val="3333ff"/>
                </a:solidFill>
                <a:ea typeface="굴림"/>
                <a:sym typeface="Symbol"/>
              </a:rPr>
              <a:t>0</a:t>
            </a:r>
            <a:endParaRPr lang="en-GB" altLang="ko-KR" sz="1800">
              <a:solidFill>
                <a:srgbClr val="3333ff"/>
              </a:solidFill>
              <a:ea typeface="굴림"/>
              <a:sym typeface="Symbol"/>
            </a:endParaRPr>
          </a:p>
          <a:p>
            <a:pPr>
              <a:buFont typeface="굴림"/>
              <a:buNone/>
              <a:defRPr/>
            </a:pPr>
            <a:r>
              <a:rPr lang="en-GB" altLang="ko-KR" sz="1800">
                <a:ea typeface="굴림"/>
                <a:sym typeface="Symbol"/>
              </a:rPr>
              <a:t>	C4 = </a:t>
            </a:r>
            <a:r>
              <a:rPr lang="en-GB" altLang="ko-KR" sz="1800">
                <a:latin typeface="Times New Roman"/>
                <a:ea typeface="굴림"/>
                <a:cs typeface="+mn-cs"/>
              </a:rPr>
              <a:t>1 </a:t>
            </a:r>
            <a:r>
              <a:rPr lang="en-GB" altLang="ko-KR" sz="1800">
                <a:ea typeface="굴림"/>
                <a:sym typeface="Symbol"/>
              </a:rPr>
              <a:t>  1  0 </a:t>
            </a:r>
            <a:r>
              <a:rPr lang="en-US" altLang="ko-KR" sz="1800">
                <a:ea typeface="굴림"/>
                <a:sym typeface="Symbol"/>
              </a:rPr>
              <a:t> </a:t>
            </a:r>
            <a:r>
              <a:rPr lang="en-GB" altLang="ko-KR" sz="1800">
                <a:latin typeface="Times New Roman"/>
                <a:ea typeface="굴림"/>
                <a:cs typeface="+mn-cs"/>
              </a:rPr>
              <a:t>0</a:t>
            </a:r>
            <a:r>
              <a:rPr lang="en-GB" altLang="ko-KR" sz="1800">
                <a:ea typeface="굴림"/>
                <a:sym typeface="Symbol"/>
              </a:rPr>
              <a:t> = 0</a:t>
            </a:r>
            <a:endParaRPr lang="en-GB" altLang="ko-KR" sz="1800">
              <a:ea typeface="굴림"/>
              <a:sym typeface="Symbol"/>
            </a:endParaRPr>
          </a:p>
          <a:p>
            <a:pPr lvl="0">
              <a:defRPr/>
            </a:pPr>
            <a:r>
              <a:rPr lang="en-US" altLang="ko-KR" sz="1800">
                <a:ea typeface="굴림"/>
                <a:sym typeface="Symbol"/>
              </a:rPr>
              <a:t>Calculate syndrome word:</a:t>
            </a:r>
            <a:br>
              <a:rPr lang="en-US" altLang="ko-KR" sz="1800">
                <a:ea typeface="굴림"/>
                <a:sym typeface="Symbol"/>
              </a:rPr>
            </a:br>
            <a:r>
              <a:rPr lang="en-US" altLang="ko-KR" sz="1800">
                <a:ea typeface="굴림"/>
                <a:sym typeface="Symbol"/>
              </a:rPr>
              <a:t>0110 = bit position 6.</a:t>
            </a:r>
            <a:endParaRPr lang="en-US" altLang="ko-KR" sz="1800">
              <a:ea typeface="굴림"/>
              <a:sym typeface="Symbol"/>
            </a:endParaRPr>
          </a:p>
          <a:p>
            <a:pPr lvl="0">
              <a:defRPr/>
            </a:pPr>
            <a:r>
              <a:rPr lang="en-US" altLang="ko-KR" sz="1800">
                <a:ea typeface="굴림"/>
                <a:sym typeface="Symbol"/>
              </a:rPr>
              <a:t>D3 resides in bit position 6.</a:t>
            </a:r>
            <a:endParaRPr lang="en-US" altLang="ko-KR" sz="1800">
              <a:ea typeface="굴림"/>
              <a:sym typeface="Symbol"/>
            </a:endParaRPr>
          </a:p>
          <a:p>
            <a:pPr>
              <a:buFont typeface="굴림"/>
              <a:buNone/>
              <a:defRPr/>
            </a:pPr>
            <a:endParaRPr lang="en-US" altLang="ko-KR" sz="1800">
              <a:latin typeface="Times New Roman"/>
              <a:ea typeface="굴림"/>
              <a:cs typeface="+mn-cs"/>
            </a:endParaRPr>
          </a:p>
        </p:txBody>
      </p:sp>
      <p:sp>
        <p:nvSpPr>
          <p:cNvPr id="39966" name="Line 34"/>
          <p:cNvSpPr>
            <a:spLocks noChangeShapeType="1"/>
          </p:cNvSpPr>
          <p:nvPr/>
        </p:nvSpPr>
        <p:spPr>
          <a:xfrm flipH="1">
            <a:off x="2051050" y="3644900"/>
            <a:ext cx="1512888" cy="360363"/>
          </a:xfrm>
          <a:prstGeom prst="line">
            <a:avLst/>
          </a:prstGeom>
          <a:noFill/>
          <a:ln w="9525">
            <a:solidFill>
              <a:srgbClr val="ff0000"/>
            </a:solidFill>
            <a:round/>
            <a:tailEnd type="triangle" w="med" len="med"/>
          </a:ln>
          <a:effectLst/>
        </p:spPr>
        <p:txBody>
          <a:bodyPr wrap="none" lIns="89999" tIns="46800" rIns="89999" bIns="46800" anchor="ctr"/>
          <a:lstStyle/>
          <a:p>
            <a:pPr>
              <a:defRPr/>
            </a:pPr>
            <a:endParaRPr lang="ko-KR" altLang="en-US">
              <a:latin typeface="Times New Roman"/>
              <a:ea typeface="+mn-ea"/>
              <a:cs typeface="+mn-cs"/>
            </a:endParaRPr>
          </a:p>
        </p:txBody>
      </p:sp>
      <p:pic>
        <p:nvPicPr>
          <p:cNvPr id="2" name="그림 1"/>
          <p:cNvPicPr>
            <a:picLocks noChangeAspect="1"/>
          </p:cNvPicPr>
          <p:nvPr/>
        </p:nvPicPr>
        <p:blipFill rotWithShape="1">
          <a:blip r:embed="rId4"/>
          <a:srcRect/>
          <a:stretch>
            <a:fillRect/>
          </a:stretch>
        </p:blipFill>
        <p:spPr>
          <a:xfrm>
            <a:off x="3922713" y="217488"/>
            <a:ext cx="5191125" cy="1123950"/>
          </a:xfrm>
          <a:prstGeom prst="rect">
            <a:avLst/>
          </a:prstGeom>
          <a:noFill/>
          <a:ln>
            <a:noFill/>
          </a:ln>
          <a:effectLst>
            <a:outerShdw blurRad="50800" dist="38100" dir="2700000" algn="tl" rotWithShape="0">
              <a:srgbClr val="808080">
                <a:alpha val="40000"/>
              </a:srgbClr>
            </a:outerShdw>
          </a:effectLst>
        </p:spPr>
      </p:pic>
      <p:sp>
        <p:nvSpPr>
          <p:cNvPr id="99360" name="TextBox 3"/>
          <p:cNvSpPr txBox="1">
            <a:spLocks noChangeArrowheads="1"/>
          </p:cNvSpPr>
          <p:nvPr/>
        </p:nvSpPr>
        <p:spPr>
          <a:xfrm>
            <a:off x="3394075" y="925513"/>
            <a:ext cx="431800" cy="291782"/>
          </a:xfrm>
          <a:prstGeom prst="rect">
            <a:avLst/>
          </a:prstGeom>
          <a:noFill/>
          <a:ln>
            <a:noFill/>
          </a:ln>
        </p:spPr>
        <p:txBody>
          <a:bodyPr>
            <a:spAutoFit/>
          </a:bodyPr>
          <a:lstStyle>
            <a:lvl1pPr>
              <a:spcBef>
                <a:spcPct val="20000"/>
              </a:spcBef>
              <a:buClr>
                <a:srgbClr val="ff0000"/>
              </a:buClr>
              <a:buChar char="•"/>
              <a:defRPr kumimoji="1" sz="2800">
                <a:solidFill>
                  <a:schemeClr val="tx1"/>
                </a:solidFill>
                <a:latin typeface="Verdana"/>
              </a:defRPr>
            </a:lvl1pPr>
            <a:lvl2pPr marL="742950" indent="-285750">
              <a:spcBef>
                <a:spcPct val="20000"/>
              </a:spcBef>
              <a:buClr>
                <a:srgbClr val="ff0000"/>
              </a:buClr>
              <a:buChar char="—"/>
              <a:defRPr kumimoji="1" sz="2400">
                <a:solidFill>
                  <a:schemeClr val="tx1"/>
                </a:solidFill>
                <a:latin typeface="Verdana"/>
              </a:defRPr>
            </a:lvl2pPr>
            <a:lvl3pPr marL="1143000" indent="-228600">
              <a:spcBef>
                <a:spcPct val="20000"/>
              </a:spcBef>
              <a:buClr>
                <a:srgbClr val="ff0000"/>
              </a:buClr>
              <a:buChar char="–"/>
              <a:defRPr kumimoji="1" sz="2000">
                <a:solidFill>
                  <a:schemeClr val="tx1"/>
                </a:solidFill>
                <a:latin typeface="Verdana"/>
              </a:defRPr>
            </a:lvl3pPr>
            <a:lvl4pPr marL="1600200" indent="-228600">
              <a:spcBef>
                <a:spcPct val="20000"/>
              </a:spcBef>
              <a:buClr>
                <a:srgbClr val="ff0000"/>
              </a:buClr>
              <a:buChar char="+"/>
              <a:defRPr kumimoji="1" sz="2000">
                <a:solidFill>
                  <a:schemeClr val="tx1"/>
                </a:solidFill>
                <a:latin typeface="Verdana"/>
              </a:defRPr>
            </a:lvl4pPr>
            <a:lvl5pPr marL="2057400" indent="-228600">
              <a:spcBef>
                <a:spcPct val="20000"/>
              </a:spcBef>
              <a:buClr>
                <a:srgbClr val="ff0000"/>
              </a:buClr>
              <a:buChar char="o"/>
              <a:defRPr kumimoji="1" sz="2000">
                <a:solidFill>
                  <a:schemeClr val="tx1"/>
                </a:solidFill>
                <a:latin typeface="Verdana"/>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a:defRPr>
            </a:lvl9pPr>
          </a:lstStyle>
          <a:p>
            <a:pPr>
              <a:spcBef>
                <a:spcPct val="0"/>
              </a:spcBef>
              <a:buClrTx/>
              <a:buFontTx/>
              <a:buNone/>
              <a:defRPr/>
            </a:pPr>
            <a:r>
              <a:rPr kumimoji="0" lang="en-US" altLang="ko-KR" sz="1400">
                <a:latin typeface="Times New Roman"/>
                <a:ea typeface="굴림"/>
              </a:rPr>
              <a:t>D1</a:t>
            </a:r>
            <a:endParaRPr kumimoji="0" lang="ko-KR" altLang="en-US" sz="600">
              <a:latin typeface="Times New Roman"/>
              <a:ea typeface="굴림"/>
            </a:endParaRPr>
          </a:p>
        </p:txBody>
      </p:sp>
      <p:sp>
        <p:nvSpPr>
          <p:cNvPr id="99361" name="TextBox 70"/>
          <p:cNvSpPr txBox="1">
            <a:spLocks noChangeArrowheads="1"/>
          </p:cNvSpPr>
          <p:nvPr/>
        </p:nvSpPr>
        <p:spPr>
          <a:xfrm>
            <a:off x="2374900" y="925513"/>
            <a:ext cx="433388" cy="291782"/>
          </a:xfrm>
          <a:prstGeom prst="rect">
            <a:avLst/>
          </a:prstGeom>
          <a:noFill/>
          <a:ln>
            <a:noFill/>
          </a:ln>
        </p:spPr>
        <p:txBody>
          <a:bodyPr>
            <a:spAutoFit/>
          </a:bodyPr>
          <a:lstStyle>
            <a:lvl1pPr>
              <a:spcBef>
                <a:spcPct val="20000"/>
              </a:spcBef>
              <a:buClr>
                <a:srgbClr val="ff0000"/>
              </a:buClr>
              <a:buChar char="•"/>
              <a:defRPr kumimoji="1" sz="2800">
                <a:solidFill>
                  <a:schemeClr val="tx1"/>
                </a:solidFill>
                <a:latin typeface="Verdana"/>
              </a:defRPr>
            </a:lvl1pPr>
            <a:lvl2pPr marL="742950" indent="-285750">
              <a:spcBef>
                <a:spcPct val="20000"/>
              </a:spcBef>
              <a:buClr>
                <a:srgbClr val="ff0000"/>
              </a:buClr>
              <a:buChar char="—"/>
              <a:defRPr kumimoji="1" sz="2400">
                <a:solidFill>
                  <a:schemeClr val="tx1"/>
                </a:solidFill>
                <a:latin typeface="Verdana"/>
              </a:defRPr>
            </a:lvl2pPr>
            <a:lvl3pPr marL="1143000" indent="-228600">
              <a:spcBef>
                <a:spcPct val="20000"/>
              </a:spcBef>
              <a:buClr>
                <a:srgbClr val="ff0000"/>
              </a:buClr>
              <a:buChar char="–"/>
              <a:defRPr kumimoji="1" sz="2000">
                <a:solidFill>
                  <a:schemeClr val="tx1"/>
                </a:solidFill>
                <a:latin typeface="Verdana"/>
              </a:defRPr>
            </a:lvl3pPr>
            <a:lvl4pPr marL="1600200" indent="-228600">
              <a:spcBef>
                <a:spcPct val="20000"/>
              </a:spcBef>
              <a:buClr>
                <a:srgbClr val="ff0000"/>
              </a:buClr>
              <a:buChar char="+"/>
              <a:defRPr kumimoji="1" sz="2000">
                <a:solidFill>
                  <a:schemeClr val="tx1"/>
                </a:solidFill>
                <a:latin typeface="Verdana"/>
              </a:defRPr>
            </a:lvl4pPr>
            <a:lvl5pPr marL="2057400" indent="-228600">
              <a:spcBef>
                <a:spcPct val="20000"/>
              </a:spcBef>
              <a:buClr>
                <a:srgbClr val="ff0000"/>
              </a:buClr>
              <a:buChar char="o"/>
              <a:defRPr kumimoji="1" sz="2000">
                <a:solidFill>
                  <a:schemeClr val="tx1"/>
                </a:solidFill>
                <a:latin typeface="Verdana"/>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a:defRPr>
            </a:lvl9pPr>
          </a:lstStyle>
          <a:p>
            <a:pPr>
              <a:spcBef>
                <a:spcPct val="0"/>
              </a:spcBef>
              <a:buClrTx/>
              <a:buFontTx/>
              <a:buNone/>
              <a:defRPr/>
            </a:pPr>
            <a:r>
              <a:rPr kumimoji="0" lang="en-US" altLang="ko-KR" sz="1400">
                <a:latin typeface="Times New Roman"/>
                <a:ea typeface="굴림"/>
              </a:rPr>
              <a:t>D8</a:t>
            </a:r>
            <a:endParaRPr kumimoji="0" lang="ko-KR" altLang="en-US" sz="600">
              <a:latin typeface="Times New Roman"/>
              <a:ea typeface="굴림"/>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0"/>
          </p:nvPr>
        </p:nvSpPr>
        <p:spPr/>
        <p:txBody>
          <a:bodyPr/>
          <a:lstStyle/>
          <a:p>
            <a:pPr lvl="0">
              <a:defRPr/>
            </a:pPr>
            <a:r>
              <a:rPr lang="en-GB" altLang="ko-KR">
                <a:latin typeface="Times New Roman"/>
                <a:ea typeface="굴림"/>
                <a:cs typeface="+mn-cs"/>
              </a:rPr>
              <a:t>DRAM Operation</a:t>
            </a:r>
            <a:endParaRPr lang="en-GB" altLang="ko-KR">
              <a:latin typeface="Times New Roman"/>
              <a:ea typeface="굴림"/>
              <a:cs typeface="+mn-cs"/>
            </a:endParaRPr>
          </a:p>
        </p:txBody>
      </p:sp>
      <p:sp>
        <p:nvSpPr>
          <p:cNvPr id="33795" name="Rectangle 3"/>
          <p:cNvSpPr>
            <a:spLocks noGrp="1" noChangeArrowheads="1"/>
          </p:cNvSpPr>
          <p:nvPr>
            <p:ph type="body" idx="1"/>
          </p:nvPr>
        </p:nvSpPr>
        <p:spPr/>
        <p:txBody>
          <a:bodyPr/>
          <a:lstStyle/>
          <a:p>
            <a:pPr lvl="0">
              <a:defRPr/>
            </a:pPr>
            <a:r>
              <a:rPr lang="en-GB" altLang="ko-KR" sz="2400">
                <a:latin typeface="Times New Roman"/>
                <a:ea typeface="굴림"/>
                <a:cs typeface="+mn-cs"/>
              </a:rPr>
              <a:t>Address line active when bit read or written</a:t>
            </a:r>
            <a:endParaRPr lang="en-GB" altLang="ko-KR" sz="2400">
              <a:latin typeface="Times New Roman"/>
              <a:ea typeface="굴림"/>
              <a:cs typeface="+mn-cs"/>
            </a:endParaRPr>
          </a:p>
          <a:p>
            <a:pPr lvl="1">
              <a:defRPr/>
            </a:pPr>
            <a:r>
              <a:rPr lang="en-GB" altLang="ko-KR" sz="2000">
                <a:solidFill>
                  <a:srgbClr val="0070c0"/>
                </a:solidFill>
                <a:latin typeface="Times New Roman"/>
                <a:ea typeface="굴림"/>
                <a:cs typeface="+mn-cs"/>
              </a:rPr>
              <a:t>Transistor switch closed (current flows)</a:t>
            </a:r>
            <a:endParaRPr lang="en-GB" altLang="ko-KR" sz="2000">
              <a:solidFill>
                <a:srgbClr val="0070c0"/>
              </a:solidFill>
              <a:latin typeface="Times New Roman"/>
              <a:ea typeface="굴림"/>
              <a:cs typeface="+mn-cs"/>
            </a:endParaRPr>
          </a:p>
          <a:p>
            <a:pPr lvl="0">
              <a:defRPr/>
            </a:pPr>
            <a:r>
              <a:rPr lang="en-GB" altLang="ko-KR" sz="2400">
                <a:latin typeface="Times New Roman"/>
                <a:ea typeface="굴림"/>
                <a:cs typeface="+mn-cs"/>
              </a:rPr>
              <a:t>Write</a:t>
            </a:r>
            <a:endParaRPr lang="en-GB" altLang="ko-KR" sz="2400">
              <a:latin typeface="Times New Roman"/>
              <a:ea typeface="굴림"/>
              <a:cs typeface="+mn-cs"/>
            </a:endParaRPr>
          </a:p>
          <a:p>
            <a:pPr lvl="1">
              <a:defRPr/>
            </a:pPr>
            <a:r>
              <a:rPr lang="en-GB" altLang="ko-KR" sz="2000">
                <a:solidFill>
                  <a:srgbClr val="0070c0"/>
                </a:solidFill>
                <a:latin typeface="Times New Roman"/>
                <a:ea typeface="굴림"/>
                <a:cs typeface="+mn-cs"/>
              </a:rPr>
              <a:t>Voltage to bit line</a:t>
            </a:r>
            <a:endParaRPr lang="en-GB" altLang="ko-KR" sz="2000">
              <a:solidFill>
                <a:srgbClr val="0070c0"/>
              </a:solidFill>
              <a:latin typeface="Times New Roman"/>
              <a:ea typeface="굴림"/>
              <a:cs typeface="+mn-cs"/>
            </a:endParaRPr>
          </a:p>
          <a:p>
            <a:pPr lvl="2">
              <a:defRPr/>
            </a:pPr>
            <a:r>
              <a:rPr lang="en-GB" altLang="ko-KR" sz="1800">
                <a:latin typeface="Times New Roman"/>
                <a:ea typeface="굴림"/>
                <a:cs typeface="+mn-cs"/>
              </a:rPr>
              <a:t>High for 1 low for 0</a:t>
            </a:r>
            <a:endParaRPr lang="en-GB" altLang="ko-KR" sz="1800">
              <a:latin typeface="Times New Roman"/>
              <a:ea typeface="굴림"/>
              <a:cs typeface="+mn-cs"/>
            </a:endParaRPr>
          </a:p>
          <a:p>
            <a:pPr lvl="1">
              <a:defRPr/>
            </a:pPr>
            <a:r>
              <a:rPr lang="en-GB" altLang="ko-KR" sz="2000">
                <a:solidFill>
                  <a:srgbClr val="0070c0"/>
                </a:solidFill>
                <a:latin typeface="Times New Roman"/>
                <a:ea typeface="굴림"/>
                <a:cs typeface="+mn-cs"/>
              </a:rPr>
              <a:t>Then signal address line</a:t>
            </a:r>
            <a:endParaRPr lang="en-GB" altLang="ko-KR" sz="2000">
              <a:solidFill>
                <a:srgbClr val="0070c0"/>
              </a:solidFill>
              <a:latin typeface="Times New Roman"/>
              <a:ea typeface="굴림"/>
              <a:cs typeface="+mn-cs"/>
            </a:endParaRPr>
          </a:p>
          <a:p>
            <a:pPr lvl="2">
              <a:defRPr/>
            </a:pPr>
            <a:r>
              <a:rPr lang="en-GB" altLang="ko-KR" sz="1800">
                <a:latin typeface="Times New Roman"/>
                <a:ea typeface="굴림"/>
                <a:cs typeface="+mn-cs"/>
              </a:rPr>
              <a:t>Transfers charge to capacitor</a:t>
            </a:r>
            <a:endParaRPr lang="en-GB" altLang="ko-KR" sz="1800">
              <a:latin typeface="Times New Roman"/>
              <a:ea typeface="굴림"/>
              <a:cs typeface="+mn-cs"/>
            </a:endParaRPr>
          </a:p>
          <a:p>
            <a:pPr lvl="0">
              <a:defRPr/>
            </a:pPr>
            <a:r>
              <a:rPr lang="en-GB" altLang="ko-KR" sz="2400">
                <a:latin typeface="Times New Roman"/>
                <a:ea typeface="굴림"/>
                <a:cs typeface="+mn-cs"/>
              </a:rPr>
              <a:t>Read</a:t>
            </a:r>
            <a:endParaRPr lang="en-GB" altLang="ko-KR" sz="2400">
              <a:latin typeface="Times New Roman"/>
              <a:ea typeface="굴림"/>
              <a:cs typeface="+mn-cs"/>
            </a:endParaRPr>
          </a:p>
          <a:p>
            <a:pPr lvl="1">
              <a:defRPr/>
            </a:pPr>
            <a:r>
              <a:rPr lang="en-GB" altLang="ko-KR" sz="2000">
                <a:solidFill>
                  <a:srgbClr val="0070c0"/>
                </a:solidFill>
                <a:latin typeface="Times New Roman"/>
                <a:ea typeface="굴림"/>
                <a:cs typeface="+mn-cs"/>
              </a:rPr>
              <a:t>Address line selected</a:t>
            </a:r>
            <a:endParaRPr lang="en-GB" altLang="ko-KR" sz="2000">
              <a:solidFill>
                <a:srgbClr val="0070c0"/>
              </a:solidFill>
              <a:latin typeface="Times New Roman"/>
              <a:ea typeface="굴림"/>
              <a:cs typeface="+mn-cs"/>
            </a:endParaRPr>
          </a:p>
          <a:p>
            <a:pPr lvl="2">
              <a:defRPr/>
            </a:pPr>
            <a:r>
              <a:rPr lang="en-GB" altLang="ko-KR" sz="1800">
                <a:latin typeface="Times New Roman"/>
                <a:ea typeface="굴림"/>
                <a:cs typeface="+mn-cs"/>
              </a:rPr>
              <a:t>transistor turns on</a:t>
            </a:r>
            <a:endParaRPr lang="en-GB" altLang="ko-KR" sz="1800">
              <a:latin typeface="Times New Roman"/>
              <a:ea typeface="굴림"/>
              <a:cs typeface="+mn-cs"/>
            </a:endParaRPr>
          </a:p>
          <a:p>
            <a:pPr lvl="1">
              <a:defRPr/>
            </a:pPr>
            <a:r>
              <a:rPr lang="en-GB" altLang="ko-KR" sz="2000">
                <a:solidFill>
                  <a:srgbClr val="0070c0"/>
                </a:solidFill>
                <a:latin typeface="Times New Roman"/>
                <a:ea typeface="굴림"/>
                <a:cs typeface="+mn-cs"/>
              </a:rPr>
              <a:t>Charge from capacitor fed via bit line to sense amplifier</a:t>
            </a:r>
            <a:endParaRPr lang="en-GB" altLang="ko-KR" sz="2000">
              <a:solidFill>
                <a:srgbClr val="0070c0"/>
              </a:solidFill>
              <a:latin typeface="Times New Roman"/>
              <a:ea typeface="굴림"/>
              <a:cs typeface="+mn-cs"/>
            </a:endParaRPr>
          </a:p>
          <a:p>
            <a:pPr lvl="2">
              <a:defRPr/>
            </a:pPr>
            <a:r>
              <a:rPr lang="en-GB" altLang="ko-KR" sz="1800">
                <a:latin typeface="Times New Roman"/>
                <a:ea typeface="굴림"/>
                <a:cs typeface="+mn-cs"/>
              </a:rPr>
              <a:t>Compares with reference value to determine 0 or 1</a:t>
            </a:r>
            <a:endParaRPr lang="en-GB" altLang="ko-KR" sz="1800">
              <a:latin typeface="Times New Roman"/>
              <a:ea typeface="굴림"/>
              <a:cs typeface="+mn-cs"/>
            </a:endParaRPr>
          </a:p>
          <a:p>
            <a:pPr lvl="1">
              <a:defRPr/>
            </a:pPr>
            <a:r>
              <a:rPr lang="en-GB" altLang="ko-KR" sz="2000">
                <a:solidFill>
                  <a:srgbClr val="0070c0"/>
                </a:solidFill>
                <a:latin typeface="Times New Roman"/>
                <a:ea typeface="굴림"/>
                <a:cs typeface="+mn-cs"/>
              </a:rPr>
              <a:t>Capacitor charge must be restored</a:t>
            </a:r>
            <a:endParaRPr lang="en-GB" altLang="ko-KR" sz="2000">
              <a:solidFill>
                <a:srgbClr val="0070c0"/>
              </a:solidFill>
              <a:latin typeface="Times New Roman"/>
              <a:ea typeface="굴림"/>
              <a:cs typeface="+mn-cs"/>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53514BB2-5D80-44DB-BC01-CAD675F91394}"/>
              </a:ext>
            </a:extLst>
          </p:cNvPr>
          <p:cNvSpPr>
            <a:spLocks noGrp="1" noChangeArrowheads="1"/>
          </p:cNvSpPr>
          <p:nvPr>
            <p:ph type="title"/>
          </p:nvPr>
        </p:nvSpPr>
        <p:spPr/>
        <p:txBody>
          <a:bodyPr/>
          <a:lstStyle/>
          <a:p>
            <a:r>
              <a:rPr lang="en-US" altLang="ko-KR">
                <a:ea typeface="굴림" panose="020B0600000101010101" pitchFamily="50" charset="-127"/>
              </a:rPr>
              <a:t>Ferrite Core Memory</a:t>
            </a:r>
          </a:p>
        </p:txBody>
      </p:sp>
      <p:sp>
        <p:nvSpPr>
          <p:cNvPr id="13315" name="Rectangle 5">
            <a:extLst>
              <a:ext uri="{FF2B5EF4-FFF2-40B4-BE49-F238E27FC236}">
                <a16:creationId xmlns:a16="http://schemas.microsoft.com/office/drawing/2014/main" id="{E0AAD4F3-C46F-4149-8694-AE0216DD35BD}"/>
              </a:ext>
            </a:extLst>
          </p:cNvPr>
          <p:cNvSpPr>
            <a:spLocks noGrp="1" noChangeArrowheads="1"/>
          </p:cNvSpPr>
          <p:nvPr>
            <p:ph type="body" idx="1"/>
          </p:nvPr>
        </p:nvSpPr>
        <p:spPr>
          <a:xfrm>
            <a:off x="457200" y="928688"/>
            <a:ext cx="8178800" cy="5638800"/>
          </a:xfrm>
        </p:spPr>
        <p:txBody>
          <a:bodyPr/>
          <a:lstStyle/>
          <a:p>
            <a:r>
              <a:rPr lang="en-US" altLang="ko-KR" sz="2400">
                <a:ea typeface="굴림" panose="020B0600000101010101" pitchFamily="50" charset="-127"/>
              </a:rPr>
              <a:t>Principle</a:t>
            </a:r>
            <a:endParaRPr lang="en-GB" altLang="ko-KR" sz="2400">
              <a:ea typeface="굴림" panose="020B0600000101010101" pitchFamily="50" charset="-127"/>
            </a:endParaRPr>
          </a:p>
          <a:p>
            <a:pPr lvl="1"/>
            <a:r>
              <a:rPr lang="en-US" altLang="ko-KR" sz="1600">
                <a:solidFill>
                  <a:srgbClr val="3333CC"/>
                </a:solidFill>
                <a:ea typeface="굴림" panose="020B0600000101010101" pitchFamily="50" charset="-127"/>
              </a:rPr>
              <a:t>The major property that makes core memory work is </a:t>
            </a:r>
            <a:r>
              <a:rPr lang="en-US" altLang="ko-KR" sz="1600">
                <a:solidFill>
                  <a:srgbClr val="3333CC"/>
                </a:solidFill>
                <a:highlight>
                  <a:srgbClr val="FFFF00"/>
                </a:highlight>
                <a:ea typeface="굴림" panose="020B0600000101010101" pitchFamily="50" charset="-127"/>
              </a:rPr>
              <a:t>the hysteresis of the magnetic material </a:t>
            </a:r>
            <a:r>
              <a:rPr lang="en-US" altLang="ko-KR" sz="1600">
                <a:solidFill>
                  <a:srgbClr val="3333CC"/>
                </a:solidFill>
                <a:ea typeface="굴림" panose="020B0600000101010101" pitchFamily="50" charset="-127"/>
              </a:rPr>
              <a:t>used to make the toroid. </a:t>
            </a:r>
          </a:p>
          <a:p>
            <a:pPr lvl="1"/>
            <a:r>
              <a:rPr lang="en-US" altLang="ko-KR" sz="1600">
                <a:solidFill>
                  <a:srgbClr val="3333CC"/>
                </a:solidFill>
                <a:ea typeface="굴림" panose="020B0600000101010101" pitchFamily="50" charset="-127"/>
              </a:rPr>
              <a:t>Only a magnetic field over a certain intensity (generated by the wires through the core) </a:t>
            </a:r>
            <a:r>
              <a:rPr lang="en-US" altLang="ko-KR" sz="1600">
                <a:solidFill>
                  <a:srgbClr val="3333CC"/>
                </a:solidFill>
                <a:highlight>
                  <a:srgbClr val="FFFF00"/>
                </a:highlight>
                <a:ea typeface="굴림" panose="020B0600000101010101" pitchFamily="50" charset="-127"/>
              </a:rPr>
              <a:t>will cause the core to change its magnetic polarity (or state from '0' to '1'). </a:t>
            </a:r>
          </a:p>
          <a:p>
            <a:pPr lvl="1"/>
            <a:r>
              <a:rPr lang="en-US" altLang="ko-KR" sz="1600">
                <a:solidFill>
                  <a:srgbClr val="3333CC"/>
                </a:solidFill>
                <a:ea typeface="굴림" panose="020B0600000101010101" pitchFamily="50" charset="-127"/>
              </a:rPr>
              <a:t>To select a memory location, one of the X and one of the Y lines are driven with half the current required to cause this change. </a:t>
            </a:r>
          </a:p>
          <a:p>
            <a:pPr lvl="1"/>
            <a:r>
              <a:rPr lang="en-US" altLang="ko-KR" sz="1600">
                <a:solidFill>
                  <a:srgbClr val="3333CC"/>
                </a:solidFill>
                <a:ea typeface="굴림" panose="020B0600000101010101" pitchFamily="50" charset="-127"/>
              </a:rPr>
              <a:t>Only the combined magnetic field generated at the intersection the driven X and Y lines is sufficient to change the state of the bit.</a:t>
            </a:r>
            <a:endParaRPr lang="en-GB" altLang="ko-KR" sz="1600">
              <a:solidFill>
                <a:srgbClr val="3333CC"/>
              </a:solidFill>
              <a:ea typeface="굴림" panose="020B0600000101010101" pitchFamily="50" charset="-127"/>
            </a:endParaRPr>
          </a:p>
          <a:p>
            <a:pPr lvl="1"/>
            <a:endParaRPr lang="ko-KR" altLang="en-US" sz="1600">
              <a:solidFill>
                <a:srgbClr val="3333CC"/>
              </a:solidFill>
              <a:ea typeface="굴림" panose="020B0600000101010101" pitchFamily="50" charset="-127"/>
            </a:endParaRPr>
          </a:p>
        </p:txBody>
      </p:sp>
      <p:pic>
        <p:nvPicPr>
          <p:cNvPr id="13316" name="Picture 7" descr="Image:Magnetic core.jpg">
            <a:hlinkClick r:id="rId3"/>
            <a:extLst>
              <a:ext uri="{FF2B5EF4-FFF2-40B4-BE49-F238E27FC236}">
                <a16:creationId xmlns:a16="http://schemas.microsoft.com/office/drawing/2014/main" id="{4981E18D-B62F-4C20-B2D4-B76CABA56F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6063" y="3844925"/>
            <a:ext cx="3522662" cy="264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Text Box 9">
            <a:extLst>
              <a:ext uri="{FF2B5EF4-FFF2-40B4-BE49-F238E27FC236}">
                <a16:creationId xmlns:a16="http://schemas.microsoft.com/office/drawing/2014/main" id="{BF132AE1-E4DF-477D-9D33-352F46D048A1}"/>
              </a:ext>
            </a:extLst>
          </p:cNvPr>
          <p:cNvSpPr txBox="1">
            <a:spLocks noChangeArrowheads="1"/>
          </p:cNvSpPr>
          <p:nvPr/>
        </p:nvSpPr>
        <p:spPr bwMode="auto">
          <a:xfrm>
            <a:off x="4586288" y="6583363"/>
            <a:ext cx="166846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200">
                <a:latin typeface="Times New Roman" panose="02020603050405020304" pitchFamily="18" charset="0"/>
                <a:ea typeface="굴림" panose="020B0600000101010101" pitchFamily="50" charset="-127"/>
              </a:rPr>
              <a:t>Exerted from Wikipedia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C4765D8-4861-48E0-B1BD-429EE1ECC427}"/>
              </a:ext>
            </a:extLst>
          </p:cNvPr>
          <p:cNvSpPr>
            <a:spLocks noGrp="1" noChangeArrowheads="1"/>
          </p:cNvSpPr>
          <p:nvPr>
            <p:ph type="title"/>
          </p:nvPr>
        </p:nvSpPr>
        <p:spPr/>
        <p:txBody>
          <a:bodyPr/>
          <a:lstStyle/>
          <a:p>
            <a:r>
              <a:rPr lang="en-US" altLang="ko-KR">
                <a:ea typeface="굴림" panose="020B0600000101010101" pitchFamily="50" charset="-127"/>
              </a:rPr>
              <a:t>Ferrite Core Memory</a:t>
            </a:r>
          </a:p>
        </p:txBody>
      </p:sp>
      <p:sp>
        <p:nvSpPr>
          <p:cNvPr id="15363" name="Rectangle 5">
            <a:extLst>
              <a:ext uri="{FF2B5EF4-FFF2-40B4-BE49-F238E27FC236}">
                <a16:creationId xmlns:a16="http://schemas.microsoft.com/office/drawing/2014/main" id="{299A9CEF-1E52-4966-97B0-1E365E11DB7A}"/>
              </a:ext>
            </a:extLst>
          </p:cNvPr>
          <p:cNvSpPr>
            <a:spLocks noGrp="1" noChangeArrowheads="1"/>
          </p:cNvSpPr>
          <p:nvPr>
            <p:ph type="body" idx="1"/>
          </p:nvPr>
        </p:nvSpPr>
        <p:spPr>
          <a:xfrm>
            <a:off x="457200" y="928688"/>
            <a:ext cx="8178800" cy="5638800"/>
          </a:xfrm>
        </p:spPr>
        <p:txBody>
          <a:bodyPr/>
          <a:lstStyle/>
          <a:p>
            <a:pPr lvl="1"/>
            <a:r>
              <a:rPr lang="ko-KR" altLang="en-US" sz="1600">
                <a:solidFill>
                  <a:srgbClr val="3333CC"/>
                </a:solidFill>
                <a:ea typeface="굴림" panose="020B0600000101010101" pitchFamily="50" charset="-127"/>
              </a:rPr>
              <a:t> </a:t>
            </a:r>
          </a:p>
        </p:txBody>
      </p:sp>
      <p:sp>
        <p:nvSpPr>
          <p:cNvPr id="15364" name="Text Box 9">
            <a:extLst>
              <a:ext uri="{FF2B5EF4-FFF2-40B4-BE49-F238E27FC236}">
                <a16:creationId xmlns:a16="http://schemas.microsoft.com/office/drawing/2014/main" id="{93232652-5E12-455C-AF39-8D92FA807BE7}"/>
              </a:ext>
            </a:extLst>
          </p:cNvPr>
          <p:cNvSpPr txBox="1">
            <a:spLocks noChangeArrowheads="1"/>
          </p:cNvSpPr>
          <p:nvPr/>
        </p:nvSpPr>
        <p:spPr bwMode="auto">
          <a:xfrm>
            <a:off x="4586288" y="6583363"/>
            <a:ext cx="1674859"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200">
                <a:highlight>
                  <a:srgbClr val="FFFF00"/>
                </a:highlight>
                <a:latin typeface="Times New Roman" panose="02020603050405020304" pitchFamily="18" charset="0"/>
                <a:ea typeface="굴림" panose="020B0600000101010101" pitchFamily="50" charset="-127"/>
              </a:rPr>
              <a:t>Exerted from Wikipedia</a:t>
            </a:r>
          </a:p>
        </p:txBody>
      </p:sp>
      <p:sp>
        <p:nvSpPr>
          <p:cNvPr id="2" name="직사각형 1">
            <a:extLst>
              <a:ext uri="{FF2B5EF4-FFF2-40B4-BE49-F238E27FC236}">
                <a16:creationId xmlns:a16="http://schemas.microsoft.com/office/drawing/2014/main" id="{F7C77590-4100-44BB-9CC9-D811058506F3}"/>
              </a:ext>
            </a:extLst>
          </p:cNvPr>
          <p:cNvSpPr/>
          <p:nvPr/>
        </p:nvSpPr>
        <p:spPr>
          <a:xfrm>
            <a:off x="6846232" y="2632190"/>
            <a:ext cx="1840568" cy="253916"/>
          </a:xfrm>
          <a:prstGeom prst="rect">
            <a:avLst/>
          </a:prstGeom>
        </p:spPr>
        <p:txBody>
          <a:bodyPr wrap="none">
            <a:spAutoFit/>
          </a:bodyPr>
          <a:lstStyle/>
          <a:p>
            <a:r>
              <a:rPr lang="en-US" altLang="ko-KR" sz="1050">
                <a:solidFill>
                  <a:srgbClr val="404041"/>
                </a:solidFill>
                <a:latin typeface="Lato"/>
              </a:rPr>
              <a:t>Magnetisation or B-H Curve</a:t>
            </a:r>
            <a:endParaRPr lang="en-US" altLang="ko-KR" sz="1050" i="0">
              <a:solidFill>
                <a:srgbClr val="404041"/>
              </a:solidFill>
              <a:effectLst/>
              <a:latin typeface="Lato"/>
            </a:endParaRPr>
          </a:p>
        </p:txBody>
      </p:sp>
      <p:grpSp>
        <p:nvGrpSpPr>
          <p:cNvPr id="4" name="그룹 3">
            <a:extLst>
              <a:ext uri="{FF2B5EF4-FFF2-40B4-BE49-F238E27FC236}">
                <a16:creationId xmlns:a16="http://schemas.microsoft.com/office/drawing/2014/main" id="{0BC3DCF4-A81D-48CE-8E03-A2835CBD7EDC}"/>
              </a:ext>
            </a:extLst>
          </p:cNvPr>
          <p:cNvGrpSpPr/>
          <p:nvPr/>
        </p:nvGrpSpPr>
        <p:grpSpPr>
          <a:xfrm>
            <a:off x="107504" y="1179513"/>
            <a:ext cx="6305550" cy="5403850"/>
            <a:chOff x="107504" y="1179513"/>
            <a:chExt cx="6305550" cy="5403850"/>
          </a:xfrm>
        </p:grpSpPr>
        <p:pic>
          <p:nvPicPr>
            <p:cNvPr id="15365" name="그림 1">
              <a:extLst>
                <a:ext uri="{FF2B5EF4-FFF2-40B4-BE49-F238E27FC236}">
                  <a16:creationId xmlns:a16="http://schemas.microsoft.com/office/drawing/2014/main" id="{4B08D0D0-9FA8-45C5-9518-805559AFAF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1179513"/>
              <a:ext cx="6305550" cy="540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4FB9EF26-0DBA-437C-9A2B-1EA285674E54}"/>
                </a:ext>
              </a:extLst>
            </p:cNvPr>
            <p:cNvSpPr txBox="1"/>
            <p:nvPr/>
          </p:nvSpPr>
          <p:spPr>
            <a:xfrm>
              <a:off x="4716016" y="1700808"/>
              <a:ext cx="867954" cy="276999"/>
            </a:xfrm>
            <a:prstGeom prst="rect">
              <a:avLst/>
            </a:prstGeom>
            <a:noFill/>
          </p:spPr>
          <p:txBody>
            <a:bodyPr wrap="square" rtlCol="0">
              <a:spAutoFit/>
            </a:bodyPr>
            <a:lstStyle/>
            <a:p>
              <a:pPr algn="ctr"/>
              <a:r>
                <a:rPr lang="en-US" altLang="ko-KR" sz="1200">
                  <a:highlight>
                    <a:srgbClr val="FFFF00"/>
                  </a:highlight>
                </a:rPr>
                <a:t>(H</a:t>
              </a:r>
              <a:r>
                <a:rPr lang="en-US" altLang="ko-KR" sz="1200" baseline="-25000">
                  <a:highlight>
                    <a:srgbClr val="FFFF00"/>
                  </a:highlight>
                </a:rPr>
                <a:t>0</a:t>
              </a:r>
              <a:r>
                <a:rPr lang="en-US" altLang="ko-KR" sz="1200">
                  <a:highlight>
                    <a:srgbClr val="FFFF00"/>
                  </a:highlight>
                </a:rPr>
                <a:t>,B</a:t>
              </a:r>
              <a:r>
                <a:rPr lang="en-US" altLang="ko-KR" sz="1200" baseline="-25000">
                  <a:highlight>
                    <a:srgbClr val="FFFF00"/>
                  </a:highlight>
                </a:rPr>
                <a:t>0</a:t>
              </a:r>
              <a:r>
                <a:rPr lang="en-US" altLang="ko-KR" sz="1200">
                  <a:highlight>
                    <a:srgbClr val="FFFF00"/>
                  </a:highlight>
                </a:rPr>
                <a:t>)</a:t>
              </a:r>
              <a:endParaRPr lang="ko-KR" altLang="en-US" sz="1200">
                <a:highlight>
                  <a:srgbClr val="FFFF00"/>
                </a:highlight>
              </a:endParaRPr>
            </a:p>
          </p:txBody>
        </p:sp>
        <p:sp>
          <p:nvSpPr>
            <p:cNvPr id="9" name="TextBox 8">
              <a:extLst>
                <a:ext uri="{FF2B5EF4-FFF2-40B4-BE49-F238E27FC236}">
                  <a16:creationId xmlns:a16="http://schemas.microsoft.com/office/drawing/2014/main" id="{F8745043-3D92-4E5D-BBE9-B0ED73F8A819}"/>
                </a:ext>
              </a:extLst>
            </p:cNvPr>
            <p:cNvSpPr txBox="1"/>
            <p:nvPr/>
          </p:nvSpPr>
          <p:spPr>
            <a:xfrm>
              <a:off x="1547664" y="4221088"/>
              <a:ext cx="867954" cy="276999"/>
            </a:xfrm>
            <a:prstGeom prst="rect">
              <a:avLst/>
            </a:prstGeom>
            <a:noFill/>
          </p:spPr>
          <p:txBody>
            <a:bodyPr wrap="square" rtlCol="0">
              <a:spAutoFit/>
            </a:bodyPr>
            <a:lstStyle/>
            <a:p>
              <a:pPr algn="ctr"/>
              <a:r>
                <a:rPr lang="en-US" altLang="ko-KR" sz="1200">
                  <a:highlight>
                    <a:srgbClr val="FFFF00"/>
                  </a:highlight>
                </a:rPr>
                <a:t>(-H</a:t>
              </a:r>
              <a:r>
                <a:rPr lang="en-US" altLang="ko-KR" sz="1200" baseline="-25000">
                  <a:highlight>
                    <a:srgbClr val="FFFF00"/>
                  </a:highlight>
                </a:rPr>
                <a:t>0</a:t>
              </a:r>
              <a:r>
                <a:rPr lang="en-US" altLang="ko-KR" sz="1200">
                  <a:highlight>
                    <a:srgbClr val="FFFF00"/>
                  </a:highlight>
                </a:rPr>
                <a:t>,-B</a:t>
              </a:r>
              <a:r>
                <a:rPr lang="en-US" altLang="ko-KR" sz="1200" baseline="-25000">
                  <a:highlight>
                    <a:srgbClr val="FFFF00"/>
                  </a:highlight>
                </a:rPr>
                <a:t>0</a:t>
              </a:r>
              <a:r>
                <a:rPr lang="en-US" altLang="ko-KR" sz="1200">
                  <a:highlight>
                    <a:srgbClr val="FFFF00"/>
                  </a:highlight>
                </a:rPr>
                <a:t>)</a:t>
              </a:r>
              <a:endParaRPr lang="ko-KR" altLang="en-US" sz="1200">
                <a:highlight>
                  <a:srgbClr val="FFFF00"/>
                </a:highlight>
              </a:endParaRPr>
            </a:p>
          </p:txBody>
        </p:sp>
      </p:grpSp>
      <p:pic>
        <p:nvPicPr>
          <p:cNvPr id="43010" name="Picture 2" descr="magnetic hysteresis curves">
            <a:extLst>
              <a:ext uri="{FF2B5EF4-FFF2-40B4-BE49-F238E27FC236}">
                <a16:creationId xmlns:a16="http://schemas.microsoft.com/office/drawing/2014/main" id="{01934922-B397-4560-B91D-DFD3546B78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2340" y="223805"/>
            <a:ext cx="3307659" cy="23701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B9E79BA-A59B-4A6D-9A00-A37F60D71A3A}"/>
              </a:ext>
            </a:extLst>
          </p:cNvPr>
          <p:cNvSpPr>
            <a:spLocks noGrp="1" noChangeArrowheads="1"/>
          </p:cNvSpPr>
          <p:nvPr>
            <p:ph type="title"/>
          </p:nvPr>
        </p:nvSpPr>
        <p:spPr/>
        <p:txBody>
          <a:bodyPr/>
          <a:lstStyle/>
          <a:p>
            <a:r>
              <a:rPr lang="en-US" altLang="ko-KR">
                <a:ea typeface="굴림" panose="020B0600000101010101" pitchFamily="50" charset="-127"/>
              </a:rPr>
              <a:t>Ferrite Core Memory</a:t>
            </a:r>
          </a:p>
        </p:txBody>
      </p:sp>
      <p:sp>
        <p:nvSpPr>
          <p:cNvPr id="17411" name="Rectangle 5">
            <a:extLst>
              <a:ext uri="{FF2B5EF4-FFF2-40B4-BE49-F238E27FC236}">
                <a16:creationId xmlns:a16="http://schemas.microsoft.com/office/drawing/2014/main" id="{B1A5887C-C045-4F8F-9537-B093B8EB716A}"/>
              </a:ext>
            </a:extLst>
          </p:cNvPr>
          <p:cNvSpPr>
            <a:spLocks noGrp="1" noChangeArrowheads="1"/>
          </p:cNvSpPr>
          <p:nvPr>
            <p:ph type="body" idx="1"/>
          </p:nvPr>
        </p:nvSpPr>
        <p:spPr>
          <a:xfrm>
            <a:off x="457200" y="928688"/>
            <a:ext cx="8178800" cy="5638800"/>
          </a:xfrm>
        </p:spPr>
        <p:txBody>
          <a:bodyPr/>
          <a:lstStyle/>
          <a:p>
            <a:pPr lvl="1"/>
            <a:r>
              <a:rPr lang="ko-KR" altLang="en-US" sz="1600">
                <a:solidFill>
                  <a:srgbClr val="3333CC"/>
                </a:solidFill>
                <a:ea typeface="굴림" panose="020B0600000101010101" pitchFamily="50" charset="-127"/>
              </a:rPr>
              <a:t> </a:t>
            </a:r>
          </a:p>
        </p:txBody>
      </p:sp>
      <p:sp>
        <p:nvSpPr>
          <p:cNvPr id="17412" name="Text Box 9">
            <a:extLst>
              <a:ext uri="{FF2B5EF4-FFF2-40B4-BE49-F238E27FC236}">
                <a16:creationId xmlns:a16="http://schemas.microsoft.com/office/drawing/2014/main" id="{ADFB6ADE-CE2D-4C63-B2CD-E66C36B68425}"/>
              </a:ext>
            </a:extLst>
          </p:cNvPr>
          <p:cNvSpPr txBox="1">
            <a:spLocks noChangeArrowheads="1"/>
          </p:cNvSpPr>
          <p:nvPr/>
        </p:nvSpPr>
        <p:spPr bwMode="auto">
          <a:xfrm>
            <a:off x="2987824" y="3441283"/>
            <a:ext cx="1674859"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200">
                <a:highlight>
                  <a:srgbClr val="FFFF00"/>
                </a:highlight>
                <a:latin typeface="Times New Roman" panose="02020603050405020304" pitchFamily="18" charset="0"/>
                <a:ea typeface="굴림" panose="020B0600000101010101" pitchFamily="50" charset="-127"/>
              </a:rPr>
              <a:t>Exerted from Wikipedia</a:t>
            </a:r>
          </a:p>
        </p:txBody>
      </p:sp>
      <p:pic>
        <p:nvPicPr>
          <p:cNvPr id="17413" name="그림 2">
            <a:extLst>
              <a:ext uri="{FF2B5EF4-FFF2-40B4-BE49-F238E27FC236}">
                <a16:creationId xmlns:a16="http://schemas.microsoft.com/office/drawing/2014/main" id="{532DA70C-9504-4EEA-99FA-EA8133F0A9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727" y="1066483"/>
            <a:ext cx="6336506" cy="2401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1F8A39A0-6BD2-48E4-B0BC-D1A44ABA877C}"/>
              </a:ext>
            </a:extLst>
          </p:cNvPr>
          <p:cNvSpPr>
            <a:spLocks noGrp="1" noChangeArrowheads="1"/>
          </p:cNvSpPr>
          <p:nvPr>
            <p:ph type="title"/>
          </p:nvPr>
        </p:nvSpPr>
        <p:spPr/>
        <p:txBody>
          <a:bodyPr/>
          <a:lstStyle/>
          <a:p>
            <a:r>
              <a:rPr lang="en-US" altLang="ko-KR">
                <a:ea typeface="굴림" panose="020B0600000101010101" pitchFamily="50" charset="-127"/>
              </a:rPr>
              <a:t>Ferrite Core Stack</a:t>
            </a:r>
          </a:p>
        </p:txBody>
      </p:sp>
      <p:pic>
        <p:nvPicPr>
          <p:cNvPr id="19459" name="Picture 3" descr="cores_on_a_matrix_of_wires">
            <a:extLst>
              <a:ext uri="{FF2B5EF4-FFF2-40B4-BE49-F238E27FC236}">
                <a16:creationId xmlns:a16="http://schemas.microsoft.com/office/drawing/2014/main" id="{5183E9E4-5698-4476-B9D6-494234FBE1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700213"/>
            <a:ext cx="4724400" cy="415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4" descr="core_memory_stack_16K_PDP11">
            <a:extLst>
              <a:ext uri="{FF2B5EF4-FFF2-40B4-BE49-F238E27FC236}">
                <a16:creationId xmlns:a16="http://schemas.microsoft.com/office/drawing/2014/main" id="{64681FA3-F7DE-44B7-86F4-1EB56D2D32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1712913"/>
            <a:ext cx="3810000" cy="319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Text Box 5">
            <a:extLst>
              <a:ext uri="{FF2B5EF4-FFF2-40B4-BE49-F238E27FC236}">
                <a16:creationId xmlns:a16="http://schemas.microsoft.com/office/drawing/2014/main" id="{8A8493B7-B5E4-4B0E-93C7-952200664A17}"/>
              </a:ext>
            </a:extLst>
          </p:cNvPr>
          <p:cNvSpPr txBox="1">
            <a:spLocks noChangeArrowheads="1"/>
          </p:cNvSpPr>
          <p:nvPr/>
        </p:nvSpPr>
        <p:spPr bwMode="auto">
          <a:xfrm>
            <a:off x="5818188" y="4989513"/>
            <a:ext cx="24780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eaLnBrk="1" hangingPunct="1">
              <a:spcBef>
                <a:spcPct val="0"/>
              </a:spcBef>
              <a:buClrTx/>
              <a:buFontTx/>
              <a:buNone/>
            </a:pPr>
            <a:r>
              <a:rPr kumimoji="0" lang="en-US" altLang="ko-KR" sz="2400" b="1">
                <a:latin typeface="Times New Roman" panose="02020603050405020304" pitchFamily="18" charset="0"/>
                <a:ea typeface="굴림" panose="020B0600000101010101" pitchFamily="50" charset="-127"/>
              </a:rPr>
              <a:t>16Kword PDP-11</a:t>
            </a:r>
            <a:br>
              <a:rPr kumimoji="0" lang="en-US" altLang="ko-KR" sz="2400" b="1">
                <a:latin typeface="Times New Roman" panose="02020603050405020304" pitchFamily="18" charset="0"/>
                <a:ea typeface="굴림" panose="020B0600000101010101" pitchFamily="50" charset="-127"/>
              </a:rPr>
            </a:br>
            <a:r>
              <a:rPr kumimoji="0" lang="en-US" altLang="ko-KR" sz="2400" b="1">
                <a:latin typeface="Times New Roman" panose="02020603050405020304" pitchFamily="18" charset="0"/>
                <a:ea typeface="굴림" panose="020B0600000101010101" pitchFamily="50" charset="-127"/>
              </a:rPr>
              <a:t>Core Module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DFCC0222-3CE3-4ECD-B32A-ECD97DB8C314}"/>
              </a:ext>
            </a:extLst>
          </p:cNvPr>
          <p:cNvSpPr>
            <a:spLocks noGrp="1" noChangeArrowheads="1"/>
          </p:cNvSpPr>
          <p:nvPr>
            <p:ph type="title"/>
          </p:nvPr>
        </p:nvSpPr>
        <p:spPr/>
        <p:txBody>
          <a:bodyPr/>
          <a:lstStyle/>
          <a:p>
            <a:r>
              <a:rPr lang="en-GB" altLang="ko-KR">
                <a:ea typeface="굴림" panose="020B0600000101010101" pitchFamily="50" charset="-127"/>
              </a:rPr>
              <a:t>Semiconductor Memory Types</a:t>
            </a:r>
          </a:p>
        </p:txBody>
      </p:sp>
      <p:pic>
        <p:nvPicPr>
          <p:cNvPr id="21507" name="Picture 5">
            <a:extLst>
              <a:ext uri="{FF2B5EF4-FFF2-40B4-BE49-F238E27FC236}">
                <a16:creationId xmlns:a16="http://schemas.microsoft.com/office/drawing/2014/main" id="{0DD282D5-B908-4C6B-8A1D-ABC6E8D59C02}"/>
              </a:ext>
            </a:extLst>
          </p:cNvPr>
          <p:cNvPicPr>
            <a:picLocks noChangeAspect="1" noChangeArrowheads="1"/>
          </p:cNvPicPr>
          <p:nvPr/>
        </p:nvPicPr>
        <p:blipFill>
          <a:blip r:embed="rId3">
            <a:lum contrast="12000"/>
            <a:extLst>
              <a:ext uri="{28A0092B-C50C-407E-A947-70E740481C1C}">
                <a14:useLocalDpi xmlns:a14="http://schemas.microsoft.com/office/drawing/2010/main" val="0"/>
              </a:ext>
            </a:extLst>
          </a:blip>
          <a:srcRect/>
          <a:stretch>
            <a:fillRect/>
          </a:stretch>
        </p:blipFill>
        <p:spPr bwMode="auto">
          <a:xfrm>
            <a:off x="899592" y="1268760"/>
            <a:ext cx="7045920" cy="26642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0D828B56-B40C-42EC-A8D5-B6D4FD285A60}"/>
              </a:ext>
            </a:extLst>
          </p:cNvPr>
          <p:cNvSpPr>
            <a:spLocks noGrp="1" noChangeArrowheads="1"/>
          </p:cNvSpPr>
          <p:nvPr>
            <p:ph type="title"/>
          </p:nvPr>
        </p:nvSpPr>
        <p:spPr/>
        <p:txBody>
          <a:bodyPr/>
          <a:lstStyle/>
          <a:p>
            <a:r>
              <a:rPr lang="en-GB" altLang="ko-KR">
                <a:ea typeface="굴림" panose="020B0600000101010101" pitchFamily="50" charset="-127"/>
              </a:rPr>
              <a:t>Semiconductor Memory</a:t>
            </a:r>
          </a:p>
        </p:txBody>
      </p:sp>
      <p:sp>
        <p:nvSpPr>
          <p:cNvPr id="23555" name="Rectangle 5">
            <a:extLst>
              <a:ext uri="{FF2B5EF4-FFF2-40B4-BE49-F238E27FC236}">
                <a16:creationId xmlns:a16="http://schemas.microsoft.com/office/drawing/2014/main" id="{B1E6B800-DA51-4755-88FC-0DDF0388F360}"/>
              </a:ext>
            </a:extLst>
          </p:cNvPr>
          <p:cNvSpPr>
            <a:spLocks noGrp="1" noChangeArrowheads="1"/>
          </p:cNvSpPr>
          <p:nvPr>
            <p:ph type="body" idx="1"/>
          </p:nvPr>
        </p:nvSpPr>
        <p:spPr/>
        <p:txBody>
          <a:bodyPr/>
          <a:lstStyle/>
          <a:p>
            <a:r>
              <a:rPr lang="en-GB" altLang="ko-KR">
                <a:ea typeface="굴림" panose="020B0600000101010101" pitchFamily="50" charset="-127"/>
              </a:rPr>
              <a:t>RAM </a:t>
            </a:r>
          </a:p>
          <a:p>
            <a:pPr lvl="1"/>
            <a:r>
              <a:rPr lang="en-GB" altLang="ko-KR">
                <a:ea typeface="굴림" panose="020B0600000101010101" pitchFamily="50" charset="-127"/>
              </a:rPr>
              <a:t>Misnamed as all semiconductor memory is random access</a:t>
            </a:r>
          </a:p>
          <a:p>
            <a:pPr lvl="1"/>
            <a:r>
              <a:rPr lang="en-GB" altLang="ko-KR">
                <a:highlight>
                  <a:srgbClr val="FFFF00"/>
                </a:highlight>
                <a:ea typeface="굴림" panose="020B0600000101010101" pitchFamily="50" charset="-127"/>
              </a:rPr>
              <a:t>Read/Write</a:t>
            </a:r>
          </a:p>
          <a:p>
            <a:pPr lvl="1"/>
            <a:r>
              <a:rPr lang="en-GB" altLang="ko-KR">
                <a:highlight>
                  <a:srgbClr val="FFFF00"/>
                </a:highlight>
                <a:ea typeface="굴림" panose="020B0600000101010101" pitchFamily="50" charset="-127"/>
              </a:rPr>
              <a:t>Volatile</a:t>
            </a:r>
          </a:p>
          <a:p>
            <a:pPr lvl="1"/>
            <a:r>
              <a:rPr lang="en-GB" altLang="ko-KR">
                <a:ea typeface="굴림" panose="020B0600000101010101" pitchFamily="50" charset="-127"/>
              </a:rPr>
              <a:t>Temporary storage</a:t>
            </a:r>
          </a:p>
          <a:p>
            <a:pPr lvl="1"/>
            <a:r>
              <a:rPr lang="en-GB" altLang="ko-KR">
                <a:ea typeface="굴림" panose="020B0600000101010101" pitchFamily="50" charset="-127"/>
              </a:rPr>
              <a:t>Static or dynamic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a:extLst>
              <a:ext uri="{FF2B5EF4-FFF2-40B4-BE49-F238E27FC236}">
                <a16:creationId xmlns:a16="http://schemas.microsoft.com/office/drawing/2014/main" id="{EC1664BA-45FA-4DC6-BD56-F90F9D8589DB}"/>
              </a:ext>
            </a:extLst>
          </p:cNvPr>
          <p:cNvSpPr>
            <a:spLocks noGrp="1" noChangeArrowheads="1"/>
          </p:cNvSpPr>
          <p:nvPr>
            <p:ph type="title"/>
          </p:nvPr>
        </p:nvSpPr>
        <p:spPr/>
        <p:txBody>
          <a:bodyPr/>
          <a:lstStyle/>
          <a:p>
            <a:r>
              <a:rPr lang="en-GB" altLang="ko-KR">
                <a:ea typeface="굴림" panose="020B0600000101010101" pitchFamily="50" charset="-127"/>
              </a:rPr>
              <a:t>Dynamic RAM</a:t>
            </a:r>
          </a:p>
        </p:txBody>
      </p:sp>
      <p:sp>
        <p:nvSpPr>
          <p:cNvPr id="25603" name="Rectangle 5">
            <a:extLst>
              <a:ext uri="{FF2B5EF4-FFF2-40B4-BE49-F238E27FC236}">
                <a16:creationId xmlns:a16="http://schemas.microsoft.com/office/drawing/2014/main" id="{A6492FDF-B893-4946-8EDF-A032DDE5EBB4}"/>
              </a:ext>
            </a:extLst>
          </p:cNvPr>
          <p:cNvSpPr>
            <a:spLocks noGrp="1" noChangeArrowheads="1"/>
          </p:cNvSpPr>
          <p:nvPr>
            <p:ph type="body" idx="1"/>
          </p:nvPr>
        </p:nvSpPr>
        <p:spPr/>
        <p:txBody>
          <a:bodyPr/>
          <a:lstStyle/>
          <a:p>
            <a:r>
              <a:rPr lang="en-GB" altLang="ko-KR" sz="2400">
                <a:ea typeface="굴림" panose="020B0600000101010101" pitchFamily="50" charset="-127"/>
              </a:rPr>
              <a:t>Bits stored as charge in capacitors</a:t>
            </a:r>
          </a:p>
          <a:p>
            <a:pPr lvl="1"/>
            <a:r>
              <a:rPr lang="en-GB" altLang="ko-KR" sz="2000">
                <a:solidFill>
                  <a:srgbClr val="3333CC"/>
                </a:solidFill>
                <a:ea typeface="굴림" panose="020B0600000101010101" pitchFamily="50" charset="-127"/>
              </a:rPr>
              <a:t>Charges leak</a:t>
            </a:r>
          </a:p>
          <a:p>
            <a:pPr lvl="1"/>
            <a:r>
              <a:rPr lang="en-GB" altLang="ko-KR" sz="2000">
                <a:solidFill>
                  <a:srgbClr val="3333CC"/>
                </a:solidFill>
                <a:ea typeface="굴림" panose="020B0600000101010101" pitchFamily="50" charset="-127"/>
              </a:rPr>
              <a:t>Need refreshing even when powered</a:t>
            </a:r>
          </a:p>
          <a:p>
            <a:pPr lvl="1"/>
            <a:r>
              <a:rPr lang="en-GB" altLang="ko-KR" sz="2000">
                <a:solidFill>
                  <a:srgbClr val="3333CC"/>
                </a:solidFill>
                <a:ea typeface="굴림" panose="020B0600000101010101" pitchFamily="50" charset="-127"/>
              </a:rPr>
              <a:t>Need refresh circuits</a:t>
            </a:r>
          </a:p>
          <a:p>
            <a:r>
              <a:rPr lang="en-GB" altLang="ko-KR" sz="2400">
                <a:ea typeface="굴림" panose="020B0600000101010101" pitchFamily="50" charset="-127"/>
              </a:rPr>
              <a:t>Simpler construction</a:t>
            </a:r>
          </a:p>
          <a:p>
            <a:pPr lvl="1"/>
            <a:r>
              <a:rPr lang="en-GB" altLang="ko-KR" sz="2000">
                <a:solidFill>
                  <a:srgbClr val="3333CC"/>
                </a:solidFill>
                <a:ea typeface="굴림" panose="020B0600000101010101" pitchFamily="50" charset="-127"/>
              </a:rPr>
              <a:t>Smaller per bit</a:t>
            </a:r>
          </a:p>
          <a:p>
            <a:pPr lvl="1"/>
            <a:r>
              <a:rPr lang="en-GB" altLang="ko-KR" sz="2000">
                <a:solidFill>
                  <a:srgbClr val="3333CC"/>
                </a:solidFill>
                <a:ea typeface="굴림" panose="020B0600000101010101" pitchFamily="50" charset="-127"/>
              </a:rPr>
              <a:t>Less expensive</a:t>
            </a:r>
          </a:p>
          <a:p>
            <a:r>
              <a:rPr lang="en-GB" altLang="ko-KR" sz="2400">
                <a:ea typeface="굴림" panose="020B0600000101010101" pitchFamily="50" charset="-127"/>
              </a:rPr>
              <a:t>Slower</a:t>
            </a:r>
          </a:p>
          <a:p>
            <a:r>
              <a:rPr lang="en-GB" altLang="ko-KR" sz="2400">
                <a:ea typeface="굴림" panose="020B0600000101010101" pitchFamily="50" charset="-127"/>
              </a:rPr>
              <a:t>Main memory</a:t>
            </a:r>
          </a:p>
          <a:p>
            <a:r>
              <a:rPr lang="en-GB" altLang="ko-KR" sz="2400">
                <a:ea typeface="굴림" panose="020B0600000101010101" pitchFamily="50" charset="-127"/>
              </a:rPr>
              <a:t>Essentially analogue</a:t>
            </a:r>
          </a:p>
          <a:p>
            <a:pPr lvl="1"/>
            <a:r>
              <a:rPr lang="en-GB" altLang="ko-KR" sz="2000">
                <a:solidFill>
                  <a:srgbClr val="3333CC"/>
                </a:solidFill>
                <a:ea typeface="굴림" panose="020B0600000101010101" pitchFamily="50" charset="-127"/>
              </a:rPr>
              <a:t>Level of charge determines value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a:extLst>
              <a:ext uri="{FF2B5EF4-FFF2-40B4-BE49-F238E27FC236}">
                <a16:creationId xmlns:a16="http://schemas.microsoft.com/office/drawing/2014/main" id="{C7D0D896-E7C8-4563-A523-514624D225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2575" y="1322388"/>
            <a:ext cx="5324475"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Rectangle 3">
            <a:extLst>
              <a:ext uri="{FF2B5EF4-FFF2-40B4-BE49-F238E27FC236}">
                <a16:creationId xmlns:a16="http://schemas.microsoft.com/office/drawing/2014/main" id="{0C7B832B-E821-4BF8-85CB-C0410FA3D2DE}"/>
              </a:ext>
            </a:extLst>
          </p:cNvPr>
          <p:cNvSpPr>
            <a:spLocks noGrp="1" noChangeArrowheads="1"/>
          </p:cNvSpPr>
          <p:nvPr>
            <p:ph type="title"/>
          </p:nvPr>
        </p:nvSpPr>
        <p:spPr/>
        <p:txBody>
          <a:bodyPr/>
          <a:lstStyle/>
          <a:p>
            <a:r>
              <a:rPr lang="en-GB" altLang="ko-KR">
                <a:ea typeface="굴림" panose="020B0600000101010101" pitchFamily="50" charset="-127"/>
              </a:rPr>
              <a:t>Dynamic RAM Structure</a:t>
            </a:r>
          </a:p>
        </p:txBody>
      </p:sp>
      <p:sp>
        <p:nvSpPr>
          <p:cNvPr id="27652" name="Rectangle 4">
            <a:extLst>
              <a:ext uri="{FF2B5EF4-FFF2-40B4-BE49-F238E27FC236}">
                <a16:creationId xmlns:a16="http://schemas.microsoft.com/office/drawing/2014/main" id="{3FE3D0CD-6C21-4427-823E-261D0CEB1E13}"/>
              </a:ext>
            </a:extLst>
          </p:cNvPr>
          <p:cNvSpPr>
            <a:spLocks noChangeArrowheads="1"/>
          </p:cNvSpPr>
          <p:nvPr/>
        </p:nvSpPr>
        <p:spPr bwMode="auto">
          <a:xfrm>
            <a:off x="6445250" y="2509838"/>
            <a:ext cx="2590800" cy="990600"/>
          </a:xfrm>
          <a:prstGeom prst="rect">
            <a:avLst/>
          </a:prstGeom>
          <a:solidFill>
            <a:srgbClr val="CCFFFF"/>
          </a:solidFill>
          <a:ln w="9525">
            <a:solidFill>
              <a:srgbClr val="000000"/>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ko-KR" sz="2400">
                <a:latin typeface="Times New Roman" panose="02020603050405020304" pitchFamily="18" charset="0"/>
                <a:ea typeface="굴림" panose="020B0600000101010101" pitchFamily="50" charset="-127"/>
              </a:rPr>
              <a:t>one transistor and </a:t>
            </a:r>
          </a:p>
          <a:p>
            <a:pPr algn="ctr">
              <a:spcBef>
                <a:spcPct val="0"/>
              </a:spcBef>
              <a:buClrTx/>
              <a:buFontTx/>
              <a:buNone/>
            </a:pPr>
            <a:r>
              <a:rPr kumimoji="0" lang="en-US" altLang="ko-KR" sz="2400">
                <a:latin typeface="Times New Roman" panose="02020603050405020304" pitchFamily="18" charset="0"/>
                <a:ea typeface="굴림" panose="020B0600000101010101" pitchFamily="50" charset="-127"/>
              </a:rPr>
              <a:t>one capacitor per bit</a:t>
            </a:r>
          </a:p>
        </p:txBody>
      </p:sp>
      <p:sp>
        <p:nvSpPr>
          <p:cNvPr id="27653" name="Text Box 5">
            <a:extLst>
              <a:ext uri="{FF2B5EF4-FFF2-40B4-BE49-F238E27FC236}">
                <a16:creationId xmlns:a16="http://schemas.microsoft.com/office/drawing/2014/main" id="{8D5D2F52-2363-4122-9DE1-EAC867FEB651}"/>
              </a:ext>
            </a:extLst>
          </p:cNvPr>
          <p:cNvSpPr txBox="1">
            <a:spLocks noChangeArrowheads="1"/>
          </p:cNvSpPr>
          <p:nvPr/>
        </p:nvSpPr>
        <p:spPr bwMode="auto">
          <a:xfrm>
            <a:off x="6216650" y="1366838"/>
            <a:ext cx="2743200" cy="1006475"/>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ko-KR" altLang="en-US" sz="2000">
                <a:latin typeface="Times New Roman" panose="02020603050405020304" pitchFamily="18" charset="0"/>
                <a:ea typeface="굴림" panose="020B0600000101010101" pitchFamily="50" charset="-127"/>
              </a:rPr>
              <a:t>‘</a:t>
            </a:r>
            <a:r>
              <a:rPr kumimoji="0" lang="en-US" altLang="ko-KR" sz="2000">
                <a:latin typeface="Times New Roman" panose="02020603050405020304" pitchFamily="18" charset="0"/>
                <a:ea typeface="굴림" panose="020B0600000101010101" pitchFamily="50" charset="-127"/>
              </a:rPr>
              <a:t>High’ Voltage at Y </a:t>
            </a:r>
          </a:p>
          <a:p>
            <a:pPr algn="ctr">
              <a:spcBef>
                <a:spcPct val="0"/>
              </a:spcBef>
              <a:buClrTx/>
              <a:buFontTx/>
              <a:buNone/>
            </a:pPr>
            <a:r>
              <a:rPr kumimoji="0" lang="en-US" altLang="ko-KR" sz="2000">
                <a:latin typeface="Times New Roman" panose="02020603050405020304" pitchFamily="18" charset="0"/>
                <a:ea typeface="굴림" panose="020B0600000101010101" pitchFamily="50" charset="-127"/>
              </a:rPr>
              <a:t>allows current to flow </a:t>
            </a:r>
          </a:p>
          <a:p>
            <a:pPr algn="ctr">
              <a:spcBef>
                <a:spcPct val="0"/>
              </a:spcBef>
              <a:buClrTx/>
              <a:buFontTx/>
              <a:buNone/>
            </a:pPr>
            <a:r>
              <a:rPr kumimoji="0" lang="en-US" altLang="ko-KR" sz="2000">
                <a:latin typeface="Times New Roman" panose="02020603050405020304" pitchFamily="18" charset="0"/>
                <a:ea typeface="굴림" panose="020B0600000101010101" pitchFamily="50" charset="-127"/>
              </a:rPr>
              <a:t>from X to Z or Z to X</a:t>
            </a:r>
          </a:p>
        </p:txBody>
      </p:sp>
      <p:sp>
        <p:nvSpPr>
          <p:cNvPr id="27654" name="Text Box 6">
            <a:extLst>
              <a:ext uri="{FF2B5EF4-FFF2-40B4-BE49-F238E27FC236}">
                <a16:creationId xmlns:a16="http://schemas.microsoft.com/office/drawing/2014/main" id="{0DCA8AD9-FB65-4456-B366-94C3AD7D66E0}"/>
              </a:ext>
            </a:extLst>
          </p:cNvPr>
          <p:cNvSpPr txBox="1">
            <a:spLocks noChangeArrowheads="1"/>
          </p:cNvSpPr>
          <p:nvPr/>
        </p:nvSpPr>
        <p:spPr bwMode="auto">
          <a:xfrm>
            <a:off x="3352800" y="2590800"/>
            <a:ext cx="220663" cy="365125"/>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ko-KR" sz="2400">
                <a:latin typeface="Times New Roman" panose="02020603050405020304" pitchFamily="18" charset="0"/>
                <a:ea typeface="굴림" panose="020B0600000101010101" pitchFamily="50" charset="-127"/>
              </a:rPr>
              <a:t>X</a:t>
            </a:r>
          </a:p>
        </p:txBody>
      </p:sp>
      <p:sp>
        <p:nvSpPr>
          <p:cNvPr id="27655" name="Text Box 7">
            <a:extLst>
              <a:ext uri="{FF2B5EF4-FFF2-40B4-BE49-F238E27FC236}">
                <a16:creationId xmlns:a16="http://schemas.microsoft.com/office/drawing/2014/main" id="{2E0552B0-F566-4DBA-8558-7A5FAD3B3DA4}"/>
              </a:ext>
            </a:extLst>
          </p:cNvPr>
          <p:cNvSpPr txBox="1">
            <a:spLocks noChangeArrowheads="1"/>
          </p:cNvSpPr>
          <p:nvPr/>
        </p:nvSpPr>
        <p:spPr bwMode="auto">
          <a:xfrm>
            <a:off x="4351338" y="1981200"/>
            <a:ext cx="220662" cy="365125"/>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ko-KR" sz="2400">
                <a:latin typeface="Times New Roman" panose="02020603050405020304" pitchFamily="18" charset="0"/>
                <a:ea typeface="굴림" panose="020B0600000101010101" pitchFamily="50" charset="-127"/>
              </a:rPr>
              <a:t>Y</a:t>
            </a:r>
          </a:p>
        </p:txBody>
      </p:sp>
      <p:sp>
        <p:nvSpPr>
          <p:cNvPr id="27656" name="Text Box 8">
            <a:extLst>
              <a:ext uri="{FF2B5EF4-FFF2-40B4-BE49-F238E27FC236}">
                <a16:creationId xmlns:a16="http://schemas.microsoft.com/office/drawing/2014/main" id="{BD4FC4F1-C924-4DEA-AC5D-F57571326577}"/>
              </a:ext>
            </a:extLst>
          </p:cNvPr>
          <p:cNvSpPr txBox="1">
            <a:spLocks noChangeArrowheads="1"/>
          </p:cNvSpPr>
          <p:nvPr/>
        </p:nvSpPr>
        <p:spPr bwMode="auto">
          <a:xfrm>
            <a:off x="4724400" y="2590800"/>
            <a:ext cx="185738" cy="365125"/>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ko-KR" sz="2400">
                <a:latin typeface="Times New Roman" panose="02020603050405020304" pitchFamily="18" charset="0"/>
                <a:ea typeface="굴림" panose="020B0600000101010101" pitchFamily="50" charset="-127"/>
              </a:rPr>
              <a:t>Z</a:t>
            </a:r>
          </a:p>
        </p:txBody>
      </p:sp>
      <p:sp>
        <p:nvSpPr>
          <p:cNvPr id="27657" name="Text Box 9">
            <a:extLst>
              <a:ext uri="{FF2B5EF4-FFF2-40B4-BE49-F238E27FC236}">
                <a16:creationId xmlns:a16="http://schemas.microsoft.com/office/drawing/2014/main" id="{74B6CB97-66EF-48E6-8D2A-2B55987685A3}"/>
              </a:ext>
            </a:extLst>
          </p:cNvPr>
          <p:cNvSpPr txBox="1">
            <a:spLocks noChangeArrowheads="1"/>
          </p:cNvSpPr>
          <p:nvPr/>
        </p:nvSpPr>
        <p:spPr bwMode="auto">
          <a:xfrm>
            <a:off x="2178050" y="1295400"/>
            <a:ext cx="546100" cy="9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27658" name="Text Box 10">
            <a:extLst>
              <a:ext uri="{FF2B5EF4-FFF2-40B4-BE49-F238E27FC236}">
                <a16:creationId xmlns:a16="http://schemas.microsoft.com/office/drawing/2014/main" id="{41ABF6F8-AFA2-43D4-87A1-069C2669829A}"/>
              </a:ext>
            </a:extLst>
          </p:cNvPr>
          <p:cNvSpPr txBox="1">
            <a:spLocks noChangeArrowheads="1"/>
          </p:cNvSpPr>
          <p:nvPr/>
        </p:nvSpPr>
        <p:spPr bwMode="auto">
          <a:xfrm>
            <a:off x="2339975" y="2060575"/>
            <a:ext cx="1620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ko-KR" sz="1200">
                <a:latin typeface="Tahoma" panose="020B0604030504040204" pitchFamily="34" charset="0"/>
                <a:ea typeface="굴림" panose="020B0600000101010101" pitchFamily="50" charset="-127"/>
              </a:rPr>
              <a:t>nMOS</a:t>
            </a:r>
          </a:p>
          <a:p>
            <a:pPr algn="ctr">
              <a:spcBef>
                <a:spcPct val="0"/>
              </a:spcBef>
              <a:buClrTx/>
              <a:buFontTx/>
              <a:buNone/>
            </a:pPr>
            <a:r>
              <a:rPr kumimoji="0" lang="en-US" altLang="ko-KR" sz="1200">
                <a:latin typeface="Tahoma" panose="020B0604030504040204" pitchFamily="34" charset="0"/>
                <a:ea typeface="굴림" panose="020B0600000101010101" pitchFamily="50" charset="-127"/>
              </a:rPr>
              <a:t>(n-channel MOSFET)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92523C55-404B-46BB-9ED7-0B945628758F}"/>
              </a:ext>
            </a:extLst>
          </p:cNvPr>
          <p:cNvSpPr>
            <a:spLocks noGrp="1" noChangeArrowheads="1"/>
          </p:cNvSpPr>
          <p:nvPr>
            <p:ph type="title"/>
          </p:nvPr>
        </p:nvSpPr>
        <p:spPr/>
        <p:txBody>
          <a:bodyPr/>
          <a:lstStyle/>
          <a:p>
            <a:r>
              <a:rPr lang="en-GB" altLang="ko-KR">
                <a:ea typeface="굴림" panose="020B0600000101010101" pitchFamily="50" charset="-127"/>
              </a:rPr>
              <a:t>Dynamic RAM Structure</a:t>
            </a:r>
          </a:p>
        </p:txBody>
      </p:sp>
      <p:sp>
        <p:nvSpPr>
          <p:cNvPr id="29699" name="Rectangle 11">
            <a:extLst>
              <a:ext uri="{FF2B5EF4-FFF2-40B4-BE49-F238E27FC236}">
                <a16:creationId xmlns:a16="http://schemas.microsoft.com/office/drawing/2014/main" id="{BCD282A7-160E-47C1-9278-2074D0D0C8B6}"/>
              </a:ext>
            </a:extLst>
          </p:cNvPr>
          <p:cNvSpPr>
            <a:spLocks noGrp="1" noChangeArrowheads="1"/>
          </p:cNvSpPr>
          <p:nvPr>
            <p:ph type="body" idx="1"/>
          </p:nvPr>
        </p:nvSpPr>
        <p:spPr>
          <a:xfrm>
            <a:off x="457200" y="1066800"/>
            <a:ext cx="8178800" cy="1570038"/>
          </a:xfrm>
          <a:noFill/>
        </p:spPr>
        <p:txBody>
          <a:bodyPr/>
          <a:lstStyle/>
          <a:p>
            <a:r>
              <a:rPr lang="en-GB" altLang="ko-KR" sz="2000">
                <a:ea typeface="굴림" panose="020B0600000101010101" pitchFamily="50" charset="-127"/>
              </a:rPr>
              <a:t>nMOS Transistor</a:t>
            </a:r>
          </a:p>
          <a:p>
            <a:r>
              <a:rPr lang="en-GB" altLang="ko-KR" sz="2000">
                <a:ea typeface="굴림" panose="020B0600000101010101" pitchFamily="50" charset="-127"/>
              </a:rPr>
              <a:t>Since the silicon channel b/w the source &amp; drain is of p-type silicon, if a positive voltage is applied to the gate electrode, it will make the n-channel b/w drain and source</a:t>
            </a:r>
          </a:p>
        </p:txBody>
      </p:sp>
      <p:pic>
        <p:nvPicPr>
          <p:cNvPr id="29700" name="Picture 12">
            <a:extLst>
              <a:ext uri="{FF2B5EF4-FFF2-40B4-BE49-F238E27FC236}">
                <a16:creationId xmlns:a16="http://schemas.microsoft.com/office/drawing/2014/main" id="{A029A203-FF92-4B58-9D0A-B8796E3DCD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2563813"/>
            <a:ext cx="4321175" cy="380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6" descr="https://encrypted-tbn3.gstatic.com/images?q=tbn:ANd9GcRVxtHb7bUmtdBHtWHEIJGy_mVWTCN5SYcIhbfSp_fRtbLJMzfO">
            <a:extLst>
              <a:ext uri="{FF2B5EF4-FFF2-40B4-BE49-F238E27FC236}">
                <a16:creationId xmlns:a16="http://schemas.microsoft.com/office/drawing/2014/main" id="{EF9E8E4F-E898-4C4B-97C1-3F192B87DA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3771900"/>
            <a:ext cx="2943225"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a:extLst>
              <a:ext uri="{FF2B5EF4-FFF2-40B4-BE49-F238E27FC236}">
                <a16:creationId xmlns:a16="http://schemas.microsoft.com/office/drawing/2014/main" id="{0134A173-9A9C-462E-B8C4-5F6E633EE7E5}"/>
              </a:ext>
            </a:extLst>
          </p:cNvPr>
          <p:cNvSpPr>
            <a:spLocks noGrp="1" noChangeArrowheads="1"/>
          </p:cNvSpPr>
          <p:nvPr>
            <p:ph type="body" idx="1"/>
          </p:nvPr>
        </p:nvSpPr>
        <p:spPr>
          <a:xfrm>
            <a:off x="457200" y="1066800"/>
            <a:ext cx="8178800" cy="1066800"/>
          </a:xfrm>
        </p:spPr>
        <p:txBody>
          <a:bodyPr/>
          <a:lstStyle/>
          <a:p>
            <a:r>
              <a:rPr lang="en-GB" altLang="ko-KR" sz="2400">
                <a:ea typeface="굴림" panose="020B0600000101010101" pitchFamily="50" charset="-127"/>
              </a:rPr>
              <a:t>Charging &amp; discharging characteristics of the storage capacitor </a:t>
            </a:r>
          </a:p>
          <a:p>
            <a:endParaRPr lang="en-GB" altLang="ko-KR" sz="2400">
              <a:ea typeface="굴림" panose="020B0600000101010101" pitchFamily="50" charset="-127"/>
            </a:endParaRPr>
          </a:p>
        </p:txBody>
      </p:sp>
      <p:sp>
        <p:nvSpPr>
          <p:cNvPr id="31747" name="Rectangle 7">
            <a:extLst>
              <a:ext uri="{FF2B5EF4-FFF2-40B4-BE49-F238E27FC236}">
                <a16:creationId xmlns:a16="http://schemas.microsoft.com/office/drawing/2014/main" id="{EA112AE7-1469-40DC-985A-8B53878BBB26}"/>
              </a:ext>
            </a:extLst>
          </p:cNvPr>
          <p:cNvSpPr>
            <a:spLocks noGrp="1" noChangeArrowheads="1"/>
          </p:cNvSpPr>
          <p:nvPr>
            <p:ph type="title"/>
          </p:nvPr>
        </p:nvSpPr>
        <p:spPr>
          <a:noFill/>
        </p:spPr>
        <p:txBody>
          <a:bodyPr/>
          <a:lstStyle/>
          <a:p>
            <a:r>
              <a:rPr lang="en-GB" altLang="ko-KR">
                <a:ea typeface="굴림" panose="020B0600000101010101" pitchFamily="50" charset="-127"/>
              </a:rPr>
              <a:t>Dynamic RAM Structure</a:t>
            </a:r>
          </a:p>
        </p:txBody>
      </p:sp>
      <p:pic>
        <p:nvPicPr>
          <p:cNvPr id="31748" name="Picture 8">
            <a:extLst>
              <a:ext uri="{FF2B5EF4-FFF2-40B4-BE49-F238E27FC236}">
                <a16:creationId xmlns:a16="http://schemas.microsoft.com/office/drawing/2014/main" id="{800BDFBF-AE40-4811-9FEA-36271FD621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4575" y="2062163"/>
            <a:ext cx="2657475"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9">
            <a:extLst>
              <a:ext uri="{FF2B5EF4-FFF2-40B4-BE49-F238E27FC236}">
                <a16:creationId xmlns:a16="http://schemas.microsoft.com/office/drawing/2014/main" id="{63789EA2-1FFD-42E1-A16B-7E380B196C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825" y="1989138"/>
            <a:ext cx="2647950"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CC08B17B-E751-4E5F-BB6D-808D0BA49A66}"/>
              </a:ext>
            </a:extLst>
          </p:cNvPr>
          <p:cNvSpPr>
            <a:spLocks noGrp="1" noChangeArrowheads="1"/>
          </p:cNvSpPr>
          <p:nvPr>
            <p:ph type="title"/>
          </p:nvPr>
        </p:nvSpPr>
        <p:spPr/>
        <p:txBody>
          <a:bodyPr/>
          <a:lstStyle/>
          <a:p>
            <a:r>
              <a:rPr lang="en-GB" altLang="ko-KR">
                <a:ea typeface="굴림" panose="020B0600000101010101" pitchFamily="50" charset="-127"/>
              </a:rPr>
              <a:t>Static RAM</a:t>
            </a:r>
          </a:p>
        </p:txBody>
      </p:sp>
      <p:sp>
        <p:nvSpPr>
          <p:cNvPr id="37891" name="Rectangle 3">
            <a:extLst>
              <a:ext uri="{FF2B5EF4-FFF2-40B4-BE49-F238E27FC236}">
                <a16:creationId xmlns:a16="http://schemas.microsoft.com/office/drawing/2014/main" id="{4E07329F-96CB-4CD4-BCAC-309584C27C81}"/>
              </a:ext>
            </a:extLst>
          </p:cNvPr>
          <p:cNvSpPr>
            <a:spLocks noGrp="1" noChangeArrowheads="1"/>
          </p:cNvSpPr>
          <p:nvPr>
            <p:ph type="body" idx="1"/>
          </p:nvPr>
        </p:nvSpPr>
        <p:spPr>
          <a:xfrm>
            <a:off x="457200" y="1066800"/>
            <a:ext cx="8178800" cy="5486400"/>
          </a:xfrm>
        </p:spPr>
        <p:txBody>
          <a:bodyPr/>
          <a:lstStyle/>
          <a:p>
            <a:r>
              <a:rPr lang="en-GB" altLang="ko-KR" sz="2400">
                <a:ea typeface="굴림" panose="020B0600000101010101" pitchFamily="50" charset="-127"/>
              </a:rPr>
              <a:t>SRAM cell is a bi-stable flip-flop</a:t>
            </a:r>
          </a:p>
          <a:p>
            <a:r>
              <a:rPr lang="en-GB" altLang="ko-KR" sz="2400">
                <a:ea typeface="굴림" panose="020B0600000101010101" pitchFamily="50" charset="-127"/>
              </a:rPr>
              <a:t>Bits stored as on/off switches</a:t>
            </a:r>
          </a:p>
          <a:p>
            <a:pPr lvl="1"/>
            <a:r>
              <a:rPr lang="en-GB" altLang="ko-KR" sz="2000">
                <a:solidFill>
                  <a:srgbClr val="0070C0"/>
                </a:solidFill>
                <a:ea typeface="굴림" panose="020B0600000101010101" pitchFamily="50" charset="-127"/>
              </a:rPr>
              <a:t>No charges to leak</a:t>
            </a:r>
          </a:p>
          <a:p>
            <a:pPr lvl="1"/>
            <a:r>
              <a:rPr lang="en-GB" altLang="ko-KR" sz="2000">
                <a:solidFill>
                  <a:srgbClr val="0070C0"/>
                </a:solidFill>
                <a:ea typeface="굴림" panose="020B0600000101010101" pitchFamily="50" charset="-127"/>
              </a:rPr>
              <a:t>No refreshing needed when powered</a:t>
            </a:r>
          </a:p>
          <a:p>
            <a:pPr lvl="1"/>
            <a:r>
              <a:rPr lang="en-GB" altLang="ko-KR" sz="2000">
                <a:solidFill>
                  <a:srgbClr val="0070C0"/>
                </a:solidFill>
                <a:ea typeface="굴림" panose="020B0600000101010101" pitchFamily="50" charset="-127"/>
              </a:rPr>
              <a:t>Does not need refresh circuits</a:t>
            </a:r>
          </a:p>
          <a:p>
            <a:r>
              <a:rPr lang="en-GB" altLang="ko-KR" sz="2400">
                <a:ea typeface="굴림" panose="020B0600000101010101" pitchFamily="50" charset="-127"/>
              </a:rPr>
              <a:t>More complex construction</a:t>
            </a:r>
          </a:p>
          <a:p>
            <a:pPr lvl="1"/>
            <a:r>
              <a:rPr lang="en-GB" altLang="ko-KR" sz="2000">
                <a:solidFill>
                  <a:srgbClr val="0070C0"/>
                </a:solidFill>
                <a:ea typeface="굴림" panose="020B0600000101010101" pitchFamily="50" charset="-127"/>
              </a:rPr>
              <a:t>Larger per bit</a:t>
            </a:r>
          </a:p>
          <a:p>
            <a:pPr lvl="1"/>
            <a:r>
              <a:rPr lang="en-GB" altLang="ko-KR" sz="2000">
                <a:solidFill>
                  <a:srgbClr val="0070C0"/>
                </a:solidFill>
                <a:ea typeface="굴림" panose="020B0600000101010101" pitchFamily="50" charset="-127"/>
              </a:rPr>
              <a:t>More expensive</a:t>
            </a:r>
          </a:p>
          <a:p>
            <a:r>
              <a:rPr lang="en-GB" altLang="ko-KR" sz="2400">
                <a:ea typeface="굴림" panose="020B0600000101010101" pitchFamily="50" charset="-127"/>
              </a:rPr>
              <a:t>Faster</a:t>
            </a:r>
          </a:p>
          <a:p>
            <a:r>
              <a:rPr lang="en-GB" altLang="ko-KR" sz="2400">
                <a:ea typeface="굴림" panose="020B0600000101010101" pitchFamily="50" charset="-127"/>
              </a:rPr>
              <a:t>Cache</a:t>
            </a:r>
          </a:p>
          <a:p>
            <a:r>
              <a:rPr lang="en-GB" altLang="ko-KR" sz="2400">
                <a:ea typeface="굴림" panose="020B0600000101010101" pitchFamily="50" charset="-127"/>
              </a:rPr>
              <a:t>Digital</a:t>
            </a:r>
          </a:p>
          <a:p>
            <a:pPr lvl="1"/>
            <a:r>
              <a:rPr lang="en-GB" altLang="ko-KR" sz="2000">
                <a:solidFill>
                  <a:srgbClr val="0070C0"/>
                </a:solidFill>
                <a:ea typeface="굴림" panose="020B0600000101010101" pitchFamily="50" charset="-127"/>
              </a:rPr>
              <a:t>Uses flip-flops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FD597FEA-688A-44AE-9C84-DDD3C64FA01B}"/>
              </a:ext>
            </a:extLst>
          </p:cNvPr>
          <p:cNvSpPr>
            <a:spLocks noGrp="1" noChangeArrowheads="1"/>
          </p:cNvSpPr>
          <p:nvPr>
            <p:ph type="title"/>
          </p:nvPr>
        </p:nvSpPr>
        <p:spPr/>
        <p:txBody>
          <a:bodyPr/>
          <a:lstStyle/>
          <a:p>
            <a:r>
              <a:rPr lang="en-GB" altLang="ko-KR">
                <a:ea typeface="굴림" panose="020B0600000101010101" pitchFamily="50" charset="-127"/>
              </a:rPr>
              <a:t>Static RAM Structure</a:t>
            </a:r>
          </a:p>
        </p:txBody>
      </p:sp>
      <p:pic>
        <p:nvPicPr>
          <p:cNvPr id="39939" name="Picture 3">
            <a:extLst>
              <a:ext uri="{FF2B5EF4-FFF2-40B4-BE49-F238E27FC236}">
                <a16:creationId xmlns:a16="http://schemas.microsoft.com/office/drawing/2014/main" id="{1AFB7454-14C7-440A-9471-CFD0953136AE}"/>
              </a:ext>
            </a:extLst>
          </p:cNvPr>
          <p:cNvPicPr>
            <a:picLocks noChangeAspect="1" noChangeArrowheads="1"/>
          </p:cNvPicPr>
          <p:nvPr/>
        </p:nvPicPr>
        <p:blipFill>
          <a:blip r:embed="rId3">
            <a:lum contrast="6000"/>
            <a:extLst>
              <a:ext uri="{28A0092B-C50C-407E-A947-70E740481C1C}">
                <a14:useLocalDpi xmlns:a14="http://schemas.microsoft.com/office/drawing/2010/main" val="0"/>
              </a:ext>
            </a:extLst>
          </a:blip>
          <a:srcRect/>
          <a:stretch>
            <a:fillRect/>
          </a:stretch>
        </p:blipFill>
        <p:spPr bwMode="auto">
          <a:xfrm>
            <a:off x="1641475" y="1289050"/>
            <a:ext cx="5667375" cy="537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4">
            <a:extLst>
              <a:ext uri="{FF2B5EF4-FFF2-40B4-BE49-F238E27FC236}">
                <a16:creationId xmlns:a16="http://schemas.microsoft.com/office/drawing/2014/main" id="{C8ED95D1-C613-44A9-A871-6912E52FA986}"/>
              </a:ext>
            </a:extLst>
          </p:cNvPr>
          <p:cNvGrpSpPr>
            <a:grpSpLocks/>
          </p:cNvGrpSpPr>
          <p:nvPr/>
        </p:nvGrpSpPr>
        <p:grpSpPr bwMode="auto">
          <a:xfrm>
            <a:off x="2679700" y="1570038"/>
            <a:ext cx="3486150" cy="3962400"/>
            <a:chOff x="1710" y="816"/>
            <a:chExt cx="2196" cy="2496"/>
          </a:xfrm>
        </p:grpSpPr>
        <p:grpSp>
          <p:nvGrpSpPr>
            <p:cNvPr id="39950" name="Group 5">
              <a:extLst>
                <a:ext uri="{FF2B5EF4-FFF2-40B4-BE49-F238E27FC236}">
                  <a16:creationId xmlns:a16="http://schemas.microsoft.com/office/drawing/2014/main" id="{63A5F29F-AA32-4248-9144-443E9C8AA550}"/>
                </a:ext>
              </a:extLst>
            </p:cNvPr>
            <p:cNvGrpSpPr>
              <a:grpSpLocks/>
            </p:cNvGrpSpPr>
            <p:nvPr/>
          </p:nvGrpSpPr>
          <p:grpSpPr bwMode="auto">
            <a:xfrm>
              <a:off x="1968" y="816"/>
              <a:ext cx="720" cy="912"/>
              <a:chOff x="1968" y="816"/>
              <a:chExt cx="720" cy="912"/>
            </a:xfrm>
          </p:grpSpPr>
          <p:sp>
            <p:nvSpPr>
              <p:cNvPr id="39956" name="Line 6">
                <a:extLst>
                  <a:ext uri="{FF2B5EF4-FFF2-40B4-BE49-F238E27FC236}">
                    <a16:creationId xmlns:a16="http://schemas.microsoft.com/office/drawing/2014/main" id="{2DB1C2DB-915F-4AC4-84F7-84F8521F3663}"/>
                  </a:ext>
                </a:extLst>
              </p:cNvPr>
              <p:cNvSpPr>
                <a:spLocks noChangeShapeType="1"/>
              </p:cNvSpPr>
              <p:nvPr/>
            </p:nvSpPr>
            <p:spPr bwMode="auto">
              <a:xfrm flipH="1">
                <a:off x="1968" y="816"/>
                <a:ext cx="72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ko-KR" altLang="en-US"/>
              </a:p>
            </p:txBody>
          </p:sp>
          <p:sp>
            <p:nvSpPr>
              <p:cNvPr id="39957" name="Line 7">
                <a:extLst>
                  <a:ext uri="{FF2B5EF4-FFF2-40B4-BE49-F238E27FC236}">
                    <a16:creationId xmlns:a16="http://schemas.microsoft.com/office/drawing/2014/main" id="{F22AC818-BEAB-4AEC-8445-C46356498528}"/>
                  </a:ext>
                </a:extLst>
              </p:cNvPr>
              <p:cNvSpPr>
                <a:spLocks noChangeShapeType="1"/>
              </p:cNvSpPr>
              <p:nvPr/>
            </p:nvSpPr>
            <p:spPr bwMode="auto">
              <a:xfrm>
                <a:off x="1968" y="816"/>
                <a:ext cx="0" cy="912"/>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ko-KR" altLang="en-US"/>
              </a:p>
            </p:txBody>
          </p:sp>
        </p:grpSp>
        <p:grpSp>
          <p:nvGrpSpPr>
            <p:cNvPr id="39951" name="Group 8">
              <a:extLst>
                <a:ext uri="{FF2B5EF4-FFF2-40B4-BE49-F238E27FC236}">
                  <a16:creationId xmlns:a16="http://schemas.microsoft.com/office/drawing/2014/main" id="{36EA02F5-5434-49D1-9DCB-6CD80F902AC2}"/>
                </a:ext>
              </a:extLst>
            </p:cNvPr>
            <p:cNvGrpSpPr>
              <a:grpSpLocks/>
            </p:cNvGrpSpPr>
            <p:nvPr/>
          </p:nvGrpSpPr>
          <p:grpSpPr bwMode="auto">
            <a:xfrm>
              <a:off x="2976" y="2016"/>
              <a:ext cx="720" cy="1296"/>
              <a:chOff x="2976" y="2016"/>
              <a:chExt cx="720" cy="1296"/>
            </a:xfrm>
          </p:grpSpPr>
          <p:sp>
            <p:nvSpPr>
              <p:cNvPr id="39954" name="Line 9">
                <a:extLst>
                  <a:ext uri="{FF2B5EF4-FFF2-40B4-BE49-F238E27FC236}">
                    <a16:creationId xmlns:a16="http://schemas.microsoft.com/office/drawing/2014/main" id="{1AA0C44A-D322-4070-85EE-AF173A1D79C6}"/>
                  </a:ext>
                </a:extLst>
              </p:cNvPr>
              <p:cNvSpPr>
                <a:spLocks noChangeShapeType="1"/>
              </p:cNvSpPr>
              <p:nvPr/>
            </p:nvSpPr>
            <p:spPr bwMode="auto">
              <a:xfrm flipV="1">
                <a:off x="2976" y="3312"/>
                <a:ext cx="72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ko-KR" altLang="en-US"/>
              </a:p>
            </p:txBody>
          </p:sp>
          <p:sp>
            <p:nvSpPr>
              <p:cNvPr id="39955" name="Line 10">
                <a:extLst>
                  <a:ext uri="{FF2B5EF4-FFF2-40B4-BE49-F238E27FC236}">
                    <a16:creationId xmlns:a16="http://schemas.microsoft.com/office/drawing/2014/main" id="{04B6CED4-9133-4804-8100-9922E1120F22}"/>
                  </a:ext>
                </a:extLst>
              </p:cNvPr>
              <p:cNvSpPr>
                <a:spLocks noChangeShapeType="1"/>
              </p:cNvSpPr>
              <p:nvPr/>
            </p:nvSpPr>
            <p:spPr bwMode="auto">
              <a:xfrm flipH="1" flipV="1">
                <a:off x="3696" y="2016"/>
                <a:ext cx="0" cy="1296"/>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ko-KR" altLang="en-US"/>
              </a:p>
            </p:txBody>
          </p:sp>
        </p:grpSp>
        <p:sp>
          <p:nvSpPr>
            <p:cNvPr id="180235" name="Text Box 11">
              <a:extLst>
                <a:ext uri="{FF2B5EF4-FFF2-40B4-BE49-F238E27FC236}">
                  <a16:creationId xmlns:a16="http://schemas.microsoft.com/office/drawing/2014/main" id="{832D231D-06FE-4FFF-A007-82110333B786}"/>
                </a:ext>
              </a:extLst>
            </p:cNvPr>
            <p:cNvSpPr txBox="1">
              <a:spLocks noChangeArrowheads="1"/>
            </p:cNvSpPr>
            <p:nvPr/>
          </p:nvSpPr>
          <p:spPr bwMode="auto">
            <a:xfrm>
              <a:off x="1710" y="1536"/>
              <a:ext cx="210" cy="288"/>
            </a:xfrm>
            <a:prstGeom prst="rect">
              <a:avLst/>
            </a:prstGeom>
            <a:noFill/>
            <a:ln w="9525">
              <a:noFill/>
              <a:miter lim="800000"/>
              <a:headEnd/>
              <a:tailEnd/>
            </a:ln>
            <a:effec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defRPr/>
              </a:pPr>
              <a:r>
                <a:rPr kumimoji="0" lang="zh-TW" altLang="en-US" sz="2400" b="1">
                  <a:solidFill>
                    <a:srgbClr val="333399"/>
                  </a:solidFill>
                  <a:effectLst>
                    <a:outerShdw blurRad="38100" dist="38100" dir="2700000" algn="tl">
                      <a:srgbClr val="C0C0C0"/>
                    </a:outerShdw>
                  </a:effectLst>
                  <a:latin typeface="Times New Roman" panose="02020603050405020304" pitchFamily="18" charset="0"/>
                  <a:ea typeface="PMingLiU" panose="02020500000000000000" pitchFamily="18" charset="-120"/>
                </a:rPr>
                <a:t>1</a:t>
              </a:r>
            </a:p>
          </p:txBody>
        </p:sp>
        <p:sp>
          <p:nvSpPr>
            <p:cNvPr id="180236" name="Text Box 12">
              <a:extLst>
                <a:ext uri="{FF2B5EF4-FFF2-40B4-BE49-F238E27FC236}">
                  <a16:creationId xmlns:a16="http://schemas.microsoft.com/office/drawing/2014/main" id="{DD67F2D4-6D49-43F8-A3C5-AE6E4FB52360}"/>
                </a:ext>
              </a:extLst>
            </p:cNvPr>
            <p:cNvSpPr txBox="1">
              <a:spLocks noChangeArrowheads="1"/>
            </p:cNvSpPr>
            <p:nvPr/>
          </p:nvSpPr>
          <p:spPr bwMode="auto">
            <a:xfrm>
              <a:off x="3696" y="1536"/>
              <a:ext cx="210" cy="288"/>
            </a:xfrm>
            <a:prstGeom prst="rect">
              <a:avLst/>
            </a:prstGeom>
            <a:noFill/>
            <a:ln w="9525">
              <a:noFill/>
              <a:miter lim="800000"/>
              <a:headEnd/>
              <a:tailEnd/>
            </a:ln>
            <a:effec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defRPr/>
              </a:pPr>
              <a:r>
                <a:rPr kumimoji="0" lang="zh-TW" altLang="en-US" sz="2400" b="1">
                  <a:solidFill>
                    <a:srgbClr val="333399"/>
                  </a:solidFill>
                  <a:effectLst>
                    <a:outerShdw blurRad="38100" dist="38100" dir="2700000" algn="tl">
                      <a:srgbClr val="C0C0C0"/>
                    </a:outerShdw>
                  </a:effectLst>
                  <a:latin typeface="Times New Roman" panose="02020603050405020304" pitchFamily="18" charset="0"/>
                  <a:ea typeface="PMingLiU" panose="02020500000000000000" pitchFamily="18" charset="-120"/>
                </a:rPr>
                <a:t>0</a:t>
              </a:r>
            </a:p>
          </p:txBody>
        </p:sp>
      </p:grpSp>
      <p:grpSp>
        <p:nvGrpSpPr>
          <p:cNvPr id="5" name="Group 13">
            <a:extLst>
              <a:ext uri="{FF2B5EF4-FFF2-40B4-BE49-F238E27FC236}">
                <a16:creationId xmlns:a16="http://schemas.microsoft.com/office/drawing/2014/main" id="{68DE6CA4-222D-4CA9-A118-27A1ADA8FBBF}"/>
              </a:ext>
            </a:extLst>
          </p:cNvPr>
          <p:cNvGrpSpPr>
            <a:grpSpLocks/>
          </p:cNvGrpSpPr>
          <p:nvPr/>
        </p:nvGrpSpPr>
        <p:grpSpPr bwMode="auto">
          <a:xfrm>
            <a:off x="2752725" y="1562100"/>
            <a:ext cx="3486150" cy="3962400"/>
            <a:chOff x="-107" y="910"/>
            <a:chExt cx="2196" cy="2496"/>
          </a:xfrm>
        </p:grpSpPr>
        <p:sp>
          <p:nvSpPr>
            <p:cNvPr id="39944" name="Line 14">
              <a:extLst>
                <a:ext uri="{FF2B5EF4-FFF2-40B4-BE49-F238E27FC236}">
                  <a16:creationId xmlns:a16="http://schemas.microsoft.com/office/drawing/2014/main" id="{301D54AC-5426-4B2F-91F5-ACB525DEBA8F}"/>
                </a:ext>
              </a:extLst>
            </p:cNvPr>
            <p:cNvSpPr>
              <a:spLocks noChangeShapeType="1"/>
            </p:cNvSpPr>
            <p:nvPr/>
          </p:nvSpPr>
          <p:spPr bwMode="auto">
            <a:xfrm>
              <a:off x="1111" y="910"/>
              <a:ext cx="72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ko-KR" altLang="en-US"/>
            </a:p>
          </p:txBody>
        </p:sp>
        <p:sp>
          <p:nvSpPr>
            <p:cNvPr id="39945" name="Line 15">
              <a:extLst>
                <a:ext uri="{FF2B5EF4-FFF2-40B4-BE49-F238E27FC236}">
                  <a16:creationId xmlns:a16="http://schemas.microsoft.com/office/drawing/2014/main" id="{AA6F89D8-B832-4046-AC23-718CD649514B}"/>
                </a:ext>
              </a:extLst>
            </p:cNvPr>
            <p:cNvSpPr>
              <a:spLocks noChangeShapeType="1"/>
            </p:cNvSpPr>
            <p:nvPr/>
          </p:nvSpPr>
          <p:spPr bwMode="auto">
            <a:xfrm flipH="1">
              <a:off x="1831" y="910"/>
              <a:ext cx="0" cy="91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ko-KR" altLang="en-US"/>
            </a:p>
          </p:txBody>
        </p:sp>
        <p:sp>
          <p:nvSpPr>
            <p:cNvPr id="39946" name="Line 16">
              <a:extLst>
                <a:ext uri="{FF2B5EF4-FFF2-40B4-BE49-F238E27FC236}">
                  <a16:creationId xmlns:a16="http://schemas.microsoft.com/office/drawing/2014/main" id="{B80C828D-76EC-44D2-8D6C-BD18C3FF10E7}"/>
                </a:ext>
              </a:extLst>
            </p:cNvPr>
            <p:cNvSpPr>
              <a:spLocks noChangeShapeType="1"/>
            </p:cNvSpPr>
            <p:nvPr/>
          </p:nvSpPr>
          <p:spPr bwMode="auto">
            <a:xfrm flipH="1" flipV="1">
              <a:off x="103" y="3406"/>
              <a:ext cx="72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ko-KR" altLang="en-US"/>
            </a:p>
          </p:txBody>
        </p:sp>
        <p:sp>
          <p:nvSpPr>
            <p:cNvPr id="39947" name="Line 17">
              <a:extLst>
                <a:ext uri="{FF2B5EF4-FFF2-40B4-BE49-F238E27FC236}">
                  <a16:creationId xmlns:a16="http://schemas.microsoft.com/office/drawing/2014/main" id="{90F61E23-FA6B-4378-965E-0AE0920D976D}"/>
                </a:ext>
              </a:extLst>
            </p:cNvPr>
            <p:cNvSpPr>
              <a:spLocks noChangeShapeType="1"/>
            </p:cNvSpPr>
            <p:nvPr/>
          </p:nvSpPr>
          <p:spPr bwMode="auto">
            <a:xfrm flipV="1">
              <a:off x="103" y="2110"/>
              <a:ext cx="0" cy="129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ko-KR" altLang="en-US"/>
            </a:p>
          </p:txBody>
        </p:sp>
        <p:sp>
          <p:nvSpPr>
            <p:cNvPr id="180242" name="Text Box 18">
              <a:extLst>
                <a:ext uri="{FF2B5EF4-FFF2-40B4-BE49-F238E27FC236}">
                  <a16:creationId xmlns:a16="http://schemas.microsoft.com/office/drawing/2014/main" id="{B528802F-5182-4500-A157-7EE6FC341051}"/>
                </a:ext>
              </a:extLst>
            </p:cNvPr>
            <p:cNvSpPr txBox="1">
              <a:spLocks noChangeArrowheads="1"/>
            </p:cNvSpPr>
            <p:nvPr/>
          </p:nvSpPr>
          <p:spPr bwMode="auto">
            <a:xfrm flipH="1">
              <a:off x="1879" y="1630"/>
              <a:ext cx="210" cy="288"/>
            </a:xfrm>
            <a:prstGeom prst="rect">
              <a:avLst/>
            </a:prstGeom>
            <a:noFill/>
            <a:ln w="9525">
              <a:noFill/>
              <a:miter lim="800000"/>
              <a:headEnd/>
              <a:tailEnd/>
            </a:ln>
            <a:effec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defRPr/>
              </a:pPr>
              <a:r>
                <a:rPr kumimoji="0" lang="zh-TW" altLang="en-US" sz="2400" b="1">
                  <a:solidFill>
                    <a:srgbClr val="FF0000"/>
                  </a:solidFill>
                  <a:effectLst>
                    <a:outerShdw blurRad="38100" dist="38100" dir="2700000" algn="tl">
                      <a:srgbClr val="C0C0C0"/>
                    </a:outerShdw>
                  </a:effectLst>
                  <a:latin typeface="Times New Roman" panose="02020603050405020304" pitchFamily="18" charset="0"/>
                  <a:ea typeface="PMingLiU" panose="02020500000000000000" pitchFamily="18" charset="-120"/>
                </a:rPr>
                <a:t>1</a:t>
              </a:r>
            </a:p>
          </p:txBody>
        </p:sp>
        <p:sp>
          <p:nvSpPr>
            <p:cNvPr id="180243" name="Text Box 19">
              <a:extLst>
                <a:ext uri="{FF2B5EF4-FFF2-40B4-BE49-F238E27FC236}">
                  <a16:creationId xmlns:a16="http://schemas.microsoft.com/office/drawing/2014/main" id="{40CAD205-0787-4AFE-BEE7-C46CB88C4FF8}"/>
                </a:ext>
              </a:extLst>
            </p:cNvPr>
            <p:cNvSpPr txBox="1">
              <a:spLocks noChangeArrowheads="1"/>
            </p:cNvSpPr>
            <p:nvPr/>
          </p:nvSpPr>
          <p:spPr bwMode="auto">
            <a:xfrm flipH="1">
              <a:off x="-107" y="1630"/>
              <a:ext cx="210" cy="288"/>
            </a:xfrm>
            <a:prstGeom prst="rect">
              <a:avLst/>
            </a:prstGeom>
            <a:noFill/>
            <a:ln w="9525">
              <a:noFill/>
              <a:miter lim="800000"/>
              <a:headEnd/>
              <a:tailEnd/>
            </a:ln>
            <a:effec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defRPr/>
              </a:pPr>
              <a:r>
                <a:rPr kumimoji="0" lang="zh-TW" altLang="en-US" sz="2400" b="1">
                  <a:solidFill>
                    <a:srgbClr val="FF0000"/>
                  </a:solidFill>
                  <a:effectLst>
                    <a:outerShdw blurRad="38100" dist="38100" dir="2700000" algn="tl">
                      <a:srgbClr val="C0C0C0"/>
                    </a:outerShdw>
                  </a:effectLst>
                  <a:latin typeface="Times New Roman" panose="02020603050405020304" pitchFamily="18" charset="0"/>
                  <a:ea typeface="PMingLiU" panose="02020500000000000000" pitchFamily="18" charset="-120"/>
                </a:rPr>
                <a:t>0</a:t>
              </a:r>
            </a:p>
          </p:txBody>
        </p:sp>
      </p:grpSp>
      <p:sp>
        <p:nvSpPr>
          <p:cNvPr id="39942" name="Rectangle 23">
            <a:extLst>
              <a:ext uri="{FF2B5EF4-FFF2-40B4-BE49-F238E27FC236}">
                <a16:creationId xmlns:a16="http://schemas.microsoft.com/office/drawing/2014/main" id="{4440F2F1-DF7B-4CD5-BEA0-27495C4F1C96}"/>
              </a:ext>
            </a:extLst>
          </p:cNvPr>
          <p:cNvSpPr>
            <a:spLocks noChangeArrowheads="1"/>
          </p:cNvSpPr>
          <p:nvPr/>
        </p:nvSpPr>
        <p:spPr bwMode="auto">
          <a:xfrm>
            <a:off x="7127875" y="1196975"/>
            <a:ext cx="1981200" cy="1981200"/>
          </a:xfrm>
          <a:prstGeom prst="rect">
            <a:avLst/>
          </a:prstGeom>
          <a:solidFill>
            <a:srgbClr val="CCFFFF"/>
          </a:solidFill>
          <a:ln w="9525">
            <a:solidFill>
              <a:srgbClr val="000000"/>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ko-KR" sz="2400">
                <a:solidFill>
                  <a:srgbClr val="FF0000"/>
                </a:solidFill>
                <a:latin typeface="Times New Roman" panose="02020603050405020304" pitchFamily="18" charset="0"/>
                <a:ea typeface="굴림" panose="020B0600000101010101" pitchFamily="50" charset="-127"/>
              </a:rPr>
              <a:t>six </a:t>
            </a:r>
            <a:r>
              <a:rPr kumimoji="0" lang="en-US" altLang="ko-KR" sz="2400">
                <a:latin typeface="Times New Roman" panose="02020603050405020304" pitchFamily="18" charset="0"/>
                <a:ea typeface="굴림" panose="020B0600000101010101" pitchFamily="50" charset="-127"/>
              </a:rPr>
              <a:t>transistors</a:t>
            </a:r>
          </a:p>
          <a:p>
            <a:pPr algn="ctr">
              <a:spcBef>
                <a:spcPct val="0"/>
              </a:spcBef>
              <a:buClrTx/>
              <a:buFontTx/>
              <a:buNone/>
            </a:pPr>
            <a:r>
              <a:rPr kumimoji="0" lang="en-US" altLang="ko-KR" sz="2400">
                <a:latin typeface="Times New Roman" panose="02020603050405020304" pitchFamily="18" charset="0"/>
                <a:ea typeface="굴림" panose="020B0600000101010101" pitchFamily="50" charset="-127"/>
              </a:rPr>
              <a:t> per bit</a:t>
            </a:r>
          </a:p>
          <a:p>
            <a:pPr algn="ctr">
              <a:spcBef>
                <a:spcPct val="0"/>
              </a:spcBef>
              <a:buClrTx/>
              <a:buFontTx/>
              <a:buNone/>
            </a:pPr>
            <a:r>
              <a:rPr kumimoji="0" lang="en-US" altLang="ko-KR" sz="2400">
                <a:latin typeface="Times New Roman" panose="02020603050405020304" pitchFamily="18" charset="0"/>
                <a:ea typeface="굴림" panose="020B0600000101010101" pitchFamily="50" charset="-127"/>
              </a:rPr>
              <a:t>(“flip flop”)</a:t>
            </a:r>
          </a:p>
        </p:txBody>
      </p:sp>
      <p:sp>
        <p:nvSpPr>
          <p:cNvPr id="39943" name="TextBox 2">
            <a:extLst>
              <a:ext uri="{FF2B5EF4-FFF2-40B4-BE49-F238E27FC236}">
                <a16:creationId xmlns:a16="http://schemas.microsoft.com/office/drawing/2014/main" id="{9156336D-BB32-45EE-80FE-8F346F29B269}"/>
              </a:ext>
            </a:extLst>
          </p:cNvPr>
          <p:cNvSpPr txBox="1">
            <a:spLocks noChangeArrowheads="1"/>
          </p:cNvSpPr>
          <p:nvPr/>
        </p:nvSpPr>
        <p:spPr bwMode="auto">
          <a:xfrm>
            <a:off x="4551363" y="6184900"/>
            <a:ext cx="1892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ko-KR" sz="1100" b="1">
                <a:solidFill>
                  <a:srgbClr val="3333FF"/>
                </a:solidFill>
                <a:latin typeface="맑은 고딕" panose="020B0503020000020004" pitchFamily="50" charset="-127"/>
                <a:ea typeface="맑은 고딕" panose="020B0503020000020004" pitchFamily="50" charset="-127"/>
              </a:rPr>
              <a:t>(</a:t>
            </a:r>
            <a:r>
              <a:rPr kumimoji="0" lang="ko-KR" altLang="en-US" sz="1100" b="1">
                <a:solidFill>
                  <a:srgbClr val="3333FF"/>
                </a:solidFill>
                <a:latin typeface="맑은 고딕" panose="020B0503020000020004" pitchFamily="50" charset="-127"/>
                <a:ea typeface="맑은 고딕" panose="020B0503020000020004" pitchFamily="50" charset="-127"/>
              </a:rPr>
              <a:t>일반적으로 </a:t>
            </a:r>
            <a:r>
              <a:rPr kumimoji="0" lang="en-US" altLang="ko-KR" sz="1100" b="1">
                <a:solidFill>
                  <a:srgbClr val="3333FF"/>
                </a:solidFill>
                <a:latin typeface="맑은 고딕" panose="020B0503020000020004" pitchFamily="50" charset="-127"/>
                <a:ea typeface="맑은 고딕" panose="020B0503020000020004" pitchFamily="50" charset="-127"/>
              </a:rPr>
              <a:t>word line</a:t>
            </a:r>
            <a:r>
              <a:rPr kumimoji="0" lang="ko-KR" altLang="en-US" sz="1100" b="1">
                <a:solidFill>
                  <a:srgbClr val="3333FF"/>
                </a:solidFill>
                <a:latin typeface="맑은 고딕" panose="020B0503020000020004" pitchFamily="50" charset="-127"/>
                <a:ea typeface="맑은 고딕" panose="020B0503020000020004" pitchFamily="50" charset="-127"/>
              </a:rPr>
              <a:t>이라고 함</a:t>
            </a:r>
            <a:r>
              <a:rPr kumimoji="0" lang="en-US" altLang="ko-KR" sz="1100" b="1">
                <a:solidFill>
                  <a:srgbClr val="3333FF"/>
                </a:solidFill>
                <a:latin typeface="맑은 고딕" panose="020B0503020000020004" pitchFamily="50" charset="-127"/>
                <a:ea typeface="맑은 고딕" panose="020B0503020000020004" pitchFamily="50" charset="-127"/>
              </a:rPr>
              <a:t>)</a:t>
            </a:r>
            <a:endParaRPr kumimoji="0" lang="ko-KR" altLang="en-US" sz="1100" b="1">
              <a:solidFill>
                <a:srgbClr val="3333FF"/>
              </a:solidFill>
              <a:latin typeface="맑은 고딕" panose="020B0503020000020004" pitchFamily="50" charset="-127"/>
              <a:ea typeface="맑은 고딕" panose="020B0503020000020004" pitchFamily="50" charset="-127"/>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AD9C186F-FE6C-4E1F-BB9F-96CBE79C78AB}"/>
              </a:ext>
            </a:extLst>
          </p:cNvPr>
          <p:cNvSpPr>
            <a:spLocks noGrp="1" noChangeArrowheads="1"/>
          </p:cNvSpPr>
          <p:nvPr>
            <p:ph type="title"/>
          </p:nvPr>
        </p:nvSpPr>
        <p:spPr/>
        <p:txBody>
          <a:bodyPr/>
          <a:lstStyle/>
          <a:p>
            <a:r>
              <a:rPr lang="en-GB" altLang="ko-KR">
                <a:ea typeface="굴림" panose="020B0600000101010101" pitchFamily="50" charset="-127"/>
              </a:rPr>
              <a:t>Static RAM Operation</a:t>
            </a:r>
          </a:p>
        </p:txBody>
      </p:sp>
      <p:sp>
        <p:nvSpPr>
          <p:cNvPr id="41987" name="Rectangle 3">
            <a:extLst>
              <a:ext uri="{FF2B5EF4-FFF2-40B4-BE49-F238E27FC236}">
                <a16:creationId xmlns:a16="http://schemas.microsoft.com/office/drawing/2014/main" id="{DBE7BCE8-EC33-4BAC-8A32-9F8AE9CCD82E}"/>
              </a:ext>
            </a:extLst>
          </p:cNvPr>
          <p:cNvSpPr>
            <a:spLocks noGrp="1" noChangeArrowheads="1"/>
          </p:cNvSpPr>
          <p:nvPr>
            <p:ph type="body" idx="1"/>
          </p:nvPr>
        </p:nvSpPr>
        <p:spPr/>
        <p:txBody>
          <a:bodyPr/>
          <a:lstStyle/>
          <a:p>
            <a:pPr>
              <a:lnSpc>
                <a:spcPct val="90000"/>
              </a:lnSpc>
            </a:pPr>
            <a:r>
              <a:rPr lang="en-GB" altLang="ko-KR">
                <a:ea typeface="굴림" panose="020B0600000101010101" pitchFamily="50" charset="-127"/>
              </a:rPr>
              <a:t>Transistor arrangement gives stable logic state</a:t>
            </a:r>
          </a:p>
          <a:p>
            <a:pPr>
              <a:lnSpc>
                <a:spcPct val="90000"/>
              </a:lnSpc>
            </a:pPr>
            <a:r>
              <a:rPr lang="en-GB" altLang="ko-KR">
                <a:ea typeface="굴림" panose="020B0600000101010101" pitchFamily="50" charset="-127"/>
              </a:rPr>
              <a:t>State 1</a:t>
            </a:r>
          </a:p>
          <a:p>
            <a:pPr lvl="1">
              <a:lnSpc>
                <a:spcPct val="90000"/>
              </a:lnSpc>
            </a:pPr>
            <a:r>
              <a:rPr lang="en-GB" altLang="ko-KR">
                <a:ea typeface="굴림" panose="020B0600000101010101" pitchFamily="50" charset="-127"/>
              </a:rPr>
              <a:t>C</a:t>
            </a:r>
            <a:r>
              <a:rPr lang="en-GB" altLang="ko-KR" baseline="-20000">
                <a:ea typeface="굴림" panose="020B0600000101010101" pitchFamily="50" charset="-127"/>
              </a:rPr>
              <a:t>1</a:t>
            </a:r>
            <a:r>
              <a:rPr lang="en-GB" altLang="ko-KR">
                <a:ea typeface="굴림" panose="020B0600000101010101" pitchFamily="50" charset="-127"/>
              </a:rPr>
              <a:t> high, C</a:t>
            </a:r>
            <a:r>
              <a:rPr lang="en-GB" altLang="ko-KR" baseline="-20000">
                <a:ea typeface="굴림" panose="020B0600000101010101" pitchFamily="50" charset="-127"/>
              </a:rPr>
              <a:t>2</a:t>
            </a:r>
            <a:r>
              <a:rPr lang="en-GB" altLang="ko-KR">
                <a:ea typeface="굴림" panose="020B0600000101010101" pitchFamily="50" charset="-127"/>
              </a:rPr>
              <a:t> low</a:t>
            </a:r>
          </a:p>
          <a:p>
            <a:pPr lvl="1">
              <a:lnSpc>
                <a:spcPct val="90000"/>
              </a:lnSpc>
            </a:pPr>
            <a:r>
              <a:rPr lang="en-GB" altLang="ko-KR">
                <a:ea typeface="굴림" panose="020B0600000101010101" pitchFamily="50" charset="-127"/>
              </a:rPr>
              <a:t>T</a:t>
            </a:r>
            <a:r>
              <a:rPr lang="en-GB" altLang="ko-KR" baseline="-25000">
                <a:ea typeface="굴림" panose="020B0600000101010101" pitchFamily="50" charset="-127"/>
              </a:rPr>
              <a:t>1</a:t>
            </a:r>
            <a:r>
              <a:rPr lang="en-GB" altLang="ko-KR">
                <a:ea typeface="굴림" panose="020B0600000101010101" pitchFamily="50" charset="-127"/>
              </a:rPr>
              <a:t> T</a:t>
            </a:r>
            <a:r>
              <a:rPr lang="en-GB" altLang="ko-KR" baseline="-25000">
                <a:ea typeface="굴림" panose="020B0600000101010101" pitchFamily="50" charset="-127"/>
              </a:rPr>
              <a:t>4</a:t>
            </a:r>
            <a:r>
              <a:rPr lang="en-GB" altLang="ko-KR">
                <a:ea typeface="굴림" panose="020B0600000101010101" pitchFamily="50" charset="-127"/>
              </a:rPr>
              <a:t> off, T</a:t>
            </a:r>
            <a:r>
              <a:rPr lang="en-GB" altLang="ko-KR" baseline="-25000">
                <a:ea typeface="굴림" panose="020B0600000101010101" pitchFamily="50" charset="-127"/>
              </a:rPr>
              <a:t>2</a:t>
            </a:r>
            <a:r>
              <a:rPr lang="en-GB" altLang="ko-KR">
                <a:ea typeface="굴림" panose="020B0600000101010101" pitchFamily="50" charset="-127"/>
              </a:rPr>
              <a:t> T</a:t>
            </a:r>
            <a:r>
              <a:rPr lang="en-GB" altLang="ko-KR" baseline="-25000">
                <a:ea typeface="굴림" panose="020B0600000101010101" pitchFamily="50" charset="-127"/>
              </a:rPr>
              <a:t>3 </a:t>
            </a:r>
            <a:r>
              <a:rPr lang="en-GB" altLang="ko-KR">
                <a:ea typeface="굴림" panose="020B0600000101010101" pitchFamily="50" charset="-127"/>
              </a:rPr>
              <a:t>on</a:t>
            </a:r>
          </a:p>
          <a:p>
            <a:pPr>
              <a:lnSpc>
                <a:spcPct val="90000"/>
              </a:lnSpc>
            </a:pPr>
            <a:r>
              <a:rPr lang="en-GB" altLang="ko-KR">
                <a:ea typeface="굴림" panose="020B0600000101010101" pitchFamily="50" charset="-127"/>
              </a:rPr>
              <a:t>State 0</a:t>
            </a:r>
          </a:p>
          <a:p>
            <a:pPr lvl="1">
              <a:lnSpc>
                <a:spcPct val="90000"/>
              </a:lnSpc>
            </a:pPr>
            <a:r>
              <a:rPr lang="en-GB" altLang="ko-KR">
                <a:solidFill>
                  <a:srgbClr val="0070C0"/>
                </a:solidFill>
                <a:ea typeface="굴림" panose="020B0600000101010101" pitchFamily="50" charset="-127"/>
              </a:rPr>
              <a:t>C</a:t>
            </a:r>
            <a:r>
              <a:rPr lang="en-GB" altLang="ko-KR" baseline="-20000">
                <a:solidFill>
                  <a:srgbClr val="0070C0"/>
                </a:solidFill>
                <a:ea typeface="굴림" panose="020B0600000101010101" pitchFamily="50" charset="-127"/>
              </a:rPr>
              <a:t>2</a:t>
            </a:r>
            <a:r>
              <a:rPr lang="en-GB" altLang="ko-KR">
                <a:solidFill>
                  <a:srgbClr val="0070C0"/>
                </a:solidFill>
                <a:ea typeface="굴림" panose="020B0600000101010101" pitchFamily="50" charset="-127"/>
              </a:rPr>
              <a:t> high, C</a:t>
            </a:r>
            <a:r>
              <a:rPr lang="en-GB" altLang="ko-KR" baseline="-25000">
                <a:solidFill>
                  <a:srgbClr val="0070C0"/>
                </a:solidFill>
                <a:ea typeface="굴림" panose="020B0600000101010101" pitchFamily="50" charset="-127"/>
              </a:rPr>
              <a:t>1</a:t>
            </a:r>
            <a:r>
              <a:rPr lang="en-GB" altLang="ko-KR">
                <a:solidFill>
                  <a:srgbClr val="0070C0"/>
                </a:solidFill>
                <a:ea typeface="굴림" panose="020B0600000101010101" pitchFamily="50" charset="-127"/>
              </a:rPr>
              <a:t> low</a:t>
            </a:r>
          </a:p>
          <a:p>
            <a:pPr lvl="1">
              <a:lnSpc>
                <a:spcPct val="90000"/>
              </a:lnSpc>
            </a:pPr>
            <a:r>
              <a:rPr lang="en-GB" altLang="ko-KR">
                <a:solidFill>
                  <a:srgbClr val="0070C0"/>
                </a:solidFill>
                <a:ea typeface="굴림" panose="020B0600000101010101" pitchFamily="50" charset="-127"/>
              </a:rPr>
              <a:t>T</a:t>
            </a:r>
            <a:r>
              <a:rPr lang="en-GB" altLang="ko-KR" baseline="-25000">
                <a:solidFill>
                  <a:srgbClr val="0070C0"/>
                </a:solidFill>
                <a:ea typeface="굴림" panose="020B0600000101010101" pitchFamily="50" charset="-127"/>
              </a:rPr>
              <a:t>2</a:t>
            </a:r>
            <a:r>
              <a:rPr lang="en-GB" altLang="ko-KR">
                <a:solidFill>
                  <a:srgbClr val="0070C0"/>
                </a:solidFill>
                <a:ea typeface="굴림" panose="020B0600000101010101" pitchFamily="50" charset="-127"/>
              </a:rPr>
              <a:t> T</a:t>
            </a:r>
            <a:r>
              <a:rPr lang="en-GB" altLang="ko-KR" baseline="-25000">
                <a:solidFill>
                  <a:srgbClr val="0070C0"/>
                </a:solidFill>
                <a:ea typeface="굴림" panose="020B0600000101010101" pitchFamily="50" charset="-127"/>
              </a:rPr>
              <a:t>3</a:t>
            </a:r>
            <a:r>
              <a:rPr lang="en-GB" altLang="ko-KR">
                <a:solidFill>
                  <a:srgbClr val="0070C0"/>
                </a:solidFill>
                <a:ea typeface="굴림" panose="020B0600000101010101" pitchFamily="50" charset="-127"/>
              </a:rPr>
              <a:t> off, T</a:t>
            </a:r>
            <a:r>
              <a:rPr lang="en-GB" altLang="ko-KR" baseline="-25000">
                <a:solidFill>
                  <a:srgbClr val="0070C0"/>
                </a:solidFill>
                <a:ea typeface="굴림" panose="020B0600000101010101" pitchFamily="50" charset="-127"/>
              </a:rPr>
              <a:t>1</a:t>
            </a:r>
            <a:r>
              <a:rPr lang="en-GB" altLang="ko-KR">
                <a:solidFill>
                  <a:srgbClr val="0070C0"/>
                </a:solidFill>
                <a:ea typeface="굴림" panose="020B0600000101010101" pitchFamily="50" charset="-127"/>
              </a:rPr>
              <a:t> T</a:t>
            </a:r>
            <a:r>
              <a:rPr lang="en-GB" altLang="ko-KR" baseline="-25000">
                <a:solidFill>
                  <a:srgbClr val="0070C0"/>
                </a:solidFill>
                <a:ea typeface="굴림" panose="020B0600000101010101" pitchFamily="50" charset="-127"/>
              </a:rPr>
              <a:t>4 </a:t>
            </a:r>
            <a:r>
              <a:rPr lang="en-GB" altLang="ko-KR">
                <a:solidFill>
                  <a:srgbClr val="0070C0"/>
                </a:solidFill>
                <a:ea typeface="굴림" panose="020B0600000101010101" pitchFamily="50" charset="-127"/>
              </a:rPr>
              <a:t>on</a:t>
            </a:r>
          </a:p>
          <a:p>
            <a:pPr>
              <a:lnSpc>
                <a:spcPct val="90000"/>
              </a:lnSpc>
            </a:pPr>
            <a:r>
              <a:rPr lang="en-GB" altLang="ko-KR">
                <a:ea typeface="굴림" panose="020B0600000101010101" pitchFamily="50" charset="-127"/>
              </a:rPr>
              <a:t>Address line transistors T</a:t>
            </a:r>
            <a:r>
              <a:rPr lang="en-GB" altLang="ko-KR" baseline="-25000">
                <a:ea typeface="굴림" panose="020B0600000101010101" pitchFamily="50" charset="-127"/>
              </a:rPr>
              <a:t>5</a:t>
            </a:r>
            <a:r>
              <a:rPr lang="en-GB" altLang="ko-KR">
                <a:ea typeface="굴림" panose="020B0600000101010101" pitchFamily="50" charset="-127"/>
              </a:rPr>
              <a:t> T</a:t>
            </a:r>
            <a:r>
              <a:rPr lang="en-GB" altLang="ko-KR" baseline="-25000">
                <a:ea typeface="굴림" panose="020B0600000101010101" pitchFamily="50" charset="-127"/>
              </a:rPr>
              <a:t>6</a:t>
            </a:r>
            <a:r>
              <a:rPr lang="en-GB" altLang="ko-KR">
                <a:ea typeface="굴림" panose="020B0600000101010101" pitchFamily="50" charset="-127"/>
              </a:rPr>
              <a:t> is switch</a:t>
            </a:r>
          </a:p>
          <a:p>
            <a:pPr>
              <a:lnSpc>
                <a:spcPct val="90000"/>
              </a:lnSpc>
            </a:pPr>
            <a:r>
              <a:rPr lang="en-GB" altLang="ko-KR">
                <a:solidFill>
                  <a:srgbClr val="3333FF"/>
                </a:solidFill>
                <a:ea typeface="굴림" panose="020B0600000101010101" pitchFamily="50" charset="-127"/>
              </a:rPr>
              <a:t>Write </a:t>
            </a:r>
          </a:p>
          <a:p>
            <a:pPr lvl="1">
              <a:lnSpc>
                <a:spcPct val="90000"/>
              </a:lnSpc>
            </a:pPr>
            <a:r>
              <a:rPr lang="en-GB" altLang="ko-KR" sz="1800">
                <a:solidFill>
                  <a:srgbClr val="3333FF"/>
                </a:solidFill>
                <a:ea typeface="굴림" panose="020B0600000101010101" pitchFamily="50" charset="-127"/>
              </a:rPr>
              <a:t>(1) apply value to B &amp;      (2) Raise word line (address line)</a:t>
            </a:r>
          </a:p>
          <a:p>
            <a:pPr>
              <a:lnSpc>
                <a:spcPct val="90000"/>
              </a:lnSpc>
            </a:pPr>
            <a:r>
              <a:rPr lang="en-GB" altLang="ko-KR">
                <a:solidFill>
                  <a:srgbClr val="3333FF"/>
                </a:solidFill>
                <a:ea typeface="굴림" panose="020B0600000101010101" pitchFamily="50" charset="-127"/>
              </a:rPr>
              <a:t>Read </a:t>
            </a:r>
          </a:p>
          <a:p>
            <a:pPr lvl="1">
              <a:lnSpc>
                <a:spcPct val="90000"/>
              </a:lnSpc>
            </a:pPr>
            <a:r>
              <a:rPr lang="en-GB" altLang="ko-KR" sz="1800">
                <a:solidFill>
                  <a:srgbClr val="3333FF"/>
                </a:solidFill>
                <a:ea typeface="굴림" panose="020B0600000101010101" pitchFamily="50" charset="-127"/>
              </a:rPr>
              <a:t>(1) value is on line B   (2)raise word line </a:t>
            </a:r>
          </a:p>
          <a:p>
            <a:pPr>
              <a:lnSpc>
                <a:spcPct val="90000"/>
              </a:lnSpc>
            </a:pPr>
            <a:endParaRPr lang="en-GB" altLang="ko-KR">
              <a:ea typeface="굴림" panose="020B0600000101010101" pitchFamily="50" charset="-127"/>
            </a:endParaRPr>
          </a:p>
        </p:txBody>
      </p:sp>
      <p:graphicFrame>
        <p:nvGraphicFramePr>
          <p:cNvPr id="41988" name="Object 5">
            <a:extLst>
              <a:ext uri="{FF2B5EF4-FFF2-40B4-BE49-F238E27FC236}">
                <a16:creationId xmlns:a16="http://schemas.microsoft.com/office/drawing/2014/main" id="{0C191DDB-47C3-464D-A124-0528A8505D32}"/>
              </a:ext>
            </a:extLst>
          </p:cNvPr>
          <p:cNvGraphicFramePr>
            <a:graphicFrameLocks noChangeAspect="1"/>
          </p:cNvGraphicFramePr>
          <p:nvPr/>
        </p:nvGraphicFramePr>
        <p:xfrm>
          <a:off x="3924300" y="5300663"/>
          <a:ext cx="287338" cy="360362"/>
        </p:xfrm>
        <a:graphic>
          <a:graphicData uri="http://schemas.openxmlformats.org/presentationml/2006/ole">
            <mc:AlternateContent xmlns:mc="http://schemas.openxmlformats.org/markup-compatibility/2006">
              <mc:Choice xmlns:v="urn:schemas-microsoft-com:vml" Requires="v">
                <p:oleObj spid="_x0000_s41995" name="Equation" r:id="rId4" imgW="152334" imgH="190417" progId="Equation.DSMT4">
                  <p:embed/>
                </p:oleObj>
              </mc:Choice>
              <mc:Fallback>
                <p:oleObj name="Equation" r:id="rId4" imgW="152334" imgH="190417"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4300" y="5300663"/>
                        <a:ext cx="287338"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0"/>
          </p:nvPr>
        </p:nvSpPr>
        <p:spPr/>
        <p:txBody>
          <a:bodyPr/>
          <a:lstStyle/>
          <a:p>
            <a:pPr lvl="0">
              <a:defRPr/>
            </a:pPr>
            <a:r>
              <a:rPr lang="en-US" altLang="ko-KR">
                <a:latin typeface="Times New Roman"/>
                <a:ea typeface="굴림"/>
                <a:cs typeface="+mn-cs"/>
              </a:rPr>
              <a:t>SRAM Read</a:t>
            </a:r>
            <a:endParaRPr lang="en-GB" altLang="ko-KR">
              <a:latin typeface="Times New Roman"/>
              <a:ea typeface="굴림"/>
              <a:cs typeface="+mn-cs"/>
            </a:endParaRPr>
          </a:p>
        </p:txBody>
      </p:sp>
      <p:pic>
        <p:nvPicPr>
          <p:cNvPr id="44035" name="그림 1"/>
          <p:cNvPicPr>
            <a:picLocks noChangeAspect="1"/>
          </p:cNvPicPr>
          <p:nvPr/>
        </p:nvPicPr>
        <p:blipFill rotWithShape="1">
          <a:blip r:embed="rId3"/>
          <a:srcRect/>
          <a:stretch>
            <a:fillRect/>
          </a:stretch>
        </p:blipFill>
        <p:spPr>
          <a:xfrm>
            <a:off x="5597525" y="195263"/>
            <a:ext cx="3579813" cy="2089150"/>
          </a:xfrm>
          <a:prstGeom prst="rect">
            <a:avLst/>
          </a:prstGeom>
          <a:noFill/>
          <a:ln>
            <a:noFill/>
          </a:ln>
        </p:spPr>
      </p:pic>
      <p:pic>
        <p:nvPicPr>
          <p:cNvPr id="44036" name="그림 2"/>
          <p:cNvPicPr>
            <a:picLocks noChangeAspect="1"/>
          </p:cNvPicPr>
          <p:nvPr/>
        </p:nvPicPr>
        <p:blipFill rotWithShape="1">
          <a:blip r:embed="rId4"/>
          <a:srcRect/>
          <a:stretch>
            <a:fillRect/>
          </a:stretch>
        </p:blipFill>
        <p:spPr>
          <a:xfrm>
            <a:off x="5292725" y="3886200"/>
            <a:ext cx="3713163" cy="2879725"/>
          </a:xfrm>
          <a:prstGeom prst="rect">
            <a:avLst/>
          </a:prstGeom>
          <a:noFill/>
          <a:ln>
            <a:noFill/>
          </a:ln>
        </p:spPr>
      </p:pic>
      <p:sp>
        <p:nvSpPr>
          <p:cNvPr id="35842" name="Rectangle 3"/>
          <p:cNvSpPr>
            <a:spLocks noGrp="1" noChangeArrowheads="1"/>
          </p:cNvSpPr>
          <p:nvPr>
            <p:ph type="body" idx="1"/>
          </p:nvPr>
        </p:nvSpPr>
        <p:spPr>
          <a:xfrm>
            <a:off x="49213" y="1066800"/>
            <a:ext cx="5905500" cy="5638800"/>
          </a:xfrm>
        </p:spPr>
        <p:txBody>
          <a:bodyPr/>
          <a:lstStyle/>
          <a:p>
            <a:pPr>
              <a:lnSpc>
                <a:spcPct val="90000"/>
              </a:lnSpc>
              <a:defRPr/>
            </a:pPr>
            <a:r>
              <a:rPr lang="en-GB" altLang="ko-KR" sz="2000">
                <a:latin typeface="Times New Roman"/>
                <a:ea typeface="굴림"/>
                <a:cs typeface="+mn-cs"/>
              </a:rPr>
              <a:t>Precharge both </a:t>
            </a:r>
            <a:r>
              <a:rPr lang="en-GB" altLang="ko-KR" sz="2000" b="1">
                <a:latin typeface="Times New Roman"/>
                <a:ea typeface="굴림"/>
                <a:cs typeface="+mn-cs"/>
              </a:rPr>
              <a:t>bitlines(</a:t>
            </a:r>
            <a:r>
              <a:rPr lang="en-US" altLang="ko-KR" sz="2000" b="1">
                <a:latin typeface="Times New Roman"/>
                <a:ea typeface="굴림"/>
                <a:cs typeface="+mn-cs"/>
              </a:rPr>
              <a:t>bit, bit_b)</a:t>
            </a:r>
            <a:r>
              <a:rPr lang="en-GB" altLang="ko-KR" sz="2000">
                <a:latin typeface="Times New Roman"/>
                <a:ea typeface="굴림"/>
                <a:cs typeface="+mn-cs"/>
              </a:rPr>
              <a:t> high </a:t>
            </a:r>
            <a:endParaRPr lang="en-GB" altLang="ko-KR" sz="2000">
              <a:latin typeface="Times New Roman"/>
              <a:ea typeface="굴림"/>
              <a:cs typeface="+mn-cs"/>
            </a:endParaRPr>
          </a:p>
          <a:p>
            <a:pPr>
              <a:lnSpc>
                <a:spcPct val="90000"/>
              </a:lnSpc>
              <a:defRPr/>
            </a:pPr>
            <a:r>
              <a:rPr lang="en-GB" altLang="ko-KR" sz="2000">
                <a:latin typeface="Times New Roman"/>
                <a:ea typeface="굴림"/>
                <a:cs typeface="+mn-cs"/>
              </a:rPr>
              <a:t>Then turn on word line</a:t>
            </a:r>
            <a:endParaRPr lang="en-GB" altLang="ko-KR" sz="2000">
              <a:latin typeface="Times New Roman"/>
              <a:ea typeface="굴림"/>
              <a:cs typeface="+mn-cs"/>
            </a:endParaRPr>
          </a:p>
          <a:p>
            <a:pPr>
              <a:lnSpc>
                <a:spcPct val="90000"/>
              </a:lnSpc>
              <a:defRPr/>
            </a:pPr>
            <a:r>
              <a:rPr lang="en-GB" altLang="ko-KR" sz="2000" b="1">
                <a:latin typeface="Times New Roman"/>
                <a:ea typeface="굴림"/>
                <a:cs typeface="+mn-cs"/>
              </a:rPr>
              <a:t>One of the two bit lines will be pulled down by the cell</a:t>
            </a:r>
            <a:endParaRPr lang="en-GB" altLang="ko-KR" sz="2000" b="1">
              <a:latin typeface="Times New Roman"/>
              <a:ea typeface="굴림"/>
              <a:cs typeface="+mn-cs"/>
            </a:endParaRPr>
          </a:p>
          <a:p>
            <a:pPr>
              <a:lnSpc>
                <a:spcPct val="90000"/>
              </a:lnSpc>
              <a:defRPr/>
            </a:pPr>
            <a:endParaRPr lang="en-GB" altLang="ko-KR" sz="2000">
              <a:latin typeface="Times New Roman"/>
              <a:ea typeface="굴림"/>
              <a:cs typeface="+mn-cs"/>
            </a:endParaRPr>
          </a:p>
          <a:p>
            <a:pPr>
              <a:lnSpc>
                <a:spcPct val="90000"/>
              </a:lnSpc>
              <a:defRPr/>
            </a:pPr>
            <a:r>
              <a:rPr lang="ko-KR" altLang="en-US" sz="2000">
                <a:latin typeface="Times New Roman"/>
                <a:ea typeface="굴림"/>
                <a:cs typeface="+mn-cs"/>
              </a:rPr>
              <a:t>예</a:t>
            </a:r>
            <a:r>
              <a:rPr lang="en-US" altLang="ko-KR" sz="2000">
                <a:latin typeface="Times New Roman"/>
                <a:ea typeface="굴림"/>
                <a:cs typeface="+mn-cs"/>
              </a:rPr>
              <a:t>: A=0, A_b=1 </a:t>
            </a:r>
            <a:r>
              <a:rPr lang="ko-KR" altLang="en-US" sz="2000">
                <a:latin typeface="Times New Roman"/>
                <a:ea typeface="굴림"/>
                <a:cs typeface="+mn-cs"/>
              </a:rPr>
              <a:t>값을 가지고 있다고 가정</a:t>
            </a:r>
            <a:endParaRPr lang="ko-KR" altLang="en-US" sz="2000">
              <a:latin typeface="Times New Roman"/>
              <a:ea typeface="굴림"/>
              <a:cs typeface="+mn-cs"/>
            </a:endParaRPr>
          </a:p>
          <a:p>
            <a:pPr indent="-161925">
              <a:lnSpc>
                <a:spcPct val="90000"/>
              </a:lnSpc>
              <a:buFontTx/>
              <a:buChar char="-"/>
              <a:defRPr/>
            </a:pPr>
            <a:r>
              <a:rPr lang="en-US" altLang="ko-KR" sz="2000">
                <a:solidFill>
                  <a:srgbClr val="3333ff"/>
                </a:solidFill>
                <a:latin typeface="Times New Roman"/>
                <a:ea typeface="굴림"/>
                <a:cs typeface="+mn-cs"/>
              </a:rPr>
              <a:t>bit discharges, bit_b stays high</a:t>
            </a:r>
            <a:endParaRPr lang="en-US" altLang="ko-KR" sz="2000">
              <a:solidFill>
                <a:srgbClr val="3333ff"/>
              </a:solidFill>
              <a:latin typeface="Times New Roman"/>
              <a:ea typeface="굴림"/>
              <a:cs typeface="+mn-cs"/>
            </a:endParaRPr>
          </a:p>
          <a:p>
            <a:pPr indent="-161925">
              <a:lnSpc>
                <a:spcPct val="90000"/>
              </a:lnSpc>
              <a:buFontTx/>
              <a:buChar char="-"/>
              <a:defRPr/>
            </a:pPr>
            <a:r>
              <a:rPr lang="en-US" altLang="ko-KR" sz="2000">
                <a:solidFill>
                  <a:srgbClr val="3333ff"/>
                </a:solidFill>
                <a:latin typeface="Times New Roman"/>
                <a:ea typeface="굴림"/>
                <a:cs typeface="+mn-cs"/>
              </a:rPr>
              <a:t>But A bumps up slightly</a:t>
            </a:r>
            <a:endParaRPr lang="en-US" altLang="ko-KR" sz="2000">
              <a:solidFill>
                <a:srgbClr val="3333ff"/>
              </a:solidFill>
              <a:latin typeface="Times New Roman"/>
              <a:ea typeface="굴림"/>
              <a:cs typeface="+mn-cs"/>
            </a:endParaRPr>
          </a:p>
          <a:p>
            <a:pPr>
              <a:lnSpc>
                <a:spcPct val="90000"/>
              </a:lnSpc>
              <a:buFontTx/>
              <a:buChar char="-"/>
              <a:defRPr/>
            </a:pPr>
            <a:endParaRPr lang="en-US" altLang="ko-KR" sz="2000">
              <a:latin typeface="Times New Roman"/>
              <a:ea typeface="굴림"/>
              <a:cs typeface="+mn-cs"/>
            </a:endParaRPr>
          </a:p>
          <a:p>
            <a:pPr>
              <a:lnSpc>
                <a:spcPct val="90000"/>
              </a:lnSpc>
              <a:defRPr/>
            </a:pPr>
            <a:r>
              <a:rPr lang="en-US" altLang="ko-KR" sz="2000">
                <a:latin typeface="Times New Roman"/>
                <a:ea typeface="굴림"/>
                <a:cs typeface="+mn-cs"/>
              </a:rPr>
              <a:t>Read stability</a:t>
            </a:r>
            <a:endParaRPr lang="en-US" altLang="ko-KR" sz="2000">
              <a:latin typeface="Times New Roman"/>
              <a:ea typeface="굴림"/>
              <a:cs typeface="+mn-cs"/>
            </a:endParaRPr>
          </a:p>
          <a:p>
            <a:pPr indent="-161925">
              <a:lnSpc>
                <a:spcPct val="90000"/>
              </a:lnSpc>
              <a:buFontTx/>
              <a:buChar char="-"/>
              <a:defRPr/>
            </a:pPr>
            <a:r>
              <a:rPr lang="en-US" altLang="ko-KR" sz="2000">
                <a:solidFill>
                  <a:srgbClr val="3333ff"/>
                </a:solidFill>
                <a:latin typeface="Times New Roman"/>
                <a:ea typeface="굴림"/>
                <a:cs typeface="+mn-cs"/>
              </a:rPr>
              <a:t>N1 &gt;&gt; N2 </a:t>
            </a:r>
            <a:r>
              <a:rPr lang="ko-KR" altLang="en-US" sz="2000">
                <a:solidFill>
                  <a:srgbClr val="3333ff"/>
                </a:solidFill>
                <a:latin typeface="Times New Roman"/>
                <a:ea typeface="굴림"/>
                <a:cs typeface="+mn-cs"/>
              </a:rPr>
              <a:t>이어야</a:t>
            </a:r>
            <a:r>
              <a:rPr lang="en-US" altLang="ko-KR" sz="2000">
                <a:solidFill>
                  <a:srgbClr val="3333ff"/>
                </a:solidFill>
                <a:latin typeface="Times New Roman"/>
                <a:ea typeface="굴림"/>
                <a:cs typeface="+mn-cs"/>
              </a:rPr>
              <a:t>(drive </a:t>
            </a:r>
            <a:r>
              <a:rPr lang="ko-KR" altLang="en-US" sz="2000">
                <a:solidFill>
                  <a:srgbClr val="3333ff"/>
                </a:solidFill>
                <a:latin typeface="Times New Roman"/>
                <a:ea typeface="굴림"/>
                <a:cs typeface="+mn-cs"/>
              </a:rPr>
              <a:t>능력 갖춰야 함</a:t>
            </a:r>
            <a:r>
              <a:rPr lang="en-US" altLang="ko-KR" sz="2000">
                <a:solidFill>
                  <a:srgbClr val="3333ff"/>
                </a:solidFill>
                <a:latin typeface="Times New Roman"/>
                <a:ea typeface="굴림"/>
                <a:cs typeface="+mn-cs"/>
              </a:rPr>
              <a:t>)</a:t>
            </a:r>
            <a:endParaRPr lang="en-GB" altLang="ko-KR" sz="2000">
              <a:solidFill>
                <a:srgbClr val="3333ff"/>
              </a:solidFill>
              <a:latin typeface="Times New Roman"/>
              <a:ea typeface="굴림"/>
              <a:cs typeface="+mn-cs"/>
            </a:endParaRPr>
          </a:p>
        </p:txBody>
      </p:sp>
      <p:sp>
        <p:nvSpPr>
          <p:cNvPr id="44038" name="TextBox 3"/>
          <p:cNvSpPr txBox="1">
            <a:spLocks noChangeArrowheads="1"/>
          </p:cNvSpPr>
          <p:nvPr/>
        </p:nvSpPr>
        <p:spPr>
          <a:xfrm>
            <a:off x="5764213" y="2501900"/>
            <a:ext cx="3384550" cy="1372870"/>
          </a:xfrm>
          <a:prstGeom prst="rect">
            <a:avLst/>
          </a:prstGeom>
          <a:noFill/>
          <a:ln>
            <a:noFill/>
          </a:ln>
        </p:spPr>
        <p:txBody>
          <a:bodyPr>
            <a:spAutoFit/>
          </a:bodyPr>
          <a:lstStyle>
            <a:lvl1pPr marL="85725" indent="-85725">
              <a:spcBef>
                <a:spcPct val="20000"/>
              </a:spcBef>
              <a:buClr>
                <a:srgbClr val="ff0000"/>
              </a:buClr>
              <a:buChar char="•"/>
              <a:defRPr kumimoji="1" sz="2800">
                <a:solidFill>
                  <a:schemeClr val="tx1"/>
                </a:solidFill>
                <a:latin typeface="Verdana"/>
              </a:defRPr>
            </a:lvl1pPr>
            <a:lvl2pPr marL="742950" indent="-285750">
              <a:spcBef>
                <a:spcPct val="20000"/>
              </a:spcBef>
              <a:buClr>
                <a:srgbClr val="ff0000"/>
              </a:buClr>
              <a:buChar char="—"/>
              <a:defRPr kumimoji="1" sz="2400">
                <a:solidFill>
                  <a:schemeClr val="tx1"/>
                </a:solidFill>
                <a:latin typeface="Verdana"/>
              </a:defRPr>
            </a:lvl2pPr>
            <a:lvl3pPr marL="1143000" indent="-228600">
              <a:spcBef>
                <a:spcPct val="20000"/>
              </a:spcBef>
              <a:buClr>
                <a:srgbClr val="ff0000"/>
              </a:buClr>
              <a:buChar char="–"/>
              <a:defRPr kumimoji="1" sz="2000">
                <a:solidFill>
                  <a:schemeClr val="tx1"/>
                </a:solidFill>
                <a:latin typeface="Verdana"/>
              </a:defRPr>
            </a:lvl3pPr>
            <a:lvl4pPr marL="1600200" indent="-228600">
              <a:spcBef>
                <a:spcPct val="20000"/>
              </a:spcBef>
              <a:buClr>
                <a:srgbClr val="ff0000"/>
              </a:buClr>
              <a:buChar char="+"/>
              <a:defRPr kumimoji="1" sz="2000">
                <a:solidFill>
                  <a:schemeClr val="tx1"/>
                </a:solidFill>
                <a:latin typeface="Verdana"/>
              </a:defRPr>
            </a:lvl4pPr>
            <a:lvl5pPr marL="2057400" indent="-228600">
              <a:spcBef>
                <a:spcPct val="20000"/>
              </a:spcBef>
              <a:buClr>
                <a:srgbClr val="ff0000"/>
              </a:buClr>
              <a:buChar char="o"/>
              <a:defRPr kumimoji="1" sz="2000">
                <a:solidFill>
                  <a:schemeClr val="tx1"/>
                </a:solidFill>
                <a:latin typeface="Verdana"/>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a:defRPr>
            </a:lvl9pPr>
          </a:lstStyle>
          <a:p>
            <a:pPr>
              <a:spcBef>
                <a:spcPct val="0"/>
              </a:spcBef>
              <a:buClrTx/>
              <a:defRPr/>
            </a:pPr>
            <a:r>
              <a:rPr kumimoji="0" lang="en-US" altLang="ko-KR" sz="1400">
                <a:solidFill>
                  <a:srgbClr val="3333ff"/>
                </a:solidFill>
                <a:latin typeface="맑은 고딕"/>
                <a:ea typeface="맑은 고딕"/>
              </a:rPr>
              <a:t>A=0</a:t>
            </a:r>
            <a:r>
              <a:rPr kumimoji="0" lang="ko-KR" altLang="en-US" sz="1400">
                <a:solidFill>
                  <a:srgbClr val="3333ff"/>
                </a:solidFill>
                <a:latin typeface="맑은 고딕"/>
                <a:ea typeface="맑은 고딕"/>
              </a:rPr>
              <a:t>이므로 </a:t>
            </a:r>
            <a:r>
              <a:rPr kumimoji="0" lang="en-US" altLang="ko-KR" sz="1400">
                <a:solidFill>
                  <a:srgbClr val="3333ff"/>
                </a:solidFill>
                <a:latin typeface="맑은 고딕"/>
                <a:ea typeface="맑은 고딕"/>
              </a:rPr>
              <a:t>bit</a:t>
            </a:r>
            <a:r>
              <a:rPr kumimoji="0" lang="ko-KR" altLang="en-US" sz="1400">
                <a:solidFill>
                  <a:srgbClr val="3333ff"/>
                </a:solidFill>
                <a:latin typeface="맑은 고딕"/>
                <a:ea typeface="맑은 고딕"/>
              </a:rPr>
              <a:t>값을 읽으면 최종 </a:t>
            </a:r>
            <a:r>
              <a:rPr kumimoji="0" lang="en-US" altLang="ko-KR" sz="1400">
                <a:solidFill>
                  <a:srgbClr val="3333ff"/>
                </a:solidFill>
                <a:latin typeface="맑은 고딕"/>
                <a:ea typeface="맑은 고딕"/>
              </a:rPr>
              <a:t>0</a:t>
            </a:r>
            <a:r>
              <a:rPr kumimoji="0" lang="ko-KR" altLang="en-US" sz="1400">
                <a:solidFill>
                  <a:srgbClr val="3333ff"/>
                </a:solidFill>
                <a:latin typeface="맑은 고딕"/>
                <a:ea typeface="맑은 고딕"/>
              </a:rPr>
              <a:t>이됨</a:t>
            </a:r>
            <a:endParaRPr kumimoji="0" lang="ko-KR" altLang="en-US" sz="1400">
              <a:solidFill>
                <a:srgbClr val="3333ff"/>
              </a:solidFill>
              <a:latin typeface="맑은 고딕"/>
              <a:ea typeface="맑은 고딕"/>
            </a:endParaRPr>
          </a:p>
          <a:p>
            <a:pPr>
              <a:spcBef>
                <a:spcPct val="0"/>
              </a:spcBef>
              <a:buClrTx/>
              <a:defRPr/>
            </a:pPr>
            <a:r>
              <a:rPr kumimoji="0" lang="ko-KR" altLang="en-US" sz="1400">
                <a:solidFill>
                  <a:srgbClr val="3333ff"/>
                </a:solidFill>
                <a:latin typeface="맑은 고딕"/>
                <a:ea typeface="맑은 고딕"/>
              </a:rPr>
              <a:t>아래 그림을 보면</a:t>
            </a:r>
            <a:r>
              <a:rPr kumimoji="0" lang="en-US" altLang="ko-KR" sz="1400">
                <a:solidFill>
                  <a:srgbClr val="3333ff"/>
                </a:solidFill>
                <a:latin typeface="맑은 고딕"/>
                <a:ea typeface="맑은 고딕"/>
              </a:rPr>
              <a:t>,bit, bit_b</a:t>
            </a:r>
            <a:r>
              <a:rPr kumimoji="0" lang="ko-KR" altLang="en-US" sz="1400">
                <a:solidFill>
                  <a:srgbClr val="3333ff"/>
                </a:solidFill>
                <a:latin typeface="맑은 고딕"/>
                <a:ea typeface="맑은 고딕"/>
              </a:rPr>
              <a:t>가모두 </a:t>
            </a:r>
            <a:r>
              <a:rPr kumimoji="0" lang="en-US" altLang="ko-KR" sz="1400">
                <a:solidFill>
                  <a:srgbClr val="3333ff"/>
                </a:solidFill>
                <a:latin typeface="맑은 고딕"/>
                <a:ea typeface="맑은 고딕"/>
              </a:rPr>
              <a:t>1</a:t>
            </a:r>
            <a:r>
              <a:rPr kumimoji="0" lang="ko-KR" altLang="en-US" sz="1400">
                <a:solidFill>
                  <a:srgbClr val="3333ff"/>
                </a:solidFill>
                <a:latin typeface="맑은 고딕"/>
                <a:ea typeface="맑은 고딕"/>
              </a:rPr>
              <a:t>로 되어 있다가 </a:t>
            </a:r>
            <a:r>
              <a:rPr kumimoji="0" lang="en-US" altLang="ko-KR" sz="1400">
                <a:solidFill>
                  <a:srgbClr val="3333ff"/>
                </a:solidFill>
                <a:latin typeface="맑은 고딕"/>
                <a:ea typeface="맑은 고딕"/>
              </a:rPr>
              <a:t>word</a:t>
            </a:r>
            <a:r>
              <a:rPr kumimoji="0" lang="ko-KR" altLang="en-US" sz="1400">
                <a:solidFill>
                  <a:srgbClr val="3333ff"/>
                </a:solidFill>
                <a:latin typeface="맑은 고딕"/>
                <a:ea typeface="맑은 고딕"/>
              </a:rPr>
              <a:t>가 활성화되니</a:t>
            </a:r>
            <a:r>
              <a:rPr kumimoji="0" lang="en-US" altLang="ko-KR" sz="1400">
                <a:solidFill>
                  <a:srgbClr val="3333ff"/>
                </a:solidFill>
                <a:latin typeface="맑은 고딕"/>
                <a:ea typeface="맑은 고딕"/>
              </a:rPr>
              <a:t>(</a:t>
            </a:r>
            <a:r>
              <a:rPr kumimoji="0" lang="ko-KR" altLang="en-US" sz="1400">
                <a:solidFill>
                  <a:srgbClr val="3333ff"/>
                </a:solidFill>
                <a:latin typeface="맑은 고딕"/>
                <a:ea typeface="맑은 고딕"/>
              </a:rPr>
              <a:t>읽고자 하니</a:t>
            </a:r>
            <a:r>
              <a:rPr kumimoji="0" lang="en-US" altLang="ko-KR" sz="1400">
                <a:solidFill>
                  <a:srgbClr val="3333ff"/>
                </a:solidFill>
                <a:latin typeface="맑은 고딕"/>
                <a:ea typeface="맑은 고딕"/>
              </a:rPr>
              <a:t>) A(0)</a:t>
            </a:r>
            <a:r>
              <a:rPr kumimoji="0" lang="ko-KR" altLang="en-US" sz="1400">
                <a:solidFill>
                  <a:srgbClr val="3333ff"/>
                </a:solidFill>
                <a:latin typeface="맑은 고딕"/>
                <a:ea typeface="맑은 고딕"/>
              </a:rPr>
              <a:t>값에 의해 </a:t>
            </a:r>
            <a:r>
              <a:rPr kumimoji="0" lang="en-US" altLang="ko-KR" sz="1400">
                <a:solidFill>
                  <a:srgbClr val="3333ff"/>
                </a:solidFill>
                <a:latin typeface="맑은 고딕"/>
                <a:ea typeface="맑은 고딕"/>
              </a:rPr>
              <a:t>bit</a:t>
            </a:r>
            <a:r>
              <a:rPr kumimoji="0" lang="ko-KR" altLang="en-US" sz="1400">
                <a:solidFill>
                  <a:srgbClr val="3333ff"/>
                </a:solidFill>
                <a:latin typeface="맑은 고딕"/>
                <a:ea typeface="맑은 고딕"/>
              </a:rPr>
              <a:t>이 </a:t>
            </a:r>
            <a:r>
              <a:rPr kumimoji="0" lang="en-US" altLang="ko-KR" sz="1400">
                <a:solidFill>
                  <a:srgbClr val="3333ff"/>
                </a:solidFill>
                <a:latin typeface="맑은 고딕"/>
                <a:ea typeface="맑은 고딕"/>
              </a:rPr>
              <a:t>0</a:t>
            </a:r>
            <a:r>
              <a:rPr kumimoji="0" lang="ko-KR" altLang="en-US" sz="1400">
                <a:solidFill>
                  <a:srgbClr val="3333ff"/>
                </a:solidFill>
                <a:latin typeface="맑은 고딕"/>
                <a:ea typeface="맑은 고딕"/>
              </a:rPr>
              <a:t>이 됨을 알 수 있음</a:t>
            </a:r>
            <a:endParaRPr kumimoji="0" lang="ko-KR" altLang="en-US" sz="1400">
              <a:solidFill>
                <a:srgbClr val="3333ff"/>
              </a:solidFill>
              <a:latin typeface="맑은 고딕"/>
              <a:ea typeface="맑은 고딕"/>
            </a:endParaRPr>
          </a:p>
          <a:p>
            <a:pPr>
              <a:spcBef>
                <a:spcPct val="0"/>
              </a:spcBef>
              <a:buClrTx/>
              <a:defRPr/>
            </a:pPr>
            <a:endParaRPr kumimoji="0" lang="ko-KR" altLang="en-US" sz="1400">
              <a:solidFill>
                <a:srgbClr val="3333ff"/>
              </a:solidFill>
              <a:latin typeface="맑은 고딕"/>
              <a:ea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그림 7">
            <a:extLst>
              <a:ext uri="{FF2B5EF4-FFF2-40B4-BE49-F238E27FC236}">
                <a16:creationId xmlns:a16="http://schemas.microsoft.com/office/drawing/2014/main" id="{033DFE70-840D-48DD-AA7F-FFC1F894072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11750" y="3762375"/>
            <a:ext cx="3714750"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2">
            <a:extLst>
              <a:ext uri="{FF2B5EF4-FFF2-40B4-BE49-F238E27FC236}">
                <a16:creationId xmlns:a16="http://schemas.microsoft.com/office/drawing/2014/main" id="{F0B8602B-F56B-4D8D-B4C7-2F7BC4A7FC48}"/>
              </a:ext>
            </a:extLst>
          </p:cNvPr>
          <p:cNvSpPr>
            <a:spLocks noGrp="1" noChangeArrowheads="1"/>
          </p:cNvSpPr>
          <p:nvPr>
            <p:ph type="title"/>
          </p:nvPr>
        </p:nvSpPr>
        <p:spPr/>
        <p:txBody>
          <a:bodyPr/>
          <a:lstStyle/>
          <a:p>
            <a:r>
              <a:rPr lang="en-US" altLang="ko-KR">
                <a:ea typeface="굴림" panose="020B0600000101010101" pitchFamily="50" charset="-127"/>
              </a:rPr>
              <a:t>SRAM Write</a:t>
            </a:r>
            <a:endParaRPr lang="en-GB" altLang="ko-KR">
              <a:ea typeface="굴림" panose="020B0600000101010101" pitchFamily="50" charset="-127"/>
            </a:endParaRPr>
          </a:p>
        </p:txBody>
      </p:sp>
      <p:sp>
        <p:nvSpPr>
          <p:cNvPr id="35842" name="Rectangle 3">
            <a:extLst>
              <a:ext uri="{FF2B5EF4-FFF2-40B4-BE49-F238E27FC236}">
                <a16:creationId xmlns:a16="http://schemas.microsoft.com/office/drawing/2014/main" id="{E10AF369-8D28-43C0-96D1-120D3DB7586C}"/>
              </a:ext>
            </a:extLst>
          </p:cNvPr>
          <p:cNvSpPr>
            <a:spLocks noGrp="1" noChangeArrowheads="1"/>
          </p:cNvSpPr>
          <p:nvPr>
            <p:ph type="body" idx="1"/>
          </p:nvPr>
        </p:nvSpPr>
        <p:spPr>
          <a:xfrm>
            <a:off x="49213" y="1066800"/>
            <a:ext cx="5905500" cy="5638800"/>
          </a:xfrm>
        </p:spPr>
        <p:txBody>
          <a:bodyPr/>
          <a:lstStyle/>
          <a:p>
            <a:pPr>
              <a:lnSpc>
                <a:spcPct val="90000"/>
              </a:lnSpc>
              <a:defRPr/>
            </a:pPr>
            <a:r>
              <a:rPr lang="en-US" altLang="ko-KR" sz="2000" dirty="0">
                <a:ea typeface="굴림" panose="020B0600000101010101" pitchFamily="50" charset="-127"/>
              </a:rPr>
              <a:t>Drive one </a:t>
            </a:r>
            <a:r>
              <a:rPr lang="en-US" altLang="ko-KR" sz="2000" dirty="0" err="1">
                <a:ea typeface="굴림" panose="020B0600000101010101" pitchFamily="50" charset="-127"/>
              </a:rPr>
              <a:t>bitline</a:t>
            </a:r>
            <a:r>
              <a:rPr lang="en-US" altLang="ko-KR" sz="2000" dirty="0">
                <a:ea typeface="굴림" panose="020B0600000101010101" pitchFamily="50" charset="-127"/>
              </a:rPr>
              <a:t> high, the other low </a:t>
            </a:r>
            <a:endParaRPr lang="en-GB" altLang="ko-KR" sz="2000" dirty="0">
              <a:ea typeface="굴림" panose="020B0600000101010101" pitchFamily="50" charset="-127"/>
            </a:endParaRPr>
          </a:p>
          <a:p>
            <a:pPr>
              <a:lnSpc>
                <a:spcPct val="90000"/>
              </a:lnSpc>
              <a:defRPr/>
            </a:pPr>
            <a:r>
              <a:rPr lang="en-GB" altLang="ko-KR" sz="2000" dirty="0">
                <a:ea typeface="굴림" panose="020B0600000101010101" pitchFamily="50" charset="-127"/>
              </a:rPr>
              <a:t>Then turn on word line</a:t>
            </a:r>
          </a:p>
          <a:p>
            <a:pPr>
              <a:lnSpc>
                <a:spcPct val="90000"/>
              </a:lnSpc>
              <a:defRPr/>
            </a:pPr>
            <a:r>
              <a:rPr lang="en-GB" altLang="ko-KR" sz="2000" b="1" dirty="0" err="1">
                <a:ea typeface="굴림" panose="020B0600000101010101" pitchFamily="50" charset="-127"/>
              </a:rPr>
              <a:t>Bitlines</a:t>
            </a:r>
            <a:r>
              <a:rPr lang="en-GB" altLang="ko-KR" sz="2000" b="1" dirty="0">
                <a:ea typeface="굴림" panose="020B0600000101010101" pitchFamily="50" charset="-127"/>
              </a:rPr>
              <a:t> overpower cell with new value</a:t>
            </a:r>
          </a:p>
          <a:p>
            <a:pPr>
              <a:lnSpc>
                <a:spcPct val="90000"/>
              </a:lnSpc>
              <a:defRPr/>
            </a:pPr>
            <a:endParaRPr lang="en-GB" altLang="ko-KR" sz="2000" dirty="0">
              <a:ea typeface="굴림" panose="020B0600000101010101" pitchFamily="50" charset="-127"/>
            </a:endParaRPr>
          </a:p>
          <a:p>
            <a:pPr>
              <a:lnSpc>
                <a:spcPct val="90000"/>
              </a:lnSpc>
              <a:defRPr/>
            </a:pPr>
            <a:r>
              <a:rPr lang="ko-KR" altLang="en-US" sz="2000" dirty="0">
                <a:ea typeface="굴림" panose="020B0600000101010101" pitchFamily="50" charset="-127"/>
              </a:rPr>
              <a:t>예</a:t>
            </a:r>
            <a:r>
              <a:rPr lang="en-US" altLang="ko-KR" sz="2000" dirty="0">
                <a:ea typeface="굴림" panose="020B0600000101010101" pitchFamily="50" charset="-127"/>
              </a:rPr>
              <a:t>: A=0, </a:t>
            </a:r>
            <a:r>
              <a:rPr lang="en-US" altLang="ko-KR" sz="2000" dirty="0" err="1">
                <a:ea typeface="굴림" panose="020B0600000101010101" pitchFamily="50" charset="-127"/>
              </a:rPr>
              <a:t>A_b</a:t>
            </a:r>
            <a:r>
              <a:rPr lang="en-US" altLang="ko-KR" sz="2000" dirty="0">
                <a:ea typeface="굴림" panose="020B0600000101010101" pitchFamily="50" charset="-127"/>
              </a:rPr>
              <a:t>=1, bit=1, </a:t>
            </a:r>
            <a:r>
              <a:rPr lang="en-US" altLang="ko-KR" sz="2000" dirty="0" err="1">
                <a:ea typeface="굴림" panose="020B0600000101010101" pitchFamily="50" charset="-127"/>
              </a:rPr>
              <a:t>bit_b</a:t>
            </a:r>
            <a:r>
              <a:rPr lang="en-US" altLang="ko-KR" sz="2000" dirty="0">
                <a:ea typeface="굴림" panose="020B0600000101010101" pitchFamily="50" charset="-127"/>
              </a:rPr>
              <a:t>=0 </a:t>
            </a:r>
            <a:r>
              <a:rPr lang="ko-KR" altLang="en-US" sz="2000" dirty="0">
                <a:ea typeface="굴림" panose="020B0600000101010101" pitchFamily="50" charset="-127"/>
              </a:rPr>
              <a:t>가정 </a:t>
            </a:r>
            <a:endParaRPr lang="en-US" altLang="ko-KR" sz="2000" dirty="0">
              <a:ea typeface="굴림" panose="020B0600000101010101" pitchFamily="50" charset="-127"/>
            </a:endParaRPr>
          </a:p>
          <a:p>
            <a:pPr indent="-161925">
              <a:lnSpc>
                <a:spcPct val="90000"/>
              </a:lnSpc>
              <a:buFontTx/>
              <a:buChar char="-"/>
              <a:defRPr/>
            </a:pPr>
            <a:r>
              <a:rPr lang="en-US" altLang="ko-KR" sz="2000" dirty="0">
                <a:solidFill>
                  <a:srgbClr val="3333FF"/>
                </a:solidFill>
                <a:ea typeface="굴림" panose="020B0600000101010101" pitchFamily="50" charset="-127"/>
              </a:rPr>
              <a:t>Turn on word line</a:t>
            </a:r>
          </a:p>
          <a:p>
            <a:pPr indent="-161925">
              <a:lnSpc>
                <a:spcPct val="90000"/>
              </a:lnSpc>
              <a:buFontTx/>
              <a:buChar char="-"/>
              <a:defRPr/>
            </a:pPr>
            <a:r>
              <a:rPr lang="en-US" altLang="ko-KR" sz="2000" dirty="0">
                <a:solidFill>
                  <a:srgbClr val="3333FF"/>
                </a:solidFill>
                <a:ea typeface="굴림" panose="020B0600000101010101" pitchFamily="50" charset="-127"/>
              </a:rPr>
              <a:t>From bit(1), </a:t>
            </a:r>
            <a:r>
              <a:rPr lang="en-US" altLang="ko-KR" sz="2000" dirty="0" err="1">
                <a:solidFill>
                  <a:srgbClr val="3333FF"/>
                </a:solidFill>
                <a:ea typeface="굴림" panose="020B0600000101010101" pitchFamily="50" charset="-127"/>
              </a:rPr>
              <a:t>bit_b</a:t>
            </a:r>
            <a:r>
              <a:rPr lang="en-US" altLang="ko-KR" sz="2000" dirty="0">
                <a:solidFill>
                  <a:srgbClr val="3333FF"/>
                </a:solidFill>
                <a:ea typeface="굴림" panose="020B0600000101010101" pitchFamily="50" charset="-127"/>
              </a:rPr>
              <a:t>(0), force A to high, </a:t>
            </a:r>
            <a:r>
              <a:rPr lang="en-US" altLang="ko-KR" sz="2000" dirty="0" err="1">
                <a:solidFill>
                  <a:srgbClr val="3333FF"/>
                </a:solidFill>
                <a:ea typeface="굴림" panose="020B0600000101010101" pitchFamily="50" charset="-127"/>
              </a:rPr>
              <a:t>A_b</a:t>
            </a:r>
            <a:r>
              <a:rPr lang="en-US" altLang="ko-KR" sz="2000" dirty="0">
                <a:solidFill>
                  <a:srgbClr val="3333FF"/>
                </a:solidFill>
                <a:ea typeface="굴림" panose="020B0600000101010101" pitchFamily="50" charset="-127"/>
              </a:rPr>
              <a:t> to low</a:t>
            </a:r>
          </a:p>
          <a:p>
            <a:pPr indent="-161925">
              <a:lnSpc>
                <a:spcPct val="90000"/>
              </a:lnSpc>
              <a:buFontTx/>
              <a:buChar char="-"/>
              <a:defRPr/>
            </a:pPr>
            <a:endParaRPr lang="en-US" altLang="ko-KR" sz="2000" dirty="0">
              <a:ea typeface="굴림" panose="020B0600000101010101" pitchFamily="50" charset="-127"/>
            </a:endParaRPr>
          </a:p>
          <a:p>
            <a:pPr>
              <a:lnSpc>
                <a:spcPct val="90000"/>
              </a:lnSpc>
              <a:defRPr/>
            </a:pPr>
            <a:r>
              <a:rPr lang="en-US" altLang="ko-KR" sz="2000" dirty="0" err="1">
                <a:ea typeface="굴림" panose="020B0600000101010101" pitchFamily="50" charset="-127"/>
              </a:rPr>
              <a:t>Writability</a:t>
            </a:r>
            <a:r>
              <a:rPr lang="en-US" altLang="ko-KR" sz="2000" dirty="0">
                <a:ea typeface="굴림" panose="020B0600000101010101" pitchFamily="50" charset="-127"/>
              </a:rPr>
              <a:t> </a:t>
            </a:r>
          </a:p>
          <a:p>
            <a:pPr indent="-161925">
              <a:lnSpc>
                <a:spcPct val="90000"/>
              </a:lnSpc>
              <a:buFontTx/>
              <a:buChar char="-"/>
              <a:defRPr/>
            </a:pPr>
            <a:r>
              <a:rPr lang="en-US" altLang="ko-KR" sz="2000" dirty="0">
                <a:solidFill>
                  <a:srgbClr val="3333FF"/>
                </a:solidFill>
                <a:ea typeface="굴림" panose="020B0600000101010101" pitchFamily="50" charset="-127"/>
              </a:rPr>
              <a:t>Must overpower feedback inverter</a:t>
            </a:r>
          </a:p>
          <a:p>
            <a:pPr indent="-161925">
              <a:lnSpc>
                <a:spcPct val="90000"/>
              </a:lnSpc>
              <a:buFontTx/>
              <a:buChar char="-"/>
              <a:defRPr/>
            </a:pPr>
            <a:r>
              <a:rPr lang="en-US" altLang="ko-KR" sz="2000" dirty="0">
                <a:solidFill>
                  <a:srgbClr val="3333FF"/>
                </a:solidFill>
                <a:ea typeface="굴림" panose="020B0600000101010101" pitchFamily="50" charset="-127"/>
              </a:rPr>
              <a:t>N2 &gt;&gt; P1</a:t>
            </a:r>
            <a:endParaRPr lang="en-GB" altLang="ko-KR" sz="2000" dirty="0">
              <a:solidFill>
                <a:srgbClr val="3333FF"/>
              </a:solidFill>
              <a:ea typeface="굴림" panose="020B0600000101010101" pitchFamily="50" charset="-127"/>
            </a:endParaRPr>
          </a:p>
        </p:txBody>
      </p:sp>
      <p:sp>
        <p:nvSpPr>
          <p:cNvPr id="46085" name="TextBox 3">
            <a:extLst>
              <a:ext uri="{FF2B5EF4-FFF2-40B4-BE49-F238E27FC236}">
                <a16:creationId xmlns:a16="http://schemas.microsoft.com/office/drawing/2014/main" id="{CE8D93ED-6935-4DE2-954B-70D8DECF5E77}"/>
              </a:ext>
            </a:extLst>
          </p:cNvPr>
          <p:cNvSpPr txBox="1">
            <a:spLocks noChangeArrowheads="1"/>
          </p:cNvSpPr>
          <p:nvPr/>
        </p:nvSpPr>
        <p:spPr bwMode="auto">
          <a:xfrm>
            <a:off x="5764213" y="2501900"/>
            <a:ext cx="338455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85725" indent="-85725">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pPr>
            <a:r>
              <a:rPr kumimoji="0" lang="ko-KR" altLang="en-US" sz="1400">
                <a:solidFill>
                  <a:srgbClr val="3333FF"/>
                </a:solidFill>
                <a:latin typeface="맑은 고딕" panose="020B0503020000020004" pitchFamily="50" charset="-127"/>
                <a:ea typeface="맑은 고딕" panose="020B0503020000020004" pitchFamily="50" charset="-127"/>
              </a:rPr>
              <a:t>위와 같은 값의 인가로 </a:t>
            </a:r>
            <a:r>
              <a:rPr kumimoji="0" lang="en-US" altLang="ko-KR" sz="1400">
                <a:solidFill>
                  <a:srgbClr val="3333FF"/>
                </a:solidFill>
                <a:latin typeface="맑은 고딕" panose="020B0503020000020004" pitchFamily="50" charset="-127"/>
                <a:ea typeface="맑은 고딕" panose="020B0503020000020004" pitchFamily="50" charset="-127"/>
              </a:rPr>
              <a:t>A</a:t>
            </a:r>
            <a:r>
              <a:rPr kumimoji="0" lang="ko-KR" altLang="en-US" sz="1400">
                <a:solidFill>
                  <a:srgbClr val="3333FF"/>
                </a:solidFill>
                <a:latin typeface="맑은 고딕" panose="020B0503020000020004" pitchFamily="50" charset="-127"/>
                <a:ea typeface="맑은 고딕" panose="020B0503020000020004" pitchFamily="50" charset="-127"/>
              </a:rPr>
              <a:t>의 값이 </a:t>
            </a:r>
            <a:r>
              <a:rPr kumimoji="0" lang="en-US" altLang="ko-KR" sz="1400">
                <a:solidFill>
                  <a:srgbClr val="3333FF"/>
                </a:solidFill>
                <a:latin typeface="맑은 고딕" panose="020B0503020000020004" pitchFamily="50" charset="-127"/>
                <a:ea typeface="맑은 고딕" panose="020B0503020000020004" pitchFamily="50" charset="-127"/>
              </a:rPr>
              <a:t>0</a:t>
            </a:r>
            <a:r>
              <a:rPr kumimoji="0" lang="en-US" altLang="ko-KR" sz="1400">
                <a:solidFill>
                  <a:srgbClr val="3333FF"/>
                </a:solidFill>
                <a:latin typeface="맑은 고딕" panose="020B0503020000020004" pitchFamily="50" charset="-127"/>
                <a:ea typeface="맑은 고딕" panose="020B0503020000020004" pitchFamily="50" charset="-127"/>
                <a:sym typeface="Wingdings" panose="05000000000000000000" pitchFamily="2" charset="2"/>
              </a:rPr>
              <a:t>1</a:t>
            </a:r>
            <a:r>
              <a:rPr kumimoji="0" lang="ko-KR" altLang="en-US" sz="1400">
                <a:solidFill>
                  <a:srgbClr val="3333FF"/>
                </a:solidFill>
                <a:latin typeface="맑은 고딕" panose="020B0503020000020004" pitchFamily="50" charset="-127"/>
                <a:ea typeface="맑은 고딕" panose="020B0503020000020004" pitchFamily="50" charset="-127"/>
                <a:sym typeface="Wingdings" panose="05000000000000000000" pitchFamily="2" charset="2"/>
              </a:rPr>
              <a:t>로 바뀜</a:t>
            </a:r>
            <a:r>
              <a:rPr kumimoji="0" lang="en-US" altLang="ko-KR" sz="1400">
                <a:solidFill>
                  <a:srgbClr val="3333FF"/>
                </a:solidFill>
                <a:latin typeface="맑은 고딕" panose="020B0503020000020004" pitchFamily="50" charset="-127"/>
                <a:ea typeface="맑은 고딕" panose="020B0503020000020004" pitchFamily="50" charset="-127"/>
                <a:sym typeface="Wingdings" panose="05000000000000000000" pitchFamily="2" charset="2"/>
              </a:rPr>
              <a:t>(write)</a:t>
            </a:r>
          </a:p>
          <a:p>
            <a:pPr>
              <a:spcBef>
                <a:spcPct val="0"/>
              </a:spcBef>
              <a:buClrTx/>
            </a:pPr>
            <a:r>
              <a:rPr kumimoji="0" lang="en-US" altLang="ko-KR" sz="1400">
                <a:solidFill>
                  <a:srgbClr val="3333FF"/>
                </a:solidFill>
                <a:latin typeface="맑은 고딕" panose="020B0503020000020004" pitchFamily="50" charset="-127"/>
                <a:ea typeface="맑은 고딕" panose="020B0503020000020004" pitchFamily="50" charset="-127"/>
                <a:sym typeface="Wingdings" panose="05000000000000000000" pitchFamily="2" charset="2"/>
              </a:rPr>
              <a:t>A_b</a:t>
            </a:r>
            <a:r>
              <a:rPr kumimoji="0" lang="ko-KR" altLang="en-US" sz="1400">
                <a:solidFill>
                  <a:srgbClr val="3333FF"/>
                </a:solidFill>
                <a:latin typeface="맑은 고딕" panose="020B0503020000020004" pitchFamily="50" charset="-127"/>
                <a:ea typeface="맑은 고딕" panose="020B0503020000020004" pitchFamily="50" charset="-127"/>
                <a:sym typeface="Wingdings" panose="05000000000000000000" pitchFamily="2" charset="2"/>
              </a:rPr>
              <a:t>는 </a:t>
            </a:r>
            <a:r>
              <a:rPr kumimoji="0" lang="en-US" altLang="ko-KR" sz="1400">
                <a:solidFill>
                  <a:srgbClr val="3333FF"/>
                </a:solidFill>
                <a:latin typeface="맑은 고딕" panose="020B0503020000020004" pitchFamily="50" charset="-127"/>
                <a:ea typeface="맑은 고딕" panose="020B0503020000020004" pitchFamily="50" charset="-127"/>
                <a:sym typeface="Wingdings" panose="05000000000000000000" pitchFamily="2" charset="2"/>
              </a:rPr>
              <a:t>10</a:t>
            </a:r>
            <a:r>
              <a:rPr kumimoji="0" lang="ko-KR" altLang="en-US" sz="1400">
                <a:solidFill>
                  <a:srgbClr val="3333FF"/>
                </a:solidFill>
                <a:latin typeface="맑은 고딕" panose="020B0503020000020004" pitchFamily="50" charset="-127"/>
                <a:ea typeface="맑은 고딕" panose="020B0503020000020004" pitchFamily="50" charset="-127"/>
                <a:sym typeface="Wingdings" panose="05000000000000000000" pitchFamily="2" charset="2"/>
              </a:rPr>
              <a:t>으로 바뀜</a:t>
            </a:r>
            <a:r>
              <a:rPr kumimoji="0" lang="en-US" altLang="ko-KR" sz="1400">
                <a:solidFill>
                  <a:srgbClr val="3333FF"/>
                </a:solidFill>
                <a:latin typeface="맑은 고딕" panose="020B0503020000020004" pitchFamily="50" charset="-127"/>
                <a:ea typeface="맑은 고딕" panose="020B0503020000020004" pitchFamily="50" charset="-127"/>
                <a:sym typeface="Wingdings" panose="05000000000000000000" pitchFamily="2" charset="2"/>
              </a:rPr>
              <a:t>(write)</a:t>
            </a:r>
            <a:endParaRPr kumimoji="0" lang="ko-KR" altLang="en-US" sz="1400">
              <a:solidFill>
                <a:srgbClr val="3333FF"/>
              </a:solidFill>
              <a:latin typeface="맑은 고딕" panose="020B0503020000020004" pitchFamily="50" charset="-127"/>
              <a:ea typeface="맑은 고딕" panose="020B0503020000020004" pitchFamily="50" charset="-127"/>
            </a:endParaRPr>
          </a:p>
        </p:txBody>
      </p:sp>
      <p:grpSp>
        <p:nvGrpSpPr>
          <p:cNvPr id="46086" name="그룹 6">
            <a:extLst>
              <a:ext uri="{FF2B5EF4-FFF2-40B4-BE49-F238E27FC236}">
                <a16:creationId xmlns:a16="http://schemas.microsoft.com/office/drawing/2014/main" id="{33B066D4-DCEB-4EFE-A249-FA715311C73A}"/>
              </a:ext>
            </a:extLst>
          </p:cNvPr>
          <p:cNvGrpSpPr>
            <a:grpSpLocks/>
          </p:cNvGrpSpPr>
          <p:nvPr/>
        </p:nvGrpSpPr>
        <p:grpSpPr bwMode="auto">
          <a:xfrm>
            <a:off x="5597525" y="-109538"/>
            <a:ext cx="3579813" cy="2393951"/>
            <a:chOff x="5597464" y="-109593"/>
            <a:chExt cx="3579827" cy="2393497"/>
          </a:xfrm>
        </p:grpSpPr>
        <p:pic>
          <p:nvPicPr>
            <p:cNvPr id="46087" name="그림 1">
              <a:extLst>
                <a:ext uri="{FF2B5EF4-FFF2-40B4-BE49-F238E27FC236}">
                  <a16:creationId xmlns:a16="http://schemas.microsoft.com/office/drawing/2014/main" id="{73F9906C-7444-4914-8AE9-06CA7B4AE95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597464" y="195672"/>
              <a:ext cx="3579827" cy="2088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8" name="TextBox 5">
              <a:extLst>
                <a:ext uri="{FF2B5EF4-FFF2-40B4-BE49-F238E27FC236}">
                  <a16:creationId xmlns:a16="http://schemas.microsoft.com/office/drawing/2014/main" id="{2913DD9A-6B53-4B05-A7A8-7B63C0240F47}"/>
                </a:ext>
              </a:extLst>
            </p:cNvPr>
            <p:cNvSpPr txBox="1">
              <a:spLocks noChangeArrowheads="1"/>
            </p:cNvSpPr>
            <p:nvPr/>
          </p:nvSpPr>
          <p:spPr bwMode="auto">
            <a:xfrm>
              <a:off x="8648700" y="-56796"/>
              <a:ext cx="360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2400">
                  <a:solidFill>
                    <a:srgbClr val="FF0000"/>
                  </a:solidFill>
                  <a:latin typeface="Times New Roman" panose="02020603050405020304" pitchFamily="18" charset="0"/>
                  <a:ea typeface="굴림" panose="020B0600000101010101" pitchFamily="50" charset="-127"/>
                </a:rPr>
                <a:t>0</a:t>
              </a:r>
              <a:endParaRPr kumimoji="0" lang="ko-KR" altLang="en-US" sz="2400">
                <a:solidFill>
                  <a:srgbClr val="FF0000"/>
                </a:solidFill>
                <a:latin typeface="Times New Roman" panose="02020603050405020304" pitchFamily="18" charset="0"/>
                <a:ea typeface="굴림" panose="020B0600000101010101" pitchFamily="50" charset="-127"/>
              </a:endParaRPr>
            </a:p>
          </p:txBody>
        </p:sp>
        <p:sp>
          <p:nvSpPr>
            <p:cNvPr id="46089" name="TextBox 8">
              <a:extLst>
                <a:ext uri="{FF2B5EF4-FFF2-40B4-BE49-F238E27FC236}">
                  <a16:creationId xmlns:a16="http://schemas.microsoft.com/office/drawing/2014/main" id="{59010C86-AA07-4AB3-99FC-5AD904B8907C}"/>
                </a:ext>
              </a:extLst>
            </p:cNvPr>
            <p:cNvSpPr txBox="1">
              <a:spLocks noChangeArrowheads="1"/>
            </p:cNvSpPr>
            <p:nvPr/>
          </p:nvSpPr>
          <p:spPr bwMode="auto">
            <a:xfrm>
              <a:off x="6789295" y="1557040"/>
              <a:ext cx="360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2400">
                  <a:solidFill>
                    <a:srgbClr val="FF0000"/>
                  </a:solidFill>
                  <a:latin typeface="Times New Roman" panose="02020603050405020304" pitchFamily="18" charset="0"/>
                  <a:ea typeface="굴림" panose="020B0600000101010101" pitchFamily="50" charset="-127"/>
                </a:rPr>
                <a:t>0</a:t>
              </a:r>
              <a:endParaRPr kumimoji="0" lang="ko-KR" altLang="en-US" sz="2400">
                <a:solidFill>
                  <a:srgbClr val="FF0000"/>
                </a:solidFill>
                <a:latin typeface="Times New Roman" panose="02020603050405020304" pitchFamily="18" charset="0"/>
                <a:ea typeface="굴림" panose="020B0600000101010101" pitchFamily="50" charset="-127"/>
              </a:endParaRPr>
            </a:p>
          </p:txBody>
        </p:sp>
        <p:sp>
          <p:nvSpPr>
            <p:cNvPr id="46090" name="TextBox 9">
              <a:extLst>
                <a:ext uri="{FF2B5EF4-FFF2-40B4-BE49-F238E27FC236}">
                  <a16:creationId xmlns:a16="http://schemas.microsoft.com/office/drawing/2014/main" id="{F924A791-4AC3-475F-AA7D-E12EA1C6EA15}"/>
                </a:ext>
              </a:extLst>
            </p:cNvPr>
            <p:cNvSpPr txBox="1">
              <a:spLocks noChangeArrowheads="1"/>
            </p:cNvSpPr>
            <p:nvPr/>
          </p:nvSpPr>
          <p:spPr bwMode="auto">
            <a:xfrm>
              <a:off x="6228184" y="-109593"/>
              <a:ext cx="360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2400">
                  <a:solidFill>
                    <a:srgbClr val="FF0000"/>
                  </a:solidFill>
                  <a:latin typeface="Times New Roman" panose="02020603050405020304" pitchFamily="18" charset="0"/>
                  <a:ea typeface="굴림" panose="020B0600000101010101" pitchFamily="50" charset="-127"/>
                </a:rPr>
                <a:t>1</a:t>
              </a:r>
              <a:endParaRPr kumimoji="0" lang="ko-KR" altLang="en-US" sz="2400">
                <a:solidFill>
                  <a:srgbClr val="FF0000"/>
                </a:solidFill>
                <a:latin typeface="Times New Roman" panose="02020603050405020304" pitchFamily="18" charset="0"/>
                <a:ea typeface="굴림" panose="020B0600000101010101" pitchFamily="50" charset="-127"/>
              </a:endParaRPr>
            </a:p>
          </p:txBody>
        </p:sp>
        <p:sp>
          <p:nvSpPr>
            <p:cNvPr id="46091" name="TextBox 10">
              <a:extLst>
                <a:ext uri="{FF2B5EF4-FFF2-40B4-BE49-F238E27FC236}">
                  <a16:creationId xmlns:a16="http://schemas.microsoft.com/office/drawing/2014/main" id="{8601BC21-F63E-465F-849F-36FD625DFDE3}"/>
                </a:ext>
              </a:extLst>
            </p:cNvPr>
            <p:cNvSpPr txBox="1">
              <a:spLocks noChangeArrowheads="1"/>
            </p:cNvSpPr>
            <p:nvPr/>
          </p:nvSpPr>
          <p:spPr bwMode="auto">
            <a:xfrm>
              <a:off x="8254819" y="1543049"/>
              <a:ext cx="360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2400">
                  <a:solidFill>
                    <a:srgbClr val="FF0000"/>
                  </a:solidFill>
                  <a:latin typeface="Times New Roman" panose="02020603050405020304" pitchFamily="18" charset="0"/>
                  <a:ea typeface="굴림" panose="020B0600000101010101" pitchFamily="50" charset="-127"/>
                </a:rPr>
                <a:t>1</a:t>
              </a:r>
              <a:endParaRPr kumimoji="0" lang="ko-KR" altLang="en-US" sz="2400">
                <a:solidFill>
                  <a:srgbClr val="FF0000"/>
                </a:solidFill>
                <a:latin typeface="Times New Roman" panose="02020603050405020304" pitchFamily="18" charset="0"/>
                <a:ea typeface="굴림" panose="020B0600000101010101" pitchFamily="50" charset="-127"/>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2636C777-2243-49F1-A21D-FEA7C6C02D67}"/>
              </a:ext>
            </a:extLst>
          </p:cNvPr>
          <p:cNvSpPr>
            <a:spLocks noGrp="1" noChangeArrowheads="1"/>
          </p:cNvSpPr>
          <p:nvPr>
            <p:ph type="title"/>
          </p:nvPr>
        </p:nvSpPr>
        <p:spPr/>
        <p:txBody>
          <a:bodyPr/>
          <a:lstStyle/>
          <a:p>
            <a:r>
              <a:rPr lang="en-US" altLang="ko-KR">
                <a:ea typeface="굴림" panose="020B0600000101010101" pitchFamily="50" charset="-127"/>
              </a:rPr>
              <a:t>SRAM </a:t>
            </a:r>
            <a:r>
              <a:rPr lang="ko-KR" altLang="en-US">
                <a:ea typeface="굴림" panose="020B0600000101010101" pitchFamily="50" charset="-127"/>
              </a:rPr>
              <a:t>크기 </a:t>
            </a:r>
            <a:endParaRPr lang="en-GB" altLang="ko-KR">
              <a:ea typeface="굴림" panose="020B0600000101010101" pitchFamily="50" charset="-127"/>
            </a:endParaRPr>
          </a:p>
        </p:txBody>
      </p:sp>
      <p:sp>
        <p:nvSpPr>
          <p:cNvPr id="48131" name="내용 개체 틀 4">
            <a:extLst>
              <a:ext uri="{FF2B5EF4-FFF2-40B4-BE49-F238E27FC236}">
                <a16:creationId xmlns:a16="http://schemas.microsoft.com/office/drawing/2014/main" id="{FADA2FAF-7FD8-406E-A8E2-07D796FB6337}"/>
              </a:ext>
            </a:extLst>
          </p:cNvPr>
          <p:cNvSpPr>
            <a:spLocks noGrp="1" noChangeArrowheads="1"/>
          </p:cNvSpPr>
          <p:nvPr>
            <p:ph idx="1"/>
          </p:nvPr>
        </p:nvSpPr>
        <p:spPr/>
        <p:txBody>
          <a:bodyPr/>
          <a:lstStyle/>
          <a:p>
            <a:r>
              <a:rPr lang="en-US" altLang="ko-KR" sz="2000">
                <a:ea typeface="굴림" panose="020B0600000101010101" pitchFamily="50" charset="-127"/>
              </a:rPr>
              <a:t>High bitlines must not overpower inverters during reads</a:t>
            </a:r>
          </a:p>
          <a:p>
            <a:r>
              <a:rPr lang="en-US" altLang="ko-KR" sz="2000">
                <a:ea typeface="굴림" panose="020B0600000101010101" pitchFamily="50" charset="-127"/>
              </a:rPr>
              <a:t>But low bitlines must write new value into cell </a:t>
            </a:r>
            <a:endParaRPr lang="ko-KR" altLang="en-US" sz="2000">
              <a:ea typeface="굴림" panose="020B0600000101010101" pitchFamily="50" charset="-127"/>
            </a:endParaRPr>
          </a:p>
        </p:txBody>
      </p:sp>
      <p:pic>
        <p:nvPicPr>
          <p:cNvPr id="48132" name="그림 7">
            <a:extLst>
              <a:ext uri="{FF2B5EF4-FFF2-40B4-BE49-F238E27FC236}">
                <a16:creationId xmlns:a16="http://schemas.microsoft.com/office/drawing/2014/main" id="{1B03CBE6-FD7B-417A-A6A0-572C9478EB8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63938" y="1836738"/>
            <a:ext cx="4962525"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3" name="직사각형 12">
            <a:extLst>
              <a:ext uri="{FF2B5EF4-FFF2-40B4-BE49-F238E27FC236}">
                <a16:creationId xmlns:a16="http://schemas.microsoft.com/office/drawing/2014/main" id="{6C2FDCE3-B39A-4231-8115-E54D57BD15BF}"/>
              </a:ext>
            </a:extLst>
          </p:cNvPr>
          <p:cNvSpPr>
            <a:spLocks noChangeArrowheads="1"/>
          </p:cNvSpPr>
          <p:nvPr/>
        </p:nvSpPr>
        <p:spPr bwMode="auto">
          <a:xfrm>
            <a:off x="361950" y="5472113"/>
            <a:ext cx="4999038"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nSpc>
                <a:spcPct val="90000"/>
              </a:lnSpc>
              <a:spcBef>
                <a:spcPct val="0"/>
              </a:spcBef>
              <a:buClrTx/>
            </a:pPr>
            <a:r>
              <a:rPr kumimoji="0" lang="en-US" altLang="ko-KR" sz="1800">
                <a:ea typeface="굴림" panose="020B0600000101010101" pitchFamily="50" charset="-127"/>
              </a:rPr>
              <a:t>Writability </a:t>
            </a:r>
          </a:p>
          <a:p>
            <a:pPr>
              <a:lnSpc>
                <a:spcPct val="90000"/>
              </a:lnSpc>
              <a:spcBef>
                <a:spcPct val="0"/>
              </a:spcBef>
              <a:buClrTx/>
              <a:buFontTx/>
              <a:buChar char="-"/>
            </a:pPr>
            <a:r>
              <a:rPr kumimoji="0" lang="en-US" altLang="ko-KR" sz="1800">
                <a:solidFill>
                  <a:srgbClr val="3333FF"/>
                </a:solidFill>
                <a:ea typeface="굴림" panose="020B0600000101010101" pitchFamily="50" charset="-127"/>
              </a:rPr>
              <a:t>Must overpower feedback inverter</a:t>
            </a:r>
          </a:p>
          <a:p>
            <a:pPr>
              <a:lnSpc>
                <a:spcPct val="90000"/>
              </a:lnSpc>
              <a:spcBef>
                <a:spcPct val="0"/>
              </a:spcBef>
              <a:buClrTx/>
              <a:buFontTx/>
              <a:buChar char="-"/>
            </a:pPr>
            <a:r>
              <a:rPr kumimoji="0" lang="en-US" altLang="ko-KR" sz="1800">
                <a:solidFill>
                  <a:srgbClr val="3333FF"/>
                </a:solidFill>
                <a:ea typeface="굴림" panose="020B0600000101010101" pitchFamily="50" charset="-127"/>
              </a:rPr>
              <a:t>N2 &gt;&gt; P1</a:t>
            </a:r>
            <a:endParaRPr kumimoji="0" lang="en-GB" altLang="ko-KR" sz="1800">
              <a:solidFill>
                <a:srgbClr val="3333FF"/>
              </a:solidFill>
              <a:ea typeface="굴림" panose="020B0600000101010101" pitchFamily="50" charset="-127"/>
            </a:endParaRPr>
          </a:p>
        </p:txBody>
      </p:sp>
      <p:sp>
        <p:nvSpPr>
          <p:cNvPr id="48134" name="직사각형 13">
            <a:extLst>
              <a:ext uri="{FF2B5EF4-FFF2-40B4-BE49-F238E27FC236}">
                <a16:creationId xmlns:a16="http://schemas.microsoft.com/office/drawing/2014/main" id="{FFE4E8AB-3D5B-4447-A04C-B59EBDB24A5A}"/>
              </a:ext>
            </a:extLst>
          </p:cNvPr>
          <p:cNvSpPr>
            <a:spLocks noChangeArrowheads="1"/>
          </p:cNvSpPr>
          <p:nvPr/>
        </p:nvSpPr>
        <p:spPr bwMode="auto">
          <a:xfrm>
            <a:off x="361950" y="4684713"/>
            <a:ext cx="4999038"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nSpc>
                <a:spcPct val="90000"/>
              </a:lnSpc>
              <a:spcBef>
                <a:spcPct val="0"/>
              </a:spcBef>
              <a:buClrTx/>
            </a:pPr>
            <a:r>
              <a:rPr kumimoji="0" lang="en-US" altLang="ko-KR" sz="1800">
                <a:ea typeface="굴림" panose="020B0600000101010101" pitchFamily="50" charset="-127"/>
              </a:rPr>
              <a:t>Read stability</a:t>
            </a:r>
          </a:p>
          <a:p>
            <a:pPr>
              <a:lnSpc>
                <a:spcPct val="90000"/>
              </a:lnSpc>
              <a:spcBef>
                <a:spcPct val="0"/>
              </a:spcBef>
              <a:buClrTx/>
              <a:buFontTx/>
              <a:buChar char="-"/>
            </a:pPr>
            <a:r>
              <a:rPr kumimoji="0" lang="en-US" altLang="ko-KR" sz="1800">
                <a:solidFill>
                  <a:srgbClr val="3333FF"/>
                </a:solidFill>
                <a:ea typeface="굴림" panose="020B0600000101010101" pitchFamily="50" charset="-127"/>
              </a:rPr>
              <a:t>N1 &gt;&gt; N2 </a:t>
            </a:r>
            <a:r>
              <a:rPr kumimoji="0" lang="ko-KR" altLang="en-US" sz="1800">
                <a:solidFill>
                  <a:srgbClr val="3333FF"/>
                </a:solidFill>
                <a:ea typeface="굴림" panose="020B0600000101010101" pitchFamily="50" charset="-127"/>
              </a:rPr>
              <a:t>이어야</a:t>
            </a:r>
            <a:r>
              <a:rPr kumimoji="0" lang="en-US" altLang="ko-KR" sz="1800">
                <a:solidFill>
                  <a:srgbClr val="3333FF"/>
                </a:solidFill>
                <a:ea typeface="굴림" panose="020B0600000101010101" pitchFamily="50" charset="-127"/>
              </a:rPr>
              <a:t>(drive </a:t>
            </a:r>
            <a:r>
              <a:rPr kumimoji="0" lang="ko-KR" altLang="en-US" sz="1800">
                <a:solidFill>
                  <a:srgbClr val="3333FF"/>
                </a:solidFill>
                <a:ea typeface="굴림" panose="020B0600000101010101" pitchFamily="50" charset="-127"/>
              </a:rPr>
              <a:t>능력 갖춰야 함</a:t>
            </a:r>
            <a:r>
              <a:rPr kumimoji="0" lang="en-US" altLang="ko-KR" sz="1800">
                <a:solidFill>
                  <a:srgbClr val="3333FF"/>
                </a:solidFill>
                <a:ea typeface="굴림" panose="020B0600000101010101" pitchFamily="50" charset="-127"/>
              </a:rPr>
              <a:t>)</a:t>
            </a:r>
            <a:endParaRPr kumimoji="0" lang="en-GB" altLang="ko-KR" sz="1800">
              <a:solidFill>
                <a:srgbClr val="3333FF"/>
              </a:solidFill>
              <a:ea typeface="굴림" panose="020B0600000101010101" pitchFamily="50" charset="-127"/>
            </a:endParaRPr>
          </a:p>
        </p:txBody>
      </p:sp>
      <p:sp>
        <p:nvSpPr>
          <p:cNvPr id="48135" name="TextBox 14">
            <a:extLst>
              <a:ext uri="{FF2B5EF4-FFF2-40B4-BE49-F238E27FC236}">
                <a16:creationId xmlns:a16="http://schemas.microsoft.com/office/drawing/2014/main" id="{416DCEBF-8D25-4812-83B5-A49BC0301CCE}"/>
              </a:ext>
            </a:extLst>
          </p:cNvPr>
          <p:cNvSpPr txBox="1">
            <a:spLocks noChangeArrowheads="1"/>
          </p:cNvSpPr>
          <p:nvPr/>
        </p:nvSpPr>
        <p:spPr bwMode="auto">
          <a:xfrm>
            <a:off x="5580063" y="2668588"/>
            <a:ext cx="5762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600">
                <a:solidFill>
                  <a:srgbClr val="3333FF"/>
                </a:solidFill>
                <a:ea typeface="굴림" panose="020B0600000101010101" pitchFamily="50" charset="-127"/>
              </a:rPr>
              <a:t>P1</a:t>
            </a:r>
            <a:endParaRPr kumimoji="0" lang="ko-KR" altLang="en-US" sz="1600">
              <a:solidFill>
                <a:srgbClr val="3333FF"/>
              </a:solidFill>
              <a:ea typeface="굴림" panose="020B0600000101010101" pitchFamily="50" charset="-127"/>
            </a:endParaRPr>
          </a:p>
        </p:txBody>
      </p:sp>
      <p:sp>
        <p:nvSpPr>
          <p:cNvPr id="48136" name="TextBox 17">
            <a:extLst>
              <a:ext uri="{FF2B5EF4-FFF2-40B4-BE49-F238E27FC236}">
                <a16:creationId xmlns:a16="http://schemas.microsoft.com/office/drawing/2014/main" id="{0C90730D-FB60-46F5-B2AF-7DF4F215CD50}"/>
              </a:ext>
            </a:extLst>
          </p:cNvPr>
          <p:cNvSpPr txBox="1">
            <a:spLocks noChangeArrowheads="1"/>
          </p:cNvSpPr>
          <p:nvPr/>
        </p:nvSpPr>
        <p:spPr bwMode="auto">
          <a:xfrm>
            <a:off x="6764338" y="2668588"/>
            <a:ext cx="5762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600">
                <a:solidFill>
                  <a:srgbClr val="3333FF"/>
                </a:solidFill>
                <a:ea typeface="굴림" panose="020B0600000101010101" pitchFamily="50" charset="-127"/>
              </a:rPr>
              <a:t>P2</a:t>
            </a:r>
            <a:endParaRPr kumimoji="0" lang="ko-KR" altLang="en-US" sz="1600">
              <a:solidFill>
                <a:srgbClr val="3333FF"/>
              </a:solidFill>
              <a:ea typeface="굴림" panose="020B0600000101010101" pitchFamily="50" charset="-127"/>
            </a:endParaRPr>
          </a:p>
        </p:txBody>
      </p:sp>
      <p:sp>
        <p:nvSpPr>
          <p:cNvPr id="48137" name="TextBox 18">
            <a:extLst>
              <a:ext uri="{FF2B5EF4-FFF2-40B4-BE49-F238E27FC236}">
                <a16:creationId xmlns:a16="http://schemas.microsoft.com/office/drawing/2014/main" id="{0FFE94DA-D546-4AA2-B561-1677FAAECC87}"/>
              </a:ext>
            </a:extLst>
          </p:cNvPr>
          <p:cNvSpPr txBox="1">
            <a:spLocks noChangeArrowheads="1"/>
          </p:cNvSpPr>
          <p:nvPr/>
        </p:nvSpPr>
        <p:spPr bwMode="auto">
          <a:xfrm>
            <a:off x="5219700" y="3838575"/>
            <a:ext cx="5762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600">
                <a:solidFill>
                  <a:srgbClr val="3333FF"/>
                </a:solidFill>
                <a:ea typeface="굴림" panose="020B0600000101010101" pitchFamily="50" charset="-127"/>
              </a:rPr>
              <a:t>N1</a:t>
            </a:r>
            <a:endParaRPr kumimoji="0" lang="ko-KR" altLang="en-US" sz="1600">
              <a:solidFill>
                <a:srgbClr val="3333FF"/>
              </a:solidFill>
              <a:ea typeface="굴림" panose="020B0600000101010101" pitchFamily="50" charset="-127"/>
            </a:endParaRPr>
          </a:p>
        </p:txBody>
      </p:sp>
      <p:sp>
        <p:nvSpPr>
          <p:cNvPr id="48138" name="TextBox 19">
            <a:extLst>
              <a:ext uri="{FF2B5EF4-FFF2-40B4-BE49-F238E27FC236}">
                <a16:creationId xmlns:a16="http://schemas.microsoft.com/office/drawing/2014/main" id="{49DF3B41-83AA-40F1-9D97-A3C92771F405}"/>
              </a:ext>
            </a:extLst>
          </p:cNvPr>
          <p:cNvSpPr txBox="1">
            <a:spLocks noChangeArrowheads="1"/>
          </p:cNvSpPr>
          <p:nvPr/>
        </p:nvSpPr>
        <p:spPr bwMode="auto">
          <a:xfrm>
            <a:off x="7053263" y="3876675"/>
            <a:ext cx="5762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600">
                <a:solidFill>
                  <a:srgbClr val="3333FF"/>
                </a:solidFill>
                <a:ea typeface="굴림" panose="020B0600000101010101" pitchFamily="50" charset="-127"/>
              </a:rPr>
              <a:t>N3</a:t>
            </a:r>
            <a:endParaRPr kumimoji="0" lang="ko-KR" altLang="en-US" sz="1600">
              <a:solidFill>
                <a:srgbClr val="3333FF"/>
              </a:solidFill>
              <a:ea typeface="굴림" panose="020B0600000101010101" pitchFamily="50" charset="-127"/>
            </a:endParaRPr>
          </a:p>
        </p:txBody>
      </p:sp>
      <p:sp>
        <p:nvSpPr>
          <p:cNvPr id="48139" name="TextBox 20">
            <a:extLst>
              <a:ext uri="{FF2B5EF4-FFF2-40B4-BE49-F238E27FC236}">
                <a16:creationId xmlns:a16="http://schemas.microsoft.com/office/drawing/2014/main" id="{CDE159B8-DBC4-4D0C-B44A-BD99C6834E16}"/>
              </a:ext>
            </a:extLst>
          </p:cNvPr>
          <p:cNvSpPr txBox="1">
            <a:spLocks noChangeArrowheads="1"/>
          </p:cNvSpPr>
          <p:nvPr/>
        </p:nvSpPr>
        <p:spPr bwMode="auto">
          <a:xfrm>
            <a:off x="4826000" y="3444875"/>
            <a:ext cx="5762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600">
                <a:solidFill>
                  <a:srgbClr val="3333FF"/>
                </a:solidFill>
                <a:ea typeface="굴림" panose="020B0600000101010101" pitchFamily="50" charset="-127"/>
              </a:rPr>
              <a:t>N2</a:t>
            </a:r>
            <a:endParaRPr kumimoji="0" lang="ko-KR" altLang="en-US" sz="1600">
              <a:solidFill>
                <a:srgbClr val="3333FF"/>
              </a:solidFill>
              <a:ea typeface="굴림" panose="020B0600000101010101" pitchFamily="50" charset="-127"/>
            </a:endParaRPr>
          </a:p>
        </p:txBody>
      </p:sp>
      <p:sp>
        <p:nvSpPr>
          <p:cNvPr id="48140" name="TextBox 21">
            <a:extLst>
              <a:ext uri="{FF2B5EF4-FFF2-40B4-BE49-F238E27FC236}">
                <a16:creationId xmlns:a16="http://schemas.microsoft.com/office/drawing/2014/main" id="{C8806D2A-ED9F-4770-BD75-38F56FE6B6D7}"/>
              </a:ext>
            </a:extLst>
          </p:cNvPr>
          <p:cNvSpPr txBox="1">
            <a:spLocks noChangeArrowheads="1"/>
          </p:cNvSpPr>
          <p:nvPr/>
        </p:nvSpPr>
        <p:spPr bwMode="auto">
          <a:xfrm>
            <a:off x="7716838" y="3444875"/>
            <a:ext cx="5762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600">
                <a:solidFill>
                  <a:srgbClr val="3333FF"/>
                </a:solidFill>
                <a:ea typeface="굴림" panose="020B0600000101010101" pitchFamily="50" charset="-127"/>
              </a:rPr>
              <a:t>N4</a:t>
            </a:r>
            <a:endParaRPr kumimoji="0" lang="ko-KR" altLang="en-US" sz="1600">
              <a:solidFill>
                <a:srgbClr val="3333FF"/>
              </a:solidFill>
              <a:ea typeface="굴림" panose="020B0600000101010101" pitchFamily="50" charset="-127"/>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8DEC828-780C-4CA2-B2B1-FA9A6D06F74B}"/>
              </a:ext>
            </a:extLst>
          </p:cNvPr>
          <p:cNvSpPr>
            <a:spLocks noGrp="1" noChangeArrowheads="1"/>
          </p:cNvSpPr>
          <p:nvPr>
            <p:ph type="title"/>
          </p:nvPr>
        </p:nvSpPr>
        <p:spPr/>
        <p:txBody>
          <a:bodyPr/>
          <a:lstStyle/>
          <a:p>
            <a:r>
              <a:rPr lang="en-US" altLang="ko-KR">
                <a:ea typeface="굴림" panose="020B0600000101010101" pitchFamily="50" charset="-127"/>
              </a:rPr>
              <a:t>SRAM Column Example(Read  </a:t>
            </a:r>
            <a:r>
              <a:rPr lang="ko-KR" altLang="en-US">
                <a:ea typeface="굴림" panose="020B0600000101010101" pitchFamily="50" charset="-127"/>
              </a:rPr>
              <a:t>모델</a:t>
            </a:r>
            <a:r>
              <a:rPr lang="en-US" altLang="ko-KR">
                <a:ea typeface="굴림" panose="020B0600000101010101" pitchFamily="50" charset="-127"/>
              </a:rPr>
              <a:t>)</a:t>
            </a:r>
            <a:r>
              <a:rPr lang="ko-KR" altLang="en-US">
                <a:ea typeface="굴림" panose="020B0600000101010101" pitchFamily="50" charset="-127"/>
              </a:rPr>
              <a:t> </a:t>
            </a:r>
            <a:endParaRPr lang="en-GB" altLang="ko-KR">
              <a:ea typeface="굴림" panose="020B0600000101010101" pitchFamily="50" charset="-127"/>
            </a:endParaRPr>
          </a:p>
        </p:txBody>
      </p:sp>
      <p:sp>
        <p:nvSpPr>
          <p:cNvPr id="50179" name="내용 개체 틀 4">
            <a:extLst>
              <a:ext uri="{FF2B5EF4-FFF2-40B4-BE49-F238E27FC236}">
                <a16:creationId xmlns:a16="http://schemas.microsoft.com/office/drawing/2014/main" id="{4D989A87-8AFF-49A6-B7F6-672DB993AEF1}"/>
              </a:ext>
            </a:extLst>
          </p:cNvPr>
          <p:cNvSpPr>
            <a:spLocks noGrp="1" noChangeArrowheads="1"/>
          </p:cNvSpPr>
          <p:nvPr>
            <p:ph idx="1"/>
          </p:nvPr>
        </p:nvSpPr>
        <p:spPr/>
        <p:txBody>
          <a:bodyPr/>
          <a:lstStyle/>
          <a:p>
            <a:r>
              <a:rPr lang="en-US" altLang="ko-KR" sz="2000">
                <a:ea typeface="굴림" panose="020B0600000101010101" pitchFamily="50" charset="-127"/>
              </a:rPr>
              <a:t> </a:t>
            </a:r>
            <a:endParaRPr lang="ko-KR" altLang="en-US" sz="1600">
              <a:ea typeface="굴림" panose="020B0600000101010101" pitchFamily="50" charset="-127"/>
            </a:endParaRPr>
          </a:p>
        </p:txBody>
      </p:sp>
      <p:pic>
        <p:nvPicPr>
          <p:cNvPr id="50180" name="그림 3">
            <a:extLst>
              <a:ext uri="{FF2B5EF4-FFF2-40B4-BE49-F238E27FC236}">
                <a16:creationId xmlns:a16="http://schemas.microsoft.com/office/drawing/2014/main" id="{6FB81F4E-2878-4802-8FCF-15EB06F44FE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388" y="990600"/>
            <a:ext cx="3260725" cy="535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1" name="그림 6">
            <a:extLst>
              <a:ext uri="{FF2B5EF4-FFF2-40B4-BE49-F238E27FC236}">
                <a16:creationId xmlns:a16="http://schemas.microsoft.com/office/drawing/2014/main" id="{0637FAB8-1E75-4632-85F0-0F850B74148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211638" y="1628775"/>
            <a:ext cx="3240087" cy="215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2" name="TextBox 7">
            <a:extLst>
              <a:ext uri="{FF2B5EF4-FFF2-40B4-BE49-F238E27FC236}">
                <a16:creationId xmlns:a16="http://schemas.microsoft.com/office/drawing/2014/main" id="{A0138D8D-22E3-4DCC-B38C-96B224381AD7}"/>
              </a:ext>
            </a:extLst>
          </p:cNvPr>
          <p:cNvSpPr txBox="1">
            <a:spLocks noChangeArrowheads="1"/>
          </p:cNvSpPr>
          <p:nvPr/>
        </p:nvSpPr>
        <p:spPr bwMode="auto">
          <a:xfrm>
            <a:off x="3816350" y="4457700"/>
            <a:ext cx="44434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Char char="-"/>
            </a:pPr>
            <a:r>
              <a:rPr kumimoji="0" lang="en-US" altLang="ko-KR" sz="1400">
                <a:solidFill>
                  <a:srgbClr val="3333FF"/>
                </a:solidFill>
                <a:latin typeface="맑은 고딕" panose="020B0503020000020004" pitchFamily="50" charset="-127"/>
                <a:ea typeface="맑은 고딕" panose="020B0503020000020004" pitchFamily="50" charset="-127"/>
              </a:rPr>
              <a:t>word_q1 </a:t>
            </a:r>
            <a:r>
              <a:rPr kumimoji="0" lang="ko-KR" altLang="en-US" sz="1400">
                <a:solidFill>
                  <a:srgbClr val="3333FF"/>
                </a:solidFill>
                <a:latin typeface="맑은 고딕" panose="020B0503020000020004" pitchFamily="50" charset="-127"/>
                <a:ea typeface="맑은 고딕" panose="020B0503020000020004" pitchFamily="50" charset="-127"/>
              </a:rPr>
              <a:t>값을 </a:t>
            </a:r>
            <a:r>
              <a:rPr kumimoji="0" lang="en-US" altLang="ko-KR" sz="1400">
                <a:solidFill>
                  <a:srgbClr val="3333FF"/>
                </a:solidFill>
                <a:latin typeface="맑은 고딕" panose="020B0503020000020004" pitchFamily="50" charset="-127"/>
                <a:ea typeface="맑은 고딕" panose="020B0503020000020004" pitchFamily="50" charset="-127"/>
              </a:rPr>
              <a:t>high</a:t>
            </a:r>
            <a:r>
              <a:rPr kumimoji="0" lang="ko-KR" altLang="en-US" sz="1400">
                <a:solidFill>
                  <a:srgbClr val="3333FF"/>
                </a:solidFill>
                <a:latin typeface="맑은 고딕" panose="020B0503020000020004" pitchFamily="50" charset="-127"/>
                <a:ea typeface="맑은 고딕" panose="020B0503020000020004" pitchFamily="50" charset="-127"/>
              </a:rPr>
              <a:t>로해서 </a:t>
            </a:r>
            <a:r>
              <a:rPr kumimoji="0" lang="en-US" altLang="ko-KR" sz="1400">
                <a:solidFill>
                  <a:srgbClr val="3333FF"/>
                </a:solidFill>
                <a:latin typeface="맑은 고딕" panose="020B0503020000020004" pitchFamily="50" charset="-127"/>
                <a:ea typeface="맑은 고딕" panose="020B0503020000020004" pitchFamily="50" charset="-127"/>
              </a:rPr>
              <a:t>SRAM </a:t>
            </a:r>
            <a:r>
              <a:rPr kumimoji="0" lang="ko-KR" altLang="en-US" sz="1400">
                <a:solidFill>
                  <a:srgbClr val="3333FF"/>
                </a:solidFill>
                <a:latin typeface="맑은 고딕" panose="020B0503020000020004" pitchFamily="50" charset="-127"/>
                <a:ea typeface="맑은 고딕" panose="020B0503020000020004" pitchFamily="50" charset="-127"/>
              </a:rPr>
              <a:t>값을 읽고자 함</a:t>
            </a:r>
            <a:endParaRPr kumimoji="0" lang="en-US" altLang="ko-KR" sz="1400">
              <a:solidFill>
                <a:srgbClr val="3333FF"/>
              </a:solidFill>
              <a:latin typeface="맑은 고딕" panose="020B0503020000020004" pitchFamily="50" charset="-127"/>
              <a:ea typeface="맑은 고딕" panose="020B0503020000020004" pitchFamily="50" charset="-127"/>
            </a:endParaRPr>
          </a:p>
          <a:p>
            <a:pPr>
              <a:spcBef>
                <a:spcPct val="0"/>
              </a:spcBef>
              <a:buClrTx/>
              <a:buFontTx/>
              <a:buChar char="-"/>
            </a:pPr>
            <a:r>
              <a:rPr kumimoji="0" lang="en-US" altLang="ko-KR" sz="1400">
                <a:solidFill>
                  <a:srgbClr val="3333FF"/>
                </a:solidFill>
                <a:latin typeface="맑은 고딕" panose="020B0503020000020004" pitchFamily="50" charset="-127"/>
                <a:ea typeface="맑은 고딕" panose="020B0503020000020004" pitchFamily="50" charset="-127"/>
              </a:rPr>
              <a:t>Bit_v1f(out_b_v1r)</a:t>
            </a:r>
            <a:r>
              <a:rPr kumimoji="0" lang="ko-KR" altLang="en-US" sz="1400">
                <a:solidFill>
                  <a:srgbClr val="3333FF"/>
                </a:solidFill>
                <a:latin typeface="맑은 고딕" panose="020B0503020000020004" pitchFamily="50" charset="-127"/>
                <a:ea typeface="맑은 고딕" panose="020B0503020000020004" pitchFamily="50" charset="-127"/>
              </a:rPr>
              <a:t>와 </a:t>
            </a:r>
            <a:r>
              <a:rPr kumimoji="0" lang="en-US" altLang="ko-KR" sz="1400">
                <a:solidFill>
                  <a:srgbClr val="3333FF"/>
                </a:solidFill>
                <a:latin typeface="맑은 고딕" panose="020B0503020000020004" pitchFamily="50" charset="-127"/>
                <a:ea typeface="맑은 고딕" panose="020B0503020000020004" pitchFamily="50" charset="-127"/>
              </a:rPr>
              <a:t>bit_b_v1f(out_v1r)</a:t>
            </a:r>
            <a:r>
              <a:rPr kumimoji="0" lang="ko-KR" altLang="en-US" sz="1400">
                <a:solidFill>
                  <a:srgbClr val="3333FF"/>
                </a:solidFill>
                <a:latin typeface="맑은 고딕" panose="020B0503020000020004" pitchFamily="50" charset="-127"/>
                <a:ea typeface="맑은 고딕" panose="020B0503020000020004" pitchFamily="50" charset="-127"/>
              </a:rPr>
              <a:t>값을 얻음</a:t>
            </a:r>
          </a:p>
        </p:txBody>
      </p:sp>
      <p:cxnSp>
        <p:nvCxnSpPr>
          <p:cNvPr id="50183" name="직선 연결선 2">
            <a:extLst>
              <a:ext uri="{FF2B5EF4-FFF2-40B4-BE49-F238E27FC236}">
                <a16:creationId xmlns:a16="http://schemas.microsoft.com/office/drawing/2014/main" id="{9523255D-D0EB-4EBB-B105-B6A4B68D7E4F}"/>
              </a:ext>
            </a:extLst>
          </p:cNvPr>
          <p:cNvCxnSpPr>
            <a:cxnSpLocks noChangeShapeType="1"/>
          </p:cNvCxnSpPr>
          <p:nvPr/>
        </p:nvCxnSpPr>
        <p:spPr bwMode="auto">
          <a:xfrm flipV="1">
            <a:off x="5148263" y="3408363"/>
            <a:ext cx="684212" cy="1100137"/>
          </a:xfrm>
          <a:prstGeom prst="line">
            <a:avLst/>
          </a:prstGeom>
          <a:noFill/>
          <a:ln w="28575" algn="ctr">
            <a:solidFill>
              <a:schemeClr val="accent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8EEB0D64-1D31-4463-AE6E-59766EDCE52F}"/>
              </a:ext>
            </a:extLst>
          </p:cNvPr>
          <p:cNvSpPr>
            <a:spLocks noGrp="1" noChangeArrowheads="1"/>
          </p:cNvSpPr>
          <p:nvPr>
            <p:ph type="title"/>
          </p:nvPr>
        </p:nvSpPr>
        <p:spPr/>
        <p:txBody>
          <a:bodyPr/>
          <a:lstStyle/>
          <a:p>
            <a:r>
              <a:rPr lang="en-US" altLang="ko-KR">
                <a:ea typeface="굴림" panose="020B0600000101010101" pitchFamily="50" charset="-127"/>
              </a:rPr>
              <a:t>SRAM Column Example( Write </a:t>
            </a:r>
            <a:r>
              <a:rPr lang="ko-KR" altLang="en-US">
                <a:ea typeface="굴림" panose="020B0600000101010101" pitchFamily="50" charset="-127"/>
              </a:rPr>
              <a:t>모델</a:t>
            </a:r>
            <a:r>
              <a:rPr lang="en-US" altLang="ko-KR">
                <a:ea typeface="굴림" panose="020B0600000101010101" pitchFamily="50" charset="-127"/>
              </a:rPr>
              <a:t>)</a:t>
            </a:r>
            <a:r>
              <a:rPr lang="ko-KR" altLang="en-US">
                <a:ea typeface="굴림" panose="020B0600000101010101" pitchFamily="50" charset="-127"/>
              </a:rPr>
              <a:t> </a:t>
            </a:r>
            <a:endParaRPr lang="en-GB" altLang="ko-KR">
              <a:ea typeface="굴림" panose="020B0600000101010101" pitchFamily="50" charset="-127"/>
            </a:endParaRPr>
          </a:p>
        </p:txBody>
      </p:sp>
      <p:sp>
        <p:nvSpPr>
          <p:cNvPr id="52227" name="내용 개체 틀 4">
            <a:extLst>
              <a:ext uri="{FF2B5EF4-FFF2-40B4-BE49-F238E27FC236}">
                <a16:creationId xmlns:a16="http://schemas.microsoft.com/office/drawing/2014/main" id="{62DE229A-066E-46C9-8774-EFAD3D39B51D}"/>
              </a:ext>
            </a:extLst>
          </p:cNvPr>
          <p:cNvSpPr>
            <a:spLocks noGrp="1" noChangeArrowheads="1"/>
          </p:cNvSpPr>
          <p:nvPr>
            <p:ph idx="1"/>
          </p:nvPr>
        </p:nvSpPr>
        <p:spPr/>
        <p:txBody>
          <a:bodyPr/>
          <a:lstStyle/>
          <a:p>
            <a:r>
              <a:rPr lang="en-US" altLang="ko-KR" sz="2000">
                <a:ea typeface="굴림" panose="020B0600000101010101" pitchFamily="50" charset="-127"/>
              </a:rPr>
              <a:t> </a:t>
            </a:r>
            <a:endParaRPr lang="ko-KR" altLang="en-US" sz="1600">
              <a:ea typeface="굴림" panose="020B0600000101010101" pitchFamily="50" charset="-127"/>
            </a:endParaRPr>
          </a:p>
        </p:txBody>
      </p:sp>
      <p:pic>
        <p:nvPicPr>
          <p:cNvPr id="52228" name="그림 6">
            <a:extLst>
              <a:ext uri="{FF2B5EF4-FFF2-40B4-BE49-F238E27FC236}">
                <a16:creationId xmlns:a16="http://schemas.microsoft.com/office/drawing/2014/main" id="{ACDCD924-0ED1-4F77-ADF3-34621ABAC1F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11638" y="1628775"/>
            <a:ext cx="3240087" cy="215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2229" name="직선 연결선 2">
            <a:extLst>
              <a:ext uri="{FF2B5EF4-FFF2-40B4-BE49-F238E27FC236}">
                <a16:creationId xmlns:a16="http://schemas.microsoft.com/office/drawing/2014/main" id="{C790407E-D5A5-41C7-9DDA-C4A277DCD504}"/>
              </a:ext>
            </a:extLst>
          </p:cNvPr>
          <p:cNvCxnSpPr>
            <a:cxnSpLocks noChangeShapeType="1"/>
          </p:cNvCxnSpPr>
          <p:nvPr/>
        </p:nvCxnSpPr>
        <p:spPr bwMode="auto">
          <a:xfrm flipH="1" flipV="1">
            <a:off x="6826250" y="3124200"/>
            <a:ext cx="1692275" cy="376238"/>
          </a:xfrm>
          <a:prstGeom prst="line">
            <a:avLst/>
          </a:prstGeom>
          <a:noFill/>
          <a:ln w="28575" algn="ctr">
            <a:solidFill>
              <a:schemeClr val="accent1"/>
            </a:solidFill>
            <a:round/>
            <a:headEnd/>
            <a:tailEnd type="arrow" w="med" len="med"/>
          </a:ln>
          <a:extLst>
            <a:ext uri="{909E8E84-426E-40DD-AFC4-6F175D3DCCD1}">
              <a14:hiddenFill xmlns:a14="http://schemas.microsoft.com/office/drawing/2010/main">
                <a:noFill/>
              </a14:hiddenFill>
            </a:ext>
          </a:extLst>
        </p:spPr>
      </p:cxnSp>
      <p:cxnSp>
        <p:nvCxnSpPr>
          <p:cNvPr id="52230" name="직선 연결선 8">
            <a:extLst>
              <a:ext uri="{FF2B5EF4-FFF2-40B4-BE49-F238E27FC236}">
                <a16:creationId xmlns:a16="http://schemas.microsoft.com/office/drawing/2014/main" id="{FB027C64-8408-4B5F-BBA1-44F50CBD91C1}"/>
              </a:ext>
            </a:extLst>
          </p:cNvPr>
          <p:cNvCxnSpPr>
            <a:cxnSpLocks noChangeShapeType="1"/>
          </p:cNvCxnSpPr>
          <p:nvPr/>
        </p:nvCxnSpPr>
        <p:spPr bwMode="auto">
          <a:xfrm flipV="1">
            <a:off x="6300788" y="3313113"/>
            <a:ext cx="298450" cy="1120775"/>
          </a:xfrm>
          <a:prstGeom prst="line">
            <a:avLst/>
          </a:prstGeom>
          <a:noFill/>
          <a:ln w="28575" algn="ctr">
            <a:solidFill>
              <a:schemeClr val="accent1"/>
            </a:solidFill>
            <a:round/>
            <a:headEnd/>
            <a:tailEnd type="arrow" w="med" len="med"/>
          </a:ln>
          <a:extLst>
            <a:ext uri="{909E8E84-426E-40DD-AFC4-6F175D3DCCD1}">
              <a14:hiddenFill xmlns:a14="http://schemas.microsoft.com/office/drawing/2010/main">
                <a:noFill/>
              </a14:hiddenFill>
            </a:ext>
          </a:extLst>
        </p:spPr>
      </p:cxnSp>
      <p:pic>
        <p:nvPicPr>
          <p:cNvPr id="52231" name="그림 10">
            <a:extLst>
              <a:ext uri="{FF2B5EF4-FFF2-40B4-BE49-F238E27FC236}">
                <a16:creationId xmlns:a16="http://schemas.microsoft.com/office/drawing/2014/main" id="{DCEBE272-F38D-475A-809F-FAFB7B8277E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7350" y="1066800"/>
            <a:ext cx="3024188"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2232" name="직선 화살표 연결선 12">
            <a:extLst>
              <a:ext uri="{FF2B5EF4-FFF2-40B4-BE49-F238E27FC236}">
                <a16:creationId xmlns:a16="http://schemas.microsoft.com/office/drawing/2014/main" id="{F1A74346-0EBD-41DD-8F36-062E118A580B}"/>
              </a:ext>
            </a:extLst>
          </p:cNvPr>
          <p:cNvCxnSpPr>
            <a:cxnSpLocks noChangeShapeType="1"/>
          </p:cNvCxnSpPr>
          <p:nvPr/>
        </p:nvCxnSpPr>
        <p:spPr bwMode="auto">
          <a:xfrm>
            <a:off x="1331913" y="2060575"/>
            <a:ext cx="0" cy="863600"/>
          </a:xfrm>
          <a:prstGeom prst="straightConnector1">
            <a:avLst/>
          </a:prstGeom>
          <a:noFill/>
          <a:ln w="38100" algn="ctr">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52233" name="직선 화살표 연결선 14">
            <a:extLst>
              <a:ext uri="{FF2B5EF4-FFF2-40B4-BE49-F238E27FC236}">
                <a16:creationId xmlns:a16="http://schemas.microsoft.com/office/drawing/2014/main" id="{2C0DC2B3-6286-4D8E-8F9B-4B42191253A7}"/>
              </a:ext>
            </a:extLst>
          </p:cNvPr>
          <p:cNvCxnSpPr>
            <a:cxnSpLocks noChangeShapeType="1"/>
          </p:cNvCxnSpPr>
          <p:nvPr/>
        </p:nvCxnSpPr>
        <p:spPr bwMode="auto">
          <a:xfrm>
            <a:off x="3348038" y="2068513"/>
            <a:ext cx="0" cy="863600"/>
          </a:xfrm>
          <a:prstGeom prst="straightConnector1">
            <a:avLst/>
          </a:prstGeom>
          <a:noFill/>
          <a:ln w="38100" algn="ctr">
            <a:solidFill>
              <a:schemeClr val="accent1"/>
            </a:solidFill>
            <a:round/>
            <a:headEnd/>
            <a:tailEnd type="triangle" w="med" len="med"/>
          </a:ln>
          <a:extLst>
            <a:ext uri="{909E8E84-426E-40DD-AFC4-6F175D3DCCD1}">
              <a14:hiddenFill xmlns:a14="http://schemas.microsoft.com/office/drawing/2010/main">
                <a:noFill/>
              </a14:hiddenFill>
            </a:ext>
          </a:extLst>
        </p:spPr>
      </p:cxnSp>
      <p:sp>
        <p:nvSpPr>
          <p:cNvPr id="52234" name="TextBox 15">
            <a:extLst>
              <a:ext uri="{FF2B5EF4-FFF2-40B4-BE49-F238E27FC236}">
                <a16:creationId xmlns:a16="http://schemas.microsoft.com/office/drawing/2014/main" id="{7B1601A6-C901-439E-89BE-1CD381670F06}"/>
              </a:ext>
            </a:extLst>
          </p:cNvPr>
          <p:cNvSpPr txBox="1">
            <a:spLocks noChangeArrowheads="1"/>
          </p:cNvSpPr>
          <p:nvPr/>
        </p:nvSpPr>
        <p:spPr bwMode="auto">
          <a:xfrm>
            <a:off x="88900" y="3422650"/>
            <a:ext cx="1260475"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400">
                <a:solidFill>
                  <a:srgbClr val="3333FF"/>
                </a:solidFill>
                <a:latin typeface="맑은 고딕" panose="020B0503020000020004" pitchFamily="50" charset="-127"/>
                <a:ea typeface="맑은 고딕" panose="020B0503020000020004" pitchFamily="50" charset="-127"/>
              </a:rPr>
              <a:t>2. Word</a:t>
            </a:r>
            <a:r>
              <a:rPr kumimoji="0" lang="ko-KR" altLang="en-US" sz="1400">
                <a:solidFill>
                  <a:srgbClr val="3333FF"/>
                </a:solidFill>
                <a:latin typeface="맑은 고딕" panose="020B0503020000020004" pitchFamily="50" charset="-127"/>
                <a:ea typeface="맑은 고딕" panose="020B0503020000020004" pitchFamily="50" charset="-127"/>
              </a:rPr>
              <a:t> </a:t>
            </a:r>
            <a:r>
              <a:rPr kumimoji="0" lang="en-US" altLang="ko-KR" sz="1400">
                <a:solidFill>
                  <a:srgbClr val="3333FF"/>
                </a:solidFill>
                <a:latin typeface="맑은 고딕" panose="020B0503020000020004" pitchFamily="50" charset="-127"/>
                <a:ea typeface="맑은 고딕" panose="020B0503020000020004" pitchFamily="50" charset="-127"/>
              </a:rPr>
              <a:t>line</a:t>
            </a:r>
            <a:r>
              <a:rPr kumimoji="0" lang="ko-KR" altLang="en-US" sz="1400">
                <a:solidFill>
                  <a:srgbClr val="3333FF"/>
                </a:solidFill>
                <a:latin typeface="맑은 고딕" panose="020B0503020000020004" pitchFamily="50" charset="-127"/>
                <a:ea typeface="맑은 고딕" panose="020B0503020000020004" pitchFamily="50" charset="-127"/>
              </a:rPr>
              <a:t>을 </a:t>
            </a:r>
            <a:r>
              <a:rPr kumimoji="0" lang="en-US" altLang="ko-KR" sz="1400">
                <a:solidFill>
                  <a:srgbClr val="3333FF"/>
                </a:solidFill>
                <a:latin typeface="맑은 고딕" panose="020B0503020000020004" pitchFamily="50" charset="-127"/>
                <a:ea typeface="맑은 고딕" panose="020B0503020000020004" pitchFamily="50" charset="-127"/>
              </a:rPr>
              <a:t>turn on </a:t>
            </a:r>
            <a:r>
              <a:rPr kumimoji="0" lang="ko-KR" altLang="en-US" sz="1400">
                <a:solidFill>
                  <a:srgbClr val="3333FF"/>
                </a:solidFill>
                <a:latin typeface="맑은 고딕" panose="020B0503020000020004" pitchFamily="50" charset="-127"/>
                <a:ea typeface="맑은 고딕" panose="020B0503020000020004" pitchFamily="50" charset="-127"/>
              </a:rPr>
              <a:t>함</a:t>
            </a:r>
          </a:p>
        </p:txBody>
      </p:sp>
      <p:sp>
        <p:nvSpPr>
          <p:cNvPr id="52235" name="TextBox 16">
            <a:extLst>
              <a:ext uri="{FF2B5EF4-FFF2-40B4-BE49-F238E27FC236}">
                <a16:creationId xmlns:a16="http://schemas.microsoft.com/office/drawing/2014/main" id="{EE27DB06-BD69-439A-93BF-8EEC5279A8B7}"/>
              </a:ext>
            </a:extLst>
          </p:cNvPr>
          <p:cNvSpPr txBox="1">
            <a:spLocks noChangeArrowheads="1"/>
          </p:cNvSpPr>
          <p:nvPr/>
        </p:nvSpPr>
        <p:spPr bwMode="auto">
          <a:xfrm>
            <a:off x="393700" y="1214438"/>
            <a:ext cx="126047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400">
                <a:solidFill>
                  <a:srgbClr val="3333FF"/>
                </a:solidFill>
                <a:latin typeface="맑은 고딕" panose="020B0503020000020004" pitchFamily="50" charset="-127"/>
                <a:ea typeface="맑은 고딕" panose="020B0503020000020004" pitchFamily="50" charset="-127"/>
              </a:rPr>
              <a:t>1. Charging </a:t>
            </a:r>
            <a:r>
              <a:rPr kumimoji="0" lang="ko-KR" altLang="en-US" sz="1400">
                <a:solidFill>
                  <a:srgbClr val="3333FF"/>
                </a:solidFill>
                <a:latin typeface="맑은 고딕" panose="020B0503020000020004" pitchFamily="50" charset="-127"/>
                <a:ea typeface="맑은 고딕" panose="020B0503020000020004" pitchFamily="50" charset="-127"/>
              </a:rPr>
              <a:t>회로에 의해 </a:t>
            </a:r>
            <a:r>
              <a:rPr kumimoji="0" lang="en-US" altLang="ko-KR" sz="1400">
                <a:solidFill>
                  <a:srgbClr val="3333FF"/>
                </a:solidFill>
                <a:latin typeface="맑은 고딕" panose="020B0503020000020004" pitchFamily="50" charset="-127"/>
                <a:ea typeface="맑은 고딕" panose="020B0503020000020004" pitchFamily="50" charset="-127"/>
              </a:rPr>
              <a:t>bit line</a:t>
            </a:r>
            <a:r>
              <a:rPr kumimoji="0" lang="ko-KR" altLang="en-US" sz="1400">
                <a:solidFill>
                  <a:srgbClr val="3333FF"/>
                </a:solidFill>
                <a:latin typeface="맑은 고딕" panose="020B0503020000020004" pitchFamily="50" charset="-127"/>
                <a:ea typeface="맑은 고딕" panose="020B0503020000020004" pitchFamily="50" charset="-127"/>
              </a:rPr>
              <a:t>에 값이 인가됨</a:t>
            </a:r>
          </a:p>
        </p:txBody>
      </p:sp>
      <p:sp>
        <p:nvSpPr>
          <p:cNvPr id="52236" name="TextBox 17">
            <a:extLst>
              <a:ext uri="{FF2B5EF4-FFF2-40B4-BE49-F238E27FC236}">
                <a16:creationId xmlns:a16="http://schemas.microsoft.com/office/drawing/2014/main" id="{C5DD2406-DC85-48F0-B5FF-D0C0D408DEB7}"/>
              </a:ext>
            </a:extLst>
          </p:cNvPr>
          <p:cNvSpPr txBox="1">
            <a:spLocks noChangeArrowheads="1"/>
          </p:cNvSpPr>
          <p:nvPr/>
        </p:nvSpPr>
        <p:spPr bwMode="auto">
          <a:xfrm>
            <a:off x="4603750" y="4433888"/>
            <a:ext cx="27844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400">
                <a:solidFill>
                  <a:srgbClr val="3333FF"/>
                </a:solidFill>
                <a:latin typeface="맑은 고딕" panose="020B0503020000020004" pitchFamily="50" charset="-127"/>
                <a:ea typeface="맑은 고딕" panose="020B0503020000020004" pitchFamily="50" charset="-127"/>
              </a:rPr>
              <a:t>3. Bit line </a:t>
            </a:r>
            <a:r>
              <a:rPr kumimoji="0" lang="ko-KR" altLang="en-US" sz="1400">
                <a:solidFill>
                  <a:srgbClr val="3333FF"/>
                </a:solidFill>
                <a:latin typeface="맑은 고딕" panose="020B0503020000020004" pitchFamily="50" charset="-127"/>
                <a:ea typeface="맑은 고딕" panose="020B0503020000020004" pitchFamily="50" charset="-127"/>
              </a:rPr>
              <a:t>값에 의해 </a:t>
            </a:r>
            <a:r>
              <a:rPr kumimoji="0" lang="en-US" altLang="ko-KR" sz="1400">
                <a:solidFill>
                  <a:srgbClr val="3333FF"/>
                </a:solidFill>
                <a:latin typeface="맑은 고딕" panose="020B0503020000020004" pitchFamily="50" charset="-127"/>
                <a:ea typeface="맑은 고딕" panose="020B0503020000020004" pitchFamily="50" charset="-127"/>
              </a:rPr>
              <a:t>cell</a:t>
            </a:r>
            <a:r>
              <a:rPr kumimoji="0" lang="ko-KR" altLang="en-US" sz="1400">
                <a:solidFill>
                  <a:srgbClr val="3333FF"/>
                </a:solidFill>
                <a:latin typeface="맑은 고딕" panose="020B0503020000020004" pitchFamily="50" charset="-127"/>
                <a:ea typeface="맑은 고딕" panose="020B0503020000020004" pitchFamily="50" charset="-127"/>
              </a:rPr>
              <a:t>의 값이 </a:t>
            </a:r>
            <a:r>
              <a:rPr kumimoji="0" lang="en-US" altLang="ko-KR" sz="1400">
                <a:solidFill>
                  <a:srgbClr val="3333FF"/>
                </a:solidFill>
                <a:latin typeface="맑은 고딕" panose="020B0503020000020004" pitchFamily="50" charset="-127"/>
                <a:ea typeface="맑은 고딕" panose="020B0503020000020004" pitchFamily="50" charset="-127"/>
              </a:rPr>
              <a:t>overpower </a:t>
            </a:r>
            <a:r>
              <a:rPr kumimoji="0" lang="ko-KR" altLang="en-US" sz="1400">
                <a:solidFill>
                  <a:srgbClr val="3333FF"/>
                </a:solidFill>
                <a:latin typeface="맑은 고딕" panose="020B0503020000020004" pitchFamily="50" charset="-127"/>
                <a:ea typeface="맑은 고딕" panose="020B0503020000020004" pitchFamily="50" charset="-127"/>
              </a:rPr>
              <a:t>됨</a:t>
            </a:r>
            <a:endParaRPr kumimoji="0" lang="en-US" altLang="ko-KR" sz="1400">
              <a:solidFill>
                <a:srgbClr val="3333FF"/>
              </a:solidFill>
              <a:latin typeface="맑은 고딕" panose="020B0503020000020004" pitchFamily="50" charset="-127"/>
              <a:ea typeface="맑은 고딕" panose="020B0503020000020004" pitchFamily="50" charset="-127"/>
            </a:endParaRPr>
          </a:p>
        </p:txBody>
      </p:sp>
      <p:sp>
        <p:nvSpPr>
          <p:cNvPr id="52237" name="TextBox 23">
            <a:extLst>
              <a:ext uri="{FF2B5EF4-FFF2-40B4-BE49-F238E27FC236}">
                <a16:creationId xmlns:a16="http://schemas.microsoft.com/office/drawing/2014/main" id="{789C05E0-86EE-4608-B8D6-6CC0FDCCA396}"/>
              </a:ext>
            </a:extLst>
          </p:cNvPr>
          <p:cNvSpPr txBox="1">
            <a:spLocks noChangeArrowheads="1"/>
          </p:cNvSpPr>
          <p:nvPr/>
        </p:nvSpPr>
        <p:spPr bwMode="auto">
          <a:xfrm>
            <a:off x="7502525" y="3479800"/>
            <a:ext cx="164147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400">
                <a:solidFill>
                  <a:srgbClr val="3333FF"/>
                </a:solidFill>
                <a:latin typeface="맑은 고딕" panose="020B0503020000020004" pitchFamily="50" charset="-127"/>
                <a:ea typeface="맑은 고딕" panose="020B0503020000020004" pitchFamily="50" charset="-127"/>
              </a:rPr>
              <a:t>4. </a:t>
            </a:r>
            <a:r>
              <a:rPr kumimoji="0" lang="ko-KR" altLang="en-US" sz="1400">
                <a:solidFill>
                  <a:srgbClr val="3333FF"/>
                </a:solidFill>
                <a:latin typeface="맑은 고딕" panose="020B0503020000020004" pitchFamily="50" charset="-127"/>
                <a:ea typeface="맑은 고딕" panose="020B0503020000020004" pitchFamily="50" charset="-127"/>
              </a:rPr>
              <a:t>그림에서 </a:t>
            </a:r>
            <a:r>
              <a:rPr kumimoji="0" lang="en-US" altLang="ko-KR" sz="1400">
                <a:solidFill>
                  <a:srgbClr val="3333FF"/>
                </a:solidFill>
                <a:latin typeface="맑은 고딕" panose="020B0503020000020004" pitchFamily="50" charset="-127"/>
                <a:ea typeface="맑은 고딕" panose="020B0503020000020004" pitchFamily="50" charset="-127"/>
              </a:rPr>
              <a:t>bit_v1f </a:t>
            </a:r>
            <a:r>
              <a:rPr kumimoji="0" lang="ko-KR" altLang="en-US" sz="1400">
                <a:solidFill>
                  <a:srgbClr val="3333FF"/>
                </a:solidFill>
                <a:latin typeface="맑은 고딕" panose="020B0503020000020004" pitchFamily="50" charset="-127"/>
                <a:ea typeface="맑은 고딕" panose="020B0503020000020004" pitchFamily="50" charset="-127"/>
              </a:rPr>
              <a:t>값은 </a:t>
            </a:r>
            <a:r>
              <a:rPr kumimoji="0" lang="en-US" altLang="ko-KR" sz="1400">
                <a:solidFill>
                  <a:srgbClr val="3333FF"/>
                </a:solidFill>
                <a:latin typeface="맑은 고딕" panose="020B0503020000020004" pitchFamily="50" charset="-127"/>
                <a:ea typeface="맑은 고딕" panose="020B0503020000020004" pitchFamily="50" charset="-127"/>
              </a:rPr>
              <a:t>0</a:t>
            </a:r>
            <a:r>
              <a:rPr kumimoji="0" lang="en-US" altLang="ko-KR" sz="1400">
                <a:solidFill>
                  <a:srgbClr val="3333FF"/>
                </a:solidFill>
                <a:latin typeface="맑은 고딕" panose="020B0503020000020004" pitchFamily="50" charset="-127"/>
                <a:ea typeface="맑은 고딕" panose="020B0503020000020004" pitchFamily="50" charset="-127"/>
                <a:sym typeface="Wingdings" panose="05000000000000000000" pitchFamily="2" charset="2"/>
              </a:rPr>
              <a:t>1</a:t>
            </a:r>
            <a:r>
              <a:rPr kumimoji="0" lang="ko-KR" altLang="en-US" sz="1400">
                <a:solidFill>
                  <a:srgbClr val="3333FF"/>
                </a:solidFill>
                <a:latin typeface="맑은 고딕" panose="020B0503020000020004" pitchFamily="50" charset="-127"/>
                <a:ea typeface="맑은 고딕" panose="020B0503020000020004" pitchFamily="50" charset="-127"/>
                <a:sym typeface="Wingdings" panose="05000000000000000000" pitchFamily="2" charset="2"/>
              </a:rPr>
              <a:t>로</a:t>
            </a:r>
            <a:r>
              <a:rPr kumimoji="0" lang="en-US" altLang="ko-KR" sz="1400">
                <a:solidFill>
                  <a:srgbClr val="3333FF"/>
                </a:solidFill>
                <a:latin typeface="맑은 고딕" panose="020B0503020000020004" pitchFamily="50" charset="-127"/>
                <a:ea typeface="맑은 고딕" panose="020B0503020000020004" pitchFamily="50" charset="-127"/>
                <a:sym typeface="Wingdings" panose="05000000000000000000" pitchFamily="2" charset="2"/>
              </a:rPr>
              <a:t>, </a:t>
            </a:r>
            <a:r>
              <a:rPr kumimoji="0" lang="ko-KR" altLang="en-US" sz="1400">
                <a:solidFill>
                  <a:srgbClr val="3333FF"/>
                </a:solidFill>
                <a:latin typeface="맑은 고딕" panose="020B0503020000020004" pitchFamily="50" charset="-127"/>
                <a:ea typeface="맑은 고딕" panose="020B0503020000020004" pitchFamily="50" charset="-127"/>
                <a:sym typeface="Wingdings" panose="05000000000000000000" pitchFamily="2" charset="2"/>
              </a:rPr>
              <a:t>새로운 값이 쓰여짐</a:t>
            </a:r>
            <a:endParaRPr kumimoji="0" lang="en-US" altLang="ko-KR" sz="1400">
              <a:solidFill>
                <a:srgbClr val="3333FF"/>
              </a:solidFill>
              <a:latin typeface="맑은 고딕" panose="020B0503020000020004" pitchFamily="50" charset="-127"/>
              <a:ea typeface="맑은 고딕" panose="020B0503020000020004" pitchFamily="50" charset="-127"/>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977A1768-E119-4E31-BBF4-81E4D6206F6C}"/>
              </a:ext>
            </a:extLst>
          </p:cNvPr>
          <p:cNvSpPr>
            <a:spLocks noGrp="1" noChangeArrowheads="1"/>
          </p:cNvSpPr>
          <p:nvPr>
            <p:ph type="title"/>
          </p:nvPr>
        </p:nvSpPr>
        <p:spPr/>
        <p:txBody>
          <a:bodyPr/>
          <a:lstStyle/>
          <a:p>
            <a:r>
              <a:rPr lang="en-US" altLang="ko-KR">
                <a:ea typeface="굴림" panose="020B0600000101010101" pitchFamily="50" charset="-127"/>
              </a:rPr>
              <a:t>SRAM (Decoder)</a:t>
            </a:r>
            <a:endParaRPr lang="en-GB" altLang="ko-KR">
              <a:ea typeface="굴림" panose="020B0600000101010101" pitchFamily="50" charset="-127"/>
            </a:endParaRPr>
          </a:p>
        </p:txBody>
      </p:sp>
      <p:sp>
        <p:nvSpPr>
          <p:cNvPr id="54275" name="내용 개체 틀 4">
            <a:extLst>
              <a:ext uri="{FF2B5EF4-FFF2-40B4-BE49-F238E27FC236}">
                <a16:creationId xmlns:a16="http://schemas.microsoft.com/office/drawing/2014/main" id="{B452A311-C51D-4ED8-9067-EFE302C1D52C}"/>
              </a:ext>
            </a:extLst>
          </p:cNvPr>
          <p:cNvSpPr>
            <a:spLocks noGrp="1" noChangeArrowheads="1"/>
          </p:cNvSpPr>
          <p:nvPr>
            <p:ph idx="1"/>
          </p:nvPr>
        </p:nvSpPr>
        <p:spPr/>
        <p:txBody>
          <a:bodyPr/>
          <a:lstStyle/>
          <a:p>
            <a:r>
              <a:rPr lang="en-US" altLang="ko-KR" sz="2400">
                <a:ea typeface="굴림" panose="020B0600000101010101" pitchFamily="50" charset="-127"/>
              </a:rPr>
              <a:t>n:2</a:t>
            </a:r>
            <a:r>
              <a:rPr lang="en-US" altLang="ko-KR" sz="2400" baseline="30000">
                <a:ea typeface="굴림" panose="020B0600000101010101" pitchFamily="50" charset="-127"/>
              </a:rPr>
              <a:t>n</a:t>
            </a:r>
            <a:r>
              <a:rPr lang="en-US" altLang="ko-KR" sz="2400">
                <a:ea typeface="굴림" panose="020B0600000101010101" pitchFamily="50" charset="-127"/>
              </a:rPr>
              <a:t> decoder consists of 2</a:t>
            </a:r>
            <a:r>
              <a:rPr lang="en-US" altLang="ko-KR" sz="2400" baseline="30000">
                <a:ea typeface="굴림" panose="020B0600000101010101" pitchFamily="50" charset="-127"/>
              </a:rPr>
              <a:t>n</a:t>
            </a:r>
            <a:r>
              <a:rPr lang="en-US" altLang="ko-KR" sz="2400">
                <a:ea typeface="굴림" panose="020B0600000101010101" pitchFamily="50" charset="-127"/>
              </a:rPr>
              <a:t> n-input AND gates</a:t>
            </a:r>
          </a:p>
          <a:p>
            <a:pPr lvl="1"/>
            <a:r>
              <a:rPr lang="en-US" altLang="ko-KR" sz="2000">
                <a:solidFill>
                  <a:srgbClr val="3333FF"/>
                </a:solidFill>
                <a:latin typeface="Arial" panose="020B0604020202020204" pitchFamily="34" charset="0"/>
                <a:ea typeface="굴림" panose="020B0600000101010101" pitchFamily="50" charset="-127"/>
              </a:rPr>
              <a:t>One needed for each row of memory</a:t>
            </a:r>
          </a:p>
          <a:p>
            <a:pPr lvl="1"/>
            <a:r>
              <a:rPr lang="en-US" altLang="ko-KR" sz="2000">
                <a:solidFill>
                  <a:srgbClr val="3333FF"/>
                </a:solidFill>
                <a:latin typeface="Arial" panose="020B0604020202020204" pitchFamily="34" charset="0"/>
                <a:ea typeface="굴림" panose="020B0600000101010101" pitchFamily="50" charset="-127"/>
              </a:rPr>
              <a:t>Build AND from NAND or NOR gates</a:t>
            </a:r>
            <a:endParaRPr lang="en-US" altLang="ko-KR">
              <a:solidFill>
                <a:srgbClr val="3333FF"/>
              </a:solidFill>
              <a:latin typeface="Arial" panose="020B0604020202020204" pitchFamily="34" charset="0"/>
              <a:ea typeface="굴림" panose="020B0600000101010101" pitchFamily="50" charset="-127"/>
            </a:endParaRPr>
          </a:p>
          <a:p>
            <a:endParaRPr lang="ko-KR" altLang="en-US" sz="1600">
              <a:ea typeface="굴림" panose="020B0600000101010101" pitchFamily="50" charset="-127"/>
            </a:endParaRPr>
          </a:p>
        </p:txBody>
      </p:sp>
      <p:grpSp>
        <p:nvGrpSpPr>
          <p:cNvPr id="54276" name="그룹 7">
            <a:extLst>
              <a:ext uri="{FF2B5EF4-FFF2-40B4-BE49-F238E27FC236}">
                <a16:creationId xmlns:a16="http://schemas.microsoft.com/office/drawing/2014/main" id="{E6C144F2-C874-48CE-A991-BF0B37E24C31}"/>
              </a:ext>
            </a:extLst>
          </p:cNvPr>
          <p:cNvGrpSpPr>
            <a:grpSpLocks/>
          </p:cNvGrpSpPr>
          <p:nvPr/>
        </p:nvGrpSpPr>
        <p:grpSpPr bwMode="auto">
          <a:xfrm>
            <a:off x="4284663" y="2420938"/>
            <a:ext cx="4083050" cy="3816350"/>
            <a:chOff x="2377852" y="2348880"/>
            <a:chExt cx="4083326" cy="3816424"/>
          </a:xfrm>
        </p:grpSpPr>
        <p:pic>
          <p:nvPicPr>
            <p:cNvPr id="54277" name="그림 1">
              <a:extLst>
                <a:ext uri="{FF2B5EF4-FFF2-40B4-BE49-F238E27FC236}">
                  <a16:creationId xmlns:a16="http://schemas.microsoft.com/office/drawing/2014/main" id="{C81C8127-3EA9-4E58-AE15-66BFEB5A462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77852" y="2348880"/>
              <a:ext cx="3628034" cy="3816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8" name="TextBox 3">
              <a:extLst>
                <a:ext uri="{FF2B5EF4-FFF2-40B4-BE49-F238E27FC236}">
                  <a16:creationId xmlns:a16="http://schemas.microsoft.com/office/drawing/2014/main" id="{BA0EF7E6-4990-4E64-80E9-77FBC9013DCD}"/>
                </a:ext>
              </a:extLst>
            </p:cNvPr>
            <p:cNvSpPr txBox="1">
              <a:spLocks noChangeArrowheads="1"/>
            </p:cNvSpPr>
            <p:nvPr/>
          </p:nvSpPr>
          <p:spPr bwMode="auto">
            <a:xfrm>
              <a:off x="5093026" y="4537760"/>
              <a:ext cx="136815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100">
                  <a:latin typeface="Times New Roman" panose="02020603050405020304" pitchFamily="18" charset="0"/>
                  <a:ea typeface="굴림" panose="020B0600000101010101" pitchFamily="50" charset="-127"/>
                </a:rPr>
                <a:t>If A1A0 =00</a:t>
              </a:r>
            </a:p>
          </p:txBody>
        </p:sp>
        <p:sp>
          <p:nvSpPr>
            <p:cNvPr id="54279" name="타원 5">
              <a:extLst>
                <a:ext uri="{FF2B5EF4-FFF2-40B4-BE49-F238E27FC236}">
                  <a16:creationId xmlns:a16="http://schemas.microsoft.com/office/drawing/2014/main" id="{CC7671DC-063A-4B74-B3DC-6700FF221EE7}"/>
                </a:ext>
              </a:extLst>
            </p:cNvPr>
            <p:cNvSpPr>
              <a:spLocks noChangeArrowheads="1"/>
            </p:cNvSpPr>
            <p:nvPr/>
          </p:nvSpPr>
          <p:spPr bwMode="auto">
            <a:xfrm>
              <a:off x="2966616" y="4753719"/>
              <a:ext cx="51668" cy="72008"/>
            </a:xfrm>
            <a:prstGeom prst="ellipse">
              <a:avLst/>
            </a:prstGeom>
            <a:solidFill>
              <a:schemeClr val="tx1"/>
            </a:solidFill>
            <a:ln w="9525" algn="ctr">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54280" name="타원 18">
              <a:extLst>
                <a:ext uri="{FF2B5EF4-FFF2-40B4-BE49-F238E27FC236}">
                  <a16:creationId xmlns:a16="http://schemas.microsoft.com/office/drawing/2014/main" id="{073854E8-768E-4089-8CF1-C735D2AF3719}"/>
                </a:ext>
              </a:extLst>
            </p:cNvPr>
            <p:cNvSpPr>
              <a:spLocks noChangeArrowheads="1"/>
            </p:cNvSpPr>
            <p:nvPr/>
          </p:nvSpPr>
          <p:spPr bwMode="auto">
            <a:xfrm>
              <a:off x="2974256" y="5166717"/>
              <a:ext cx="51668" cy="72008"/>
            </a:xfrm>
            <a:prstGeom prst="ellipse">
              <a:avLst/>
            </a:prstGeom>
            <a:solidFill>
              <a:schemeClr val="tx1"/>
            </a:solidFill>
            <a:ln w="9525" algn="ctr">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54281" name="타원 19">
              <a:extLst>
                <a:ext uri="{FF2B5EF4-FFF2-40B4-BE49-F238E27FC236}">
                  <a16:creationId xmlns:a16="http://schemas.microsoft.com/office/drawing/2014/main" id="{45CA879D-B636-4C76-93D1-196193188544}"/>
                </a:ext>
              </a:extLst>
            </p:cNvPr>
            <p:cNvSpPr>
              <a:spLocks noChangeArrowheads="1"/>
            </p:cNvSpPr>
            <p:nvPr/>
          </p:nvSpPr>
          <p:spPr bwMode="auto">
            <a:xfrm>
              <a:off x="3647653" y="4596557"/>
              <a:ext cx="51668" cy="72008"/>
            </a:xfrm>
            <a:prstGeom prst="ellipse">
              <a:avLst/>
            </a:prstGeom>
            <a:solidFill>
              <a:schemeClr val="tx1"/>
            </a:solidFill>
            <a:ln w="9525" algn="ctr">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54282" name="타원 20">
              <a:extLst>
                <a:ext uri="{FF2B5EF4-FFF2-40B4-BE49-F238E27FC236}">
                  <a16:creationId xmlns:a16="http://schemas.microsoft.com/office/drawing/2014/main" id="{EDA8BD46-0CA3-4F13-A45A-A67EA6E67BD7}"/>
                </a:ext>
              </a:extLst>
            </p:cNvPr>
            <p:cNvSpPr>
              <a:spLocks noChangeArrowheads="1"/>
            </p:cNvSpPr>
            <p:nvPr/>
          </p:nvSpPr>
          <p:spPr bwMode="auto">
            <a:xfrm>
              <a:off x="3311896" y="5001370"/>
              <a:ext cx="51668" cy="72008"/>
            </a:xfrm>
            <a:prstGeom prst="ellipse">
              <a:avLst/>
            </a:prstGeom>
            <a:solidFill>
              <a:schemeClr val="tx1"/>
            </a:solidFill>
            <a:ln w="9525" algn="ctr">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54283" name="타원 21">
              <a:extLst>
                <a:ext uri="{FF2B5EF4-FFF2-40B4-BE49-F238E27FC236}">
                  <a16:creationId xmlns:a16="http://schemas.microsoft.com/office/drawing/2014/main" id="{35BFE89D-FECD-46F9-A66F-01234AD03FD2}"/>
                </a:ext>
              </a:extLst>
            </p:cNvPr>
            <p:cNvSpPr>
              <a:spLocks noChangeArrowheads="1"/>
            </p:cNvSpPr>
            <p:nvPr/>
          </p:nvSpPr>
          <p:spPr bwMode="auto">
            <a:xfrm>
              <a:off x="3660353" y="5434757"/>
              <a:ext cx="51668" cy="72008"/>
            </a:xfrm>
            <a:prstGeom prst="ellipse">
              <a:avLst/>
            </a:prstGeom>
            <a:solidFill>
              <a:schemeClr val="tx1"/>
            </a:solidFill>
            <a:ln w="9525" algn="ctr">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54284" name="타원 22">
              <a:extLst>
                <a:ext uri="{FF2B5EF4-FFF2-40B4-BE49-F238E27FC236}">
                  <a16:creationId xmlns:a16="http://schemas.microsoft.com/office/drawing/2014/main" id="{15E8428C-B83F-427F-B627-4DF32BD8ABD6}"/>
                </a:ext>
              </a:extLst>
            </p:cNvPr>
            <p:cNvSpPr>
              <a:spLocks noChangeArrowheads="1"/>
            </p:cNvSpPr>
            <p:nvPr/>
          </p:nvSpPr>
          <p:spPr bwMode="auto">
            <a:xfrm>
              <a:off x="3305547" y="5839570"/>
              <a:ext cx="51668" cy="72008"/>
            </a:xfrm>
            <a:prstGeom prst="ellipse">
              <a:avLst/>
            </a:prstGeom>
            <a:solidFill>
              <a:schemeClr val="tx1"/>
            </a:solidFill>
            <a:ln w="9525" algn="ctr">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54285" name="타원 24">
              <a:extLst>
                <a:ext uri="{FF2B5EF4-FFF2-40B4-BE49-F238E27FC236}">
                  <a16:creationId xmlns:a16="http://schemas.microsoft.com/office/drawing/2014/main" id="{F7ACB739-1087-4C31-8574-9E11F65C7EC9}"/>
                </a:ext>
              </a:extLst>
            </p:cNvPr>
            <p:cNvSpPr>
              <a:spLocks noChangeArrowheads="1"/>
            </p:cNvSpPr>
            <p:nvPr/>
          </p:nvSpPr>
          <p:spPr bwMode="auto">
            <a:xfrm>
              <a:off x="2636415" y="6006257"/>
              <a:ext cx="51668" cy="72008"/>
            </a:xfrm>
            <a:prstGeom prst="ellipse">
              <a:avLst/>
            </a:prstGeom>
            <a:solidFill>
              <a:schemeClr val="tx1"/>
            </a:solidFill>
            <a:ln w="9525" algn="ctr">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54286" name="타원 25">
              <a:extLst>
                <a:ext uri="{FF2B5EF4-FFF2-40B4-BE49-F238E27FC236}">
                  <a16:creationId xmlns:a16="http://schemas.microsoft.com/office/drawing/2014/main" id="{8E0FB6A9-48B7-4843-8CB1-5752CD319776}"/>
                </a:ext>
              </a:extLst>
            </p:cNvPr>
            <p:cNvSpPr>
              <a:spLocks noChangeArrowheads="1"/>
            </p:cNvSpPr>
            <p:nvPr/>
          </p:nvSpPr>
          <p:spPr bwMode="auto">
            <a:xfrm>
              <a:off x="2641178" y="5603825"/>
              <a:ext cx="51668" cy="72008"/>
            </a:xfrm>
            <a:prstGeom prst="ellipse">
              <a:avLst/>
            </a:prstGeom>
            <a:solidFill>
              <a:schemeClr val="tx1"/>
            </a:solidFill>
            <a:ln w="9525" algn="ctr">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54287" name="TextBox 26">
              <a:extLst>
                <a:ext uri="{FF2B5EF4-FFF2-40B4-BE49-F238E27FC236}">
                  <a16:creationId xmlns:a16="http://schemas.microsoft.com/office/drawing/2014/main" id="{1221E361-F189-4FD8-819B-5AB31105219F}"/>
                </a:ext>
              </a:extLst>
            </p:cNvPr>
            <p:cNvSpPr txBox="1">
              <a:spLocks noChangeArrowheads="1"/>
            </p:cNvSpPr>
            <p:nvPr/>
          </p:nvSpPr>
          <p:spPr bwMode="auto">
            <a:xfrm>
              <a:off x="5093026" y="5001370"/>
              <a:ext cx="136815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100">
                  <a:latin typeface="Times New Roman" panose="02020603050405020304" pitchFamily="18" charset="0"/>
                  <a:ea typeface="굴림" panose="020B0600000101010101" pitchFamily="50" charset="-127"/>
                </a:rPr>
                <a:t>If A1A0 =01</a:t>
              </a:r>
            </a:p>
          </p:txBody>
        </p:sp>
        <p:sp>
          <p:nvSpPr>
            <p:cNvPr id="54288" name="TextBox 27">
              <a:extLst>
                <a:ext uri="{FF2B5EF4-FFF2-40B4-BE49-F238E27FC236}">
                  <a16:creationId xmlns:a16="http://schemas.microsoft.com/office/drawing/2014/main" id="{66FDFAAD-2A0F-4867-ACC2-0B3E8700627E}"/>
                </a:ext>
              </a:extLst>
            </p:cNvPr>
            <p:cNvSpPr txBox="1">
              <a:spLocks noChangeArrowheads="1"/>
            </p:cNvSpPr>
            <p:nvPr/>
          </p:nvSpPr>
          <p:spPr bwMode="auto">
            <a:xfrm>
              <a:off x="5093026" y="5402323"/>
              <a:ext cx="136815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100">
                  <a:latin typeface="Times New Roman" panose="02020603050405020304" pitchFamily="18" charset="0"/>
                  <a:ea typeface="굴림" panose="020B0600000101010101" pitchFamily="50" charset="-127"/>
                </a:rPr>
                <a:t>If A1A0 =10</a:t>
              </a:r>
            </a:p>
          </p:txBody>
        </p:sp>
        <p:sp>
          <p:nvSpPr>
            <p:cNvPr id="54289" name="TextBox 28">
              <a:extLst>
                <a:ext uri="{FF2B5EF4-FFF2-40B4-BE49-F238E27FC236}">
                  <a16:creationId xmlns:a16="http://schemas.microsoft.com/office/drawing/2014/main" id="{9A21C8AE-70E3-4619-AD9E-1E357248C41A}"/>
                </a:ext>
              </a:extLst>
            </p:cNvPr>
            <p:cNvSpPr txBox="1">
              <a:spLocks noChangeArrowheads="1"/>
            </p:cNvSpPr>
            <p:nvPr/>
          </p:nvSpPr>
          <p:spPr bwMode="auto">
            <a:xfrm>
              <a:off x="5093026" y="5806117"/>
              <a:ext cx="136815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100">
                  <a:latin typeface="Times New Roman" panose="02020603050405020304" pitchFamily="18" charset="0"/>
                  <a:ea typeface="굴림" panose="020B0600000101010101" pitchFamily="50" charset="-127"/>
                </a:rPr>
                <a:t>If A1A0 =11</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F3F2AAA3-8994-491F-9834-88CFC0D8EB12}"/>
              </a:ext>
            </a:extLst>
          </p:cNvPr>
          <p:cNvSpPr>
            <a:spLocks noGrp="1" noChangeArrowheads="1"/>
          </p:cNvSpPr>
          <p:nvPr>
            <p:ph type="title"/>
          </p:nvPr>
        </p:nvSpPr>
        <p:spPr/>
        <p:txBody>
          <a:bodyPr/>
          <a:lstStyle/>
          <a:p>
            <a:r>
              <a:rPr lang="en-US" altLang="ko-KR">
                <a:ea typeface="굴림" panose="020B0600000101010101" pitchFamily="50" charset="-127"/>
              </a:rPr>
              <a:t>SRAM (Column Circuitry)</a:t>
            </a:r>
            <a:endParaRPr lang="en-GB" altLang="ko-KR">
              <a:ea typeface="굴림" panose="020B0600000101010101" pitchFamily="50" charset="-127"/>
            </a:endParaRPr>
          </a:p>
        </p:txBody>
      </p:sp>
      <p:sp>
        <p:nvSpPr>
          <p:cNvPr id="56323" name="내용 개체 틀 4">
            <a:extLst>
              <a:ext uri="{FF2B5EF4-FFF2-40B4-BE49-F238E27FC236}">
                <a16:creationId xmlns:a16="http://schemas.microsoft.com/office/drawing/2014/main" id="{FA70FEA9-C9A3-423E-834A-295F88AE3E15}"/>
              </a:ext>
            </a:extLst>
          </p:cNvPr>
          <p:cNvSpPr>
            <a:spLocks noGrp="1" noChangeArrowheads="1"/>
          </p:cNvSpPr>
          <p:nvPr>
            <p:ph idx="1"/>
          </p:nvPr>
        </p:nvSpPr>
        <p:spPr/>
        <p:txBody>
          <a:bodyPr/>
          <a:lstStyle/>
          <a:p>
            <a:r>
              <a:rPr lang="en-US" altLang="ko-KR" sz="2400">
                <a:ea typeface="굴림" panose="020B0600000101010101" pitchFamily="50" charset="-127"/>
              </a:rPr>
              <a:t>SRAM</a:t>
            </a:r>
            <a:r>
              <a:rPr lang="ko-KR" altLang="en-US" sz="2400">
                <a:ea typeface="굴림" panose="020B0600000101010101" pitchFamily="50" charset="-127"/>
              </a:rPr>
              <a:t>의 </a:t>
            </a:r>
            <a:r>
              <a:rPr lang="en-US" altLang="ko-KR" sz="2400">
                <a:ea typeface="굴림" panose="020B0600000101010101" pitchFamily="50" charset="-127"/>
              </a:rPr>
              <a:t>Column</a:t>
            </a:r>
            <a:r>
              <a:rPr lang="ko-KR" altLang="en-US" sz="2400">
                <a:ea typeface="굴림" panose="020B0600000101010101" pitchFamily="50" charset="-127"/>
              </a:rPr>
              <a:t>에는 다음과 같은 회로가 필요함</a:t>
            </a:r>
            <a:endParaRPr lang="en-US" altLang="ko-KR" sz="2400">
              <a:ea typeface="굴림" panose="020B0600000101010101" pitchFamily="50" charset="-127"/>
            </a:endParaRPr>
          </a:p>
          <a:p>
            <a:pPr lvl="1"/>
            <a:r>
              <a:rPr lang="en-US" altLang="ko-KR" sz="2000">
                <a:solidFill>
                  <a:srgbClr val="3333FF"/>
                </a:solidFill>
                <a:latin typeface="Arial" panose="020B0604020202020204" pitchFamily="34" charset="0"/>
                <a:ea typeface="굴림" panose="020B0600000101010101" pitchFamily="50" charset="-127"/>
              </a:rPr>
              <a:t>Bitline Conditioning</a:t>
            </a:r>
          </a:p>
          <a:p>
            <a:pPr lvl="2">
              <a:buFont typeface="Arial" panose="020B0604020202020204" pitchFamily="34" charset="0"/>
              <a:buChar char="•"/>
            </a:pPr>
            <a:r>
              <a:rPr lang="en-US" altLang="ko-KR" sz="1600">
                <a:solidFill>
                  <a:srgbClr val="3333FF"/>
                </a:solidFill>
                <a:latin typeface="Arial" panose="020B0604020202020204" pitchFamily="34" charset="0"/>
                <a:ea typeface="굴림" panose="020B0600000101010101" pitchFamily="50" charset="-127"/>
              </a:rPr>
              <a:t>Precharge bitlines high </a:t>
            </a:r>
            <a:r>
              <a:rPr lang="en-US" altLang="ko-KR" sz="1600" b="1">
                <a:solidFill>
                  <a:srgbClr val="CC0000"/>
                </a:solidFill>
                <a:latin typeface="Arial" panose="020B0604020202020204" pitchFamily="34" charset="0"/>
                <a:ea typeface="굴림" panose="020B0600000101010101" pitchFamily="50" charset="-127"/>
              </a:rPr>
              <a:t>before reads</a:t>
            </a:r>
          </a:p>
          <a:p>
            <a:pPr lvl="2">
              <a:buFont typeface="Arial" panose="020B0604020202020204" pitchFamily="34" charset="0"/>
              <a:buChar char="•"/>
            </a:pPr>
            <a:r>
              <a:rPr lang="ko-KR" altLang="en-US" sz="1600" b="1">
                <a:solidFill>
                  <a:srgbClr val="CC0000"/>
                </a:solidFill>
                <a:latin typeface="Arial" panose="020B0604020202020204" pitchFamily="34" charset="0"/>
                <a:ea typeface="굴림" panose="020B0600000101010101" pitchFamily="50" charset="-127"/>
              </a:rPr>
              <a:t>읽기전에 </a:t>
            </a:r>
            <a:r>
              <a:rPr lang="en-US" altLang="ko-KR" sz="1600" b="1">
                <a:solidFill>
                  <a:srgbClr val="CC0000"/>
                </a:solidFill>
                <a:latin typeface="Arial" panose="020B0604020202020204" pitchFamily="34" charset="0"/>
                <a:ea typeface="굴림" panose="020B0600000101010101" pitchFamily="50" charset="-127"/>
              </a:rPr>
              <a:t>bit line</a:t>
            </a:r>
            <a:r>
              <a:rPr lang="ko-KR" altLang="en-US" sz="1600" b="1">
                <a:solidFill>
                  <a:srgbClr val="CC0000"/>
                </a:solidFill>
                <a:latin typeface="Arial" panose="020B0604020202020204" pitchFamily="34" charset="0"/>
                <a:ea typeface="굴림" panose="020B0600000101010101" pitchFamily="50" charset="-127"/>
              </a:rPr>
              <a:t>을 </a:t>
            </a:r>
            <a:r>
              <a:rPr lang="en-US" altLang="ko-KR" sz="1600" b="1">
                <a:solidFill>
                  <a:srgbClr val="CC0000"/>
                </a:solidFill>
                <a:latin typeface="Arial" panose="020B0604020202020204" pitchFamily="34" charset="0"/>
                <a:ea typeface="굴림" panose="020B0600000101010101" pitchFamily="50" charset="-127"/>
              </a:rPr>
              <a:t>precharing</a:t>
            </a:r>
            <a:r>
              <a:rPr lang="ko-KR" altLang="en-US" sz="1600" b="1">
                <a:solidFill>
                  <a:srgbClr val="CC0000"/>
                </a:solidFill>
                <a:latin typeface="Arial" panose="020B0604020202020204" pitchFamily="34" charset="0"/>
                <a:ea typeface="굴림" panose="020B0600000101010101" pitchFamily="50" charset="-127"/>
              </a:rPr>
              <a:t>함</a:t>
            </a:r>
            <a:r>
              <a:rPr lang="en-US" altLang="ko-KR" sz="1600" b="1">
                <a:solidFill>
                  <a:srgbClr val="CC0000"/>
                </a:solidFill>
                <a:latin typeface="Arial" panose="020B0604020202020204" pitchFamily="34" charset="0"/>
                <a:ea typeface="굴림" panose="020B0600000101010101" pitchFamily="50" charset="-127"/>
              </a:rPr>
              <a:t> </a:t>
            </a:r>
          </a:p>
          <a:p>
            <a:pPr lvl="1"/>
            <a:endParaRPr lang="en-US" altLang="ko-KR" sz="2000">
              <a:solidFill>
                <a:srgbClr val="3333FF"/>
              </a:solidFill>
              <a:latin typeface="Arial" panose="020B0604020202020204" pitchFamily="34" charset="0"/>
              <a:ea typeface="굴림" panose="020B0600000101010101" pitchFamily="50" charset="-127"/>
            </a:endParaRPr>
          </a:p>
          <a:p>
            <a:pPr lvl="1"/>
            <a:endParaRPr lang="en-US" altLang="ko-KR" sz="2000">
              <a:solidFill>
                <a:srgbClr val="3333FF"/>
              </a:solidFill>
              <a:latin typeface="Arial" panose="020B0604020202020204" pitchFamily="34" charset="0"/>
              <a:ea typeface="굴림" panose="020B0600000101010101" pitchFamily="50" charset="-127"/>
            </a:endParaRPr>
          </a:p>
          <a:p>
            <a:pPr lvl="1"/>
            <a:r>
              <a:rPr lang="en-US" altLang="ko-KR" sz="2000">
                <a:solidFill>
                  <a:srgbClr val="3333FF"/>
                </a:solidFill>
                <a:latin typeface="Arial" panose="020B0604020202020204" pitchFamily="34" charset="0"/>
                <a:ea typeface="굴림" panose="020B0600000101010101" pitchFamily="50" charset="-127"/>
              </a:rPr>
              <a:t>Sense Amplifier</a:t>
            </a:r>
          </a:p>
          <a:p>
            <a:pPr lvl="2">
              <a:buFont typeface="Arial" panose="020B0604020202020204" pitchFamily="34" charset="0"/>
              <a:buChar char="•"/>
            </a:pPr>
            <a:r>
              <a:rPr lang="en-US" altLang="ko-KR" sz="1600">
                <a:solidFill>
                  <a:srgbClr val="3333CC"/>
                </a:solidFill>
                <a:ea typeface="굴림" panose="020B0600000101010101" pitchFamily="50" charset="-127"/>
              </a:rPr>
              <a:t>Latch</a:t>
            </a:r>
            <a:r>
              <a:rPr lang="ko-KR" altLang="en-US" sz="1600">
                <a:solidFill>
                  <a:srgbClr val="3333CC"/>
                </a:solidFill>
                <a:ea typeface="굴림" panose="020B0600000101010101" pitchFamily="50" charset="-127"/>
              </a:rPr>
              <a:t>형 혹은 </a:t>
            </a:r>
            <a:r>
              <a:rPr lang="en-US" altLang="ko-KR" sz="1600">
                <a:solidFill>
                  <a:srgbClr val="3333CC"/>
                </a:solidFill>
                <a:ea typeface="굴림" panose="020B0600000101010101" pitchFamily="50" charset="-127"/>
              </a:rPr>
              <a:t>Differential sense amplifier</a:t>
            </a:r>
            <a:r>
              <a:rPr lang="ko-KR" altLang="en-US" sz="1600">
                <a:solidFill>
                  <a:srgbClr val="3333CC"/>
                </a:solidFill>
                <a:ea typeface="굴림" panose="020B0600000101010101" pitchFamily="50" charset="-127"/>
              </a:rPr>
              <a:t>가 존재하며</a:t>
            </a:r>
            <a:r>
              <a:rPr lang="en-US" altLang="ko-KR" sz="1600">
                <a:solidFill>
                  <a:srgbClr val="3333CC"/>
                </a:solidFill>
                <a:ea typeface="굴림" panose="020B0600000101010101" pitchFamily="50" charset="-127"/>
              </a:rPr>
              <a:t>, </a:t>
            </a:r>
            <a:r>
              <a:rPr lang="ko-KR" altLang="en-US" sz="1600">
                <a:solidFill>
                  <a:srgbClr val="3333CC"/>
                </a:solidFill>
                <a:ea typeface="굴림" panose="020B0600000101010101" pitchFamily="50" charset="-127"/>
              </a:rPr>
              <a:t>신호를 증폭하는 역할을 함</a:t>
            </a:r>
            <a:endParaRPr lang="en-US" altLang="ko-KR" sz="1600">
              <a:solidFill>
                <a:srgbClr val="3333CC"/>
              </a:solidFill>
              <a:ea typeface="굴림" panose="020B0600000101010101" pitchFamily="50" charset="-127"/>
            </a:endParaRPr>
          </a:p>
          <a:p>
            <a:pPr lvl="2">
              <a:buFont typeface="Arial" panose="020B0604020202020204" pitchFamily="34" charset="0"/>
              <a:buChar char="•"/>
            </a:pPr>
            <a:r>
              <a:rPr lang="ko-KR" altLang="en-US" sz="1600">
                <a:solidFill>
                  <a:srgbClr val="3333CC"/>
                </a:solidFill>
                <a:ea typeface="굴림" panose="020B0600000101010101" pitchFamily="50" charset="-127"/>
              </a:rPr>
              <a:t>예를 들어</a:t>
            </a:r>
            <a:r>
              <a:rPr lang="en-US" altLang="ko-KR" sz="1600">
                <a:solidFill>
                  <a:srgbClr val="3333CC"/>
                </a:solidFill>
                <a:ea typeface="굴림" panose="020B0600000101010101" pitchFamily="50" charset="-127"/>
              </a:rPr>
              <a:t>, </a:t>
            </a:r>
            <a:r>
              <a:rPr lang="ko-KR" altLang="en-US" sz="1600">
                <a:solidFill>
                  <a:srgbClr val="3333CC"/>
                </a:solidFill>
                <a:ea typeface="굴림" panose="020B0600000101010101" pitchFamily="50" charset="-127"/>
              </a:rPr>
              <a:t>메모리 셀로부터 읽은 데이터를 증폭하는 역할수행 </a:t>
            </a:r>
          </a:p>
        </p:txBody>
      </p:sp>
      <p:pic>
        <p:nvPicPr>
          <p:cNvPr id="56324" name="그림 2">
            <a:extLst>
              <a:ext uri="{FF2B5EF4-FFF2-40B4-BE49-F238E27FC236}">
                <a16:creationId xmlns:a16="http://schemas.microsoft.com/office/drawing/2014/main" id="{EBB26352-439C-4502-8BFE-E9C7E2C867F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92725" y="1557338"/>
            <a:ext cx="2735263"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7AE0774E-5D52-4754-A878-2D2C46FAF5C2}"/>
              </a:ext>
            </a:extLst>
          </p:cNvPr>
          <p:cNvSpPr>
            <a:spLocks noGrp="1" noChangeArrowheads="1"/>
          </p:cNvSpPr>
          <p:nvPr>
            <p:ph type="title"/>
          </p:nvPr>
        </p:nvSpPr>
        <p:spPr/>
        <p:txBody>
          <a:bodyPr/>
          <a:lstStyle/>
          <a:p>
            <a:r>
              <a:rPr lang="en-US" altLang="ko-KR">
                <a:ea typeface="굴림" panose="020B0600000101010101" pitchFamily="50" charset="-127"/>
              </a:rPr>
              <a:t>SRAM (Column Circuitry)</a:t>
            </a:r>
            <a:endParaRPr lang="en-GB" altLang="ko-KR">
              <a:ea typeface="굴림" panose="020B0600000101010101" pitchFamily="50" charset="-127"/>
            </a:endParaRPr>
          </a:p>
        </p:txBody>
      </p:sp>
      <p:sp>
        <p:nvSpPr>
          <p:cNvPr id="58371" name="내용 개체 틀 4">
            <a:extLst>
              <a:ext uri="{FF2B5EF4-FFF2-40B4-BE49-F238E27FC236}">
                <a16:creationId xmlns:a16="http://schemas.microsoft.com/office/drawing/2014/main" id="{122B951E-1C9E-4BBE-90E8-74EDDBB34D5F}"/>
              </a:ext>
            </a:extLst>
          </p:cNvPr>
          <p:cNvSpPr>
            <a:spLocks noGrp="1" noChangeArrowheads="1"/>
          </p:cNvSpPr>
          <p:nvPr>
            <p:ph idx="1"/>
          </p:nvPr>
        </p:nvSpPr>
        <p:spPr/>
        <p:txBody>
          <a:bodyPr/>
          <a:lstStyle/>
          <a:p>
            <a:r>
              <a:rPr lang="ko-KR" altLang="en-US" sz="2400">
                <a:ea typeface="굴림" panose="020B0600000101010101" pitchFamily="50" charset="-127"/>
              </a:rPr>
              <a:t>구조</a:t>
            </a:r>
            <a:r>
              <a:rPr lang="en-US" altLang="ko-KR" sz="2000">
                <a:solidFill>
                  <a:srgbClr val="3333FF"/>
                </a:solidFill>
                <a:latin typeface="Arial" panose="020B0604020202020204" pitchFamily="34" charset="0"/>
                <a:ea typeface="굴림" panose="020B0600000101010101" pitchFamily="50" charset="-127"/>
              </a:rPr>
              <a:t> </a:t>
            </a:r>
          </a:p>
          <a:p>
            <a:pPr lvl="1"/>
            <a:endParaRPr lang="ko-KR" altLang="en-US" sz="1600">
              <a:ea typeface="굴림" panose="020B0600000101010101" pitchFamily="50" charset="-127"/>
            </a:endParaRPr>
          </a:p>
        </p:txBody>
      </p:sp>
      <p:pic>
        <p:nvPicPr>
          <p:cNvPr id="6" name="Picture 4">
            <a:extLst>
              <a:ext uri="{FF2B5EF4-FFF2-40B4-BE49-F238E27FC236}">
                <a16:creationId xmlns:a16="http://schemas.microsoft.com/office/drawing/2014/main" id="{4AF2B3BB-AD83-434A-ABE6-2200D5E04E0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828800"/>
            <a:ext cx="7864475"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02BC4903-CA89-424D-BB8F-89186D988A3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308850" y="2133600"/>
            <a:ext cx="1611313"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Arrow Connector 10">
            <a:extLst>
              <a:ext uri="{FF2B5EF4-FFF2-40B4-BE49-F238E27FC236}">
                <a16:creationId xmlns:a16="http://schemas.microsoft.com/office/drawing/2014/main" id="{F0BFB2C5-9FF9-4B23-97D5-54A21DD3D9A8}"/>
              </a:ext>
            </a:extLst>
          </p:cNvPr>
          <p:cNvCxnSpPr>
            <a:endCxn id="7" idx="1"/>
          </p:cNvCxnSpPr>
          <p:nvPr/>
        </p:nvCxnSpPr>
        <p:spPr>
          <a:xfrm flipV="1">
            <a:off x="5422900" y="2857500"/>
            <a:ext cx="1885950" cy="571500"/>
          </a:xfrm>
          <a:prstGeom prst="straightConnector1">
            <a:avLst/>
          </a:prstGeom>
          <a:ln>
            <a:solidFill>
              <a:schemeClr val="accent3">
                <a:lumMod val="75000"/>
              </a:schemeClr>
            </a:solidFill>
            <a:tailEnd type="arrow"/>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그림 1">
            <a:extLst>
              <a:ext uri="{FF2B5EF4-FFF2-40B4-BE49-F238E27FC236}">
                <a16:creationId xmlns:a16="http://schemas.microsoft.com/office/drawing/2014/main" id="{806093E4-328A-427D-8D57-98D9747AEEE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80063" y="0"/>
            <a:ext cx="3384550" cy="675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2">
            <a:extLst>
              <a:ext uri="{FF2B5EF4-FFF2-40B4-BE49-F238E27FC236}">
                <a16:creationId xmlns:a16="http://schemas.microsoft.com/office/drawing/2014/main" id="{278F11E0-74FE-4FA9-A942-2837EEC6122A}"/>
              </a:ext>
            </a:extLst>
          </p:cNvPr>
          <p:cNvSpPr>
            <a:spLocks noGrp="1" noChangeArrowheads="1"/>
          </p:cNvSpPr>
          <p:nvPr>
            <p:ph type="title"/>
          </p:nvPr>
        </p:nvSpPr>
        <p:spPr/>
        <p:txBody>
          <a:bodyPr/>
          <a:lstStyle/>
          <a:p>
            <a:r>
              <a:rPr lang="en-GB" altLang="ko-KR">
                <a:ea typeface="굴림" panose="020B0600000101010101" pitchFamily="50" charset="-127"/>
              </a:rPr>
              <a:t>SRAM (Array </a:t>
            </a:r>
            <a:r>
              <a:rPr lang="ko-KR" altLang="en-US">
                <a:ea typeface="굴림" panose="020B0600000101010101" pitchFamily="50" charset="-127"/>
              </a:rPr>
              <a:t>구조</a:t>
            </a:r>
            <a:r>
              <a:rPr lang="en-US" altLang="ko-KR">
                <a:ea typeface="굴림" panose="020B0600000101010101" pitchFamily="50" charset="-127"/>
              </a:rPr>
              <a:t>)</a:t>
            </a:r>
            <a:endParaRPr lang="en-GB" altLang="ko-KR">
              <a:ea typeface="굴림" panose="020B0600000101010101" pitchFamily="50" charset="-127"/>
            </a:endParaRPr>
          </a:p>
        </p:txBody>
      </p:sp>
      <p:sp>
        <p:nvSpPr>
          <p:cNvPr id="35844" name="Rectangle 3">
            <a:extLst>
              <a:ext uri="{FF2B5EF4-FFF2-40B4-BE49-F238E27FC236}">
                <a16:creationId xmlns:a16="http://schemas.microsoft.com/office/drawing/2014/main" id="{EC268852-9336-471D-B5CA-CD544504FD81}"/>
              </a:ext>
            </a:extLst>
          </p:cNvPr>
          <p:cNvSpPr>
            <a:spLocks noGrp="1" noChangeArrowheads="1"/>
          </p:cNvSpPr>
          <p:nvPr>
            <p:ph type="body" idx="1"/>
          </p:nvPr>
        </p:nvSpPr>
        <p:spPr>
          <a:xfrm>
            <a:off x="107950" y="1066800"/>
            <a:ext cx="8178800" cy="5486400"/>
          </a:xfrm>
        </p:spPr>
        <p:txBody>
          <a:bodyPr/>
          <a:lstStyle/>
          <a:p>
            <a:r>
              <a:rPr lang="en-GB" altLang="ko-KR" sz="2400">
                <a:ea typeface="굴림" panose="020B0600000101010101" pitchFamily="50" charset="-127"/>
              </a:rPr>
              <a:t>2</a:t>
            </a:r>
            <a:r>
              <a:rPr lang="en-GB" altLang="ko-KR" sz="2400" baseline="30000">
                <a:ea typeface="굴림" panose="020B0600000101010101" pitchFamily="50" charset="-127"/>
              </a:rPr>
              <a:t>n</a:t>
            </a:r>
            <a:r>
              <a:rPr lang="en-GB" altLang="ko-KR" sz="2400">
                <a:ea typeface="굴림" panose="020B0600000101010101" pitchFamily="50" charset="-127"/>
              </a:rPr>
              <a:t> words of 2</a:t>
            </a:r>
            <a:r>
              <a:rPr lang="en-GB" altLang="ko-KR" sz="2400" baseline="30000">
                <a:ea typeface="굴림" panose="020B0600000101010101" pitchFamily="50" charset="-127"/>
              </a:rPr>
              <a:t>m </a:t>
            </a:r>
            <a:r>
              <a:rPr lang="en-GB" altLang="ko-KR" sz="2400">
                <a:ea typeface="굴림" panose="020B0600000101010101" pitchFamily="50" charset="-127"/>
              </a:rPr>
              <a:t>bits each</a:t>
            </a:r>
          </a:p>
          <a:p>
            <a:pPr lvl="1"/>
            <a:r>
              <a:rPr lang="ko-KR" altLang="en-US" sz="2000">
                <a:solidFill>
                  <a:srgbClr val="0070C0"/>
                </a:solidFill>
                <a:ea typeface="굴림" panose="020B0600000101010101" pitchFamily="50" charset="-127"/>
              </a:rPr>
              <a:t>그림에서</a:t>
            </a:r>
            <a:r>
              <a:rPr lang="en-GB" altLang="ko-KR" sz="2000">
                <a:solidFill>
                  <a:srgbClr val="0070C0"/>
                </a:solidFill>
                <a:ea typeface="굴림" panose="020B0600000101010101" pitchFamily="50" charset="-127"/>
              </a:rPr>
              <a:t> column</a:t>
            </a:r>
            <a:r>
              <a:rPr lang="ko-KR" altLang="en-US" sz="2000">
                <a:solidFill>
                  <a:srgbClr val="0070C0"/>
                </a:solidFill>
                <a:ea typeface="굴림" panose="020B0600000101010101" pitchFamily="50" charset="-127"/>
              </a:rPr>
              <a:t>은 총 </a:t>
            </a:r>
            <a:r>
              <a:rPr lang="en-US" altLang="ko-KR" sz="2000">
                <a:solidFill>
                  <a:srgbClr val="0070C0"/>
                </a:solidFill>
                <a:ea typeface="굴림" panose="020B0600000101010101" pitchFamily="50" charset="-127"/>
              </a:rPr>
              <a:t>4</a:t>
            </a:r>
            <a:r>
              <a:rPr lang="ko-KR" altLang="en-US" sz="2000">
                <a:solidFill>
                  <a:srgbClr val="0070C0"/>
                </a:solidFill>
                <a:ea typeface="굴림" panose="020B0600000101010101" pitchFamily="50" charset="-127"/>
              </a:rPr>
              <a:t>개</a:t>
            </a:r>
            <a:r>
              <a:rPr lang="en-US" altLang="ko-KR" sz="2000">
                <a:solidFill>
                  <a:srgbClr val="0070C0"/>
                </a:solidFill>
                <a:ea typeface="굴림" panose="020B0600000101010101" pitchFamily="50" charset="-127"/>
              </a:rPr>
              <a:t>, </a:t>
            </a:r>
            <a:r>
              <a:rPr lang="ko-KR" altLang="en-US" sz="2000">
                <a:solidFill>
                  <a:srgbClr val="0070C0"/>
                </a:solidFill>
                <a:ea typeface="굴림" panose="020B0600000101010101" pitchFamily="50" charset="-127"/>
              </a:rPr>
              <a:t>즉</a:t>
            </a:r>
            <a:r>
              <a:rPr lang="en-US" altLang="ko-KR" sz="2000">
                <a:solidFill>
                  <a:srgbClr val="0070C0"/>
                </a:solidFill>
                <a:ea typeface="굴림" panose="020B0600000101010101" pitchFamily="50" charset="-127"/>
              </a:rPr>
              <a:t>, 2</a:t>
            </a:r>
            <a:r>
              <a:rPr lang="en-US" altLang="ko-KR" sz="2000" baseline="30000">
                <a:solidFill>
                  <a:srgbClr val="0070C0"/>
                </a:solidFill>
                <a:ea typeface="굴림" panose="020B0600000101010101" pitchFamily="50" charset="-127"/>
              </a:rPr>
              <a:t>2</a:t>
            </a:r>
            <a:r>
              <a:rPr lang="en-US" altLang="ko-KR" sz="2000">
                <a:solidFill>
                  <a:srgbClr val="0070C0"/>
                </a:solidFill>
                <a:ea typeface="굴림" panose="020B0600000101010101" pitchFamily="50" charset="-127"/>
              </a:rPr>
              <a:t> bits</a:t>
            </a:r>
          </a:p>
          <a:p>
            <a:pPr lvl="1"/>
            <a:r>
              <a:rPr lang="en-US" altLang="ko-KR" sz="2000">
                <a:solidFill>
                  <a:srgbClr val="0070C0"/>
                </a:solidFill>
                <a:ea typeface="굴림" panose="020B0600000101010101" pitchFamily="50" charset="-127"/>
              </a:rPr>
              <a:t>Row</a:t>
            </a:r>
            <a:r>
              <a:rPr lang="ko-KR" altLang="en-US" sz="2000">
                <a:solidFill>
                  <a:srgbClr val="0070C0"/>
                </a:solidFill>
                <a:ea typeface="굴림" panose="020B0600000101010101" pitchFamily="50" charset="-127"/>
              </a:rPr>
              <a:t>는 총 </a:t>
            </a:r>
            <a:r>
              <a:rPr lang="en-US" altLang="ko-KR" sz="2000">
                <a:solidFill>
                  <a:srgbClr val="0070C0"/>
                </a:solidFill>
                <a:ea typeface="굴림" panose="020B0600000101010101" pitchFamily="50" charset="-127"/>
              </a:rPr>
              <a:t>2</a:t>
            </a:r>
            <a:r>
              <a:rPr lang="en-US" altLang="ko-KR" sz="2000" baseline="30000">
                <a:solidFill>
                  <a:srgbClr val="0070C0"/>
                </a:solidFill>
                <a:ea typeface="굴림" panose="020B0600000101010101" pitchFamily="50" charset="-127"/>
              </a:rPr>
              <a:t>4</a:t>
            </a:r>
            <a:r>
              <a:rPr lang="ko-KR" altLang="en-US" sz="2000">
                <a:solidFill>
                  <a:srgbClr val="0070C0"/>
                </a:solidFill>
                <a:ea typeface="굴림" panose="020B0600000101010101" pitchFamily="50" charset="-127"/>
              </a:rPr>
              <a:t>개</a:t>
            </a:r>
            <a:r>
              <a:rPr lang="en-US" altLang="ko-KR" sz="2000">
                <a:solidFill>
                  <a:srgbClr val="0070C0"/>
                </a:solidFill>
                <a:ea typeface="굴림" panose="020B0600000101010101" pitchFamily="50" charset="-127"/>
              </a:rPr>
              <a:t>(16</a:t>
            </a:r>
            <a:r>
              <a:rPr lang="ko-KR" altLang="en-US" sz="2000">
                <a:solidFill>
                  <a:srgbClr val="0070C0"/>
                </a:solidFill>
                <a:ea typeface="굴림" panose="020B0600000101010101" pitchFamily="50" charset="-127"/>
              </a:rPr>
              <a:t>개</a:t>
            </a:r>
            <a:r>
              <a:rPr lang="en-US" altLang="ko-KR" sz="2000">
                <a:solidFill>
                  <a:srgbClr val="0070C0"/>
                </a:solidFill>
                <a:ea typeface="굴림" panose="020B0600000101010101" pitchFamily="50" charset="-127"/>
              </a:rPr>
              <a:t>),</a:t>
            </a:r>
            <a:r>
              <a:rPr lang="ko-KR" altLang="en-US" sz="2000">
                <a:solidFill>
                  <a:srgbClr val="0070C0"/>
                </a:solidFill>
                <a:ea typeface="굴림" panose="020B0600000101010101" pitchFamily="50" charset="-127"/>
              </a:rPr>
              <a:t>즉 </a:t>
            </a:r>
            <a:r>
              <a:rPr lang="en-US" altLang="ko-KR" sz="2000">
                <a:solidFill>
                  <a:srgbClr val="0070C0"/>
                </a:solidFill>
                <a:ea typeface="굴림" panose="020B0600000101010101" pitchFamily="50" charset="-127"/>
              </a:rPr>
              <a:t>16 words</a:t>
            </a:r>
          </a:p>
          <a:p>
            <a:pPr lvl="1"/>
            <a:r>
              <a:rPr lang="ko-KR" altLang="en-US" sz="2000">
                <a:solidFill>
                  <a:srgbClr val="0070C0"/>
                </a:solidFill>
                <a:ea typeface="굴림" panose="020B0600000101010101" pitchFamily="50" charset="-127"/>
              </a:rPr>
              <a:t>여기서 한 </a:t>
            </a:r>
            <a:r>
              <a:rPr lang="en-US" altLang="ko-KR" sz="2000">
                <a:solidFill>
                  <a:srgbClr val="0070C0"/>
                </a:solidFill>
                <a:ea typeface="굴림" panose="020B0600000101010101" pitchFamily="50" charset="-127"/>
              </a:rPr>
              <a:t>word</a:t>
            </a:r>
            <a:r>
              <a:rPr lang="ko-KR" altLang="en-US" sz="2000">
                <a:solidFill>
                  <a:srgbClr val="0070C0"/>
                </a:solidFill>
                <a:ea typeface="굴림" panose="020B0600000101010101" pitchFamily="50" charset="-127"/>
              </a:rPr>
              <a:t>는 </a:t>
            </a:r>
            <a:r>
              <a:rPr lang="en-US" altLang="ko-KR" sz="2000">
                <a:solidFill>
                  <a:srgbClr val="0070C0"/>
                </a:solidFill>
                <a:ea typeface="굴림" panose="020B0600000101010101" pitchFamily="50" charset="-127"/>
              </a:rPr>
              <a:t>4 bits </a:t>
            </a:r>
            <a:r>
              <a:rPr lang="en-US" altLang="ko-KR" sz="2000">
                <a:solidFill>
                  <a:srgbClr val="0070C0"/>
                </a:solidFill>
                <a:ea typeface="굴림" panose="020B0600000101010101" pitchFamily="50" charset="-127"/>
                <a:sym typeface="Wingdings" panose="05000000000000000000" pitchFamily="2" charset="2"/>
              </a:rPr>
              <a:t></a:t>
            </a:r>
            <a:endParaRPr lang="en-US" altLang="ko-KR" sz="2000">
              <a:solidFill>
                <a:srgbClr val="0070C0"/>
              </a:solidFill>
              <a:ea typeface="굴림" panose="020B0600000101010101" pitchFamily="50" charset="-127"/>
            </a:endParaRPr>
          </a:p>
          <a:p>
            <a:pPr lvl="1"/>
            <a:endParaRPr lang="en-GB" altLang="ko-KR" sz="2000">
              <a:solidFill>
                <a:srgbClr val="0070C0"/>
              </a:solidFill>
              <a:ea typeface="굴림" panose="020B0600000101010101" pitchFamily="50" charset="-127"/>
            </a:endParaRPr>
          </a:p>
        </p:txBody>
      </p:sp>
    </p:spTree>
    <p:extLst>
      <p:ext uri="{BB962C8B-B14F-4D97-AF65-F5344CB8AC3E}">
        <p14:creationId xmlns:p14="http://schemas.microsoft.com/office/powerpoint/2010/main" val="2105527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1654F32F-9419-4102-A423-F2CAC8542C76}"/>
              </a:ext>
            </a:extLst>
          </p:cNvPr>
          <p:cNvSpPr>
            <a:spLocks noGrp="1" noChangeArrowheads="1"/>
          </p:cNvSpPr>
          <p:nvPr>
            <p:ph type="title"/>
          </p:nvPr>
        </p:nvSpPr>
        <p:spPr/>
        <p:txBody>
          <a:bodyPr/>
          <a:lstStyle/>
          <a:p>
            <a:r>
              <a:rPr lang="en-GB" altLang="ko-KR">
                <a:ea typeface="굴림" panose="020B0600000101010101" pitchFamily="50" charset="-127"/>
              </a:rPr>
              <a:t>Static RAM Structure</a:t>
            </a:r>
          </a:p>
        </p:txBody>
      </p:sp>
      <p:sp>
        <p:nvSpPr>
          <p:cNvPr id="60419" name="내용 개체 틀 4">
            <a:extLst>
              <a:ext uri="{FF2B5EF4-FFF2-40B4-BE49-F238E27FC236}">
                <a16:creationId xmlns:a16="http://schemas.microsoft.com/office/drawing/2014/main" id="{53700087-3D79-44AD-B242-A4DB641D6E1A}"/>
              </a:ext>
            </a:extLst>
          </p:cNvPr>
          <p:cNvSpPr>
            <a:spLocks noGrp="1" noChangeArrowheads="1"/>
          </p:cNvSpPr>
          <p:nvPr>
            <p:ph idx="1"/>
          </p:nvPr>
        </p:nvSpPr>
        <p:spPr/>
        <p:txBody>
          <a:bodyPr/>
          <a:lstStyle/>
          <a:p>
            <a:r>
              <a:rPr lang="en-US" altLang="ko-KR" sz="2000">
                <a:ea typeface="굴림" panose="020B0600000101010101" pitchFamily="50" charset="-127"/>
              </a:rPr>
              <a:t>Cell size is critical: 26 x 45 λ (even smaller in industry) </a:t>
            </a:r>
          </a:p>
          <a:p>
            <a:r>
              <a:rPr lang="en-US" altLang="ko-KR" sz="2000">
                <a:ea typeface="굴림" panose="020B0600000101010101" pitchFamily="50" charset="-127"/>
              </a:rPr>
              <a:t>Tile cells sharing VDD, GND, bitline contacts</a:t>
            </a:r>
            <a:endParaRPr lang="ko-KR" altLang="en-US" sz="1600">
              <a:ea typeface="굴림" panose="020B0600000101010101" pitchFamily="50" charset="-127"/>
            </a:endParaRPr>
          </a:p>
        </p:txBody>
      </p:sp>
      <p:pic>
        <p:nvPicPr>
          <p:cNvPr id="60420" name="그림 2">
            <a:extLst>
              <a:ext uri="{FF2B5EF4-FFF2-40B4-BE49-F238E27FC236}">
                <a16:creationId xmlns:a16="http://schemas.microsoft.com/office/drawing/2014/main" id="{F31D14E4-9F35-4B8C-902F-83A3EFE612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0825" y="2133600"/>
            <a:ext cx="2847975" cy="411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1" name="그림 3">
            <a:extLst>
              <a:ext uri="{FF2B5EF4-FFF2-40B4-BE49-F238E27FC236}">
                <a16:creationId xmlns:a16="http://schemas.microsoft.com/office/drawing/2014/main" id="{61B0DBB8-D7AA-4132-8396-B8B894E1A9C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187700" y="2924175"/>
            <a:ext cx="2717800" cy="316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2" name="그림 5">
            <a:extLst>
              <a:ext uri="{FF2B5EF4-FFF2-40B4-BE49-F238E27FC236}">
                <a16:creationId xmlns:a16="http://schemas.microsoft.com/office/drawing/2014/main" id="{6BA42F69-7C59-4132-B561-F8429FB3D78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302375" y="2205038"/>
            <a:ext cx="2308225" cy="309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F3547AA6-E318-4D57-B16A-DC0829F52511}"/>
              </a:ext>
            </a:extLst>
          </p:cNvPr>
          <p:cNvSpPr>
            <a:spLocks noGrp="1" noChangeArrowheads="1"/>
          </p:cNvSpPr>
          <p:nvPr>
            <p:ph type="title"/>
          </p:nvPr>
        </p:nvSpPr>
        <p:spPr/>
        <p:txBody>
          <a:bodyPr/>
          <a:lstStyle/>
          <a:p>
            <a:r>
              <a:rPr lang="en-GB" altLang="ko-KR">
                <a:ea typeface="굴림" panose="020B0600000101010101" pitchFamily="50" charset="-127"/>
              </a:rPr>
              <a:t>SRAM v DRAM</a:t>
            </a:r>
          </a:p>
        </p:txBody>
      </p:sp>
      <p:sp>
        <p:nvSpPr>
          <p:cNvPr id="62467" name="Rectangle 3">
            <a:extLst>
              <a:ext uri="{FF2B5EF4-FFF2-40B4-BE49-F238E27FC236}">
                <a16:creationId xmlns:a16="http://schemas.microsoft.com/office/drawing/2014/main" id="{0E3997B1-6BE0-44C4-B8BB-FA75FA6BB113}"/>
              </a:ext>
            </a:extLst>
          </p:cNvPr>
          <p:cNvSpPr>
            <a:spLocks noGrp="1" noChangeArrowheads="1"/>
          </p:cNvSpPr>
          <p:nvPr>
            <p:ph type="body" idx="1"/>
          </p:nvPr>
        </p:nvSpPr>
        <p:spPr/>
        <p:txBody>
          <a:bodyPr/>
          <a:lstStyle/>
          <a:p>
            <a:r>
              <a:rPr lang="en-GB" altLang="ko-KR">
                <a:ea typeface="굴림" panose="020B0600000101010101" pitchFamily="50" charset="-127"/>
              </a:rPr>
              <a:t>Both volatile</a:t>
            </a:r>
          </a:p>
          <a:p>
            <a:pPr lvl="1"/>
            <a:r>
              <a:rPr lang="en-GB" altLang="ko-KR">
                <a:solidFill>
                  <a:srgbClr val="0070C0"/>
                </a:solidFill>
                <a:ea typeface="굴림" panose="020B0600000101010101" pitchFamily="50" charset="-127"/>
              </a:rPr>
              <a:t>Power needed to preserve data</a:t>
            </a:r>
          </a:p>
          <a:p>
            <a:r>
              <a:rPr lang="en-GB" altLang="ko-KR">
                <a:ea typeface="굴림" panose="020B0600000101010101" pitchFamily="50" charset="-127"/>
              </a:rPr>
              <a:t>Dynamic cell </a:t>
            </a:r>
          </a:p>
          <a:p>
            <a:pPr lvl="1"/>
            <a:r>
              <a:rPr lang="en-GB" altLang="ko-KR">
                <a:solidFill>
                  <a:srgbClr val="0070C0"/>
                </a:solidFill>
                <a:ea typeface="굴림" panose="020B0600000101010101" pitchFamily="50" charset="-127"/>
              </a:rPr>
              <a:t>Simpler to build, smaller</a:t>
            </a:r>
          </a:p>
          <a:p>
            <a:pPr lvl="1"/>
            <a:r>
              <a:rPr lang="en-GB" altLang="ko-KR">
                <a:solidFill>
                  <a:srgbClr val="0070C0"/>
                </a:solidFill>
                <a:ea typeface="굴림" panose="020B0600000101010101" pitchFamily="50" charset="-127"/>
              </a:rPr>
              <a:t>More dense</a:t>
            </a:r>
          </a:p>
          <a:p>
            <a:pPr lvl="1"/>
            <a:r>
              <a:rPr lang="en-GB" altLang="ko-KR">
                <a:solidFill>
                  <a:srgbClr val="0070C0"/>
                </a:solidFill>
                <a:ea typeface="굴림" panose="020B0600000101010101" pitchFamily="50" charset="-127"/>
              </a:rPr>
              <a:t>Less expensive</a:t>
            </a:r>
          </a:p>
          <a:p>
            <a:pPr lvl="1"/>
            <a:r>
              <a:rPr lang="en-GB" altLang="ko-KR">
                <a:solidFill>
                  <a:srgbClr val="0070C0"/>
                </a:solidFill>
                <a:ea typeface="굴림" panose="020B0600000101010101" pitchFamily="50" charset="-127"/>
              </a:rPr>
              <a:t>Needs refresh</a:t>
            </a:r>
          </a:p>
          <a:p>
            <a:pPr lvl="1"/>
            <a:r>
              <a:rPr lang="en-GB" altLang="ko-KR">
                <a:solidFill>
                  <a:srgbClr val="0070C0"/>
                </a:solidFill>
                <a:ea typeface="굴림" panose="020B0600000101010101" pitchFamily="50" charset="-127"/>
              </a:rPr>
              <a:t>Larger memory units</a:t>
            </a:r>
          </a:p>
          <a:p>
            <a:r>
              <a:rPr lang="en-GB" altLang="ko-KR">
                <a:ea typeface="굴림" panose="020B0600000101010101" pitchFamily="50" charset="-127"/>
              </a:rPr>
              <a:t>Static</a:t>
            </a:r>
          </a:p>
          <a:p>
            <a:pPr lvl="1"/>
            <a:r>
              <a:rPr lang="en-GB" altLang="ko-KR">
                <a:solidFill>
                  <a:srgbClr val="0070C0"/>
                </a:solidFill>
                <a:ea typeface="굴림" panose="020B0600000101010101" pitchFamily="50" charset="-127"/>
              </a:rPr>
              <a:t>Faster</a:t>
            </a:r>
          </a:p>
          <a:p>
            <a:pPr lvl="1"/>
            <a:r>
              <a:rPr lang="en-GB" altLang="ko-KR">
                <a:solidFill>
                  <a:srgbClr val="0070C0"/>
                </a:solidFill>
                <a:ea typeface="굴림" panose="020B0600000101010101" pitchFamily="50" charset="-127"/>
              </a:rPr>
              <a:t>Cache</a:t>
            </a:r>
          </a:p>
          <a:p>
            <a:endParaRPr lang="en-GB" altLang="ko-KR">
              <a:ea typeface="굴림" panose="020B0600000101010101" pitchFamily="50" charset="-127"/>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C0FCFDA3-012E-4C06-9124-DBC414B47A1C}"/>
              </a:ext>
            </a:extLst>
          </p:cNvPr>
          <p:cNvSpPr>
            <a:spLocks noGrp="1" noChangeArrowheads="1"/>
          </p:cNvSpPr>
          <p:nvPr>
            <p:ph type="title"/>
          </p:nvPr>
        </p:nvSpPr>
        <p:spPr/>
        <p:txBody>
          <a:bodyPr/>
          <a:lstStyle/>
          <a:p>
            <a:r>
              <a:rPr lang="en-US" altLang="ko-KR">
                <a:ea typeface="굴림" panose="020B0600000101010101" pitchFamily="50" charset="-127"/>
              </a:rPr>
              <a:t>Read Only Memory (ROM)</a:t>
            </a:r>
          </a:p>
        </p:txBody>
      </p:sp>
      <p:sp>
        <p:nvSpPr>
          <p:cNvPr id="64515" name="Rectangle 3">
            <a:extLst>
              <a:ext uri="{FF2B5EF4-FFF2-40B4-BE49-F238E27FC236}">
                <a16:creationId xmlns:a16="http://schemas.microsoft.com/office/drawing/2014/main" id="{AB1CD151-169E-419B-856A-795964A62ED7}"/>
              </a:ext>
            </a:extLst>
          </p:cNvPr>
          <p:cNvSpPr>
            <a:spLocks noGrp="1" noChangeArrowheads="1"/>
          </p:cNvSpPr>
          <p:nvPr>
            <p:ph type="body" idx="1"/>
          </p:nvPr>
        </p:nvSpPr>
        <p:spPr/>
        <p:txBody>
          <a:bodyPr/>
          <a:lstStyle/>
          <a:p>
            <a:r>
              <a:rPr lang="en-US" altLang="ko-KR">
                <a:ea typeface="굴림" panose="020B0600000101010101" pitchFamily="50" charset="-127"/>
              </a:rPr>
              <a:t>Permanent storage</a:t>
            </a:r>
          </a:p>
          <a:p>
            <a:pPr lvl="1"/>
            <a:r>
              <a:rPr lang="en-US" altLang="ko-KR">
                <a:solidFill>
                  <a:srgbClr val="0070C0"/>
                </a:solidFill>
                <a:ea typeface="굴림" panose="020B0600000101010101" pitchFamily="50" charset="-127"/>
              </a:rPr>
              <a:t>Nonvolatile</a:t>
            </a:r>
          </a:p>
          <a:p>
            <a:r>
              <a:rPr lang="en-US" altLang="ko-KR">
                <a:ea typeface="굴림" panose="020B0600000101010101" pitchFamily="50" charset="-127"/>
              </a:rPr>
              <a:t>Microprogramming (see later)</a:t>
            </a:r>
          </a:p>
          <a:p>
            <a:r>
              <a:rPr lang="en-US" altLang="ko-KR">
                <a:ea typeface="굴림" panose="020B0600000101010101" pitchFamily="50" charset="-127"/>
              </a:rPr>
              <a:t>Library subroutines</a:t>
            </a:r>
          </a:p>
          <a:p>
            <a:r>
              <a:rPr lang="en-US" altLang="ko-KR">
                <a:ea typeface="굴림" panose="020B0600000101010101" pitchFamily="50" charset="-127"/>
              </a:rPr>
              <a:t>Systems programs (BIOS)</a:t>
            </a:r>
          </a:p>
          <a:p>
            <a:r>
              <a:rPr lang="en-US" altLang="ko-KR">
                <a:ea typeface="굴림" panose="020B0600000101010101" pitchFamily="50" charset="-127"/>
              </a:rPr>
              <a:t>Function tables</a:t>
            </a:r>
          </a:p>
          <a:p>
            <a:endParaRPr lang="ko-KR" altLang="en-US">
              <a:ea typeface="굴림" panose="020B0600000101010101" pitchFamily="50" charset="-127"/>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a:extLst>
              <a:ext uri="{FF2B5EF4-FFF2-40B4-BE49-F238E27FC236}">
                <a16:creationId xmlns:a16="http://schemas.microsoft.com/office/drawing/2014/main" id="{CA11CFD8-018D-436F-8157-8B10F9D81E21}"/>
              </a:ext>
            </a:extLst>
          </p:cNvPr>
          <p:cNvSpPr>
            <a:spLocks noGrp="1" noChangeArrowheads="1"/>
          </p:cNvSpPr>
          <p:nvPr>
            <p:ph type="title"/>
          </p:nvPr>
        </p:nvSpPr>
        <p:spPr/>
        <p:txBody>
          <a:bodyPr/>
          <a:lstStyle/>
          <a:p>
            <a:r>
              <a:rPr lang="en-US" altLang="ko-KR">
                <a:ea typeface="굴림" panose="020B0600000101010101" pitchFamily="50" charset="-127"/>
              </a:rPr>
              <a:t>Types of ROM (1)</a:t>
            </a:r>
          </a:p>
        </p:txBody>
      </p:sp>
      <p:sp>
        <p:nvSpPr>
          <p:cNvPr id="66563" name="Rectangle 5">
            <a:extLst>
              <a:ext uri="{FF2B5EF4-FFF2-40B4-BE49-F238E27FC236}">
                <a16:creationId xmlns:a16="http://schemas.microsoft.com/office/drawing/2014/main" id="{D8A2805A-5B49-4FB4-A28C-D156FE5D38F4}"/>
              </a:ext>
            </a:extLst>
          </p:cNvPr>
          <p:cNvSpPr>
            <a:spLocks noGrp="1" noChangeArrowheads="1"/>
          </p:cNvSpPr>
          <p:nvPr>
            <p:ph type="body" idx="1"/>
          </p:nvPr>
        </p:nvSpPr>
        <p:spPr/>
        <p:txBody>
          <a:bodyPr/>
          <a:lstStyle/>
          <a:p>
            <a:r>
              <a:rPr lang="en-US" altLang="ko-KR" sz="2400">
                <a:ea typeface="굴림" panose="020B0600000101010101" pitchFamily="50" charset="-127"/>
              </a:rPr>
              <a:t>Mask ROM</a:t>
            </a:r>
          </a:p>
          <a:p>
            <a:pPr lvl="1"/>
            <a:r>
              <a:rPr lang="en-US" altLang="ko-KR" sz="2000">
                <a:solidFill>
                  <a:srgbClr val="0070C0"/>
                </a:solidFill>
                <a:ea typeface="굴림" panose="020B0600000101010101" pitchFamily="50" charset="-127"/>
              </a:rPr>
              <a:t>Written during manufacture</a:t>
            </a:r>
          </a:p>
          <a:p>
            <a:pPr lvl="1"/>
            <a:r>
              <a:rPr lang="en-US" altLang="ko-KR" sz="2000">
                <a:solidFill>
                  <a:srgbClr val="0070C0"/>
                </a:solidFill>
                <a:ea typeface="굴림" panose="020B0600000101010101" pitchFamily="50" charset="-127"/>
              </a:rPr>
              <a:t>Very expensive for small runs</a:t>
            </a:r>
          </a:p>
          <a:p>
            <a:r>
              <a:rPr lang="en-US" altLang="ko-KR" sz="2400">
                <a:ea typeface="굴림" panose="020B0600000101010101" pitchFamily="50" charset="-127"/>
              </a:rPr>
              <a:t>Programmable (once)</a:t>
            </a:r>
          </a:p>
          <a:p>
            <a:pPr lvl="1"/>
            <a:r>
              <a:rPr lang="en-US" altLang="ko-KR" sz="2000">
                <a:solidFill>
                  <a:srgbClr val="0070C0"/>
                </a:solidFill>
                <a:ea typeface="굴림" panose="020B0600000101010101" pitchFamily="50" charset="-127"/>
              </a:rPr>
              <a:t>PROM</a:t>
            </a:r>
          </a:p>
          <a:p>
            <a:pPr lvl="1"/>
            <a:r>
              <a:rPr lang="en-US" altLang="ko-KR" sz="2000">
                <a:solidFill>
                  <a:srgbClr val="0070C0"/>
                </a:solidFill>
                <a:ea typeface="굴림" panose="020B0600000101010101" pitchFamily="50" charset="-127"/>
              </a:rPr>
              <a:t>Read-only, write-once</a:t>
            </a:r>
          </a:p>
          <a:p>
            <a:pPr lvl="1"/>
            <a:r>
              <a:rPr lang="en-US" altLang="ko-KR" sz="2000">
                <a:solidFill>
                  <a:srgbClr val="0070C0"/>
                </a:solidFill>
                <a:ea typeface="굴림" panose="020B0600000101010101" pitchFamily="50" charset="-127"/>
              </a:rPr>
              <a:t>Needs special equipment to program</a:t>
            </a:r>
          </a:p>
          <a:p>
            <a:r>
              <a:rPr lang="en-US" altLang="ko-KR" sz="2400">
                <a:ea typeface="굴림" panose="020B0600000101010101" pitchFamily="50" charset="-127"/>
              </a:rPr>
              <a:t>Erasable Programmable (EPROM)</a:t>
            </a:r>
          </a:p>
          <a:p>
            <a:pPr lvl="1"/>
            <a:r>
              <a:rPr lang="en-US" altLang="ko-KR" sz="2000">
                <a:solidFill>
                  <a:srgbClr val="0070C0"/>
                </a:solidFill>
                <a:ea typeface="굴림" panose="020B0600000101010101" pitchFamily="50" charset="-127"/>
              </a:rPr>
              <a:t>R/W</a:t>
            </a:r>
          </a:p>
          <a:p>
            <a:pPr lvl="1"/>
            <a:r>
              <a:rPr lang="en-US" altLang="ko-KR" sz="2000">
                <a:solidFill>
                  <a:srgbClr val="0070C0"/>
                </a:solidFill>
                <a:ea typeface="굴림" panose="020B0600000101010101" pitchFamily="50" charset="-127"/>
              </a:rPr>
              <a:t>Have to erase before write</a:t>
            </a:r>
          </a:p>
          <a:p>
            <a:pPr lvl="1"/>
            <a:r>
              <a:rPr lang="en-US" altLang="ko-KR" sz="2000">
                <a:solidFill>
                  <a:srgbClr val="0070C0"/>
                </a:solidFill>
                <a:ea typeface="굴림" panose="020B0600000101010101" pitchFamily="50" charset="-127"/>
              </a:rPr>
              <a:t>Erased by UV</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슬라이드 번호 개체 틀 4">
            <a:extLst>
              <a:ext uri="{FF2B5EF4-FFF2-40B4-BE49-F238E27FC236}">
                <a16:creationId xmlns:a16="http://schemas.microsoft.com/office/drawing/2014/main" id="{70BBDD7C-8141-43C0-932F-86F8CD30EF1D}"/>
              </a:ext>
            </a:extLst>
          </p:cNvPr>
          <p:cNvSpPr>
            <a:spLocks noGrp="1"/>
          </p:cNvSpPr>
          <p:nvPr>
            <p:ph type="sldNum" sz="quarter" idx="4294967295"/>
          </p:nvPr>
        </p:nvSpPr>
        <p:spPr bwMode="auto">
          <a:xfrm>
            <a:off x="7924800" y="6400800"/>
            <a:ext cx="6858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59BCD8D4-1733-4C95-8C7B-04621724AE09}" type="slidenum">
              <a:rPr kumimoji="0" lang="en-US" altLang="ko-KR" sz="2400">
                <a:latin typeface="Times New Roman" panose="02020603050405020304" pitchFamily="18" charset="0"/>
                <a:ea typeface="굴림" panose="020B0600000101010101" pitchFamily="50" charset="-127"/>
              </a:rPr>
              <a:pPr>
                <a:spcBef>
                  <a:spcPct val="0"/>
                </a:spcBef>
                <a:buClrTx/>
                <a:buFontTx/>
                <a:buNone/>
              </a:pPr>
              <a:t>31</a:t>
            </a:fld>
            <a:endParaRPr kumimoji="0" lang="en-US" altLang="ko-KR" sz="2400">
              <a:latin typeface="Times New Roman" panose="02020603050405020304" pitchFamily="18" charset="0"/>
              <a:ea typeface="굴림" panose="020B0600000101010101" pitchFamily="50" charset="-127"/>
            </a:endParaRPr>
          </a:p>
        </p:txBody>
      </p:sp>
      <p:sp>
        <p:nvSpPr>
          <p:cNvPr id="68611" name="Rectangle 4">
            <a:extLst>
              <a:ext uri="{FF2B5EF4-FFF2-40B4-BE49-F238E27FC236}">
                <a16:creationId xmlns:a16="http://schemas.microsoft.com/office/drawing/2014/main" id="{BAD3D16F-C811-44FF-A16A-A2B3D6C827DD}"/>
              </a:ext>
            </a:extLst>
          </p:cNvPr>
          <p:cNvSpPr>
            <a:spLocks noGrp="1" noChangeArrowheads="1"/>
          </p:cNvSpPr>
          <p:nvPr>
            <p:ph type="title"/>
          </p:nvPr>
        </p:nvSpPr>
        <p:spPr/>
        <p:txBody>
          <a:bodyPr/>
          <a:lstStyle/>
          <a:p>
            <a:r>
              <a:rPr lang="en-US" altLang="ko-KR">
                <a:ea typeface="굴림" panose="020B0600000101010101" pitchFamily="50" charset="-127"/>
              </a:rPr>
              <a:t>Types of ROM (2)</a:t>
            </a:r>
          </a:p>
        </p:txBody>
      </p:sp>
      <p:sp>
        <p:nvSpPr>
          <p:cNvPr id="68612" name="Rectangle 5">
            <a:extLst>
              <a:ext uri="{FF2B5EF4-FFF2-40B4-BE49-F238E27FC236}">
                <a16:creationId xmlns:a16="http://schemas.microsoft.com/office/drawing/2014/main" id="{51528A26-92EF-449F-827F-FCE0FE90644C}"/>
              </a:ext>
            </a:extLst>
          </p:cNvPr>
          <p:cNvSpPr>
            <a:spLocks noGrp="1" noChangeArrowheads="1"/>
          </p:cNvSpPr>
          <p:nvPr>
            <p:ph type="body" idx="1"/>
          </p:nvPr>
        </p:nvSpPr>
        <p:spPr/>
        <p:txBody>
          <a:bodyPr/>
          <a:lstStyle/>
          <a:p>
            <a:r>
              <a:rPr lang="en-US" altLang="ko-KR">
                <a:ea typeface="굴림" panose="020B0600000101010101" pitchFamily="50" charset="-127"/>
              </a:rPr>
              <a:t>Electrically Erasable (EEPROM)</a:t>
            </a:r>
          </a:p>
          <a:p>
            <a:pPr lvl="1"/>
            <a:r>
              <a:rPr lang="en-US" altLang="ko-KR">
                <a:solidFill>
                  <a:srgbClr val="0070C0"/>
                </a:solidFill>
                <a:ea typeface="굴림" panose="020B0600000101010101" pitchFamily="50" charset="-127"/>
              </a:rPr>
              <a:t>R/W</a:t>
            </a:r>
          </a:p>
          <a:p>
            <a:pPr lvl="1"/>
            <a:r>
              <a:rPr lang="en-US" altLang="ko-KR">
                <a:solidFill>
                  <a:srgbClr val="0070C0"/>
                </a:solidFill>
                <a:ea typeface="굴림" panose="020B0600000101010101" pitchFamily="50" charset="-127"/>
              </a:rPr>
              <a:t>Takes much longer to write than read</a:t>
            </a:r>
          </a:p>
          <a:p>
            <a:pPr lvl="1"/>
            <a:r>
              <a:rPr lang="en-US" altLang="ko-KR">
                <a:solidFill>
                  <a:srgbClr val="0070C0"/>
                </a:solidFill>
                <a:ea typeface="굴림" panose="020B0600000101010101" pitchFamily="50" charset="-127"/>
              </a:rPr>
              <a:t>Individual bytes programmable</a:t>
            </a:r>
          </a:p>
          <a:p>
            <a:r>
              <a:rPr lang="en-US" altLang="ko-KR">
                <a:ea typeface="굴림" panose="020B0600000101010101" pitchFamily="50" charset="-127"/>
              </a:rPr>
              <a:t>Flash memory</a:t>
            </a:r>
          </a:p>
          <a:p>
            <a:pPr lvl="1"/>
            <a:r>
              <a:rPr lang="en-US" altLang="ko-KR">
                <a:solidFill>
                  <a:srgbClr val="0070C0"/>
                </a:solidFill>
                <a:ea typeface="굴림" panose="020B0600000101010101" pitchFamily="50" charset="-127"/>
              </a:rPr>
              <a:t>Can be erased electrically</a:t>
            </a:r>
          </a:p>
          <a:p>
            <a:pPr lvl="2"/>
            <a:r>
              <a:rPr lang="en-US" altLang="ko-KR">
                <a:ea typeface="굴림" panose="020B0600000101010101" pitchFamily="50" charset="-127"/>
              </a:rPr>
              <a:t>In circuit programmability</a:t>
            </a:r>
          </a:p>
          <a:p>
            <a:pPr lvl="1"/>
            <a:r>
              <a:rPr lang="en-US" altLang="ko-KR">
                <a:solidFill>
                  <a:srgbClr val="0070C0"/>
                </a:solidFill>
                <a:ea typeface="굴림" panose="020B0600000101010101" pitchFamily="50" charset="-127"/>
              </a:rPr>
              <a:t>Need to be erased and reprogrammed</a:t>
            </a:r>
          </a:p>
          <a:p>
            <a:pPr lvl="2"/>
            <a:r>
              <a:rPr lang="en-US" altLang="ko-KR">
                <a:ea typeface="굴림" panose="020B0600000101010101" pitchFamily="50" charset="-127"/>
              </a:rPr>
              <a:t>Erase whole chip</a:t>
            </a:r>
          </a:p>
          <a:p>
            <a:pPr lvl="2"/>
            <a:r>
              <a:rPr lang="en-US" altLang="ko-KR">
                <a:ea typeface="굴림" panose="020B0600000101010101" pitchFamily="50" charset="-127"/>
              </a:rPr>
              <a:t>Erase block by block</a:t>
            </a:r>
          </a:p>
          <a:p>
            <a:pPr lvl="1"/>
            <a:r>
              <a:rPr lang="en-US" altLang="ko-KR">
                <a:solidFill>
                  <a:srgbClr val="0070C0"/>
                </a:solidFill>
                <a:ea typeface="굴림" panose="020B0600000101010101" pitchFamily="50" charset="-127"/>
              </a:rPr>
              <a:t>Programming is different from EPROM</a:t>
            </a:r>
          </a:p>
          <a:p>
            <a:pPr lvl="1"/>
            <a:r>
              <a:rPr lang="en-US" altLang="ko-KR">
                <a:solidFill>
                  <a:srgbClr val="0070C0"/>
                </a:solidFill>
                <a:ea typeface="굴림" panose="020B0600000101010101" pitchFamily="50" charset="-127"/>
              </a:rPr>
              <a:t>Reading is same as EPROM/PROM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E3A8445D-5EFE-4C7E-A0CC-7F6A8AE554D0}"/>
              </a:ext>
            </a:extLst>
          </p:cNvPr>
          <p:cNvSpPr>
            <a:spLocks noGrp="1" noChangeArrowheads="1"/>
          </p:cNvSpPr>
          <p:nvPr>
            <p:ph type="title"/>
          </p:nvPr>
        </p:nvSpPr>
        <p:spPr/>
        <p:txBody>
          <a:bodyPr/>
          <a:lstStyle/>
          <a:p>
            <a:r>
              <a:rPr lang="en-GB" altLang="ko-KR">
                <a:ea typeface="굴림" panose="020B0600000101010101" pitchFamily="50" charset="-127"/>
              </a:rPr>
              <a:t>Organisation in detail</a:t>
            </a:r>
          </a:p>
        </p:txBody>
      </p:sp>
      <p:sp>
        <p:nvSpPr>
          <p:cNvPr id="72707" name="Rectangle 3">
            <a:extLst>
              <a:ext uri="{FF2B5EF4-FFF2-40B4-BE49-F238E27FC236}">
                <a16:creationId xmlns:a16="http://schemas.microsoft.com/office/drawing/2014/main" id="{FC3A6300-9134-4A27-8DA4-EB910AFD5592}"/>
              </a:ext>
            </a:extLst>
          </p:cNvPr>
          <p:cNvSpPr>
            <a:spLocks noGrp="1" noChangeArrowheads="1"/>
          </p:cNvSpPr>
          <p:nvPr>
            <p:ph type="body" idx="1"/>
          </p:nvPr>
        </p:nvSpPr>
        <p:spPr/>
        <p:txBody>
          <a:bodyPr/>
          <a:lstStyle/>
          <a:p>
            <a:r>
              <a:rPr lang="en-GB" altLang="ko-KR">
                <a:ea typeface="굴림" panose="020B0600000101010101" pitchFamily="50" charset="-127"/>
              </a:rPr>
              <a:t>A 16Mbit chip can be organised as 1M of 16 bit words</a:t>
            </a:r>
          </a:p>
          <a:p>
            <a:r>
              <a:rPr lang="en-GB" altLang="ko-KR">
                <a:ea typeface="굴림" panose="020B0600000101010101" pitchFamily="50" charset="-127"/>
              </a:rPr>
              <a:t>A bit per chip system has 16 lots of 1Mbit chip with bit 1 of each word in chip 1 and so on</a:t>
            </a:r>
          </a:p>
          <a:p>
            <a:r>
              <a:rPr lang="en-GB" altLang="ko-KR">
                <a:ea typeface="굴림" panose="020B0600000101010101" pitchFamily="50" charset="-127"/>
              </a:rPr>
              <a:t>A 16Mbit chip can be organised as a 2048 x 2048 x 4bit array</a:t>
            </a:r>
          </a:p>
          <a:p>
            <a:pPr lvl="1"/>
            <a:r>
              <a:rPr lang="en-GB" altLang="ko-KR">
                <a:solidFill>
                  <a:srgbClr val="0070C0"/>
                </a:solidFill>
                <a:ea typeface="굴림" panose="020B0600000101010101" pitchFamily="50" charset="-127"/>
              </a:rPr>
              <a:t>Reduces number of address pins</a:t>
            </a:r>
          </a:p>
          <a:p>
            <a:pPr lvl="2"/>
            <a:r>
              <a:rPr lang="en-GB" altLang="ko-KR">
                <a:ea typeface="굴림" panose="020B0600000101010101" pitchFamily="50" charset="-127"/>
              </a:rPr>
              <a:t>Multiplex row address and column address</a:t>
            </a:r>
          </a:p>
          <a:p>
            <a:pPr lvl="2"/>
            <a:r>
              <a:rPr lang="en-GB" altLang="ko-KR">
                <a:ea typeface="굴림" panose="020B0600000101010101" pitchFamily="50" charset="-127"/>
              </a:rPr>
              <a:t>11 pins to address (2</a:t>
            </a:r>
            <a:r>
              <a:rPr lang="en-GB" altLang="ko-KR" baseline="30000">
                <a:ea typeface="굴림" panose="020B0600000101010101" pitchFamily="50" charset="-127"/>
              </a:rPr>
              <a:t>11</a:t>
            </a:r>
            <a:r>
              <a:rPr lang="en-GB" altLang="ko-KR">
                <a:ea typeface="굴림" panose="020B0600000101010101" pitchFamily="50" charset="-127"/>
              </a:rPr>
              <a:t>=2048)</a:t>
            </a:r>
          </a:p>
          <a:p>
            <a:pPr lvl="2"/>
            <a:r>
              <a:rPr lang="en-GB" altLang="ko-KR">
                <a:ea typeface="굴림" panose="020B0600000101010101" pitchFamily="50" charset="-127"/>
              </a:rPr>
              <a:t>Adding one more pin doubles range of values so x4 capacity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슬라이드 번호 개체 틀 4">
            <a:extLst>
              <a:ext uri="{FF2B5EF4-FFF2-40B4-BE49-F238E27FC236}">
                <a16:creationId xmlns:a16="http://schemas.microsoft.com/office/drawing/2014/main" id="{37037AD8-1EC0-41DF-875D-3C72E0A4BCF7}"/>
              </a:ext>
            </a:extLst>
          </p:cNvPr>
          <p:cNvSpPr>
            <a:spLocks noGrp="1"/>
          </p:cNvSpPr>
          <p:nvPr>
            <p:ph type="sldNum" sz="quarter" idx="4294967295"/>
          </p:nvPr>
        </p:nvSpPr>
        <p:spPr bwMode="auto">
          <a:xfrm>
            <a:off x="7924800" y="6400800"/>
            <a:ext cx="6858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CD906A6E-CA50-4C11-A179-C83D38A8EFC5}" type="slidenum">
              <a:rPr kumimoji="0" lang="en-US" altLang="ko-KR" sz="1800">
                <a:latin typeface="Times New Roman" panose="02020603050405020304" pitchFamily="18" charset="0"/>
                <a:ea typeface="굴림" panose="020B0600000101010101" pitchFamily="50" charset="-127"/>
              </a:rPr>
              <a:pPr>
                <a:spcBef>
                  <a:spcPct val="0"/>
                </a:spcBef>
                <a:buClrTx/>
                <a:buFontTx/>
                <a:buNone/>
              </a:pPr>
              <a:t>34</a:t>
            </a:fld>
            <a:endParaRPr kumimoji="0" lang="en-US" altLang="ko-KR" sz="1800">
              <a:latin typeface="Times New Roman" panose="02020603050405020304" pitchFamily="18" charset="0"/>
              <a:ea typeface="굴림" panose="020B0600000101010101" pitchFamily="50" charset="-127"/>
            </a:endParaRPr>
          </a:p>
        </p:txBody>
      </p:sp>
      <p:sp>
        <p:nvSpPr>
          <p:cNvPr id="74755" name="Rectangle 2">
            <a:extLst>
              <a:ext uri="{FF2B5EF4-FFF2-40B4-BE49-F238E27FC236}">
                <a16:creationId xmlns:a16="http://schemas.microsoft.com/office/drawing/2014/main" id="{CFB2ECE0-B297-4125-BAF9-BA295FE7D52F}"/>
              </a:ext>
            </a:extLst>
          </p:cNvPr>
          <p:cNvSpPr>
            <a:spLocks noGrp="1" noChangeArrowheads="1"/>
          </p:cNvSpPr>
          <p:nvPr>
            <p:ph type="title"/>
          </p:nvPr>
        </p:nvSpPr>
        <p:spPr/>
        <p:txBody>
          <a:bodyPr/>
          <a:lstStyle/>
          <a:p>
            <a:r>
              <a:rPr lang="en-US" altLang="ko-KR">
                <a:ea typeface="굴림" panose="020B0600000101010101" pitchFamily="50" charset="-127"/>
              </a:rPr>
              <a:t>Typical 16 Mb DRAM (4M x 4)</a:t>
            </a:r>
          </a:p>
        </p:txBody>
      </p:sp>
      <p:pic>
        <p:nvPicPr>
          <p:cNvPr id="74756" name="Picture 3">
            <a:extLst>
              <a:ext uri="{FF2B5EF4-FFF2-40B4-BE49-F238E27FC236}">
                <a16:creationId xmlns:a16="http://schemas.microsoft.com/office/drawing/2014/main" id="{2AD8E3BB-3BD7-4053-BAD2-A80D8BCF16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428" t="6638" r="6648" b="18596"/>
          <a:stretch>
            <a:fillRect/>
          </a:stretch>
        </p:blipFill>
        <p:spPr bwMode="auto">
          <a:xfrm>
            <a:off x="349250" y="1125538"/>
            <a:ext cx="8686800" cy="571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7" name="Rectangle 4">
            <a:extLst>
              <a:ext uri="{FF2B5EF4-FFF2-40B4-BE49-F238E27FC236}">
                <a16:creationId xmlns:a16="http://schemas.microsoft.com/office/drawing/2014/main" id="{B32DA268-F1CA-4901-B45F-51C97CB57073}"/>
              </a:ext>
            </a:extLst>
          </p:cNvPr>
          <p:cNvSpPr>
            <a:spLocks noChangeArrowheads="1"/>
          </p:cNvSpPr>
          <p:nvPr/>
        </p:nvSpPr>
        <p:spPr bwMode="auto">
          <a:xfrm>
            <a:off x="4692650" y="2789238"/>
            <a:ext cx="1384300" cy="593725"/>
          </a:xfrm>
          <a:prstGeom prst="rect">
            <a:avLst/>
          </a:prstGeom>
          <a:solidFill>
            <a:srgbClr val="FFFF99"/>
          </a:solidFill>
          <a:ln w="9525">
            <a:solidFill>
              <a:srgbClr val="000000"/>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ko-KR" sz="1100">
                <a:latin typeface="Times New Roman" panose="02020603050405020304" pitchFamily="18" charset="0"/>
                <a:ea typeface="굴림" panose="020B0600000101010101" pitchFamily="50" charset="-127"/>
              </a:rPr>
              <a:t>2 k x 2 k  =  4 M</a:t>
            </a:r>
            <a:r>
              <a:rPr kumimoji="0" lang="ko-KR" altLang="en-US" sz="1100">
                <a:latin typeface="Times New Roman" panose="02020603050405020304" pitchFamily="18" charset="0"/>
                <a:ea typeface="굴림" panose="020B0600000101010101" pitchFamily="50" charset="-127"/>
              </a:rPr>
              <a:t>를</a:t>
            </a:r>
            <a:endParaRPr kumimoji="0" lang="en-US" altLang="ko-KR" sz="1100">
              <a:latin typeface="Times New Roman" panose="02020603050405020304" pitchFamily="18" charset="0"/>
              <a:ea typeface="굴림" panose="020B0600000101010101" pitchFamily="50" charset="-127"/>
            </a:endParaRPr>
          </a:p>
          <a:p>
            <a:pPr algn="ctr">
              <a:spcBef>
                <a:spcPct val="0"/>
              </a:spcBef>
              <a:buClrTx/>
              <a:buFontTx/>
              <a:buNone/>
            </a:pPr>
            <a:r>
              <a:rPr kumimoji="0" lang="en-US" altLang="ko-KR" sz="1100">
                <a:latin typeface="Times New Roman" panose="02020603050405020304" pitchFamily="18" charset="0"/>
                <a:ea typeface="굴림" panose="020B0600000101010101" pitchFamily="50" charset="-127"/>
              </a:rPr>
              <a:t>4</a:t>
            </a:r>
            <a:r>
              <a:rPr kumimoji="0" lang="ko-KR" altLang="en-US" sz="1100">
                <a:latin typeface="Times New Roman" panose="02020603050405020304" pitchFamily="18" charset="0"/>
                <a:ea typeface="굴림" panose="020B0600000101010101" pitchFamily="50" charset="-127"/>
              </a:rPr>
              <a:t>개 사용</a:t>
            </a:r>
            <a:endParaRPr kumimoji="0" lang="en-US" altLang="ko-KR" sz="1100">
              <a:latin typeface="Times New Roman" panose="02020603050405020304" pitchFamily="18" charset="0"/>
              <a:ea typeface="굴림" panose="020B0600000101010101" pitchFamily="50" charset="-127"/>
            </a:endParaRPr>
          </a:p>
        </p:txBody>
      </p:sp>
      <p:sp>
        <p:nvSpPr>
          <p:cNvPr id="74758" name="Rectangle 5">
            <a:extLst>
              <a:ext uri="{FF2B5EF4-FFF2-40B4-BE49-F238E27FC236}">
                <a16:creationId xmlns:a16="http://schemas.microsoft.com/office/drawing/2014/main" id="{6AFFD579-92A5-4659-82C6-2B56EA4772E3}"/>
              </a:ext>
            </a:extLst>
          </p:cNvPr>
          <p:cNvSpPr>
            <a:spLocks noChangeArrowheads="1"/>
          </p:cNvSpPr>
          <p:nvPr/>
        </p:nvSpPr>
        <p:spPr bwMode="auto">
          <a:xfrm>
            <a:off x="1547813" y="1341438"/>
            <a:ext cx="2266950" cy="419100"/>
          </a:xfrm>
          <a:prstGeom prst="rect">
            <a:avLst/>
          </a:prstGeom>
          <a:solidFill>
            <a:srgbClr val="FFFF99"/>
          </a:solidFill>
          <a:ln w="9525">
            <a:solidFill>
              <a:srgbClr val="000000"/>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ko-KR" sz="1100">
                <a:latin typeface="Times New Roman" panose="02020603050405020304" pitchFamily="18" charset="0"/>
                <a:ea typeface="굴림" panose="020B0600000101010101" pitchFamily="50" charset="-127"/>
              </a:rPr>
              <a:t>RAS = Row Addr. Select</a:t>
            </a:r>
          </a:p>
          <a:p>
            <a:pPr algn="ctr">
              <a:spcBef>
                <a:spcPct val="0"/>
              </a:spcBef>
              <a:buClrTx/>
              <a:buFontTx/>
              <a:buNone/>
            </a:pPr>
            <a:r>
              <a:rPr kumimoji="0" lang="en-US" altLang="ko-KR" sz="1100">
                <a:latin typeface="Times New Roman" panose="02020603050405020304" pitchFamily="18" charset="0"/>
                <a:ea typeface="굴림" panose="020B0600000101010101" pitchFamily="50" charset="-127"/>
              </a:rPr>
              <a:t>CAS = Column Addr. Select</a:t>
            </a:r>
          </a:p>
        </p:txBody>
      </p:sp>
      <p:sp>
        <p:nvSpPr>
          <p:cNvPr id="74759" name="Rectangle 6">
            <a:extLst>
              <a:ext uri="{FF2B5EF4-FFF2-40B4-BE49-F238E27FC236}">
                <a16:creationId xmlns:a16="http://schemas.microsoft.com/office/drawing/2014/main" id="{4F2542DF-F452-4FF4-B0CA-3F455572DD53}"/>
              </a:ext>
            </a:extLst>
          </p:cNvPr>
          <p:cNvSpPr>
            <a:spLocks noChangeArrowheads="1"/>
          </p:cNvSpPr>
          <p:nvPr/>
        </p:nvSpPr>
        <p:spPr bwMode="auto">
          <a:xfrm>
            <a:off x="6000750" y="1341438"/>
            <a:ext cx="1163638" cy="419100"/>
          </a:xfrm>
          <a:prstGeom prst="rect">
            <a:avLst/>
          </a:prstGeom>
          <a:solidFill>
            <a:srgbClr val="FFFF99"/>
          </a:solidFill>
          <a:ln w="9525">
            <a:solidFill>
              <a:srgbClr val="000000"/>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ko-KR" sz="1100">
                <a:latin typeface="Times New Roman" panose="02020603050405020304" pitchFamily="18" charset="0"/>
                <a:ea typeface="굴림" panose="020B0600000101010101" pitchFamily="50" charset="-127"/>
              </a:rPr>
              <a:t>WE = Write Enable</a:t>
            </a:r>
          </a:p>
          <a:p>
            <a:pPr algn="ctr">
              <a:spcBef>
                <a:spcPct val="0"/>
              </a:spcBef>
              <a:buClrTx/>
              <a:buFontTx/>
              <a:buNone/>
            </a:pPr>
            <a:r>
              <a:rPr kumimoji="0" lang="en-US" altLang="ko-KR" sz="1100">
                <a:latin typeface="Times New Roman" panose="02020603050405020304" pitchFamily="18" charset="0"/>
                <a:ea typeface="굴림" panose="020B0600000101010101" pitchFamily="50" charset="-127"/>
              </a:rPr>
              <a:t>OE = Output Enable</a:t>
            </a:r>
          </a:p>
        </p:txBody>
      </p:sp>
      <p:sp>
        <p:nvSpPr>
          <p:cNvPr id="74760" name="Line 7">
            <a:extLst>
              <a:ext uri="{FF2B5EF4-FFF2-40B4-BE49-F238E27FC236}">
                <a16:creationId xmlns:a16="http://schemas.microsoft.com/office/drawing/2014/main" id="{06EF261A-5D54-45FA-A96E-D9712D72ABDD}"/>
              </a:ext>
            </a:extLst>
          </p:cNvPr>
          <p:cNvSpPr>
            <a:spLocks noChangeShapeType="1"/>
          </p:cNvSpPr>
          <p:nvPr/>
        </p:nvSpPr>
        <p:spPr bwMode="auto">
          <a:xfrm>
            <a:off x="3790950" y="1493838"/>
            <a:ext cx="3048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ko-KR" altLang="en-US"/>
          </a:p>
        </p:txBody>
      </p:sp>
      <p:sp>
        <p:nvSpPr>
          <p:cNvPr id="74761" name="Line 8">
            <a:extLst>
              <a:ext uri="{FF2B5EF4-FFF2-40B4-BE49-F238E27FC236}">
                <a16:creationId xmlns:a16="http://schemas.microsoft.com/office/drawing/2014/main" id="{19D3FC34-36CD-4713-A0FC-E6C1C7E45A5B}"/>
              </a:ext>
            </a:extLst>
          </p:cNvPr>
          <p:cNvSpPr>
            <a:spLocks noChangeShapeType="1"/>
          </p:cNvSpPr>
          <p:nvPr/>
        </p:nvSpPr>
        <p:spPr bwMode="auto">
          <a:xfrm flipH="1">
            <a:off x="5543550" y="1493838"/>
            <a:ext cx="5334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ko-KR" altLang="en-US"/>
          </a:p>
        </p:txBody>
      </p:sp>
      <p:sp>
        <p:nvSpPr>
          <p:cNvPr id="74762" name="Line 9">
            <a:extLst>
              <a:ext uri="{FF2B5EF4-FFF2-40B4-BE49-F238E27FC236}">
                <a16:creationId xmlns:a16="http://schemas.microsoft.com/office/drawing/2014/main" id="{BCF5CE6B-5979-4078-8D14-A2E900188945}"/>
              </a:ext>
            </a:extLst>
          </p:cNvPr>
          <p:cNvSpPr>
            <a:spLocks noChangeShapeType="1"/>
          </p:cNvSpPr>
          <p:nvPr/>
        </p:nvSpPr>
        <p:spPr bwMode="auto">
          <a:xfrm flipH="1">
            <a:off x="5791200" y="3382963"/>
            <a:ext cx="0" cy="8382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ko-KR" altLang="en-US"/>
          </a:p>
        </p:txBody>
      </p:sp>
      <p:sp>
        <p:nvSpPr>
          <p:cNvPr id="74763" name="직사각형 1">
            <a:extLst>
              <a:ext uri="{FF2B5EF4-FFF2-40B4-BE49-F238E27FC236}">
                <a16:creationId xmlns:a16="http://schemas.microsoft.com/office/drawing/2014/main" id="{214A206D-F1C2-4741-AB76-CED6CEC3E754}"/>
              </a:ext>
            </a:extLst>
          </p:cNvPr>
          <p:cNvSpPr>
            <a:spLocks noChangeArrowheads="1"/>
          </p:cNvSpPr>
          <p:nvPr/>
        </p:nvSpPr>
        <p:spPr bwMode="auto">
          <a:xfrm>
            <a:off x="5651500" y="1844675"/>
            <a:ext cx="360045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lang="en-US" altLang="ko-KR" sz="1000">
                <a:latin typeface="Times New Roman" panose="02020603050405020304" pitchFamily="18" charset="0"/>
                <a:ea typeface="굴림" panose="020B0600000101010101" pitchFamily="50" charset="-127"/>
              </a:rPr>
              <a:t>a typical organization of a 16-Mbit DRAM. </a:t>
            </a:r>
          </a:p>
          <a:p>
            <a:pPr>
              <a:spcBef>
                <a:spcPct val="0"/>
              </a:spcBef>
              <a:buClrTx/>
              <a:buFontTx/>
              <a:buNone/>
            </a:pPr>
            <a:endParaRPr lang="en-US" altLang="ko-KR" sz="1000">
              <a:latin typeface="Times New Roman" panose="02020603050405020304" pitchFamily="18" charset="0"/>
              <a:ea typeface="굴림" panose="020B0600000101010101" pitchFamily="50" charset="-127"/>
            </a:endParaRPr>
          </a:p>
          <a:p>
            <a:pPr>
              <a:spcBef>
                <a:spcPct val="0"/>
              </a:spcBef>
              <a:buClrTx/>
              <a:buFontTx/>
              <a:buNone/>
            </a:pPr>
            <a:r>
              <a:rPr lang="en-US" altLang="ko-KR" sz="1000">
                <a:latin typeface="Times New Roman" panose="02020603050405020304" pitchFamily="18" charset="0"/>
                <a:ea typeface="굴림" panose="020B0600000101010101" pitchFamily="50" charset="-127"/>
              </a:rPr>
              <a:t>4 bits are read or written at a time. Logically, the memory array is organized as four square arrays of 2048 by 2048 elements. </a:t>
            </a:r>
            <a:endParaRPr kumimoji="0" lang="ko-KR" altLang="en-US" sz="1000">
              <a:latin typeface="Times New Roman" panose="02020603050405020304" pitchFamily="18" charset="0"/>
              <a:ea typeface="굴림" panose="020B0600000101010101" pitchFamily="50" charset="-127"/>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5F1E8F6A-4220-4753-AD30-0BE79AFD906D}"/>
              </a:ext>
            </a:extLst>
          </p:cNvPr>
          <p:cNvSpPr>
            <a:spLocks noGrp="1" noChangeArrowheads="1"/>
          </p:cNvSpPr>
          <p:nvPr>
            <p:ph type="title"/>
          </p:nvPr>
        </p:nvSpPr>
        <p:spPr/>
        <p:txBody>
          <a:bodyPr/>
          <a:lstStyle/>
          <a:p>
            <a:r>
              <a:rPr lang="en-GB" altLang="ko-KR">
                <a:ea typeface="굴림" panose="020B0600000101010101" pitchFamily="50" charset="-127"/>
              </a:rPr>
              <a:t>Packaging</a:t>
            </a:r>
          </a:p>
        </p:txBody>
      </p:sp>
      <p:pic>
        <p:nvPicPr>
          <p:cNvPr id="76803" name="Picture 4">
            <a:extLst>
              <a:ext uri="{FF2B5EF4-FFF2-40B4-BE49-F238E27FC236}">
                <a16:creationId xmlns:a16="http://schemas.microsoft.com/office/drawing/2014/main" id="{7B62F513-BE20-465C-9CC8-7F71D90B6A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3399"/>
          <a:stretch>
            <a:fillRect/>
          </a:stretch>
        </p:blipFill>
        <p:spPr bwMode="auto">
          <a:xfrm>
            <a:off x="685800" y="1762125"/>
            <a:ext cx="7772400" cy="466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슬라이드 번호 개체 틀 4">
            <a:extLst>
              <a:ext uri="{FF2B5EF4-FFF2-40B4-BE49-F238E27FC236}">
                <a16:creationId xmlns:a16="http://schemas.microsoft.com/office/drawing/2014/main" id="{289D1627-B8AD-4059-A664-54409A912529}"/>
              </a:ext>
            </a:extLst>
          </p:cNvPr>
          <p:cNvSpPr>
            <a:spLocks noGrp="1"/>
          </p:cNvSpPr>
          <p:nvPr>
            <p:ph type="sldNum" sz="quarter" idx="4294967295"/>
          </p:nvPr>
        </p:nvSpPr>
        <p:spPr bwMode="auto">
          <a:xfrm>
            <a:off x="7924800" y="6400800"/>
            <a:ext cx="6858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517D9F0E-07AC-408B-BC4C-9FD64ACA9286}" type="slidenum">
              <a:rPr kumimoji="0" lang="en-US" altLang="ko-KR" sz="2400">
                <a:latin typeface="Times New Roman" panose="02020603050405020304" pitchFamily="18" charset="0"/>
                <a:ea typeface="굴림" panose="020B0600000101010101" pitchFamily="50" charset="-127"/>
              </a:rPr>
              <a:pPr>
                <a:spcBef>
                  <a:spcPct val="0"/>
                </a:spcBef>
                <a:buClrTx/>
                <a:buFontTx/>
                <a:buNone/>
              </a:pPr>
              <a:t>36</a:t>
            </a:fld>
            <a:endParaRPr kumimoji="0" lang="en-US" altLang="ko-KR" sz="2400">
              <a:latin typeface="Times New Roman" panose="02020603050405020304" pitchFamily="18" charset="0"/>
              <a:ea typeface="굴림" panose="020B0600000101010101" pitchFamily="50" charset="-127"/>
            </a:endParaRPr>
          </a:p>
        </p:txBody>
      </p:sp>
      <p:sp>
        <p:nvSpPr>
          <p:cNvPr id="78851" name="Rectangle 2">
            <a:extLst>
              <a:ext uri="{FF2B5EF4-FFF2-40B4-BE49-F238E27FC236}">
                <a16:creationId xmlns:a16="http://schemas.microsoft.com/office/drawing/2014/main" id="{19DDC62A-7F23-44AF-8020-0D144713498E}"/>
              </a:ext>
            </a:extLst>
          </p:cNvPr>
          <p:cNvSpPr>
            <a:spLocks noGrp="1" noChangeArrowheads="1"/>
          </p:cNvSpPr>
          <p:nvPr>
            <p:ph type="title"/>
          </p:nvPr>
        </p:nvSpPr>
        <p:spPr>
          <a:xfrm>
            <a:off x="533400" y="198438"/>
            <a:ext cx="2959100" cy="792162"/>
          </a:xfrm>
        </p:spPr>
        <p:txBody>
          <a:bodyPr/>
          <a:lstStyle/>
          <a:p>
            <a:r>
              <a:rPr lang="en-GB" altLang="ko-KR">
                <a:ea typeface="굴림" panose="020B0600000101010101" pitchFamily="50" charset="-127"/>
              </a:rPr>
              <a:t>Module </a:t>
            </a:r>
            <a:br>
              <a:rPr lang="en-GB" altLang="ko-KR">
                <a:ea typeface="굴림" panose="020B0600000101010101" pitchFamily="50" charset="-127"/>
              </a:rPr>
            </a:br>
            <a:r>
              <a:rPr lang="en-GB" altLang="ko-KR">
                <a:ea typeface="굴림" panose="020B0600000101010101" pitchFamily="50" charset="-127"/>
              </a:rPr>
              <a:t>Organization</a:t>
            </a:r>
          </a:p>
        </p:txBody>
      </p:sp>
      <p:pic>
        <p:nvPicPr>
          <p:cNvPr id="78852" name="Picture 4" descr="p115">
            <a:extLst>
              <a:ext uri="{FF2B5EF4-FFF2-40B4-BE49-F238E27FC236}">
                <a16:creationId xmlns:a16="http://schemas.microsoft.com/office/drawing/2014/main" id="{FD2299E5-B647-4E50-85EA-C582F383EE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958" t="8081" r="12228" b="5107"/>
          <a:stretch>
            <a:fillRect/>
          </a:stretch>
        </p:blipFill>
        <p:spPr bwMode="auto">
          <a:xfrm>
            <a:off x="3495675" y="0"/>
            <a:ext cx="56483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3" name="Text Box 6">
            <a:extLst>
              <a:ext uri="{FF2B5EF4-FFF2-40B4-BE49-F238E27FC236}">
                <a16:creationId xmlns:a16="http://schemas.microsoft.com/office/drawing/2014/main" id="{9F7C6581-FEE8-482D-80F8-8038EAD2D0BB}"/>
              </a:ext>
            </a:extLst>
          </p:cNvPr>
          <p:cNvSpPr txBox="1">
            <a:spLocks noChangeArrowheads="1"/>
          </p:cNvSpPr>
          <p:nvPr/>
        </p:nvSpPr>
        <p:spPr bwMode="auto">
          <a:xfrm>
            <a:off x="250825" y="1154113"/>
            <a:ext cx="1458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zh-TW" altLang="en-US" sz="2400">
                <a:latin typeface="Times New Roman" panose="02020603050405020304" pitchFamily="18" charset="0"/>
                <a:ea typeface="PMingLiU" panose="02020500000000000000" pitchFamily="18" charset="-120"/>
              </a:rPr>
              <a:t>256</a:t>
            </a:r>
            <a:r>
              <a:rPr kumimoji="0" lang="en-US" altLang="zh-TW" sz="2400">
                <a:latin typeface="Times New Roman" panose="02020603050405020304" pitchFamily="18" charset="0"/>
                <a:ea typeface="PMingLiU" panose="02020500000000000000" pitchFamily="18" charset="-120"/>
              </a:rPr>
              <a:t>K byte</a:t>
            </a:r>
          </a:p>
        </p:txBody>
      </p:sp>
      <p:sp>
        <p:nvSpPr>
          <p:cNvPr id="78854" name="Text Box 7">
            <a:extLst>
              <a:ext uri="{FF2B5EF4-FFF2-40B4-BE49-F238E27FC236}">
                <a16:creationId xmlns:a16="http://schemas.microsoft.com/office/drawing/2014/main" id="{3D566BA0-C9DB-4A8A-9D5F-AA852E922C98}"/>
              </a:ext>
            </a:extLst>
          </p:cNvPr>
          <p:cNvSpPr txBox="1">
            <a:spLocks noChangeArrowheads="1"/>
          </p:cNvSpPr>
          <p:nvPr/>
        </p:nvSpPr>
        <p:spPr bwMode="auto">
          <a:xfrm>
            <a:off x="249238" y="1673225"/>
            <a:ext cx="2689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zh-TW" altLang="en-US" sz="2400">
                <a:latin typeface="Times New Roman" panose="02020603050405020304" pitchFamily="18" charset="0"/>
                <a:ea typeface="PMingLiU" panose="02020500000000000000" pitchFamily="18" charset="-120"/>
              </a:rPr>
              <a:t>256</a:t>
            </a:r>
            <a:r>
              <a:rPr kumimoji="0" lang="en-US" altLang="zh-TW" sz="2400">
                <a:latin typeface="Times New Roman" panose="02020603050405020304" pitchFamily="18" charset="0"/>
                <a:ea typeface="PMingLiU" panose="02020500000000000000" pitchFamily="18" charset="-120"/>
              </a:rPr>
              <a:t>K = 2</a:t>
            </a:r>
            <a:r>
              <a:rPr kumimoji="0" lang="en-US" altLang="zh-TW" sz="2400" baseline="30000">
                <a:latin typeface="Times New Roman" panose="02020603050405020304" pitchFamily="18" charset="0"/>
                <a:ea typeface="PMingLiU" panose="02020500000000000000" pitchFamily="18" charset="-120"/>
              </a:rPr>
              <a:t>18</a:t>
            </a:r>
            <a:r>
              <a:rPr kumimoji="0" lang="en-US" altLang="zh-TW" sz="2400">
                <a:latin typeface="Times New Roman" panose="02020603050405020304" pitchFamily="18" charset="0"/>
                <a:ea typeface="PMingLiU" panose="02020500000000000000" pitchFamily="18" charset="-120"/>
              </a:rPr>
              <a:t> = 2</a:t>
            </a:r>
            <a:r>
              <a:rPr kumimoji="0" lang="en-US" altLang="zh-TW" sz="2400" baseline="30000">
                <a:latin typeface="Times New Roman" panose="02020603050405020304" pitchFamily="18" charset="0"/>
                <a:ea typeface="PMingLiU" panose="02020500000000000000" pitchFamily="18" charset="-120"/>
              </a:rPr>
              <a:t>9</a:t>
            </a:r>
            <a:r>
              <a:rPr kumimoji="0" lang="en-US" altLang="zh-TW" sz="2400">
                <a:latin typeface="Times New Roman" panose="02020603050405020304" pitchFamily="18" charset="0"/>
                <a:ea typeface="PMingLiU" panose="02020500000000000000" pitchFamily="18" charset="-120"/>
              </a:rPr>
              <a:t> </a:t>
            </a:r>
            <a:r>
              <a:rPr kumimoji="0" lang="en-US" altLang="zh-TW" sz="2400">
                <a:latin typeface="Times New Roman" panose="02020603050405020304" pitchFamily="18" charset="0"/>
                <a:ea typeface="PMingLiU" panose="02020500000000000000" pitchFamily="18" charset="-120"/>
                <a:sym typeface="Symbol" panose="05050102010706020507" pitchFamily="18" charset="2"/>
              </a:rPr>
              <a:t></a:t>
            </a:r>
            <a:r>
              <a:rPr kumimoji="0" lang="en-US" altLang="zh-TW" sz="2400">
                <a:latin typeface="Times New Roman" panose="02020603050405020304" pitchFamily="18" charset="0"/>
                <a:ea typeface="PMingLiU" panose="02020500000000000000" pitchFamily="18" charset="-120"/>
              </a:rPr>
              <a:t> 2</a:t>
            </a:r>
            <a:r>
              <a:rPr kumimoji="0" lang="en-US" altLang="zh-TW" sz="2400" baseline="30000">
                <a:latin typeface="Times New Roman" panose="02020603050405020304" pitchFamily="18" charset="0"/>
                <a:ea typeface="PMingLiU" panose="02020500000000000000" pitchFamily="18" charset="-120"/>
              </a:rPr>
              <a:t>9</a:t>
            </a:r>
          </a:p>
        </p:txBody>
      </p:sp>
      <p:sp>
        <p:nvSpPr>
          <p:cNvPr id="78855" name="Text Box 8">
            <a:extLst>
              <a:ext uri="{FF2B5EF4-FFF2-40B4-BE49-F238E27FC236}">
                <a16:creationId xmlns:a16="http://schemas.microsoft.com/office/drawing/2014/main" id="{E0328E3D-3336-4B1E-A011-5F9F6AD15A7B}"/>
              </a:ext>
            </a:extLst>
          </p:cNvPr>
          <p:cNvSpPr txBox="1">
            <a:spLocks noChangeArrowheads="1"/>
          </p:cNvSpPr>
          <p:nvPr/>
        </p:nvSpPr>
        <p:spPr bwMode="auto">
          <a:xfrm>
            <a:off x="249238" y="2130425"/>
            <a:ext cx="1925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zh-TW" altLang="en-US" sz="2400">
                <a:latin typeface="Times New Roman" panose="02020603050405020304" pitchFamily="18" charset="0"/>
                <a:ea typeface="PMingLiU" panose="02020500000000000000" pitchFamily="18" charset="-120"/>
              </a:rPr>
              <a:t>1 </a:t>
            </a:r>
            <a:r>
              <a:rPr kumimoji="0" lang="en-US" altLang="zh-TW" sz="2400">
                <a:latin typeface="Times New Roman" panose="02020603050405020304" pitchFamily="18" charset="0"/>
                <a:ea typeface="PMingLiU" panose="02020500000000000000" pitchFamily="18" charset="-120"/>
              </a:rPr>
              <a:t>byte = 8 bits</a:t>
            </a:r>
          </a:p>
        </p:txBody>
      </p:sp>
      <p:sp>
        <p:nvSpPr>
          <p:cNvPr id="78856" name="직사각형 1">
            <a:extLst>
              <a:ext uri="{FF2B5EF4-FFF2-40B4-BE49-F238E27FC236}">
                <a16:creationId xmlns:a16="http://schemas.microsoft.com/office/drawing/2014/main" id="{C96C8CB2-0955-4C91-ACA2-907822C5299D}"/>
              </a:ext>
            </a:extLst>
          </p:cNvPr>
          <p:cNvSpPr>
            <a:spLocks noChangeArrowheads="1"/>
          </p:cNvSpPr>
          <p:nvPr/>
        </p:nvSpPr>
        <p:spPr bwMode="auto">
          <a:xfrm>
            <a:off x="250825" y="3284538"/>
            <a:ext cx="4572000" cy="289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lang="en-US" altLang="ko-KR" sz="1400">
                <a:latin typeface="Times New Roman" panose="02020603050405020304" pitchFamily="18" charset="0"/>
                <a:ea typeface="굴림" panose="020B0600000101010101" pitchFamily="50" charset="-127"/>
              </a:rPr>
              <a:t>If a RAM chip contains only 1 bit per word, then clearly we will need at least a number of chips equal to the number of bits per word. </a:t>
            </a:r>
          </a:p>
          <a:p>
            <a:pPr>
              <a:spcBef>
                <a:spcPct val="0"/>
              </a:spcBef>
              <a:buClrTx/>
              <a:buFontTx/>
              <a:buNone/>
            </a:pPr>
            <a:endParaRPr lang="en-US" altLang="ko-KR" sz="1400">
              <a:latin typeface="Times New Roman" panose="02020603050405020304" pitchFamily="18" charset="0"/>
              <a:ea typeface="굴림" panose="020B0600000101010101" pitchFamily="50" charset="-127"/>
            </a:endParaRPr>
          </a:p>
          <a:p>
            <a:pPr>
              <a:spcBef>
                <a:spcPct val="0"/>
              </a:spcBef>
              <a:buClrTx/>
              <a:buFontTx/>
              <a:buNone/>
            </a:pPr>
            <a:r>
              <a:rPr lang="en-US" altLang="ko-KR" sz="1400">
                <a:latin typeface="Times New Roman" panose="02020603050405020304" pitchFamily="18" charset="0"/>
                <a:ea typeface="굴림" panose="020B0600000101010101" pitchFamily="50" charset="-127"/>
              </a:rPr>
              <a:t>This figure shows how a memory module consisting of 256K 8-bit words could be organized. </a:t>
            </a:r>
          </a:p>
          <a:p>
            <a:pPr>
              <a:spcBef>
                <a:spcPct val="0"/>
              </a:spcBef>
              <a:buClrTx/>
              <a:buFontTx/>
              <a:buNone/>
            </a:pPr>
            <a:endParaRPr lang="en-US" altLang="ko-KR" sz="1400">
              <a:latin typeface="Times New Roman" panose="02020603050405020304" pitchFamily="18" charset="0"/>
              <a:ea typeface="굴림" panose="020B0600000101010101" pitchFamily="50" charset="-127"/>
            </a:endParaRPr>
          </a:p>
          <a:p>
            <a:pPr>
              <a:spcBef>
                <a:spcPct val="0"/>
              </a:spcBef>
              <a:buClrTx/>
              <a:buFontTx/>
              <a:buNone/>
            </a:pPr>
            <a:r>
              <a:rPr lang="en-US" altLang="ko-KR" sz="1400">
                <a:latin typeface="Times New Roman" panose="02020603050405020304" pitchFamily="18" charset="0"/>
                <a:ea typeface="굴림" panose="020B0600000101010101" pitchFamily="50" charset="-127"/>
              </a:rPr>
              <a:t>For 256K words, an 18-bit address is needed and is supplied to the module from some external source (e.g., the address lines of a bus to which the module is attached).</a:t>
            </a:r>
          </a:p>
          <a:p>
            <a:pPr>
              <a:spcBef>
                <a:spcPct val="0"/>
              </a:spcBef>
              <a:buClrTx/>
              <a:buFontTx/>
              <a:buNone/>
            </a:pPr>
            <a:endParaRPr lang="en-US" altLang="ko-KR" sz="1400">
              <a:latin typeface="Times New Roman" panose="02020603050405020304" pitchFamily="18" charset="0"/>
              <a:ea typeface="굴림" panose="020B0600000101010101" pitchFamily="50" charset="-127"/>
            </a:endParaRPr>
          </a:p>
          <a:p>
            <a:pPr>
              <a:spcBef>
                <a:spcPct val="0"/>
              </a:spcBef>
              <a:buClrTx/>
              <a:buFontTx/>
              <a:buNone/>
            </a:pPr>
            <a:r>
              <a:rPr lang="en-US" altLang="ko-KR" sz="1400">
                <a:latin typeface="Times New Roman" panose="02020603050405020304" pitchFamily="18" charset="0"/>
                <a:ea typeface="굴림" panose="020B0600000101010101" pitchFamily="50" charset="-127"/>
              </a:rPr>
              <a:t>The address is presented to 8 256K * 1-bit chips, each of which provides the input/output of 1 bit.</a:t>
            </a:r>
            <a:endParaRPr kumimoji="0" lang="en-GB" altLang="ko-KR" sz="1400">
              <a:latin typeface="Times New Roman" panose="02020603050405020304" pitchFamily="18" charset="0"/>
              <a:ea typeface="굴림" panose="020B0600000101010101" pitchFamily="50" charset="-127"/>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슬라이드 번호 개체 틀 3">
            <a:extLst>
              <a:ext uri="{FF2B5EF4-FFF2-40B4-BE49-F238E27FC236}">
                <a16:creationId xmlns:a16="http://schemas.microsoft.com/office/drawing/2014/main" id="{C49FA8AA-CFC5-4DB3-AE20-2A8EE6277B80}"/>
              </a:ext>
            </a:extLst>
          </p:cNvPr>
          <p:cNvSpPr>
            <a:spLocks noGrp="1"/>
          </p:cNvSpPr>
          <p:nvPr>
            <p:ph type="sldNum" sz="quarter" idx="4294967295"/>
          </p:nvPr>
        </p:nvSpPr>
        <p:spPr bwMode="auto">
          <a:xfrm>
            <a:off x="7924800" y="6400800"/>
            <a:ext cx="6858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81182B08-6E4E-4F15-A32D-AD59991E9148}" type="slidenum">
              <a:rPr kumimoji="0" lang="en-US" altLang="ko-KR" sz="2400">
                <a:latin typeface="Times New Roman" panose="02020603050405020304" pitchFamily="18" charset="0"/>
                <a:ea typeface="굴림" panose="020B0600000101010101" pitchFamily="50" charset="-127"/>
              </a:rPr>
              <a:pPr>
                <a:spcBef>
                  <a:spcPct val="0"/>
                </a:spcBef>
                <a:buClrTx/>
                <a:buFontTx/>
                <a:buNone/>
              </a:pPr>
              <a:t>37</a:t>
            </a:fld>
            <a:endParaRPr kumimoji="0" lang="en-US" altLang="ko-KR" sz="2400">
              <a:latin typeface="Times New Roman" panose="02020603050405020304" pitchFamily="18" charset="0"/>
              <a:ea typeface="굴림" panose="020B0600000101010101" pitchFamily="50" charset="-127"/>
            </a:endParaRPr>
          </a:p>
        </p:txBody>
      </p:sp>
      <p:sp>
        <p:nvSpPr>
          <p:cNvPr id="80899" name="Rectangle 2">
            <a:extLst>
              <a:ext uri="{FF2B5EF4-FFF2-40B4-BE49-F238E27FC236}">
                <a16:creationId xmlns:a16="http://schemas.microsoft.com/office/drawing/2014/main" id="{90FBE8D6-2985-477E-9895-1D086CE986C5}"/>
              </a:ext>
            </a:extLst>
          </p:cNvPr>
          <p:cNvSpPr>
            <a:spLocks noGrp="1" noChangeArrowheads="1"/>
          </p:cNvSpPr>
          <p:nvPr>
            <p:ph type="title"/>
          </p:nvPr>
        </p:nvSpPr>
        <p:spPr/>
        <p:txBody>
          <a:bodyPr/>
          <a:lstStyle/>
          <a:p>
            <a:r>
              <a:rPr lang="en-US" altLang="ko-KR">
                <a:ea typeface="굴림" panose="020B0600000101010101" pitchFamily="50" charset="-127"/>
              </a:rPr>
              <a:t>1MByte Module Organization</a:t>
            </a:r>
            <a:endParaRPr lang="en-GB" altLang="ko-KR">
              <a:ea typeface="굴림" panose="020B0600000101010101" pitchFamily="50" charset="-127"/>
            </a:endParaRPr>
          </a:p>
        </p:txBody>
      </p:sp>
      <p:pic>
        <p:nvPicPr>
          <p:cNvPr id="80900" name="Picture 3" descr="p116">
            <a:extLst>
              <a:ext uri="{FF2B5EF4-FFF2-40B4-BE49-F238E27FC236}">
                <a16:creationId xmlns:a16="http://schemas.microsoft.com/office/drawing/2014/main" id="{A546B364-7355-493C-B6DF-91514087EC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685" t="15846" b="11125"/>
          <a:stretch>
            <a:fillRect/>
          </a:stretch>
        </p:blipFill>
        <p:spPr bwMode="auto">
          <a:xfrm>
            <a:off x="533400" y="1627188"/>
            <a:ext cx="8229600" cy="523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1" name="Rectangle 4">
            <a:extLst>
              <a:ext uri="{FF2B5EF4-FFF2-40B4-BE49-F238E27FC236}">
                <a16:creationId xmlns:a16="http://schemas.microsoft.com/office/drawing/2014/main" id="{73E97EF6-52A6-4D6B-9D5D-0F789C6C15C9}"/>
              </a:ext>
            </a:extLst>
          </p:cNvPr>
          <p:cNvSpPr>
            <a:spLocks noChangeArrowheads="1"/>
          </p:cNvSpPr>
          <p:nvPr/>
        </p:nvSpPr>
        <p:spPr bwMode="auto">
          <a:xfrm>
            <a:off x="5210175" y="1450975"/>
            <a:ext cx="1143000" cy="515302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0902" name="Rectangle 5">
            <a:extLst>
              <a:ext uri="{FF2B5EF4-FFF2-40B4-BE49-F238E27FC236}">
                <a16:creationId xmlns:a16="http://schemas.microsoft.com/office/drawing/2014/main" id="{E85A3B27-EAAF-452B-9BC2-A2A08E97716A}"/>
              </a:ext>
            </a:extLst>
          </p:cNvPr>
          <p:cNvSpPr>
            <a:spLocks noChangeArrowheads="1"/>
          </p:cNvSpPr>
          <p:nvPr/>
        </p:nvSpPr>
        <p:spPr bwMode="auto">
          <a:xfrm>
            <a:off x="3752850" y="1450975"/>
            <a:ext cx="1143000" cy="5148263"/>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0903" name="Rectangle 6">
            <a:extLst>
              <a:ext uri="{FF2B5EF4-FFF2-40B4-BE49-F238E27FC236}">
                <a16:creationId xmlns:a16="http://schemas.microsoft.com/office/drawing/2014/main" id="{27428549-6474-4C34-A206-D39AC8D15100}"/>
              </a:ext>
            </a:extLst>
          </p:cNvPr>
          <p:cNvSpPr>
            <a:spLocks noChangeArrowheads="1"/>
          </p:cNvSpPr>
          <p:nvPr/>
        </p:nvSpPr>
        <p:spPr bwMode="auto">
          <a:xfrm>
            <a:off x="2286000" y="1450975"/>
            <a:ext cx="1143000" cy="5148263"/>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0904" name="Rectangle 7">
            <a:extLst>
              <a:ext uri="{FF2B5EF4-FFF2-40B4-BE49-F238E27FC236}">
                <a16:creationId xmlns:a16="http://schemas.microsoft.com/office/drawing/2014/main" id="{169C792D-4792-4D25-B2DA-B7CC6D66828C}"/>
              </a:ext>
            </a:extLst>
          </p:cNvPr>
          <p:cNvSpPr>
            <a:spLocks noChangeArrowheads="1"/>
          </p:cNvSpPr>
          <p:nvPr/>
        </p:nvSpPr>
        <p:spPr bwMode="auto">
          <a:xfrm>
            <a:off x="6629400" y="1450975"/>
            <a:ext cx="1143000" cy="5148263"/>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0905" name="Text Box 8">
            <a:extLst>
              <a:ext uri="{FF2B5EF4-FFF2-40B4-BE49-F238E27FC236}">
                <a16:creationId xmlns:a16="http://schemas.microsoft.com/office/drawing/2014/main" id="{A00747F4-AD71-40C1-9835-1972495FA55B}"/>
              </a:ext>
            </a:extLst>
          </p:cNvPr>
          <p:cNvSpPr txBox="1">
            <a:spLocks noChangeArrowheads="1"/>
          </p:cNvSpPr>
          <p:nvPr/>
        </p:nvSpPr>
        <p:spPr bwMode="auto">
          <a:xfrm>
            <a:off x="2133600" y="1450975"/>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50000"/>
              </a:spcBef>
              <a:buClrTx/>
              <a:buFontTx/>
              <a:buNone/>
            </a:pPr>
            <a:r>
              <a:rPr kumimoji="0" lang="en-US" altLang="ko-KR" sz="2400">
                <a:solidFill>
                  <a:srgbClr val="FF0000"/>
                </a:solidFill>
                <a:latin typeface="Times New Roman" panose="02020603050405020304" pitchFamily="18" charset="0"/>
                <a:ea typeface="굴림" panose="020B0600000101010101" pitchFamily="50" charset="-127"/>
              </a:rPr>
              <a:t>256 k</a:t>
            </a:r>
          </a:p>
        </p:txBody>
      </p:sp>
      <p:sp>
        <p:nvSpPr>
          <p:cNvPr id="80906" name="Text Box 9">
            <a:extLst>
              <a:ext uri="{FF2B5EF4-FFF2-40B4-BE49-F238E27FC236}">
                <a16:creationId xmlns:a16="http://schemas.microsoft.com/office/drawing/2014/main" id="{F554F16E-F643-4908-BF64-D3EA3600D35E}"/>
              </a:ext>
            </a:extLst>
          </p:cNvPr>
          <p:cNvSpPr txBox="1">
            <a:spLocks noChangeArrowheads="1"/>
          </p:cNvSpPr>
          <p:nvPr/>
        </p:nvSpPr>
        <p:spPr bwMode="auto">
          <a:xfrm>
            <a:off x="3609975" y="1450975"/>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50000"/>
              </a:spcBef>
              <a:buClrTx/>
              <a:buFontTx/>
              <a:buNone/>
            </a:pPr>
            <a:r>
              <a:rPr kumimoji="0" lang="en-US" altLang="ko-KR" sz="2400">
                <a:solidFill>
                  <a:srgbClr val="FF0000"/>
                </a:solidFill>
                <a:latin typeface="Times New Roman" panose="02020603050405020304" pitchFamily="18" charset="0"/>
                <a:ea typeface="굴림" panose="020B0600000101010101" pitchFamily="50" charset="-127"/>
              </a:rPr>
              <a:t>256 k</a:t>
            </a:r>
          </a:p>
        </p:txBody>
      </p:sp>
      <p:sp>
        <p:nvSpPr>
          <p:cNvPr id="80907" name="Text Box 10">
            <a:extLst>
              <a:ext uri="{FF2B5EF4-FFF2-40B4-BE49-F238E27FC236}">
                <a16:creationId xmlns:a16="http://schemas.microsoft.com/office/drawing/2014/main" id="{7EEEA4E7-5E03-43F7-B271-1E2AD9042F66}"/>
              </a:ext>
            </a:extLst>
          </p:cNvPr>
          <p:cNvSpPr txBox="1">
            <a:spLocks noChangeArrowheads="1"/>
          </p:cNvSpPr>
          <p:nvPr/>
        </p:nvSpPr>
        <p:spPr bwMode="auto">
          <a:xfrm>
            <a:off x="5072063" y="1450975"/>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50000"/>
              </a:spcBef>
              <a:buClrTx/>
              <a:buFontTx/>
              <a:buNone/>
            </a:pPr>
            <a:r>
              <a:rPr kumimoji="0" lang="en-US" altLang="ko-KR" sz="2400">
                <a:solidFill>
                  <a:srgbClr val="FF0000"/>
                </a:solidFill>
                <a:latin typeface="Times New Roman" panose="02020603050405020304" pitchFamily="18" charset="0"/>
                <a:ea typeface="굴림" panose="020B0600000101010101" pitchFamily="50" charset="-127"/>
              </a:rPr>
              <a:t>256 k</a:t>
            </a:r>
          </a:p>
        </p:txBody>
      </p:sp>
      <p:sp>
        <p:nvSpPr>
          <p:cNvPr id="80908" name="Text Box 11">
            <a:extLst>
              <a:ext uri="{FF2B5EF4-FFF2-40B4-BE49-F238E27FC236}">
                <a16:creationId xmlns:a16="http://schemas.microsoft.com/office/drawing/2014/main" id="{339E5847-2C8C-4E42-9A62-A07B93D7E813}"/>
              </a:ext>
            </a:extLst>
          </p:cNvPr>
          <p:cNvSpPr txBox="1">
            <a:spLocks noChangeArrowheads="1"/>
          </p:cNvSpPr>
          <p:nvPr/>
        </p:nvSpPr>
        <p:spPr bwMode="auto">
          <a:xfrm>
            <a:off x="6491288" y="1450975"/>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50000"/>
              </a:spcBef>
              <a:buClrTx/>
              <a:buFontTx/>
              <a:buNone/>
            </a:pPr>
            <a:r>
              <a:rPr kumimoji="0" lang="en-US" altLang="ko-KR" sz="2400">
                <a:solidFill>
                  <a:srgbClr val="FF0000"/>
                </a:solidFill>
                <a:latin typeface="Times New Roman" panose="02020603050405020304" pitchFamily="18" charset="0"/>
                <a:ea typeface="굴림" panose="020B0600000101010101" pitchFamily="50" charset="-127"/>
              </a:rPr>
              <a:t>256 k</a:t>
            </a:r>
          </a:p>
        </p:txBody>
      </p:sp>
      <p:sp>
        <p:nvSpPr>
          <p:cNvPr id="80909" name="Text Box 12">
            <a:extLst>
              <a:ext uri="{FF2B5EF4-FFF2-40B4-BE49-F238E27FC236}">
                <a16:creationId xmlns:a16="http://schemas.microsoft.com/office/drawing/2014/main" id="{107D3FE3-5A80-4C9C-9B2A-AEC7DE6DD37B}"/>
              </a:ext>
            </a:extLst>
          </p:cNvPr>
          <p:cNvSpPr txBox="1">
            <a:spLocks noChangeArrowheads="1"/>
          </p:cNvSpPr>
          <p:nvPr/>
        </p:nvSpPr>
        <p:spPr bwMode="auto">
          <a:xfrm>
            <a:off x="2438400" y="1069975"/>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50000"/>
              </a:spcBef>
              <a:buClrTx/>
              <a:buFontTx/>
              <a:buNone/>
            </a:pPr>
            <a:r>
              <a:rPr kumimoji="0" lang="en-US" altLang="ko-KR" sz="2400">
                <a:solidFill>
                  <a:srgbClr val="FF0000"/>
                </a:solidFill>
                <a:latin typeface="Times New Roman" panose="02020603050405020304" pitchFamily="18" charset="0"/>
                <a:ea typeface="굴림" panose="020B0600000101010101" pitchFamily="50" charset="-127"/>
              </a:rPr>
              <a:t>A</a:t>
            </a:r>
          </a:p>
        </p:txBody>
      </p:sp>
      <p:sp>
        <p:nvSpPr>
          <p:cNvPr id="80910" name="Text Box 13">
            <a:extLst>
              <a:ext uri="{FF2B5EF4-FFF2-40B4-BE49-F238E27FC236}">
                <a16:creationId xmlns:a16="http://schemas.microsoft.com/office/drawing/2014/main" id="{1ABCED1B-F00C-4C33-9235-A160B2F99A88}"/>
              </a:ext>
            </a:extLst>
          </p:cNvPr>
          <p:cNvSpPr txBox="1">
            <a:spLocks noChangeArrowheads="1"/>
          </p:cNvSpPr>
          <p:nvPr/>
        </p:nvSpPr>
        <p:spPr bwMode="auto">
          <a:xfrm>
            <a:off x="3886200" y="1069975"/>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50000"/>
              </a:spcBef>
              <a:buClrTx/>
              <a:buFontTx/>
              <a:buNone/>
            </a:pPr>
            <a:r>
              <a:rPr kumimoji="0" lang="en-US" altLang="ko-KR" sz="2400">
                <a:solidFill>
                  <a:srgbClr val="FF0000"/>
                </a:solidFill>
                <a:latin typeface="Times New Roman" panose="02020603050405020304" pitchFamily="18" charset="0"/>
                <a:ea typeface="굴림" panose="020B0600000101010101" pitchFamily="50" charset="-127"/>
              </a:rPr>
              <a:t>B</a:t>
            </a:r>
          </a:p>
        </p:txBody>
      </p:sp>
      <p:sp>
        <p:nvSpPr>
          <p:cNvPr id="80911" name="Text Box 14">
            <a:extLst>
              <a:ext uri="{FF2B5EF4-FFF2-40B4-BE49-F238E27FC236}">
                <a16:creationId xmlns:a16="http://schemas.microsoft.com/office/drawing/2014/main" id="{940C5E7A-B1E4-431C-8A21-2431C53A9594}"/>
              </a:ext>
            </a:extLst>
          </p:cNvPr>
          <p:cNvSpPr txBox="1">
            <a:spLocks noChangeArrowheads="1"/>
          </p:cNvSpPr>
          <p:nvPr/>
        </p:nvSpPr>
        <p:spPr bwMode="auto">
          <a:xfrm>
            <a:off x="5334000" y="1069975"/>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50000"/>
              </a:spcBef>
              <a:buClrTx/>
              <a:buFontTx/>
              <a:buNone/>
            </a:pPr>
            <a:r>
              <a:rPr kumimoji="0" lang="en-US" altLang="ko-KR" sz="2400">
                <a:solidFill>
                  <a:srgbClr val="FF0000"/>
                </a:solidFill>
                <a:latin typeface="Times New Roman" panose="02020603050405020304" pitchFamily="18" charset="0"/>
                <a:ea typeface="굴림" panose="020B0600000101010101" pitchFamily="50" charset="-127"/>
              </a:rPr>
              <a:t>C</a:t>
            </a:r>
          </a:p>
        </p:txBody>
      </p:sp>
      <p:sp>
        <p:nvSpPr>
          <p:cNvPr id="80912" name="Text Box 15">
            <a:extLst>
              <a:ext uri="{FF2B5EF4-FFF2-40B4-BE49-F238E27FC236}">
                <a16:creationId xmlns:a16="http://schemas.microsoft.com/office/drawing/2014/main" id="{DA193BAE-0392-439B-A2A6-1730FAC20CE8}"/>
              </a:ext>
            </a:extLst>
          </p:cNvPr>
          <p:cNvSpPr txBox="1">
            <a:spLocks noChangeArrowheads="1"/>
          </p:cNvSpPr>
          <p:nvPr/>
        </p:nvSpPr>
        <p:spPr bwMode="auto">
          <a:xfrm>
            <a:off x="6781800" y="1069975"/>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50000"/>
              </a:spcBef>
              <a:buClrTx/>
              <a:buFontTx/>
              <a:buNone/>
            </a:pPr>
            <a:r>
              <a:rPr kumimoji="0" lang="en-US" altLang="ko-KR" sz="2400">
                <a:solidFill>
                  <a:srgbClr val="FF0000"/>
                </a:solidFill>
                <a:latin typeface="Times New Roman" panose="02020603050405020304" pitchFamily="18" charset="0"/>
                <a:ea typeface="굴림" panose="020B0600000101010101" pitchFamily="50" charset="-127"/>
              </a:rPr>
              <a:t>D</a:t>
            </a:r>
          </a:p>
        </p:txBody>
      </p:sp>
      <p:sp>
        <p:nvSpPr>
          <p:cNvPr id="80913" name="Line 16">
            <a:extLst>
              <a:ext uri="{FF2B5EF4-FFF2-40B4-BE49-F238E27FC236}">
                <a16:creationId xmlns:a16="http://schemas.microsoft.com/office/drawing/2014/main" id="{304D5948-1CA0-41EA-B533-635D23AD54FC}"/>
              </a:ext>
            </a:extLst>
          </p:cNvPr>
          <p:cNvSpPr>
            <a:spLocks noChangeShapeType="1"/>
          </p:cNvSpPr>
          <p:nvPr/>
        </p:nvSpPr>
        <p:spPr bwMode="auto">
          <a:xfrm flipV="1">
            <a:off x="1552575" y="5718175"/>
            <a:ext cx="0" cy="8382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ko-KR" altLang="en-US"/>
          </a:p>
        </p:txBody>
      </p:sp>
      <p:sp>
        <p:nvSpPr>
          <p:cNvPr id="80914" name="Rectangle 17">
            <a:extLst>
              <a:ext uri="{FF2B5EF4-FFF2-40B4-BE49-F238E27FC236}">
                <a16:creationId xmlns:a16="http://schemas.microsoft.com/office/drawing/2014/main" id="{6B4AC265-969B-4667-8E74-1CFFD51FBC2B}"/>
              </a:ext>
            </a:extLst>
          </p:cNvPr>
          <p:cNvSpPr>
            <a:spLocks noChangeArrowheads="1"/>
          </p:cNvSpPr>
          <p:nvPr/>
        </p:nvSpPr>
        <p:spPr bwMode="auto">
          <a:xfrm>
            <a:off x="533400" y="1125538"/>
            <a:ext cx="1066800" cy="431800"/>
          </a:xfrm>
          <a:prstGeom prst="rect">
            <a:avLst/>
          </a:prstGeom>
          <a:solidFill>
            <a:srgbClr val="FFFF99"/>
          </a:solidFill>
          <a:ln w="9525">
            <a:solidFill>
              <a:srgbClr val="000000"/>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ko-KR" sz="2400">
                <a:latin typeface="Times New Roman" panose="02020603050405020304" pitchFamily="18" charset="0"/>
                <a:ea typeface="굴림" panose="020B0600000101010101" pitchFamily="50" charset="-127"/>
              </a:rPr>
              <a:t>Groups</a:t>
            </a:r>
          </a:p>
        </p:txBody>
      </p:sp>
      <p:sp>
        <p:nvSpPr>
          <p:cNvPr id="80915" name="Line 18">
            <a:extLst>
              <a:ext uri="{FF2B5EF4-FFF2-40B4-BE49-F238E27FC236}">
                <a16:creationId xmlns:a16="http://schemas.microsoft.com/office/drawing/2014/main" id="{111ED20D-F48F-4EAB-BA72-3979BCA74371}"/>
              </a:ext>
            </a:extLst>
          </p:cNvPr>
          <p:cNvSpPr>
            <a:spLocks noChangeShapeType="1"/>
          </p:cNvSpPr>
          <p:nvPr/>
        </p:nvSpPr>
        <p:spPr bwMode="auto">
          <a:xfrm>
            <a:off x="1600200" y="1298575"/>
            <a:ext cx="8382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ko-KR" altLang="en-US"/>
          </a:p>
        </p:txBody>
      </p:sp>
      <p:sp>
        <p:nvSpPr>
          <p:cNvPr id="80916" name="Line 19">
            <a:extLst>
              <a:ext uri="{FF2B5EF4-FFF2-40B4-BE49-F238E27FC236}">
                <a16:creationId xmlns:a16="http://schemas.microsoft.com/office/drawing/2014/main" id="{F729E339-54BD-4BCC-BEDC-76F78C5ED67F}"/>
              </a:ext>
            </a:extLst>
          </p:cNvPr>
          <p:cNvSpPr>
            <a:spLocks noChangeShapeType="1"/>
          </p:cNvSpPr>
          <p:nvPr/>
        </p:nvSpPr>
        <p:spPr bwMode="auto">
          <a:xfrm flipV="1">
            <a:off x="381000" y="4422775"/>
            <a:ext cx="5334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ko-KR" altLang="en-US"/>
          </a:p>
        </p:txBody>
      </p:sp>
      <p:sp>
        <p:nvSpPr>
          <p:cNvPr id="80917" name="TextBox 21">
            <a:extLst>
              <a:ext uri="{FF2B5EF4-FFF2-40B4-BE49-F238E27FC236}">
                <a16:creationId xmlns:a16="http://schemas.microsoft.com/office/drawing/2014/main" id="{913C83CA-3FDB-4B8C-9CAD-1ACC7CAB7A63}"/>
              </a:ext>
            </a:extLst>
          </p:cNvPr>
          <p:cNvSpPr txBox="1">
            <a:spLocks noChangeArrowheads="1"/>
          </p:cNvSpPr>
          <p:nvPr/>
        </p:nvSpPr>
        <p:spPr bwMode="auto">
          <a:xfrm>
            <a:off x="357188" y="6550025"/>
            <a:ext cx="23225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400">
                <a:latin typeface="새굴림" panose="02030600000101010101" pitchFamily="18" charset="-127"/>
                <a:ea typeface="새굴림" panose="02030600000101010101" pitchFamily="18" charset="-127"/>
              </a:rPr>
              <a:t>4</a:t>
            </a:r>
            <a:r>
              <a:rPr kumimoji="0" lang="ko-KR" altLang="en-US" sz="1400">
                <a:latin typeface="새굴림" panose="02030600000101010101" pitchFamily="18" charset="-127"/>
                <a:ea typeface="새굴림" panose="02030600000101010101" pitchFamily="18" charset="-127"/>
              </a:rPr>
              <a:t>개 </a:t>
            </a:r>
            <a:r>
              <a:rPr kumimoji="0" lang="en-US" altLang="ko-KR" sz="1400">
                <a:latin typeface="새굴림" panose="02030600000101010101" pitchFamily="18" charset="-127"/>
                <a:ea typeface="새굴림" panose="02030600000101010101" pitchFamily="18" charset="-127"/>
              </a:rPr>
              <a:t>256K</a:t>
            </a:r>
            <a:r>
              <a:rPr kumimoji="0" lang="ko-KR" altLang="en-US" sz="1400">
                <a:latin typeface="새굴림" panose="02030600000101010101" pitchFamily="18" charset="-127"/>
                <a:ea typeface="새굴림" panose="02030600000101010101" pitchFamily="18" charset="-127"/>
              </a:rPr>
              <a:t>중에서 하나 선택</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7D1825C1-42DF-41F1-8DA1-BF985B8DC314}"/>
              </a:ext>
            </a:extLst>
          </p:cNvPr>
          <p:cNvSpPr>
            <a:spLocks noGrp="1" noChangeArrowheads="1"/>
          </p:cNvSpPr>
          <p:nvPr>
            <p:ph type="title"/>
          </p:nvPr>
        </p:nvSpPr>
        <p:spPr/>
        <p:txBody>
          <a:bodyPr/>
          <a:lstStyle/>
          <a:p>
            <a:r>
              <a:rPr lang="en-US" altLang="ko-KR">
                <a:ea typeface="굴림" panose="020B0600000101010101" pitchFamily="50" charset="-127"/>
              </a:rPr>
              <a:t>Error Correction</a:t>
            </a:r>
          </a:p>
        </p:txBody>
      </p:sp>
      <p:sp>
        <p:nvSpPr>
          <p:cNvPr id="82947" name="Rectangle 3">
            <a:extLst>
              <a:ext uri="{FF2B5EF4-FFF2-40B4-BE49-F238E27FC236}">
                <a16:creationId xmlns:a16="http://schemas.microsoft.com/office/drawing/2014/main" id="{C7577ABD-0E85-4DB7-99F5-44DF37C9E6ED}"/>
              </a:ext>
            </a:extLst>
          </p:cNvPr>
          <p:cNvSpPr>
            <a:spLocks noGrp="1" noChangeArrowheads="1"/>
          </p:cNvSpPr>
          <p:nvPr>
            <p:ph type="body" idx="1"/>
          </p:nvPr>
        </p:nvSpPr>
        <p:spPr/>
        <p:txBody>
          <a:bodyPr/>
          <a:lstStyle/>
          <a:p>
            <a:r>
              <a:rPr lang="en-US" altLang="ko-KR">
                <a:ea typeface="굴림" panose="020B0600000101010101" pitchFamily="50" charset="-127"/>
              </a:rPr>
              <a:t>Hard Failure</a:t>
            </a:r>
          </a:p>
          <a:p>
            <a:pPr lvl="1"/>
            <a:r>
              <a:rPr lang="en-US" altLang="ko-KR">
                <a:solidFill>
                  <a:srgbClr val="0070C0"/>
                </a:solidFill>
                <a:ea typeface="굴림" panose="020B0600000101010101" pitchFamily="50" charset="-127"/>
              </a:rPr>
              <a:t>Permanent defect</a:t>
            </a:r>
          </a:p>
          <a:p>
            <a:r>
              <a:rPr lang="en-US" altLang="ko-KR">
                <a:ea typeface="굴림" panose="020B0600000101010101" pitchFamily="50" charset="-127"/>
              </a:rPr>
              <a:t>Soft Error</a:t>
            </a:r>
          </a:p>
          <a:p>
            <a:pPr lvl="1"/>
            <a:r>
              <a:rPr lang="en-US" altLang="ko-KR">
                <a:solidFill>
                  <a:srgbClr val="0070C0"/>
                </a:solidFill>
                <a:ea typeface="굴림" panose="020B0600000101010101" pitchFamily="50" charset="-127"/>
              </a:rPr>
              <a:t>Random, non-destructive</a:t>
            </a:r>
          </a:p>
          <a:p>
            <a:pPr lvl="1"/>
            <a:r>
              <a:rPr lang="en-US" altLang="ko-KR">
                <a:solidFill>
                  <a:srgbClr val="0070C0"/>
                </a:solidFill>
                <a:ea typeface="굴림" panose="020B0600000101010101" pitchFamily="50" charset="-127"/>
              </a:rPr>
              <a:t>No permanent damage to memory</a:t>
            </a:r>
          </a:p>
          <a:p>
            <a:r>
              <a:rPr lang="en-US" altLang="ko-KR">
                <a:ea typeface="굴림" panose="020B0600000101010101" pitchFamily="50" charset="-127"/>
              </a:rPr>
              <a:t>Detected using Hamming error correcting code</a:t>
            </a:r>
          </a:p>
          <a:p>
            <a:r>
              <a:rPr lang="en-US" altLang="ko-KR">
                <a:ea typeface="굴림" panose="020B0600000101010101" pitchFamily="50" charset="-127"/>
              </a:rPr>
              <a:t>Logic included to detect/correct errors using Hamming error correcting code</a:t>
            </a:r>
          </a:p>
          <a:p>
            <a:pPr lvl="1"/>
            <a:r>
              <a:rPr lang="en-US" altLang="ko-KR">
                <a:solidFill>
                  <a:srgbClr val="0070C0"/>
                </a:solidFill>
                <a:ea typeface="굴림" panose="020B0600000101010101" pitchFamily="50" charset="-127"/>
              </a:rPr>
              <a:t>For an </a:t>
            </a:r>
            <a:r>
              <a:rPr lang="en-US" altLang="ko-KR" i="1">
                <a:solidFill>
                  <a:srgbClr val="0070C0"/>
                </a:solidFill>
                <a:ea typeface="굴림" panose="020B0600000101010101" pitchFamily="50" charset="-127"/>
              </a:rPr>
              <a:t>M</a:t>
            </a:r>
            <a:r>
              <a:rPr lang="en-US" altLang="ko-KR">
                <a:solidFill>
                  <a:srgbClr val="0070C0"/>
                </a:solidFill>
                <a:ea typeface="굴림" panose="020B0600000101010101" pitchFamily="50" charset="-127"/>
              </a:rPr>
              <a:t>-bit data,</a:t>
            </a:r>
          </a:p>
          <a:p>
            <a:pPr lvl="1">
              <a:buFont typeface="Marlett" pitchFamily="2" charset="2"/>
              <a:buNone/>
            </a:pPr>
            <a:r>
              <a:rPr lang="en-US" altLang="ko-KR">
                <a:ea typeface="굴림" panose="020B0600000101010101" pitchFamily="50" charset="-127"/>
              </a:rPr>
              <a:t>		   </a:t>
            </a:r>
            <a:r>
              <a:rPr lang="en-US" altLang="ko-KR" i="1">
                <a:ea typeface="굴림" panose="020B0600000101010101" pitchFamily="50" charset="-127"/>
              </a:rPr>
              <a:t>M</a:t>
            </a:r>
            <a:r>
              <a:rPr lang="en-US" altLang="ko-KR">
                <a:ea typeface="굴림" panose="020B0600000101010101" pitchFamily="50" charset="-127"/>
              </a:rPr>
              <a:t>-bit data + </a:t>
            </a:r>
            <a:r>
              <a:rPr lang="en-US" altLang="ko-KR" i="1">
                <a:ea typeface="굴림" panose="020B0600000101010101" pitchFamily="50" charset="-127"/>
              </a:rPr>
              <a:t>K</a:t>
            </a:r>
            <a:r>
              <a:rPr lang="en-US" altLang="ko-KR">
                <a:ea typeface="굴림" panose="020B0600000101010101" pitchFamily="50" charset="-127"/>
              </a:rPr>
              <a:t>-bit code 					= (</a:t>
            </a:r>
            <a:r>
              <a:rPr lang="en-US" altLang="ko-KR" i="1">
                <a:ea typeface="굴림" panose="020B0600000101010101" pitchFamily="50" charset="-127"/>
              </a:rPr>
              <a:t>M</a:t>
            </a:r>
            <a:r>
              <a:rPr lang="en-US" altLang="ko-KR">
                <a:ea typeface="굴림" panose="020B0600000101010101" pitchFamily="50" charset="-127"/>
              </a:rPr>
              <a:t>+</a:t>
            </a:r>
            <a:r>
              <a:rPr lang="en-US" altLang="ko-KR" i="1">
                <a:ea typeface="굴림" panose="020B0600000101010101" pitchFamily="50" charset="-127"/>
              </a:rPr>
              <a:t>K</a:t>
            </a:r>
            <a:r>
              <a:rPr lang="en-US" altLang="ko-KR">
                <a:ea typeface="굴림" panose="020B0600000101010101" pitchFamily="50" charset="-127"/>
              </a:rPr>
              <a:t>)-bit codeword is stored</a:t>
            </a:r>
          </a:p>
          <a:p>
            <a:endParaRPr lang="en-US" altLang="ko-KR">
              <a:ea typeface="굴림" panose="020B0600000101010101" pitchFamily="50" charset="-127"/>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슬라이드 번호 개체 틀 4">
            <a:extLst>
              <a:ext uri="{FF2B5EF4-FFF2-40B4-BE49-F238E27FC236}">
                <a16:creationId xmlns:a16="http://schemas.microsoft.com/office/drawing/2014/main" id="{FEDA5895-2417-4381-8396-A10D8CACD636}"/>
              </a:ext>
            </a:extLst>
          </p:cNvPr>
          <p:cNvSpPr>
            <a:spLocks noGrp="1"/>
          </p:cNvSpPr>
          <p:nvPr>
            <p:ph type="sldNum" sz="quarter" idx="4294967295"/>
          </p:nvPr>
        </p:nvSpPr>
        <p:spPr bwMode="auto">
          <a:xfrm>
            <a:off x="7924800" y="6400800"/>
            <a:ext cx="6858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D5BE1336-A290-4AB9-8F1A-D279DF19D511}" type="slidenum">
              <a:rPr kumimoji="0" lang="en-US" altLang="ko-KR" sz="2400">
                <a:latin typeface="Times New Roman" panose="02020603050405020304" pitchFamily="18" charset="0"/>
                <a:ea typeface="굴림" panose="020B0600000101010101" pitchFamily="50" charset="-127"/>
              </a:rPr>
              <a:pPr>
                <a:spcBef>
                  <a:spcPct val="0"/>
                </a:spcBef>
                <a:buClrTx/>
                <a:buFontTx/>
                <a:buNone/>
              </a:pPr>
              <a:t>39</a:t>
            </a:fld>
            <a:endParaRPr kumimoji="0" lang="en-US" altLang="ko-KR" sz="2400">
              <a:latin typeface="Times New Roman" panose="02020603050405020304" pitchFamily="18" charset="0"/>
              <a:ea typeface="굴림" panose="020B0600000101010101" pitchFamily="50" charset="-127"/>
            </a:endParaRPr>
          </a:p>
        </p:txBody>
      </p:sp>
      <p:sp>
        <p:nvSpPr>
          <p:cNvPr id="84995" name="Rectangle 2">
            <a:extLst>
              <a:ext uri="{FF2B5EF4-FFF2-40B4-BE49-F238E27FC236}">
                <a16:creationId xmlns:a16="http://schemas.microsoft.com/office/drawing/2014/main" id="{670833E3-8525-4C93-8174-59B5F0562F0B}"/>
              </a:ext>
            </a:extLst>
          </p:cNvPr>
          <p:cNvSpPr>
            <a:spLocks noGrp="1" noChangeArrowheads="1"/>
          </p:cNvSpPr>
          <p:nvPr>
            <p:ph type="title"/>
          </p:nvPr>
        </p:nvSpPr>
        <p:spPr/>
        <p:txBody>
          <a:bodyPr/>
          <a:lstStyle/>
          <a:p>
            <a:r>
              <a:rPr lang="en-US" altLang="ko-KR">
                <a:ea typeface="굴림" panose="020B0600000101010101" pitchFamily="50" charset="-127"/>
              </a:rPr>
              <a:t>Error Correcting Code Function</a:t>
            </a:r>
          </a:p>
        </p:txBody>
      </p:sp>
      <p:pic>
        <p:nvPicPr>
          <p:cNvPr id="84996" name="Picture 3">
            <a:extLst>
              <a:ext uri="{FF2B5EF4-FFF2-40B4-BE49-F238E27FC236}">
                <a16:creationId xmlns:a16="http://schemas.microsoft.com/office/drawing/2014/main" id="{C767E8AF-B55C-4FDF-8ED3-61AA1269AD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1007"/>
          <a:stretch>
            <a:fillRect/>
          </a:stretch>
        </p:blipFill>
        <p:spPr bwMode="auto">
          <a:xfrm>
            <a:off x="152400" y="1447800"/>
            <a:ext cx="8763000" cy="459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7" name="Text Box 4">
            <a:extLst>
              <a:ext uri="{FF2B5EF4-FFF2-40B4-BE49-F238E27FC236}">
                <a16:creationId xmlns:a16="http://schemas.microsoft.com/office/drawing/2014/main" id="{A8937DE3-9390-41D3-A167-85224319EAB7}"/>
              </a:ext>
            </a:extLst>
          </p:cNvPr>
          <p:cNvSpPr txBox="1">
            <a:spLocks noChangeArrowheads="1"/>
          </p:cNvSpPr>
          <p:nvPr/>
        </p:nvSpPr>
        <p:spPr bwMode="auto">
          <a:xfrm>
            <a:off x="5243513" y="2219325"/>
            <a:ext cx="1193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900" b="1">
                <a:solidFill>
                  <a:srgbClr val="0000FF"/>
                </a:solidFill>
                <a:latin typeface="Tahoma" panose="020B0604030504040204" pitchFamily="34" charset="0"/>
                <a:ea typeface="굴림" panose="020B0600000101010101" pitchFamily="50" charset="-127"/>
              </a:rPr>
              <a:t>No error</a:t>
            </a:r>
          </a:p>
        </p:txBody>
      </p:sp>
      <p:sp>
        <p:nvSpPr>
          <p:cNvPr id="84998" name="Text Box 5">
            <a:extLst>
              <a:ext uri="{FF2B5EF4-FFF2-40B4-BE49-F238E27FC236}">
                <a16:creationId xmlns:a16="http://schemas.microsoft.com/office/drawing/2014/main" id="{7DA4F451-E37A-4DC5-9B48-713100001CDA}"/>
              </a:ext>
            </a:extLst>
          </p:cNvPr>
          <p:cNvSpPr txBox="1">
            <a:spLocks noChangeArrowheads="1"/>
          </p:cNvSpPr>
          <p:nvPr/>
        </p:nvSpPr>
        <p:spPr bwMode="auto">
          <a:xfrm>
            <a:off x="5638800" y="2905125"/>
            <a:ext cx="244792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900" b="1">
                <a:solidFill>
                  <a:srgbClr val="0000FF"/>
                </a:solidFill>
                <a:latin typeface="Tahoma" panose="020B0604030504040204" pitchFamily="34" charset="0"/>
                <a:ea typeface="굴림" panose="020B0600000101010101" pitchFamily="50" charset="-127"/>
              </a:rPr>
              <a:t>Error detected and</a:t>
            </a:r>
          </a:p>
          <a:p>
            <a:pPr>
              <a:spcBef>
                <a:spcPct val="0"/>
              </a:spcBef>
              <a:buClrTx/>
              <a:buFontTx/>
              <a:buNone/>
            </a:pPr>
            <a:r>
              <a:rPr kumimoji="0" lang="en-US" altLang="ko-KR" sz="1900" b="1">
                <a:solidFill>
                  <a:srgbClr val="0000FF"/>
                </a:solidFill>
                <a:latin typeface="Tahoma" panose="020B0604030504040204" pitchFamily="34" charset="0"/>
                <a:ea typeface="굴림" panose="020B0600000101010101" pitchFamily="50" charset="-127"/>
              </a:rPr>
              <a:t>can be corrected</a:t>
            </a:r>
            <a:endParaRPr kumimoji="0" lang="en-US" altLang="ko-KR" sz="1900" b="1">
              <a:latin typeface="Tahoma" panose="020B0604030504040204" pitchFamily="34" charset="0"/>
              <a:ea typeface="굴림" panose="020B0600000101010101" pitchFamily="50" charset="-127"/>
            </a:endParaRPr>
          </a:p>
        </p:txBody>
      </p:sp>
      <p:sp>
        <p:nvSpPr>
          <p:cNvPr id="84999" name="Text Box 6">
            <a:extLst>
              <a:ext uri="{FF2B5EF4-FFF2-40B4-BE49-F238E27FC236}">
                <a16:creationId xmlns:a16="http://schemas.microsoft.com/office/drawing/2014/main" id="{2F867990-72A9-44D4-877A-C8C739B97856}"/>
              </a:ext>
            </a:extLst>
          </p:cNvPr>
          <p:cNvSpPr txBox="1">
            <a:spLocks noChangeArrowheads="1"/>
          </p:cNvSpPr>
          <p:nvPr/>
        </p:nvSpPr>
        <p:spPr bwMode="auto">
          <a:xfrm>
            <a:off x="2971800" y="1533525"/>
            <a:ext cx="48926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900" b="1">
                <a:solidFill>
                  <a:srgbClr val="0000FF"/>
                </a:solidFill>
                <a:latin typeface="Tahoma" panose="020B0604030504040204" pitchFamily="34" charset="0"/>
                <a:ea typeface="굴림" panose="020B0600000101010101" pitchFamily="50" charset="-127"/>
              </a:rPr>
              <a:t>Error detected but cannot be corrected</a:t>
            </a:r>
            <a:endParaRPr kumimoji="0" lang="en-US" altLang="ko-KR" sz="1900" b="1">
              <a:latin typeface="Tahoma" panose="020B0604030504040204" pitchFamily="34" charset="0"/>
              <a:ea typeface="굴림" panose="020B0600000101010101" pitchFamily="50" charset="-127"/>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슬라이드 번호 개체 틀 3">
            <a:extLst>
              <a:ext uri="{FF2B5EF4-FFF2-40B4-BE49-F238E27FC236}">
                <a16:creationId xmlns:a16="http://schemas.microsoft.com/office/drawing/2014/main" id="{C359F394-E398-472E-BBFD-6EF45F777076}"/>
              </a:ext>
            </a:extLst>
          </p:cNvPr>
          <p:cNvSpPr>
            <a:spLocks noGrp="1"/>
          </p:cNvSpPr>
          <p:nvPr>
            <p:ph type="sldNum" sz="quarter" idx="4294967295"/>
          </p:nvPr>
        </p:nvSpPr>
        <p:spPr bwMode="auto">
          <a:xfrm>
            <a:off x="7924800" y="6400800"/>
            <a:ext cx="6858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3C86E800-B6A4-4246-99C5-A21F543EAB8F}" type="slidenum">
              <a:rPr kumimoji="0" lang="en-US" altLang="ko-KR" sz="2400">
                <a:latin typeface="Times New Roman" panose="02020603050405020304" pitchFamily="18" charset="0"/>
                <a:ea typeface="굴림" panose="020B0600000101010101" pitchFamily="50" charset="-127"/>
              </a:rPr>
              <a:pPr>
                <a:spcBef>
                  <a:spcPct val="0"/>
                </a:spcBef>
                <a:buClrTx/>
                <a:buFontTx/>
                <a:buNone/>
              </a:pPr>
              <a:t>40</a:t>
            </a:fld>
            <a:endParaRPr kumimoji="0" lang="en-US" altLang="ko-KR" sz="2400">
              <a:latin typeface="Times New Roman" panose="02020603050405020304" pitchFamily="18" charset="0"/>
              <a:ea typeface="굴림" panose="020B0600000101010101" pitchFamily="50" charset="-127"/>
            </a:endParaRPr>
          </a:p>
        </p:txBody>
      </p:sp>
      <p:sp>
        <p:nvSpPr>
          <p:cNvPr id="87043" name="Rectangle 2">
            <a:extLst>
              <a:ext uri="{FF2B5EF4-FFF2-40B4-BE49-F238E27FC236}">
                <a16:creationId xmlns:a16="http://schemas.microsoft.com/office/drawing/2014/main" id="{2945E550-3A60-4E84-B0EE-42396A3E8231}"/>
              </a:ext>
            </a:extLst>
          </p:cNvPr>
          <p:cNvSpPr>
            <a:spLocks noChangeArrowheads="1"/>
          </p:cNvSpPr>
          <p:nvPr/>
        </p:nvSpPr>
        <p:spPr bwMode="auto">
          <a:xfrm>
            <a:off x="406400" y="228600"/>
            <a:ext cx="820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endParaRPr kumimoji="0" lang="en-GB" altLang="ko-KR" b="1">
              <a:solidFill>
                <a:schemeClr val="tx2"/>
              </a:solidFill>
              <a:latin typeface="Tahoma" panose="020B0604030504040204" pitchFamily="34" charset="0"/>
              <a:ea typeface="굴림" panose="020B0600000101010101" pitchFamily="50" charset="-127"/>
            </a:endParaRPr>
          </a:p>
        </p:txBody>
      </p:sp>
      <p:grpSp>
        <p:nvGrpSpPr>
          <p:cNvPr id="87044" name="Group 32">
            <a:extLst>
              <a:ext uri="{FF2B5EF4-FFF2-40B4-BE49-F238E27FC236}">
                <a16:creationId xmlns:a16="http://schemas.microsoft.com/office/drawing/2014/main" id="{B20F572D-3028-4631-87CA-6F9ED9060BA5}"/>
              </a:ext>
            </a:extLst>
          </p:cNvPr>
          <p:cNvGrpSpPr>
            <a:grpSpLocks/>
          </p:cNvGrpSpPr>
          <p:nvPr/>
        </p:nvGrpSpPr>
        <p:grpSpPr bwMode="auto">
          <a:xfrm>
            <a:off x="533400" y="1136650"/>
            <a:ext cx="3124200" cy="2590800"/>
            <a:chOff x="336" y="566"/>
            <a:chExt cx="1968" cy="1632"/>
          </a:xfrm>
        </p:grpSpPr>
        <p:sp>
          <p:nvSpPr>
            <p:cNvPr id="87062" name="Oval 3">
              <a:extLst>
                <a:ext uri="{FF2B5EF4-FFF2-40B4-BE49-F238E27FC236}">
                  <a16:creationId xmlns:a16="http://schemas.microsoft.com/office/drawing/2014/main" id="{FBD0327C-A487-41D4-ACFD-A982AC910A11}"/>
                </a:ext>
              </a:extLst>
            </p:cNvPr>
            <p:cNvSpPr>
              <a:spLocks noChangeArrowheads="1"/>
            </p:cNvSpPr>
            <p:nvPr/>
          </p:nvSpPr>
          <p:spPr bwMode="auto">
            <a:xfrm>
              <a:off x="432" y="614"/>
              <a:ext cx="1056" cy="10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7063" name="Oval 4">
              <a:extLst>
                <a:ext uri="{FF2B5EF4-FFF2-40B4-BE49-F238E27FC236}">
                  <a16:creationId xmlns:a16="http://schemas.microsoft.com/office/drawing/2014/main" id="{9823BC22-C009-4847-983D-7C367944028F}"/>
                </a:ext>
              </a:extLst>
            </p:cNvPr>
            <p:cNvSpPr>
              <a:spLocks noChangeArrowheads="1"/>
            </p:cNvSpPr>
            <p:nvPr/>
          </p:nvSpPr>
          <p:spPr bwMode="auto">
            <a:xfrm>
              <a:off x="1056" y="614"/>
              <a:ext cx="1056" cy="10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7064" name="Oval 5">
              <a:extLst>
                <a:ext uri="{FF2B5EF4-FFF2-40B4-BE49-F238E27FC236}">
                  <a16:creationId xmlns:a16="http://schemas.microsoft.com/office/drawing/2014/main" id="{E61F9AB4-CB8A-40DB-A069-09E377CFD4F3}"/>
                </a:ext>
              </a:extLst>
            </p:cNvPr>
            <p:cNvSpPr>
              <a:spLocks noChangeArrowheads="1"/>
            </p:cNvSpPr>
            <p:nvPr/>
          </p:nvSpPr>
          <p:spPr bwMode="auto">
            <a:xfrm>
              <a:off x="768" y="1142"/>
              <a:ext cx="1056" cy="10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7065" name="Text Box 6">
              <a:extLst>
                <a:ext uri="{FF2B5EF4-FFF2-40B4-BE49-F238E27FC236}">
                  <a16:creationId xmlns:a16="http://schemas.microsoft.com/office/drawing/2014/main" id="{9BADCF9C-B46B-4F67-8AAB-4557CE729F37}"/>
                </a:ext>
              </a:extLst>
            </p:cNvPr>
            <p:cNvSpPr txBox="1">
              <a:spLocks noChangeArrowheads="1"/>
            </p:cNvSpPr>
            <p:nvPr/>
          </p:nvSpPr>
          <p:spPr bwMode="auto">
            <a:xfrm>
              <a:off x="336" y="566"/>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A</a:t>
              </a:r>
            </a:p>
          </p:txBody>
        </p:sp>
        <p:sp>
          <p:nvSpPr>
            <p:cNvPr id="87066" name="Text Box 7">
              <a:extLst>
                <a:ext uri="{FF2B5EF4-FFF2-40B4-BE49-F238E27FC236}">
                  <a16:creationId xmlns:a16="http://schemas.microsoft.com/office/drawing/2014/main" id="{AE7D9CDD-820B-4676-8D15-FFF765B43194}"/>
                </a:ext>
              </a:extLst>
            </p:cNvPr>
            <p:cNvSpPr txBox="1">
              <a:spLocks noChangeArrowheads="1"/>
            </p:cNvSpPr>
            <p:nvPr/>
          </p:nvSpPr>
          <p:spPr bwMode="auto">
            <a:xfrm>
              <a:off x="2016" y="566"/>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B</a:t>
              </a:r>
            </a:p>
          </p:txBody>
        </p:sp>
        <p:sp>
          <p:nvSpPr>
            <p:cNvPr id="87067" name="Text Box 8">
              <a:extLst>
                <a:ext uri="{FF2B5EF4-FFF2-40B4-BE49-F238E27FC236}">
                  <a16:creationId xmlns:a16="http://schemas.microsoft.com/office/drawing/2014/main" id="{3EBB8795-1D6B-41DD-A4FE-D084FE058FF3}"/>
                </a:ext>
              </a:extLst>
            </p:cNvPr>
            <p:cNvSpPr txBox="1">
              <a:spLocks noChangeArrowheads="1"/>
            </p:cNvSpPr>
            <p:nvPr/>
          </p:nvSpPr>
          <p:spPr bwMode="auto">
            <a:xfrm>
              <a:off x="624" y="1910"/>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C</a:t>
              </a:r>
            </a:p>
          </p:txBody>
        </p:sp>
        <p:sp>
          <p:nvSpPr>
            <p:cNvPr id="87068" name="Text Box 16">
              <a:extLst>
                <a:ext uri="{FF2B5EF4-FFF2-40B4-BE49-F238E27FC236}">
                  <a16:creationId xmlns:a16="http://schemas.microsoft.com/office/drawing/2014/main" id="{E4F915C8-1C90-433F-9C1F-3E6E9EB09467}"/>
                </a:ext>
              </a:extLst>
            </p:cNvPr>
            <p:cNvSpPr txBox="1">
              <a:spLocks noChangeArrowheads="1"/>
            </p:cNvSpPr>
            <p:nvPr/>
          </p:nvSpPr>
          <p:spPr bwMode="auto">
            <a:xfrm>
              <a:off x="1152" y="854"/>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1</a:t>
              </a:r>
            </a:p>
          </p:txBody>
        </p:sp>
        <p:sp>
          <p:nvSpPr>
            <p:cNvPr id="87069" name="Text Box 17">
              <a:extLst>
                <a:ext uri="{FF2B5EF4-FFF2-40B4-BE49-F238E27FC236}">
                  <a16:creationId xmlns:a16="http://schemas.microsoft.com/office/drawing/2014/main" id="{C6624E62-841B-4EA1-BE67-D3171621A244}"/>
                </a:ext>
              </a:extLst>
            </p:cNvPr>
            <p:cNvSpPr txBox="1">
              <a:spLocks noChangeArrowheads="1"/>
            </p:cNvSpPr>
            <p:nvPr/>
          </p:nvSpPr>
          <p:spPr bwMode="auto">
            <a:xfrm>
              <a:off x="1152" y="1180"/>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1</a:t>
              </a:r>
            </a:p>
          </p:txBody>
        </p:sp>
        <p:sp>
          <p:nvSpPr>
            <p:cNvPr id="87070" name="Text Box 18">
              <a:extLst>
                <a:ext uri="{FF2B5EF4-FFF2-40B4-BE49-F238E27FC236}">
                  <a16:creationId xmlns:a16="http://schemas.microsoft.com/office/drawing/2014/main" id="{E9D3BCAC-B5A5-4FE9-9DDF-196969FC1AA0}"/>
                </a:ext>
              </a:extLst>
            </p:cNvPr>
            <p:cNvSpPr txBox="1">
              <a:spLocks noChangeArrowheads="1"/>
            </p:cNvSpPr>
            <p:nvPr/>
          </p:nvSpPr>
          <p:spPr bwMode="auto">
            <a:xfrm>
              <a:off x="912" y="1324"/>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1</a:t>
              </a:r>
            </a:p>
          </p:txBody>
        </p:sp>
        <p:sp>
          <p:nvSpPr>
            <p:cNvPr id="87071" name="Text Box 19">
              <a:extLst>
                <a:ext uri="{FF2B5EF4-FFF2-40B4-BE49-F238E27FC236}">
                  <a16:creationId xmlns:a16="http://schemas.microsoft.com/office/drawing/2014/main" id="{784F5BB9-0846-4D49-B670-FE1C2D156901}"/>
                </a:ext>
              </a:extLst>
            </p:cNvPr>
            <p:cNvSpPr txBox="1">
              <a:spLocks noChangeArrowheads="1"/>
            </p:cNvSpPr>
            <p:nvPr/>
          </p:nvSpPr>
          <p:spPr bwMode="auto">
            <a:xfrm>
              <a:off x="1488" y="1324"/>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0</a:t>
              </a:r>
            </a:p>
          </p:txBody>
        </p:sp>
      </p:grpSp>
      <p:sp>
        <p:nvSpPr>
          <p:cNvPr id="87045" name="Text Box 20">
            <a:extLst>
              <a:ext uri="{FF2B5EF4-FFF2-40B4-BE49-F238E27FC236}">
                <a16:creationId xmlns:a16="http://schemas.microsoft.com/office/drawing/2014/main" id="{1DE37CBB-39C8-4F01-8A89-BC846927C1AF}"/>
              </a:ext>
            </a:extLst>
          </p:cNvPr>
          <p:cNvSpPr txBox="1">
            <a:spLocks noChangeArrowheads="1"/>
          </p:cNvSpPr>
          <p:nvPr/>
        </p:nvSpPr>
        <p:spPr bwMode="auto">
          <a:xfrm>
            <a:off x="533400" y="3879850"/>
            <a:ext cx="3124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a:latin typeface="Tahoma" panose="020B0604030504040204" pitchFamily="34" charset="0"/>
                <a:ea typeface="굴림" panose="020B0600000101010101" pitchFamily="50" charset="-127"/>
              </a:rPr>
              <a:t>Assign data bits to the inner compartments.</a:t>
            </a:r>
          </a:p>
        </p:txBody>
      </p:sp>
      <p:sp>
        <p:nvSpPr>
          <p:cNvPr id="87046" name="Text Box 26">
            <a:extLst>
              <a:ext uri="{FF2B5EF4-FFF2-40B4-BE49-F238E27FC236}">
                <a16:creationId xmlns:a16="http://schemas.microsoft.com/office/drawing/2014/main" id="{75750C31-A250-4774-9852-7CEFEF294019}"/>
              </a:ext>
            </a:extLst>
          </p:cNvPr>
          <p:cNvSpPr txBox="1">
            <a:spLocks noChangeArrowheads="1"/>
          </p:cNvSpPr>
          <p:nvPr/>
        </p:nvSpPr>
        <p:spPr bwMode="auto">
          <a:xfrm>
            <a:off x="3492500" y="3644900"/>
            <a:ext cx="3886200"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nSpc>
                <a:spcPct val="90000"/>
              </a:lnSpc>
              <a:spcBef>
                <a:spcPct val="25000"/>
              </a:spcBef>
              <a:buClrTx/>
              <a:buFontTx/>
              <a:buNone/>
            </a:pPr>
            <a:r>
              <a:rPr kumimoji="0" lang="en-US" altLang="ko-KR" sz="2000">
                <a:latin typeface="Tahoma" panose="020B0604030504040204" pitchFamily="34" charset="0"/>
                <a:ea typeface="굴림" panose="020B0600000101010101" pitchFamily="50" charset="-127"/>
              </a:rPr>
              <a:t>Fill the remaining compartments with parity bits.</a:t>
            </a:r>
          </a:p>
          <a:p>
            <a:pPr>
              <a:lnSpc>
                <a:spcPct val="90000"/>
              </a:lnSpc>
              <a:spcBef>
                <a:spcPct val="25000"/>
              </a:spcBef>
              <a:buClrTx/>
              <a:buFontTx/>
              <a:buNone/>
            </a:pPr>
            <a:br>
              <a:rPr kumimoji="0" lang="en-US" altLang="ko-KR" sz="2000">
                <a:latin typeface="Tahoma" panose="020B0604030504040204" pitchFamily="34" charset="0"/>
                <a:ea typeface="굴림" panose="020B0600000101010101" pitchFamily="50" charset="-127"/>
              </a:rPr>
            </a:br>
            <a:r>
              <a:rPr kumimoji="0" lang="en-US" altLang="ko-KR" sz="2000">
                <a:solidFill>
                  <a:srgbClr val="CC0000"/>
                </a:solidFill>
                <a:latin typeface="Tahoma" panose="020B0604030504040204" pitchFamily="34" charset="0"/>
                <a:ea typeface="굴림" panose="020B0600000101010101" pitchFamily="50" charset="-127"/>
              </a:rPr>
              <a:t>Make the total number of bit -1  in a circle must be even.</a:t>
            </a:r>
          </a:p>
          <a:p>
            <a:pPr>
              <a:lnSpc>
                <a:spcPct val="90000"/>
              </a:lnSpc>
              <a:spcBef>
                <a:spcPct val="25000"/>
              </a:spcBef>
              <a:buClrTx/>
              <a:buFontTx/>
              <a:buNone/>
            </a:pPr>
            <a:br>
              <a:rPr kumimoji="0" lang="en-US" altLang="ko-KR" sz="2000">
                <a:latin typeface="Tahoma" panose="020B0604030504040204" pitchFamily="34" charset="0"/>
                <a:ea typeface="굴림" panose="020B0600000101010101" pitchFamily="50" charset="-127"/>
              </a:rPr>
            </a:br>
            <a:r>
              <a:rPr kumimoji="0" lang="en-US" altLang="ko-KR" sz="2000">
                <a:latin typeface="Tahoma" panose="020B0604030504040204" pitchFamily="34" charset="0"/>
                <a:ea typeface="굴림" panose="020B0600000101010101" pitchFamily="50" charset="-127"/>
              </a:rPr>
              <a:t>For example: The data bits in A = 1+1+1 = 3.  This is odd – therefore add an additional bit -1 to circle A</a:t>
            </a:r>
          </a:p>
        </p:txBody>
      </p:sp>
      <p:grpSp>
        <p:nvGrpSpPr>
          <p:cNvPr id="87047" name="Group 33">
            <a:extLst>
              <a:ext uri="{FF2B5EF4-FFF2-40B4-BE49-F238E27FC236}">
                <a16:creationId xmlns:a16="http://schemas.microsoft.com/office/drawing/2014/main" id="{91FE2D65-2600-4FB3-BF1D-1AE40681BE3E}"/>
              </a:ext>
            </a:extLst>
          </p:cNvPr>
          <p:cNvGrpSpPr>
            <a:grpSpLocks/>
          </p:cNvGrpSpPr>
          <p:nvPr/>
        </p:nvGrpSpPr>
        <p:grpSpPr bwMode="auto">
          <a:xfrm>
            <a:off x="4724400" y="1196975"/>
            <a:ext cx="3124200" cy="2590800"/>
            <a:chOff x="2976" y="528"/>
            <a:chExt cx="1968" cy="1632"/>
          </a:xfrm>
        </p:grpSpPr>
        <p:sp>
          <p:nvSpPr>
            <p:cNvPr id="87049" name="Oval 9">
              <a:extLst>
                <a:ext uri="{FF2B5EF4-FFF2-40B4-BE49-F238E27FC236}">
                  <a16:creationId xmlns:a16="http://schemas.microsoft.com/office/drawing/2014/main" id="{C19E4E8A-222F-48C7-8A6D-4D35CA22A2E9}"/>
                </a:ext>
              </a:extLst>
            </p:cNvPr>
            <p:cNvSpPr>
              <a:spLocks noChangeArrowheads="1"/>
            </p:cNvSpPr>
            <p:nvPr/>
          </p:nvSpPr>
          <p:spPr bwMode="auto">
            <a:xfrm>
              <a:off x="3072" y="576"/>
              <a:ext cx="1056" cy="10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7050" name="Oval 10">
              <a:extLst>
                <a:ext uri="{FF2B5EF4-FFF2-40B4-BE49-F238E27FC236}">
                  <a16:creationId xmlns:a16="http://schemas.microsoft.com/office/drawing/2014/main" id="{83C299E3-671C-4997-9CA0-A2ECD4D6811D}"/>
                </a:ext>
              </a:extLst>
            </p:cNvPr>
            <p:cNvSpPr>
              <a:spLocks noChangeArrowheads="1"/>
            </p:cNvSpPr>
            <p:nvPr/>
          </p:nvSpPr>
          <p:spPr bwMode="auto">
            <a:xfrm>
              <a:off x="3696" y="576"/>
              <a:ext cx="1056" cy="10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7051" name="Oval 11">
              <a:extLst>
                <a:ext uri="{FF2B5EF4-FFF2-40B4-BE49-F238E27FC236}">
                  <a16:creationId xmlns:a16="http://schemas.microsoft.com/office/drawing/2014/main" id="{2CA21B70-0892-43BD-B83B-1CDC988974F4}"/>
                </a:ext>
              </a:extLst>
            </p:cNvPr>
            <p:cNvSpPr>
              <a:spLocks noChangeArrowheads="1"/>
            </p:cNvSpPr>
            <p:nvPr/>
          </p:nvSpPr>
          <p:spPr bwMode="auto">
            <a:xfrm>
              <a:off x="3408" y="1104"/>
              <a:ext cx="1056" cy="10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7052" name="Text Box 12">
              <a:extLst>
                <a:ext uri="{FF2B5EF4-FFF2-40B4-BE49-F238E27FC236}">
                  <a16:creationId xmlns:a16="http://schemas.microsoft.com/office/drawing/2014/main" id="{84BF08CD-AAB4-414A-BABB-D2DF811C9E35}"/>
                </a:ext>
              </a:extLst>
            </p:cNvPr>
            <p:cNvSpPr txBox="1">
              <a:spLocks noChangeArrowheads="1"/>
            </p:cNvSpPr>
            <p:nvPr/>
          </p:nvSpPr>
          <p:spPr bwMode="auto">
            <a:xfrm>
              <a:off x="2976" y="528"/>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A</a:t>
              </a:r>
            </a:p>
          </p:txBody>
        </p:sp>
        <p:sp>
          <p:nvSpPr>
            <p:cNvPr id="87053" name="Text Box 13">
              <a:extLst>
                <a:ext uri="{FF2B5EF4-FFF2-40B4-BE49-F238E27FC236}">
                  <a16:creationId xmlns:a16="http://schemas.microsoft.com/office/drawing/2014/main" id="{59F8D7BA-B9E9-494A-B156-4F6CFE75D06F}"/>
                </a:ext>
              </a:extLst>
            </p:cNvPr>
            <p:cNvSpPr txBox="1">
              <a:spLocks noChangeArrowheads="1"/>
            </p:cNvSpPr>
            <p:nvPr/>
          </p:nvSpPr>
          <p:spPr bwMode="auto">
            <a:xfrm>
              <a:off x="4656" y="528"/>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B</a:t>
              </a:r>
            </a:p>
          </p:txBody>
        </p:sp>
        <p:sp>
          <p:nvSpPr>
            <p:cNvPr id="87054" name="Text Box 14">
              <a:extLst>
                <a:ext uri="{FF2B5EF4-FFF2-40B4-BE49-F238E27FC236}">
                  <a16:creationId xmlns:a16="http://schemas.microsoft.com/office/drawing/2014/main" id="{4F712F59-4967-45DA-89C3-A51AE3452F3B}"/>
                </a:ext>
              </a:extLst>
            </p:cNvPr>
            <p:cNvSpPr txBox="1">
              <a:spLocks noChangeArrowheads="1"/>
            </p:cNvSpPr>
            <p:nvPr/>
          </p:nvSpPr>
          <p:spPr bwMode="auto">
            <a:xfrm>
              <a:off x="3264" y="1872"/>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C</a:t>
              </a:r>
            </a:p>
          </p:txBody>
        </p:sp>
        <p:sp>
          <p:nvSpPr>
            <p:cNvPr id="87055" name="Text Box 21">
              <a:extLst>
                <a:ext uri="{FF2B5EF4-FFF2-40B4-BE49-F238E27FC236}">
                  <a16:creationId xmlns:a16="http://schemas.microsoft.com/office/drawing/2014/main" id="{3B161CC5-90E7-454D-B10C-3DBEED78A1AE}"/>
                </a:ext>
              </a:extLst>
            </p:cNvPr>
            <p:cNvSpPr txBox="1">
              <a:spLocks noChangeArrowheads="1"/>
            </p:cNvSpPr>
            <p:nvPr/>
          </p:nvSpPr>
          <p:spPr bwMode="auto">
            <a:xfrm>
              <a:off x="3792" y="816"/>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1</a:t>
              </a:r>
            </a:p>
          </p:txBody>
        </p:sp>
        <p:sp>
          <p:nvSpPr>
            <p:cNvPr id="87056" name="Text Box 22">
              <a:extLst>
                <a:ext uri="{FF2B5EF4-FFF2-40B4-BE49-F238E27FC236}">
                  <a16:creationId xmlns:a16="http://schemas.microsoft.com/office/drawing/2014/main" id="{80482895-7215-4268-8ABC-50572AD3091F}"/>
                </a:ext>
              </a:extLst>
            </p:cNvPr>
            <p:cNvSpPr txBox="1">
              <a:spLocks noChangeArrowheads="1"/>
            </p:cNvSpPr>
            <p:nvPr/>
          </p:nvSpPr>
          <p:spPr bwMode="auto">
            <a:xfrm>
              <a:off x="3792" y="1142"/>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1</a:t>
              </a:r>
            </a:p>
          </p:txBody>
        </p:sp>
        <p:sp>
          <p:nvSpPr>
            <p:cNvPr id="87057" name="Text Box 23">
              <a:extLst>
                <a:ext uri="{FF2B5EF4-FFF2-40B4-BE49-F238E27FC236}">
                  <a16:creationId xmlns:a16="http://schemas.microsoft.com/office/drawing/2014/main" id="{6AFE6AC0-D43A-4855-A40B-F8C7D1278BA4}"/>
                </a:ext>
              </a:extLst>
            </p:cNvPr>
            <p:cNvSpPr txBox="1">
              <a:spLocks noChangeArrowheads="1"/>
            </p:cNvSpPr>
            <p:nvPr/>
          </p:nvSpPr>
          <p:spPr bwMode="auto">
            <a:xfrm>
              <a:off x="3552" y="1286"/>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1</a:t>
              </a:r>
            </a:p>
          </p:txBody>
        </p:sp>
        <p:sp>
          <p:nvSpPr>
            <p:cNvPr id="87058" name="Text Box 24">
              <a:extLst>
                <a:ext uri="{FF2B5EF4-FFF2-40B4-BE49-F238E27FC236}">
                  <a16:creationId xmlns:a16="http://schemas.microsoft.com/office/drawing/2014/main" id="{8BD3AB76-A94D-4128-9D79-0BFD841027F9}"/>
                </a:ext>
              </a:extLst>
            </p:cNvPr>
            <p:cNvSpPr txBox="1">
              <a:spLocks noChangeArrowheads="1"/>
            </p:cNvSpPr>
            <p:nvPr/>
          </p:nvSpPr>
          <p:spPr bwMode="auto">
            <a:xfrm>
              <a:off x="4128" y="1286"/>
              <a:ext cx="1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0</a:t>
              </a:r>
            </a:p>
          </p:txBody>
        </p:sp>
        <p:sp>
          <p:nvSpPr>
            <p:cNvPr id="87059" name="Text Box 27">
              <a:extLst>
                <a:ext uri="{FF2B5EF4-FFF2-40B4-BE49-F238E27FC236}">
                  <a16:creationId xmlns:a16="http://schemas.microsoft.com/office/drawing/2014/main" id="{32A948C5-7959-4201-B33F-69A5DD6DA5A3}"/>
                </a:ext>
              </a:extLst>
            </p:cNvPr>
            <p:cNvSpPr txBox="1">
              <a:spLocks noChangeArrowheads="1"/>
            </p:cNvSpPr>
            <p:nvPr/>
          </p:nvSpPr>
          <p:spPr bwMode="auto">
            <a:xfrm>
              <a:off x="3312" y="854"/>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400" b="1">
                  <a:solidFill>
                    <a:srgbClr val="0000CC"/>
                  </a:solidFill>
                  <a:latin typeface="Tahoma" panose="020B0604030504040204" pitchFamily="34" charset="0"/>
                  <a:ea typeface="굴림" panose="020B0600000101010101" pitchFamily="50" charset="-127"/>
                </a:rPr>
                <a:t>1</a:t>
              </a:r>
            </a:p>
          </p:txBody>
        </p:sp>
        <p:sp>
          <p:nvSpPr>
            <p:cNvPr id="87060" name="Text Box 28">
              <a:extLst>
                <a:ext uri="{FF2B5EF4-FFF2-40B4-BE49-F238E27FC236}">
                  <a16:creationId xmlns:a16="http://schemas.microsoft.com/office/drawing/2014/main" id="{259B966C-9FCC-4650-8D1D-68B1A28B74E0}"/>
                </a:ext>
              </a:extLst>
            </p:cNvPr>
            <p:cNvSpPr txBox="1">
              <a:spLocks noChangeArrowheads="1"/>
            </p:cNvSpPr>
            <p:nvPr/>
          </p:nvSpPr>
          <p:spPr bwMode="auto">
            <a:xfrm>
              <a:off x="4320" y="854"/>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400" b="1">
                  <a:solidFill>
                    <a:srgbClr val="0000CC"/>
                  </a:solidFill>
                  <a:latin typeface="Tahoma" panose="020B0604030504040204" pitchFamily="34" charset="0"/>
                  <a:ea typeface="굴림" panose="020B0600000101010101" pitchFamily="50" charset="-127"/>
                </a:rPr>
                <a:t>0</a:t>
              </a:r>
            </a:p>
          </p:txBody>
        </p:sp>
        <p:sp>
          <p:nvSpPr>
            <p:cNvPr id="87061" name="Text Box 29">
              <a:extLst>
                <a:ext uri="{FF2B5EF4-FFF2-40B4-BE49-F238E27FC236}">
                  <a16:creationId xmlns:a16="http://schemas.microsoft.com/office/drawing/2014/main" id="{8DBE735E-59DD-4061-B1F7-DF73BBCF8887}"/>
                </a:ext>
              </a:extLst>
            </p:cNvPr>
            <p:cNvSpPr txBox="1">
              <a:spLocks noChangeArrowheads="1"/>
            </p:cNvSpPr>
            <p:nvPr/>
          </p:nvSpPr>
          <p:spPr bwMode="auto">
            <a:xfrm>
              <a:off x="3840" y="1680"/>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400" b="1">
                  <a:solidFill>
                    <a:srgbClr val="0000CC"/>
                  </a:solidFill>
                  <a:latin typeface="Tahoma" panose="020B0604030504040204" pitchFamily="34" charset="0"/>
                  <a:ea typeface="굴림" panose="020B0600000101010101" pitchFamily="50" charset="-127"/>
                </a:rPr>
                <a:t>0</a:t>
              </a:r>
            </a:p>
          </p:txBody>
        </p:sp>
      </p:grpSp>
      <p:sp>
        <p:nvSpPr>
          <p:cNvPr id="87048" name="Rectangle 34">
            <a:extLst>
              <a:ext uri="{FF2B5EF4-FFF2-40B4-BE49-F238E27FC236}">
                <a16:creationId xmlns:a16="http://schemas.microsoft.com/office/drawing/2014/main" id="{A62F1E7E-0A77-4861-A56B-65B7971F623E}"/>
              </a:ext>
            </a:extLst>
          </p:cNvPr>
          <p:cNvSpPr>
            <a:spLocks noGrp="1" noChangeArrowheads="1"/>
          </p:cNvSpPr>
          <p:nvPr>
            <p:ph type="title"/>
          </p:nvPr>
        </p:nvSpPr>
        <p:spPr/>
        <p:txBody>
          <a:bodyPr/>
          <a:lstStyle/>
          <a:p>
            <a:r>
              <a:rPr lang="en-GB" altLang="ko-KR">
                <a:ea typeface="굴림" panose="020B0600000101010101" pitchFamily="50" charset="-127"/>
              </a:rPr>
              <a:t>Hamming Code</a:t>
            </a:r>
            <a:endParaRPr lang="en-US" altLang="ko-KR">
              <a:ea typeface="굴림" panose="020B0600000101010101" pitchFamily="50" charset="-127"/>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슬라이드 번호 개체 틀 3">
            <a:extLst>
              <a:ext uri="{FF2B5EF4-FFF2-40B4-BE49-F238E27FC236}">
                <a16:creationId xmlns:a16="http://schemas.microsoft.com/office/drawing/2014/main" id="{C5F0587A-DFC7-4907-901A-F4A6B5032B67}"/>
              </a:ext>
            </a:extLst>
          </p:cNvPr>
          <p:cNvSpPr>
            <a:spLocks noGrp="1"/>
          </p:cNvSpPr>
          <p:nvPr>
            <p:ph type="sldNum" sz="quarter" idx="4294967295"/>
          </p:nvPr>
        </p:nvSpPr>
        <p:spPr bwMode="auto">
          <a:xfrm>
            <a:off x="7924800" y="6400800"/>
            <a:ext cx="6858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AD9202D9-FEC3-4866-B282-3E544FF4B02E}" type="slidenum">
              <a:rPr kumimoji="0" lang="en-US" altLang="ko-KR" sz="2400">
                <a:latin typeface="Times New Roman" panose="02020603050405020304" pitchFamily="18" charset="0"/>
                <a:ea typeface="굴림" panose="020B0600000101010101" pitchFamily="50" charset="-127"/>
              </a:rPr>
              <a:pPr>
                <a:spcBef>
                  <a:spcPct val="0"/>
                </a:spcBef>
                <a:buClrTx/>
                <a:buFontTx/>
                <a:buNone/>
              </a:pPr>
              <a:t>41</a:t>
            </a:fld>
            <a:endParaRPr kumimoji="0" lang="en-US" altLang="ko-KR" sz="2400">
              <a:latin typeface="Times New Roman" panose="02020603050405020304" pitchFamily="18" charset="0"/>
              <a:ea typeface="굴림" panose="020B0600000101010101" pitchFamily="50" charset="-127"/>
            </a:endParaRPr>
          </a:p>
        </p:txBody>
      </p:sp>
      <p:sp>
        <p:nvSpPr>
          <p:cNvPr id="89091" name="Rectangle 2">
            <a:extLst>
              <a:ext uri="{FF2B5EF4-FFF2-40B4-BE49-F238E27FC236}">
                <a16:creationId xmlns:a16="http://schemas.microsoft.com/office/drawing/2014/main" id="{2A847A33-7B4E-4D86-BB86-2839C70D19AB}"/>
              </a:ext>
            </a:extLst>
          </p:cNvPr>
          <p:cNvSpPr>
            <a:spLocks noChangeArrowheads="1"/>
          </p:cNvSpPr>
          <p:nvPr/>
        </p:nvSpPr>
        <p:spPr bwMode="auto">
          <a:xfrm>
            <a:off x="304800" y="228600"/>
            <a:ext cx="2057400" cy="19812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9092" name="Rectangle 3">
            <a:extLst>
              <a:ext uri="{FF2B5EF4-FFF2-40B4-BE49-F238E27FC236}">
                <a16:creationId xmlns:a16="http://schemas.microsoft.com/office/drawing/2014/main" id="{30C0D948-0EA5-457A-8AAE-F365AE16C5C4}"/>
              </a:ext>
            </a:extLst>
          </p:cNvPr>
          <p:cNvSpPr>
            <a:spLocks noChangeArrowheads="1"/>
          </p:cNvSpPr>
          <p:nvPr/>
        </p:nvSpPr>
        <p:spPr bwMode="auto">
          <a:xfrm>
            <a:off x="406400" y="228600"/>
            <a:ext cx="820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endParaRPr kumimoji="0" lang="en-GB" altLang="ko-KR" b="1">
              <a:solidFill>
                <a:schemeClr val="tx2"/>
              </a:solidFill>
              <a:latin typeface="Tahoma" panose="020B0604030504040204" pitchFamily="34" charset="0"/>
              <a:ea typeface="굴림" panose="020B0600000101010101" pitchFamily="50" charset="-127"/>
            </a:endParaRPr>
          </a:p>
        </p:txBody>
      </p:sp>
      <p:sp>
        <p:nvSpPr>
          <p:cNvPr id="89093" name="Oval 4">
            <a:extLst>
              <a:ext uri="{FF2B5EF4-FFF2-40B4-BE49-F238E27FC236}">
                <a16:creationId xmlns:a16="http://schemas.microsoft.com/office/drawing/2014/main" id="{AB3C1354-E885-47A8-98E4-446C1DA7CABB}"/>
              </a:ext>
            </a:extLst>
          </p:cNvPr>
          <p:cNvSpPr>
            <a:spLocks noChangeArrowheads="1"/>
          </p:cNvSpPr>
          <p:nvPr/>
        </p:nvSpPr>
        <p:spPr bwMode="auto">
          <a:xfrm>
            <a:off x="685800" y="2651125"/>
            <a:ext cx="1676400" cy="16764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9094" name="Oval 5">
            <a:extLst>
              <a:ext uri="{FF2B5EF4-FFF2-40B4-BE49-F238E27FC236}">
                <a16:creationId xmlns:a16="http://schemas.microsoft.com/office/drawing/2014/main" id="{EB7317C3-8806-4801-92FC-5605A0DF53FC}"/>
              </a:ext>
            </a:extLst>
          </p:cNvPr>
          <p:cNvSpPr>
            <a:spLocks noChangeArrowheads="1"/>
          </p:cNvSpPr>
          <p:nvPr/>
        </p:nvSpPr>
        <p:spPr bwMode="auto">
          <a:xfrm>
            <a:off x="1676400" y="2651125"/>
            <a:ext cx="1676400" cy="16764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9095" name="Oval 6">
            <a:extLst>
              <a:ext uri="{FF2B5EF4-FFF2-40B4-BE49-F238E27FC236}">
                <a16:creationId xmlns:a16="http://schemas.microsoft.com/office/drawing/2014/main" id="{12B7A182-27CE-4326-9055-3F57B227187B}"/>
              </a:ext>
            </a:extLst>
          </p:cNvPr>
          <p:cNvSpPr>
            <a:spLocks noChangeArrowheads="1"/>
          </p:cNvSpPr>
          <p:nvPr/>
        </p:nvSpPr>
        <p:spPr bwMode="auto">
          <a:xfrm>
            <a:off x="1219200" y="3489325"/>
            <a:ext cx="1676400" cy="16764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9096" name="Text Box 7">
            <a:extLst>
              <a:ext uri="{FF2B5EF4-FFF2-40B4-BE49-F238E27FC236}">
                <a16:creationId xmlns:a16="http://schemas.microsoft.com/office/drawing/2014/main" id="{80CF472D-7627-4BB6-907B-67D0114EBDA6}"/>
              </a:ext>
            </a:extLst>
          </p:cNvPr>
          <p:cNvSpPr txBox="1">
            <a:spLocks noChangeArrowheads="1"/>
          </p:cNvSpPr>
          <p:nvPr/>
        </p:nvSpPr>
        <p:spPr bwMode="auto">
          <a:xfrm>
            <a:off x="533400" y="2574925"/>
            <a:ext cx="30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A</a:t>
            </a:r>
          </a:p>
        </p:txBody>
      </p:sp>
      <p:sp>
        <p:nvSpPr>
          <p:cNvPr id="89097" name="Text Box 8">
            <a:extLst>
              <a:ext uri="{FF2B5EF4-FFF2-40B4-BE49-F238E27FC236}">
                <a16:creationId xmlns:a16="http://schemas.microsoft.com/office/drawing/2014/main" id="{3299234D-250B-400D-9EF7-5B59382C8C34}"/>
              </a:ext>
            </a:extLst>
          </p:cNvPr>
          <p:cNvSpPr txBox="1">
            <a:spLocks noChangeArrowheads="1"/>
          </p:cNvSpPr>
          <p:nvPr/>
        </p:nvSpPr>
        <p:spPr bwMode="auto">
          <a:xfrm>
            <a:off x="3200400" y="2574925"/>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B</a:t>
            </a:r>
          </a:p>
        </p:txBody>
      </p:sp>
      <p:sp>
        <p:nvSpPr>
          <p:cNvPr id="89098" name="Text Box 9">
            <a:extLst>
              <a:ext uri="{FF2B5EF4-FFF2-40B4-BE49-F238E27FC236}">
                <a16:creationId xmlns:a16="http://schemas.microsoft.com/office/drawing/2014/main" id="{AC4F1D52-136F-4D23-B864-B6978CC57248}"/>
              </a:ext>
            </a:extLst>
          </p:cNvPr>
          <p:cNvSpPr txBox="1">
            <a:spLocks noChangeArrowheads="1"/>
          </p:cNvSpPr>
          <p:nvPr/>
        </p:nvSpPr>
        <p:spPr bwMode="auto">
          <a:xfrm>
            <a:off x="990600" y="4708525"/>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C</a:t>
            </a:r>
          </a:p>
        </p:txBody>
      </p:sp>
      <p:sp>
        <p:nvSpPr>
          <p:cNvPr id="89099" name="Text Box 10">
            <a:extLst>
              <a:ext uri="{FF2B5EF4-FFF2-40B4-BE49-F238E27FC236}">
                <a16:creationId xmlns:a16="http://schemas.microsoft.com/office/drawing/2014/main" id="{718D0509-7A72-44EA-A43C-62BA4E08238F}"/>
              </a:ext>
            </a:extLst>
          </p:cNvPr>
          <p:cNvSpPr txBox="1">
            <a:spLocks noChangeArrowheads="1"/>
          </p:cNvSpPr>
          <p:nvPr/>
        </p:nvSpPr>
        <p:spPr bwMode="auto">
          <a:xfrm>
            <a:off x="1828800" y="3032125"/>
            <a:ext cx="30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1</a:t>
            </a:r>
          </a:p>
        </p:txBody>
      </p:sp>
      <p:sp>
        <p:nvSpPr>
          <p:cNvPr id="89100" name="Text Box 11">
            <a:extLst>
              <a:ext uri="{FF2B5EF4-FFF2-40B4-BE49-F238E27FC236}">
                <a16:creationId xmlns:a16="http://schemas.microsoft.com/office/drawing/2014/main" id="{F941275A-EE57-4B89-B25A-03795FDFE3EF}"/>
              </a:ext>
            </a:extLst>
          </p:cNvPr>
          <p:cNvSpPr txBox="1">
            <a:spLocks noChangeArrowheads="1"/>
          </p:cNvSpPr>
          <p:nvPr/>
        </p:nvSpPr>
        <p:spPr bwMode="auto">
          <a:xfrm>
            <a:off x="1828800" y="3549650"/>
            <a:ext cx="30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1</a:t>
            </a:r>
          </a:p>
        </p:txBody>
      </p:sp>
      <p:sp>
        <p:nvSpPr>
          <p:cNvPr id="89101" name="Text Box 12">
            <a:extLst>
              <a:ext uri="{FF2B5EF4-FFF2-40B4-BE49-F238E27FC236}">
                <a16:creationId xmlns:a16="http://schemas.microsoft.com/office/drawing/2014/main" id="{6B229670-C08A-4C17-B19B-19F8A0842467}"/>
              </a:ext>
            </a:extLst>
          </p:cNvPr>
          <p:cNvSpPr txBox="1">
            <a:spLocks noChangeArrowheads="1"/>
          </p:cNvSpPr>
          <p:nvPr/>
        </p:nvSpPr>
        <p:spPr bwMode="auto">
          <a:xfrm>
            <a:off x="2362200" y="3778250"/>
            <a:ext cx="30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0</a:t>
            </a:r>
          </a:p>
        </p:txBody>
      </p:sp>
      <p:sp>
        <p:nvSpPr>
          <p:cNvPr id="89102" name="Text Box 13">
            <a:extLst>
              <a:ext uri="{FF2B5EF4-FFF2-40B4-BE49-F238E27FC236}">
                <a16:creationId xmlns:a16="http://schemas.microsoft.com/office/drawing/2014/main" id="{641F8B3A-8CC9-4AFE-A1F1-64604EBDA6F8}"/>
              </a:ext>
            </a:extLst>
          </p:cNvPr>
          <p:cNvSpPr txBox="1">
            <a:spLocks noChangeArrowheads="1"/>
          </p:cNvSpPr>
          <p:nvPr/>
        </p:nvSpPr>
        <p:spPr bwMode="auto">
          <a:xfrm>
            <a:off x="533400" y="5318125"/>
            <a:ext cx="389413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a:latin typeface="Tahoma" panose="020B0604030504040204" pitchFamily="34" charset="0"/>
                <a:ea typeface="굴림" panose="020B0600000101010101" pitchFamily="50" charset="-127"/>
              </a:rPr>
              <a:t>If a bit gets erroneously changed, the parity bits in that circle will no longer add up to 1.</a:t>
            </a:r>
          </a:p>
        </p:txBody>
      </p:sp>
      <p:grpSp>
        <p:nvGrpSpPr>
          <p:cNvPr id="89103" name="Group 14">
            <a:extLst>
              <a:ext uri="{FF2B5EF4-FFF2-40B4-BE49-F238E27FC236}">
                <a16:creationId xmlns:a16="http://schemas.microsoft.com/office/drawing/2014/main" id="{EBF50926-F9C1-4BBE-89F6-21C5FF1CBF2F}"/>
              </a:ext>
            </a:extLst>
          </p:cNvPr>
          <p:cNvGrpSpPr>
            <a:grpSpLocks/>
          </p:cNvGrpSpPr>
          <p:nvPr/>
        </p:nvGrpSpPr>
        <p:grpSpPr bwMode="auto">
          <a:xfrm>
            <a:off x="381000" y="381000"/>
            <a:ext cx="1905000" cy="1624013"/>
            <a:chOff x="419" y="662"/>
            <a:chExt cx="1981" cy="1656"/>
          </a:xfrm>
        </p:grpSpPr>
        <p:sp>
          <p:nvSpPr>
            <p:cNvPr id="89126" name="Oval 15">
              <a:extLst>
                <a:ext uri="{FF2B5EF4-FFF2-40B4-BE49-F238E27FC236}">
                  <a16:creationId xmlns:a16="http://schemas.microsoft.com/office/drawing/2014/main" id="{62565B00-4A06-4D4F-8C1B-2F4F68F9129E}"/>
                </a:ext>
              </a:extLst>
            </p:cNvPr>
            <p:cNvSpPr>
              <a:spLocks noChangeArrowheads="1"/>
            </p:cNvSpPr>
            <p:nvPr/>
          </p:nvSpPr>
          <p:spPr bwMode="auto">
            <a:xfrm>
              <a:off x="528" y="710"/>
              <a:ext cx="1056" cy="10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9127" name="Oval 16">
              <a:extLst>
                <a:ext uri="{FF2B5EF4-FFF2-40B4-BE49-F238E27FC236}">
                  <a16:creationId xmlns:a16="http://schemas.microsoft.com/office/drawing/2014/main" id="{F179D480-743B-4ECC-BB86-3E664DBE685C}"/>
                </a:ext>
              </a:extLst>
            </p:cNvPr>
            <p:cNvSpPr>
              <a:spLocks noChangeArrowheads="1"/>
            </p:cNvSpPr>
            <p:nvPr/>
          </p:nvSpPr>
          <p:spPr bwMode="auto">
            <a:xfrm>
              <a:off x="1152" y="710"/>
              <a:ext cx="1056" cy="10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9128" name="Oval 17">
              <a:extLst>
                <a:ext uri="{FF2B5EF4-FFF2-40B4-BE49-F238E27FC236}">
                  <a16:creationId xmlns:a16="http://schemas.microsoft.com/office/drawing/2014/main" id="{80CE083E-8E3F-4E59-BEF2-6D1AE2EC4235}"/>
                </a:ext>
              </a:extLst>
            </p:cNvPr>
            <p:cNvSpPr>
              <a:spLocks noChangeArrowheads="1"/>
            </p:cNvSpPr>
            <p:nvPr/>
          </p:nvSpPr>
          <p:spPr bwMode="auto">
            <a:xfrm>
              <a:off x="864" y="1238"/>
              <a:ext cx="1056" cy="1056"/>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9129" name="Text Box 18">
              <a:extLst>
                <a:ext uri="{FF2B5EF4-FFF2-40B4-BE49-F238E27FC236}">
                  <a16:creationId xmlns:a16="http://schemas.microsoft.com/office/drawing/2014/main" id="{A2CC7F2A-5EDA-449E-9B08-4DF82444A14F}"/>
                </a:ext>
              </a:extLst>
            </p:cNvPr>
            <p:cNvSpPr txBox="1">
              <a:spLocks noChangeArrowheads="1"/>
            </p:cNvSpPr>
            <p:nvPr/>
          </p:nvSpPr>
          <p:spPr bwMode="auto">
            <a:xfrm>
              <a:off x="419" y="662"/>
              <a:ext cx="216"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1400" b="1">
                  <a:latin typeface="Tahoma" panose="020B0604030504040204" pitchFamily="34" charset="0"/>
                  <a:ea typeface="굴림" panose="020B0600000101010101" pitchFamily="50" charset="-127"/>
                </a:rPr>
                <a:t>A</a:t>
              </a:r>
            </a:p>
          </p:txBody>
        </p:sp>
        <p:sp>
          <p:nvSpPr>
            <p:cNvPr id="89130" name="Text Box 19">
              <a:extLst>
                <a:ext uri="{FF2B5EF4-FFF2-40B4-BE49-F238E27FC236}">
                  <a16:creationId xmlns:a16="http://schemas.microsoft.com/office/drawing/2014/main" id="{B4A63450-E17D-4037-A270-DE49920EBC23}"/>
                </a:ext>
              </a:extLst>
            </p:cNvPr>
            <p:cNvSpPr txBox="1">
              <a:spLocks noChangeArrowheads="1"/>
            </p:cNvSpPr>
            <p:nvPr/>
          </p:nvSpPr>
          <p:spPr bwMode="auto">
            <a:xfrm>
              <a:off x="2111" y="662"/>
              <a:ext cx="289"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1400" b="1">
                  <a:latin typeface="Tahoma" panose="020B0604030504040204" pitchFamily="34" charset="0"/>
                  <a:ea typeface="굴림" panose="020B0600000101010101" pitchFamily="50" charset="-127"/>
                </a:rPr>
                <a:t>B</a:t>
              </a:r>
            </a:p>
          </p:txBody>
        </p:sp>
        <p:sp>
          <p:nvSpPr>
            <p:cNvPr id="89131" name="Text Box 20">
              <a:extLst>
                <a:ext uri="{FF2B5EF4-FFF2-40B4-BE49-F238E27FC236}">
                  <a16:creationId xmlns:a16="http://schemas.microsoft.com/office/drawing/2014/main" id="{A3FB6BF6-6D05-44D7-B85C-8548303590E1}"/>
                </a:ext>
              </a:extLst>
            </p:cNvPr>
            <p:cNvSpPr txBox="1">
              <a:spLocks noChangeArrowheads="1"/>
            </p:cNvSpPr>
            <p:nvPr/>
          </p:nvSpPr>
          <p:spPr bwMode="auto">
            <a:xfrm>
              <a:off x="721" y="2007"/>
              <a:ext cx="287"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1400" b="1">
                  <a:latin typeface="Tahoma" panose="020B0604030504040204" pitchFamily="34" charset="0"/>
                  <a:ea typeface="굴림" panose="020B0600000101010101" pitchFamily="50" charset="-127"/>
                </a:rPr>
                <a:t>C</a:t>
              </a:r>
            </a:p>
          </p:txBody>
        </p:sp>
        <p:sp>
          <p:nvSpPr>
            <p:cNvPr id="89132" name="Text Box 21">
              <a:extLst>
                <a:ext uri="{FF2B5EF4-FFF2-40B4-BE49-F238E27FC236}">
                  <a16:creationId xmlns:a16="http://schemas.microsoft.com/office/drawing/2014/main" id="{D18B336C-8258-4F68-A395-A04067487589}"/>
                </a:ext>
              </a:extLst>
            </p:cNvPr>
            <p:cNvSpPr txBox="1">
              <a:spLocks noChangeArrowheads="1"/>
            </p:cNvSpPr>
            <p:nvPr/>
          </p:nvSpPr>
          <p:spPr bwMode="auto">
            <a:xfrm>
              <a:off x="1236" y="949"/>
              <a:ext cx="21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1400" b="1">
                  <a:latin typeface="Tahoma" panose="020B0604030504040204" pitchFamily="34" charset="0"/>
                  <a:ea typeface="굴림" panose="020B0600000101010101" pitchFamily="50" charset="-127"/>
                </a:rPr>
                <a:t>1</a:t>
              </a:r>
            </a:p>
          </p:txBody>
        </p:sp>
        <p:sp>
          <p:nvSpPr>
            <p:cNvPr id="89133" name="Text Box 22">
              <a:extLst>
                <a:ext uri="{FF2B5EF4-FFF2-40B4-BE49-F238E27FC236}">
                  <a16:creationId xmlns:a16="http://schemas.microsoft.com/office/drawing/2014/main" id="{DB3A6B3A-6C36-4540-AC2E-99F7DA9C45FA}"/>
                </a:ext>
              </a:extLst>
            </p:cNvPr>
            <p:cNvSpPr txBox="1">
              <a:spLocks noChangeArrowheads="1"/>
            </p:cNvSpPr>
            <p:nvPr/>
          </p:nvSpPr>
          <p:spPr bwMode="auto">
            <a:xfrm>
              <a:off x="1236" y="1276"/>
              <a:ext cx="21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1400" b="1">
                  <a:latin typeface="Tahoma" panose="020B0604030504040204" pitchFamily="34" charset="0"/>
                  <a:ea typeface="굴림" panose="020B0600000101010101" pitchFamily="50" charset="-127"/>
                </a:rPr>
                <a:t>1</a:t>
              </a:r>
            </a:p>
          </p:txBody>
        </p:sp>
        <p:sp>
          <p:nvSpPr>
            <p:cNvPr id="89134" name="Text Box 23">
              <a:extLst>
                <a:ext uri="{FF2B5EF4-FFF2-40B4-BE49-F238E27FC236}">
                  <a16:creationId xmlns:a16="http://schemas.microsoft.com/office/drawing/2014/main" id="{5A2A0806-9994-4049-A0D3-FB27CC989F7A}"/>
                </a:ext>
              </a:extLst>
            </p:cNvPr>
            <p:cNvSpPr txBox="1">
              <a:spLocks noChangeArrowheads="1"/>
            </p:cNvSpPr>
            <p:nvPr/>
          </p:nvSpPr>
          <p:spPr bwMode="auto">
            <a:xfrm>
              <a:off x="995" y="1420"/>
              <a:ext cx="21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1400" b="1">
                  <a:latin typeface="Tahoma" panose="020B0604030504040204" pitchFamily="34" charset="0"/>
                  <a:ea typeface="굴림" panose="020B0600000101010101" pitchFamily="50" charset="-127"/>
                </a:rPr>
                <a:t>1</a:t>
              </a:r>
            </a:p>
          </p:txBody>
        </p:sp>
        <p:sp>
          <p:nvSpPr>
            <p:cNvPr id="89135" name="Text Box 24">
              <a:extLst>
                <a:ext uri="{FF2B5EF4-FFF2-40B4-BE49-F238E27FC236}">
                  <a16:creationId xmlns:a16="http://schemas.microsoft.com/office/drawing/2014/main" id="{0734D35E-5C7A-4C0D-95B7-98C74CB444FB}"/>
                </a:ext>
              </a:extLst>
            </p:cNvPr>
            <p:cNvSpPr txBox="1">
              <a:spLocks noChangeArrowheads="1"/>
            </p:cNvSpPr>
            <p:nvPr/>
          </p:nvSpPr>
          <p:spPr bwMode="auto">
            <a:xfrm>
              <a:off x="1571" y="1420"/>
              <a:ext cx="21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1400" b="1">
                  <a:latin typeface="Tahoma" panose="020B0604030504040204" pitchFamily="34" charset="0"/>
                  <a:ea typeface="굴림" panose="020B0600000101010101" pitchFamily="50" charset="-127"/>
                </a:rPr>
                <a:t>0</a:t>
              </a:r>
            </a:p>
          </p:txBody>
        </p:sp>
      </p:grpSp>
      <p:sp>
        <p:nvSpPr>
          <p:cNvPr id="89104" name="Text Box 25">
            <a:extLst>
              <a:ext uri="{FF2B5EF4-FFF2-40B4-BE49-F238E27FC236}">
                <a16:creationId xmlns:a16="http://schemas.microsoft.com/office/drawing/2014/main" id="{A6F8D2D1-6FE1-4E99-85B4-55FE5BA3222A}"/>
              </a:ext>
            </a:extLst>
          </p:cNvPr>
          <p:cNvSpPr txBox="1">
            <a:spLocks noChangeArrowheads="1"/>
          </p:cNvSpPr>
          <p:nvPr/>
        </p:nvSpPr>
        <p:spPr bwMode="auto">
          <a:xfrm>
            <a:off x="1066800" y="31242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400" b="1">
                <a:solidFill>
                  <a:srgbClr val="0000CC"/>
                </a:solidFill>
                <a:latin typeface="Tahoma" panose="020B0604030504040204" pitchFamily="34" charset="0"/>
                <a:ea typeface="굴림" panose="020B0600000101010101" pitchFamily="50" charset="-127"/>
              </a:rPr>
              <a:t>1</a:t>
            </a:r>
          </a:p>
        </p:txBody>
      </p:sp>
      <p:sp>
        <p:nvSpPr>
          <p:cNvPr id="89105" name="Text Box 26">
            <a:extLst>
              <a:ext uri="{FF2B5EF4-FFF2-40B4-BE49-F238E27FC236}">
                <a16:creationId xmlns:a16="http://schemas.microsoft.com/office/drawing/2014/main" id="{EFFF7DC7-294C-4979-8DA0-77739652D72E}"/>
              </a:ext>
            </a:extLst>
          </p:cNvPr>
          <p:cNvSpPr txBox="1">
            <a:spLocks noChangeArrowheads="1"/>
          </p:cNvSpPr>
          <p:nvPr/>
        </p:nvSpPr>
        <p:spPr bwMode="auto">
          <a:xfrm>
            <a:off x="2667000" y="312420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400" b="1">
                <a:solidFill>
                  <a:srgbClr val="0000CC"/>
                </a:solidFill>
                <a:latin typeface="Tahoma" panose="020B0604030504040204" pitchFamily="34" charset="0"/>
                <a:ea typeface="굴림" panose="020B0600000101010101" pitchFamily="50" charset="-127"/>
              </a:rPr>
              <a:t>0</a:t>
            </a:r>
          </a:p>
        </p:txBody>
      </p:sp>
      <p:sp>
        <p:nvSpPr>
          <p:cNvPr id="89106" name="Text Box 27">
            <a:extLst>
              <a:ext uri="{FF2B5EF4-FFF2-40B4-BE49-F238E27FC236}">
                <a16:creationId xmlns:a16="http://schemas.microsoft.com/office/drawing/2014/main" id="{A881D77E-DD37-466C-829A-1E1047935A0E}"/>
              </a:ext>
            </a:extLst>
          </p:cNvPr>
          <p:cNvSpPr txBox="1">
            <a:spLocks noChangeArrowheads="1"/>
          </p:cNvSpPr>
          <p:nvPr/>
        </p:nvSpPr>
        <p:spPr bwMode="auto">
          <a:xfrm>
            <a:off x="1905000" y="4435475"/>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400" b="1">
                <a:solidFill>
                  <a:srgbClr val="0000CC"/>
                </a:solidFill>
                <a:latin typeface="Tahoma" panose="020B0604030504040204" pitchFamily="34" charset="0"/>
                <a:ea typeface="굴림" panose="020B0600000101010101" pitchFamily="50" charset="-127"/>
              </a:rPr>
              <a:t>0</a:t>
            </a:r>
          </a:p>
        </p:txBody>
      </p:sp>
      <p:sp>
        <p:nvSpPr>
          <p:cNvPr id="122908" name="Oval 28">
            <a:extLst>
              <a:ext uri="{FF2B5EF4-FFF2-40B4-BE49-F238E27FC236}">
                <a16:creationId xmlns:a16="http://schemas.microsoft.com/office/drawing/2014/main" id="{D103600B-2A91-4ECC-93FB-FEFD2AE57DD7}"/>
              </a:ext>
            </a:extLst>
          </p:cNvPr>
          <p:cNvSpPr>
            <a:spLocks noChangeArrowheads="1"/>
          </p:cNvSpPr>
          <p:nvPr/>
        </p:nvSpPr>
        <p:spPr bwMode="auto">
          <a:xfrm>
            <a:off x="5029200" y="2667000"/>
            <a:ext cx="1676400" cy="1676400"/>
          </a:xfrm>
          <a:prstGeom prst="ellipse">
            <a:avLst/>
          </a:prstGeom>
          <a:solidFill>
            <a:srgbClr val="99CCFF">
              <a:alpha val="61960"/>
            </a:srgbClr>
          </a:solidFill>
          <a:ln w="28575">
            <a:solidFill>
              <a:schemeClr val="tx1"/>
            </a:solidFill>
            <a:round/>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9108" name="Oval 29">
            <a:extLst>
              <a:ext uri="{FF2B5EF4-FFF2-40B4-BE49-F238E27FC236}">
                <a16:creationId xmlns:a16="http://schemas.microsoft.com/office/drawing/2014/main" id="{1E38E9B3-5355-4350-9AD0-4D8AB24F4D50}"/>
              </a:ext>
            </a:extLst>
          </p:cNvPr>
          <p:cNvSpPr>
            <a:spLocks noChangeArrowheads="1"/>
          </p:cNvSpPr>
          <p:nvPr/>
        </p:nvSpPr>
        <p:spPr bwMode="auto">
          <a:xfrm>
            <a:off x="6019800" y="2667000"/>
            <a:ext cx="1676400" cy="16764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122910" name="Oval 30">
            <a:extLst>
              <a:ext uri="{FF2B5EF4-FFF2-40B4-BE49-F238E27FC236}">
                <a16:creationId xmlns:a16="http://schemas.microsoft.com/office/drawing/2014/main" id="{63CD6884-5B42-4E95-BE83-D77E85F636A1}"/>
              </a:ext>
            </a:extLst>
          </p:cNvPr>
          <p:cNvSpPr>
            <a:spLocks noChangeArrowheads="1"/>
          </p:cNvSpPr>
          <p:nvPr/>
        </p:nvSpPr>
        <p:spPr bwMode="auto">
          <a:xfrm>
            <a:off x="5562600" y="3505200"/>
            <a:ext cx="1676400" cy="1676400"/>
          </a:xfrm>
          <a:prstGeom prst="ellipse">
            <a:avLst/>
          </a:prstGeom>
          <a:solidFill>
            <a:srgbClr val="99CCFF">
              <a:alpha val="67058"/>
            </a:srgbClr>
          </a:solidFill>
          <a:ln w="28575">
            <a:solidFill>
              <a:schemeClr val="tx1"/>
            </a:solidFill>
            <a:round/>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9110" name="Text Box 31">
            <a:extLst>
              <a:ext uri="{FF2B5EF4-FFF2-40B4-BE49-F238E27FC236}">
                <a16:creationId xmlns:a16="http://schemas.microsoft.com/office/drawing/2014/main" id="{B548E66B-C3D6-44CB-B868-717757FE039E}"/>
              </a:ext>
            </a:extLst>
          </p:cNvPr>
          <p:cNvSpPr txBox="1">
            <a:spLocks noChangeArrowheads="1"/>
          </p:cNvSpPr>
          <p:nvPr/>
        </p:nvSpPr>
        <p:spPr bwMode="auto">
          <a:xfrm>
            <a:off x="4876800" y="2590800"/>
            <a:ext cx="30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A</a:t>
            </a:r>
          </a:p>
        </p:txBody>
      </p:sp>
      <p:sp>
        <p:nvSpPr>
          <p:cNvPr id="89111" name="Text Box 32">
            <a:extLst>
              <a:ext uri="{FF2B5EF4-FFF2-40B4-BE49-F238E27FC236}">
                <a16:creationId xmlns:a16="http://schemas.microsoft.com/office/drawing/2014/main" id="{8FA87D96-B563-4604-AADA-73D3D916CAEC}"/>
              </a:ext>
            </a:extLst>
          </p:cNvPr>
          <p:cNvSpPr txBox="1">
            <a:spLocks noChangeArrowheads="1"/>
          </p:cNvSpPr>
          <p:nvPr/>
        </p:nvSpPr>
        <p:spPr bwMode="auto">
          <a:xfrm>
            <a:off x="7543800" y="25908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B</a:t>
            </a:r>
          </a:p>
        </p:txBody>
      </p:sp>
      <p:sp>
        <p:nvSpPr>
          <p:cNvPr id="89112" name="Text Box 33">
            <a:extLst>
              <a:ext uri="{FF2B5EF4-FFF2-40B4-BE49-F238E27FC236}">
                <a16:creationId xmlns:a16="http://schemas.microsoft.com/office/drawing/2014/main" id="{C63E7D43-6A22-414E-B4C2-0FC299C170D7}"/>
              </a:ext>
            </a:extLst>
          </p:cNvPr>
          <p:cNvSpPr txBox="1">
            <a:spLocks noChangeArrowheads="1"/>
          </p:cNvSpPr>
          <p:nvPr/>
        </p:nvSpPr>
        <p:spPr bwMode="auto">
          <a:xfrm>
            <a:off x="5334000" y="47244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C</a:t>
            </a:r>
          </a:p>
        </p:txBody>
      </p:sp>
      <p:sp>
        <p:nvSpPr>
          <p:cNvPr id="89113" name="Text Box 34">
            <a:extLst>
              <a:ext uri="{FF2B5EF4-FFF2-40B4-BE49-F238E27FC236}">
                <a16:creationId xmlns:a16="http://schemas.microsoft.com/office/drawing/2014/main" id="{51D99DB7-53A5-4476-A2DA-B63E901856D4}"/>
              </a:ext>
            </a:extLst>
          </p:cNvPr>
          <p:cNvSpPr txBox="1">
            <a:spLocks noChangeArrowheads="1"/>
          </p:cNvSpPr>
          <p:nvPr/>
        </p:nvSpPr>
        <p:spPr bwMode="auto">
          <a:xfrm>
            <a:off x="6172200" y="3048000"/>
            <a:ext cx="30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1</a:t>
            </a:r>
          </a:p>
        </p:txBody>
      </p:sp>
      <p:sp>
        <p:nvSpPr>
          <p:cNvPr id="89114" name="Text Box 35">
            <a:extLst>
              <a:ext uri="{FF2B5EF4-FFF2-40B4-BE49-F238E27FC236}">
                <a16:creationId xmlns:a16="http://schemas.microsoft.com/office/drawing/2014/main" id="{82969114-E00A-4CAB-BB3E-E4404D84259C}"/>
              </a:ext>
            </a:extLst>
          </p:cNvPr>
          <p:cNvSpPr txBox="1">
            <a:spLocks noChangeArrowheads="1"/>
          </p:cNvSpPr>
          <p:nvPr/>
        </p:nvSpPr>
        <p:spPr bwMode="auto">
          <a:xfrm>
            <a:off x="6172200" y="3565525"/>
            <a:ext cx="30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1</a:t>
            </a:r>
          </a:p>
        </p:txBody>
      </p:sp>
      <p:sp>
        <p:nvSpPr>
          <p:cNvPr id="89115" name="Text Box 36">
            <a:extLst>
              <a:ext uri="{FF2B5EF4-FFF2-40B4-BE49-F238E27FC236}">
                <a16:creationId xmlns:a16="http://schemas.microsoft.com/office/drawing/2014/main" id="{4979B890-3507-4660-9034-2FA985C6F317}"/>
              </a:ext>
            </a:extLst>
          </p:cNvPr>
          <p:cNvSpPr txBox="1">
            <a:spLocks noChangeArrowheads="1"/>
          </p:cNvSpPr>
          <p:nvPr/>
        </p:nvSpPr>
        <p:spPr bwMode="auto">
          <a:xfrm>
            <a:off x="5791200" y="3794125"/>
            <a:ext cx="30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solidFill>
                  <a:srgbClr val="FF0000"/>
                </a:solidFill>
                <a:latin typeface="Tahoma" panose="020B0604030504040204" pitchFamily="34" charset="0"/>
                <a:ea typeface="굴림" panose="020B0600000101010101" pitchFamily="50" charset="-127"/>
              </a:rPr>
              <a:t>0</a:t>
            </a:r>
          </a:p>
        </p:txBody>
      </p:sp>
      <p:sp>
        <p:nvSpPr>
          <p:cNvPr id="89116" name="Text Box 37">
            <a:extLst>
              <a:ext uri="{FF2B5EF4-FFF2-40B4-BE49-F238E27FC236}">
                <a16:creationId xmlns:a16="http://schemas.microsoft.com/office/drawing/2014/main" id="{80C09526-57A2-4E24-836C-4983BA6F2A90}"/>
              </a:ext>
            </a:extLst>
          </p:cNvPr>
          <p:cNvSpPr txBox="1">
            <a:spLocks noChangeArrowheads="1"/>
          </p:cNvSpPr>
          <p:nvPr/>
        </p:nvSpPr>
        <p:spPr bwMode="auto">
          <a:xfrm>
            <a:off x="6705600" y="3794125"/>
            <a:ext cx="30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0</a:t>
            </a:r>
          </a:p>
        </p:txBody>
      </p:sp>
      <p:sp>
        <p:nvSpPr>
          <p:cNvPr id="89117" name="Text Box 38">
            <a:extLst>
              <a:ext uri="{FF2B5EF4-FFF2-40B4-BE49-F238E27FC236}">
                <a16:creationId xmlns:a16="http://schemas.microsoft.com/office/drawing/2014/main" id="{5A82E3FF-ED14-4E30-B205-6F88E1EFBAC8}"/>
              </a:ext>
            </a:extLst>
          </p:cNvPr>
          <p:cNvSpPr txBox="1">
            <a:spLocks noChangeArrowheads="1"/>
          </p:cNvSpPr>
          <p:nvPr/>
        </p:nvSpPr>
        <p:spPr bwMode="auto">
          <a:xfrm>
            <a:off x="5410200" y="3140075"/>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400" b="1">
                <a:solidFill>
                  <a:srgbClr val="0000CC"/>
                </a:solidFill>
                <a:latin typeface="Tahoma" panose="020B0604030504040204" pitchFamily="34" charset="0"/>
                <a:ea typeface="굴림" panose="020B0600000101010101" pitchFamily="50" charset="-127"/>
              </a:rPr>
              <a:t>1</a:t>
            </a:r>
          </a:p>
        </p:txBody>
      </p:sp>
      <p:sp>
        <p:nvSpPr>
          <p:cNvPr id="89118" name="Text Box 39">
            <a:extLst>
              <a:ext uri="{FF2B5EF4-FFF2-40B4-BE49-F238E27FC236}">
                <a16:creationId xmlns:a16="http://schemas.microsoft.com/office/drawing/2014/main" id="{D332E01C-9CC6-4F83-B5BB-8BE4CE86D17F}"/>
              </a:ext>
            </a:extLst>
          </p:cNvPr>
          <p:cNvSpPr txBox="1">
            <a:spLocks noChangeArrowheads="1"/>
          </p:cNvSpPr>
          <p:nvPr/>
        </p:nvSpPr>
        <p:spPr bwMode="auto">
          <a:xfrm>
            <a:off x="7010400" y="3140075"/>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400" b="1">
                <a:solidFill>
                  <a:srgbClr val="0000CC"/>
                </a:solidFill>
                <a:latin typeface="Tahoma" panose="020B0604030504040204" pitchFamily="34" charset="0"/>
                <a:ea typeface="굴림" panose="020B0600000101010101" pitchFamily="50" charset="-127"/>
              </a:rPr>
              <a:t>0</a:t>
            </a:r>
          </a:p>
        </p:txBody>
      </p:sp>
      <p:sp>
        <p:nvSpPr>
          <p:cNvPr id="89119" name="Text Box 40">
            <a:extLst>
              <a:ext uri="{FF2B5EF4-FFF2-40B4-BE49-F238E27FC236}">
                <a16:creationId xmlns:a16="http://schemas.microsoft.com/office/drawing/2014/main" id="{F76381EB-DD44-4D7D-9BE8-9EF30B22BB93}"/>
              </a:ext>
            </a:extLst>
          </p:cNvPr>
          <p:cNvSpPr txBox="1">
            <a:spLocks noChangeArrowheads="1"/>
          </p:cNvSpPr>
          <p:nvPr/>
        </p:nvSpPr>
        <p:spPr bwMode="auto">
          <a:xfrm>
            <a:off x="6248400" y="4451350"/>
            <a:ext cx="30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400" b="1">
                <a:solidFill>
                  <a:srgbClr val="0000CC"/>
                </a:solidFill>
                <a:latin typeface="Tahoma" panose="020B0604030504040204" pitchFamily="34" charset="0"/>
                <a:ea typeface="굴림" panose="020B0600000101010101" pitchFamily="50" charset="-127"/>
              </a:rPr>
              <a:t>0</a:t>
            </a:r>
          </a:p>
        </p:txBody>
      </p:sp>
      <p:sp>
        <p:nvSpPr>
          <p:cNvPr id="89120" name="Text Box 41">
            <a:extLst>
              <a:ext uri="{FF2B5EF4-FFF2-40B4-BE49-F238E27FC236}">
                <a16:creationId xmlns:a16="http://schemas.microsoft.com/office/drawing/2014/main" id="{635EA90E-08AA-4CBE-860A-949DEF1344A5}"/>
              </a:ext>
            </a:extLst>
          </p:cNvPr>
          <p:cNvSpPr txBox="1">
            <a:spLocks noChangeArrowheads="1"/>
          </p:cNvSpPr>
          <p:nvPr/>
        </p:nvSpPr>
        <p:spPr bwMode="auto">
          <a:xfrm>
            <a:off x="4876800" y="5334000"/>
            <a:ext cx="3886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a:latin typeface="Tahoma" panose="020B0604030504040204" pitchFamily="34" charset="0"/>
                <a:ea typeface="굴림" panose="020B0600000101010101" pitchFamily="50" charset="-127"/>
              </a:rPr>
              <a:t>Errors are found in A and C – and the shared bit in A and C is in error and can be fixed.</a:t>
            </a:r>
          </a:p>
        </p:txBody>
      </p:sp>
      <p:sp>
        <p:nvSpPr>
          <p:cNvPr id="89121" name="Text Box 42">
            <a:extLst>
              <a:ext uri="{FF2B5EF4-FFF2-40B4-BE49-F238E27FC236}">
                <a16:creationId xmlns:a16="http://schemas.microsoft.com/office/drawing/2014/main" id="{4D521DF8-45E6-4C82-98F8-FF8231078C91}"/>
              </a:ext>
            </a:extLst>
          </p:cNvPr>
          <p:cNvSpPr txBox="1">
            <a:spLocks noChangeArrowheads="1"/>
          </p:cNvSpPr>
          <p:nvPr/>
        </p:nvSpPr>
        <p:spPr bwMode="auto">
          <a:xfrm>
            <a:off x="1371600" y="3794125"/>
            <a:ext cx="30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latin typeface="Tahoma" panose="020B0604030504040204" pitchFamily="34" charset="0"/>
                <a:ea typeface="굴림" panose="020B0600000101010101" pitchFamily="50" charset="-127"/>
              </a:rPr>
              <a:t>1</a:t>
            </a:r>
          </a:p>
        </p:txBody>
      </p:sp>
      <p:sp>
        <p:nvSpPr>
          <p:cNvPr id="122923" name="Text Box 43">
            <a:extLst>
              <a:ext uri="{FF2B5EF4-FFF2-40B4-BE49-F238E27FC236}">
                <a16:creationId xmlns:a16="http://schemas.microsoft.com/office/drawing/2014/main" id="{44617CFB-CA5C-47AF-9B8A-3CE7F72DCDFE}"/>
              </a:ext>
            </a:extLst>
          </p:cNvPr>
          <p:cNvSpPr txBox="1">
            <a:spLocks noChangeArrowheads="1"/>
          </p:cNvSpPr>
          <p:nvPr/>
        </p:nvSpPr>
        <p:spPr bwMode="auto">
          <a:xfrm>
            <a:off x="1447800" y="3810000"/>
            <a:ext cx="2286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50000"/>
              </a:spcBef>
              <a:buClrTx/>
              <a:buFontTx/>
              <a:buNone/>
            </a:pPr>
            <a:r>
              <a:rPr kumimoji="0" lang="en-US" altLang="ko-KR" sz="2000" b="1">
                <a:solidFill>
                  <a:srgbClr val="FF0000"/>
                </a:solidFill>
                <a:latin typeface="Tahoma" panose="020B0604030504040204" pitchFamily="34" charset="0"/>
                <a:ea typeface="굴림" panose="020B0600000101010101" pitchFamily="50" charset="-127"/>
              </a:rPr>
              <a:t>0</a:t>
            </a:r>
          </a:p>
        </p:txBody>
      </p:sp>
      <p:sp>
        <p:nvSpPr>
          <p:cNvPr id="89123" name="Oval 44">
            <a:extLst>
              <a:ext uri="{FF2B5EF4-FFF2-40B4-BE49-F238E27FC236}">
                <a16:creationId xmlns:a16="http://schemas.microsoft.com/office/drawing/2014/main" id="{E5CCA6AD-3D3C-4A96-BF5A-33522DA3E899}"/>
              </a:ext>
            </a:extLst>
          </p:cNvPr>
          <p:cNvSpPr>
            <a:spLocks noChangeArrowheads="1"/>
          </p:cNvSpPr>
          <p:nvPr/>
        </p:nvSpPr>
        <p:spPr bwMode="auto">
          <a:xfrm>
            <a:off x="5029200" y="2667000"/>
            <a:ext cx="1676400" cy="16764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9124" name="Oval 45">
            <a:extLst>
              <a:ext uri="{FF2B5EF4-FFF2-40B4-BE49-F238E27FC236}">
                <a16:creationId xmlns:a16="http://schemas.microsoft.com/office/drawing/2014/main" id="{5A24DF9D-723B-46CB-8CFD-2F67E9906F1B}"/>
              </a:ext>
            </a:extLst>
          </p:cNvPr>
          <p:cNvSpPr>
            <a:spLocks noChangeArrowheads="1"/>
          </p:cNvSpPr>
          <p:nvPr/>
        </p:nvSpPr>
        <p:spPr bwMode="auto">
          <a:xfrm>
            <a:off x="5562600" y="3505200"/>
            <a:ext cx="1676400" cy="167640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89125" name="Rectangle 47">
            <a:extLst>
              <a:ext uri="{FF2B5EF4-FFF2-40B4-BE49-F238E27FC236}">
                <a16:creationId xmlns:a16="http://schemas.microsoft.com/office/drawing/2014/main" id="{4FFAC71E-B85F-4572-AEA9-529DA847C979}"/>
              </a:ext>
            </a:extLst>
          </p:cNvPr>
          <p:cNvSpPr>
            <a:spLocks noGrp="1" noChangeArrowheads="1"/>
          </p:cNvSpPr>
          <p:nvPr>
            <p:ph type="title"/>
          </p:nvPr>
        </p:nvSpPr>
        <p:spPr/>
        <p:txBody>
          <a:bodyPr/>
          <a:lstStyle/>
          <a:p>
            <a:r>
              <a:rPr lang="en-GB" altLang="ko-KR">
                <a:ea typeface="굴림" panose="020B0600000101010101" pitchFamily="50" charset="-127"/>
              </a:rPr>
              <a:t>Hamming Code</a:t>
            </a:r>
            <a:endParaRPr lang="en-US" altLang="ko-KR">
              <a:ea typeface="굴림" panose="020B0600000101010101" pitchFamily="50" charset="-127"/>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23"/>
                                        </p:tgtEl>
                                        <p:attrNameLst>
                                          <p:attrName>style.visibility</p:attrName>
                                        </p:attrNameLst>
                                      </p:cBhvr>
                                      <p:to>
                                        <p:strVal val="visible"/>
                                      </p:to>
                                    </p:set>
                                    <p:anim calcmode="lin" valueType="num">
                                      <p:cBhvr additive="base">
                                        <p:cTn id="7" dur="500" fill="hold"/>
                                        <p:tgtEl>
                                          <p:spTgt spid="122923"/>
                                        </p:tgtEl>
                                        <p:attrNameLst>
                                          <p:attrName>ppt_x</p:attrName>
                                        </p:attrNameLst>
                                      </p:cBhvr>
                                      <p:tavLst>
                                        <p:tav tm="0">
                                          <p:val>
                                            <p:strVal val="#ppt_x"/>
                                          </p:val>
                                        </p:tav>
                                        <p:tav tm="100000">
                                          <p:val>
                                            <p:strVal val="#ppt_x"/>
                                          </p:val>
                                        </p:tav>
                                      </p:tavLst>
                                    </p:anim>
                                    <p:anim calcmode="lin" valueType="num">
                                      <p:cBhvr additive="base">
                                        <p:cTn id="8" dur="500" fill="hold"/>
                                        <p:tgtEl>
                                          <p:spTgt spid="12292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22908"/>
                                        </p:tgtEl>
                                        <p:attrNameLst>
                                          <p:attrName>style.visibility</p:attrName>
                                        </p:attrNameLst>
                                      </p:cBhvr>
                                      <p:to>
                                        <p:strVal val="visible"/>
                                      </p:to>
                                    </p:set>
                                    <p:animEffect transition="in" filter="dissolve">
                                      <p:cBhvr>
                                        <p:cTn id="13" dur="500"/>
                                        <p:tgtEl>
                                          <p:spTgt spid="12290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22910"/>
                                        </p:tgtEl>
                                        <p:attrNameLst>
                                          <p:attrName>style.visibility</p:attrName>
                                        </p:attrNameLst>
                                      </p:cBhvr>
                                      <p:to>
                                        <p:strVal val="visible"/>
                                      </p:to>
                                    </p:set>
                                    <p:animEffect transition="in" filter="dissolve">
                                      <p:cBhvr>
                                        <p:cTn id="18" dur="500"/>
                                        <p:tgtEl>
                                          <p:spTgt spid="122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8" grpId="0" animBg="1"/>
      <p:bldP spid="122910" grpId="0" animBg="1"/>
      <p:bldP spid="12292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슬라이드 번호 개체 틀 4">
            <a:extLst>
              <a:ext uri="{FF2B5EF4-FFF2-40B4-BE49-F238E27FC236}">
                <a16:creationId xmlns:a16="http://schemas.microsoft.com/office/drawing/2014/main" id="{4355689E-380E-493F-8C96-CBF8B74752EC}"/>
              </a:ext>
            </a:extLst>
          </p:cNvPr>
          <p:cNvSpPr>
            <a:spLocks noGrp="1"/>
          </p:cNvSpPr>
          <p:nvPr>
            <p:ph type="sldNum" sz="quarter" idx="4294967295"/>
          </p:nvPr>
        </p:nvSpPr>
        <p:spPr bwMode="auto">
          <a:xfrm>
            <a:off x="7924800" y="6400800"/>
            <a:ext cx="6858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01EDD359-B8C8-4DFE-8287-D0223D257B1F}" type="slidenum">
              <a:rPr kumimoji="0" lang="en-US" altLang="ko-KR" sz="2400">
                <a:latin typeface="Times New Roman" panose="02020603050405020304" pitchFamily="18" charset="0"/>
                <a:ea typeface="굴림" panose="020B0600000101010101" pitchFamily="50" charset="-127"/>
              </a:rPr>
              <a:pPr>
                <a:spcBef>
                  <a:spcPct val="0"/>
                </a:spcBef>
                <a:buClrTx/>
                <a:buFontTx/>
                <a:buNone/>
              </a:pPr>
              <a:t>42</a:t>
            </a:fld>
            <a:endParaRPr kumimoji="0" lang="en-US" altLang="ko-KR" sz="2400">
              <a:latin typeface="Times New Roman" panose="02020603050405020304" pitchFamily="18" charset="0"/>
              <a:ea typeface="굴림" panose="020B0600000101010101" pitchFamily="50" charset="-127"/>
            </a:endParaRPr>
          </a:p>
        </p:txBody>
      </p:sp>
      <p:sp>
        <p:nvSpPr>
          <p:cNvPr id="91139" name="Rectangle 2">
            <a:extLst>
              <a:ext uri="{FF2B5EF4-FFF2-40B4-BE49-F238E27FC236}">
                <a16:creationId xmlns:a16="http://schemas.microsoft.com/office/drawing/2014/main" id="{EC3737CD-2C30-4745-A0E6-470CAD85B3DE}"/>
              </a:ext>
            </a:extLst>
          </p:cNvPr>
          <p:cNvSpPr>
            <a:spLocks noGrp="1" noChangeArrowheads="1"/>
          </p:cNvSpPr>
          <p:nvPr>
            <p:ph type="title"/>
          </p:nvPr>
        </p:nvSpPr>
        <p:spPr/>
        <p:txBody>
          <a:bodyPr/>
          <a:lstStyle/>
          <a:p>
            <a:r>
              <a:rPr lang="en-US" altLang="ko-KR">
                <a:ea typeface="굴림" panose="020B0600000101010101" pitchFamily="50" charset="-127"/>
              </a:rPr>
              <a:t>Error Correcting and Detecting (1)</a:t>
            </a:r>
          </a:p>
        </p:txBody>
      </p:sp>
      <p:sp>
        <p:nvSpPr>
          <p:cNvPr id="91140" name="Rectangle 3">
            <a:extLst>
              <a:ext uri="{FF2B5EF4-FFF2-40B4-BE49-F238E27FC236}">
                <a16:creationId xmlns:a16="http://schemas.microsoft.com/office/drawing/2014/main" id="{3C501C57-79D9-49CF-85C6-6866E6DD1565}"/>
              </a:ext>
            </a:extLst>
          </p:cNvPr>
          <p:cNvSpPr>
            <a:spLocks noGrp="1" noChangeArrowheads="1"/>
          </p:cNvSpPr>
          <p:nvPr>
            <p:ph type="body" idx="1"/>
          </p:nvPr>
        </p:nvSpPr>
        <p:spPr>
          <a:xfrm>
            <a:off x="304800" y="1066800"/>
            <a:ext cx="8534400" cy="5410200"/>
          </a:xfrm>
        </p:spPr>
        <p:txBody>
          <a:bodyPr/>
          <a:lstStyle/>
          <a:p>
            <a:r>
              <a:rPr lang="en-US" altLang="ko-KR" sz="2400">
                <a:ea typeface="굴림" panose="020B0600000101010101" pitchFamily="50" charset="-127"/>
              </a:rPr>
              <a:t>Given an </a:t>
            </a:r>
            <a:r>
              <a:rPr lang="en-US" altLang="ko-KR" sz="2400" i="1">
                <a:ea typeface="굴림" panose="020B0600000101010101" pitchFamily="50" charset="-127"/>
              </a:rPr>
              <a:t>M</a:t>
            </a:r>
            <a:r>
              <a:rPr lang="en-US" altLang="ko-KR" sz="2400">
                <a:ea typeface="굴림" panose="020B0600000101010101" pitchFamily="50" charset="-127"/>
              </a:rPr>
              <a:t>-bit data is to be stored</a:t>
            </a:r>
          </a:p>
          <a:p>
            <a:pPr lvl="1"/>
            <a:r>
              <a:rPr lang="en-US" altLang="ko-KR" sz="2000">
                <a:solidFill>
                  <a:srgbClr val="0070C0"/>
                </a:solidFill>
                <a:ea typeface="굴림" panose="020B0600000101010101" pitchFamily="50" charset="-127"/>
              </a:rPr>
              <a:t>Step 1. Calculate the value for </a:t>
            </a:r>
            <a:r>
              <a:rPr lang="en-US" altLang="ko-KR" sz="2000" i="1">
                <a:solidFill>
                  <a:srgbClr val="0070C0"/>
                </a:solidFill>
                <a:ea typeface="굴림" panose="020B0600000101010101" pitchFamily="50" charset="-127"/>
              </a:rPr>
              <a:t>K</a:t>
            </a:r>
            <a:r>
              <a:rPr lang="en-US" altLang="ko-KR" sz="2000">
                <a:solidFill>
                  <a:srgbClr val="0070C0"/>
                </a:solidFill>
                <a:ea typeface="굴림" panose="020B0600000101010101" pitchFamily="50" charset="-127"/>
              </a:rPr>
              <a:t>, the # of code bits</a:t>
            </a:r>
          </a:p>
          <a:p>
            <a:pPr lvl="1">
              <a:buFont typeface="Marlett" pitchFamily="2" charset="2"/>
              <a:buNone/>
            </a:pPr>
            <a:r>
              <a:rPr lang="en-US" altLang="ko-KR" sz="2000">
                <a:ea typeface="굴림" panose="020B0600000101010101" pitchFamily="50" charset="-127"/>
              </a:rPr>
              <a:t>			2</a:t>
            </a:r>
            <a:r>
              <a:rPr lang="en-US" altLang="ko-KR" sz="2000" i="1" baseline="30000">
                <a:ea typeface="굴림" panose="020B0600000101010101" pitchFamily="50" charset="-127"/>
              </a:rPr>
              <a:t>K</a:t>
            </a:r>
            <a:r>
              <a:rPr lang="en-US" altLang="ko-KR" sz="2000">
                <a:ea typeface="굴림" panose="020B0600000101010101" pitchFamily="50" charset="-127"/>
              </a:rPr>
              <a:t> – 1 </a:t>
            </a:r>
            <a:r>
              <a:rPr lang="en-US" altLang="ko-KR" sz="2000">
                <a:ea typeface="굴림" panose="020B0600000101010101" pitchFamily="50" charset="-127"/>
                <a:sym typeface="Symbol" panose="05050102010706020507" pitchFamily="18" charset="2"/>
              </a:rPr>
              <a:t></a:t>
            </a:r>
            <a:r>
              <a:rPr lang="en-US" altLang="ko-KR" sz="2000">
                <a:ea typeface="굴림" panose="020B0600000101010101" pitchFamily="50" charset="-127"/>
              </a:rPr>
              <a:t> </a:t>
            </a:r>
            <a:r>
              <a:rPr lang="en-US" altLang="ko-KR" sz="2000" i="1">
                <a:ea typeface="굴림" panose="020B0600000101010101" pitchFamily="50" charset="-127"/>
              </a:rPr>
              <a:t>M</a:t>
            </a:r>
            <a:r>
              <a:rPr lang="en-US" altLang="ko-KR" sz="2000">
                <a:ea typeface="굴림" panose="020B0600000101010101" pitchFamily="50" charset="-127"/>
              </a:rPr>
              <a:t> + </a:t>
            </a:r>
            <a:r>
              <a:rPr lang="en-US" altLang="ko-KR" sz="2000" i="1">
                <a:ea typeface="굴림" panose="020B0600000101010101" pitchFamily="50" charset="-127"/>
              </a:rPr>
              <a:t>K </a:t>
            </a:r>
            <a:endParaRPr lang="en-US" altLang="ko-KR" sz="2000">
              <a:ea typeface="굴림" panose="020B0600000101010101" pitchFamily="50" charset="-127"/>
            </a:endParaRPr>
          </a:p>
          <a:p>
            <a:pPr lvl="1"/>
            <a:r>
              <a:rPr lang="en-US" altLang="ko-KR" sz="2000">
                <a:solidFill>
                  <a:srgbClr val="0070C0"/>
                </a:solidFill>
                <a:ea typeface="굴림" panose="020B0600000101010101" pitchFamily="50" charset="-127"/>
              </a:rPr>
              <a:t>Step 2. Position </a:t>
            </a:r>
            <a:r>
              <a:rPr lang="en-US" altLang="ko-KR" sz="2000" i="1">
                <a:solidFill>
                  <a:srgbClr val="0070C0"/>
                </a:solidFill>
                <a:ea typeface="굴림" panose="020B0600000101010101" pitchFamily="50" charset="-127"/>
              </a:rPr>
              <a:t>M</a:t>
            </a:r>
            <a:r>
              <a:rPr lang="en-US" altLang="ko-KR" sz="2000">
                <a:solidFill>
                  <a:srgbClr val="0070C0"/>
                </a:solidFill>
                <a:ea typeface="굴림" panose="020B0600000101010101" pitchFamily="50" charset="-127"/>
              </a:rPr>
              <a:t> data bits and </a:t>
            </a:r>
            <a:r>
              <a:rPr lang="en-US" altLang="ko-KR" sz="2000" i="1">
                <a:solidFill>
                  <a:srgbClr val="0070C0"/>
                </a:solidFill>
                <a:ea typeface="굴림" panose="020B0600000101010101" pitchFamily="50" charset="-127"/>
              </a:rPr>
              <a:t>K</a:t>
            </a:r>
            <a:r>
              <a:rPr lang="en-US" altLang="ko-KR" sz="2000">
                <a:solidFill>
                  <a:srgbClr val="0070C0"/>
                </a:solidFill>
                <a:ea typeface="굴림" panose="020B0600000101010101" pitchFamily="50" charset="-127"/>
              </a:rPr>
              <a:t> code bits in codeword. 		          code bits position number are power of 2 </a:t>
            </a:r>
          </a:p>
          <a:p>
            <a:pPr lvl="1"/>
            <a:r>
              <a:rPr lang="en-US" altLang="ko-KR" sz="2000">
                <a:solidFill>
                  <a:srgbClr val="0070C0"/>
                </a:solidFill>
                <a:ea typeface="굴림" panose="020B0600000101010101" pitchFamily="50" charset="-127"/>
              </a:rPr>
              <a:t>Step 3. Use </a:t>
            </a:r>
            <a:r>
              <a:rPr lang="en-US" altLang="ko-KR" sz="2000" i="1">
                <a:solidFill>
                  <a:srgbClr val="0070C0"/>
                </a:solidFill>
                <a:ea typeface="굴림" panose="020B0600000101010101" pitchFamily="50" charset="-127"/>
              </a:rPr>
              <a:t>even</a:t>
            </a:r>
            <a:r>
              <a:rPr lang="en-US" altLang="ko-KR" sz="2000">
                <a:solidFill>
                  <a:srgbClr val="0070C0"/>
                </a:solidFill>
                <a:ea typeface="굴림" panose="020B0600000101010101" pitchFamily="50" charset="-127"/>
              </a:rPr>
              <a:t> </a:t>
            </a:r>
            <a:r>
              <a:rPr lang="en-US" altLang="ko-KR" sz="2000" i="1">
                <a:solidFill>
                  <a:srgbClr val="0070C0"/>
                </a:solidFill>
                <a:ea typeface="굴림" panose="020B0600000101010101" pitchFamily="50" charset="-127"/>
              </a:rPr>
              <a:t>parity</a:t>
            </a:r>
            <a:r>
              <a:rPr lang="en-US" altLang="ko-KR" sz="2000">
                <a:solidFill>
                  <a:srgbClr val="0070C0"/>
                </a:solidFill>
                <a:ea typeface="굴림" panose="020B0600000101010101" pitchFamily="50" charset="-127"/>
              </a:rPr>
              <a:t> to calculate the code bits’ 			values</a:t>
            </a:r>
          </a:p>
          <a:p>
            <a:r>
              <a:rPr lang="en-US" altLang="ko-KR" sz="2400">
                <a:ea typeface="굴림" panose="020B0600000101010101" pitchFamily="50" charset="-127"/>
              </a:rPr>
              <a:t>How to correct error when a codeword is retrieved</a:t>
            </a:r>
          </a:p>
          <a:p>
            <a:pPr lvl="1"/>
            <a:r>
              <a:rPr lang="en-US" altLang="ko-KR" sz="2000">
                <a:solidFill>
                  <a:srgbClr val="0070C0"/>
                </a:solidFill>
                <a:ea typeface="굴림" panose="020B0600000101010101" pitchFamily="50" charset="-127"/>
              </a:rPr>
              <a:t>Step 1. Recalculate code bits’ value</a:t>
            </a:r>
          </a:p>
          <a:p>
            <a:pPr lvl="1"/>
            <a:r>
              <a:rPr lang="en-US" altLang="ko-KR" sz="2000">
                <a:solidFill>
                  <a:srgbClr val="0070C0"/>
                </a:solidFill>
                <a:ea typeface="굴림" panose="020B0600000101010101" pitchFamily="50" charset="-127"/>
              </a:rPr>
              <a:t>Step 2. </a:t>
            </a:r>
            <a:r>
              <a:rPr lang="en-US" altLang="ko-KR" sz="2000" i="1">
                <a:solidFill>
                  <a:srgbClr val="0070C0"/>
                </a:solidFill>
                <a:ea typeface="굴림" panose="020B0600000101010101" pitchFamily="50" charset="-127"/>
              </a:rPr>
              <a:t>Syndrome</a:t>
            </a:r>
            <a:r>
              <a:rPr lang="en-US" altLang="ko-KR" sz="2000">
                <a:solidFill>
                  <a:srgbClr val="0070C0"/>
                </a:solidFill>
                <a:ea typeface="굴림" panose="020B0600000101010101" pitchFamily="50" charset="-127"/>
              </a:rPr>
              <a:t> = old code bits </a:t>
            </a:r>
            <a:r>
              <a:rPr lang="en-US" altLang="ko-KR" sz="2000" i="1">
                <a:solidFill>
                  <a:srgbClr val="0070C0"/>
                </a:solidFill>
                <a:ea typeface="굴림" panose="020B0600000101010101" pitchFamily="50" charset="-127"/>
              </a:rPr>
              <a:t>XOR</a:t>
            </a:r>
            <a:r>
              <a:rPr lang="en-US" altLang="ko-KR" sz="2000">
                <a:solidFill>
                  <a:srgbClr val="0070C0"/>
                </a:solidFill>
                <a:ea typeface="굴림" panose="020B0600000101010101" pitchFamily="50" charset="-127"/>
              </a:rPr>
              <a:t> new code bits</a:t>
            </a:r>
          </a:p>
          <a:p>
            <a:pPr lvl="1"/>
            <a:r>
              <a:rPr lang="en-US" altLang="ko-KR" sz="2000">
                <a:solidFill>
                  <a:srgbClr val="0070C0"/>
                </a:solidFill>
                <a:ea typeface="굴림" panose="020B0600000101010101" pitchFamily="50" charset="-127"/>
              </a:rPr>
              <a:t>Step 3. If Syndrome = 0 then no error					else Syndrome = error position </a:t>
            </a:r>
            <a:r>
              <a:rPr lang="en-US" altLang="ko-KR" sz="2000">
                <a:solidFill>
                  <a:srgbClr val="0070C0"/>
                </a:solidFill>
                <a:ea typeface="굴림" panose="020B0600000101010101" pitchFamily="50" charset="-127"/>
                <a:sym typeface="Wingdings" panose="05000000000000000000" pitchFamily="2" charset="2"/>
              </a:rPr>
              <a:t> flip that bits</a:t>
            </a:r>
            <a:r>
              <a:rPr lang="en-US" altLang="ko-KR" sz="2000">
                <a:solidFill>
                  <a:srgbClr val="0070C0"/>
                </a:solidFill>
                <a:ea typeface="굴림" panose="020B0600000101010101" pitchFamily="50" charset="-127"/>
              </a:rPr>
              <a:t>  </a:t>
            </a:r>
          </a:p>
        </p:txBody>
      </p:sp>
      <p:sp>
        <p:nvSpPr>
          <p:cNvPr id="6" name="TextBox 5">
            <a:extLst>
              <a:ext uri="{FF2B5EF4-FFF2-40B4-BE49-F238E27FC236}">
                <a16:creationId xmlns:a16="http://schemas.microsoft.com/office/drawing/2014/main" id="{81E9A369-4CB1-4FD5-93A9-CD6146F51BAD}"/>
              </a:ext>
            </a:extLst>
          </p:cNvPr>
          <p:cNvSpPr txBox="1"/>
          <p:nvPr/>
        </p:nvSpPr>
        <p:spPr>
          <a:xfrm>
            <a:off x="5357813" y="214313"/>
            <a:ext cx="3417887" cy="830262"/>
          </a:xfrm>
          <a:prstGeom prst="rect">
            <a:avLst/>
          </a:prstGeom>
          <a:solidFill>
            <a:schemeClr val="accent2">
              <a:lumMod val="20000"/>
              <a:lumOff val="80000"/>
            </a:schemeClr>
          </a:solidFill>
        </p:spPr>
        <p:txBody>
          <a:bodyPr wrap="none">
            <a:spAutoFit/>
          </a:bodyPr>
          <a:lstStyle/>
          <a:p>
            <a:pPr>
              <a:defRPr/>
            </a:pPr>
            <a:r>
              <a:rPr lang="en-US" altLang="ko-KR" sz="1600" dirty="0">
                <a:solidFill>
                  <a:srgbClr val="3333CC"/>
                </a:solidFill>
                <a:latin typeface="맑은 고딕" pitchFamily="50" charset="-127"/>
                <a:ea typeface="맑은 고딕" pitchFamily="50" charset="-127"/>
              </a:rPr>
              <a:t>code word K</a:t>
            </a:r>
            <a:r>
              <a:rPr lang="ko-KR" altLang="en-US" sz="1600" dirty="0">
                <a:solidFill>
                  <a:srgbClr val="3333CC"/>
                </a:solidFill>
                <a:latin typeface="맑은 고딕" pitchFamily="50" charset="-127"/>
                <a:ea typeface="맑은 고딕" pitchFamily="50" charset="-127"/>
              </a:rPr>
              <a:t>는 </a:t>
            </a:r>
            <a:r>
              <a:rPr lang="en-US" altLang="ko-KR" sz="1600" dirty="0">
                <a:solidFill>
                  <a:srgbClr val="3333CC"/>
                </a:solidFill>
                <a:latin typeface="맑은 고딕" pitchFamily="50" charset="-127"/>
                <a:ea typeface="맑은 고딕" pitchFamily="50" charset="-127"/>
              </a:rPr>
              <a:t>M+K </a:t>
            </a:r>
            <a:r>
              <a:rPr lang="ko-KR" altLang="en-US" sz="1600" dirty="0">
                <a:solidFill>
                  <a:srgbClr val="3333CC"/>
                </a:solidFill>
                <a:latin typeface="맑은 고딕" pitchFamily="50" charset="-127"/>
                <a:ea typeface="맑은 고딕" pitchFamily="50" charset="-127"/>
              </a:rPr>
              <a:t>길이의</a:t>
            </a:r>
            <a:endParaRPr lang="en-US" altLang="ko-KR" sz="1600" dirty="0">
              <a:solidFill>
                <a:srgbClr val="3333CC"/>
              </a:solidFill>
              <a:latin typeface="맑은 고딕" pitchFamily="50" charset="-127"/>
              <a:ea typeface="맑은 고딕" pitchFamily="50" charset="-127"/>
            </a:endParaRPr>
          </a:p>
          <a:p>
            <a:pPr>
              <a:defRPr/>
            </a:pPr>
            <a:r>
              <a:rPr lang="ko-KR" altLang="en-US" sz="1600" dirty="0">
                <a:solidFill>
                  <a:srgbClr val="3333CC"/>
                </a:solidFill>
                <a:latin typeface="맑은 고딕" pitchFamily="50" charset="-127"/>
                <a:ea typeface="맑은 고딕" pitchFamily="50" charset="-127"/>
              </a:rPr>
              <a:t>코드 위치를 모두 표현해야 하므로 </a:t>
            </a:r>
            <a:endParaRPr lang="en-US" altLang="ko-KR" sz="1600" dirty="0">
              <a:solidFill>
                <a:srgbClr val="3333CC"/>
              </a:solidFill>
              <a:latin typeface="맑은 고딕" pitchFamily="50" charset="-127"/>
              <a:ea typeface="맑은 고딕" pitchFamily="50" charset="-127"/>
            </a:endParaRPr>
          </a:p>
          <a:p>
            <a:pPr>
              <a:defRPr/>
            </a:pPr>
            <a:r>
              <a:rPr lang="en-US" altLang="ko-KR" sz="1600" dirty="0">
                <a:solidFill>
                  <a:srgbClr val="3333CC"/>
                </a:solidFill>
                <a:latin typeface="맑은 고딕" pitchFamily="50" charset="-127"/>
                <a:ea typeface="맑은 고딕" pitchFamily="50" charset="-127"/>
              </a:rPr>
              <a:t>2</a:t>
            </a:r>
            <a:r>
              <a:rPr lang="en-US" altLang="ko-KR" sz="1600" baseline="30000" dirty="0">
                <a:solidFill>
                  <a:srgbClr val="3333CC"/>
                </a:solidFill>
                <a:latin typeface="맑은 고딕" pitchFamily="50" charset="-127"/>
                <a:ea typeface="맑은 고딕" pitchFamily="50" charset="-127"/>
              </a:rPr>
              <a:t>K</a:t>
            </a:r>
            <a:r>
              <a:rPr lang="en-US" altLang="ko-KR" sz="1600" dirty="0">
                <a:solidFill>
                  <a:srgbClr val="3333CC"/>
                </a:solidFill>
                <a:latin typeface="맑은 고딕" pitchFamily="50" charset="-127"/>
                <a:ea typeface="맑은 고딕" pitchFamily="50" charset="-127"/>
              </a:rPr>
              <a:t>-1 </a:t>
            </a:r>
            <a:r>
              <a:rPr lang="ko-KR" altLang="en-US" sz="1600" dirty="0">
                <a:solidFill>
                  <a:srgbClr val="3333CC"/>
                </a:solidFill>
                <a:latin typeface="맑은 고딕" pitchFamily="50" charset="-127"/>
                <a:ea typeface="맑은 고딕" pitchFamily="50" charset="-127"/>
              </a:rPr>
              <a:t>값을 가져야 함</a:t>
            </a:r>
            <a:endParaRPr lang="en-US" altLang="ko-KR" sz="1600" dirty="0">
              <a:solidFill>
                <a:srgbClr val="3333CC"/>
              </a:solidFill>
              <a:latin typeface="맑은 고딕" pitchFamily="50" charset="-127"/>
              <a:ea typeface="맑은 고딕" pitchFamily="50" charset="-127"/>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슬라이드 번호 개체 틀 4">
            <a:extLst>
              <a:ext uri="{FF2B5EF4-FFF2-40B4-BE49-F238E27FC236}">
                <a16:creationId xmlns:a16="http://schemas.microsoft.com/office/drawing/2014/main" id="{462FC0E7-50EC-4D0E-A8F1-E20BB9369B69}"/>
              </a:ext>
            </a:extLst>
          </p:cNvPr>
          <p:cNvSpPr>
            <a:spLocks noGrp="1"/>
          </p:cNvSpPr>
          <p:nvPr>
            <p:ph type="sldNum" sz="quarter" idx="4294967295"/>
          </p:nvPr>
        </p:nvSpPr>
        <p:spPr bwMode="auto">
          <a:xfrm>
            <a:off x="7924800" y="6400800"/>
            <a:ext cx="6858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106454BC-F17D-468C-8716-1D88F2AB5A43}" type="slidenum">
              <a:rPr kumimoji="0" lang="en-US" altLang="ko-KR" sz="2400">
                <a:latin typeface="Times New Roman" panose="02020603050405020304" pitchFamily="18" charset="0"/>
                <a:ea typeface="굴림" panose="020B0600000101010101" pitchFamily="50" charset="-127"/>
              </a:rPr>
              <a:pPr>
                <a:spcBef>
                  <a:spcPct val="0"/>
                </a:spcBef>
                <a:buClrTx/>
                <a:buFontTx/>
                <a:buNone/>
              </a:pPr>
              <a:t>43</a:t>
            </a:fld>
            <a:endParaRPr kumimoji="0" lang="en-US" altLang="ko-KR" sz="2400">
              <a:latin typeface="Times New Roman" panose="02020603050405020304" pitchFamily="18" charset="0"/>
              <a:ea typeface="굴림" panose="020B0600000101010101" pitchFamily="50" charset="-127"/>
            </a:endParaRPr>
          </a:p>
        </p:txBody>
      </p:sp>
      <p:sp>
        <p:nvSpPr>
          <p:cNvPr id="93187" name="Rectangle 2">
            <a:extLst>
              <a:ext uri="{FF2B5EF4-FFF2-40B4-BE49-F238E27FC236}">
                <a16:creationId xmlns:a16="http://schemas.microsoft.com/office/drawing/2014/main" id="{C800E3FF-C2BC-44EA-8778-854BD568DA65}"/>
              </a:ext>
            </a:extLst>
          </p:cNvPr>
          <p:cNvSpPr>
            <a:spLocks noGrp="1" noChangeArrowheads="1"/>
          </p:cNvSpPr>
          <p:nvPr>
            <p:ph type="title"/>
          </p:nvPr>
        </p:nvSpPr>
        <p:spPr/>
        <p:txBody>
          <a:bodyPr/>
          <a:lstStyle/>
          <a:p>
            <a:r>
              <a:rPr lang="en-US" altLang="ko-KR">
                <a:ea typeface="굴림" panose="020B0600000101010101" pitchFamily="50" charset="-127"/>
              </a:rPr>
              <a:t>Error Checking Overhead</a:t>
            </a:r>
          </a:p>
        </p:txBody>
      </p:sp>
      <p:pic>
        <p:nvPicPr>
          <p:cNvPr id="93188" name="Picture 3">
            <a:extLst>
              <a:ext uri="{FF2B5EF4-FFF2-40B4-BE49-F238E27FC236}">
                <a16:creationId xmlns:a16="http://schemas.microsoft.com/office/drawing/2014/main" id="{E0338D67-E9E5-496B-8596-309436A3650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8600" y="1524000"/>
            <a:ext cx="8534400" cy="3835400"/>
          </a:xfrm>
          <a:noFill/>
        </p:spPr>
      </p:pic>
      <p:sp>
        <p:nvSpPr>
          <p:cNvPr id="92164" name="Text Box 4">
            <a:extLst>
              <a:ext uri="{FF2B5EF4-FFF2-40B4-BE49-F238E27FC236}">
                <a16:creationId xmlns:a16="http://schemas.microsoft.com/office/drawing/2014/main" id="{0ECF02BF-ED34-426E-ABA2-AEA975A3383C}"/>
              </a:ext>
            </a:extLst>
          </p:cNvPr>
          <p:cNvSpPr txBox="1">
            <a:spLocks noChangeArrowheads="1"/>
          </p:cNvSpPr>
          <p:nvPr/>
        </p:nvSpPr>
        <p:spPr bwMode="auto">
          <a:xfrm>
            <a:off x="946150" y="5160963"/>
            <a:ext cx="2227263" cy="396875"/>
          </a:xfrm>
          <a:prstGeom prst="rect">
            <a:avLst/>
          </a:prstGeom>
          <a:noFill/>
          <a:ln w="9525">
            <a:noFill/>
            <a:miter lim="800000"/>
            <a:headEnd/>
            <a:tailEnd/>
          </a:ln>
          <a:effectLst/>
        </p:spPr>
        <p:txBody>
          <a:bodyPr wrap="none" lIns="90000" tIns="46800" rIns="90000" bIns="46800">
            <a:spAutoFit/>
          </a:bodyPr>
          <a:lstStyle/>
          <a:p>
            <a:pPr>
              <a:defRPr/>
            </a:pPr>
            <a:r>
              <a:rPr lang="en-US" altLang="zh-TW" sz="2000" b="1" i="1">
                <a:effectLst>
                  <a:outerShdw blurRad="38100" dist="38100" dir="2700000" algn="tl">
                    <a:srgbClr val="C0C0C0"/>
                  </a:outerShdw>
                </a:effectLst>
                <a:ea typeface="PMingLiU" pitchFamily="18" charset="-120"/>
              </a:rPr>
              <a:t>M                          K</a:t>
            </a:r>
          </a:p>
        </p:txBody>
      </p:sp>
      <p:sp>
        <p:nvSpPr>
          <p:cNvPr id="93190" name="Text Box 5">
            <a:extLst>
              <a:ext uri="{FF2B5EF4-FFF2-40B4-BE49-F238E27FC236}">
                <a16:creationId xmlns:a16="http://schemas.microsoft.com/office/drawing/2014/main" id="{958AED55-B766-4F9A-AE62-7DADD6105269}"/>
              </a:ext>
            </a:extLst>
          </p:cNvPr>
          <p:cNvSpPr txBox="1">
            <a:spLocks noChangeArrowheads="1"/>
          </p:cNvSpPr>
          <p:nvPr/>
        </p:nvSpPr>
        <p:spPr bwMode="auto">
          <a:xfrm>
            <a:off x="3729038" y="5718175"/>
            <a:ext cx="22113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zh-TW" altLang="en-US" b="1">
                <a:latin typeface="Times New Roman" panose="02020603050405020304" pitchFamily="18" charset="0"/>
                <a:ea typeface="PMingLiU" panose="02020500000000000000" pitchFamily="18" charset="-120"/>
              </a:rPr>
              <a:t>2</a:t>
            </a:r>
            <a:r>
              <a:rPr kumimoji="0" lang="en-US" altLang="zh-TW" b="1" i="1" baseline="30000">
                <a:latin typeface="Times New Roman" panose="02020603050405020304" pitchFamily="18" charset="0"/>
                <a:ea typeface="PMingLiU" panose="02020500000000000000" pitchFamily="18" charset="-120"/>
              </a:rPr>
              <a:t>K</a:t>
            </a:r>
            <a:r>
              <a:rPr kumimoji="0" lang="en-US" altLang="zh-TW" b="1">
                <a:latin typeface="Times New Roman" panose="02020603050405020304" pitchFamily="18" charset="0"/>
                <a:ea typeface="PMingLiU" panose="02020500000000000000" pitchFamily="18" charset="-120"/>
              </a:rPr>
              <a:t>-1 </a:t>
            </a:r>
            <a:r>
              <a:rPr kumimoji="0" lang="en-US" altLang="zh-TW" b="1">
                <a:latin typeface="Times New Roman" panose="02020603050405020304" pitchFamily="18" charset="0"/>
                <a:ea typeface="PMingLiU" panose="02020500000000000000" pitchFamily="18" charset="-120"/>
                <a:sym typeface="Symbol" panose="05050102010706020507" pitchFamily="18" charset="2"/>
              </a:rPr>
              <a:t></a:t>
            </a:r>
            <a:r>
              <a:rPr kumimoji="0" lang="en-US" altLang="zh-TW" b="1">
                <a:latin typeface="Times New Roman" panose="02020603050405020304" pitchFamily="18" charset="0"/>
                <a:ea typeface="PMingLiU" panose="02020500000000000000" pitchFamily="18" charset="-120"/>
              </a:rPr>
              <a:t>  </a:t>
            </a:r>
            <a:r>
              <a:rPr kumimoji="0" lang="en-US" altLang="zh-TW" b="1" i="1">
                <a:latin typeface="Times New Roman" panose="02020603050405020304" pitchFamily="18" charset="0"/>
                <a:ea typeface="PMingLiU" panose="02020500000000000000" pitchFamily="18" charset="-120"/>
              </a:rPr>
              <a:t>M </a:t>
            </a:r>
            <a:r>
              <a:rPr kumimoji="0" lang="en-US" altLang="zh-TW" b="1">
                <a:latin typeface="Times New Roman" panose="02020603050405020304" pitchFamily="18" charset="0"/>
                <a:ea typeface="PMingLiU" panose="02020500000000000000" pitchFamily="18" charset="-120"/>
              </a:rPr>
              <a:t>+ </a:t>
            </a:r>
            <a:r>
              <a:rPr kumimoji="0" lang="en-US" altLang="zh-TW" b="1" i="1">
                <a:latin typeface="Times New Roman" panose="02020603050405020304" pitchFamily="18" charset="0"/>
                <a:ea typeface="PMingLiU" panose="02020500000000000000" pitchFamily="18" charset="-120"/>
              </a:rPr>
              <a:t>K</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슬라이드 번호 개체 틀 4">
            <a:extLst>
              <a:ext uri="{FF2B5EF4-FFF2-40B4-BE49-F238E27FC236}">
                <a16:creationId xmlns:a16="http://schemas.microsoft.com/office/drawing/2014/main" id="{3DC4D9BE-87C2-492F-A274-9CE68C0F4DC5}"/>
              </a:ext>
            </a:extLst>
          </p:cNvPr>
          <p:cNvSpPr>
            <a:spLocks noGrp="1"/>
          </p:cNvSpPr>
          <p:nvPr>
            <p:ph type="sldNum" sz="quarter" idx="4294967295"/>
          </p:nvPr>
        </p:nvSpPr>
        <p:spPr bwMode="auto">
          <a:xfrm>
            <a:off x="7924800" y="6400800"/>
            <a:ext cx="6858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A33B4334-B286-4621-AF94-783B908B5A64}" type="slidenum">
              <a:rPr kumimoji="0" lang="en-US" altLang="ko-KR" sz="2400">
                <a:latin typeface="Times New Roman" panose="02020603050405020304" pitchFamily="18" charset="0"/>
                <a:ea typeface="굴림" panose="020B0600000101010101" pitchFamily="50" charset="-127"/>
              </a:rPr>
              <a:pPr>
                <a:spcBef>
                  <a:spcPct val="0"/>
                </a:spcBef>
                <a:buClrTx/>
                <a:buFontTx/>
                <a:buNone/>
              </a:pPr>
              <a:t>44</a:t>
            </a:fld>
            <a:endParaRPr kumimoji="0" lang="en-US" altLang="ko-KR" sz="2400">
              <a:latin typeface="Times New Roman" panose="02020603050405020304" pitchFamily="18" charset="0"/>
              <a:ea typeface="굴림" panose="020B0600000101010101" pitchFamily="50" charset="-127"/>
            </a:endParaRPr>
          </a:p>
        </p:txBody>
      </p:sp>
      <p:sp>
        <p:nvSpPr>
          <p:cNvPr id="95235" name="Rectangle 72">
            <a:extLst>
              <a:ext uri="{FF2B5EF4-FFF2-40B4-BE49-F238E27FC236}">
                <a16:creationId xmlns:a16="http://schemas.microsoft.com/office/drawing/2014/main" id="{FAA4FF16-7112-4CBC-AFB0-7A2D2974B9BA}"/>
              </a:ext>
            </a:extLst>
          </p:cNvPr>
          <p:cNvSpPr>
            <a:spLocks noChangeArrowheads="1"/>
          </p:cNvSpPr>
          <p:nvPr/>
        </p:nvSpPr>
        <p:spPr bwMode="auto">
          <a:xfrm>
            <a:off x="2571750" y="5286375"/>
            <a:ext cx="2362200" cy="685800"/>
          </a:xfrm>
          <a:prstGeom prst="rect">
            <a:avLst/>
          </a:prstGeom>
          <a:solidFill>
            <a:srgbClr val="99CCFF"/>
          </a:solidFill>
          <a:ln w="9525">
            <a:solidFill>
              <a:schemeClr val="tx1"/>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ko-KR" sz="2000">
                <a:latin typeface="Tahoma" panose="020B0604030504040204" pitchFamily="34" charset="0"/>
                <a:ea typeface="굴림" panose="020B0600000101010101" pitchFamily="50" charset="-127"/>
              </a:rPr>
              <a:t>8 </a:t>
            </a:r>
            <a:br>
              <a:rPr kumimoji="0" lang="en-US" altLang="ko-KR" sz="2000">
                <a:latin typeface="Tahoma" panose="020B0604030504040204" pitchFamily="34" charset="0"/>
                <a:ea typeface="굴림" panose="020B0600000101010101" pitchFamily="50" charset="-127"/>
              </a:rPr>
            </a:br>
            <a:r>
              <a:rPr kumimoji="0" lang="en-US" altLang="ko-KR" sz="2000">
                <a:latin typeface="Tahoma" panose="020B0604030504040204" pitchFamily="34" charset="0"/>
                <a:ea typeface="굴림" panose="020B0600000101010101" pitchFamily="50" charset="-127"/>
              </a:rPr>
              <a:t>data bits</a:t>
            </a:r>
          </a:p>
        </p:txBody>
      </p:sp>
      <p:sp>
        <p:nvSpPr>
          <p:cNvPr id="95236" name="Rectangle 73">
            <a:extLst>
              <a:ext uri="{FF2B5EF4-FFF2-40B4-BE49-F238E27FC236}">
                <a16:creationId xmlns:a16="http://schemas.microsoft.com/office/drawing/2014/main" id="{46A8409A-ABB7-4F7E-9AF3-F8676DB1405D}"/>
              </a:ext>
            </a:extLst>
          </p:cNvPr>
          <p:cNvSpPr>
            <a:spLocks noChangeArrowheads="1"/>
          </p:cNvSpPr>
          <p:nvPr/>
        </p:nvSpPr>
        <p:spPr bwMode="auto">
          <a:xfrm>
            <a:off x="4933950" y="5284788"/>
            <a:ext cx="1219200" cy="685800"/>
          </a:xfrm>
          <a:prstGeom prst="rect">
            <a:avLst/>
          </a:prstGeom>
          <a:solidFill>
            <a:srgbClr val="99CCFF"/>
          </a:solidFill>
          <a:ln w="9525">
            <a:solidFill>
              <a:schemeClr val="tx1"/>
            </a:solidFill>
            <a:miter lim="800000"/>
            <a:headEnd/>
            <a:tailEnd/>
          </a:ln>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ko-KR" sz="2000">
                <a:latin typeface="Tahoma" panose="020B0604030504040204" pitchFamily="34" charset="0"/>
                <a:ea typeface="굴림" panose="020B0600000101010101" pitchFamily="50" charset="-127"/>
              </a:rPr>
              <a:t>4 </a:t>
            </a:r>
            <a:br>
              <a:rPr kumimoji="0" lang="en-US" altLang="ko-KR" sz="2000">
                <a:latin typeface="Tahoma" panose="020B0604030504040204" pitchFamily="34" charset="0"/>
                <a:ea typeface="굴림" panose="020B0600000101010101" pitchFamily="50" charset="-127"/>
              </a:rPr>
            </a:br>
            <a:r>
              <a:rPr kumimoji="0" lang="en-US" altLang="ko-KR" sz="2000">
                <a:latin typeface="Tahoma" panose="020B0604030504040204" pitchFamily="34" charset="0"/>
                <a:ea typeface="굴림" panose="020B0600000101010101" pitchFamily="50" charset="-127"/>
              </a:rPr>
              <a:t>check bits</a:t>
            </a:r>
          </a:p>
        </p:txBody>
      </p:sp>
      <p:sp>
        <p:nvSpPr>
          <p:cNvPr id="95237" name="Rectangle 109">
            <a:extLst>
              <a:ext uri="{FF2B5EF4-FFF2-40B4-BE49-F238E27FC236}">
                <a16:creationId xmlns:a16="http://schemas.microsoft.com/office/drawing/2014/main" id="{5BAEC7BC-0517-49EB-B0B6-BCDBBCB8DA39}"/>
              </a:ext>
            </a:extLst>
          </p:cNvPr>
          <p:cNvSpPr>
            <a:spLocks noGrp="1" noChangeArrowheads="1"/>
          </p:cNvSpPr>
          <p:nvPr>
            <p:ph type="title"/>
          </p:nvPr>
        </p:nvSpPr>
        <p:spPr/>
        <p:txBody>
          <a:bodyPr/>
          <a:lstStyle/>
          <a:p>
            <a:r>
              <a:rPr lang="en-GB" altLang="ko-KR">
                <a:ea typeface="굴림" panose="020B0600000101010101" pitchFamily="50" charset="-127"/>
              </a:rPr>
              <a:t>Single Bit Errors in 8-bit words</a:t>
            </a:r>
            <a:endParaRPr lang="en-US" altLang="ko-KR">
              <a:ea typeface="굴림" panose="020B0600000101010101" pitchFamily="50" charset="-127"/>
            </a:endParaRPr>
          </a:p>
        </p:txBody>
      </p:sp>
      <p:sp>
        <p:nvSpPr>
          <p:cNvPr id="95238" name="Rectangle 110">
            <a:extLst>
              <a:ext uri="{FF2B5EF4-FFF2-40B4-BE49-F238E27FC236}">
                <a16:creationId xmlns:a16="http://schemas.microsoft.com/office/drawing/2014/main" id="{6977D3F1-0A4C-45ED-9AF5-E905C132F025}"/>
              </a:ext>
            </a:extLst>
          </p:cNvPr>
          <p:cNvSpPr>
            <a:spLocks noGrp="1" noChangeArrowheads="1"/>
          </p:cNvSpPr>
          <p:nvPr>
            <p:ph type="body" idx="1"/>
          </p:nvPr>
        </p:nvSpPr>
        <p:spPr/>
        <p:txBody>
          <a:bodyPr/>
          <a:lstStyle/>
          <a:p>
            <a:r>
              <a:rPr lang="en-GB" altLang="ko-KR" sz="2000">
                <a:ea typeface="굴림" panose="020B0600000101010101" pitchFamily="50" charset="-127"/>
              </a:rPr>
              <a:t>Data and check bits arranged into a 12-bit word.</a:t>
            </a:r>
          </a:p>
          <a:p>
            <a:r>
              <a:rPr lang="en-GB" altLang="ko-KR" sz="2000">
                <a:ea typeface="굴림" panose="020B0600000101010101" pitchFamily="50" charset="-127"/>
              </a:rPr>
              <a:t>Bit positions numbered from 1 to 12.</a:t>
            </a:r>
          </a:p>
          <a:p>
            <a:r>
              <a:rPr lang="en-GB" altLang="ko-KR" sz="2000">
                <a:ea typeface="굴림" panose="020B0600000101010101" pitchFamily="50" charset="-127"/>
              </a:rPr>
              <a:t>Bit positions representing position numbers that are powers of 2 are designated as check bits.</a:t>
            </a:r>
          </a:p>
          <a:p>
            <a:r>
              <a:rPr lang="en-GB" altLang="ko-KR" sz="2000">
                <a:ea typeface="굴림" panose="020B0600000101010101" pitchFamily="50" charset="-127"/>
              </a:rPr>
              <a:t>Check bits calculated as follows:</a:t>
            </a:r>
          </a:p>
          <a:p>
            <a:endParaRPr lang="en-GB" altLang="ko-KR" sz="2000">
              <a:ea typeface="굴림" panose="020B0600000101010101" pitchFamily="50" charset="-127"/>
            </a:endParaRPr>
          </a:p>
          <a:p>
            <a:endParaRPr lang="en-GB" altLang="ko-KR" sz="2000">
              <a:ea typeface="굴림" panose="020B0600000101010101" pitchFamily="50" charset="-127"/>
            </a:endParaRPr>
          </a:p>
          <a:p>
            <a:endParaRPr lang="en-GB" altLang="ko-KR" sz="2000">
              <a:ea typeface="굴림" panose="020B0600000101010101" pitchFamily="50" charset="-127"/>
            </a:endParaRPr>
          </a:p>
          <a:p>
            <a:endParaRPr lang="en-GB" altLang="ko-KR" sz="2000">
              <a:ea typeface="굴림" panose="020B0600000101010101" pitchFamily="50" charset="-127"/>
            </a:endParaRPr>
          </a:p>
          <a:p>
            <a:endParaRPr lang="en-GB" altLang="ko-KR" sz="2000">
              <a:ea typeface="굴림" panose="020B0600000101010101" pitchFamily="50" charset="-127"/>
            </a:endParaRPr>
          </a:p>
          <a:p>
            <a:r>
              <a:rPr lang="en-GB" altLang="ko-KR" sz="2000">
                <a:ea typeface="굴림" panose="020B0600000101010101" pitchFamily="50" charset="-127"/>
              </a:rPr>
              <a:t>Data and check bits arranged into a 12 bit syndrome word:</a:t>
            </a:r>
            <a:endParaRPr lang="en-US" altLang="ko-KR" sz="2000">
              <a:ea typeface="굴림" panose="020B0600000101010101" pitchFamily="50" charset="-127"/>
            </a:endParaRPr>
          </a:p>
        </p:txBody>
      </p:sp>
      <p:grpSp>
        <p:nvGrpSpPr>
          <p:cNvPr id="95239" name="Group 180">
            <a:extLst>
              <a:ext uri="{FF2B5EF4-FFF2-40B4-BE49-F238E27FC236}">
                <a16:creationId xmlns:a16="http://schemas.microsoft.com/office/drawing/2014/main" id="{0D9B6621-7247-4AF8-81E2-88AFE3A908E8}"/>
              </a:ext>
            </a:extLst>
          </p:cNvPr>
          <p:cNvGrpSpPr>
            <a:grpSpLocks/>
          </p:cNvGrpSpPr>
          <p:nvPr/>
        </p:nvGrpSpPr>
        <p:grpSpPr bwMode="auto">
          <a:xfrm>
            <a:off x="785813" y="3000375"/>
            <a:ext cx="7772400" cy="1581150"/>
            <a:chOff x="576" y="1740"/>
            <a:chExt cx="4896" cy="996"/>
          </a:xfrm>
        </p:grpSpPr>
        <p:sp>
          <p:nvSpPr>
            <p:cNvPr id="95240" name="Oval 181">
              <a:extLst>
                <a:ext uri="{FF2B5EF4-FFF2-40B4-BE49-F238E27FC236}">
                  <a16:creationId xmlns:a16="http://schemas.microsoft.com/office/drawing/2014/main" id="{1471E7C5-6BFB-4C0B-B4A0-2E149C57D1A9}"/>
                </a:ext>
              </a:extLst>
            </p:cNvPr>
            <p:cNvSpPr>
              <a:spLocks noChangeArrowheads="1"/>
            </p:cNvSpPr>
            <p:nvPr/>
          </p:nvSpPr>
          <p:spPr bwMode="auto">
            <a:xfrm>
              <a:off x="1248" y="2028"/>
              <a:ext cx="144" cy="14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5241" name="Line 182">
              <a:extLst>
                <a:ext uri="{FF2B5EF4-FFF2-40B4-BE49-F238E27FC236}">
                  <a16:creationId xmlns:a16="http://schemas.microsoft.com/office/drawing/2014/main" id="{DC8146EF-2463-4649-BF23-1886B4DCF879}"/>
                </a:ext>
              </a:extLst>
            </p:cNvPr>
            <p:cNvSpPr>
              <a:spLocks noChangeShapeType="1"/>
            </p:cNvSpPr>
            <p:nvPr/>
          </p:nvSpPr>
          <p:spPr bwMode="auto">
            <a:xfrm>
              <a:off x="1248" y="2100"/>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42" name="Line 183">
              <a:extLst>
                <a:ext uri="{FF2B5EF4-FFF2-40B4-BE49-F238E27FC236}">
                  <a16:creationId xmlns:a16="http://schemas.microsoft.com/office/drawing/2014/main" id="{6E2C56E2-6D39-489C-9EEE-C73945CC5219}"/>
                </a:ext>
              </a:extLst>
            </p:cNvPr>
            <p:cNvSpPr>
              <a:spLocks noChangeShapeType="1"/>
            </p:cNvSpPr>
            <p:nvPr/>
          </p:nvSpPr>
          <p:spPr bwMode="auto">
            <a:xfrm flipV="1">
              <a:off x="1320" y="2028"/>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43" name="Oval 184">
              <a:extLst>
                <a:ext uri="{FF2B5EF4-FFF2-40B4-BE49-F238E27FC236}">
                  <a16:creationId xmlns:a16="http://schemas.microsoft.com/office/drawing/2014/main" id="{C68D49FA-398A-4961-88F4-D60658F6EA24}"/>
                </a:ext>
              </a:extLst>
            </p:cNvPr>
            <p:cNvSpPr>
              <a:spLocks noChangeArrowheads="1"/>
            </p:cNvSpPr>
            <p:nvPr/>
          </p:nvSpPr>
          <p:spPr bwMode="auto">
            <a:xfrm>
              <a:off x="2256" y="2028"/>
              <a:ext cx="144" cy="14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5244" name="Line 185">
              <a:extLst>
                <a:ext uri="{FF2B5EF4-FFF2-40B4-BE49-F238E27FC236}">
                  <a16:creationId xmlns:a16="http://schemas.microsoft.com/office/drawing/2014/main" id="{8742A7AA-A0D2-48B1-BB94-0C5DF9DF8779}"/>
                </a:ext>
              </a:extLst>
            </p:cNvPr>
            <p:cNvSpPr>
              <a:spLocks noChangeShapeType="1"/>
            </p:cNvSpPr>
            <p:nvPr/>
          </p:nvSpPr>
          <p:spPr bwMode="auto">
            <a:xfrm>
              <a:off x="2256" y="2100"/>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45" name="Line 186">
              <a:extLst>
                <a:ext uri="{FF2B5EF4-FFF2-40B4-BE49-F238E27FC236}">
                  <a16:creationId xmlns:a16="http://schemas.microsoft.com/office/drawing/2014/main" id="{C8D63CE9-101C-4350-9E8A-66B04D571FD2}"/>
                </a:ext>
              </a:extLst>
            </p:cNvPr>
            <p:cNvSpPr>
              <a:spLocks noChangeShapeType="1"/>
            </p:cNvSpPr>
            <p:nvPr/>
          </p:nvSpPr>
          <p:spPr bwMode="auto">
            <a:xfrm flipV="1">
              <a:off x="2328" y="2028"/>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46" name="Oval 187">
              <a:extLst>
                <a:ext uri="{FF2B5EF4-FFF2-40B4-BE49-F238E27FC236}">
                  <a16:creationId xmlns:a16="http://schemas.microsoft.com/office/drawing/2014/main" id="{C2BB175C-EF6A-4D99-A67E-6DDFDE0D22A0}"/>
                </a:ext>
              </a:extLst>
            </p:cNvPr>
            <p:cNvSpPr>
              <a:spLocks noChangeArrowheads="1"/>
            </p:cNvSpPr>
            <p:nvPr/>
          </p:nvSpPr>
          <p:spPr bwMode="auto">
            <a:xfrm>
              <a:off x="2784" y="2028"/>
              <a:ext cx="144" cy="14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5247" name="Line 188">
              <a:extLst>
                <a:ext uri="{FF2B5EF4-FFF2-40B4-BE49-F238E27FC236}">
                  <a16:creationId xmlns:a16="http://schemas.microsoft.com/office/drawing/2014/main" id="{8E8F1260-1CCD-45F6-B7EA-BB3C056139F0}"/>
                </a:ext>
              </a:extLst>
            </p:cNvPr>
            <p:cNvSpPr>
              <a:spLocks noChangeShapeType="1"/>
            </p:cNvSpPr>
            <p:nvPr/>
          </p:nvSpPr>
          <p:spPr bwMode="auto">
            <a:xfrm>
              <a:off x="2784" y="2100"/>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48" name="Line 189">
              <a:extLst>
                <a:ext uri="{FF2B5EF4-FFF2-40B4-BE49-F238E27FC236}">
                  <a16:creationId xmlns:a16="http://schemas.microsoft.com/office/drawing/2014/main" id="{CE70C7E4-3A30-4B80-8390-7F3FE615A449}"/>
                </a:ext>
              </a:extLst>
            </p:cNvPr>
            <p:cNvSpPr>
              <a:spLocks noChangeShapeType="1"/>
            </p:cNvSpPr>
            <p:nvPr/>
          </p:nvSpPr>
          <p:spPr bwMode="auto">
            <a:xfrm flipV="1">
              <a:off x="2856" y="2028"/>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49" name="Oval 190">
              <a:extLst>
                <a:ext uri="{FF2B5EF4-FFF2-40B4-BE49-F238E27FC236}">
                  <a16:creationId xmlns:a16="http://schemas.microsoft.com/office/drawing/2014/main" id="{4AF4DC37-A42C-4458-B56D-8B758482B3DE}"/>
                </a:ext>
              </a:extLst>
            </p:cNvPr>
            <p:cNvSpPr>
              <a:spLocks noChangeArrowheads="1"/>
            </p:cNvSpPr>
            <p:nvPr/>
          </p:nvSpPr>
          <p:spPr bwMode="auto">
            <a:xfrm>
              <a:off x="3792" y="2028"/>
              <a:ext cx="144" cy="14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5250" name="Line 191">
              <a:extLst>
                <a:ext uri="{FF2B5EF4-FFF2-40B4-BE49-F238E27FC236}">
                  <a16:creationId xmlns:a16="http://schemas.microsoft.com/office/drawing/2014/main" id="{8B73BEF7-E136-43DB-8ABD-49CDE4A22295}"/>
                </a:ext>
              </a:extLst>
            </p:cNvPr>
            <p:cNvSpPr>
              <a:spLocks noChangeShapeType="1"/>
            </p:cNvSpPr>
            <p:nvPr/>
          </p:nvSpPr>
          <p:spPr bwMode="auto">
            <a:xfrm>
              <a:off x="3792" y="2100"/>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51" name="Line 192">
              <a:extLst>
                <a:ext uri="{FF2B5EF4-FFF2-40B4-BE49-F238E27FC236}">
                  <a16:creationId xmlns:a16="http://schemas.microsoft.com/office/drawing/2014/main" id="{8E4170D2-4346-4AB3-9D70-3255AE9DB899}"/>
                </a:ext>
              </a:extLst>
            </p:cNvPr>
            <p:cNvSpPr>
              <a:spLocks noChangeShapeType="1"/>
            </p:cNvSpPr>
            <p:nvPr/>
          </p:nvSpPr>
          <p:spPr bwMode="auto">
            <a:xfrm flipV="1">
              <a:off x="3864" y="2028"/>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52" name="Oval 193">
              <a:extLst>
                <a:ext uri="{FF2B5EF4-FFF2-40B4-BE49-F238E27FC236}">
                  <a16:creationId xmlns:a16="http://schemas.microsoft.com/office/drawing/2014/main" id="{D1A015E1-BDBE-4BAB-8F0A-EC91DE48592B}"/>
                </a:ext>
              </a:extLst>
            </p:cNvPr>
            <p:cNvSpPr>
              <a:spLocks noChangeArrowheads="1"/>
            </p:cNvSpPr>
            <p:nvPr/>
          </p:nvSpPr>
          <p:spPr bwMode="auto">
            <a:xfrm>
              <a:off x="1728" y="2268"/>
              <a:ext cx="144" cy="14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5253" name="Line 194">
              <a:extLst>
                <a:ext uri="{FF2B5EF4-FFF2-40B4-BE49-F238E27FC236}">
                  <a16:creationId xmlns:a16="http://schemas.microsoft.com/office/drawing/2014/main" id="{24BD31E6-0129-4764-9B58-637B469ACA76}"/>
                </a:ext>
              </a:extLst>
            </p:cNvPr>
            <p:cNvSpPr>
              <a:spLocks noChangeShapeType="1"/>
            </p:cNvSpPr>
            <p:nvPr/>
          </p:nvSpPr>
          <p:spPr bwMode="auto">
            <a:xfrm>
              <a:off x="1728" y="2340"/>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54" name="Line 195">
              <a:extLst>
                <a:ext uri="{FF2B5EF4-FFF2-40B4-BE49-F238E27FC236}">
                  <a16:creationId xmlns:a16="http://schemas.microsoft.com/office/drawing/2014/main" id="{2439AD2C-E02E-4F36-AFF0-1C3FC2C29AAD}"/>
                </a:ext>
              </a:extLst>
            </p:cNvPr>
            <p:cNvSpPr>
              <a:spLocks noChangeShapeType="1"/>
            </p:cNvSpPr>
            <p:nvPr/>
          </p:nvSpPr>
          <p:spPr bwMode="auto">
            <a:xfrm flipV="1">
              <a:off x="1800" y="2268"/>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55" name="Oval 196">
              <a:extLst>
                <a:ext uri="{FF2B5EF4-FFF2-40B4-BE49-F238E27FC236}">
                  <a16:creationId xmlns:a16="http://schemas.microsoft.com/office/drawing/2014/main" id="{1F4F3860-A62C-449C-BD77-38A73BD79A4D}"/>
                </a:ext>
              </a:extLst>
            </p:cNvPr>
            <p:cNvSpPr>
              <a:spLocks noChangeArrowheads="1"/>
            </p:cNvSpPr>
            <p:nvPr/>
          </p:nvSpPr>
          <p:spPr bwMode="auto">
            <a:xfrm>
              <a:off x="2256" y="2268"/>
              <a:ext cx="144" cy="14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5256" name="Line 197">
              <a:extLst>
                <a:ext uri="{FF2B5EF4-FFF2-40B4-BE49-F238E27FC236}">
                  <a16:creationId xmlns:a16="http://schemas.microsoft.com/office/drawing/2014/main" id="{EFD05F40-6F19-4DFD-8CC3-A7BCA65F289D}"/>
                </a:ext>
              </a:extLst>
            </p:cNvPr>
            <p:cNvSpPr>
              <a:spLocks noChangeShapeType="1"/>
            </p:cNvSpPr>
            <p:nvPr/>
          </p:nvSpPr>
          <p:spPr bwMode="auto">
            <a:xfrm>
              <a:off x="2256" y="2340"/>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57" name="Line 198">
              <a:extLst>
                <a:ext uri="{FF2B5EF4-FFF2-40B4-BE49-F238E27FC236}">
                  <a16:creationId xmlns:a16="http://schemas.microsoft.com/office/drawing/2014/main" id="{B8419EB7-5DC6-415E-9433-A9C38A14B5E3}"/>
                </a:ext>
              </a:extLst>
            </p:cNvPr>
            <p:cNvSpPr>
              <a:spLocks noChangeShapeType="1"/>
            </p:cNvSpPr>
            <p:nvPr/>
          </p:nvSpPr>
          <p:spPr bwMode="auto">
            <a:xfrm flipV="1">
              <a:off x="2328" y="2268"/>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58" name="Oval 199">
              <a:extLst>
                <a:ext uri="{FF2B5EF4-FFF2-40B4-BE49-F238E27FC236}">
                  <a16:creationId xmlns:a16="http://schemas.microsoft.com/office/drawing/2014/main" id="{A5C80A96-C74D-46D0-AABB-BF580EF08363}"/>
                </a:ext>
              </a:extLst>
            </p:cNvPr>
            <p:cNvSpPr>
              <a:spLocks noChangeArrowheads="1"/>
            </p:cNvSpPr>
            <p:nvPr/>
          </p:nvSpPr>
          <p:spPr bwMode="auto">
            <a:xfrm>
              <a:off x="2784" y="2268"/>
              <a:ext cx="144" cy="14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5259" name="Line 200">
              <a:extLst>
                <a:ext uri="{FF2B5EF4-FFF2-40B4-BE49-F238E27FC236}">
                  <a16:creationId xmlns:a16="http://schemas.microsoft.com/office/drawing/2014/main" id="{33172C5F-16BE-4042-ACF4-149E126F2A72}"/>
                </a:ext>
              </a:extLst>
            </p:cNvPr>
            <p:cNvSpPr>
              <a:spLocks noChangeShapeType="1"/>
            </p:cNvSpPr>
            <p:nvPr/>
          </p:nvSpPr>
          <p:spPr bwMode="auto">
            <a:xfrm>
              <a:off x="2784" y="2340"/>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60" name="Line 201">
              <a:extLst>
                <a:ext uri="{FF2B5EF4-FFF2-40B4-BE49-F238E27FC236}">
                  <a16:creationId xmlns:a16="http://schemas.microsoft.com/office/drawing/2014/main" id="{7145F4F8-CB3A-4265-98B9-59930F2C8D34}"/>
                </a:ext>
              </a:extLst>
            </p:cNvPr>
            <p:cNvSpPr>
              <a:spLocks noChangeShapeType="1"/>
            </p:cNvSpPr>
            <p:nvPr/>
          </p:nvSpPr>
          <p:spPr bwMode="auto">
            <a:xfrm flipV="1">
              <a:off x="2856" y="2268"/>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61" name="Oval 202">
              <a:extLst>
                <a:ext uri="{FF2B5EF4-FFF2-40B4-BE49-F238E27FC236}">
                  <a16:creationId xmlns:a16="http://schemas.microsoft.com/office/drawing/2014/main" id="{908D8BD3-E030-4769-88B3-2CC5B78DB2BB}"/>
                </a:ext>
              </a:extLst>
            </p:cNvPr>
            <p:cNvSpPr>
              <a:spLocks noChangeArrowheads="1"/>
            </p:cNvSpPr>
            <p:nvPr/>
          </p:nvSpPr>
          <p:spPr bwMode="auto">
            <a:xfrm>
              <a:off x="3264" y="2556"/>
              <a:ext cx="144" cy="14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5262" name="Line 203">
              <a:extLst>
                <a:ext uri="{FF2B5EF4-FFF2-40B4-BE49-F238E27FC236}">
                  <a16:creationId xmlns:a16="http://schemas.microsoft.com/office/drawing/2014/main" id="{311AB08F-2A07-476D-9F84-81F1494483E6}"/>
                </a:ext>
              </a:extLst>
            </p:cNvPr>
            <p:cNvSpPr>
              <a:spLocks noChangeShapeType="1"/>
            </p:cNvSpPr>
            <p:nvPr/>
          </p:nvSpPr>
          <p:spPr bwMode="auto">
            <a:xfrm>
              <a:off x="3264" y="2628"/>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63" name="Line 204">
              <a:extLst>
                <a:ext uri="{FF2B5EF4-FFF2-40B4-BE49-F238E27FC236}">
                  <a16:creationId xmlns:a16="http://schemas.microsoft.com/office/drawing/2014/main" id="{715C2784-EF48-48DC-83C7-541C26E8F7ED}"/>
                </a:ext>
              </a:extLst>
            </p:cNvPr>
            <p:cNvSpPr>
              <a:spLocks noChangeShapeType="1"/>
            </p:cNvSpPr>
            <p:nvPr/>
          </p:nvSpPr>
          <p:spPr bwMode="auto">
            <a:xfrm flipV="1">
              <a:off x="3336" y="2556"/>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64" name="Oval 205">
              <a:extLst>
                <a:ext uri="{FF2B5EF4-FFF2-40B4-BE49-F238E27FC236}">
                  <a16:creationId xmlns:a16="http://schemas.microsoft.com/office/drawing/2014/main" id="{96951D92-8015-4D0A-AB75-48C1059F6300}"/>
                </a:ext>
              </a:extLst>
            </p:cNvPr>
            <p:cNvSpPr>
              <a:spLocks noChangeArrowheads="1"/>
            </p:cNvSpPr>
            <p:nvPr/>
          </p:nvSpPr>
          <p:spPr bwMode="auto">
            <a:xfrm>
              <a:off x="3840" y="2556"/>
              <a:ext cx="144" cy="14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5265" name="Line 206">
              <a:extLst>
                <a:ext uri="{FF2B5EF4-FFF2-40B4-BE49-F238E27FC236}">
                  <a16:creationId xmlns:a16="http://schemas.microsoft.com/office/drawing/2014/main" id="{7B241EEF-A96F-4047-86DA-702A7C236411}"/>
                </a:ext>
              </a:extLst>
            </p:cNvPr>
            <p:cNvSpPr>
              <a:spLocks noChangeShapeType="1"/>
            </p:cNvSpPr>
            <p:nvPr/>
          </p:nvSpPr>
          <p:spPr bwMode="auto">
            <a:xfrm>
              <a:off x="3840" y="2628"/>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66" name="Line 207">
              <a:extLst>
                <a:ext uri="{FF2B5EF4-FFF2-40B4-BE49-F238E27FC236}">
                  <a16:creationId xmlns:a16="http://schemas.microsoft.com/office/drawing/2014/main" id="{3983CCD3-4CCC-4136-9398-4A63F6318374}"/>
                </a:ext>
              </a:extLst>
            </p:cNvPr>
            <p:cNvSpPr>
              <a:spLocks noChangeShapeType="1"/>
            </p:cNvSpPr>
            <p:nvPr/>
          </p:nvSpPr>
          <p:spPr bwMode="auto">
            <a:xfrm flipV="1">
              <a:off x="3912" y="2556"/>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67" name="Oval 208">
              <a:extLst>
                <a:ext uri="{FF2B5EF4-FFF2-40B4-BE49-F238E27FC236}">
                  <a16:creationId xmlns:a16="http://schemas.microsoft.com/office/drawing/2014/main" id="{8B695A0C-808D-4D2B-9A00-17DB8999F101}"/>
                </a:ext>
              </a:extLst>
            </p:cNvPr>
            <p:cNvSpPr>
              <a:spLocks noChangeArrowheads="1"/>
            </p:cNvSpPr>
            <p:nvPr/>
          </p:nvSpPr>
          <p:spPr bwMode="auto">
            <a:xfrm>
              <a:off x="4368" y="2556"/>
              <a:ext cx="144" cy="14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5268" name="Line 209">
              <a:extLst>
                <a:ext uri="{FF2B5EF4-FFF2-40B4-BE49-F238E27FC236}">
                  <a16:creationId xmlns:a16="http://schemas.microsoft.com/office/drawing/2014/main" id="{1C95E1C3-830C-4CD0-B269-288442B3CC99}"/>
                </a:ext>
              </a:extLst>
            </p:cNvPr>
            <p:cNvSpPr>
              <a:spLocks noChangeShapeType="1"/>
            </p:cNvSpPr>
            <p:nvPr/>
          </p:nvSpPr>
          <p:spPr bwMode="auto">
            <a:xfrm>
              <a:off x="4368" y="2628"/>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69" name="Line 210">
              <a:extLst>
                <a:ext uri="{FF2B5EF4-FFF2-40B4-BE49-F238E27FC236}">
                  <a16:creationId xmlns:a16="http://schemas.microsoft.com/office/drawing/2014/main" id="{44D25CA6-DFEA-496C-9F47-6AF81D32CF06}"/>
                </a:ext>
              </a:extLst>
            </p:cNvPr>
            <p:cNvSpPr>
              <a:spLocks noChangeShapeType="1"/>
            </p:cNvSpPr>
            <p:nvPr/>
          </p:nvSpPr>
          <p:spPr bwMode="auto">
            <a:xfrm flipV="1">
              <a:off x="4440" y="2556"/>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70" name="Rectangle 211">
              <a:extLst>
                <a:ext uri="{FF2B5EF4-FFF2-40B4-BE49-F238E27FC236}">
                  <a16:creationId xmlns:a16="http://schemas.microsoft.com/office/drawing/2014/main" id="{AF015645-CD7C-408A-895F-E0F816400E79}"/>
                </a:ext>
              </a:extLst>
            </p:cNvPr>
            <p:cNvSpPr>
              <a:spLocks noChangeArrowheads="1"/>
            </p:cNvSpPr>
            <p:nvPr/>
          </p:nvSpPr>
          <p:spPr bwMode="auto">
            <a:xfrm>
              <a:off x="576" y="2487"/>
              <a:ext cx="4896"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buClr>
                  <a:srgbClr val="FF9900"/>
                </a:buClr>
                <a:buFont typeface="굴림" panose="020B0600000101010101" pitchFamily="50" charset="-127"/>
                <a:buNone/>
              </a:pPr>
              <a:r>
                <a:rPr kumimoji="0" lang="en-GB" altLang="ko-KR" sz="2000">
                  <a:latin typeface="Times New Roman" panose="02020603050405020304" pitchFamily="18" charset="0"/>
                  <a:ea typeface="돋움" panose="020B0600000101010101" pitchFamily="50" charset="-127"/>
                </a:rPr>
                <a:t>C4 =                                                    D5        D6        D7        D8</a:t>
              </a:r>
              <a:endParaRPr kumimoji="0" lang="en-US" altLang="ko-KR" sz="2000">
                <a:latin typeface="Times New Roman" panose="02020603050405020304" pitchFamily="18" charset="0"/>
                <a:ea typeface="굴림" panose="020B0600000101010101" pitchFamily="50" charset="-127"/>
              </a:endParaRPr>
            </a:p>
          </p:txBody>
        </p:sp>
        <p:sp>
          <p:nvSpPr>
            <p:cNvPr id="95271" name="Rectangle 212">
              <a:extLst>
                <a:ext uri="{FF2B5EF4-FFF2-40B4-BE49-F238E27FC236}">
                  <a16:creationId xmlns:a16="http://schemas.microsoft.com/office/drawing/2014/main" id="{24184725-099B-4F18-A8CD-D4D345F2A5D7}"/>
                </a:ext>
              </a:extLst>
            </p:cNvPr>
            <p:cNvSpPr>
              <a:spLocks noChangeArrowheads="1"/>
            </p:cNvSpPr>
            <p:nvPr/>
          </p:nvSpPr>
          <p:spPr bwMode="auto">
            <a:xfrm>
              <a:off x="576" y="2238"/>
              <a:ext cx="4896"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buClr>
                  <a:schemeClr val="tx1"/>
                </a:buClr>
                <a:buFont typeface="굴림" panose="020B0600000101010101" pitchFamily="50" charset="-127"/>
                <a:buNone/>
              </a:pPr>
              <a:r>
                <a:rPr kumimoji="0" lang="en-GB" altLang="ko-KR" sz="2000">
                  <a:latin typeface="Times New Roman" panose="02020603050405020304" pitchFamily="18" charset="0"/>
                  <a:ea typeface="돋움" panose="020B0600000101010101" pitchFamily="50" charset="-127"/>
                </a:rPr>
                <a:t>C3 =             D2        D3        D4                                               D8 </a:t>
              </a:r>
              <a:endParaRPr kumimoji="0" lang="en-US" altLang="ko-KR" sz="2000">
                <a:latin typeface="Times New Roman" panose="02020603050405020304" pitchFamily="18" charset="0"/>
                <a:ea typeface="굴림" panose="020B0600000101010101" pitchFamily="50" charset="-127"/>
              </a:endParaRPr>
            </a:p>
          </p:txBody>
        </p:sp>
        <p:sp>
          <p:nvSpPr>
            <p:cNvPr id="95272" name="Rectangle 213">
              <a:extLst>
                <a:ext uri="{FF2B5EF4-FFF2-40B4-BE49-F238E27FC236}">
                  <a16:creationId xmlns:a16="http://schemas.microsoft.com/office/drawing/2014/main" id="{6D294504-7B2D-475E-91A1-5034A5EDF7B1}"/>
                </a:ext>
              </a:extLst>
            </p:cNvPr>
            <p:cNvSpPr>
              <a:spLocks noChangeArrowheads="1"/>
            </p:cNvSpPr>
            <p:nvPr/>
          </p:nvSpPr>
          <p:spPr bwMode="auto">
            <a:xfrm>
              <a:off x="576" y="1989"/>
              <a:ext cx="4896"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buClr>
                  <a:srgbClr val="FF9900"/>
                </a:buClr>
                <a:buFont typeface="굴림" panose="020B0600000101010101" pitchFamily="50" charset="-127"/>
                <a:buNone/>
              </a:pPr>
              <a:r>
                <a:rPr kumimoji="0" lang="en-GB" altLang="ko-KR" sz="2000">
                  <a:latin typeface="Times New Roman" panose="02020603050405020304" pitchFamily="18" charset="0"/>
                  <a:ea typeface="돋움" panose="020B0600000101010101" pitchFamily="50" charset="-127"/>
                </a:rPr>
                <a:t>C2 = D1                    D3        D4                     D6        D7</a:t>
              </a:r>
              <a:endParaRPr kumimoji="0" lang="en-US" altLang="ko-KR" sz="2000">
                <a:latin typeface="Times New Roman" panose="02020603050405020304" pitchFamily="18" charset="0"/>
                <a:ea typeface="굴림" panose="020B0600000101010101" pitchFamily="50" charset="-127"/>
              </a:endParaRPr>
            </a:p>
          </p:txBody>
        </p:sp>
        <p:sp>
          <p:nvSpPr>
            <p:cNvPr id="95273" name="Rectangle 214">
              <a:extLst>
                <a:ext uri="{FF2B5EF4-FFF2-40B4-BE49-F238E27FC236}">
                  <a16:creationId xmlns:a16="http://schemas.microsoft.com/office/drawing/2014/main" id="{28AACB9B-FBBD-4724-8D64-E8768E182E2E}"/>
                </a:ext>
              </a:extLst>
            </p:cNvPr>
            <p:cNvSpPr>
              <a:spLocks noChangeArrowheads="1"/>
            </p:cNvSpPr>
            <p:nvPr/>
          </p:nvSpPr>
          <p:spPr bwMode="auto">
            <a:xfrm>
              <a:off x="576" y="1740"/>
              <a:ext cx="4896"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buClr>
                  <a:schemeClr val="tx1"/>
                </a:buClr>
                <a:buFont typeface="굴림" panose="020B0600000101010101" pitchFamily="50" charset="-127"/>
                <a:buNone/>
              </a:pPr>
              <a:r>
                <a:rPr kumimoji="0" lang="en-GB" altLang="ko-KR" sz="2000">
                  <a:latin typeface="Times New Roman" panose="02020603050405020304" pitchFamily="18" charset="0"/>
                  <a:ea typeface="돋움" panose="020B0600000101010101" pitchFamily="50" charset="-127"/>
                </a:rPr>
                <a:t>C1 = D1       D2                     D4        D5                    D7         </a:t>
              </a:r>
              <a:endParaRPr kumimoji="0" lang="en-US" altLang="ko-KR" sz="2000">
                <a:latin typeface="Times New Roman" panose="02020603050405020304" pitchFamily="18" charset="0"/>
                <a:ea typeface="굴림" panose="020B0600000101010101" pitchFamily="50" charset="-127"/>
              </a:endParaRPr>
            </a:p>
          </p:txBody>
        </p:sp>
        <p:sp>
          <p:nvSpPr>
            <p:cNvPr id="95274" name="Line 215">
              <a:extLst>
                <a:ext uri="{FF2B5EF4-FFF2-40B4-BE49-F238E27FC236}">
                  <a16:creationId xmlns:a16="http://schemas.microsoft.com/office/drawing/2014/main" id="{9905A5B9-F341-45FE-8439-18C410484008}"/>
                </a:ext>
              </a:extLst>
            </p:cNvPr>
            <p:cNvSpPr>
              <a:spLocks noChangeShapeType="1"/>
            </p:cNvSpPr>
            <p:nvPr/>
          </p:nvSpPr>
          <p:spPr bwMode="auto">
            <a:xfrm>
              <a:off x="576" y="1740"/>
              <a:ext cx="4896"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75" name="Line 216">
              <a:extLst>
                <a:ext uri="{FF2B5EF4-FFF2-40B4-BE49-F238E27FC236}">
                  <a16:creationId xmlns:a16="http://schemas.microsoft.com/office/drawing/2014/main" id="{53761884-A63B-4555-A63C-7A888CEE9CBB}"/>
                </a:ext>
              </a:extLst>
            </p:cNvPr>
            <p:cNvSpPr>
              <a:spLocks noChangeShapeType="1"/>
            </p:cNvSpPr>
            <p:nvPr/>
          </p:nvSpPr>
          <p:spPr bwMode="auto">
            <a:xfrm>
              <a:off x="576" y="1989"/>
              <a:ext cx="48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76" name="Line 217">
              <a:extLst>
                <a:ext uri="{FF2B5EF4-FFF2-40B4-BE49-F238E27FC236}">
                  <a16:creationId xmlns:a16="http://schemas.microsoft.com/office/drawing/2014/main" id="{78489481-4031-4EEC-AD6C-C37D336DA90A}"/>
                </a:ext>
              </a:extLst>
            </p:cNvPr>
            <p:cNvSpPr>
              <a:spLocks noChangeShapeType="1"/>
            </p:cNvSpPr>
            <p:nvPr/>
          </p:nvSpPr>
          <p:spPr bwMode="auto">
            <a:xfrm>
              <a:off x="576" y="2238"/>
              <a:ext cx="48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77" name="Line 218">
              <a:extLst>
                <a:ext uri="{FF2B5EF4-FFF2-40B4-BE49-F238E27FC236}">
                  <a16:creationId xmlns:a16="http://schemas.microsoft.com/office/drawing/2014/main" id="{158B17A3-B017-4DD4-8E06-1983154FBB5E}"/>
                </a:ext>
              </a:extLst>
            </p:cNvPr>
            <p:cNvSpPr>
              <a:spLocks noChangeShapeType="1"/>
            </p:cNvSpPr>
            <p:nvPr/>
          </p:nvSpPr>
          <p:spPr bwMode="auto">
            <a:xfrm>
              <a:off x="576" y="2487"/>
              <a:ext cx="48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78" name="Line 219">
              <a:extLst>
                <a:ext uri="{FF2B5EF4-FFF2-40B4-BE49-F238E27FC236}">
                  <a16:creationId xmlns:a16="http://schemas.microsoft.com/office/drawing/2014/main" id="{84900BDE-548A-4625-B9F3-2C87AE30A37B}"/>
                </a:ext>
              </a:extLst>
            </p:cNvPr>
            <p:cNvSpPr>
              <a:spLocks noChangeShapeType="1"/>
            </p:cNvSpPr>
            <p:nvPr/>
          </p:nvSpPr>
          <p:spPr bwMode="auto">
            <a:xfrm>
              <a:off x="576" y="2736"/>
              <a:ext cx="4896"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79" name="Line 220">
              <a:extLst>
                <a:ext uri="{FF2B5EF4-FFF2-40B4-BE49-F238E27FC236}">
                  <a16:creationId xmlns:a16="http://schemas.microsoft.com/office/drawing/2014/main" id="{160D61FE-97DC-43A4-9232-964D82D3DDDC}"/>
                </a:ext>
              </a:extLst>
            </p:cNvPr>
            <p:cNvSpPr>
              <a:spLocks noChangeShapeType="1"/>
            </p:cNvSpPr>
            <p:nvPr/>
          </p:nvSpPr>
          <p:spPr bwMode="auto">
            <a:xfrm>
              <a:off x="576" y="1740"/>
              <a:ext cx="0" cy="996"/>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80" name="Line 221">
              <a:extLst>
                <a:ext uri="{FF2B5EF4-FFF2-40B4-BE49-F238E27FC236}">
                  <a16:creationId xmlns:a16="http://schemas.microsoft.com/office/drawing/2014/main" id="{0B685942-A151-4986-8627-50BB55F4B5D8}"/>
                </a:ext>
              </a:extLst>
            </p:cNvPr>
            <p:cNvSpPr>
              <a:spLocks noChangeShapeType="1"/>
            </p:cNvSpPr>
            <p:nvPr/>
          </p:nvSpPr>
          <p:spPr bwMode="auto">
            <a:xfrm>
              <a:off x="5472" y="1740"/>
              <a:ext cx="0" cy="996"/>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81" name="Oval 222">
              <a:extLst>
                <a:ext uri="{FF2B5EF4-FFF2-40B4-BE49-F238E27FC236}">
                  <a16:creationId xmlns:a16="http://schemas.microsoft.com/office/drawing/2014/main" id="{624F00E0-3538-432F-B064-3FB53E456F57}"/>
                </a:ext>
              </a:extLst>
            </p:cNvPr>
            <p:cNvSpPr>
              <a:spLocks noChangeArrowheads="1"/>
            </p:cNvSpPr>
            <p:nvPr/>
          </p:nvSpPr>
          <p:spPr bwMode="auto">
            <a:xfrm>
              <a:off x="1248" y="1788"/>
              <a:ext cx="144" cy="14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5282" name="Line 223">
              <a:extLst>
                <a:ext uri="{FF2B5EF4-FFF2-40B4-BE49-F238E27FC236}">
                  <a16:creationId xmlns:a16="http://schemas.microsoft.com/office/drawing/2014/main" id="{4310C379-7CC5-4F54-9A1E-FD22B420C203}"/>
                </a:ext>
              </a:extLst>
            </p:cNvPr>
            <p:cNvSpPr>
              <a:spLocks noChangeShapeType="1"/>
            </p:cNvSpPr>
            <p:nvPr/>
          </p:nvSpPr>
          <p:spPr bwMode="auto">
            <a:xfrm>
              <a:off x="1248" y="1860"/>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83" name="Line 224">
              <a:extLst>
                <a:ext uri="{FF2B5EF4-FFF2-40B4-BE49-F238E27FC236}">
                  <a16:creationId xmlns:a16="http://schemas.microsoft.com/office/drawing/2014/main" id="{E8594B82-E3DB-4BE9-8AAB-414B3F2A932F}"/>
                </a:ext>
              </a:extLst>
            </p:cNvPr>
            <p:cNvSpPr>
              <a:spLocks noChangeShapeType="1"/>
            </p:cNvSpPr>
            <p:nvPr/>
          </p:nvSpPr>
          <p:spPr bwMode="auto">
            <a:xfrm flipV="1">
              <a:off x="1320" y="1788"/>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84" name="Oval 225">
              <a:extLst>
                <a:ext uri="{FF2B5EF4-FFF2-40B4-BE49-F238E27FC236}">
                  <a16:creationId xmlns:a16="http://schemas.microsoft.com/office/drawing/2014/main" id="{AB1C67EE-B271-4705-8366-A84DE6160F55}"/>
                </a:ext>
              </a:extLst>
            </p:cNvPr>
            <p:cNvSpPr>
              <a:spLocks noChangeArrowheads="1"/>
            </p:cNvSpPr>
            <p:nvPr/>
          </p:nvSpPr>
          <p:spPr bwMode="auto">
            <a:xfrm>
              <a:off x="1728" y="1788"/>
              <a:ext cx="144" cy="14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5285" name="Line 226">
              <a:extLst>
                <a:ext uri="{FF2B5EF4-FFF2-40B4-BE49-F238E27FC236}">
                  <a16:creationId xmlns:a16="http://schemas.microsoft.com/office/drawing/2014/main" id="{B6CB9F62-86A4-4A60-B816-2C2C89296616}"/>
                </a:ext>
              </a:extLst>
            </p:cNvPr>
            <p:cNvSpPr>
              <a:spLocks noChangeShapeType="1"/>
            </p:cNvSpPr>
            <p:nvPr/>
          </p:nvSpPr>
          <p:spPr bwMode="auto">
            <a:xfrm>
              <a:off x="1728" y="1860"/>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86" name="Line 227">
              <a:extLst>
                <a:ext uri="{FF2B5EF4-FFF2-40B4-BE49-F238E27FC236}">
                  <a16:creationId xmlns:a16="http://schemas.microsoft.com/office/drawing/2014/main" id="{860EDA83-3658-4C3F-A0C4-7C9680CD6E0A}"/>
                </a:ext>
              </a:extLst>
            </p:cNvPr>
            <p:cNvSpPr>
              <a:spLocks noChangeShapeType="1"/>
            </p:cNvSpPr>
            <p:nvPr/>
          </p:nvSpPr>
          <p:spPr bwMode="auto">
            <a:xfrm flipV="1">
              <a:off x="1800" y="1788"/>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87" name="Oval 228">
              <a:extLst>
                <a:ext uri="{FF2B5EF4-FFF2-40B4-BE49-F238E27FC236}">
                  <a16:creationId xmlns:a16="http://schemas.microsoft.com/office/drawing/2014/main" id="{A804FE33-ECCC-43B0-BC57-BD017551C615}"/>
                </a:ext>
              </a:extLst>
            </p:cNvPr>
            <p:cNvSpPr>
              <a:spLocks noChangeArrowheads="1"/>
            </p:cNvSpPr>
            <p:nvPr/>
          </p:nvSpPr>
          <p:spPr bwMode="auto">
            <a:xfrm>
              <a:off x="2736" y="1788"/>
              <a:ext cx="144" cy="14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5288" name="Line 229">
              <a:extLst>
                <a:ext uri="{FF2B5EF4-FFF2-40B4-BE49-F238E27FC236}">
                  <a16:creationId xmlns:a16="http://schemas.microsoft.com/office/drawing/2014/main" id="{705B012D-E388-4F5E-9327-2BA08E0848D1}"/>
                </a:ext>
              </a:extLst>
            </p:cNvPr>
            <p:cNvSpPr>
              <a:spLocks noChangeShapeType="1"/>
            </p:cNvSpPr>
            <p:nvPr/>
          </p:nvSpPr>
          <p:spPr bwMode="auto">
            <a:xfrm>
              <a:off x="2736" y="1860"/>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89" name="Line 230">
              <a:extLst>
                <a:ext uri="{FF2B5EF4-FFF2-40B4-BE49-F238E27FC236}">
                  <a16:creationId xmlns:a16="http://schemas.microsoft.com/office/drawing/2014/main" id="{EE214913-5196-4213-B82B-86A32F1A1745}"/>
                </a:ext>
              </a:extLst>
            </p:cNvPr>
            <p:cNvSpPr>
              <a:spLocks noChangeShapeType="1"/>
            </p:cNvSpPr>
            <p:nvPr/>
          </p:nvSpPr>
          <p:spPr bwMode="auto">
            <a:xfrm flipV="1">
              <a:off x="2808" y="1788"/>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grpSp>
          <p:nvGrpSpPr>
            <p:cNvPr id="95290" name="Group 231">
              <a:extLst>
                <a:ext uri="{FF2B5EF4-FFF2-40B4-BE49-F238E27FC236}">
                  <a16:creationId xmlns:a16="http://schemas.microsoft.com/office/drawing/2014/main" id="{4EA76B4F-7F71-4A72-81D4-3B5C0D69A07D}"/>
                </a:ext>
              </a:extLst>
            </p:cNvPr>
            <p:cNvGrpSpPr>
              <a:grpSpLocks/>
            </p:cNvGrpSpPr>
            <p:nvPr/>
          </p:nvGrpSpPr>
          <p:grpSpPr bwMode="auto">
            <a:xfrm>
              <a:off x="3264" y="1788"/>
              <a:ext cx="144" cy="144"/>
              <a:chOff x="3264" y="1788"/>
              <a:chExt cx="144" cy="144"/>
            </a:xfrm>
          </p:grpSpPr>
          <p:sp>
            <p:nvSpPr>
              <p:cNvPr id="95291" name="Oval 232">
                <a:extLst>
                  <a:ext uri="{FF2B5EF4-FFF2-40B4-BE49-F238E27FC236}">
                    <a16:creationId xmlns:a16="http://schemas.microsoft.com/office/drawing/2014/main" id="{04AF7BB0-7692-45A9-ADB1-660149DF9B49}"/>
                  </a:ext>
                </a:extLst>
              </p:cNvPr>
              <p:cNvSpPr>
                <a:spLocks noChangeArrowheads="1"/>
              </p:cNvSpPr>
              <p:nvPr/>
            </p:nvSpPr>
            <p:spPr bwMode="auto">
              <a:xfrm>
                <a:off x="3264" y="1788"/>
                <a:ext cx="144" cy="144"/>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5292" name="Line 233">
                <a:extLst>
                  <a:ext uri="{FF2B5EF4-FFF2-40B4-BE49-F238E27FC236}">
                    <a16:creationId xmlns:a16="http://schemas.microsoft.com/office/drawing/2014/main" id="{2F714337-B8FF-403C-874A-4776CE25C465}"/>
                  </a:ext>
                </a:extLst>
              </p:cNvPr>
              <p:cNvSpPr>
                <a:spLocks noChangeShapeType="1"/>
              </p:cNvSpPr>
              <p:nvPr/>
            </p:nvSpPr>
            <p:spPr bwMode="auto">
              <a:xfrm>
                <a:off x="3264" y="1860"/>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5293" name="Line 234">
                <a:extLst>
                  <a:ext uri="{FF2B5EF4-FFF2-40B4-BE49-F238E27FC236}">
                    <a16:creationId xmlns:a16="http://schemas.microsoft.com/office/drawing/2014/main" id="{4DD7925A-E971-4A4D-B415-0BCC17E20273}"/>
                  </a:ext>
                </a:extLst>
              </p:cNvPr>
              <p:cNvSpPr>
                <a:spLocks noChangeShapeType="1"/>
              </p:cNvSpPr>
              <p:nvPr/>
            </p:nvSpPr>
            <p:spPr bwMode="auto">
              <a:xfrm flipV="1">
                <a:off x="3336" y="1788"/>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gr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슬라이드 번호 개체 틀 3">
            <a:extLst>
              <a:ext uri="{FF2B5EF4-FFF2-40B4-BE49-F238E27FC236}">
                <a16:creationId xmlns:a16="http://schemas.microsoft.com/office/drawing/2014/main" id="{8293090B-9737-42D9-B7A4-8FD616E12A96}"/>
              </a:ext>
            </a:extLst>
          </p:cNvPr>
          <p:cNvSpPr>
            <a:spLocks noGrp="1"/>
          </p:cNvSpPr>
          <p:nvPr>
            <p:ph type="sldNum" sz="quarter" idx="4294967295"/>
          </p:nvPr>
        </p:nvSpPr>
        <p:spPr bwMode="auto">
          <a:xfrm>
            <a:off x="7924800" y="6400800"/>
            <a:ext cx="6858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04661D19-A423-4D49-BE55-F8DD3972CC92}" type="slidenum">
              <a:rPr kumimoji="0" lang="en-US" altLang="ko-KR" sz="2400">
                <a:latin typeface="Times New Roman" panose="02020603050405020304" pitchFamily="18" charset="0"/>
                <a:ea typeface="굴림" panose="020B0600000101010101" pitchFamily="50" charset="-127"/>
              </a:rPr>
              <a:pPr>
                <a:spcBef>
                  <a:spcPct val="0"/>
                </a:spcBef>
                <a:buClrTx/>
                <a:buFontTx/>
                <a:buNone/>
              </a:pPr>
              <a:t>45</a:t>
            </a:fld>
            <a:endParaRPr kumimoji="0" lang="en-US" altLang="ko-KR" sz="2400">
              <a:latin typeface="Times New Roman" panose="02020603050405020304" pitchFamily="18" charset="0"/>
              <a:ea typeface="굴림" panose="020B0600000101010101" pitchFamily="50" charset="-127"/>
            </a:endParaRPr>
          </a:p>
        </p:txBody>
      </p:sp>
      <p:sp>
        <p:nvSpPr>
          <p:cNvPr id="97283" name="Rectangle 121">
            <a:extLst>
              <a:ext uri="{FF2B5EF4-FFF2-40B4-BE49-F238E27FC236}">
                <a16:creationId xmlns:a16="http://schemas.microsoft.com/office/drawing/2014/main" id="{89490EAF-16AC-4016-9D09-425B5C7BD6FD}"/>
              </a:ext>
            </a:extLst>
          </p:cNvPr>
          <p:cNvSpPr>
            <a:spLocks noChangeArrowheads="1"/>
          </p:cNvSpPr>
          <p:nvPr/>
        </p:nvSpPr>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7284" name="Rectangle 2">
            <a:extLst>
              <a:ext uri="{FF2B5EF4-FFF2-40B4-BE49-F238E27FC236}">
                <a16:creationId xmlns:a16="http://schemas.microsoft.com/office/drawing/2014/main" id="{549A9785-DA5B-454C-BF95-1F1DB11E0993}"/>
              </a:ext>
            </a:extLst>
          </p:cNvPr>
          <p:cNvSpPr>
            <a:spLocks noChangeArrowheads="1"/>
          </p:cNvSpPr>
          <p:nvPr/>
        </p:nvSpPr>
        <p:spPr bwMode="auto">
          <a:xfrm>
            <a:off x="228600" y="228600"/>
            <a:ext cx="820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endParaRPr kumimoji="0" lang="en-GB" altLang="ko-KR" b="1">
              <a:solidFill>
                <a:schemeClr val="tx2"/>
              </a:solidFill>
              <a:latin typeface="Times New Roman" panose="02020603050405020304" pitchFamily="18" charset="0"/>
              <a:ea typeface="굴림" panose="020B0600000101010101" pitchFamily="50" charset="-127"/>
            </a:endParaRPr>
          </a:p>
        </p:txBody>
      </p:sp>
      <p:graphicFrame>
        <p:nvGraphicFramePr>
          <p:cNvPr id="36989" name="Group 125">
            <a:extLst>
              <a:ext uri="{FF2B5EF4-FFF2-40B4-BE49-F238E27FC236}">
                <a16:creationId xmlns:a16="http://schemas.microsoft.com/office/drawing/2014/main" id="{C0929695-9D25-4176-97D2-A0AAE504826A}"/>
              </a:ext>
            </a:extLst>
          </p:cNvPr>
          <p:cNvGraphicFramePr>
            <a:graphicFrameLocks noGrp="1"/>
          </p:cNvGraphicFramePr>
          <p:nvPr/>
        </p:nvGraphicFramePr>
        <p:xfrm>
          <a:off x="609600" y="762000"/>
          <a:ext cx="7696200" cy="4992688"/>
        </p:xfrm>
        <a:graphic>
          <a:graphicData uri="http://schemas.openxmlformats.org/drawingml/2006/table">
            <a:tbl>
              <a:tblPr/>
              <a:tblGrid>
                <a:gridCol w="1581150">
                  <a:extLst>
                    <a:ext uri="{9D8B030D-6E8A-4147-A177-3AD203B41FA5}">
                      <a16:colId xmlns:a16="http://schemas.microsoft.com/office/drawing/2014/main" val="20000"/>
                    </a:ext>
                  </a:extLst>
                </a:gridCol>
                <a:gridCol w="998538">
                  <a:extLst>
                    <a:ext uri="{9D8B030D-6E8A-4147-A177-3AD203B41FA5}">
                      <a16:colId xmlns:a16="http://schemas.microsoft.com/office/drawing/2014/main" val="20001"/>
                    </a:ext>
                  </a:extLst>
                </a:gridCol>
                <a:gridCol w="666750">
                  <a:extLst>
                    <a:ext uri="{9D8B030D-6E8A-4147-A177-3AD203B41FA5}">
                      <a16:colId xmlns:a16="http://schemas.microsoft.com/office/drawing/2014/main" val="20002"/>
                    </a:ext>
                  </a:extLst>
                </a:gridCol>
                <a:gridCol w="665162">
                  <a:extLst>
                    <a:ext uri="{9D8B030D-6E8A-4147-A177-3AD203B41FA5}">
                      <a16:colId xmlns:a16="http://schemas.microsoft.com/office/drawing/2014/main" val="20003"/>
                    </a:ext>
                  </a:extLst>
                </a:gridCol>
                <a:gridCol w="3784600">
                  <a:extLst>
                    <a:ext uri="{9D8B030D-6E8A-4147-A177-3AD203B41FA5}">
                      <a16:colId xmlns:a16="http://schemas.microsoft.com/office/drawing/2014/main" val="20004"/>
                    </a:ext>
                  </a:extLst>
                </a:gridCol>
              </a:tblGrid>
              <a:tr h="384053">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Bit Position</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Binary</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Type</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4053">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1</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000</a:t>
                      </a:r>
                      <a:r>
                        <a:rPr kumimoji="0" lang="en-US" altLang="ko-KR" sz="1600" b="0" i="0" u="none" strike="noStrike" cap="none" normalizeH="0" baseline="0">
                          <a:ln>
                            <a:noFill/>
                          </a:ln>
                          <a:solidFill>
                            <a:srgbClr val="3333FF"/>
                          </a:solidFill>
                          <a:effectLst/>
                          <a:latin typeface="Tahoma" pitchFamily="34" charset="0"/>
                          <a:ea typeface="돋움" pitchFamily="50" charset="-127"/>
                        </a:rPr>
                        <a:t>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rgbClr val="3333FF"/>
                          </a:solidFill>
                          <a:effectLst/>
                          <a:latin typeface="Tahoma" pitchFamily="34" charset="0"/>
                          <a:ea typeface="돋움" pitchFamily="50" charset="-127"/>
                        </a:rPr>
                        <a:t>C1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rgbClr val="3333FF"/>
                          </a:solidFill>
                          <a:effectLst/>
                          <a:latin typeface="Tahoma" pitchFamily="34" charset="0"/>
                          <a:ea typeface="돋움" pitchFamily="50" charset="-127"/>
                        </a:rPr>
                        <a:t>     All D’s with a 1 in bit 1</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4053">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2</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00</a:t>
                      </a:r>
                      <a:r>
                        <a:rPr kumimoji="0" lang="en-US" altLang="ko-KR" sz="1600" b="0" i="0" u="none" strike="noStrike" cap="none" normalizeH="0" baseline="0">
                          <a:ln>
                            <a:noFill/>
                          </a:ln>
                          <a:solidFill>
                            <a:srgbClr val="FF0000"/>
                          </a:solidFill>
                          <a:effectLst/>
                          <a:latin typeface="Tahoma" pitchFamily="34" charset="0"/>
                          <a:ea typeface="돋움" pitchFamily="50" charset="-127"/>
                        </a:rPr>
                        <a:t>1</a:t>
                      </a:r>
                      <a:r>
                        <a:rPr kumimoji="0" lang="en-US" altLang="ko-KR" sz="1600" b="0" i="0" u="none" strike="noStrike" cap="none" normalizeH="0" baseline="0">
                          <a:ln>
                            <a:noFill/>
                          </a:ln>
                          <a:solidFill>
                            <a:schemeClr val="tx1"/>
                          </a:solidFill>
                          <a:effectLst/>
                          <a:latin typeface="Tahoma" pitchFamily="34" charset="0"/>
                          <a:ea typeface="돋움" pitchFamily="50" charset="-127"/>
                        </a:rPr>
                        <a:t>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rgbClr val="FF0000"/>
                          </a:solidFill>
                          <a:effectLst/>
                          <a:latin typeface="Tahoma" pitchFamily="34" charset="0"/>
                          <a:ea typeface="돋움" pitchFamily="50" charset="-127"/>
                        </a:rPr>
                        <a:t>C2</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     All D’s with a 1 in bit 2</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4053">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3</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001</a:t>
                      </a:r>
                      <a:r>
                        <a:rPr kumimoji="0" lang="en-US" altLang="ko-KR" sz="1600" b="0" i="0" u="none" strike="noStrike" cap="none" normalizeH="0" baseline="0">
                          <a:ln>
                            <a:noFill/>
                          </a:ln>
                          <a:solidFill>
                            <a:srgbClr val="3333FF"/>
                          </a:solidFill>
                          <a:effectLst/>
                          <a:latin typeface="Tahoma" pitchFamily="34" charset="0"/>
                          <a:ea typeface="돋움" pitchFamily="50" charset="-127"/>
                        </a:rPr>
                        <a:t>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D1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4053">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4</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0100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C3</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     All D’s with a 1 in bit 3</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4053">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5</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010</a:t>
                      </a:r>
                      <a:r>
                        <a:rPr kumimoji="0" lang="en-US" altLang="ko-KR" sz="1600" b="0" i="0" u="none" strike="noStrike" cap="none" normalizeH="0" baseline="0">
                          <a:ln>
                            <a:noFill/>
                          </a:ln>
                          <a:solidFill>
                            <a:srgbClr val="3333FF"/>
                          </a:solidFill>
                          <a:effectLst/>
                          <a:latin typeface="Tahoma" pitchFamily="34" charset="0"/>
                          <a:ea typeface="돋움" pitchFamily="50" charset="-127"/>
                        </a:rPr>
                        <a:t>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D2</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4053">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6</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01</a:t>
                      </a:r>
                      <a:r>
                        <a:rPr kumimoji="0" lang="en-US" altLang="ko-KR" sz="1600" b="0" i="0" u="none" strike="noStrike" cap="none" normalizeH="0" baseline="0">
                          <a:ln>
                            <a:noFill/>
                          </a:ln>
                          <a:solidFill>
                            <a:srgbClr val="FF0000"/>
                          </a:solidFill>
                          <a:effectLst/>
                          <a:latin typeface="Tahoma" pitchFamily="34" charset="0"/>
                          <a:ea typeface="돋움" pitchFamily="50" charset="-127"/>
                        </a:rPr>
                        <a:t>1</a:t>
                      </a:r>
                      <a:r>
                        <a:rPr kumimoji="0" lang="en-US" altLang="ko-KR" sz="1600" b="0" i="0" u="none" strike="noStrike" cap="none" normalizeH="0" baseline="0">
                          <a:ln>
                            <a:noFill/>
                          </a:ln>
                          <a:solidFill>
                            <a:schemeClr val="tx1"/>
                          </a:solidFill>
                          <a:effectLst/>
                          <a:latin typeface="Tahoma" pitchFamily="34" charset="0"/>
                          <a:ea typeface="돋움" pitchFamily="50" charset="-127"/>
                        </a:rPr>
                        <a:t>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D3</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4053">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7</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01</a:t>
                      </a:r>
                      <a:r>
                        <a:rPr kumimoji="0" lang="en-US" altLang="ko-KR" sz="1600" b="0" i="0" u="none" strike="noStrike" cap="none" normalizeH="0" baseline="0">
                          <a:ln>
                            <a:noFill/>
                          </a:ln>
                          <a:solidFill>
                            <a:srgbClr val="FF0000"/>
                          </a:solidFill>
                          <a:effectLst/>
                          <a:latin typeface="Tahoma" pitchFamily="34" charset="0"/>
                          <a:ea typeface="돋움" pitchFamily="50" charset="-127"/>
                        </a:rPr>
                        <a:t>1</a:t>
                      </a:r>
                      <a:r>
                        <a:rPr kumimoji="0" lang="en-US" altLang="ko-KR" sz="1600" b="0" i="0" u="none" strike="noStrike" cap="none" normalizeH="0" baseline="0">
                          <a:ln>
                            <a:noFill/>
                          </a:ln>
                          <a:solidFill>
                            <a:srgbClr val="3333FF"/>
                          </a:solidFill>
                          <a:effectLst/>
                          <a:latin typeface="Tahoma" pitchFamily="34" charset="0"/>
                          <a:ea typeface="돋움" pitchFamily="50" charset="-127"/>
                        </a:rPr>
                        <a:t>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D4</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4053">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8</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1000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C4</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      All D’s with a 1 in bit 4</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4053">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9</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100</a:t>
                      </a:r>
                      <a:r>
                        <a:rPr kumimoji="0" lang="en-US" altLang="ko-KR" sz="1600" b="0" i="0" u="none" strike="noStrike" cap="none" normalizeH="0" baseline="0">
                          <a:ln>
                            <a:noFill/>
                          </a:ln>
                          <a:solidFill>
                            <a:srgbClr val="3333FF"/>
                          </a:solidFill>
                          <a:effectLst/>
                          <a:latin typeface="Tahoma" pitchFamily="34" charset="0"/>
                          <a:ea typeface="돋움" pitchFamily="50" charset="-127"/>
                        </a:rPr>
                        <a:t>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D5</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84053">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10</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10</a:t>
                      </a:r>
                      <a:r>
                        <a:rPr kumimoji="0" lang="en-US" altLang="ko-KR" sz="1600" b="0" i="0" u="none" strike="noStrike" cap="none" normalizeH="0" baseline="0">
                          <a:ln>
                            <a:noFill/>
                          </a:ln>
                          <a:solidFill>
                            <a:srgbClr val="FF0000"/>
                          </a:solidFill>
                          <a:effectLst/>
                          <a:latin typeface="Tahoma" pitchFamily="34" charset="0"/>
                          <a:ea typeface="돋움" pitchFamily="50" charset="-127"/>
                        </a:rPr>
                        <a:t>1</a:t>
                      </a:r>
                      <a:r>
                        <a:rPr kumimoji="0" lang="en-US" altLang="ko-KR" sz="1600" b="0" i="0" u="none" strike="noStrike" cap="none" normalizeH="0" baseline="0">
                          <a:ln>
                            <a:noFill/>
                          </a:ln>
                          <a:solidFill>
                            <a:schemeClr val="tx1"/>
                          </a:solidFill>
                          <a:effectLst/>
                          <a:latin typeface="Tahoma" pitchFamily="34" charset="0"/>
                          <a:ea typeface="돋움" pitchFamily="50" charset="-127"/>
                        </a:rPr>
                        <a:t>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D6</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84053">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11</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10</a:t>
                      </a:r>
                      <a:r>
                        <a:rPr kumimoji="0" lang="en-US" altLang="ko-KR" sz="1600" b="0" i="0" u="none" strike="noStrike" cap="none" normalizeH="0" baseline="0">
                          <a:ln>
                            <a:noFill/>
                          </a:ln>
                          <a:solidFill>
                            <a:srgbClr val="FF0000"/>
                          </a:solidFill>
                          <a:effectLst/>
                          <a:latin typeface="Tahoma" pitchFamily="34" charset="0"/>
                          <a:ea typeface="돋움" pitchFamily="50" charset="-127"/>
                        </a:rPr>
                        <a:t>1</a:t>
                      </a:r>
                      <a:r>
                        <a:rPr kumimoji="0" lang="en-US" altLang="ko-KR" sz="1600" b="0" i="0" u="none" strike="noStrike" cap="none" normalizeH="0" baseline="0">
                          <a:ln>
                            <a:noFill/>
                          </a:ln>
                          <a:solidFill>
                            <a:srgbClr val="3333FF"/>
                          </a:solidFill>
                          <a:effectLst/>
                          <a:latin typeface="Tahoma" pitchFamily="34" charset="0"/>
                          <a:ea typeface="돋움" pitchFamily="50" charset="-127"/>
                        </a:rPr>
                        <a:t>1</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D7</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84053">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12</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1100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r>
                        <a:rPr kumimoji="0" lang="en-US" altLang="ko-KR" sz="1600" b="0" i="0" u="none" strike="noStrike" cap="none" normalizeH="0" baseline="0">
                          <a:ln>
                            <a:noFill/>
                          </a:ln>
                          <a:solidFill>
                            <a:schemeClr val="tx1"/>
                          </a:solidFill>
                          <a:effectLst/>
                          <a:latin typeface="Tahoma" pitchFamily="34" charset="0"/>
                          <a:ea typeface="돋움" pitchFamily="50" charset="-127"/>
                        </a:rPr>
                        <a:t>D8</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FF9900"/>
                        </a:buClr>
                        <a:buSzTx/>
                        <a:buFont typeface="굴림" pitchFamily="50" charset="-127"/>
                        <a:buNone/>
                        <a:tabLst/>
                      </a:pPr>
                      <a:endParaRPr kumimoji="0" lang="ko-KR" altLang="ko-KR" sz="1600" b="0" i="0" u="none" strike="noStrike" cap="none" normalizeH="0" baseline="0">
                        <a:ln>
                          <a:noFill/>
                        </a:ln>
                        <a:solidFill>
                          <a:schemeClr val="tx1"/>
                        </a:solidFill>
                        <a:effectLst/>
                        <a:latin typeface="Tahoma" pitchFamily="34" charset="0"/>
                        <a:ea typeface="돋움" pitchFamily="50" charset="-127"/>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grpSp>
        <p:nvGrpSpPr>
          <p:cNvPr id="97370" name="Group 88">
            <a:extLst>
              <a:ext uri="{FF2B5EF4-FFF2-40B4-BE49-F238E27FC236}">
                <a16:creationId xmlns:a16="http://schemas.microsoft.com/office/drawing/2014/main" id="{BC6CBDAE-7C03-4DAA-BBB9-D0771F9EC658}"/>
              </a:ext>
            </a:extLst>
          </p:cNvPr>
          <p:cNvGrpSpPr>
            <a:grpSpLocks/>
          </p:cNvGrpSpPr>
          <p:nvPr/>
        </p:nvGrpSpPr>
        <p:grpSpPr bwMode="auto">
          <a:xfrm>
            <a:off x="4648200" y="1219200"/>
            <a:ext cx="228600" cy="228600"/>
            <a:chOff x="1200" y="1680"/>
            <a:chExt cx="192" cy="192"/>
          </a:xfrm>
        </p:grpSpPr>
        <p:sp>
          <p:nvSpPr>
            <p:cNvPr id="97401" name="Oval 89">
              <a:extLst>
                <a:ext uri="{FF2B5EF4-FFF2-40B4-BE49-F238E27FC236}">
                  <a16:creationId xmlns:a16="http://schemas.microsoft.com/office/drawing/2014/main" id="{DB3F0826-75C6-4466-AB8B-4BF27D25A4BE}"/>
                </a:ext>
              </a:extLst>
            </p:cNvPr>
            <p:cNvSpPr>
              <a:spLocks noChangeArrowheads="1"/>
            </p:cNvSpPr>
            <p:nvPr/>
          </p:nvSpPr>
          <p:spPr bwMode="auto">
            <a:xfrm>
              <a:off x="1200" y="1680"/>
              <a:ext cx="192" cy="19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7402" name="Line 90">
              <a:extLst>
                <a:ext uri="{FF2B5EF4-FFF2-40B4-BE49-F238E27FC236}">
                  <a16:creationId xmlns:a16="http://schemas.microsoft.com/office/drawing/2014/main" id="{631CE38F-544A-4FD4-8B78-5C6BEF977AA8}"/>
                </a:ext>
              </a:extLst>
            </p:cNvPr>
            <p:cNvSpPr>
              <a:spLocks noChangeShapeType="1"/>
            </p:cNvSpPr>
            <p:nvPr/>
          </p:nvSpPr>
          <p:spPr bwMode="auto">
            <a:xfrm>
              <a:off x="1200" y="1776"/>
              <a:ext cx="1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7403" name="Line 91">
              <a:extLst>
                <a:ext uri="{FF2B5EF4-FFF2-40B4-BE49-F238E27FC236}">
                  <a16:creationId xmlns:a16="http://schemas.microsoft.com/office/drawing/2014/main" id="{D87CB0FA-4411-4FCA-B0AC-70D538AB93BE}"/>
                </a:ext>
              </a:extLst>
            </p:cNvPr>
            <p:cNvSpPr>
              <a:spLocks noChangeShapeType="1"/>
            </p:cNvSpPr>
            <p:nvPr/>
          </p:nvSpPr>
          <p:spPr bwMode="auto">
            <a:xfrm flipV="1">
              <a:off x="1296" y="1680"/>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grpSp>
      <p:grpSp>
        <p:nvGrpSpPr>
          <p:cNvPr id="97371" name="Group 92">
            <a:extLst>
              <a:ext uri="{FF2B5EF4-FFF2-40B4-BE49-F238E27FC236}">
                <a16:creationId xmlns:a16="http://schemas.microsoft.com/office/drawing/2014/main" id="{ED59E9D9-DD69-43C0-ABEA-4C16172E9076}"/>
              </a:ext>
            </a:extLst>
          </p:cNvPr>
          <p:cNvGrpSpPr>
            <a:grpSpLocks/>
          </p:cNvGrpSpPr>
          <p:nvPr/>
        </p:nvGrpSpPr>
        <p:grpSpPr bwMode="auto">
          <a:xfrm>
            <a:off x="4648200" y="1600200"/>
            <a:ext cx="228600" cy="228600"/>
            <a:chOff x="1200" y="1680"/>
            <a:chExt cx="192" cy="192"/>
          </a:xfrm>
        </p:grpSpPr>
        <p:sp>
          <p:nvSpPr>
            <p:cNvPr id="97398" name="Oval 93">
              <a:extLst>
                <a:ext uri="{FF2B5EF4-FFF2-40B4-BE49-F238E27FC236}">
                  <a16:creationId xmlns:a16="http://schemas.microsoft.com/office/drawing/2014/main" id="{4030A03E-26B2-486A-8DC4-E321ADC27FA3}"/>
                </a:ext>
              </a:extLst>
            </p:cNvPr>
            <p:cNvSpPr>
              <a:spLocks noChangeArrowheads="1"/>
            </p:cNvSpPr>
            <p:nvPr/>
          </p:nvSpPr>
          <p:spPr bwMode="auto">
            <a:xfrm>
              <a:off x="1200" y="1680"/>
              <a:ext cx="192" cy="19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7399" name="Line 94">
              <a:extLst>
                <a:ext uri="{FF2B5EF4-FFF2-40B4-BE49-F238E27FC236}">
                  <a16:creationId xmlns:a16="http://schemas.microsoft.com/office/drawing/2014/main" id="{EE535F37-76E5-4D24-991C-D5927E9D9187}"/>
                </a:ext>
              </a:extLst>
            </p:cNvPr>
            <p:cNvSpPr>
              <a:spLocks noChangeShapeType="1"/>
            </p:cNvSpPr>
            <p:nvPr/>
          </p:nvSpPr>
          <p:spPr bwMode="auto">
            <a:xfrm>
              <a:off x="1200" y="1776"/>
              <a:ext cx="1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7400" name="Line 95">
              <a:extLst>
                <a:ext uri="{FF2B5EF4-FFF2-40B4-BE49-F238E27FC236}">
                  <a16:creationId xmlns:a16="http://schemas.microsoft.com/office/drawing/2014/main" id="{DC1BB76B-5751-4BEA-81A7-43169E39130C}"/>
                </a:ext>
              </a:extLst>
            </p:cNvPr>
            <p:cNvSpPr>
              <a:spLocks noChangeShapeType="1"/>
            </p:cNvSpPr>
            <p:nvPr/>
          </p:nvSpPr>
          <p:spPr bwMode="auto">
            <a:xfrm flipV="1">
              <a:off x="1296" y="1680"/>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grpSp>
      <p:grpSp>
        <p:nvGrpSpPr>
          <p:cNvPr id="97372" name="Group 96">
            <a:extLst>
              <a:ext uri="{FF2B5EF4-FFF2-40B4-BE49-F238E27FC236}">
                <a16:creationId xmlns:a16="http://schemas.microsoft.com/office/drawing/2014/main" id="{E0057BBC-9F5C-4F39-87BA-677328510BFA}"/>
              </a:ext>
            </a:extLst>
          </p:cNvPr>
          <p:cNvGrpSpPr>
            <a:grpSpLocks/>
          </p:cNvGrpSpPr>
          <p:nvPr/>
        </p:nvGrpSpPr>
        <p:grpSpPr bwMode="auto">
          <a:xfrm>
            <a:off x="4648200" y="2438400"/>
            <a:ext cx="228600" cy="228600"/>
            <a:chOff x="1200" y="1680"/>
            <a:chExt cx="192" cy="192"/>
          </a:xfrm>
        </p:grpSpPr>
        <p:sp>
          <p:nvSpPr>
            <p:cNvPr id="97395" name="Oval 97">
              <a:extLst>
                <a:ext uri="{FF2B5EF4-FFF2-40B4-BE49-F238E27FC236}">
                  <a16:creationId xmlns:a16="http://schemas.microsoft.com/office/drawing/2014/main" id="{E7A373E6-7C57-435A-B070-24B87E5FC45D}"/>
                </a:ext>
              </a:extLst>
            </p:cNvPr>
            <p:cNvSpPr>
              <a:spLocks noChangeArrowheads="1"/>
            </p:cNvSpPr>
            <p:nvPr/>
          </p:nvSpPr>
          <p:spPr bwMode="auto">
            <a:xfrm>
              <a:off x="1200" y="1680"/>
              <a:ext cx="192" cy="19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7396" name="Line 98">
              <a:extLst>
                <a:ext uri="{FF2B5EF4-FFF2-40B4-BE49-F238E27FC236}">
                  <a16:creationId xmlns:a16="http://schemas.microsoft.com/office/drawing/2014/main" id="{119F5F96-DB33-4802-A2D6-6DE7A8E6C224}"/>
                </a:ext>
              </a:extLst>
            </p:cNvPr>
            <p:cNvSpPr>
              <a:spLocks noChangeShapeType="1"/>
            </p:cNvSpPr>
            <p:nvPr/>
          </p:nvSpPr>
          <p:spPr bwMode="auto">
            <a:xfrm>
              <a:off x="1200" y="1776"/>
              <a:ext cx="1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7397" name="Line 99">
              <a:extLst>
                <a:ext uri="{FF2B5EF4-FFF2-40B4-BE49-F238E27FC236}">
                  <a16:creationId xmlns:a16="http://schemas.microsoft.com/office/drawing/2014/main" id="{22466FD3-09D9-4C4B-81E4-853D36517C19}"/>
                </a:ext>
              </a:extLst>
            </p:cNvPr>
            <p:cNvSpPr>
              <a:spLocks noChangeShapeType="1"/>
            </p:cNvSpPr>
            <p:nvPr/>
          </p:nvSpPr>
          <p:spPr bwMode="auto">
            <a:xfrm flipV="1">
              <a:off x="1296" y="1680"/>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grpSp>
      <p:grpSp>
        <p:nvGrpSpPr>
          <p:cNvPr id="97373" name="Group 100">
            <a:extLst>
              <a:ext uri="{FF2B5EF4-FFF2-40B4-BE49-F238E27FC236}">
                <a16:creationId xmlns:a16="http://schemas.microsoft.com/office/drawing/2014/main" id="{3C310C5D-1ED9-47B1-9863-2A9672D07395}"/>
              </a:ext>
            </a:extLst>
          </p:cNvPr>
          <p:cNvGrpSpPr>
            <a:grpSpLocks/>
          </p:cNvGrpSpPr>
          <p:nvPr/>
        </p:nvGrpSpPr>
        <p:grpSpPr bwMode="auto">
          <a:xfrm>
            <a:off x="4648200" y="4038600"/>
            <a:ext cx="228600" cy="228600"/>
            <a:chOff x="1200" y="1680"/>
            <a:chExt cx="192" cy="192"/>
          </a:xfrm>
        </p:grpSpPr>
        <p:sp>
          <p:nvSpPr>
            <p:cNvPr id="97392" name="Oval 101">
              <a:extLst>
                <a:ext uri="{FF2B5EF4-FFF2-40B4-BE49-F238E27FC236}">
                  <a16:creationId xmlns:a16="http://schemas.microsoft.com/office/drawing/2014/main" id="{93DE1D7D-2B62-4864-9E1B-5DDBA7E0BD51}"/>
                </a:ext>
              </a:extLst>
            </p:cNvPr>
            <p:cNvSpPr>
              <a:spLocks noChangeArrowheads="1"/>
            </p:cNvSpPr>
            <p:nvPr/>
          </p:nvSpPr>
          <p:spPr bwMode="auto">
            <a:xfrm>
              <a:off x="1200" y="1680"/>
              <a:ext cx="192" cy="19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7393" name="Line 102">
              <a:extLst>
                <a:ext uri="{FF2B5EF4-FFF2-40B4-BE49-F238E27FC236}">
                  <a16:creationId xmlns:a16="http://schemas.microsoft.com/office/drawing/2014/main" id="{92AE470E-4E6C-424A-833D-E16A7D7DFD7C}"/>
                </a:ext>
              </a:extLst>
            </p:cNvPr>
            <p:cNvSpPr>
              <a:spLocks noChangeShapeType="1"/>
            </p:cNvSpPr>
            <p:nvPr/>
          </p:nvSpPr>
          <p:spPr bwMode="auto">
            <a:xfrm>
              <a:off x="1200" y="1776"/>
              <a:ext cx="1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7394" name="Line 103">
              <a:extLst>
                <a:ext uri="{FF2B5EF4-FFF2-40B4-BE49-F238E27FC236}">
                  <a16:creationId xmlns:a16="http://schemas.microsoft.com/office/drawing/2014/main" id="{859317A4-434D-4D33-B8D3-6ED71F1BF05A}"/>
                </a:ext>
              </a:extLst>
            </p:cNvPr>
            <p:cNvSpPr>
              <a:spLocks noChangeShapeType="1"/>
            </p:cNvSpPr>
            <p:nvPr/>
          </p:nvSpPr>
          <p:spPr bwMode="auto">
            <a:xfrm flipV="1">
              <a:off x="1296" y="1680"/>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grpSp>
      <p:sp>
        <p:nvSpPr>
          <p:cNvPr id="97374" name="Rectangle 104">
            <a:extLst>
              <a:ext uri="{FF2B5EF4-FFF2-40B4-BE49-F238E27FC236}">
                <a16:creationId xmlns:a16="http://schemas.microsoft.com/office/drawing/2014/main" id="{31ADD489-30D4-4274-A5F1-4E61D5B8F708}"/>
              </a:ext>
            </a:extLst>
          </p:cNvPr>
          <p:cNvSpPr>
            <a:spLocks noChangeArrowheads="1"/>
          </p:cNvSpPr>
          <p:nvPr/>
        </p:nvSpPr>
        <p:spPr bwMode="auto">
          <a:xfrm>
            <a:off x="609600" y="6099175"/>
            <a:ext cx="83026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ko-KR" sz="2000">
                <a:latin typeface="Times New Roman" panose="02020603050405020304" pitchFamily="18" charset="0"/>
                <a:ea typeface="굴림" panose="020B0600000101010101" pitchFamily="50" charset="-127"/>
              </a:rPr>
              <a:t>C1 = D1       D2        D4        D5      D7</a:t>
            </a:r>
          </a:p>
          <a:p>
            <a:pPr>
              <a:spcBef>
                <a:spcPct val="0"/>
              </a:spcBef>
              <a:buClrTx/>
              <a:buFontTx/>
              <a:buNone/>
            </a:pPr>
            <a:r>
              <a:rPr kumimoji="0" lang="en-GB" altLang="ko-KR" sz="2000">
                <a:latin typeface="Tahoma" panose="020B0604030504040204" pitchFamily="34" charset="0"/>
                <a:ea typeface="굴림" panose="020B0600000101010101" pitchFamily="50" charset="-127"/>
              </a:rPr>
              <a:t>Each check bit works on every data bit who shares the same bit position</a:t>
            </a:r>
            <a:endParaRPr kumimoji="0" lang="en-US" altLang="ko-KR" sz="2000">
              <a:latin typeface="Tahoma" panose="020B0604030504040204" pitchFamily="34" charset="0"/>
              <a:ea typeface="굴림" panose="020B0600000101010101" pitchFamily="50" charset="-127"/>
            </a:endParaRPr>
          </a:p>
        </p:txBody>
      </p:sp>
      <p:grpSp>
        <p:nvGrpSpPr>
          <p:cNvPr id="97375" name="Group 105">
            <a:extLst>
              <a:ext uri="{FF2B5EF4-FFF2-40B4-BE49-F238E27FC236}">
                <a16:creationId xmlns:a16="http://schemas.microsoft.com/office/drawing/2014/main" id="{79D0ACD6-15CE-4674-8B8C-E8694E96CBB5}"/>
              </a:ext>
            </a:extLst>
          </p:cNvPr>
          <p:cNvGrpSpPr>
            <a:grpSpLocks/>
          </p:cNvGrpSpPr>
          <p:nvPr/>
        </p:nvGrpSpPr>
        <p:grpSpPr bwMode="auto">
          <a:xfrm>
            <a:off x="1676400" y="6172200"/>
            <a:ext cx="228600" cy="228600"/>
            <a:chOff x="1200" y="1680"/>
            <a:chExt cx="192" cy="192"/>
          </a:xfrm>
        </p:grpSpPr>
        <p:sp>
          <p:nvSpPr>
            <p:cNvPr id="97389" name="Oval 106">
              <a:extLst>
                <a:ext uri="{FF2B5EF4-FFF2-40B4-BE49-F238E27FC236}">
                  <a16:creationId xmlns:a16="http://schemas.microsoft.com/office/drawing/2014/main" id="{0D4A1943-4C1B-4D6B-84E2-72F6D5843E73}"/>
                </a:ext>
              </a:extLst>
            </p:cNvPr>
            <p:cNvSpPr>
              <a:spLocks noChangeArrowheads="1"/>
            </p:cNvSpPr>
            <p:nvPr/>
          </p:nvSpPr>
          <p:spPr bwMode="auto">
            <a:xfrm>
              <a:off x="1200" y="1680"/>
              <a:ext cx="192" cy="19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7390" name="Line 107">
              <a:extLst>
                <a:ext uri="{FF2B5EF4-FFF2-40B4-BE49-F238E27FC236}">
                  <a16:creationId xmlns:a16="http://schemas.microsoft.com/office/drawing/2014/main" id="{968EAC9A-E321-4950-B0C3-C521897F5FD3}"/>
                </a:ext>
              </a:extLst>
            </p:cNvPr>
            <p:cNvSpPr>
              <a:spLocks noChangeShapeType="1"/>
            </p:cNvSpPr>
            <p:nvPr/>
          </p:nvSpPr>
          <p:spPr bwMode="auto">
            <a:xfrm>
              <a:off x="1200" y="1776"/>
              <a:ext cx="1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7391" name="Line 108">
              <a:extLst>
                <a:ext uri="{FF2B5EF4-FFF2-40B4-BE49-F238E27FC236}">
                  <a16:creationId xmlns:a16="http://schemas.microsoft.com/office/drawing/2014/main" id="{1D5C2865-4F36-4F48-8EE6-19C48AC5460A}"/>
                </a:ext>
              </a:extLst>
            </p:cNvPr>
            <p:cNvSpPr>
              <a:spLocks noChangeShapeType="1"/>
            </p:cNvSpPr>
            <p:nvPr/>
          </p:nvSpPr>
          <p:spPr bwMode="auto">
            <a:xfrm flipV="1">
              <a:off x="1296" y="1680"/>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grpSp>
      <p:grpSp>
        <p:nvGrpSpPr>
          <p:cNvPr id="97376" name="Group 109">
            <a:extLst>
              <a:ext uri="{FF2B5EF4-FFF2-40B4-BE49-F238E27FC236}">
                <a16:creationId xmlns:a16="http://schemas.microsoft.com/office/drawing/2014/main" id="{7628A6AA-496D-44F6-BB84-D9A8398714C5}"/>
              </a:ext>
            </a:extLst>
          </p:cNvPr>
          <p:cNvGrpSpPr>
            <a:grpSpLocks/>
          </p:cNvGrpSpPr>
          <p:nvPr/>
        </p:nvGrpSpPr>
        <p:grpSpPr bwMode="auto">
          <a:xfrm>
            <a:off x="2438400" y="6172200"/>
            <a:ext cx="228600" cy="228600"/>
            <a:chOff x="1200" y="1680"/>
            <a:chExt cx="192" cy="192"/>
          </a:xfrm>
        </p:grpSpPr>
        <p:sp>
          <p:nvSpPr>
            <p:cNvPr id="97386" name="Oval 110">
              <a:extLst>
                <a:ext uri="{FF2B5EF4-FFF2-40B4-BE49-F238E27FC236}">
                  <a16:creationId xmlns:a16="http://schemas.microsoft.com/office/drawing/2014/main" id="{6C8DD23E-21BB-4D5A-9447-21F0B54F7049}"/>
                </a:ext>
              </a:extLst>
            </p:cNvPr>
            <p:cNvSpPr>
              <a:spLocks noChangeArrowheads="1"/>
            </p:cNvSpPr>
            <p:nvPr/>
          </p:nvSpPr>
          <p:spPr bwMode="auto">
            <a:xfrm>
              <a:off x="1200" y="1680"/>
              <a:ext cx="192" cy="19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7387" name="Line 111">
              <a:extLst>
                <a:ext uri="{FF2B5EF4-FFF2-40B4-BE49-F238E27FC236}">
                  <a16:creationId xmlns:a16="http://schemas.microsoft.com/office/drawing/2014/main" id="{B6C8CCDD-F60B-40B0-A715-402B41FAF831}"/>
                </a:ext>
              </a:extLst>
            </p:cNvPr>
            <p:cNvSpPr>
              <a:spLocks noChangeShapeType="1"/>
            </p:cNvSpPr>
            <p:nvPr/>
          </p:nvSpPr>
          <p:spPr bwMode="auto">
            <a:xfrm>
              <a:off x="1200" y="1776"/>
              <a:ext cx="1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7388" name="Line 112">
              <a:extLst>
                <a:ext uri="{FF2B5EF4-FFF2-40B4-BE49-F238E27FC236}">
                  <a16:creationId xmlns:a16="http://schemas.microsoft.com/office/drawing/2014/main" id="{7C162EEE-FADC-46EC-B0BB-4F05DD7B8452}"/>
                </a:ext>
              </a:extLst>
            </p:cNvPr>
            <p:cNvSpPr>
              <a:spLocks noChangeShapeType="1"/>
            </p:cNvSpPr>
            <p:nvPr/>
          </p:nvSpPr>
          <p:spPr bwMode="auto">
            <a:xfrm flipV="1">
              <a:off x="1296" y="1680"/>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grpSp>
      <p:grpSp>
        <p:nvGrpSpPr>
          <p:cNvPr id="97377" name="Group 113">
            <a:extLst>
              <a:ext uri="{FF2B5EF4-FFF2-40B4-BE49-F238E27FC236}">
                <a16:creationId xmlns:a16="http://schemas.microsoft.com/office/drawing/2014/main" id="{C9FCB0E5-9F0F-4AFB-B2D5-CA37586A2EF7}"/>
              </a:ext>
            </a:extLst>
          </p:cNvPr>
          <p:cNvGrpSpPr>
            <a:grpSpLocks/>
          </p:cNvGrpSpPr>
          <p:nvPr/>
        </p:nvGrpSpPr>
        <p:grpSpPr bwMode="auto">
          <a:xfrm>
            <a:off x="3276600" y="6172200"/>
            <a:ext cx="228600" cy="228600"/>
            <a:chOff x="1200" y="1680"/>
            <a:chExt cx="192" cy="192"/>
          </a:xfrm>
        </p:grpSpPr>
        <p:sp>
          <p:nvSpPr>
            <p:cNvPr id="97383" name="Oval 114">
              <a:extLst>
                <a:ext uri="{FF2B5EF4-FFF2-40B4-BE49-F238E27FC236}">
                  <a16:creationId xmlns:a16="http://schemas.microsoft.com/office/drawing/2014/main" id="{3DCFED25-E0FB-4D96-B942-BCD7EC36C1ED}"/>
                </a:ext>
              </a:extLst>
            </p:cNvPr>
            <p:cNvSpPr>
              <a:spLocks noChangeArrowheads="1"/>
            </p:cNvSpPr>
            <p:nvPr/>
          </p:nvSpPr>
          <p:spPr bwMode="auto">
            <a:xfrm>
              <a:off x="1200" y="1680"/>
              <a:ext cx="192" cy="19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7384" name="Line 115">
              <a:extLst>
                <a:ext uri="{FF2B5EF4-FFF2-40B4-BE49-F238E27FC236}">
                  <a16:creationId xmlns:a16="http://schemas.microsoft.com/office/drawing/2014/main" id="{BF8A2153-327F-496C-A9A6-A6BFCD527D91}"/>
                </a:ext>
              </a:extLst>
            </p:cNvPr>
            <p:cNvSpPr>
              <a:spLocks noChangeShapeType="1"/>
            </p:cNvSpPr>
            <p:nvPr/>
          </p:nvSpPr>
          <p:spPr bwMode="auto">
            <a:xfrm>
              <a:off x="1200" y="1776"/>
              <a:ext cx="1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7385" name="Line 116">
              <a:extLst>
                <a:ext uri="{FF2B5EF4-FFF2-40B4-BE49-F238E27FC236}">
                  <a16:creationId xmlns:a16="http://schemas.microsoft.com/office/drawing/2014/main" id="{ED1885C9-6A22-485B-9E10-638255BEEF9D}"/>
                </a:ext>
              </a:extLst>
            </p:cNvPr>
            <p:cNvSpPr>
              <a:spLocks noChangeShapeType="1"/>
            </p:cNvSpPr>
            <p:nvPr/>
          </p:nvSpPr>
          <p:spPr bwMode="auto">
            <a:xfrm flipV="1">
              <a:off x="1296" y="1680"/>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grpSp>
      <p:grpSp>
        <p:nvGrpSpPr>
          <p:cNvPr id="97378" name="Group 117">
            <a:extLst>
              <a:ext uri="{FF2B5EF4-FFF2-40B4-BE49-F238E27FC236}">
                <a16:creationId xmlns:a16="http://schemas.microsoft.com/office/drawing/2014/main" id="{DBC2BF83-8593-4E50-9B55-C217569F100A}"/>
              </a:ext>
            </a:extLst>
          </p:cNvPr>
          <p:cNvGrpSpPr>
            <a:grpSpLocks/>
          </p:cNvGrpSpPr>
          <p:nvPr/>
        </p:nvGrpSpPr>
        <p:grpSpPr bwMode="auto">
          <a:xfrm>
            <a:off x="4038600" y="6172200"/>
            <a:ext cx="228600" cy="228600"/>
            <a:chOff x="1200" y="1680"/>
            <a:chExt cx="192" cy="192"/>
          </a:xfrm>
        </p:grpSpPr>
        <p:sp>
          <p:nvSpPr>
            <p:cNvPr id="97380" name="Oval 118">
              <a:extLst>
                <a:ext uri="{FF2B5EF4-FFF2-40B4-BE49-F238E27FC236}">
                  <a16:creationId xmlns:a16="http://schemas.microsoft.com/office/drawing/2014/main" id="{60271096-C906-43A2-AE6B-D4ADCE118883}"/>
                </a:ext>
              </a:extLst>
            </p:cNvPr>
            <p:cNvSpPr>
              <a:spLocks noChangeArrowheads="1"/>
            </p:cNvSpPr>
            <p:nvPr/>
          </p:nvSpPr>
          <p:spPr bwMode="auto">
            <a:xfrm>
              <a:off x="1200" y="1680"/>
              <a:ext cx="192" cy="19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97381" name="Line 119">
              <a:extLst>
                <a:ext uri="{FF2B5EF4-FFF2-40B4-BE49-F238E27FC236}">
                  <a16:creationId xmlns:a16="http://schemas.microsoft.com/office/drawing/2014/main" id="{F3172674-7FDB-41BE-9283-E4C2EE12F211}"/>
                </a:ext>
              </a:extLst>
            </p:cNvPr>
            <p:cNvSpPr>
              <a:spLocks noChangeShapeType="1"/>
            </p:cNvSpPr>
            <p:nvPr/>
          </p:nvSpPr>
          <p:spPr bwMode="auto">
            <a:xfrm>
              <a:off x="1200" y="1776"/>
              <a:ext cx="1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97382" name="Line 120">
              <a:extLst>
                <a:ext uri="{FF2B5EF4-FFF2-40B4-BE49-F238E27FC236}">
                  <a16:creationId xmlns:a16="http://schemas.microsoft.com/office/drawing/2014/main" id="{58F93BDC-2B30-41F8-8D1D-AAFB1A5737DF}"/>
                </a:ext>
              </a:extLst>
            </p:cNvPr>
            <p:cNvSpPr>
              <a:spLocks noChangeShapeType="1"/>
            </p:cNvSpPr>
            <p:nvPr/>
          </p:nvSpPr>
          <p:spPr bwMode="auto">
            <a:xfrm flipV="1">
              <a:off x="1296" y="1680"/>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ko-KR" altLang="en-US"/>
            </a:p>
          </p:txBody>
        </p:sp>
      </p:grpSp>
      <p:sp>
        <p:nvSpPr>
          <p:cNvPr id="97379" name="Rectangle 123">
            <a:extLst>
              <a:ext uri="{FF2B5EF4-FFF2-40B4-BE49-F238E27FC236}">
                <a16:creationId xmlns:a16="http://schemas.microsoft.com/office/drawing/2014/main" id="{81089263-A644-4219-8B97-9B1A50E1ABA2}"/>
              </a:ext>
            </a:extLst>
          </p:cNvPr>
          <p:cNvSpPr>
            <a:spLocks noGrp="1" noChangeArrowheads="1"/>
          </p:cNvSpPr>
          <p:nvPr>
            <p:ph type="title"/>
          </p:nvPr>
        </p:nvSpPr>
        <p:spPr>
          <a:xfrm>
            <a:off x="533400" y="198438"/>
            <a:ext cx="8077200" cy="422275"/>
          </a:xfrm>
        </p:spPr>
        <p:txBody>
          <a:bodyPr/>
          <a:lstStyle/>
          <a:p>
            <a:r>
              <a:rPr lang="en-GB" altLang="ko-KR" sz="2600">
                <a:ea typeface="굴림" panose="020B0600000101010101" pitchFamily="50" charset="-127"/>
              </a:rPr>
              <a:t>Calculating check bits</a:t>
            </a:r>
            <a:endParaRPr lang="en-US" altLang="ko-KR" sz="2600">
              <a:ea typeface="굴림" panose="020B0600000101010101" pitchFamily="50" charset="-127"/>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슬라이드 번호 개체 틀 4">
            <a:extLst>
              <a:ext uri="{FF2B5EF4-FFF2-40B4-BE49-F238E27FC236}">
                <a16:creationId xmlns:a16="http://schemas.microsoft.com/office/drawing/2014/main" id="{8D9EB7D9-1590-4BCE-AA68-EA4A86393474}"/>
              </a:ext>
            </a:extLst>
          </p:cNvPr>
          <p:cNvSpPr>
            <a:spLocks noGrp="1"/>
          </p:cNvSpPr>
          <p:nvPr>
            <p:ph type="sldNum" sz="quarter" idx="4294967295"/>
          </p:nvPr>
        </p:nvSpPr>
        <p:spPr bwMode="auto">
          <a:xfrm>
            <a:off x="7924800" y="6400800"/>
            <a:ext cx="6858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6B3B0EFE-4BC8-46CC-AB15-C4DADDCFE53F}" type="slidenum">
              <a:rPr kumimoji="0" lang="en-US" altLang="ko-KR" sz="2400">
                <a:latin typeface="Times New Roman" panose="02020603050405020304" pitchFamily="18" charset="0"/>
                <a:ea typeface="굴림" panose="020B0600000101010101" pitchFamily="50" charset="-127"/>
              </a:rPr>
              <a:pPr>
                <a:spcBef>
                  <a:spcPct val="0"/>
                </a:spcBef>
                <a:buClrTx/>
                <a:buFontTx/>
                <a:buNone/>
              </a:pPr>
              <a:t>47</a:t>
            </a:fld>
            <a:endParaRPr kumimoji="0" lang="en-US" altLang="ko-KR" sz="2400">
              <a:latin typeface="Times New Roman" panose="02020603050405020304" pitchFamily="18" charset="0"/>
              <a:ea typeface="굴림" panose="020B0600000101010101" pitchFamily="50" charset="-127"/>
            </a:endParaRPr>
          </a:p>
        </p:txBody>
      </p:sp>
      <p:sp>
        <p:nvSpPr>
          <p:cNvPr id="101379" name="Rectangle 2">
            <a:extLst>
              <a:ext uri="{FF2B5EF4-FFF2-40B4-BE49-F238E27FC236}">
                <a16:creationId xmlns:a16="http://schemas.microsoft.com/office/drawing/2014/main" id="{69D68B91-C612-4470-9A33-7225756B7555}"/>
              </a:ext>
            </a:extLst>
          </p:cNvPr>
          <p:cNvSpPr>
            <a:spLocks noGrp="1" noChangeArrowheads="1"/>
          </p:cNvSpPr>
          <p:nvPr>
            <p:ph type="title"/>
          </p:nvPr>
        </p:nvSpPr>
        <p:spPr/>
        <p:txBody>
          <a:bodyPr/>
          <a:lstStyle/>
          <a:p>
            <a:r>
              <a:rPr lang="en-US" altLang="ko-KR">
                <a:ea typeface="굴림" panose="020B0600000101010101" pitchFamily="50" charset="-127"/>
              </a:rPr>
              <a:t>Error Correcting and Detecting (2)</a:t>
            </a:r>
          </a:p>
        </p:txBody>
      </p:sp>
      <p:sp>
        <p:nvSpPr>
          <p:cNvPr id="101380" name="Rectangle 3">
            <a:extLst>
              <a:ext uri="{FF2B5EF4-FFF2-40B4-BE49-F238E27FC236}">
                <a16:creationId xmlns:a16="http://schemas.microsoft.com/office/drawing/2014/main" id="{1307C0E7-E6BA-4991-9552-A58E2E6420C9}"/>
              </a:ext>
            </a:extLst>
          </p:cNvPr>
          <p:cNvSpPr>
            <a:spLocks noGrp="1" noChangeArrowheads="1"/>
          </p:cNvSpPr>
          <p:nvPr>
            <p:ph type="body" idx="1"/>
          </p:nvPr>
        </p:nvSpPr>
        <p:spPr>
          <a:xfrm>
            <a:off x="381000" y="1085850"/>
            <a:ext cx="8305800" cy="5314950"/>
          </a:xfrm>
        </p:spPr>
        <p:txBody>
          <a:bodyPr/>
          <a:lstStyle/>
          <a:p>
            <a:r>
              <a:rPr lang="en-US" altLang="ko-KR" sz="2400">
                <a:ea typeface="굴림" panose="020B0600000101010101" pitchFamily="50" charset="-127"/>
              </a:rPr>
              <a:t>Hamming code only correct single error: SEC</a:t>
            </a:r>
          </a:p>
          <a:p>
            <a:r>
              <a:rPr lang="en-US" altLang="ko-KR" sz="2400">
                <a:ea typeface="굴림" panose="020B0600000101010101" pitchFamily="50" charset="-127"/>
              </a:rPr>
              <a:t>Can we also detect 2 errors in addition? SEC-DED</a:t>
            </a:r>
          </a:p>
          <a:p>
            <a:pPr lvl="1"/>
            <a:r>
              <a:rPr lang="en-US" altLang="ko-KR" sz="2000">
                <a:solidFill>
                  <a:srgbClr val="0070C0"/>
                </a:solidFill>
                <a:ea typeface="굴림" panose="020B0600000101010101" pitchFamily="50" charset="-127"/>
              </a:rPr>
              <a:t>Include one more bit: </a:t>
            </a:r>
            <a:r>
              <a:rPr lang="en-US" altLang="ko-KR" sz="2000" i="1">
                <a:solidFill>
                  <a:srgbClr val="0070C0"/>
                </a:solidFill>
                <a:ea typeface="굴림" panose="020B0600000101010101" pitchFamily="50" charset="-127"/>
              </a:rPr>
              <a:t>p</a:t>
            </a:r>
            <a:r>
              <a:rPr lang="en-US" altLang="ko-KR" sz="2000">
                <a:solidFill>
                  <a:srgbClr val="0070C0"/>
                </a:solidFill>
                <a:ea typeface="굴림" panose="020B0600000101010101" pitchFamily="50" charset="-127"/>
              </a:rPr>
              <a:t> bit</a:t>
            </a:r>
          </a:p>
          <a:p>
            <a:r>
              <a:rPr lang="en-US" altLang="ko-KR" sz="2400">
                <a:ea typeface="굴림" panose="020B0600000101010101" pitchFamily="50" charset="-127"/>
              </a:rPr>
              <a:t>Given an </a:t>
            </a:r>
            <a:r>
              <a:rPr lang="en-US" altLang="ko-KR" sz="2400" i="1">
                <a:ea typeface="굴림" panose="020B0600000101010101" pitchFamily="50" charset="-127"/>
              </a:rPr>
              <a:t>M</a:t>
            </a:r>
            <a:r>
              <a:rPr lang="en-US" altLang="ko-KR" sz="2400">
                <a:ea typeface="굴림" panose="020B0600000101010101" pitchFamily="50" charset="-127"/>
              </a:rPr>
              <a:t>-bit data is to be stored, add Step 4</a:t>
            </a:r>
          </a:p>
          <a:p>
            <a:pPr lvl="1"/>
            <a:r>
              <a:rPr lang="en-US" altLang="ko-KR" sz="2000">
                <a:solidFill>
                  <a:srgbClr val="0070C0"/>
                </a:solidFill>
                <a:ea typeface="굴림" panose="020B0600000101010101" pitchFamily="50" charset="-127"/>
              </a:rPr>
              <a:t>Step 4. Use even parity on all codeword bits to calculate </a:t>
            </a:r>
            <a:r>
              <a:rPr lang="en-US" altLang="ko-KR" sz="2000" i="1">
                <a:solidFill>
                  <a:srgbClr val="0070C0"/>
                </a:solidFill>
                <a:ea typeface="굴림" panose="020B0600000101010101" pitchFamily="50" charset="-127"/>
              </a:rPr>
              <a:t>p</a:t>
            </a:r>
            <a:r>
              <a:rPr lang="en-US" altLang="ko-KR" sz="2000">
                <a:solidFill>
                  <a:srgbClr val="0070C0"/>
                </a:solidFill>
                <a:ea typeface="굴림" panose="020B0600000101010101" pitchFamily="50" charset="-127"/>
              </a:rPr>
              <a:t> bit’s values</a:t>
            </a:r>
          </a:p>
          <a:p>
            <a:r>
              <a:rPr lang="en-US" altLang="ko-KR" sz="2400">
                <a:ea typeface="굴림" panose="020B0600000101010101" pitchFamily="50" charset="-127"/>
              </a:rPr>
              <a:t>How to correct/detect error when a codeword is retrieved, modify Step 3</a:t>
            </a:r>
          </a:p>
          <a:p>
            <a:pPr lvl="1"/>
            <a:r>
              <a:rPr lang="en-US" altLang="ko-KR" sz="2000">
                <a:solidFill>
                  <a:srgbClr val="0070C0"/>
                </a:solidFill>
                <a:ea typeface="굴림" panose="020B0600000101010101" pitchFamily="50" charset="-127"/>
              </a:rPr>
              <a:t>Step 3. </a:t>
            </a:r>
            <a:r>
              <a:rPr lang="en-US" altLang="ko-KR" sz="2000">
                <a:ea typeface="굴림" panose="020B0600000101010101" pitchFamily="50" charset="-127"/>
              </a:rPr>
              <a:t>	If Syndrome = 0 then no error				 else Syndrome = error position </a:t>
            </a:r>
            <a:r>
              <a:rPr lang="en-US" altLang="ko-KR" sz="2000">
                <a:ea typeface="굴림" panose="020B0600000101010101" pitchFamily="50" charset="-127"/>
                <a:sym typeface="Wingdings" panose="05000000000000000000" pitchFamily="2" charset="2"/>
              </a:rPr>
              <a:t> flip that bit		Recalculate </a:t>
            </a:r>
            <a:r>
              <a:rPr lang="en-US" altLang="ko-KR" sz="2000" i="1">
                <a:ea typeface="굴림" panose="020B0600000101010101" pitchFamily="50" charset="-127"/>
                <a:sym typeface="Wingdings" panose="05000000000000000000" pitchFamily="2" charset="2"/>
              </a:rPr>
              <a:t>p</a:t>
            </a:r>
            <a:r>
              <a:rPr lang="en-US" altLang="ko-KR" sz="2000">
                <a:ea typeface="굴림" panose="020B0600000101010101" pitchFamily="50" charset="-127"/>
                <a:sym typeface="Wingdings" panose="05000000000000000000" pitchFamily="2" charset="2"/>
              </a:rPr>
              <a:t> bit’s value 					If old </a:t>
            </a:r>
            <a:r>
              <a:rPr lang="en-US" altLang="ko-KR" sz="2000" i="1">
                <a:ea typeface="굴림" panose="020B0600000101010101" pitchFamily="50" charset="-127"/>
                <a:sym typeface="Wingdings" panose="05000000000000000000" pitchFamily="2" charset="2"/>
              </a:rPr>
              <a:t>p</a:t>
            </a:r>
            <a:r>
              <a:rPr lang="en-US" altLang="ko-KR" sz="2000">
                <a:ea typeface="굴림" panose="020B0600000101010101" pitchFamily="50" charset="-127"/>
                <a:sym typeface="Wingdings" panose="05000000000000000000" pitchFamily="2" charset="2"/>
              </a:rPr>
              <a:t> </a:t>
            </a:r>
            <a:r>
              <a:rPr lang="en-US" altLang="ko-KR" sz="2000">
                <a:ea typeface="굴림" panose="020B0600000101010101" pitchFamily="50" charset="-127"/>
                <a:sym typeface="Symbol" panose="05050102010706020507" pitchFamily="18" charset="2"/>
              </a:rPr>
              <a:t> </a:t>
            </a:r>
            <a:r>
              <a:rPr lang="en-US" altLang="ko-KR" sz="2000">
                <a:ea typeface="굴림" panose="020B0600000101010101" pitchFamily="50" charset="-127"/>
                <a:sym typeface="Wingdings" panose="05000000000000000000" pitchFamily="2" charset="2"/>
              </a:rPr>
              <a:t>new </a:t>
            </a:r>
            <a:r>
              <a:rPr lang="en-US" altLang="ko-KR" sz="2000" i="1">
                <a:ea typeface="굴림" panose="020B0600000101010101" pitchFamily="50" charset="-127"/>
                <a:sym typeface="Wingdings" panose="05000000000000000000" pitchFamily="2" charset="2"/>
              </a:rPr>
              <a:t>p</a:t>
            </a:r>
            <a:r>
              <a:rPr lang="en-US" altLang="ko-KR" sz="2000">
                <a:ea typeface="굴림" panose="020B0600000101010101" pitchFamily="50" charset="-127"/>
                <a:sym typeface="Wingdings" panose="05000000000000000000" pitchFamily="2" charset="2"/>
              </a:rPr>
              <a:t> then 2 errors					 cannot be corrected</a:t>
            </a:r>
            <a:r>
              <a:rPr lang="en-US" altLang="ko-KR" sz="2000">
                <a:ea typeface="굴림" panose="020B0600000101010101" pitchFamily="50" charset="-127"/>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6" name="슬라이드 번호 개체 틀 4">
            <a:extLst>
              <a:ext uri="{FF2B5EF4-FFF2-40B4-BE49-F238E27FC236}">
                <a16:creationId xmlns:a16="http://schemas.microsoft.com/office/drawing/2014/main" id="{BCB35183-D83D-4077-8E48-614B035BC385}"/>
              </a:ext>
            </a:extLst>
          </p:cNvPr>
          <p:cNvSpPr>
            <a:spLocks noGrp="1"/>
          </p:cNvSpPr>
          <p:nvPr>
            <p:ph type="sldNum" sz="quarter" idx="4294967295"/>
          </p:nvPr>
        </p:nvSpPr>
        <p:spPr bwMode="auto">
          <a:xfrm>
            <a:off x="7924800" y="6400800"/>
            <a:ext cx="6858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F91B8E52-917B-4D3D-803E-0E47090209DA}" type="slidenum">
              <a:rPr kumimoji="0" lang="en-US" altLang="ko-KR" sz="2400">
                <a:latin typeface="Times New Roman" panose="02020603050405020304" pitchFamily="18" charset="0"/>
                <a:ea typeface="굴림" panose="020B0600000101010101" pitchFamily="50" charset="-127"/>
              </a:rPr>
              <a:pPr>
                <a:spcBef>
                  <a:spcPct val="0"/>
                </a:spcBef>
                <a:buClrTx/>
                <a:buFontTx/>
                <a:buNone/>
              </a:pPr>
              <a:t>48</a:t>
            </a:fld>
            <a:endParaRPr kumimoji="0" lang="en-US" altLang="ko-KR" sz="2400">
              <a:latin typeface="Times New Roman" panose="02020603050405020304" pitchFamily="18" charset="0"/>
              <a:ea typeface="굴림" panose="020B0600000101010101" pitchFamily="50" charset="-127"/>
            </a:endParaRPr>
          </a:p>
        </p:txBody>
      </p:sp>
      <p:sp>
        <p:nvSpPr>
          <p:cNvPr id="103427" name="Rectangle 2">
            <a:extLst>
              <a:ext uri="{FF2B5EF4-FFF2-40B4-BE49-F238E27FC236}">
                <a16:creationId xmlns:a16="http://schemas.microsoft.com/office/drawing/2014/main" id="{2D48A241-9980-4A81-81D6-F531E95D2ADF}"/>
              </a:ext>
            </a:extLst>
          </p:cNvPr>
          <p:cNvSpPr>
            <a:spLocks noGrp="1" noChangeArrowheads="1"/>
          </p:cNvSpPr>
          <p:nvPr>
            <p:ph type="title"/>
          </p:nvPr>
        </p:nvSpPr>
        <p:spPr>
          <a:xfrm>
            <a:off x="254000" y="266700"/>
            <a:ext cx="7772400" cy="579438"/>
          </a:xfrm>
        </p:spPr>
        <p:txBody>
          <a:bodyPr/>
          <a:lstStyle/>
          <a:p>
            <a:r>
              <a:rPr lang="en-US" altLang="ko-KR">
                <a:ea typeface="굴림" panose="020B0600000101010101" pitchFamily="50" charset="-127"/>
              </a:rPr>
              <a:t>Hamming SEC-DED</a:t>
            </a:r>
            <a:r>
              <a:rPr lang="ko-KR" altLang="en-US">
                <a:ea typeface="굴림" panose="020B0600000101010101" pitchFamily="50" charset="-127"/>
              </a:rPr>
              <a:t> </a:t>
            </a:r>
            <a:r>
              <a:rPr lang="en-US" altLang="ko-KR">
                <a:ea typeface="굴림" panose="020B0600000101010101" pitchFamily="50" charset="-127"/>
              </a:rPr>
              <a:t>Code</a:t>
            </a:r>
          </a:p>
        </p:txBody>
      </p:sp>
      <p:pic>
        <p:nvPicPr>
          <p:cNvPr id="103428" name="Picture 6">
            <a:extLst>
              <a:ext uri="{FF2B5EF4-FFF2-40B4-BE49-F238E27FC236}">
                <a16:creationId xmlns:a16="http://schemas.microsoft.com/office/drawing/2014/main" id="{21EEEFCA-04F1-472F-8DF4-69A3B5B1A6AE}"/>
              </a:ext>
            </a:extLst>
          </p:cNvPr>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701675" y="1143000"/>
            <a:ext cx="7739063" cy="5181600"/>
          </a:xfrm>
          <a:noFill/>
        </p:spPr>
      </p:pic>
      <p:sp>
        <p:nvSpPr>
          <p:cNvPr id="38920" name="Text Box 8">
            <a:extLst>
              <a:ext uri="{FF2B5EF4-FFF2-40B4-BE49-F238E27FC236}">
                <a16:creationId xmlns:a16="http://schemas.microsoft.com/office/drawing/2014/main" id="{BD9E9495-F3D7-4C81-9890-EB819B30F610}"/>
              </a:ext>
            </a:extLst>
          </p:cNvPr>
          <p:cNvSpPr txBox="1">
            <a:spLocks noChangeArrowheads="1"/>
          </p:cNvSpPr>
          <p:nvPr/>
        </p:nvSpPr>
        <p:spPr bwMode="auto">
          <a:xfrm>
            <a:off x="6804025" y="2060575"/>
            <a:ext cx="2333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ko-KR" altLang="en-US" sz="1800">
                <a:solidFill>
                  <a:srgbClr val="FF0000"/>
                </a:solidFill>
                <a:latin typeface="Times New Roman" panose="02020603050405020304" pitchFamily="18" charset="0"/>
                <a:ea typeface="굴림" panose="020B0600000101010101" pitchFamily="50" charset="-127"/>
              </a:rPr>
              <a:t>*</a:t>
            </a:r>
          </a:p>
        </p:txBody>
      </p:sp>
      <p:sp>
        <p:nvSpPr>
          <p:cNvPr id="38921" name="Text Box 9">
            <a:extLst>
              <a:ext uri="{FF2B5EF4-FFF2-40B4-BE49-F238E27FC236}">
                <a16:creationId xmlns:a16="http://schemas.microsoft.com/office/drawing/2014/main" id="{880A9E01-89E3-46CC-861E-72E435C2E0D7}"/>
              </a:ext>
            </a:extLst>
          </p:cNvPr>
          <p:cNvSpPr txBox="1">
            <a:spLocks noChangeArrowheads="1"/>
          </p:cNvSpPr>
          <p:nvPr/>
        </p:nvSpPr>
        <p:spPr bwMode="auto">
          <a:xfrm>
            <a:off x="6227763" y="1628775"/>
            <a:ext cx="2333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ko-KR" altLang="en-US" sz="1800">
                <a:solidFill>
                  <a:srgbClr val="FF0000"/>
                </a:solidFill>
                <a:latin typeface="Times New Roman" panose="02020603050405020304" pitchFamily="18" charset="0"/>
                <a:ea typeface="굴림" panose="020B0600000101010101" pitchFamily="50" charset="-127"/>
              </a:rPr>
              <a:t>*</a:t>
            </a:r>
          </a:p>
        </p:txBody>
      </p:sp>
      <p:sp>
        <p:nvSpPr>
          <p:cNvPr id="103431" name="Text Box 10">
            <a:extLst>
              <a:ext uri="{FF2B5EF4-FFF2-40B4-BE49-F238E27FC236}">
                <a16:creationId xmlns:a16="http://schemas.microsoft.com/office/drawing/2014/main" id="{BADE06D8-CF78-4E47-ADBA-CFFB85C39D75}"/>
              </a:ext>
            </a:extLst>
          </p:cNvPr>
          <p:cNvSpPr txBox="1">
            <a:spLocks noChangeArrowheads="1"/>
          </p:cNvSpPr>
          <p:nvPr/>
        </p:nvSpPr>
        <p:spPr bwMode="auto">
          <a:xfrm>
            <a:off x="1619250" y="6021388"/>
            <a:ext cx="1314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1800">
              <a:solidFill>
                <a:srgbClr val="FF0000"/>
              </a:solidFill>
              <a:latin typeface="Times New Roman" panose="02020603050405020304" pitchFamily="18" charset="0"/>
              <a:ea typeface="굴림" panose="020B0600000101010101" pitchFamily="50" charset="-127"/>
            </a:endParaRPr>
          </a:p>
        </p:txBody>
      </p:sp>
      <p:sp>
        <p:nvSpPr>
          <p:cNvPr id="38923" name="Text Box 11">
            <a:extLst>
              <a:ext uri="{FF2B5EF4-FFF2-40B4-BE49-F238E27FC236}">
                <a16:creationId xmlns:a16="http://schemas.microsoft.com/office/drawing/2014/main" id="{C211695F-86CA-493E-B8F2-30C7D6339DAF}"/>
              </a:ext>
            </a:extLst>
          </p:cNvPr>
          <p:cNvSpPr txBox="1">
            <a:spLocks noChangeArrowheads="1"/>
          </p:cNvSpPr>
          <p:nvPr/>
        </p:nvSpPr>
        <p:spPr bwMode="auto">
          <a:xfrm>
            <a:off x="1476375" y="6237288"/>
            <a:ext cx="2232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2000">
                <a:solidFill>
                  <a:srgbClr val="FF0000"/>
                </a:solidFill>
                <a:latin typeface="Times New Roman" panose="02020603050405020304" pitchFamily="18" charset="0"/>
                <a:ea typeface="굴림" panose="020B0600000101010101" pitchFamily="50" charset="-127"/>
              </a:rPr>
              <a:t>Wrong detection</a:t>
            </a:r>
          </a:p>
        </p:txBody>
      </p:sp>
      <p:sp>
        <p:nvSpPr>
          <p:cNvPr id="38924" name="Line 12">
            <a:extLst>
              <a:ext uri="{FF2B5EF4-FFF2-40B4-BE49-F238E27FC236}">
                <a16:creationId xmlns:a16="http://schemas.microsoft.com/office/drawing/2014/main" id="{85A6404F-CFFF-40FA-8AC2-9CA448875C66}"/>
              </a:ext>
            </a:extLst>
          </p:cNvPr>
          <p:cNvSpPr>
            <a:spLocks noChangeShapeType="1"/>
          </p:cNvSpPr>
          <p:nvPr/>
        </p:nvSpPr>
        <p:spPr bwMode="auto">
          <a:xfrm flipH="1" flipV="1">
            <a:off x="2484438" y="5300663"/>
            <a:ext cx="287337" cy="1081087"/>
          </a:xfrm>
          <a:prstGeom prst="line">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txBody>
          <a:bodyPr wrap="none" lIns="90000" tIns="46800" rIns="90000" bIns="46800" anchor="ctr"/>
          <a:lstStyle/>
          <a:p>
            <a:endParaRPr lang="ko-KR" altLang="en-US"/>
          </a:p>
        </p:txBody>
      </p:sp>
      <p:sp>
        <p:nvSpPr>
          <p:cNvPr id="38925" name="Text Box 13">
            <a:extLst>
              <a:ext uri="{FF2B5EF4-FFF2-40B4-BE49-F238E27FC236}">
                <a16:creationId xmlns:a16="http://schemas.microsoft.com/office/drawing/2014/main" id="{6FA110C5-D899-4CFE-BE77-C36E4D8B374D}"/>
              </a:ext>
            </a:extLst>
          </p:cNvPr>
          <p:cNvSpPr txBox="1">
            <a:spLocks noChangeArrowheads="1"/>
          </p:cNvSpPr>
          <p:nvPr/>
        </p:nvSpPr>
        <p:spPr bwMode="auto">
          <a:xfrm>
            <a:off x="3995738" y="6092825"/>
            <a:ext cx="2232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2000">
                <a:solidFill>
                  <a:srgbClr val="FF0000"/>
                </a:solidFill>
                <a:latin typeface="Times New Roman" panose="02020603050405020304" pitchFamily="18" charset="0"/>
                <a:ea typeface="굴림" panose="020B0600000101010101" pitchFamily="50" charset="-127"/>
              </a:rPr>
              <a:t>Wrong correction</a:t>
            </a:r>
          </a:p>
        </p:txBody>
      </p:sp>
      <p:sp>
        <p:nvSpPr>
          <p:cNvPr id="38926" name="Line 14">
            <a:extLst>
              <a:ext uri="{FF2B5EF4-FFF2-40B4-BE49-F238E27FC236}">
                <a16:creationId xmlns:a16="http://schemas.microsoft.com/office/drawing/2014/main" id="{5255FDB2-23B0-4791-ACA1-0B84B7110A6D}"/>
              </a:ext>
            </a:extLst>
          </p:cNvPr>
          <p:cNvSpPr>
            <a:spLocks noChangeShapeType="1"/>
          </p:cNvSpPr>
          <p:nvPr/>
        </p:nvSpPr>
        <p:spPr bwMode="auto">
          <a:xfrm flipH="1" flipV="1">
            <a:off x="4932363" y="5229225"/>
            <a:ext cx="288925" cy="935038"/>
          </a:xfrm>
          <a:prstGeom prst="line">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txBody>
          <a:bodyPr wrap="none" lIns="90000" tIns="46800" rIns="90000" bIns="46800" anchor="ctr"/>
          <a:lstStyle/>
          <a:p>
            <a:endParaRPr lang="ko-KR" altLang="en-US"/>
          </a:p>
        </p:txBody>
      </p:sp>
      <p:sp>
        <p:nvSpPr>
          <p:cNvPr id="38927" name="Text Box 15">
            <a:extLst>
              <a:ext uri="{FF2B5EF4-FFF2-40B4-BE49-F238E27FC236}">
                <a16:creationId xmlns:a16="http://schemas.microsoft.com/office/drawing/2014/main" id="{07283CD2-87B0-4116-ADB3-15125FD10F4C}"/>
              </a:ext>
            </a:extLst>
          </p:cNvPr>
          <p:cNvSpPr txBox="1">
            <a:spLocks noChangeArrowheads="1"/>
          </p:cNvSpPr>
          <p:nvPr/>
        </p:nvSpPr>
        <p:spPr bwMode="auto">
          <a:xfrm>
            <a:off x="6227763" y="5876925"/>
            <a:ext cx="2700337"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400">
                <a:solidFill>
                  <a:srgbClr val="3333FF"/>
                </a:solidFill>
                <a:latin typeface="Times New Roman" panose="02020603050405020304" pitchFamily="18" charset="0"/>
                <a:ea typeface="굴림" panose="020B0600000101010101" pitchFamily="50" charset="-127"/>
              </a:rPr>
              <a:t>The 8</a:t>
            </a:r>
            <a:r>
              <a:rPr kumimoji="0" lang="en-US" altLang="ko-KR" sz="1400" baseline="30000">
                <a:solidFill>
                  <a:srgbClr val="3333FF"/>
                </a:solidFill>
                <a:latin typeface="Times New Roman" panose="02020603050405020304" pitchFamily="18" charset="0"/>
                <a:ea typeface="굴림" panose="020B0600000101010101" pitchFamily="50" charset="-127"/>
              </a:rPr>
              <a:t>th</a:t>
            </a:r>
            <a:r>
              <a:rPr kumimoji="0" lang="en-US" altLang="ko-KR" sz="1400">
                <a:solidFill>
                  <a:srgbClr val="3333FF"/>
                </a:solidFill>
                <a:latin typeface="Times New Roman" panose="02020603050405020304" pitchFamily="18" charset="0"/>
                <a:ea typeface="굴림" panose="020B0600000101010101" pitchFamily="50" charset="-127"/>
              </a:rPr>
              <a:t> bit that makes total number of 1’s even can detect the occurrence of double bits error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8921"/>
                                        </p:tgtEl>
                                        <p:attrNameLst>
                                          <p:attrName>style.visibility</p:attrName>
                                        </p:attrNameLst>
                                      </p:cBhvr>
                                      <p:to>
                                        <p:strVal val="visible"/>
                                      </p:to>
                                    </p:set>
                                    <p:animEffect transition="in" filter="dissolve">
                                      <p:cBhvr>
                                        <p:cTn id="7" dur="500"/>
                                        <p:tgtEl>
                                          <p:spTgt spid="3892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8920"/>
                                        </p:tgtEl>
                                        <p:attrNameLst>
                                          <p:attrName>style.visibility</p:attrName>
                                        </p:attrNameLst>
                                      </p:cBhvr>
                                      <p:to>
                                        <p:strVal val="visible"/>
                                      </p:to>
                                    </p:set>
                                    <p:animEffect transition="in" filter="dissolve">
                                      <p:cBhvr>
                                        <p:cTn id="10" dur="500"/>
                                        <p:tgtEl>
                                          <p:spTgt spid="3892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38924"/>
                                        </p:tgtEl>
                                        <p:attrNameLst>
                                          <p:attrName>style.visibility</p:attrName>
                                        </p:attrNameLst>
                                      </p:cBhvr>
                                      <p:to>
                                        <p:strVal val="visible"/>
                                      </p:to>
                                    </p:set>
                                    <p:animEffect transition="in" filter="dissolve">
                                      <p:cBhvr>
                                        <p:cTn id="15" dur="500"/>
                                        <p:tgtEl>
                                          <p:spTgt spid="3892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38923"/>
                                        </p:tgtEl>
                                        <p:attrNameLst>
                                          <p:attrName>style.visibility</p:attrName>
                                        </p:attrNameLst>
                                      </p:cBhvr>
                                      <p:to>
                                        <p:strVal val="visible"/>
                                      </p:to>
                                    </p:set>
                                    <p:animEffect transition="in" filter="dissolve">
                                      <p:cBhvr>
                                        <p:cTn id="18" dur="500"/>
                                        <p:tgtEl>
                                          <p:spTgt spid="3892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38925"/>
                                        </p:tgtEl>
                                        <p:attrNameLst>
                                          <p:attrName>style.visibility</p:attrName>
                                        </p:attrNameLst>
                                      </p:cBhvr>
                                      <p:to>
                                        <p:strVal val="visible"/>
                                      </p:to>
                                    </p:set>
                                    <p:animEffect transition="in" filter="dissolve">
                                      <p:cBhvr>
                                        <p:cTn id="23" dur="500"/>
                                        <p:tgtEl>
                                          <p:spTgt spid="38925"/>
                                        </p:tgtEl>
                                      </p:cBhvr>
                                    </p:animEffect>
                                  </p:childTnLst>
                                </p:cTn>
                              </p:par>
                              <p:par>
                                <p:cTn id="24" presetID="9" presetClass="entr" presetSubtype="0" fill="hold" nodeType="withEffect">
                                  <p:stCondLst>
                                    <p:cond delay="0"/>
                                  </p:stCondLst>
                                  <p:childTnLst>
                                    <p:set>
                                      <p:cBhvr>
                                        <p:cTn id="25" dur="1" fill="hold">
                                          <p:stCondLst>
                                            <p:cond delay="0"/>
                                          </p:stCondLst>
                                        </p:cTn>
                                        <p:tgtEl>
                                          <p:spTgt spid="38926"/>
                                        </p:tgtEl>
                                        <p:attrNameLst>
                                          <p:attrName>style.visibility</p:attrName>
                                        </p:attrNameLst>
                                      </p:cBhvr>
                                      <p:to>
                                        <p:strVal val="visible"/>
                                      </p:to>
                                    </p:set>
                                    <p:animEffect transition="in" filter="dissolve">
                                      <p:cBhvr>
                                        <p:cTn id="26" dur="500"/>
                                        <p:tgtEl>
                                          <p:spTgt spid="3892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8927"/>
                                        </p:tgtEl>
                                        <p:attrNameLst>
                                          <p:attrName>style.visibility</p:attrName>
                                        </p:attrNameLst>
                                      </p:cBhvr>
                                      <p:to>
                                        <p:strVal val="visible"/>
                                      </p:to>
                                    </p:set>
                                    <p:animEffect transition="in" filter="dissolve">
                                      <p:cBhvr>
                                        <p:cTn id="31" dur="500"/>
                                        <p:tgtEl>
                                          <p:spTgt spid="389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0" grpId="0"/>
      <p:bldP spid="38921" grpId="0"/>
      <p:bldP spid="38923" grpId="0"/>
      <p:bldP spid="38925" grpId="0"/>
      <p:bldP spid="3892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슬라이드 번호 개체 틀 4">
            <a:extLst>
              <a:ext uri="{FF2B5EF4-FFF2-40B4-BE49-F238E27FC236}">
                <a16:creationId xmlns:a16="http://schemas.microsoft.com/office/drawing/2014/main" id="{F7736D3A-3E44-408F-8F61-C429236D9489}"/>
              </a:ext>
            </a:extLst>
          </p:cNvPr>
          <p:cNvSpPr>
            <a:spLocks noGrp="1"/>
          </p:cNvSpPr>
          <p:nvPr>
            <p:ph type="sldNum" sz="quarter" idx="4294967295"/>
          </p:nvPr>
        </p:nvSpPr>
        <p:spPr bwMode="auto">
          <a:xfrm>
            <a:off x="7924800" y="6400800"/>
            <a:ext cx="6858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B5699248-4414-4959-B9CB-06508F9CBE89}" type="slidenum">
              <a:rPr kumimoji="0" lang="en-US" altLang="ko-KR" sz="2400">
                <a:latin typeface="Times New Roman" panose="02020603050405020304" pitchFamily="18" charset="0"/>
                <a:ea typeface="굴림" panose="020B0600000101010101" pitchFamily="50" charset="-127"/>
              </a:rPr>
              <a:pPr>
                <a:spcBef>
                  <a:spcPct val="0"/>
                </a:spcBef>
                <a:buClrTx/>
                <a:buFontTx/>
                <a:buNone/>
              </a:pPr>
              <a:t>49</a:t>
            </a:fld>
            <a:endParaRPr kumimoji="0" lang="en-US" altLang="ko-KR" sz="2400">
              <a:latin typeface="Times New Roman" panose="02020603050405020304" pitchFamily="18" charset="0"/>
              <a:ea typeface="굴림" panose="020B0600000101010101" pitchFamily="50" charset="-127"/>
            </a:endParaRPr>
          </a:p>
        </p:txBody>
      </p:sp>
      <p:sp>
        <p:nvSpPr>
          <p:cNvPr id="105475" name="Rectangle 2">
            <a:extLst>
              <a:ext uri="{FF2B5EF4-FFF2-40B4-BE49-F238E27FC236}">
                <a16:creationId xmlns:a16="http://schemas.microsoft.com/office/drawing/2014/main" id="{C34B4C0B-2A77-41F8-982E-B42807212AA2}"/>
              </a:ext>
            </a:extLst>
          </p:cNvPr>
          <p:cNvSpPr>
            <a:spLocks noGrp="1" noChangeArrowheads="1"/>
          </p:cNvSpPr>
          <p:nvPr>
            <p:ph type="title"/>
          </p:nvPr>
        </p:nvSpPr>
        <p:spPr/>
        <p:txBody>
          <a:bodyPr/>
          <a:lstStyle/>
          <a:p>
            <a:r>
              <a:rPr lang="en-US" altLang="ko-KR">
                <a:ea typeface="굴림" panose="020B0600000101010101" pitchFamily="50" charset="-127"/>
              </a:rPr>
              <a:t>Advanced DRAM Organization</a:t>
            </a:r>
          </a:p>
        </p:txBody>
      </p:sp>
      <p:sp>
        <p:nvSpPr>
          <p:cNvPr id="105476" name="Rectangle 3">
            <a:extLst>
              <a:ext uri="{FF2B5EF4-FFF2-40B4-BE49-F238E27FC236}">
                <a16:creationId xmlns:a16="http://schemas.microsoft.com/office/drawing/2014/main" id="{D1E908AA-7581-4CA4-9AA6-DC6A66DF5C01}"/>
              </a:ext>
            </a:extLst>
          </p:cNvPr>
          <p:cNvSpPr>
            <a:spLocks noGrp="1" noChangeArrowheads="1"/>
          </p:cNvSpPr>
          <p:nvPr>
            <p:ph type="body" idx="1"/>
          </p:nvPr>
        </p:nvSpPr>
        <p:spPr/>
        <p:txBody>
          <a:bodyPr/>
          <a:lstStyle/>
          <a:p>
            <a:r>
              <a:rPr lang="en-US" altLang="ko-KR">
                <a:ea typeface="굴림" panose="020B0600000101010101" pitchFamily="50" charset="-127"/>
              </a:rPr>
              <a:t>Basic DRAM same since first RAM chips</a:t>
            </a:r>
          </a:p>
          <a:p>
            <a:r>
              <a:rPr lang="en-US" altLang="ko-KR">
                <a:ea typeface="굴림" panose="020B0600000101010101" pitchFamily="50" charset="-127"/>
              </a:rPr>
              <a:t>Enhanced DRAM</a:t>
            </a:r>
          </a:p>
          <a:p>
            <a:pPr lvl="1"/>
            <a:r>
              <a:rPr lang="en-US" altLang="ko-KR">
                <a:solidFill>
                  <a:srgbClr val="0070C0"/>
                </a:solidFill>
                <a:ea typeface="굴림" panose="020B0600000101010101" pitchFamily="50" charset="-127"/>
              </a:rPr>
              <a:t>Contains small SRAM as well</a:t>
            </a:r>
          </a:p>
          <a:p>
            <a:pPr lvl="1"/>
            <a:r>
              <a:rPr lang="en-US" altLang="ko-KR">
                <a:solidFill>
                  <a:srgbClr val="0070C0"/>
                </a:solidFill>
                <a:ea typeface="굴림" panose="020B0600000101010101" pitchFamily="50" charset="-127"/>
              </a:rPr>
              <a:t>SRAM holds last line read (c.f. Cache!)</a:t>
            </a:r>
          </a:p>
          <a:p>
            <a:r>
              <a:rPr lang="en-US" altLang="ko-KR">
                <a:ea typeface="굴림" panose="020B0600000101010101" pitchFamily="50" charset="-127"/>
              </a:rPr>
              <a:t>Cache DRAM</a:t>
            </a:r>
          </a:p>
          <a:p>
            <a:pPr lvl="1"/>
            <a:r>
              <a:rPr lang="en-US" altLang="ko-KR">
                <a:solidFill>
                  <a:srgbClr val="0070C0"/>
                </a:solidFill>
                <a:ea typeface="굴림" panose="020B0600000101010101" pitchFamily="50" charset="-127"/>
              </a:rPr>
              <a:t>Larger SRAM component</a:t>
            </a:r>
          </a:p>
          <a:p>
            <a:pPr lvl="1"/>
            <a:r>
              <a:rPr lang="en-US" altLang="ko-KR">
                <a:solidFill>
                  <a:srgbClr val="0070C0"/>
                </a:solidFill>
                <a:ea typeface="굴림" panose="020B0600000101010101" pitchFamily="50" charset="-127"/>
              </a:rPr>
              <a:t>Use as cache or serial buffer</a:t>
            </a:r>
          </a:p>
          <a:p>
            <a:pPr lvl="1"/>
            <a:endParaRPr lang="en-US" altLang="ko-KR">
              <a:ea typeface="굴림" panose="020B0600000101010101" pitchFamily="50" charset="-127"/>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BE5CAD95-42A7-4D7D-B312-35FFABE84065}"/>
              </a:ext>
            </a:extLst>
          </p:cNvPr>
          <p:cNvSpPr>
            <a:spLocks noGrp="1" noChangeArrowheads="1"/>
          </p:cNvSpPr>
          <p:nvPr>
            <p:ph type="title"/>
          </p:nvPr>
        </p:nvSpPr>
        <p:spPr/>
        <p:txBody>
          <a:bodyPr/>
          <a:lstStyle/>
          <a:p>
            <a:r>
              <a:rPr lang="en-US" altLang="ko-KR">
                <a:ea typeface="굴림" panose="020B0600000101010101" pitchFamily="50" charset="-127"/>
              </a:rPr>
              <a:t>Synchronous DRAM (SDRAM)</a:t>
            </a:r>
          </a:p>
        </p:txBody>
      </p:sp>
      <p:sp>
        <p:nvSpPr>
          <p:cNvPr id="107523" name="Rectangle 3">
            <a:extLst>
              <a:ext uri="{FF2B5EF4-FFF2-40B4-BE49-F238E27FC236}">
                <a16:creationId xmlns:a16="http://schemas.microsoft.com/office/drawing/2014/main" id="{E5CBD434-AF66-4148-AE7A-819460550C7F}"/>
              </a:ext>
            </a:extLst>
          </p:cNvPr>
          <p:cNvSpPr>
            <a:spLocks noGrp="1" noChangeArrowheads="1"/>
          </p:cNvSpPr>
          <p:nvPr>
            <p:ph type="body" idx="1"/>
          </p:nvPr>
        </p:nvSpPr>
        <p:spPr/>
        <p:txBody>
          <a:bodyPr/>
          <a:lstStyle/>
          <a:p>
            <a:r>
              <a:rPr lang="en-US" altLang="ko-KR" sz="2400">
                <a:ea typeface="굴림" panose="020B0600000101010101" pitchFamily="50" charset="-127"/>
              </a:rPr>
              <a:t>Access is synchronized with an external clock</a:t>
            </a:r>
          </a:p>
          <a:p>
            <a:r>
              <a:rPr lang="en-US" altLang="ko-KR" sz="2400">
                <a:ea typeface="굴림" panose="020B0600000101010101" pitchFamily="50" charset="-127"/>
              </a:rPr>
              <a:t>Address is presented to RAM</a:t>
            </a:r>
          </a:p>
          <a:p>
            <a:r>
              <a:rPr lang="en-US" altLang="ko-KR" sz="2400">
                <a:ea typeface="굴림" panose="020B0600000101010101" pitchFamily="50" charset="-127"/>
              </a:rPr>
              <a:t>RAM finds data (CPU waits in conventional DRAM)</a:t>
            </a:r>
          </a:p>
          <a:p>
            <a:r>
              <a:rPr lang="en-US" altLang="ko-KR" sz="2400">
                <a:ea typeface="굴림" panose="020B0600000101010101" pitchFamily="50" charset="-127"/>
              </a:rPr>
              <a:t>Since SDRAM moves data in time with system clock, CPU knows when data will be ready</a:t>
            </a:r>
          </a:p>
          <a:p>
            <a:r>
              <a:rPr lang="en-US" altLang="ko-KR" sz="2400">
                <a:ea typeface="굴림" panose="020B0600000101010101" pitchFamily="50" charset="-127"/>
              </a:rPr>
              <a:t>CPU does not have to wait, it can do something else</a:t>
            </a:r>
          </a:p>
          <a:p>
            <a:r>
              <a:rPr lang="en-US" altLang="ko-KR" sz="2400">
                <a:ea typeface="굴림" panose="020B0600000101010101" pitchFamily="50" charset="-127"/>
              </a:rPr>
              <a:t>Burst mode allows SDRAM to set up stream of data and fire it out in block</a:t>
            </a:r>
          </a:p>
          <a:p>
            <a:r>
              <a:rPr lang="en-US" altLang="ko-KR" sz="2400">
                <a:ea typeface="굴림" panose="020B0600000101010101" pitchFamily="50" charset="-127"/>
              </a:rPr>
              <a:t>DDR-SDRAM sends data twice per clock cycle (leading &amp; trailing edge)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1BD2405C-07D4-445A-86CD-F6B7B6BDB3ED}"/>
              </a:ext>
            </a:extLst>
          </p:cNvPr>
          <p:cNvSpPr>
            <a:spLocks noGrp="1" noChangeArrowheads="1"/>
          </p:cNvSpPr>
          <p:nvPr>
            <p:ph type="title"/>
          </p:nvPr>
        </p:nvSpPr>
        <p:spPr/>
        <p:txBody>
          <a:bodyPr/>
          <a:lstStyle/>
          <a:p>
            <a:r>
              <a:rPr lang="en-GB" altLang="ko-KR">
                <a:ea typeface="굴림" panose="020B0600000101010101" pitchFamily="50" charset="-127"/>
              </a:rPr>
              <a:t>SDRAM</a:t>
            </a:r>
          </a:p>
        </p:txBody>
      </p:sp>
      <p:pic>
        <p:nvPicPr>
          <p:cNvPr id="109571" name="Picture 4">
            <a:extLst>
              <a:ext uri="{FF2B5EF4-FFF2-40B4-BE49-F238E27FC236}">
                <a16:creationId xmlns:a16="http://schemas.microsoft.com/office/drawing/2014/main" id="{B69058FB-A4E9-4B75-9B1F-5F31A14630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428" t="6650" r="6648" b="9842"/>
          <a:stretch>
            <a:fillRect/>
          </a:stretch>
        </p:blipFill>
        <p:spPr bwMode="auto">
          <a:xfrm>
            <a:off x="609600" y="1128713"/>
            <a:ext cx="7467600" cy="547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A2AD39B5-60EA-44D7-A621-87E3649225A8}"/>
              </a:ext>
            </a:extLst>
          </p:cNvPr>
          <p:cNvSpPr>
            <a:spLocks noGrp="1" noChangeArrowheads="1"/>
          </p:cNvSpPr>
          <p:nvPr>
            <p:ph type="title"/>
          </p:nvPr>
        </p:nvSpPr>
        <p:spPr/>
        <p:txBody>
          <a:bodyPr/>
          <a:lstStyle/>
          <a:p>
            <a:r>
              <a:rPr lang="en-US" altLang="ko-KR">
                <a:ea typeface="굴림" panose="020B0600000101010101" pitchFamily="50" charset="-127"/>
              </a:rPr>
              <a:t>RAMBUS</a:t>
            </a:r>
          </a:p>
        </p:txBody>
      </p:sp>
      <p:sp>
        <p:nvSpPr>
          <p:cNvPr id="111619" name="Rectangle 3">
            <a:extLst>
              <a:ext uri="{FF2B5EF4-FFF2-40B4-BE49-F238E27FC236}">
                <a16:creationId xmlns:a16="http://schemas.microsoft.com/office/drawing/2014/main" id="{F44FC21E-E055-4227-BCBC-B4A578C42415}"/>
              </a:ext>
            </a:extLst>
          </p:cNvPr>
          <p:cNvSpPr>
            <a:spLocks noGrp="1" noChangeArrowheads="1"/>
          </p:cNvSpPr>
          <p:nvPr>
            <p:ph type="body" idx="1"/>
          </p:nvPr>
        </p:nvSpPr>
        <p:spPr/>
        <p:txBody>
          <a:bodyPr/>
          <a:lstStyle/>
          <a:p>
            <a:r>
              <a:rPr lang="en-US" altLang="ko-KR">
                <a:ea typeface="굴림" panose="020B0600000101010101" pitchFamily="50" charset="-127"/>
              </a:rPr>
              <a:t>Adopted by Intel for Pentium &amp; Itanium</a:t>
            </a:r>
          </a:p>
          <a:p>
            <a:r>
              <a:rPr lang="en-US" altLang="ko-KR">
                <a:ea typeface="굴림" panose="020B0600000101010101" pitchFamily="50" charset="-127"/>
              </a:rPr>
              <a:t>Main competitor to SDRAM</a:t>
            </a:r>
          </a:p>
          <a:p>
            <a:r>
              <a:rPr lang="en-US" altLang="ko-KR">
                <a:ea typeface="굴림" panose="020B0600000101010101" pitchFamily="50" charset="-127"/>
              </a:rPr>
              <a:t>Vertical package – all pins on one side</a:t>
            </a:r>
          </a:p>
          <a:p>
            <a:r>
              <a:rPr lang="en-US" altLang="ko-KR">
                <a:ea typeface="굴림" panose="020B0600000101010101" pitchFamily="50" charset="-127"/>
              </a:rPr>
              <a:t>Data exchange over 28 wires &lt; cm long</a:t>
            </a:r>
          </a:p>
          <a:p>
            <a:r>
              <a:rPr lang="en-US" altLang="ko-KR">
                <a:ea typeface="굴림" panose="020B0600000101010101" pitchFamily="50" charset="-127"/>
              </a:rPr>
              <a:t>Bus addresses up to 320 RDRAM chips at 1.6Gbps</a:t>
            </a:r>
          </a:p>
          <a:p>
            <a:r>
              <a:rPr lang="en-US" altLang="ko-KR">
                <a:ea typeface="굴림" panose="020B0600000101010101" pitchFamily="50" charset="-127"/>
              </a:rPr>
              <a:t>Asynchronous block protocol</a:t>
            </a:r>
          </a:p>
          <a:p>
            <a:pPr lvl="1"/>
            <a:r>
              <a:rPr lang="en-US" altLang="ko-KR">
                <a:ea typeface="굴림" panose="020B0600000101010101" pitchFamily="50" charset="-127"/>
              </a:rPr>
              <a:t>480ns access time</a:t>
            </a:r>
          </a:p>
          <a:p>
            <a:pPr lvl="1"/>
            <a:r>
              <a:rPr lang="en-US" altLang="ko-KR">
                <a:ea typeface="굴림" panose="020B0600000101010101" pitchFamily="50" charset="-127"/>
              </a:rPr>
              <a:t>Then 1.6 Gbps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8768A929-D0A3-4F82-B2A7-7674645C2FD7}"/>
              </a:ext>
            </a:extLst>
          </p:cNvPr>
          <p:cNvSpPr>
            <a:spLocks noGrp="1" noChangeArrowheads="1"/>
          </p:cNvSpPr>
          <p:nvPr>
            <p:ph type="title"/>
          </p:nvPr>
        </p:nvSpPr>
        <p:spPr/>
        <p:txBody>
          <a:bodyPr/>
          <a:lstStyle/>
          <a:p>
            <a:r>
              <a:rPr lang="en-GB" altLang="ko-KR">
                <a:ea typeface="굴림" panose="020B0600000101010101" pitchFamily="50" charset="-127"/>
              </a:rPr>
              <a:t>RAMBUS Diagram</a:t>
            </a:r>
          </a:p>
        </p:txBody>
      </p:sp>
      <p:pic>
        <p:nvPicPr>
          <p:cNvPr id="113667" name="Picture 4">
            <a:extLst>
              <a:ext uri="{FF2B5EF4-FFF2-40B4-BE49-F238E27FC236}">
                <a16:creationId xmlns:a16="http://schemas.microsoft.com/office/drawing/2014/main" id="{382F20EC-779D-4134-BF5F-597E3344A1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599" t="15465" r="12076" b="40950"/>
          <a:stretch>
            <a:fillRect/>
          </a:stretch>
        </p:blipFill>
        <p:spPr bwMode="auto">
          <a:xfrm>
            <a:off x="457200" y="2133600"/>
            <a:ext cx="8001000" cy="335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4">
            <a:extLst>
              <a:ext uri="{FF2B5EF4-FFF2-40B4-BE49-F238E27FC236}">
                <a16:creationId xmlns:a16="http://schemas.microsoft.com/office/drawing/2014/main" id="{3DF9353E-DF3E-4249-BCD6-79F84A577D08}"/>
              </a:ext>
            </a:extLst>
          </p:cNvPr>
          <p:cNvSpPr>
            <a:spLocks noGrp="1" noChangeArrowheads="1"/>
          </p:cNvSpPr>
          <p:nvPr>
            <p:ph type="title"/>
          </p:nvPr>
        </p:nvSpPr>
        <p:spPr/>
        <p:txBody>
          <a:bodyPr/>
          <a:lstStyle/>
          <a:p>
            <a:r>
              <a:rPr lang="en-GB" altLang="ko-KR">
                <a:ea typeface="굴림" panose="020B0600000101010101" pitchFamily="50" charset="-127"/>
              </a:rPr>
              <a:t>DDR SDRAM</a:t>
            </a:r>
          </a:p>
        </p:txBody>
      </p:sp>
      <p:sp>
        <p:nvSpPr>
          <p:cNvPr id="115715" name="Rectangle 5">
            <a:extLst>
              <a:ext uri="{FF2B5EF4-FFF2-40B4-BE49-F238E27FC236}">
                <a16:creationId xmlns:a16="http://schemas.microsoft.com/office/drawing/2014/main" id="{983A3CFA-387B-426E-9987-0948027EBC5E}"/>
              </a:ext>
            </a:extLst>
          </p:cNvPr>
          <p:cNvSpPr>
            <a:spLocks noGrp="1" noChangeArrowheads="1"/>
          </p:cNvSpPr>
          <p:nvPr>
            <p:ph type="body" idx="1"/>
          </p:nvPr>
        </p:nvSpPr>
        <p:spPr/>
        <p:txBody>
          <a:bodyPr/>
          <a:lstStyle/>
          <a:p>
            <a:r>
              <a:rPr lang="en-GB" altLang="ko-KR">
                <a:ea typeface="굴림" panose="020B0600000101010101" pitchFamily="50" charset="-127"/>
              </a:rPr>
              <a:t>SDRAM can only send data once per clock</a:t>
            </a:r>
          </a:p>
          <a:p>
            <a:r>
              <a:rPr lang="en-GB" altLang="ko-KR">
                <a:ea typeface="굴림" panose="020B0600000101010101" pitchFamily="50" charset="-127"/>
              </a:rPr>
              <a:t>Double-data-rate SDRAM can send data twice per clock cycle</a:t>
            </a:r>
          </a:p>
          <a:p>
            <a:pPr lvl="1"/>
            <a:r>
              <a:rPr lang="en-GB" altLang="ko-KR">
                <a:solidFill>
                  <a:srgbClr val="0070C0"/>
                </a:solidFill>
                <a:ea typeface="굴림" panose="020B0600000101010101" pitchFamily="50" charset="-127"/>
              </a:rPr>
              <a:t>Rising edge and falling edge</a:t>
            </a:r>
          </a:p>
          <a:p>
            <a:endParaRPr lang="en-GB" altLang="ko-KR">
              <a:ea typeface="굴림" panose="020B0600000101010101" pitchFamily="50" charset="-127"/>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F74FEA18-153D-4111-BF75-7D5A9F862B17}"/>
              </a:ext>
            </a:extLst>
          </p:cNvPr>
          <p:cNvSpPr>
            <a:spLocks noGrp="1" noChangeArrowheads="1"/>
          </p:cNvSpPr>
          <p:nvPr>
            <p:ph type="title"/>
          </p:nvPr>
        </p:nvSpPr>
        <p:spPr/>
        <p:txBody>
          <a:bodyPr/>
          <a:lstStyle/>
          <a:p>
            <a:r>
              <a:rPr lang="en-GB" altLang="ko-KR" sz="2400">
                <a:ea typeface="굴림" panose="020B0600000101010101" pitchFamily="50" charset="-127"/>
              </a:rPr>
              <a:t>DDR SDRAM </a:t>
            </a:r>
            <a:br>
              <a:rPr lang="en-GB" altLang="ko-KR" sz="2400">
                <a:ea typeface="굴림" panose="020B0600000101010101" pitchFamily="50" charset="-127"/>
              </a:rPr>
            </a:br>
            <a:r>
              <a:rPr lang="en-GB" altLang="ko-KR" sz="2400">
                <a:ea typeface="굴림" panose="020B0600000101010101" pitchFamily="50" charset="-127"/>
              </a:rPr>
              <a:t>Read Timing</a:t>
            </a:r>
          </a:p>
        </p:txBody>
      </p:sp>
      <p:pic>
        <p:nvPicPr>
          <p:cNvPr id="49155" name="Picture 3">
            <a:extLst>
              <a:ext uri="{FF2B5EF4-FFF2-40B4-BE49-F238E27FC236}">
                <a16:creationId xmlns:a16="http://schemas.microsoft.com/office/drawing/2014/main" id="{A2B526DB-BE1D-4820-B1F5-8EDA65E6D0B1}"/>
              </a:ext>
            </a:extLst>
          </p:cNvPr>
          <p:cNvPicPr>
            <a:picLocks noChangeAspect="1" noChangeArrowheads="1"/>
          </p:cNvPicPr>
          <p:nvPr/>
        </p:nvPicPr>
        <p:blipFill>
          <a:blip r:embed="rId3"/>
          <a:srcRect b="10913"/>
          <a:stretch>
            <a:fillRect/>
          </a:stretch>
        </p:blipFill>
        <p:spPr bwMode="auto">
          <a:xfrm>
            <a:off x="2771775" y="549275"/>
            <a:ext cx="6372225" cy="6308725"/>
          </a:xfrm>
          <a:prstGeom prst="rect">
            <a:avLst/>
          </a:prstGeom>
          <a:noFill/>
          <a:ln>
            <a:noFill/>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CAA5A99D-CEE9-4B11-9F71-59009223A16C}"/>
              </a:ext>
            </a:extLst>
          </p:cNvPr>
          <p:cNvSpPr>
            <a:spLocks noGrp="1" noChangeArrowheads="1"/>
          </p:cNvSpPr>
          <p:nvPr>
            <p:ph type="title"/>
          </p:nvPr>
        </p:nvSpPr>
        <p:spPr/>
        <p:txBody>
          <a:bodyPr/>
          <a:lstStyle/>
          <a:p>
            <a:r>
              <a:rPr lang="en-GB" altLang="ko-KR">
                <a:ea typeface="굴림" panose="020B0600000101010101" pitchFamily="50" charset="-127"/>
              </a:rPr>
              <a:t>Simplified DRAM Read Timing</a:t>
            </a:r>
          </a:p>
        </p:txBody>
      </p:sp>
      <p:pic>
        <p:nvPicPr>
          <p:cNvPr id="50179" name="Picture 3">
            <a:extLst>
              <a:ext uri="{FF2B5EF4-FFF2-40B4-BE49-F238E27FC236}">
                <a16:creationId xmlns:a16="http://schemas.microsoft.com/office/drawing/2014/main" id="{5436FD7B-129B-405E-B6B0-78FC3C768CD7}"/>
              </a:ext>
            </a:extLst>
          </p:cNvPr>
          <p:cNvPicPr>
            <a:picLocks noChangeAspect="1" noChangeArrowheads="1"/>
          </p:cNvPicPr>
          <p:nvPr/>
        </p:nvPicPr>
        <p:blipFill>
          <a:blip r:embed="rId3"/>
          <a:srcRect l="-2704" r="5289"/>
          <a:stretch>
            <a:fillRect/>
          </a:stretch>
        </p:blipFill>
        <p:spPr bwMode="auto">
          <a:xfrm>
            <a:off x="0" y="1412875"/>
            <a:ext cx="9036050" cy="4167188"/>
          </a:xfrm>
          <a:prstGeom prst="rect">
            <a:avLst/>
          </a:prstGeom>
          <a:noFill/>
          <a:ln>
            <a:noFill/>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4">
            <a:extLst>
              <a:ext uri="{FF2B5EF4-FFF2-40B4-BE49-F238E27FC236}">
                <a16:creationId xmlns:a16="http://schemas.microsoft.com/office/drawing/2014/main" id="{2CAD229D-3E8F-435A-AC27-C35B08C02CB4}"/>
              </a:ext>
            </a:extLst>
          </p:cNvPr>
          <p:cNvSpPr>
            <a:spLocks noGrp="1" noChangeArrowheads="1"/>
          </p:cNvSpPr>
          <p:nvPr>
            <p:ph type="title"/>
          </p:nvPr>
        </p:nvSpPr>
        <p:spPr/>
        <p:txBody>
          <a:bodyPr/>
          <a:lstStyle/>
          <a:p>
            <a:r>
              <a:rPr lang="en-GB" altLang="ko-KR">
                <a:ea typeface="굴림" panose="020B0600000101010101" pitchFamily="50" charset="-127"/>
              </a:rPr>
              <a:t>Cache DRAM</a:t>
            </a:r>
          </a:p>
        </p:txBody>
      </p:sp>
      <p:sp>
        <p:nvSpPr>
          <p:cNvPr id="121859" name="Rectangle 5">
            <a:extLst>
              <a:ext uri="{FF2B5EF4-FFF2-40B4-BE49-F238E27FC236}">
                <a16:creationId xmlns:a16="http://schemas.microsoft.com/office/drawing/2014/main" id="{349D35A1-86C4-493C-8AFF-0482F0439B7A}"/>
              </a:ext>
            </a:extLst>
          </p:cNvPr>
          <p:cNvSpPr>
            <a:spLocks noGrp="1" noChangeArrowheads="1"/>
          </p:cNvSpPr>
          <p:nvPr>
            <p:ph type="body" idx="1"/>
          </p:nvPr>
        </p:nvSpPr>
        <p:spPr/>
        <p:txBody>
          <a:bodyPr/>
          <a:lstStyle/>
          <a:p>
            <a:r>
              <a:rPr lang="en-GB" altLang="ko-KR">
                <a:ea typeface="굴림" panose="020B0600000101010101" pitchFamily="50" charset="-127"/>
              </a:rPr>
              <a:t>Mitsubishi</a:t>
            </a:r>
          </a:p>
          <a:p>
            <a:r>
              <a:rPr lang="en-GB" altLang="ko-KR">
                <a:ea typeface="굴림" panose="020B0600000101010101" pitchFamily="50" charset="-127"/>
              </a:rPr>
              <a:t>Integrates small SRAM cache (16 kb) onto generic DRAM chip</a:t>
            </a:r>
          </a:p>
          <a:p>
            <a:r>
              <a:rPr lang="en-GB" altLang="ko-KR">
                <a:solidFill>
                  <a:srgbClr val="0070C0"/>
                </a:solidFill>
                <a:ea typeface="굴림" panose="020B0600000101010101" pitchFamily="50" charset="-127"/>
              </a:rPr>
              <a:t>Used as true cache</a:t>
            </a:r>
          </a:p>
          <a:p>
            <a:pPr lvl="1"/>
            <a:r>
              <a:rPr lang="en-GB" altLang="ko-KR">
                <a:solidFill>
                  <a:srgbClr val="0070C0"/>
                </a:solidFill>
                <a:ea typeface="굴림" panose="020B0600000101010101" pitchFamily="50" charset="-127"/>
              </a:rPr>
              <a:t>64-bit lines</a:t>
            </a:r>
          </a:p>
          <a:p>
            <a:pPr lvl="1"/>
            <a:r>
              <a:rPr lang="en-GB" altLang="ko-KR">
                <a:solidFill>
                  <a:srgbClr val="0070C0"/>
                </a:solidFill>
                <a:ea typeface="굴림" panose="020B0600000101010101" pitchFamily="50" charset="-127"/>
              </a:rPr>
              <a:t>Effective for ordinary random access</a:t>
            </a:r>
          </a:p>
          <a:p>
            <a:r>
              <a:rPr lang="en-GB" altLang="ko-KR">
                <a:ea typeface="굴림" panose="020B0600000101010101" pitchFamily="50" charset="-127"/>
              </a:rPr>
              <a:t>To support serial access of block of data</a:t>
            </a:r>
          </a:p>
          <a:p>
            <a:pPr lvl="1"/>
            <a:r>
              <a:rPr lang="en-GB" altLang="ko-KR">
                <a:solidFill>
                  <a:srgbClr val="0070C0"/>
                </a:solidFill>
                <a:ea typeface="굴림" panose="020B0600000101010101" pitchFamily="50" charset="-127"/>
              </a:rPr>
              <a:t>E.g. refresh bit-mapped screen</a:t>
            </a:r>
          </a:p>
          <a:p>
            <a:pPr lvl="2"/>
            <a:r>
              <a:rPr lang="en-GB" altLang="ko-KR">
                <a:ea typeface="굴림" panose="020B0600000101010101" pitchFamily="50" charset="-127"/>
              </a:rPr>
              <a:t>CDRAM can prefetch data from DRAM into SRAM buffer</a:t>
            </a:r>
          </a:p>
          <a:p>
            <a:pPr lvl="2"/>
            <a:r>
              <a:rPr lang="en-GB" altLang="ko-KR">
                <a:ea typeface="굴림" panose="020B0600000101010101" pitchFamily="50" charset="-127"/>
              </a:rPr>
              <a:t>Subsequent accesses solely to SRAM</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슬라이드 번호 개체 틀 3">
            <a:extLst>
              <a:ext uri="{FF2B5EF4-FFF2-40B4-BE49-F238E27FC236}">
                <a16:creationId xmlns:a16="http://schemas.microsoft.com/office/drawing/2014/main" id="{E08985F1-AE4A-49AF-B5DF-D166766D12CB}"/>
              </a:ext>
            </a:extLst>
          </p:cNvPr>
          <p:cNvSpPr>
            <a:spLocks noGrp="1"/>
          </p:cNvSpPr>
          <p:nvPr>
            <p:ph type="sldNum" sz="quarter" idx="4294967295"/>
          </p:nvPr>
        </p:nvSpPr>
        <p:spPr bwMode="auto">
          <a:xfrm>
            <a:off x="7924800" y="6400800"/>
            <a:ext cx="6858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B4240592-9E5D-432A-93E3-A622E7B5860A}" type="slidenum">
              <a:rPr kumimoji="0" lang="en-US" altLang="ko-KR" sz="2400">
                <a:latin typeface="Times New Roman" panose="02020603050405020304" pitchFamily="18" charset="0"/>
                <a:ea typeface="굴림" panose="020B0600000101010101" pitchFamily="50" charset="-127"/>
              </a:rPr>
              <a:pPr>
                <a:spcBef>
                  <a:spcPct val="0"/>
                </a:spcBef>
                <a:buClrTx/>
                <a:buFontTx/>
                <a:buNone/>
              </a:pPr>
              <a:t>58</a:t>
            </a:fld>
            <a:endParaRPr kumimoji="0" lang="en-US" altLang="ko-KR" sz="2400">
              <a:latin typeface="Times New Roman" panose="02020603050405020304" pitchFamily="18" charset="0"/>
              <a:ea typeface="굴림" panose="020B0600000101010101" pitchFamily="50" charset="-127"/>
            </a:endParaRPr>
          </a:p>
        </p:txBody>
      </p:sp>
      <p:sp>
        <p:nvSpPr>
          <p:cNvPr id="123907" name="Rectangle 2">
            <a:extLst>
              <a:ext uri="{FF2B5EF4-FFF2-40B4-BE49-F238E27FC236}">
                <a16:creationId xmlns:a16="http://schemas.microsoft.com/office/drawing/2014/main" id="{A7792F5F-AA42-4C33-B0C7-FCE73C2D5371}"/>
              </a:ext>
            </a:extLst>
          </p:cNvPr>
          <p:cNvSpPr>
            <a:spLocks noGrp="1" noChangeArrowheads="1"/>
          </p:cNvSpPr>
          <p:nvPr>
            <p:ph type="title"/>
          </p:nvPr>
        </p:nvSpPr>
        <p:spPr/>
        <p:txBody>
          <a:bodyPr/>
          <a:lstStyle/>
          <a:p>
            <a:r>
              <a:rPr lang="en-US" altLang="ko-KR">
                <a:ea typeface="굴림" panose="020B0600000101010101" pitchFamily="50" charset="-127"/>
              </a:rPr>
              <a:t>DRAM Technology</a:t>
            </a:r>
          </a:p>
        </p:txBody>
      </p:sp>
      <p:pic>
        <p:nvPicPr>
          <p:cNvPr id="123908" name="Picture 3">
            <a:extLst>
              <a:ext uri="{FF2B5EF4-FFF2-40B4-BE49-F238E27FC236}">
                <a16:creationId xmlns:a16="http://schemas.microsoft.com/office/drawing/2014/main" id="{C1B20A90-EF27-47C6-AEAE-DBDB70338B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412875"/>
            <a:ext cx="7391400" cy="421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09" name="Text Box 4">
            <a:extLst>
              <a:ext uri="{FF2B5EF4-FFF2-40B4-BE49-F238E27FC236}">
                <a16:creationId xmlns:a16="http://schemas.microsoft.com/office/drawing/2014/main" id="{F0476EE2-1C91-4B2D-AAA9-49EFC7DDD14C}"/>
              </a:ext>
            </a:extLst>
          </p:cNvPr>
          <p:cNvSpPr txBox="1">
            <a:spLocks noChangeArrowheads="1"/>
          </p:cNvSpPr>
          <p:nvPr/>
        </p:nvSpPr>
        <p:spPr bwMode="auto">
          <a:xfrm>
            <a:off x="1889125" y="5513388"/>
            <a:ext cx="41100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600">
                <a:latin typeface="Times New Roman" panose="02020603050405020304" pitchFamily="18" charset="0"/>
                <a:ea typeface="굴림" panose="020B0600000101010101" pitchFamily="50" charset="-127"/>
              </a:rPr>
              <a:t>Courtesy: Advanced Memory International, Inc.</a:t>
            </a:r>
          </a:p>
        </p:txBody>
      </p:sp>
    </p:spTree>
  </p:cSld>
  <p:clrMapOvr>
    <a:masterClrMapping/>
  </p:clrMapOvr>
</p:sld>
</file>

<file path=ppt/slides/slide5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70658" name="슬라이드 번호 개체 틀 4"/>
          <p:cNvSpPr>
            <a:spLocks noGrp="1"/>
          </p:cNvSpPr>
          <p:nvPr>
            <p:ph type="sldNum" sz="quarter" idx="4294967295"/>
          </p:nvPr>
        </p:nvSpPr>
        <p:spPr>
          <a:xfrm>
            <a:off x="7924800" y="6400800"/>
            <a:ext cx="685800" cy="381000"/>
          </a:xfrm>
          <a:prstGeom prst="rect">
            <a:avLst/>
          </a:prstGeom>
          <a:noFill/>
        </p:spPr>
        <p:txBody>
          <a:bodyPr/>
          <a:lstStyle>
            <a:lvl1pPr>
              <a:spcBef>
                <a:spcPct val="20000"/>
              </a:spcBef>
              <a:buClr>
                <a:srgbClr val="ff0000"/>
              </a:buClr>
              <a:buChar char="•"/>
              <a:defRPr kumimoji="1" sz="2800">
                <a:solidFill>
                  <a:schemeClr val="tx1"/>
                </a:solidFill>
                <a:latin typeface="Verdana"/>
              </a:defRPr>
            </a:lvl1pPr>
            <a:lvl2pPr marL="742950" indent="-285750">
              <a:spcBef>
                <a:spcPct val="20000"/>
              </a:spcBef>
              <a:buClr>
                <a:srgbClr val="ff0000"/>
              </a:buClr>
              <a:buChar char="—"/>
              <a:defRPr kumimoji="1" sz="2400">
                <a:solidFill>
                  <a:schemeClr val="tx1"/>
                </a:solidFill>
                <a:latin typeface="Verdana"/>
              </a:defRPr>
            </a:lvl2pPr>
            <a:lvl3pPr marL="1143000" indent="-228600">
              <a:spcBef>
                <a:spcPct val="20000"/>
              </a:spcBef>
              <a:buClr>
                <a:srgbClr val="ff0000"/>
              </a:buClr>
              <a:buChar char="–"/>
              <a:defRPr kumimoji="1" sz="2000">
                <a:solidFill>
                  <a:schemeClr val="tx1"/>
                </a:solidFill>
                <a:latin typeface="Verdana"/>
              </a:defRPr>
            </a:lvl3pPr>
            <a:lvl4pPr marL="1600200" indent="-228600">
              <a:spcBef>
                <a:spcPct val="20000"/>
              </a:spcBef>
              <a:buClr>
                <a:srgbClr val="ff0000"/>
              </a:buClr>
              <a:buChar char="+"/>
              <a:defRPr kumimoji="1" sz="2000">
                <a:solidFill>
                  <a:schemeClr val="tx1"/>
                </a:solidFill>
                <a:latin typeface="Verdana"/>
              </a:defRPr>
            </a:lvl4pPr>
            <a:lvl5pPr marL="2057400" indent="-228600">
              <a:spcBef>
                <a:spcPct val="20000"/>
              </a:spcBef>
              <a:buClr>
                <a:srgbClr val="ff0000"/>
              </a:buClr>
              <a:buChar char="o"/>
              <a:defRPr kumimoji="1" sz="2000">
                <a:solidFill>
                  <a:schemeClr val="tx1"/>
                </a:solidFill>
                <a:latin typeface="Verdana"/>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a:defRPr>
            </a:lvl9pPr>
          </a:lstStyle>
          <a:p>
            <a:pPr>
              <a:spcBef>
                <a:spcPct val="0"/>
              </a:spcBef>
              <a:buClrTx/>
              <a:buFontTx/>
              <a:buNone/>
              <a:defRPr/>
            </a:pPr>
            <a:fld id="{F7CD0237-4013-4AD7-840F-7167A8E081F3}" type="slidenum">
              <a:rPr kumimoji="0" lang="en-US" altLang="ko-KR" sz="2400">
                <a:latin typeface="Times New Roman"/>
                <a:ea typeface="굴림"/>
              </a:rPr>
              <a:pPr>
                <a:spcBef>
                  <a:spcPct val="0"/>
                </a:spcBef>
                <a:buClrTx/>
                <a:buFontTx/>
                <a:buNone/>
                <a:defRPr/>
              </a:pPr>
              <a:t>58</a:t>
            </a:fld>
            <a:endParaRPr kumimoji="0" lang="en-US" altLang="ko-KR" sz="2400">
              <a:latin typeface="Times New Roman"/>
              <a:ea typeface="굴림"/>
            </a:endParaRPr>
          </a:p>
        </p:txBody>
      </p:sp>
      <p:sp>
        <p:nvSpPr>
          <p:cNvPr id="70659" name="Rectangle 2"/>
          <p:cNvSpPr>
            <a:spLocks noGrp="1" noChangeArrowheads="1"/>
          </p:cNvSpPr>
          <p:nvPr>
            <p:ph type="title" idx="0"/>
          </p:nvPr>
        </p:nvSpPr>
        <p:spPr/>
        <p:txBody>
          <a:bodyPr/>
          <a:lstStyle/>
          <a:p>
            <a:pPr lvl="0">
              <a:defRPr/>
            </a:pPr>
            <a:r>
              <a:rPr lang="en-US" altLang="ko-KR" sz="2600">
                <a:latin typeface="Times New Roman"/>
                <a:ea typeface="굴림"/>
                <a:cs typeface="+mn-cs"/>
              </a:rPr>
              <a:t>NOR vs. NAND </a:t>
            </a:r>
            <a:br>
              <a:rPr lang="en-US" altLang="ko-KR" sz="2600">
                <a:latin typeface="Times New Roman"/>
                <a:ea typeface="굴림"/>
                <a:cs typeface="+mn-cs"/>
              </a:rPr>
            </a:br>
            <a:r>
              <a:rPr lang="en-US" altLang="ko-KR" sz="2600">
                <a:latin typeface="Times New Roman"/>
                <a:ea typeface="굴림"/>
                <a:cs typeface="+mn-cs"/>
              </a:rPr>
              <a:t>FLASH</a:t>
            </a:r>
            <a:endParaRPr lang="en-US" altLang="ko-KR" sz="2600">
              <a:latin typeface="Times New Roman"/>
              <a:ea typeface="굴림"/>
              <a:cs typeface="+mn-cs"/>
            </a:endParaRPr>
          </a:p>
        </p:txBody>
      </p:sp>
      <p:sp>
        <p:nvSpPr>
          <p:cNvPr id="70660" name="Rectangle 3"/>
          <p:cNvSpPr>
            <a:spLocks noGrp="1" noChangeArrowheads="1"/>
          </p:cNvSpPr>
          <p:nvPr>
            <p:ph type="body" idx="1"/>
          </p:nvPr>
        </p:nvSpPr>
        <p:spPr/>
        <p:txBody>
          <a:bodyPr/>
          <a:lstStyle/>
          <a:p>
            <a:pPr lvl="0">
              <a:defRPr/>
            </a:pPr>
            <a:r>
              <a:rPr lang="en-US" altLang="ko-KR">
                <a:latin typeface="Times New Roman"/>
                <a:ea typeface="굴림"/>
                <a:cs typeface="+mn-cs"/>
              </a:rPr>
              <a:t>NOR – Intel in 1988</a:t>
            </a:r>
            <a:endParaRPr lang="en-US" altLang="ko-KR">
              <a:latin typeface="Times New Roman"/>
              <a:ea typeface="굴림"/>
              <a:cs typeface="+mn-cs"/>
            </a:endParaRPr>
          </a:p>
          <a:p>
            <a:pPr lvl="0">
              <a:defRPr/>
            </a:pPr>
            <a:r>
              <a:rPr lang="en-US" altLang="ko-KR">
                <a:latin typeface="Times New Roman"/>
                <a:ea typeface="굴림"/>
                <a:cs typeface="+mn-cs"/>
              </a:rPr>
              <a:t>NAND – Toshiba in 1989</a:t>
            </a:r>
            <a:endParaRPr lang="en-US" altLang="ko-KR">
              <a:latin typeface="Times New Roman"/>
              <a:ea typeface="굴림"/>
              <a:cs typeface="+mn-cs"/>
            </a:endParaRPr>
          </a:p>
        </p:txBody>
      </p:sp>
      <p:graphicFrame>
        <p:nvGraphicFramePr>
          <p:cNvPr id="73732" name="Group 4"/>
          <p:cNvGraphicFramePr>
            <a:graphicFrameLocks noGrp="1"/>
          </p:cNvGraphicFramePr>
          <p:nvPr>
            <p:ph sz="quarter" idx="4294967295"/>
          </p:nvPr>
        </p:nvGraphicFramePr>
        <p:xfrm>
          <a:off x="304800" y="2362200"/>
          <a:ext cx="8267700" cy="3983855"/>
        </p:xfrm>
        <a:graphic>
          <a:graphicData uri="http://schemas.openxmlformats.org/drawingml/2006/table">
            <a:tbl>
              <a:tblGrid>
                <a:gridCol w="1806232"/>
                <a:gridCol w="3586084"/>
                <a:gridCol w="2875384"/>
              </a:tblGrid>
              <a:tr h="365818">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endParaRPr kumimoji="0" lang="ko-KR" altLang="ko-KR" sz="1500" b="0" i="0" u="none" strike="noStrike" cap="none" normalizeH="0" baseline="0">
                        <a:solidFill>
                          <a:schemeClr val="tx1"/>
                        </a:solidFill>
                        <a:effectLst/>
                        <a:latin typeface="Times New Roman"/>
                        <a:ea typeface="굴림"/>
                      </a:endParaRPr>
                    </a:p>
                  </a:txBody>
                  <a:tcPr marL="91440" marR="91440" marT="45727" marB="45727" horzOverflow="overflow">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28575"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solidFill>
                      <a:schemeClr val="accent1"/>
                    </a:solid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1" i="0" u="none" strike="noStrike" cap="none" normalizeH="0" baseline="0">
                          <a:solidFill>
                            <a:schemeClr val="tx1"/>
                          </a:solidFill>
                          <a:effectLst/>
                          <a:latin typeface="Times New Roman"/>
                          <a:ea typeface="굴림"/>
                        </a:rPr>
                        <a:t>NOR</a:t>
                      </a:r>
                      <a:endParaRPr kumimoji="0" lang="en-US" altLang="ko-KR" sz="1500" b="1"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28575"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solidFill>
                      <a:schemeClr val="accent1"/>
                    </a:solid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1" i="0" u="none" strike="noStrike" cap="none" normalizeH="0" baseline="0">
                          <a:solidFill>
                            <a:schemeClr val="tx1"/>
                          </a:solidFill>
                          <a:effectLst/>
                          <a:latin typeface="Times New Roman"/>
                          <a:ea typeface="굴림"/>
                        </a:rPr>
                        <a:t>NAND</a:t>
                      </a:r>
                      <a:endParaRPr kumimoji="0" lang="en-US" altLang="ko-KR" sz="1500" b="1"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28575"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solidFill>
                      <a:schemeClr val="accent1"/>
                    </a:solidFill>
                  </a:tcPr>
                </a:tc>
              </a:tr>
              <a:tr h="365818">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1" i="0" u="none" strike="noStrike" cap="none" normalizeH="0" baseline="0">
                          <a:solidFill>
                            <a:schemeClr val="tx1"/>
                          </a:solidFill>
                          <a:effectLst/>
                          <a:latin typeface="Times New Roman"/>
                          <a:ea typeface="굴림"/>
                        </a:rPr>
                        <a:t>Capacity</a:t>
                      </a:r>
                      <a:endParaRPr kumimoji="0" lang="en-US" altLang="ko-KR" sz="1500" b="1" i="0" u="none" strike="noStrike" cap="none" normalizeH="0" baseline="0">
                        <a:solidFill>
                          <a:schemeClr val="tx1"/>
                        </a:solidFill>
                        <a:latin typeface="Times New Roman"/>
                        <a:ea typeface="굴림"/>
                      </a:endParaRPr>
                    </a:p>
                  </a:txBody>
                  <a:tcPr marL="91440" marR="91440" marT="45727" marB="45727" horzOverflow="overflow">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16bit ~ 1Gbit</a:t>
                      </a:r>
                      <a:endParaRPr kumimoji="0" lang="en-US" altLang="ko-KR" sz="1500" b="0"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512Mbit ~ 16Gbit</a:t>
                      </a:r>
                      <a:endParaRPr kumimoji="0" lang="en-US" altLang="ko-KR" sz="1500" b="0"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r>
              <a:tr h="365818">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1" i="0" u="none" strike="noStrike" cap="none" normalizeH="0" baseline="0">
                          <a:solidFill>
                            <a:schemeClr val="tx1"/>
                          </a:solidFill>
                          <a:effectLst/>
                          <a:latin typeface="Times New Roman"/>
                          <a:ea typeface="굴림"/>
                        </a:rPr>
                        <a:t>Read Speed</a:t>
                      </a:r>
                      <a:endParaRPr kumimoji="0" lang="en-US" altLang="ko-KR" sz="1500" b="1" i="0" u="none" strike="noStrike" cap="none" normalizeH="0" baseline="0">
                        <a:solidFill>
                          <a:schemeClr val="tx1"/>
                        </a:solidFill>
                        <a:latin typeface="Times New Roman"/>
                        <a:ea typeface="굴림"/>
                      </a:endParaRPr>
                    </a:p>
                  </a:txBody>
                  <a:tcPr marL="91440" marR="91440" marT="45727" marB="45727" horzOverflow="overflow">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103MB/s</a:t>
                      </a:r>
                      <a:endParaRPr kumimoji="0" lang="en-US" altLang="ko-KR" sz="1500" b="0"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18.6MB/s</a:t>
                      </a:r>
                      <a:endParaRPr kumimoji="0" lang="en-US" altLang="ko-KR" sz="1500" b="0"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r>
              <a:tr h="365818">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1" i="0" u="none" strike="noStrike" cap="none" normalizeH="0" baseline="0">
                          <a:solidFill>
                            <a:schemeClr val="tx1"/>
                          </a:solidFill>
                          <a:effectLst/>
                          <a:latin typeface="Times New Roman"/>
                          <a:ea typeface="굴림"/>
                        </a:rPr>
                        <a:t>Write Speed</a:t>
                      </a:r>
                      <a:endParaRPr kumimoji="0" lang="en-US" altLang="ko-KR" sz="1500" b="1" i="0" u="none" strike="noStrike" cap="none" normalizeH="0" baseline="0">
                        <a:solidFill>
                          <a:schemeClr val="tx1"/>
                        </a:solidFill>
                        <a:latin typeface="Times New Roman"/>
                        <a:ea typeface="굴림"/>
                      </a:endParaRPr>
                    </a:p>
                  </a:txBody>
                  <a:tcPr marL="91440" marR="91440" marT="45727" marB="45727" horzOverflow="overflow">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0.47MB/s</a:t>
                      </a:r>
                      <a:endParaRPr kumimoji="0" lang="en-US" altLang="ko-KR" sz="1500" b="0"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2.4MB/s</a:t>
                      </a:r>
                      <a:endParaRPr kumimoji="0" lang="en-US" altLang="ko-KR" sz="1500" b="0"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r>
              <a:tr h="365818">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1" i="0" u="none" strike="noStrike" cap="none" normalizeH="0" baseline="0">
                          <a:solidFill>
                            <a:schemeClr val="tx1"/>
                          </a:solidFill>
                          <a:effectLst/>
                          <a:latin typeface="Times New Roman"/>
                          <a:ea typeface="굴림"/>
                        </a:rPr>
                        <a:t>Erase Time</a:t>
                      </a:r>
                      <a:endParaRPr kumimoji="0" lang="en-US" altLang="ko-KR" sz="1500" b="1" i="0" u="none" strike="noStrike" cap="none" normalizeH="0" baseline="0">
                        <a:solidFill>
                          <a:schemeClr val="tx1"/>
                        </a:solidFill>
                        <a:latin typeface="Times New Roman"/>
                        <a:ea typeface="굴림"/>
                      </a:endParaRPr>
                    </a:p>
                  </a:txBody>
                  <a:tcPr marL="91440" marR="91440" marT="45727" marB="45727" horzOverflow="overflow">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900 ms</a:t>
                      </a:r>
                      <a:endParaRPr kumimoji="0" lang="en-US" altLang="ko-KR" sz="1500" b="0"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2.0 ms</a:t>
                      </a:r>
                      <a:endParaRPr kumimoji="0" lang="en-US" altLang="ko-KR" sz="1500" b="0"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r>
              <a:tr h="365818">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1" i="0" u="none" strike="noStrike" cap="none" normalizeH="0" baseline="0">
                          <a:solidFill>
                            <a:schemeClr val="tx1"/>
                          </a:solidFill>
                          <a:effectLst/>
                          <a:latin typeface="Times New Roman"/>
                          <a:ea typeface="굴림"/>
                        </a:rPr>
                        <a:t>Interface</a:t>
                      </a:r>
                      <a:endParaRPr kumimoji="0" lang="en-US" altLang="ko-KR" sz="1500" b="1" i="0" u="none" strike="noStrike" cap="none" normalizeH="0" baseline="0">
                        <a:solidFill>
                          <a:schemeClr val="tx1"/>
                        </a:solidFill>
                        <a:latin typeface="Times New Roman"/>
                        <a:ea typeface="굴림"/>
                      </a:endParaRPr>
                    </a:p>
                  </a:txBody>
                  <a:tcPr marL="91440" marR="91440" marT="45727" marB="45727" horzOverflow="overflow">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Full memory interface (Random access)</a:t>
                      </a:r>
                      <a:endParaRPr kumimoji="0" lang="en-US" altLang="ko-KR" sz="1500" b="0"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I/O only (Sequential access)</a:t>
                      </a:r>
                      <a:endParaRPr kumimoji="0" lang="en-US" altLang="ko-KR" sz="1500" b="0"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r>
              <a:tr h="365818">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1" i="0" u="none" strike="noStrike" cap="none" normalizeH="0" baseline="0">
                          <a:solidFill>
                            <a:schemeClr val="tx1"/>
                          </a:solidFill>
                          <a:effectLst/>
                          <a:latin typeface="Times New Roman"/>
                          <a:ea typeface="굴림"/>
                        </a:rPr>
                        <a:t>Ease-of-use</a:t>
                      </a:r>
                      <a:endParaRPr kumimoji="0" lang="en-US" altLang="ko-KR" sz="1500" b="1" i="0" u="none" strike="noStrike" cap="none" normalizeH="0" baseline="0">
                        <a:solidFill>
                          <a:schemeClr val="tx1"/>
                        </a:solidFill>
                        <a:latin typeface="Times New Roman"/>
                        <a:ea typeface="굴림"/>
                      </a:endParaRPr>
                    </a:p>
                  </a:txBody>
                  <a:tcPr marL="91440" marR="91440" marT="45727" marB="45727" horzOverflow="overflow">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Easy</a:t>
                      </a:r>
                      <a:endParaRPr kumimoji="0" lang="en-US" altLang="ko-KR" sz="1500" b="0"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Complicated</a:t>
                      </a:r>
                      <a:endParaRPr kumimoji="0" lang="en-US" altLang="ko-KR" sz="1500" b="0"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r>
              <a:tr h="685911">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1" i="0" u="none" strike="noStrike" cap="none" normalizeH="0" baseline="0">
                          <a:solidFill>
                            <a:schemeClr val="tx1"/>
                          </a:solidFill>
                          <a:effectLst/>
                          <a:latin typeface="Times New Roman"/>
                          <a:ea typeface="굴림"/>
                        </a:rPr>
                        <a:t>Ideal usage</a:t>
                      </a:r>
                      <a:endParaRPr kumimoji="0" lang="en-US" altLang="ko-KR" sz="1500" b="1" i="0" u="none" strike="noStrike" cap="none" normalizeH="0" baseline="0">
                        <a:solidFill>
                          <a:schemeClr val="tx1"/>
                        </a:solidFill>
                        <a:latin typeface="Times New Roman"/>
                        <a:ea typeface="굴림"/>
                      </a:endParaRPr>
                    </a:p>
                  </a:txBody>
                  <a:tcPr marL="91440" marR="91440" marT="45727" marB="45727" horzOverflow="overflow">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Code storage and execution</a:t>
                      </a:r>
                      <a:endParaRPr kumimoji="0" lang="en-US" altLang="ko-KR" sz="1500" b="0" i="0" u="none" strike="noStrike" cap="none" normalizeH="0" baseline="0">
                        <a:solidFill>
                          <a:schemeClr val="tx1"/>
                        </a:solidFill>
                        <a:effectLst/>
                        <a:latin typeface="Times New Roman"/>
                        <a:ea typeface="굴림"/>
                      </a:endParaRPr>
                    </a:p>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(execute in place)</a:t>
                      </a:r>
                      <a:endParaRPr kumimoji="0" lang="en-US" altLang="ko-KR" sz="1500" b="0" i="0" u="none" strike="noStrike" cap="none" normalizeH="0" baseline="0">
                        <a:solidFill>
                          <a:schemeClr val="tx1"/>
                        </a:solidFill>
                        <a:effectLst/>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Data storage</a:t>
                      </a:r>
                      <a:endParaRPr kumimoji="0" lang="en-US" altLang="ko-KR" sz="1500" b="0" i="0" u="none" strike="noStrike" cap="none" normalizeH="0" baseline="0">
                        <a:solidFill>
                          <a:schemeClr val="tx1"/>
                        </a:solidFill>
                        <a:effectLst/>
                        <a:latin typeface="Times New Roman"/>
                        <a:ea typeface="굴림"/>
                      </a:endParaRPr>
                    </a:p>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(program/data mass storage)</a:t>
                      </a:r>
                      <a:endParaRPr kumimoji="0" lang="en-US" altLang="ko-KR" sz="1500" b="0" i="0" u="none" strike="noStrike" cap="none" normalizeH="0" baseline="0">
                        <a:solidFill>
                          <a:schemeClr val="tx1"/>
                        </a:solidFill>
                        <a:effectLst/>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r>
              <a:tr h="365818">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1" i="0" u="none" strike="noStrike" cap="none" normalizeH="0" baseline="0">
                          <a:solidFill>
                            <a:schemeClr val="tx1"/>
                          </a:solidFill>
                          <a:effectLst/>
                          <a:latin typeface="Times New Roman"/>
                          <a:ea typeface="굴림"/>
                        </a:rPr>
                        <a:t>Erase cycle limit</a:t>
                      </a:r>
                      <a:endParaRPr kumimoji="0" lang="en-US" altLang="ko-KR" sz="1500" b="1" i="0" u="none" strike="noStrike" cap="none" normalizeH="0" baseline="0">
                        <a:solidFill>
                          <a:schemeClr val="tx1"/>
                        </a:solidFill>
                        <a:latin typeface="Times New Roman"/>
                        <a:ea typeface="굴림"/>
                      </a:endParaRPr>
                    </a:p>
                  </a:txBody>
                  <a:tcPr marL="91440" marR="91440" marT="45727" marB="45727" horzOverflow="overflow">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10,000~100,000</a:t>
                      </a:r>
                      <a:endParaRPr kumimoji="0" lang="en-US" altLang="ko-KR" sz="1500" b="0"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100,000~1,000,000</a:t>
                      </a:r>
                      <a:endParaRPr kumimoji="0" lang="en-US" altLang="ko-KR" sz="1500" b="0"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lnTlToBr>
                      <a:noFill/>
                    </a:lnTlToBr>
                    <a:lnBlToTr>
                      <a:noFill/>
                    </a:lnBlToTr>
                    <a:noFill/>
                  </a:tcPr>
                </a:tc>
              </a:tr>
              <a:tr h="365818">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1" i="0" u="none" strike="noStrike" cap="none" normalizeH="0" baseline="0">
                          <a:solidFill>
                            <a:schemeClr val="tx1"/>
                          </a:solidFill>
                          <a:effectLst/>
                          <a:latin typeface="Times New Roman"/>
                          <a:ea typeface="굴림"/>
                        </a:rPr>
                        <a:t>Price</a:t>
                      </a:r>
                      <a:endParaRPr kumimoji="0" lang="en-US" altLang="ko-KR" sz="1500" b="1" i="0" u="none" strike="noStrike" cap="none" normalizeH="0" baseline="0">
                        <a:solidFill>
                          <a:schemeClr val="tx1"/>
                        </a:solidFill>
                        <a:latin typeface="Times New Roman"/>
                        <a:ea typeface="굴림"/>
                      </a:endParaRPr>
                    </a:p>
                  </a:txBody>
                  <a:tcPr marL="91440" marR="91440" marT="45727" marB="45727" horzOverflow="overflow">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28575"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High</a:t>
                      </a:r>
                      <a:endParaRPr kumimoji="0" lang="en-US" altLang="ko-KR" sz="1500" b="0"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28575" cap="flat" cmpd="sng" algn="ctr">
                      <a:solidFill>
                        <a:schemeClr val="tx1"/>
                      </a:solidFill>
                      <a:prstDash val="solid"/>
                      <a:round/>
                      <a:headEnd w="med" len="med"/>
                      <a:tailEnd w="med" len="med"/>
                    </a:lnB>
                    <a:lnTlToBr>
                      <a:noFill/>
                    </a:lnTlToBr>
                    <a:lnBlToTr>
                      <a:noFill/>
                    </a:lnBlToTr>
                    <a:noFill/>
                  </a:tcPr>
                </a:tc>
                <a:tc>
                  <a:txBody>
                    <a:bodyPr vert="horz" lIns="91440" tIns="45727" rIns="91440" bIns="45727" anchor="t" anchorCtr="0"/>
                    <a:p>
                      <a:pPr marL="0" marR="0" lvl="0" indent="0" algn="l" defTabSz="914400" rtl="0" eaLnBrk="1" latinLnBrk="0" hangingPunct="1">
                        <a:lnSpc>
                          <a:spcPct val="120000"/>
                        </a:lnSpc>
                        <a:spcBef>
                          <a:spcPct val="20000"/>
                        </a:spcBef>
                        <a:spcAft>
                          <a:spcPct val="0"/>
                        </a:spcAft>
                        <a:buClr>
                          <a:srgbClr val="ff9900"/>
                        </a:buClr>
                        <a:buFont typeface="굴림"/>
                        <a:buNone/>
                        <a:defRPr/>
                      </a:pPr>
                      <a:r>
                        <a:rPr kumimoji="0" lang="en-US" altLang="ko-KR" sz="1500" b="0" i="0" u="none" strike="noStrike" cap="none" normalizeH="0" baseline="0">
                          <a:solidFill>
                            <a:schemeClr val="tx1"/>
                          </a:solidFill>
                          <a:effectLst/>
                          <a:latin typeface="Times New Roman"/>
                          <a:ea typeface="굴림"/>
                        </a:rPr>
                        <a:t>Low </a:t>
                      </a:r>
                      <a:endParaRPr kumimoji="0" lang="en-US" altLang="ko-KR" sz="1500" b="0" i="0" u="none" strike="noStrike" cap="none" normalizeH="0" baseline="0">
                        <a:solidFill>
                          <a:schemeClr val="tx1"/>
                        </a:solidFill>
                        <a:latin typeface="Times New Roman"/>
                        <a:ea typeface="굴림"/>
                      </a:endParaRPr>
                    </a:p>
                  </a:txBody>
                  <a:tcPr marL="91440" marR="91440" marT="45727" marB="45727" horzOverflow="overflow">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28575" cap="flat" cmpd="sng" algn="ctr">
                      <a:solidFill>
                        <a:schemeClr val="tx1"/>
                      </a:solidFill>
                      <a:prstDash val="solid"/>
                      <a:round/>
                      <a:headEnd w="med" len="med"/>
                      <a:tailEnd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a:extLst>
              <a:ext uri="{FF2B5EF4-FFF2-40B4-BE49-F238E27FC236}">
                <a16:creationId xmlns:a16="http://schemas.microsoft.com/office/drawing/2014/main" id="{5EA2F361-98F0-46D6-8FEC-DD067D866A61}"/>
              </a:ext>
            </a:extLst>
          </p:cNvPr>
          <p:cNvSpPr>
            <a:spLocks noGrp="1" noChangeArrowheads="1"/>
          </p:cNvSpPr>
          <p:nvPr>
            <p:ph type="title"/>
          </p:nvPr>
        </p:nvSpPr>
        <p:spPr/>
        <p:txBody>
          <a:bodyPr/>
          <a:lstStyle/>
          <a:p>
            <a:r>
              <a:rPr lang="en-US" altLang="ko-KR">
                <a:ea typeface="굴림" panose="020B0600000101010101" pitchFamily="50" charset="-127"/>
              </a:rPr>
              <a:t>Flash Memory</a:t>
            </a:r>
          </a:p>
        </p:txBody>
      </p:sp>
      <p:sp>
        <p:nvSpPr>
          <p:cNvPr id="125955" name="Content Placeholder 2">
            <a:extLst>
              <a:ext uri="{FF2B5EF4-FFF2-40B4-BE49-F238E27FC236}">
                <a16:creationId xmlns:a16="http://schemas.microsoft.com/office/drawing/2014/main" id="{14080955-D110-4EDB-A614-9315917473B7}"/>
              </a:ext>
            </a:extLst>
          </p:cNvPr>
          <p:cNvSpPr>
            <a:spLocks noGrp="1" noChangeArrowheads="1"/>
          </p:cNvSpPr>
          <p:nvPr>
            <p:ph idx="1"/>
          </p:nvPr>
        </p:nvSpPr>
        <p:spPr>
          <a:xfrm>
            <a:off x="498475" y="1268413"/>
            <a:ext cx="7556500" cy="4824412"/>
          </a:xfrm>
        </p:spPr>
        <p:txBody>
          <a:bodyPr/>
          <a:lstStyle/>
          <a:p>
            <a:pPr>
              <a:lnSpc>
                <a:spcPct val="80000"/>
              </a:lnSpc>
            </a:pPr>
            <a:r>
              <a:rPr lang="en-US" altLang="ko-KR" sz="2200">
                <a:ea typeface="굴림" panose="020B0600000101010101" pitchFamily="50" charset="-127"/>
              </a:rPr>
              <a:t>Used both for internal memory and external memory applications</a:t>
            </a:r>
          </a:p>
          <a:p>
            <a:pPr>
              <a:lnSpc>
                <a:spcPct val="80000"/>
              </a:lnSpc>
            </a:pPr>
            <a:r>
              <a:rPr lang="en-US" altLang="ko-KR" sz="2200">
                <a:ea typeface="굴림" panose="020B0600000101010101" pitchFamily="50" charset="-127"/>
              </a:rPr>
              <a:t>First introduced in the mid-1980’s</a:t>
            </a:r>
          </a:p>
          <a:p>
            <a:pPr>
              <a:lnSpc>
                <a:spcPct val="80000"/>
              </a:lnSpc>
            </a:pPr>
            <a:r>
              <a:rPr lang="en-US" altLang="ko-KR" sz="2200">
                <a:ea typeface="굴림" panose="020B0600000101010101" pitchFamily="50" charset="-127"/>
              </a:rPr>
              <a:t>Is intermediate between EPROM and EEPROM in both cost and functionality</a:t>
            </a:r>
          </a:p>
          <a:p>
            <a:pPr>
              <a:lnSpc>
                <a:spcPct val="80000"/>
              </a:lnSpc>
            </a:pPr>
            <a:r>
              <a:rPr lang="en-US" altLang="ko-KR" sz="2200">
                <a:ea typeface="굴림" panose="020B0600000101010101" pitchFamily="50" charset="-127"/>
              </a:rPr>
              <a:t>Uses an electrical erasing technology like EEPROM</a:t>
            </a:r>
          </a:p>
          <a:p>
            <a:pPr>
              <a:lnSpc>
                <a:spcPct val="80000"/>
              </a:lnSpc>
            </a:pPr>
            <a:r>
              <a:rPr lang="en-US" altLang="ko-KR" sz="2200">
                <a:ea typeface="굴림" panose="020B0600000101010101" pitchFamily="50" charset="-127"/>
              </a:rPr>
              <a:t>It is possible to erase just blocks of memory rather than an entire chip</a:t>
            </a:r>
          </a:p>
          <a:p>
            <a:pPr>
              <a:lnSpc>
                <a:spcPct val="80000"/>
              </a:lnSpc>
            </a:pPr>
            <a:r>
              <a:rPr lang="en-US" altLang="ko-KR" sz="2200">
                <a:ea typeface="굴림" panose="020B0600000101010101" pitchFamily="50" charset="-127"/>
              </a:rPr>
              <a:t>Gets its name because the microchip is organized so that a section of memory cells are erased in a single action</a:t>
            </a:r>
          </a:p>
          <a:p>
            <a:pPr>
              <a:lnSpc>
                <a:spcPct val="80000"/>
              </a:lnSpc>
            </a:pPr>
            <a:r>
              <a:rPr lang="en-US" altLang="ko-KR" sz="2200">
                <a:ea typeface="굴림" panose="020B0600000101010101" pitchFamily="50" charset="-127"/>
              </a:rPr>
              <a:t>Does not provide byte-level erasure</a:t>
            </a:r>
          </a:p>
          <a:p>
            <a:pPr>
              <a:lnSpc>
                <a:spcPct val="80000"/>
              </a:lnSpc>
            </a:pPr>
            <a:r>
              <a:rPr lang="en-US" altLang="ko-KR" sz="2200">
                <a:ea typeface="굴림" panose="020B0600000101010101" pitchFamily="50" charset="-127"/>
              </a:rPr>
              <a:t>Uses only one transistor per bit so it achieves the high density of EPROM</a:t>
            </a:r>
          </a:p>
        </p:txBody>
      </p:sp>
      <p:sp>
        <p:nvSpPr>
          <p:cNvPr id="125956" name="슬라이드 번호 개체 틀 1">
            <a:extLst>
              <a:ext uri="{FF2B5EF4-FFF2-40B4-BE49-F238E27FC236}">
                <a16:creationId xmlns:a16="http://schemas.microsoft.com/office/drawing/2014/main" id="{5E7A9F1B-539E-469F-ADDA-ECFA648E1828}"/>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F220C85C-98B5-4932-9912-E857CE3146DE}" type="slidenum">
              <a:rPr kumimoji="0" lang="ko-KR" altLang="ko-KR" sz="2400">
                <a:latin typeface="Times New Roman" panose="02020603050405020304" pitchFamily="18" charset="0"/>
              </a:rPr>
              <a:pPr>
                <a:spcBef>
                  <a:spcPct val="0"/>
                </a:spcBef>
                <a:buClrTx/>
                <a:buFontTx/>
                <a:buNone/>
              </a:pPr>
              <a:t>59</a:t>
            </a:fld>
            <a:endParaRPr kumimoji="0" lang="ko-KR" altLang="ko-KR" sz="2400">
              <a:latin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3" descr="f15.pdf">
            <a:extLst>
              <a:ext uri="{FF2B5EF4-FFF2-40B4-BE49-F238E27FC236}">
                <a16:creationId xmlns:a16="http://schemas.microsoft.com/office/drawing/2014/main" id="{B5FA3BFD-D768-422C-80E5-E8F781710718}"/>
              </a:ext>
            </a:extLst>
          </p:cNvPr>
          <p:cNvPicPr>
            <a:picLocks noChangeAspect="1"/>
          </p:cNvPicPr>
          <p:nvPr/>
        </p:nvPicPr>
        <p:blipFill>
          <a:blip r:embed="rId3">
            <a:extLst>
              <a:ext uri="{28A0092B-C50C-407E-A947-70E740481C1C}">
                <a14:useLocalDpi xmlns:a14="http://schemas.microsoft.com/office/drawing/2010/main" val="0"/>
              </a:ext>
            </a:extLst>
          </a:blip>
          <a:srcRect t="17464" b="25781"/>
          <a:stretch>
            <a:fillRect/>
          </a:stretch>
        </p:blipFill>
        <p:spPr bwMode="auto">
          <a:xfrm>
            <a:off x="250825" y="165100"/>
            <a:ext cx="9064625" cy="665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3" name="직사각형 2">
            <a:extLst>
              <a:ext uri="{FF2B5EF4-FFF2-40B4-BE49-F238E27FC236}">
                <a16:creationId xmlns:a16="http://schemas.microsoft.com/office/drawing/2014/main" id="{B5EAC537-7E98-4631-B7A2-116B548164F7}"/>
              </a:ext>
            </a:extLst>
          </p:cNvPr>
          <p:cNvSpPr>
            <a:spLocks noChangeArrowheads="1"/>
          </p:cNvSpPr>
          <p:nvPr/>
        </p:nvSpPr>
        <p:spPr bwMode="auto">
          <a:xfrm>
            <a:off x="28575" y="2349500"/>
            <a:ext cx="87915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400">
                <a:solidFill>
                  <a:srgbClr val="3333CC"/>
                </a:solidFill>
                <a:latin typeface="Times New Roman" panose="02020603050405020304" pitchFamily="18" charset="0"/>
                <a:ea typeface="굴림" panose="020B0600000101010101" pitchFamily="50" charset="-127"/>
              </a:rPr>
              <a:t>In a flash memory cell, a second gate—called a floating gate, because it is insulated by a thin oxide layer—is added to the transistor. </a:t>
            </a:r>
          </a:p>
        </p:txBody>
      </p:sp>
      <p:sp>
        <p:nvSpPr>
          <p:cNvPr id="128004" name="슬라이드 번호 개체 틀 1">
            <a:extLst>
              <a:ext uri="{FF2B5EF4-FFF2-40B4-BE49-F238E27FC236}">
                <a16:creationId xmlns:a16="http://schemas.microsoft.com/office/drawing/2014/main" id="{1C4010B5-9321-4625-9179-273022979D32}"/>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F726C1DF-1B0C-4A6E-917A-1F338AAC39BF}" type="slidenum">
              <a:rPr kumimoji="0" lang="ko-KR" altLang="ko-KR" sz="2400">
                <a:latin typeface="Times New Roman" panose="02020603050405020304" pitchFamily="18" charset="0"/>
              </a:rPr>
              <a:pPr>
                <a:spcBef>
                  <a:spcPct val="0"/>
                </a:spcBef>
                <a:buClrTx/>
                <a:buFontTx/>
                <a:buNone/>
              </a:pPr>
              <a:t>60</a:t>
            </a:fld>
            <a:endParaRPr kumimoji="0" lang="ko-KR" altLang="ko-KR" sz="2400">
              <a:latin typeface="Times New Roman" panose="02020603050405020304" pitchFamily="18" charset="0"/>
            </a:endParaRPr>
          </a:p>
        </p:txBody>
      </p:sp>
      <p:sp>
        <p:nvSpPr>
          <p:cNvPr id="128005" name="TextBox 1">
            <a:extLst>
              <a:ext uri="{FF2B5EF4-FFF2-40B4-BE49-F238E27FC236}">
                <a16:creationId xmlns:a16="http://schemas.microsoft.com/office/drawing/2014/main" id="{6B8D62E3-53D9-4A08-9F70-B0B8AB165FE8}"/>
              </a:ext>
            </a:extLst>
          </p:cNvPr>
          <p:cNvSpPr txBox="1">
            <a:spLocks noChangeArrowheads="1"/>
          </p:cNvSpPr>
          <p:nvPr/>
        </p:nvSpPr>
        <p:spPr bwMode="auto">
          <a:xfrm>
            <a:off x="684213" y="3187700"/>
            <a:ext cx="979487" cy="3397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ko-KR" sz="1600">
                <a:solidFill>
                  <a:srgbClr val="FF0000"/>
                </a:solidFill>
                <a:latin typeface="Times New Roman" panose="02020603050405020304" pitchFamily="18" charset="0"/>
                <a:ea typeface="굴림" panose="020B0600000101010101" pitchFamily="50" charset="-127"/>
              </a:rPr>
              <a:t>State “1”</a:t>
            </a:r>
            <a:endParaRPr kumimoji="0" lang="ko-KR" altLang="en-US" sz="1600">
              <a:solidFill>
                <a:srgbClr val="FF0000"/>
              </a:solidFill>
              <a:latin typeface="Times New Roman" panose="02020603050405020304" pitchFamily="18" charset="0"/>
              <a:ea typeface="굴림" panose="020B0600000101010101" pitchFamily="50" charset="-127"/>
            </a:endParaRPr>
          </a:p>
        </p:txBody>
      </p:sp>
      <p:sp>
        <p:nvSpPr>
          <p:cNvPr id="128006" name="TextBox 6">
            <a:extLst>
              <a:ext uri="{FF2B5EF4-FFF2-40B4-BE49-F238E27FC236}">
                <a16:creationId xmlns:a16="http://schemas.microsoft.com/office/drawing/2014/main" id="{957FBA41-E904-4321-9772-2406D1FF339D}"/>
              </a:ext>
            </a:extLst>
          </p:cNvPr>
          <p:cNvSpPr txBox="1">
            <a:spLocks noChangeArrowheads="1"/>
          </p:cNvSpPr>
          <p:nvPr/>
        </p:nvSpPr>
        <p:spPr bwMode="auto">
          <a:xfrm>
            <a:off x="4999038" y="3187700"/>
            <a:ext cx="979487" cy="3397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ko-KR" sz="1600">
                <a:solidFill>
                  <a:srgbClr val="FF0000"/>
                </a:solidFill>
                <a:latin typeface="Times New Roman" panose="02020603050405020304" pitchFamily="18" charset="0"/>
                <a:ea typeface="굴림" panose="020B0600000101010101" pitchFamily="50" charset="-127"/>
              </a:rPr>
              <a:t>State “0”</a:t>
            </a:r>
            <a:endParaRPr kumimoji="0" lang="ko-KR" altLang="en-US" sz="1600">
              <a:solidFill>
                <a:srgbClr val="FF0000"/>
              </a:solidFill>
              <a:latin typeface="Times New Roman" panose="02020603050405020304" pitchFamily="18" charset="0"/>
              <a:ea typeface="굴림" panose="020B0600000101010101" pitchFamily="50" charset="-127"/>
            </a:endParaRPr>
          </a:p>
        </p:txBody>
      </p:sp>
      <p:sp>
        <p:nvSpPr>
          <p:cNvPr id="128007" name="TextBox 3">
            <a:extLst>
              <a:ext uri="{FF2B5EF4-FFF2-40B4-BE49-F238E27FC236}">
                <a16:creationId xmlns:a16="http://schemas.microsoft.com/office/drawing/2014/main" id="{6476C9CE-6C3B-4E57-A84B-D666B3AFBD8C}"/>
              </a:ext>
            </a:extLst>
          </p:cNvPr>
          <p:cNvSpPr txBox="1">
            <a:spLocks noChangeArrowheads="1"/>
          </p:cNvSpPr>
          <p:nvPr/>
        </p:nvSpPr>
        <p:spPr bwMode="auto">
          <a:xfrm>
            <a:off x="3635375" y="5456238"/>
            <a:ext cx="5113338" cy="1384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Char char="-"/>
            </a:pPr>
            <a:r>
              <a:rPr kumimoji="0" lang="en-US" altLang="ko-KR" sz="1200" b="1">
                <a:latin typeface="맑은 고딕" panose="020B0503020000020004" pitchFamily="50" charset="-127"/>
                <a:ea typeface="맑은 고딕" panose="020B0503020000020004" pitchFamily="50" charset="-127"/>
              </a:rPr>
              <a:t>State “1”: program </a:t>
            </a:r>
            <a:r>
              <a:rPr kumimoji="0" lang="ko-KR" altLang="en-US" sz="1200" b="1">
                <a:latin typeface="맑은 고딕" panose="020B0503020000020004" pitchFamily="50" charset="-127"/>
                <a:ea typeface="맑은 고딕" panose="020B0503020000020004" pitchFamily="50" charset="-127"/>
              </a:rPr>
              <a:t>되지 않음</a:t>
            </a:r>
            <a:r>
              <a:rPr kumimoji="0" lang="en-US" altLang="ko-KR" sz="1200" b="1">
                <a:latin typeface="맑은 고딕" panose="020B0503020000020004" pitchFamily="50" charset="-127"/>
                <a:ea typeface="맑은 고딕" panose="020B0503020000020004" pitchFamily="50" charset="-127"/>
              </a:rPr>
              <a:t>. VT </a:t>
            </a:r>
            <a:r>
              <a:rPr kumimoji="0" lang="ko-KR" altLang="en-US" sz="1200" b="1">
                <a:latin typeface="맑은 고딕" panose="020B0503020000020004" pitchFamily="50" charset="-127"/>
                <a:ea typeface="맑은 고딕" panose="020B0503020000020004" pitchFamily="50" charset="-127"/>
              </a:rPr>
              <a:t>전압 낮음</a:t>
            </a:r>
            <a:endParaRPr kumimoji="0" lang="en-US" altLang="ko-KR" sz="1200" b="1">
              <a:latin typeface="맑은 고딕" panose="020B0503020000020004" pitchFamily="50" charset="-127"/>
              <a:ea typeface="맑은 고딕" panose="020B0503020000020004" pitchFamily="50" charset="-127"/>
            </a:endParaRPr>
          </a:p>
          <a:p>
            <a:pPr>
              <a:spcBef>
                <a:spcPct val="0"/>
              </a:spcBef>
              <a:buClrTx/>
              <a:buFontTx/>
              <a:buChar char="-"/>
            </a:pPr>
            <a:r>
              <a:rPr kumimoji="0" lang="en-US" altLang="ko-KR" sz="1200" b="1">
                <a:latin typeface="맑은 고딕" panose="020B0503020000020004" pitchFamily="50" charset="-127"/>
                <a:ea typeface="맑은 고딕" panose="020B0503020000020004" pitchFamily="50" charset="-127"/>
              </a:rPr>
              <a:t>State “0”: program </a:t>
            </a:r>
            <a:r>
              <a:rPr kumimoji="0" lang="ko-KR" altLang="en-US" sz="1200" b="1">
                <a:latin typeface="맑은 고딕" panose="020B0503020000020004" pitchFamily="50" charset="-127"/>
                <a:ea typeface="맑은 고딕" panose="020B0503020000020004" pitchFamily="50" charset="-127"/>
              </a:rPr>
              <a:t>됨</a:t>
            </a:r>
            <a:r>
              <a:rPr kumimoji="0" lang="en-US" altLang="ko-KR" sz="1200" b="1">
                <a:latin typeface="맑은 고딕" panose="020B0503020000020004" pitchFamily="50" charset="-127"/>
                <a:ea typeface="맑은 고딕" panose="020B0503020000020004" pitchFamily="50" charset="-127"/>
              </a:rPr>
              <a:t>. VT </a:t>
            </a:r>
            <a:r>
              <a:rPr kumimoji="0" lang="ko-KR" altLang="en-US" sz="1200" b="1">
                <a:latin typeface="맑은 고딕" panose="020B0503020000020004" pitchFamily="50" charset="-127"/>
                <a:ea typeface="맑은 고딕" panose="020B0503020000020004" pitchFamily="50" charset="-127"/>
              </a:rPr>
              <a:t>전압 높음</a:t>
            </a:r>
            <a:endParaRPr kumimoji="0" lang="en-US" altLang="ko-KR" sz="1200" b="1">
              <a:latin typeface="맑은 고딕" panose="020B0503020000020004" pitchFamily="50" charset="-127"/>
              <a:ea typeface="맑은 고딕" panose="020B0503020000020004" pitchFamily="50" charset="-127"/>
            </a:endParaRPr>
          </a:p>
          <a:p>
            <a:pPr lvl="1">
              <a:spcBef>
                <a:spcPct val="0"/>
              </a:spcBef>
              <a:buClrTx/>
              <a:buFontTx/>
              <a:buChar char="-"/>
            </a:pPr>
            <a:r>
              <a:rPr kumimoji="0" lang="en-US" altLang="ko-KR" sz="1200">
                <a:solidFill>
                  <a:srgbClr val="3333FF"/>
                </a:solidFill>
                <a:latin typeface="맑은 고딕" panose="020B0503020000020004" pitchFamily="50" charset="-127"/>
                <a:ea typeface="맑은 고딕" panose="020B0503020000020004" pitchFamily="50" charset="-127"/>
              </a:rPr>
              <a:t>State “0”</a:t>
            </a:r>
            <a:r>
              <a:rPr kumimoji="0" lang="ko-KR" altLang="en-US" sz="1200">
                <a:solidFill>
                  <a:srgbClr val="3333FF"/>
                </a:solidFill>
                <a:latin typeface="맑은 고딕" panose="020B0503020000020004" pitchFamily="50" charset="-127"/>
                <a:ea typeface="맑은 고딕" panose="020B0503020000020004" pitchFamily="50" charset="-127"/>
              </a:rPr>
              <a:t>에서 </a:t>
            </a:r>
            <a:r>
              <a:rPr kumimoji="0" lang="en-US" altLang="ko-KR" sz="1200">
                <a:solidFill>
                  <a:srgbClr val="3333FF"/>
                </a:solidFill>
                <a:latin typeface="맑은 고딕" panose="020B0503020000020004" pitchFamily="50" charset="-127"/>
                <a:ea typeface="맑은 고딕" panose="020B0503020000020004" pitchFamily="50" charset="-127"/>
              </a:rPr>
              <a:t>Floating gate</a:t>
            </a:r>
            <a:r>
              <a:rPr kumimoji="0" lang="ko-KR" altLang="en-US" sz="1200">
                <a:solidFill>
                  <a:srgbClr val="3333FF"/>
                </a:solidFill>
                <a:latin typeface="맑은 고딕" panose="020B0503020000020004" pitchFamily="50" charset="-127"/>
                <a:ea typeface="맑은 고딕" panose="020B0503020000020004" pitchFamily="50" charset="-127"/>
              </a:rPr>
              <a:t>에 있는 전자가 외부 인가 </a:t>
            </a:r>
            <a:r>
              <a:rPr kumimoji="0" lang="en-US" altLang="ko-KR" sz="1200">
                <a:solidFill>
                  <a:srgbClr val="3333FF"/>
                </a:solidFill>
                <a:latin typeface="맑은 고딕" panose="020B0503020000020004" pitchFamily="50" charset="-127"/>
                <a:ea typeface="맑은 고딕" panose="020B0503020000020004" pitchFamily="50" charset="-127"/>
              </a:rPr>
              <a:t>+</a:t>
            </a:r>
            <a:r>
              <a:rPr kumimoji="0" lang="ko-KR" altLang="en-US" sz="1200">
                <a:solidFill>
                  <a:srgbClr val="3333FF"/>
                </a:solidFill>
                <a:latin typeface="맑은 고딕" panose="020B0503020000020004" pitchFamily="50" charset="-127"/>
                <a:ea typeface="맑은 고딕" panose="020B0503020000020004" pitchFamily="50" charset="-127"/>
              </a:rPr>
              <a:t>를 상쇄시키므로 높은 채널 형성을 위해 더 높은 </a:t>
            </a:r>
            <a:r>
              <a:rPr kumimoji="0" lang="en-US" altLang="ko-KR" sz="1200">
                <a:solidFill>
                  <a:srgbClr val="3333FF"/>
                </a:solidFill>
                <a:latin typeface="맑은 고딕" panose="020B0503020000020004" pitchFamily="50" charset="-127"/>
                <a:ea typeface="맑은 고딕" panose="020B0503020000020004" pitchFamily="50" charset="-127"/>
              </a:rPr>
              <a:t>VT </a:t>
            </a:r>
            <a:r>
              <a:rPr kumimoji="0" lang="ko-KR" altLang="en-US" sz="1200">
                <a:solidFill>
                  <a:srgbClr val="3333FF"/>
                </a:solidFill>
                <a:latin typeface="맑은 고딕" panose="020B0503020000020004" pitchFamily="50" charset="-127"/>
                <a:ea typeface="맑은 고딕" panose="020B0503020000020004" pitchFamily="50" charset="-127"/>
              </a:rPr>
              <a:t>전압이 필요함</a:t>
            </a:r>
            <a:endParaRPr kumimoji="0" lang="en-US" altLang="ko-KR" sz="1200">
              <a:solidFill>
                <a:srgbClr val="3333FF"/>
              </a:solidFill>
              <a:latin typeface="맑은 고딕" panose="020B0503020000020004" pitchFamily="50" charset="-127"/>
              <a:ea typeface="맑은 고딕" panose="020B0503020000020004" pitchFamily="50" charset="-127"/>
            </a:endParaRPr>
          </a:p>
          <a:p>
            <a:pPr lvl="1">
              <a:spcBef>
                <a:spcPct val="0"/>
              </a:spcBef>
              <a:buClrTx/>
              <a:buFontTx/>
              <a:buChar char="-"/>
            </a:pPr>
            <a:r>
              <a:rPr kumimoji="0" lang="ko-KR" altLang="en-US" sz="1200">
                <a:solidFill>
                  <a:srgbClr val="3333FF"/>
                </a:solidFill>
                <a:latin typeface="맑은 고딕" panose="020B0503020000020004" pitchFamily="50" charset="-127"/>
                <a:ea typeface="맑은 고딕" panose="020B0503020000020004" pitchFamily="50" charset="-127"/>
              </a:rPr>
              <a:t>만약 </a:t>
            </a:r>
            <a:r>
              <a:rPr kumimoji="0" lang="en-US" altLang="ko-KR" sz="1200">
                <a:solidFill>
                  <a:srgbClr val="3333FF"/>
                </a:solidFill>
                <a:latin typeface="맑은 고딕" panose="020B0503020000020004" pitchFamily="50" charset="-127"/>
                <a:ea typeface="맑은 고딕" panose="020B0503020000020004" pitchFamily="50" charset="-127"/>
              </a:rPr>
              <a:t>VT </a:t>
            </a:r>
            <a:r>
              <a:rPr kumimoji="0" lang="ko-KR" altLang="en-US" sz="1200">
                <a:solidFill>
                  <a:srgbClr val="3333FF"/>
                </a:solidFill>
                <a:latin typeface="맑은 고딕" panose="020B0503020000020004" pitchFamily="50" charset="-127"/>
                <a:ea typeface="맑은 고딕" panose="020B0503020000020004" pitchFamily="50" charset="-127"/>
              </a:rPr>
              <a:t>전압으로 </a:t>
            </a:r>
            <a:r>
              <a:rPr kumimoji="0" lang="en-US" altLang="ko-KR" sz="1200">
                <a:solidFill>
                  <a:srgbClr val="3333FF"/>
                </a:solidFill>
                <a:latin typeface="맑은 고딕" panose="020B0503020000020004" pitchFamily="50" charset="-127"/>
                <a:ea typeface="맑은 고딕" panose="020B0503020000020004" pitchFamily="50" charset="-127"/>
              </a:rPr>
              <a:t>6V</a:t>
            </a:r>
            <a:r>
              <a:rPr kumimoji="0" lang="ko-KR" altLang="en-US" sz="1200">
                <a:solidFill>
                  <a:srgbClr val="3333FF"/>
                </a:solidFill>
                <a:latin typeface="맑은 고딕" panose="020B0503020000020004" pitchFamily="50" charset="-127"/>
                <a:ea typeface="맑은 고딕" panose="020B0503020000020004" pitchFamily="50" charset="-127"/>
              </a:rPr>
              <a:t> 이상을 인가해버리면</a:t>
            </a:r>
            <a:r>
              <a:rPr kumimoji="0" lang="en-US" altLang="ko-KR" sz="1200">
                <a:solidFill>
                  <a:srgbClr val="3333FF"/>
                </a:solidFill>
                <a:latin typeface="맑은 고딕" panose="020B0503020000020004" pitchFamily="50" charset="-127"/>
                <a:ea typeface="맑은 고딕" panose="020B0503020000020004" pitchFamily="50" charset="-127"/>
              </a:rPr>
              <a:t>, state “1”</a:t>
            </a:r>
            <a:r>
              <a:rPr kumimoji="0" lang="ko-KR" altLang="en-US" sz="1200">
                <a:solidFill>
                  <a:srgbClr val="3333FF"/>
                </a:solidFill>
                <a:latin typeface="맑은 고딕" panose="020B0503020000020004" pitchFamily="50" charset="-127"/>
                <a:ea typeface="맑은 고딕" panose="020B0503020000020004" pitchFamily="50" charset="-127"/>
              </a:rPr>
              <a:t>이든 </a:t>
            </a:r>
            <a:r>
              <a:rPr kumimoji="0" lang="en-US" altLang="ko-KR" sz="1200">
                <a:solidFill>
                  <a:srgbClr val="3333FF"/>
                </a:solidFill>
                <a:latin typeface="맑은 고딕" panose="020B0503020000020004" pitchFamily="50" charset="-127"/>
                <a:ea typeface="맑은 고딕" panose="020B0503020000020004" pitchFamily="50" charset="-127"/>
              </a:rPr>
              <a:t>“0”</a:t>
            </a:r>
            <a:r>
              <a:rPr kumimoji="0" lang="ko-KR" altLang="en-US" sz="1200">
                <a:solidFill>
                  <a:srgbClr val="3333FF"/>
                </a:solidFill>
                <a:latin typeface="맑은 고딕" panose="020B0503020000020004" pitchFamily="50" charset="-127"/>
                <a:ea typeface="맑은 고딕" panose="020B0503020000020004" pitchFamily="50" charset="-127"/>
              </a:rPr>
              <a:t>이는 모두 </a:t>
            </a:r>
            <a:r>
              <a:rPr kumimoji="0" lang="en-US" altLang="ko-KR" sz="1200">
                <a:solidFill>
                  <a:srgbClr val="3333FF"/>
                </a:solidFill>
                <a:latin typeface="맑은 고딕" panose="020B0503020000020004" pitchFamily="50" charset="-127"/>
                <a:ea typeface="맑은 고딕" panose="020B0503020000020004" pitchFamily="50" charset="-127"/>
              </a:rPr>
              <a:t>channel</a:t>
            </a:r>
            <a:r>
              <a:rPr kumimoji="0" lang="ko-KR" altLang="en-US" sz="1200">
                <a:solidFill>
                  <a:srgbClr val="3333FF"/>
                </a:solidFill>
                <a:latin typeface="맑은 고딕" panose="020B0503020000020004" pitchFamily="50" charset="-127"/>
                <a:ea typeface="맑은 고딕" panose="020B0503020000020004" pitchFamily="50" charset="-127"/>
              </a:rPr>
              <a:t>이 형성됨</a:t>
            </a:r>
          </a:p>
        </p:txBody>
      </p:sp>
      <p:pic>
        <p:nvPicPr>
          <p:cNvPr id="128008" name="그림 2">
            <a:extLst>
              <a:ext uri="{FF2B5EF4-FFF2-40B4-BE49-F238E27FC236}">
                <a16:creationId xmlns:a16="http://schemas.microsoft.com/office/drawing/2014/main" id="{E6628CDB-D0C5-4035-8133-CD1B703B1BB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5149850"/>
            <a:ext cx="2339975" cy="150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9" name="TextBox 4">
            <a:extLst>
              <a:ext uri="{FF2B5EF4-FFF2-40B4-BE49-F238E27FC236}">
                <a16:creationId xmlns:a16="http://schemas.microsoft.com/office/drawing/2014/main" id="{7F8CE7F3-6697-4840-BD18-D917E18A35B3}"/>
              </a:ext>
            </a:extLst>
          </p:cNvPr>
          <p:cNvSpPr txBox="1">
            <a:spLocks noChangeArrowheads="1"/>
          </p:cNvSpPr>
          <p:nvPr/>
        </p:nvSpPr>
        <p:spPr bwMode="auto">
          <a:xfrm>
            <a:off x="0" y="3716338"/>
            <a:ext cx="1116013" cy="6477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ko-KR" sz="1200" b="1">
                <a:solidFill>
                  <a:srgbClr val="FF0000"/>
                </a:solidFill>
                <a:latin typeface="맑은 고딕" panose="020B0503020000020004" pitchFamily="50" charset="-127"/>
                <a:ea typeface="맑은 고딕" panose="020B0503020000020004" pitchFamily="50" charset="-127"/>
              </a:rPr>
              <a:t>FG</a:t>
            </a:r>
            <a:r>
              <a:rPr kumimoji="0" lang="ko-KR" altLang="en-US" sz="1200" b="1">
                <a:solidFill>
                  <a:srgbClr val="FF0000"/>
                </a:solidFill>
                <a:latin typeface="맑은 고딕" panose="020B0503020000020004" pitchFamily="50" charset="-127"/>
                <a:ea typeface="맑은 고딕" panose="020B0503020000020004" pitchFamily="50" charset="-127"/>
              </a:rPr>
              <a:t>에 전자 없는 경우가 </a:t>
            </a:r>
            <a:r>
              <a:rPr kumimoji="0" lang="en-US" altLang="ko-KR" sz="1200" b="1">
                <a:solidFill>
                  <a:srgbClr val="FF0000"/>
                </a:solidFill>
                <a:latin typeface="맑은 고딕" panose="020B0503020000020004" pitchFamily="50" charset="-127"/>
                <a:ea typeface="맑은 고딕" panose="020B0503020000020004" pitchFamily="50" charset="-127"/>
              </a:rPr>
              <a:t>“1”</a:t>
            </a:r>
            <a:endParaRPr kumimoji="0" lang="ko-KR" altLang="en-US" sz="1200" b="1">
              <a:solidFill>
                <a:srgbClr val="FF0000"/>
              </a:solidFill>
              <a:latin typeface="맑은 고딕" panose="020B0503020000020004" pitchFamily="50" charset="-127"/>
              <a:ea typeface="맑은 고딕" panose="020B0503020000020004" pitchFamily="50" charset="-127"/>
            </a:endParaRPr>
          </a:p>
        </p:txBody>
      </p:sp>
      <p:sp>
        <p:nvSpPr>
          <p:cNvPr id="11" name="Title 1">
            <a:extLst>
              <a:ext uri="{FF2B5EF4-FFF2-40B4-BE49-F238E27FC236}">
                <a16:creationId xmlns:a16="http://schemas.microsoft.com/office/drawing/2014/main" id="{3D8D4B5D-C605-41CA-8D71-93A6D96CDEA4}"/>
              </a:ext>
            </a:extLst>
          </p:cNvPr>
          <p:cNvSpPr txBox="1">
            <a:spLocks/>
          </p:cNvSpPr>
          <p:nvPr/>
        </p:nvSpPr>
        <p:spPr>
          <a:xfrm>
            <a:off x="406400" y="152400"/>
            <a:ext cx="8204200" cy="838200"/>
          </a:xfrm>
          <a:prstGeom prst="rect">
            <a:avLst/>
          </a:prstGeom>
        </p:spPr>
        <p:txBody>
          <a:bodyPr/>
          <a:lstStyle>
            <a:lvl1pPr algn="l" rtl="0" eaLnBrk="0" fontAlgn="base" hangingPunct="0">
              <a:spcBef>
                <a:spcPct val="0"/>
              </a:spcBef>
              <a:spcAft>
                <a:spcPct val="0"/>
              </a:spcAft>
              <a:defRPr kumimoji="1" sz="2800">
                <a:solidFill>
                  <a:schemeClr val="tx2"/>
                </a:solidFill>
                <a:latin typeface="+mj-lt"/>
                <a:ea typeface="+mj-ea"/>
                <a:cs typeface="+mj-cs"/>
              </a:defRPr>
            </a:lvl1pPr>
            <a:lvl2pPr algn="l" rtl="0" eaLnBrk="0" fontAlgn="base" hangingPunct="0">
              <a:spcBef>
                <a:spcPct val="0"/>
              </a:spcBef>
              <a:spcAft>
                <a:spcPct val="0"/>
              </a:spcAft>
              <a:defRPr kumimoji="1" sz="2800">
                <a:solidFill>
                  <a:schemeClr val="tx2"/>
                </a:solidFill>
                <a:latin typeface="Arial Black" pitchFamily="34" charset="0"/>
              </a:defRPr>
            </a:lvl2pPr>
            <a:lvl3pPr algn="l" rtl="0" eaLnBrk="0" fontAlgn="base" hangingPunct="0">
              <a:spcBef>
                <a:spcPct val="0"/>
              </a:spcBef>
              <a:spcAft>
                <a:spcPct val="0"/>
              </a:spcAft>
              <a:defRPr kumimoji="1" sz="2800">
                <a:solidFill>
                  <a:schemeClr val="tx2"/>
                </a:solidFill>
                <a:latin typeface="Arial Black" pitchFamily="34" charset="0"/>
              </a:defRPr>
            </a:lvl3pPr>
            <a:lvl4pPr algn="l" rtl="0" eaLnBrk="0" fontAlgn="base" hangingPunct="0">
              <a:spcBef>
                <a:spcPct val="0"/>
              </a:spcBef>
              <a:spcAft>
                <a:spcPct val="0"/>
              </a:spcAft>
              <a:defRPr kumimoji="1" sz="2800">
                <a:solidFill>
                  <a:schemeClr val="tx2"/>
                </a:solidFill>
                <a:latin typeface="Arial Black" pitchFamily="34" charset="0"/>
              </a:defRPr>
            </a:lvl4pPr>
            <a:lvl5pPr algn="l" rtl="0" eaLnBrk="0" fontAlgn="base" hangingPunct="0">
              <a:spcBef>
                <a:spcPct val="0"/>
              </a:spcBef>
              <a:spcAft>
                <a:spcPct val="0"/>
              </a:spcAft>
              <a:defRPr kumimoji="1" sz="2800">
                <a:solidFill>
                  <a:schemeClr val="tx2"/>
                </a:solidFill>
                <a:latin typeface="Arial Black" pitchFamily="34" charset="0"/>
              </a:defRPr>
            </a:lvl5pPr>
            <a:lvl6pPr marL="457200" algn="l" rtl="0" eaLnBrk="0" fontAlgn="base" hangingPunct="0">
              <a:spcBef>
                <a:spcPct val="0"/>
              </a:spcBef>
              <a:spcAft>
                <a:spcPct val="0"/>
              </a:spcAft>
              <a:defRPr kumimoji="1" sz="2800">
                <a:solidFill>
                  <a:schemeClr val="tx2"/>
                </a:solidFill>
                <a:latin typeface="Arial Black" pitchFamily="34" charset="0"/>
              </a:defRPr>
            </a:lvl6pPr>
            <a:lvl7pPr marL="914400" algn="l" rtl="0" eaLnBrk="0" fontAlgn="base" hangingPunct="0">
              <a:spcBef>
                <a:spcPct val="0"/>
              </a:spcBef>
              <a:spcAft>
                <a:spcPct val="0"/>
              </a:spcAft>
              <a:defRPr kumimoji="1" sz="2800">
                <a:solidFill>
                  <a:schemeClr val="tx2"/>
                </a:solidFill>
                <a:latin typeface="Arial Black" pitchFamily="34" charset="0"/>
              </a:defRPr>
            </a:lvl7pPr>
            <a:lvl8pPr marL="1371600" algn="l" rtl="0" eaLnBrk="0" fontAlgn="base" hangingPunct="0">
              <a:spcBef>
                <a:spcPct val="0"/>
              </a:spcBef>
              <a:spcAft>
                <a:spcPct val="0"/>
              </a:spcAft>
              <a:defRPr kumimoji="1" sz="2800">
                <a:solidFill>
                  <a:schemeClr val="tx2"/>
                </a:solidFill>
                <a:latin typeface="Arial Black" pitchFamily="34" charset="0"/>
              </a:defRPr>
            </a:lvl8pPr>
            <a:lvl9pPr marL="1828800" algn="l" rtl="0" eaLnBrk="0" fontAlgn="base" hangingPunct="0">
              <a:spcBef>
                <a:spcPct val="0"/>
              </a:spcBef>
              <a:spcAft>
                <a:spcPct val="0"/>
              </a:spcAft>
              <a:defRPr kumimoji="1" sz="2800">
                <a:solidFill>
                  <a:schemeClr val="tx2"/>
                </a:solidFill>
                <a:latin typeface="Arial Black" pitchFamily="34" charset="0"/>
              </a:defRPr>
            </a:lvl9pPr>
          </a:lstStyle>
          <a:p>
            <a:pPr>
              <a:defRPr/>
            </a:pPr>
            <a:r>
              <a:rPr lang="en-US" altLang="ko-KR" kern="0" dirty="0">
                <a:ea typeface="굴림" panose="020B0600000101010101" pitchFamily="50" charset="-127"/>
              </a:rPr>
              <a:t>Flash Memory </a:t>
            </a:r>
            <a:r>
              <a:rPr lang="ko-KR" altLang="en-US" kern="0" dirty="0">
                <a:ea typeface="굴림" panose="020B0600000101010101" pitchFamily="50" charset="-127"/>
              </a:rPr>
              <a:t>동작 원리</a:t>
            </a:r>
            <a:endParaRPr lang="en-US" altLang="ko-KR" kern="0" dirty="0">
              <a:ea typeface="굴림" panose="020B0600000101010101" pitchFamily="50" charset="-127"/>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3" descr="f16.pdf">
            <a:extLst>
              <a:ext uri="{FF2B5EF4-FFF2-40B4-BE49-F238E27FC236}">
                <a16:creationId xmlns:a16="http://schemas.microsoft.com/office/drawing/2014/main" id="{9A97E4BD-E264-4CEB-9B0D-BABD02D8AFF7}"/>
              </a:ext>
            </a:extLst>
          </p:cNvPr>
          <p:cNvPicPr>
            <a:picLocks noChangeAspect="1"/>
          </p:cNvPicPr>
          <p:nvPr/>
        </p:nvPicPr>
        <p:blipFill>
          <a:blip r:embed="rId3">
            <a:extLst>
              <a:ext uri="{28A0092B-C50C-407E-A947-70E740481C1C}">
                <a14:useLocalDpi xmlns:a14="http://schemas.microsoft.com/office/drawing/2010/main" val="0"/>
              </a:ext>
            </a:extLst>
          </a:blip>
          <a:srcRect t="20776" b="15092"/>
          <a:stretch>
            <a:fillRect/>
          </a:stretch>
        </p:blipFill>
        <p:spPr bwMode="auto">
          <a:xfrm>
            <a:off x="-190500" y="812800"/>
            <a:ext cx="5545138" cy="460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51" name="직사각형 1">
            <a:extLst>
              <a:ext uri="{FF2B5EF4-FFF2-40B4-BE49-F238E27FC236}">
                <a16:creationId xmlns:a16="http://schemas.microsoft.com/office/drawing/2014/main" id="{4E0D5FE5-94A3-4D7A-8C4F-2C866E624776}"/>
              </a:ext>
            </a:extLst>
          </p:cNvPr>
          <p:cNvSpPr>
            <a:spLocks noChangeArrowheads="1"/>
          </p:cNvSpPr>
          <p:nvPr/>
        </p:nvSpPr>
        <p:spPr bwMode="auto">
          <a:xfrm>
            <a:off x="-3175" y="0"/>
            <a:ext cx="914717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lang="en-US" altLang="ko-KR" sz="1400">
                <a:ea typeface="굴림" panose="020B0600000101010101" pitchFamily="50" charset="-127"/>
              </a:rPr>
              <a:t>A single-level NOR flash cell in its default state is logically equivalent to a binary "1" value, because current will flow through the channel under application of an appropriate voltage to the control gate, so that the bitline voltage is pulled down. A NOR flash cell can be programmed, or set to a binary "0" value</a:t>
            </a:r>
            <a:endParaRPr kumimoji="0" lang="en-US" altLang="ko-KR" sz="1400">
              <a:solidFill>
                <a:srgbClr val="3333CC"/>
              </a:solidFill>
              <a:latin typeface="Times New Roman" panose="02020603050405020304" pitchFamily="18" charset="0"/>
              <a:ea typeface="굴림" panose="020B0600000101010101" pitchFamily="50" charset="-127"/>
            </a:endParaRPr>
          </a:p>
        </p:txBody>
      </p:sp>
      <p:sp>
        <p:nvSpPr>
          <p:cNvPr id="130052" name="직사각형 2">
            <a:extLst>
              <a:ext uri="{FF2B5EF4-FFF2-40B4-BE49-F238E27FC236}">
                <a16:creationId xmlns:a16="http://schemas.microsoft.com/office/drawing/2014/main" id="{66895DB2-58D1-4126-AA86-773B1119DB61}"/>
              </a:ext>
            </a:extLst>
          </p:cNvPr>
          <p:cNvSpPr>
            <a:spLocks noChangeArrowheads="1"/>
          </p:cNvSpPr>
          <p:nvPr/>
        </p:nvSpPr>
        <p:spPr bwMode="auto">
          <a:xfrm>
            <a:off x="5219700" y="3113088"/>
            <a:ext cx="3348038"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600">
                <a:solidFill>
                  <a:srgbClr val="3333CC"/>
                </a:solidFill>
                <a:latin typeface="Times New Roman" panose="02020603050405020304" pitchFamily="18" charset="0"/>
                <a:ea typeface="굴림" panose="020B0600000101010101" pitchFamily="50" charset="-127"/>
              </a:rPr>
              <a:t>NAND flash memory  is organized in transistor arrays with 16 or 32 transistors  in series. The bit line goes low only if all the transistors in the corresponding word lines are turned on. This is similar in function to a NAND logic gate.</a:t>
            </a:r>
          </a:p>
        </p:txBody>
      </p:sp>
      <p:sp>
        <p:nvSpPr>
          <p:cNvPr id="130053" name="TextBox 1">
            <a:extLst>
              <a:ext uri="{FF2B5EF4-FFF2-40B4-BE49-F238E27FC236}">
                <a16:creationId xmlns:a16="http://schemas.microsoft.com/office/drawing/2014/main" id="{76684927-6A42-4A27-8EFC-EFD8528358F8}"/>
              </a:ext>
            </a:extLst>
          </p:cNvPr>
          <p:cNvSpPr txBox="1">
            <a:spLocks noChangeArrowheads="1"/>
          </p:cNvSpPr>
          <p:nvPr/>
        </p:nvSpPr>
        <p:spPr bwMode="auto">
          <a:xfrm>
            <a:off x="5003800" y="1341438"/>
            <a:ext cx="39608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ko-KR" altLang="en-US" sz="1200">
                <a:latin typeface="맑은 고딕" panose="020B0503020000020004" pitchFamily="50" charset="-127"/>
                <a:ea typeface="맑은 고딕" panose="020B0503020000020004" pitchFamily="50" charset="-127"/>
              </a:rPr>
              <a:t>어느 </a:t>
            </a:r>
            <a:r>
              <a:rPr kumimoji="0" lang="en-US" altLang="ko-KR" sz="1200">
                <a:latin typeface="맑은 고딕" panose="020B0503020000020004" pitchFamily="50" charset="-127"/>
                <a:ea typeface="맑은 고딕" panose="020B0503020000020004" pitchFamily="50" charset="-127"/>
              </a:rPr>
              <a:t>Word line </a:t>
            </a:r>
            <a:r>
              <a:rPr kumimoji="0" lang="ko-KR" altLang="en-US" sz="1200">
                <a:latin typeface="맑은 고딕" panose="020B0503020000020004" pitchFamily="50" charset="-127"/>
                <a:ea typeface="맑은 고딕" panose="020B0503020000020004" pitchFamily="50" charset="-127"/>
              </a:rPr>
              <a:t>하나라도 </a:t>
            </a:r>
            <a:r>
              <a:rPr kumimoji="0" lang="en-US" altLang="ko-KR" sz="1200">
                <a:latin typeface="맑은 고딕" panose="020B0503020000020004" pitchFamily="50" charset="-127"/>
                <a:ea typeface="맑은 고딕" panose="020B0503020000020004" pitchFamily="50" charset="-127"/>
              </a:rPr>
              <a:t>‘1’ </a:t>
            </a:r>
            <a:r>
              <a:rPr kumimoji="0" lang="ko-KR" altLang="en-US" sz="1200">
                <a:latin typeface="맑은 고딕" panose="020B0503020000020004" pitchFamily="50" charset="-127"/>
                <a:ea typeface="맑은 고딕" panose="020B0503020000020004" pitchFamily="50" charset="-127"/>
              </a:rPr>
              <a:t>인가하면 </a:t>
            </a:r>
            <a:r>
              <a:rPr kumimoji="0" lang="en-US" altLang="ko-KR" sz="1200">
                <a:latin typeface="맑은 고딕" panose="020B0503020000020004" pitchFamily="50" charset="-127"/>
                <a:ea typeface="맑은 고딕" panose="020B0503020000020004" pitchFamily="50" charset="-127"/>
              </a:rPr>
              <a:t>Bit line</a:t>
            </a:r>
            <a:r>
              <a:rPr kumimoji="0" lang="ko-KR" altLang="en-US" sz="1200">
                <a:latin typeface="맑은 고딕" panose="020B0503020000020004" pitchFamily="50" charset="-127"/>
                <a:ea typeface="맑은 고딕" panose="020B0503020000020004" pitchFamily="50" charset="-127"/>
              </a:rPr>
              <a:t>은</a:t>
            </a:r>
            <a:r>
              <a:rPr kumimoji="0" lang="en-US" altLang="ko-KR" sz="1200">
                <a:latin typeface="맑은 고딕" panose="020B0503020000020004" pitchFamily="50" charset="-127"/>
                <a:ea typeface="맑은 고딕" panose="020B0503020000020004" pitchFamily="50" charset="-127"/>
              </a:rPr>
              <a:t> ‘0’</a:t>
            </a:r>
            <a:r>
              <a:rPr kumimoji="0" lang="ko-KR" altLang="en-US" sz="1200">
                <a:latin typeface="맑은 고딕" panose="020B0503020000020004" pitchFamily="50" charset="-127"/>
                <a:ea typeface="맑은 고딕" panose="020B0503020000020004" pitchFamily="50" charset="-127"/>
              </a:rPr>
              <a:t>이 됨</a:t>
            </a:r>
            <a:r>
              <a:rPr kumimoji="0" lang="en-US" altLang="ko-KR" sz="1200">
                <a:latin typeface="맑은 고딕" panose="020B0503020000020004" pitchFamily="50" charset="-127"/>
                <a:ea typeface="맑은 고딕" panose="020B0503020000020004" pitchFamily="50" charset="-127"/>
              </a:rPr>
              <a:t>(NOR</a:t>
            </a:r>
            <a:r>
              <a:rPr kumimoji="0" lang="ko-KR" altLang="en-US" sz="1200">
                <a:latin typeface="맑은 고딕" panose="020B0503020000020004" pitchFamily="50" charset="-127"/>
                <a:ea typeface="맑은 고딕" panose="020B0503020000020004" pitchFamily="50" charset="-127"/>
              </a:rPr>
              <a:t>처럼 보임</a:t>
            </a:r>
            <a:r>
              <a:rPr kumimoji="0" lang="en-US" altLang="ko-KR" sz="1200">
                <a:latin typeface="맑은 고딕" panose="020B0503020000020004" pitchFamily="50" charset="-127"/>
                <a:ea typeface="맑은 고딕" panose="020B0503020000020004" pitchFamily="50" charset="-127"/>
              </a:rPr>
              <a:t>). </a:t>
            </a:r>
            <a:r>
              <a:rPr kumimoji="0" lang="ko-KR" altLang="en-US" sz="1200">
                <a:latin typeface="맑은 고딕" panose="020B0503020000020004" pitchFamily="50" charset="-127"/>
                <a:ea typeface="맑은 고딕" panose="020B0503020000020004" pitchFamily="50" charset="-127"/>
              </a:rPr>
              <a:t>모든 </a:t>
            </a:r>
            <a:r>
              <a:rPr kumimoji="0" lang="en-US" altLang="ko-KR" sz="1200">
                <a:latin typeface="맑은 고딕" panose="020B0503020000020004" pitchFamily="50" charset="-127"/>
                <a:ea typeface="맑은 고딕" panose="020B0503020000020004" pitchFamily="50" charset="-127"/>
              </a:rPr>
              <a:t>word line</a:t>
            </a:r>
            <a:r>
              <a:rPr kumimoji="0" lang="ko-KR" altLang="en-US" sz="1200">
                <a:latin typeface="맑은 고딕" panose="020B0503020000020004" pitchFamily="50" charset="-127"/>
                <a:ea typeface="맑은 고딕" panose="020B0503020000020004" pitchFamily="50" charset="-127"/>
              </a:rPr>
              <a:t>에 </a:t>
            </a:r>
            <a:r>
              <a:rPr kumimoji="0" lang="en-US" altLang="ko-KR" sz="1200">
                <a:latin typeface="맑은 고딕" panose="020B0503020000020004" pitchFamily="50" charset="-127"/>
                <a:ea typeface="맑은 고딕" panose="020B0503020000020004" pitchFamily="50" charset="-127"/>
              </a:rPr>
              <a:t>‘0’</a:t>
            </a:r>
            <a:r>
              <a:rPr kumimoji="0" lang="ko-KR" altLang="en-US" sz="1200">
                <a:latin typeface="맑은 고딕" panose="020B0503020000020004" pitchFamily="50" charset="-127"/>
                <a:ea typeface="맑은 고딕" panose="020B0503020000020004" pitchFamily="50" charset="-127"/>
              </a:rPr>
              <a:t>일때 </a:t>
            </a:r>
            <a:r>
              <a:rPr kumimoji="0" lang="en-US" altLang="ko-KR" sz="1200">
                <a:latin typeface="맑은 고딕" panose="020B0503020000020004" pitchFamily="50" charset="-127"/>
                <a:ea typeface="맑은 고딕" panose="020B0503020000020004" pitchFamily="50" charset="-127"/>
              </a:rPr>
              <a:t>Bit line</a:t>
            </a:r>
            <a:r>
              <a:rPr kumimoji="0" lang="ko-KR" altLang="en-US" sz="1200">
                <a:latin typeface="맑은 고딕" panose="020B0503020000020004" pitchFamily="50" charset="-127"/>
                <a:ea typeface="맑은 고딕" panose="020B0503020000020004" pitchFamily="50" charset="-127"/>
              </a:rPr>
              <a:t>은 </a:t>
            </a:r>
            <a:r>
              <a:rPr kumimoji="0" lang="en-US" altLang="ko-KR" sz="1200">
                <a:latin typeface="맑은 고딕" panose="020B0503020000020004" pitchFamily="50" charset="-127"/>
                <a:ea typeface="맑은 고딕" panose="020B0503020000020004" pitchFamily="50" charset="-127"/>
              </a:rPr>
              <a:t>‘1’ </a:t>
            </a:r>
            <a:r>
              <a:rPr kumimoji="0" lang="en-US" altLang="ko-KR" sz="1200">
                <a:latin typeface="맑은 고딕" panose="020B0503020000020004" pitchFamily="50" charset="-127"/>
                <a:ea typeface="맑은 고딕" panose="020B0503020000020004" pitchFamily="50" charset="-127"/>
                <a:sym typeface="Wingdings" panose="05000000000000000000" pitchFamily="2" charset="2"/>
              </a:rPr>
              <a:t> NOR.</a:t>
            </a:r>
          </a:p>
          <a:p>
            <a:pPr algn="ctr">
              <a:spcBef>
                <a:spcPct val="0"/>
              </a:spcBef>
              <a:buClrTx/>
              <a:buFontTx/>
              <a:buNone/>
            </a:pPr>
            <a:r>
              <a:rPr kumimoji="0" lang="en-US" altLang="ko-KR" sz="1200" b="1">
                <a:latin typeface="맑은 고딕" panose="020B0503020000020004" pitchFamily="50" charset="-127"/>
                <a:ea typeface="맑은 고딕" panose="020B0503020000020004" pitchFamily="50" charset="-127"/>
                <a:sym typeface="Wingdings" panose="05000000000000000000" pitchFamily="2" charset="2"/>
              </a:rPr>
              <a:t>Bit line = ~(w1 OR w2 OR … OR w7)</a:t>
            </a:r>
            <a:r>
              <a:rPr kumimoji="0" lang="ko-KR" altLang="en-US" sz="1200" b="1">
                <a:latin typeface="맑은 고딕" panose="020B0503020000020004" pitchFamily="50" charset="-127"/>
                <a:ea typeface="맑은 고딕" panose="020B0503020000020004" pitchFamily="50" charset="-127"/>
                <a:sym typeface="Wingdings" panose="05000000000000000000" pitchFamily="2" charset="2"/>
              </a:rPr>
              <a:t> </a:t>
            </a:r>
            <a:endParaRPr kumimoji="0" lang="en-US" altLang="ko-KR" sz="1200" b="1">
              <a:latin typeface="맑은 고딕" panose="020B0503020000020004" pitchFamily="50" charset="-127"/>
              <a:ea typeface="맑은 고딕" panose="020B0503020000020004" pitchFamily="50" charset="-127"/>
            </a:endParaRPr>
          </a:p>
        </p:txBody>
      </p:sp>
      <p:sp>
        <p:nvSpPr>
          <p:cNvPr id="130054" name="TextBox 6">
            <a:extLst>
              <a:ext uri="{FF2B5EF4-FFF2-40B4-BE49-F238E27FC236}">
                <a16:creationId xmlns:a16="http://schemas.microsoft.com/office/drawing/2014/main" id="{724B9CFA-8FE6-4244-90ED-DE435B3F3C80}"/>
              </a:ext>
            </a:extLst>
          </p:cNvPr>
          <p:cNvSpPr txBox="1">
            <a:spLocks noChangeArrowheads="1"/>
          </p:cNvSpPr>
          <p:nvPr/>
        </p:nvSpPr>
        <p:spPr bwMode="auto">
          <a:xfrm>
            <a:off x="5180013" y="2565400"/>
            <a:ext cx="39592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ko-KR" altLang="en-US" sz="1200">
                <a:latin typeface="맑은 고딕" panose="020B0503020000020004" pitchFamily="50" charset="-127"/>
                <a:ea typeface="맑은 고딕" panose="020B0503020000020004" pitchFamily="50" charset="-127"/>
              </a:rPr>
              <a:t>모든 </a:t>
            </a:r>
            <a:r>
              <a:rPr kumimoji="0" lang="en-US" altLang="ko-KR" sz="1200">
                <a:latin typeface="맑은 고딕" panose="020B0503020000020004" pitchFamily="50" charset="-127"/>
                <a:ea typeface="맑은 고딕" panose="020B0503020000020004" pitchFamily="50" charset="-127"/>
              </a:rPr>
              <a:t>Word line ‘1’ </a:t>
            </a:r>
            <a:r>
              <a:rPr kumimoji="0" lang="ko-KR" altLang="en-US" sz="1200">
                <a:latin typeface="맑은 고딕" panose="020B0503020000020004" pitchFamily="50" charset="-127"/>
                <a:ea typeface="맑은 고딕" panose="020B0503020000020004" pitchFamily="50" charset="-127"/>
              </a:rPr>
              <a:t>일때</a:t>
            </a:r>
            <a:r>
              <a:rPr kumimoji="0" lang="en-US" altLang="ko-KR" sz="1200">
                <a:latin typeface="맑은 고딕" panose="020B0503020000020004" pitchFamily="50" charset="-127"/>
                <a:ea typeface="맑은 고딕" panose="020B0503020000020004" pitchFamily="50" charset="-127"/>
              </a:rPr>
              <a:t>, Bit line</a:t>
            </a:r>
            <a:r>
              <a:rPr kumimoji="0" lang="ko-KR" altLang="en-US" sz="1200">
                <a:latin typeface="맑은 고딕" panose="020B0503020000020004" pitchFamily="50" charset="-127"/>
                <a:ea typeface="맑은 고딕" panose="020B0503020000020004" pitchFamily="50" charset="-127"/>
              </a:rPr>
              <a:t>은 </a:t>
            </a:r>
            <a:r>
              <a:rPr kumimoji="0" lang="en-US" altLang="ko-KR" sz="1200">
                <a:latin typeface="맑은 고딕" panose="020B0503020000020004" pitchFamily="50" charset="-127"/>
                <a:ea typeface="맑은 고딕" panose="020B0503020000020004" pitchFamily="50" charset="-127"/>
              </a:rPr>
              <a:t>‘0’ </a:t>
            </a:r>
            <a:r>
              <a:rPr kumimoji="0" lang="en-US" altLang="ko-KR" sz="1200">
                <a:latin typeface="맑은 고딕" panose="020B0503020000020004" pitchFamily="50" charset="-127"/>
                <a:ea typeface="맑은 고딕" panose="020B0503020000020004" pitchFamily="50" charset="-127"/>
                <a:sym typeface="Wingdings" panose="05000000000000000000" pitchFamily="2" charset="2"/>
              </a:rPr>
              <a:t> NAND.</a:t>
            </a:r>
          </a:p>
          <a:p>
            <a:pPr algn="ctr">
              <a:spcBef>
                <a:spcPct val="0"/>
              </a:spcBef>
              <a:buClrTx/>
              <a:buFontTx/>
              <a:buNone/>
            </a:pPr>
            <a:r>
              <a:rPr kumimoji="0" lang="en-US" altLang="ko-KR" sz="1200" b="1">
                <a:latin typeface="맑은 고딕" panose="020B0503020000020004" pitchFamily="50" charset="-127"/>
                <a:ea typeface="맑은 고딕" panose="020B0503020000020004" pitchFamily="50" charset="-127"/>
                <a:sym typeface="Wingdings" panose="05000000000000000000" pitchFamily="2" charset="2"/>
              </a:rPr>
              <a:t>Bit line = ~(w1 AND w2 AND … AND w7)</a:t>
            </a:r>
            <a:endParaRPr kumimoji="0" lang="en-US" altLang="ko-KR" sz="1200" b="1">
              <a:latin typeface="맑은 고딕" panose="020B0503020000020004" pitchFamily="50" charset="-127"/>
              <a:ea typeface="맑은 고딕" panose="020B0503020000020004" pitchFamily="50" charset="-127"/>
            </a:endParaRPr>
          </a:p>
        </p:txBody>
      </p:sp>
      <p:sp>
        <p:nvSpPr>
          <p:cNvPr id="130055" name="슬라이드 번호 개체 틀 1">
            <a:extLst>
              <a:ext uri="{FF2B5EF4-FFF2-40B4-BE49-F238E27FC236}">
                <a16:creationId xmlns:a16="http://schemas.microsoft.com/office/drawing/2014/main" id="{A8021F13-80CD-4A3D-8630-CEF4C6CFBB13}"/>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C131A7BC-F66A-4F51-9698-69A88BF5A4ED}" type="slidenum">
              <a:rPr kumimoji="0" lang="ko-KR" altLang="ko-KR" sz="2400">
                <a:latin typeface="Times New Roman" panose="02020603050405020304" pitchFamily="18" charset="0"/>
              </a:rPr>
              <a:pPr>
                <a:spcBef>
                  <a:spcPct val="0"/>
                </a:spcBef>
                <a:buClrTx/>
                <a:buFontTx/>
                <a:buNone/>
              </a:pPr>
              <a:t>61</a:t>
            </a:fld>
            <a:endParaRPr kumimoji="0" lang="ko-KR" altLang="ko-KR" sz="2400">
              <a:latin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Box 1">
            <a:extLst>
              <a:ext uri="{FF2B5EF4-FFF2-40B4-BE49-F238E27FC236}">
                <a16:creationId xmlns:a16="http://schemas.microsoft.com/office/drawing/2014/main" id="{7CB4AB24-AA8E-4DF3-B422-9928D142D2AD}"/>
              </a:ext>
            </a:extLst>
          </p:cNvPr>
          <p:cNvSpPr txBox="1">
            <a:spLocks noChangeArrowheads="1"/>
          </p:cNvSpPr>
          <p:nvPr/>
        </p:nvSpPr>
        <p:spPr bwMode="auto">
          <a:xfrm>
            <a:off x="5364163" y="1412875"/>
            <a:ext cx="37798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pPr>
            <a:r>
              <a:rPr kumimoji="0" lang="en-US" altLang="ko-KR" sz="1200" b="1">
                <a:latin typeface="맑은 고딕" panose="020B0503020000020004" pitchFamily="50" charset="-127"/>
                <a:ea typeface="맑은 고딕" panose="020B0503020000020004" pitchFamily="50" charset="-127"/>
                <a:sym typeface="Wingdings" panose="05000000000000000000" pitchFamily="2" charset="2"/>
              </a:rPr>
              <a:t>NAND</a:t>
            </a:r>
            <a:r>
              <a:rPr kumimoji="0" lang="ko-KR" altLang="en-US" sz="1200" b="1">
                <a:latin typeface="맑은 고딕" panose="020B0503020000020004" pitchFamily="50" charset="-127"/>
                <a:ea typeface="맑은 고딕" panose="020B0503020000020004" pitchFamily="50" charset="-127"/>
                <a:sym typeface="Wingdings" panose="05000000000000000000" pitchFamily="2" charset="2"/>
              </a:rPr>
              <a:t>의 모든 </a:t>
            </a:r>
            <a:r>
              <a:rPr kumimoji="0" lang="en-US" altLang="ko-KR" sz="1200" b="1">
                <a:latin typeface="맑은 고딕" panose="020B0503020000020004" pitchFamily="50" charset="-127"/>
                <a:ea typeface="맑은 고딕" panose="020B0503020000020004" pitchFamily="50" charset="-127"/>
                <a:sym typeface="Wingdings" panose="05000000000000000000" pitchFamily="2" charset="2"/>
              </a:rPr>
              <a:t>word  lines</a:t>
            </a:r>
            <a:r>
              <a:rPr kumimoji="0" lang="ko-KR" altLang="en-US" sz="1200" b="1">
                <a:latin typeface="맑은 고딕" panose="020B0503020000020004" pitchFamily="50" charset="-127"/>
                <a:ea typeface="맑은 고딕" panose="020B0503020000020004" pitchFamily="50" charset="-127"/>
                <a:sym typeface="Wingdings" panose="05000000000000000000" pitchFamily="2" charset="2"/>
              </a:rPr>
              <a:t>이 </a:t>
            </a:r>
            <a:r>
              <a:rPr kumimoji="0" lang="en-US" altLang="ko-KR" sz="1200" b="1">
                <a:latin typeface="맑은 고딕" panose="020B0503020000020004" pitchFamily="50" charset="-127"/>
                <a:ea typeface="맑은 고딕" panose="020B0503020000020004" pitchFamily="50" charset="-127"/>
                <a:sym typeface="Wingdings" panose="05000000000000000000" pitchFamily="2" charset="2"/>
              </a:rPr>
              <a:t>high(</a:t>
            </a:r>
            <a:r>
              <a:rPr kumimoji="0" lang="ko-KR" altLang="en-US" sz="1200" b="1">
                <a:latin typeface="맑은 고딕" panose="020B0503020000020004" pitchFamily="50" charset="-127"/>
                <a:ea typeface="맑은 고딕" panose="020B0503020000020004" pitchFamily="50" charset="-127"/>
                <a:sym typeface="Wingdings" panose="05000000000000000000" pitchFamily="2" charset="2"/>
              </a:rPr>
              <a:t>트랜지스터 문턱 전압 </a:t>
            </a:r>
            <a:r>
              <a:rPr kumimoji="0" lang="en-US" altLang="ko-KR" sz="1200" b="1">
                <a:latin typeface="맑은 고딕" panose="020B0503020000020004" pitchFamily="50" charset="-127"/>
                <a:ea typeface="맑은 고딕" panose="020B0503020000020004" pitchFamily="50" charset="-127"/>
                <a:sym typeface="Wingdings" panose="05000000000000000000" pitchFamily="2" charset="2"/>
              </a:rPr>
              <a:t>VT </a:t>
            </a:r>
            <a:r>
              <a:rPr kumimoji="0" lang="ko-KR" altLang="en-US" sz="1200" b="1">
                <a:latin typeface="맑은 고딕" panose="020B0503020000020004" pitchFamily="50" charset="-127"/>
                <a:ea typeface="맑은 고딕" panose="020B0503020000020004" pitchFamily="50" charset="-127"/>
                <a:sym typeface="Wingdings" panose="05000000000000000000" pitchFamily="2" charset="2"/>
              </a:rPr>
              <a:t>이상</a:t>
            </a:r>
            <a:r>
              <a:rPr kumimoji="0" lang="en-US" altLang="ko-KR" sz="1200" b="1">
                <a:latin typeface="맑은 고딕" panose="020B0503020000020004" pitchFamily="50" charset="-127"/>
                <a:ea typeface="맑은 고딕" panose="020B0503020000020004" pitchFamily="50" charset="-127"/>
                <a:sym typeface="Wingdings" panose="05000000000000000000" pitchFamily="2" charset="2"/>
              </a:rPr>
              <a:t>)</a:t>
            </a:r>
            <a:r>
              <a:rPr kumimoji="0" lang="ko-KR" altLang="en-US" sz="1200" b="1">
                <a:latin typeface="맑은 고딕" panose="020B0503020000020004" pitchFamily="50" charset="-127"/>
                <a:ea typeface="맑은 고딕" panose="020B0503020000020004" pitchFamily="50" charset="-127"/>
                <a:sym typeface="Wingdings" panose="05000000000000000000" pitchFamily="2" charset="2"/>
              </a:rPr>
              <a:t>가 되었을 때</a:t>
            </a:r>
            <a:r>
              <a:rPr kumimoji="0" lang="en-US" altLang="ko-KR" sz="1200" b="1">
                <a:latin typeface="맑은 고딕" panose="020B0503020000020004" pitchFamily="50" charset="-127"/>
                <a:ea typeface="맑은 고딕" panose="020B0503020000020004" pitchFamily="50" charset="-127"/>
                <a:sym typeface="Wingdings" panose="05000000000000000000" pitchFamily="2" charset="2"/>
              </a:rPr>
              <a:t>, bit line </a:t>
            </a:r>
            <a:r>
              <a:rPr kumimoji="0" lang="ko-KR" altLang="en-US" sz="1200" b="1">
                <a:latin typeface="맑은 고딕" panose="020B0503020000020004" pitchFamily="50" charset="-127"/>
                <a:ea typeface="맑은 고딕" panose="020B0503020000020004" pitchFamily="50" charset="-127"/>
                <a:sym typeface="Wingdings" panose="05000000000000000000" pitchFamily="2" charset="2"/>
              </a:rPr>
              <a:t>값이 </a:t>
            </a:r>
            <a:r>
              <a:rPr kumimoji="0" lang="en-US" altLang="ko-KR" sz="1200" b="1">
                <a:latin typeface="맑은 고딕" panose="020B0503020000020004" pitchFamily="50" charset="-127"/>
                <a:ea typeface="맑은 고딕" panose="020B0503020000020004" pitchFamily="50" charset="-127"/>
                <a:sym typeface="Wingdings" panose="05000000000000000000" pitchFamily="2" charset="2"/>
              </a:rPr>
              <a:t>“0”</a:t>
            </a:r>
            <a:r>
              <a:rPr kumimoji="0" lang="ko-KR" altLang="en-US" sz="1200" b="1">
                <a:latin typeface="맑은 고딕" panose="020B0503020000020004" pitchFamily="50" charset="-127"/>
                <a:ea typeface="맑은 고딕" panose="020B0503020000020004" pitchFamily="50" charset="-127"/>
                <a:sym typeface="Wingdings" panose="05000000000000000000" pitchFamily="2" charset="2"/>
              </a:rPr>
              <a:t>이 됨 </a:t>
            </a:r>
            <a:r>
              <a:rPr kumimoji="0" lang="en-US" altLang="ko-KR" sz="1200" b="1">
                <a:latin typeface="맑은 고딕" panose="020B0503020000020004" pitchFamily="50" charset="-127"/>
                <a:ea typeface="맑은 고딕" panose="020B0503020000020004" pitchFamily="50" charset="-127"/>
                <a:sym typeface="Wingdings" panose="05000000000000000000" pitchFamily="2" charset="2"/>
              </a:rPr>
              <a:t>(NAND</a:t>
            </a:r>
            <a:r>
              <a:rPr kumimoji="0" lang="ko-KR" altLang="en-US" sz="1200" b="1">
                <a:latin typeface="맑은 고딕" panose="020B0503020000020004" pitchFamily="50" charset="-127"/>
                <a:ea typeface="맑은 고딕" panose="020B0503020000020004" pitchFamily="50" charset="-127"/>
                <a:sym typeface="Wingdings" panose="05000000000000000000" pitchFamily="2" charset="2"/>
              </a:rPr>
              <a:t> 로직</a:t>
            </a:r>
            <a:r>
              <a:rPr kumimoji="0" lang="en-US" altLang="ko-KR" sz="1200" b="1">
                <a:latin typeface="맑은 고딕" panose="020B0503020000020004" pitchFamily="50" charset="-127"/>
                <a:ea typeface="맑은 고딕" panose="020B0503020000020004" pitchFamily="50" charset="-127"/>
                <a:sym typeface="Wingdings" panose="05000000000000000000" pitchFamily="2" charset="2"/>
              </a:rPr>
              <a:t>)</a:t>
            </a:r>
          </a:p>
          <a:p>
            <a:pPr>
              <a:spcBef>
                <a:spcPct val="0"/>
              </a:spcBef>
              <a:buClrTx/>
            </a:pPr>
            <a:endParaRPr kumimoji="0" lang="en-US" altLang="ko-KR" sz="1200" b="1">
              <a:latin typeface="맑은 고딕" panose="020B0503020000020004" pitchFamily="50" charset="-127"/>
              <a:ea typeface="맑은 고딕" panose="020B0503020000020004" pitchFamily="50" charset="-127"/>
              <a:sym typeface="Wingdings" panose="05000000000000000000" pitchFamily="2" charset="2"/>
            </a:endParaRPr>
          </a:p>
        </p:txBody>
      </p:sp>
      <p:sp>
        <p:nvSpPr>
          <p:cNvPr id="132099" name="슬라이드 번호 개체 틀 1">
            <a:extLst>
              <a:ext uri="{FF2B5EF4-FFF2-40B4-BE49-F238E27FC236}">
                <a16:creationId xmlns:a16="http://schemas.microsoft.com/office/drawing/2014/main" id="{4E1EE33E-F3B5-4D0F-849D-F16B5963591C}"/>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6F61A1AF-4326-42B7-B275-883A59B31A3A}" type="slidenum">
              <a:rPr kumimoji="0" lang="ko-KR" altLang="ko-KR" sz="2400">
                <a:latin typeface="Times New Roman" panose="02020603050405020304" pitchFamily="18" charset="0"/>
              </a:rPr>
              <a:pPr>
                <a:spcBef>
                  <a:spcPct val="0"/>
                </a:spcBef>
                <a:buClrTx/>
                <a:buFontTx/>
                <a:buNone/>
              </a:pPr>
              <a:t>62</a:t>
            </a:fld>
            <a:endParaRPr kumimoji="0" lang="ko-KR" altLang="ko-KR" sz="2400">
              <a:latin typeface="Times New Roman" panose="02020603050405020304" pitchFamily="18" charset="0"/>
            </a:endParaRPr>
          </a:p>
        </p:txBody>
      </p:sp>
      <p:pic>
        <p:nvPicPr>
          <p:cNvPr id="132100" name="그림 1">
            <a:extLst>
              <a:ext uri="{FF2B5EF4-FFF2-40B4-BE49-F238E27FC236}">
                <a16:creationId xmlns:a16="http://schemas.microsoft.com/office/drawing/2014/main" id="{EF70D30E-E599-47D7-A833-0438EB247B0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388" y="425450"/>
            <a:ext cx="5545137" cy="415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a:extLst>
              <a:ext uri="{FF2B5EF4-FFF2-40B4-BE49-F238E27FC236}">
                <a16:creationId xmlns:a16="http://schemas.microsoft.com/office/drawing/2014/main" id="{57FA1E10-3655-4E0B-AB3F-D03A1FF77982}"/>
              </a:ext>
            </a:extLst>
          </p:cNvPr>
          <p:cNvSpPr txBox="1">
            <a:spLocks/>
          </p:cNvSpPr>
          <p:nvPr/>
        </p:nvSpPr>
        <p:spPr>
          <a:xfrm>
            <a:off x="406400" y="152400"/>
            <a:ext cx="8204200" cy="838200"/>
          </a:xfrm>
          <a:prstGeom prst="rect">
            <a:avLst/>
          </a:prstGeom>
        </p:spPr>
        <p:txBody>
          <a:bodyPr/>
          <a:lstStyle>
            <a:lvl1pPr algn="l" rtl="0" eaLnBrk="0" fontAlgn="base" hangingPunct="0">
              <a:spcBef>
                <a:spcPct val="0"/>
              </a:spcBef>
              <a:spcAft>
                <a:spcPct val="0"/>
              </a:spcAft>
              <a:defRPr kumimoji="1" sz="2800">
                <a:solidFill>
                  <a:schemeClr val="tx2"/>
                </a:solidFill>
                <a:latin typeface="+mj-lt"/>
                <a:ea typeface="+mj-ea"/>
                <a:cs typeface="+mj-cs"/>
              </a:defRPr>
            </a:lvl1pPr>
            <a:lvl2pPr algn="l" rtl="0" eaLnBrk="0" fontAlgn="base" hangingPunct="0">
              <a:spcBef>
                <a:spcPct val="0"/>
              </a:spcBef>
              <a:spcAft>
                <a:spcPct val="0"/>
              </a:spcAft>
              <a:defRPr kumimoji="1" sz="2800">
                <a:solidFill>
                  <a:schemeClr val="tx2"/>
                </a:solidFill>
                <a:latin typeface="Arial Black" pitchFamily="34" charset="0"/>
              </a:defRPr>
            </a:lvl2pPr>
            <a:lvl3pPr algn="l" rtl="0" eaLnBrk="0" fontAlgn="base" hangingPunct="0">
              <a:spcBef>
                <a:spcPct val="0"/>
              </a:spcBef>
              <a:spcAft>
                <a:spcPct val="0"/>
              </a:spcAft>
              <a:defRPr kumimoji="1" sz="2800">
                <a:solidFill>
                  <a:schemeClr val="tx2"/>
                </a:solidFill>
                <a:latin typeface="Arial Black" pitchFamily="34" charset="0"/>
              </a:defRPr>
            </a:lvl3pPr>
            <a:lvl4pPr algn="l" rtl="0" eaLnBrk="0" fontAlgn="base" hangingPunct="0">
              <a:spcBef>
                <a:spcPct val="0"/>
              </a:spcBef>
              <a:spcAft>
                <a:spcPct val="0"/>
              </a:spcAft>
              <a:defRPr kumimoji="1" sz="2800">
                <a:solidFill>
                  <a:schemeClr val="tx2"/>
                </a:solidFill>
                <a:latin typeface="Arial Black" pitchFamily="34" charset="0"/>
              </a:defRPr>
            </a:lvl4pPr>
            <a:lvl5pPr algn="l" rtl="0" eaLnBrk="0" fontAlgn="base" hangingPunct="0">
              <a:spcBef>
                <a:spcPct val="0"/>
              </a:spcBef>
              <a:spcAft>
                <a:spcPct val="0"/>
              </a:spcAft>
              <a:defRPr kumimoji="1" sz="2800">
                <a:solidFill>
                  <a:schemeClr val="tx2"/>
                </a:solidFill>
                <a:latin typeface="Arial Black" pitchFamily="34" charset="0"/>
              </a:defRPr>
            </a:lvl5pPr>
            <a:lvl6pPr marL="457200" algn="l" rtl="0" eaLnBrk="0" fontAlgn="base" hangingPunct="0">
              <a:spcBef>
                <a:spcPct val="0"/>
              </a:spcBef>
              <a:spcAft>
                <a:spcPct val="0"/>
              </a:spcAft>
              <a:defRPr kumimoji="1" sz="2800">
                <a:solidFill>
                  <a:schemeClr val="tx2"/>
                </a:solidFill>
                <a:latin typeface="Arial Black" pitchFamily="34" charset="0"/>
              </a:defRPr>
            </a:lvl6pPr>
            <a:lvl7pPr marL="914400" algn="l" rtl="0" eaLnBrk="0" fontAlgn="base" hangingPunct="0">
              <a:spcBef>
                <a:spcPct val="0"/>
              </a:spcBef>
              <a:spcAft>
                <a:spcPct val="0"/>
              </a:spcAft>
              <a:defRPr kumimoji="1" sz="2800">
                <a:solidFill>
                  <a:schemeClr val="tx2"/>
                </a:solidFill>
                <a:latin typeface="Arial Black" pitchFamily="34" charset="0"/>
              </a:defRPr>
            </a:lvl7pPr>
            <a:lvl8pPr marL="1371600" algn="l" rtl="0" eaLnBrk="0" fontAlgn="base" hangingPunct="0">
              <a:spcBef>
                <a:spcPct val="0"/>
              </a:spcBef>
              <a:spcAft>
                <a:spcPct val="0"/>
              </a:spcAft>
              <a:defRPr kumimoji="1" sz="2800">
                <a:solidFill>
                  <a:schemeClr val="tx2"/>
                </a:solidFill>
                <a:latin typeface="Arial Black" pitchFamily="34" charset="0"/>
              </a:defRPr>
            </a:lvl8pPr>
            <a:lvl9pPr marL="1828800" algn="l" rtl="0" eaLnBrk="0" fontAlgn="base" hangingPunct="0">
              <a:spcBef>
                <a:spcPct val="0"/>
              </a:spcBef>
              <a:spcAft>
                <a:spcPct val="0"/>
              </a:spcAft>
              <a:defRPr kumimoji="1" sz="2800">
                <a:solidFill>
                  <a:schemeClr val="tx2"/>
                </a:solidFill>
                <a:latin typeface="Arial Black" pitchFamily="34" charset="0"/>
              </a:defRPr>
            </a:lvl9pPr>
          </a:lstStyle>
          <a:p>
            <a:pPr>
              <a:defRPr/>
            </a:pPr>
            <a:r>
              <a:rPr lang="en-US" altLang="ko-KR" kern="0" dirty="0">
                <a:ea typeface="굴림" panose="020B0600000101010101" pitchFamily="50" charset="-127"/>
              </a:rPr>
              <a:t>NAND flash</a:t>
            </a:r>
            <a:r>
              <a:rPr lang="ko-KR" altLang="en-US" kern="0" dirty="0">
                <a:ea typeface="굴림" panose="020B0600000101010101" pitchFamily="50" charset="-127"/>
              </a:rPr>
              <a:t> </a:t>
            </a:r>
            <a:r>
              <a:rPr lang="en-US" altLang="ko-KR" kern="0" dirty="0">
                <a:ea typeface="굴림" panose="020B0600000101010101" pitchFamily="50" charset="-127"/>
              </a:rPr>
              <a:t>data </a:t>
            </a:r>
            <a:r>
              <a:rPr lang="ko-KR" altLang="en-US" kern="0" dirty="0">
                <a:ea typeface="굴림" panose="020B0600000101010101" pitchFamily="50" charset="-127"/>
              </a:rPr>
              <a:t>읽기</a:t>
            </a:r>
            <a:endParaRPr lang="en-US" altLang="ko-KR" kern="0" dirty="0">
              <a:ea typeface="굴림" panose="020B0600000101010101" pitchFamily="50" charset="-127"/>
            </a:endParaRPr>
          </a:p>
        </p:txBody>
      </p:sp>
      <p:sp>
        <p:nvSpPr>
          <p:cNvPr id="3" name="직사각형 2">
            <a:extLst>
              <a:ext uri="{FF2B5EF4-FFF2-40B4-BE49-F238E27FC236}">
                <a16:creationId xmlns:a16="http://schemas.microsoft.com/office/drawing/2014/main" id="{C75C8660-2E2A-4FFB-A6AE-2AC71B0142E9}"/>
              </a:ext>
            </a:extLst>
          </p:cNvPr>
          <p:cNvSpPr/>
          <p:nvPr/>
        </p:nvSpPr>
        <p:spPr>
          <a:xfrm>
            <a:off x="250825" y="3860800"/>
            <a:ext cx="7827963" cy="2032000"/>
          </a:xfrm>
          <a:prstGeom prst="rect">
            <a:avLst/>
          </a:prstGeom>
        </p:spPr>
        <p:txBody>
          <a:bodyPr>
            <a:spAutoFit/>
          </a:bodyPr>
          <a:lstStyle/>
          <a:p>
            <a:pPr marL="285750" indent="-285750">
              <a:buFont typeface="Wingdings" panose="05000000000000000000" pitchFamily="2" charset="2"/>
              <a:buChar char="l"/>
              <a:defRPr/>
            </a:pPr>
            <a:r>
              <a:rPr lang="ko-KR" altLang="en-US" sz="1400" b="1" dirty="0">
                <a:latin typeface="맑은 고딕" panose="020B0503020000020004" pitchFamily="50" charset="-127"/>
                <a:ea typeface="맑은 고딕" panose="020B0503020000020004" pitchFamily="50" charset="-127"/>
              </a:rPr>
              <a:t>읽기 사례 </a:t>
            </a:r>
            <a:r>
              <a:rPr lang="en-US" altLang="ko-KR" sz="1400" b="1" dirty="0">
                <a:latin typeface="맑은 고딕" panose="020B0503020000020004" pitchFamily="50" charset="-127"/>
                <a:ea typeface="맑은 고딕" panose="020B0503020000020004" pitchFamily="50" charset="-127"/>
              </a:rPr>
              <a:t>:  word line 4</a:t>
            </a:r>
            <a:r>
              <a:rPr lang="ko-KR" altLang="en-US" sz="1400" b="1" dirty="0">
                <a:latin typeface="맑은 고딕" panose="020B0503020000020004" pitchFamily="50" charset="-127"/>
                <a:ea typeface="맑은 고딕" panose="020B0503020000020004" pitchFamily="50" charset="-127"/>
              </a:rPr>
              <a:t>의 값을 읽고자 하는 경우</a:t>
            </a:r>
            <a:r>
              <a:rPr lang="en-US" altLang="ko-KR" sz="1400" b="1" dirty="0">
                <a:latin typeface="맑은 고딕" panose="020B0503020000020004" pitchFamily="50" charset="-127"/>
                <a:ea typeface="맑은 고딕" panose="020B0503020000020004" pitchFamily="50" charset="-127"/>
              </a:rPr>
              <a:t>: </a:t>
            </a:r>
          </a:p>
          <a:p>
            <a:pPr marL="171450" indent="-171450">
              <a:defRPr/>
            </a:pPr>
            <a:endParaRPr lang="en-US" altLang="ko-KR" sz="1400" b="1" dirty="0">
              <a:latin typeface="맑은 고딕" panose="020B0503020000020004" pitchFamily="50" charset="-127"/>
              <a:ea typeface="맑은 고딕" panose="020B0503020000020004" pitchFamily="50" charset="-127"/>
            </a:endParaRPr>
          </a:p>
          <a:p>
            <a:pPr marL="342900" indent="-342900">
              <a:buFontTx/>
              <a:buAutoNum type="arabicPeriod"/>
              <a:defRPr/>
            </a:pPr>
            <a:r>
              <a:rPr lang="en-US" altLang="ko-KR" sz="1400" b="1" dirty="0">
                <a:latin typeface="맑은 고딕" panose="020B0503020000020004" pitchFamily="50" charset="-127"/>
                <a:ea typeface="맑은 고딕" panose="020B0503020000020004" pitchFamily="50" charset="-127"/>
              </a:rPr>
              <a:t>word line 4</a:t>
            </a:r>
            <a:r>
              <a:rPr lang="ko-KR" altLang="en-US" sz="1400" b="1" dirty="0">
                <a:latin typeface="맑은 고딕" panose="020B0503020000020004" pitchFamily="50" charset="-127"/>
                <a:ea typeface="맑은 고딕" panose="020B0503020000020004" pitchFamily="50" charset="-127"/>
              </a:rPr>
              <a:t>를 제외한 나머지 </a:t>
            </a:r>
            <a:r>
              <a:rPr lang="en-US" altLang="ko-KR" sz="1400" b="1" dirty="0">
                <a:latin typeface="맑은 고딕" panose="020B0503020000020004" pitchFamily="50" charset="-127"/>
                <a:ea typeface="맑은 고딕" panose="020B0503020000020004" pitchFamily="50" charset="-127"/>
              </a:rPr>
              <a:t>word line</a:t>
            </a:r>
            <a:r>
              <a:rPr lang="ko-KR" altLang="en-US" sz="1400" b="1" dirty="0">
                <a:latin typeface="맑은 고딕" panose="020B0503020000020004" pitchFamily="50" charset="-127"/>
                <a:ea typeface="맑은 고딕" panose="020B0503020000020004" pitchFamily="50" charset="-127"/>
              </a:rPr>
              <a:t>에 높은 </a:t>
            </a:r>
            <a:r>
              <a:rPr lang="en-US" altLang="ko-KR" sz="1400" b="1" dirty="0">
                <a:latin typeface="맑은 고딕" panose="020B0503020000020004" pitchFamily="50" charset="-127"/>
                <a:ea typeface="맑은 고딕" panose="020B0503020000020004" pitchFamily="50" charset="-127"/>
              </a:rPr>
              <a:t>VT</a:t>
            </a:r>
            <a:r>
              <a:rPr lang="ko-KR" altLang="en-US" sz="1400" b="1" dirty="0">
                <a:latin typeface="맑은 고딕" panose="020B0503020000020004" pitchFamily="50" charset="-127"/>
                <a:ea typeface="맑은 고딕" panose="020B0503020000020004" pitchFamily="50" charset="-127"/>
              </a:rPr>
              <a:t>를 인가함</a:t>
            </a:r>
            <a:r>
              <a:rPr lang="en-US" altLang="ko-KR" sz="1400" b="1" dirty="0">
                <a:latin typeface="맑은 고딕" panose="020B0503020000020004" pitchFamily="50" charset="-127"/>
                <a:ea typeface="맑은 고딕" panose="020B0503020000020004" pitchFamily="50" charset="-127"/>
              </a:rPr>
              <a:t>(6V </a:t>
            </a:r>
            <a:r>
              <a:rPr lang="ko-KR" altLang="en-US" sz="1400" b="1" dirty="0">
                <a:latin typeface="맑은 고딕" panose="020B0503020000020004" pitchFamily="50" charset="-127"/>
                <a:ea typeface="맑은 고딕" panose="020B0503020000020004" pitchFamily="50" charset="-127"/>
              </a:rPr>
              <a:t>이상</a:t>
            </a:r>
            <a:r>
              <a:rPr lang="en-US" altLang="ko-KR" sz="1400" b="1" dirty="0">
                <a:latin typeface="맑은 고딕" panose="020B0503020000020004" pitchFamily="50" charset="-127"/>
                <a:ea typeface="맑은 고딕" panose="020B0503020000020004" pitchFamily="50" charset="-127"/>
              </a:rPr>
              <a:t>) </a:t>
            </a:r>
            <a:r>
              <a:rPr lang="en-US" altLang="ko-KR" sz="1400" b="1" dirty="0">
                <a:latin typeface="맑은 고딕" panose="020B0503020000020004" pitchFamily="50" charset="-127"/>
                <a:ea typeface="맑은 고딕" panose="020B0503020000020004" pitchFamily="50" charset="-127"/>
                <a:sym typeface="Wingdings" panose="05000000000000000000" pitchFamily="2" charset="2"/>
              </a:rPr>
              <a:t> 6V</a:t>
            </a:r>
            <a:r>
              <a:rPr lang="ko-KR" altLang="en-US" sz="1400" b="1" dirty="0">
                <a:latin typeface="맑은 고딕" panose="020B0503020000020004" pitchFamily="50" charset="-127"/>
                <a:ea typeface="맑은 고딕" panose="020B0503020000020004" pitchFamily="50" charset="-127"/>
                <a:sym typeface="Wingdings" panose="05000000000000000000" pitchFamily="2" charset="2"/>
              </a:rPr>
              <a:t> 정도에서는 </a:t>
            </a:r>
            <a:r>
              <a:rPr lang="en-US" altLang="ko-KR" sz="1400" b="1" dirty="0">
                <a:latin typeface="맑은 고딕" panose="020B0503020000020004" pitchFamily="50" charset="-127"/>
                <a:ea typeface="맑은 고딕" panose="020B0503020000020004" pitchFamily="50" charset="-127"/>
                <a:sym typeface="Wingdings" panose="05000000000000000000" pitchFamily="2" charset="2"/>
              </a:rPr>
              <a:t>state “1”</a:t>
            </a:r>
            <a:r>
              <a:rPr lang="ko-KR" altLang="en-US" sz="1400" b="1" dirty="0">
                <a:latin typeface="맑은 고딕" panose="020B0503020000020004" pitchFamily="50" charset="-127"/>
                <a:ea typeface="맑은 고딕" panose="020B0503020000020004" pitchFamily="50" charset="-127"/>
                <a:sym typeface="Wingdings" panose="05000000000000000000" pitchFamily="2" charset="2"/>
              </a:rPr>
              <a:t>이든 </a:t>
            </a:r>
            <a:r>
              <a:rPr lang="en-US" altLang="ko-KR" sz="1400" b="1" dirty="0">
                <a:latin typeface="맑은 고딕" panose="020B0503020000020004" pitchFamily="50" charset="-127"/>
                <a:ea typeface="맑은 고딕" panose="020B0503020000020004" pitchFamily="50" charset="-127"/>
                <a:sym typeface="Wingdings" panose="05000000000000000000" pitchFamily="2" charset="2"/>
              </a:rPr>
              <a:t>state “0”</a:t>
            </a:r>
            <a:r>
              <a:rPr lang="ko-KR" altLang="en-US" sz="1400" b="1" dirty="0">
                <a:latin typeface="맑은 고딕" panose="020B0503020000020004" pitchFamily="50" charset="-127"/>
                <a:ea typeface="맑은 고딕" panose="020B0503020000020004" pitchFamily="50" charset="-127"/>
                <a:sym typeface="Wingdings" panose="05000000000000000000" pitchFamily="2" charset="2"/>
              </a:rPr>
              <a:t>이든 모두 </a:t>
            </a:r>
            <a:r>
              <a:rPr lang="en-US" altLang="ko-KR" sz="1400" b="1" dirty="0">
                <a:latin typeface="맑은 고딕" panose="020B0503020000020004" pitchFamily="50" charset="-127"/>
                <a:ea typeface="맑은 고딕" panose="020B0503020000020004" pitchFamily="50" charset="-127"/>
                <a:sym typeface="Wingdings" panose="05000000000000000000" pitchFamily="2" charset="2"/>
              </a:rPr>
              <a:t>CH</a:t>
            </a:r>
            <a:r>
              <a:rPr lang="ko-KR" altLang="en-US" sz="1400" b="1" dirty="0">
                <a:latin typeface="맑은 고딕" panose="020B0503020000020004" pitchFamily="50" charset="-127"/>
                <a:ea typeface="맑은 고딕" panose="020B0503020000020004" pitchFamily="50" charset="-127"/>
                <a:sym typeface="Wingdings" panose="05000000000000000000" pitchFamily="2" charset="2"/>
              </a:rPr>
              <a:t>이 </a:t>
            </a:r>
            <a:r>
              <a:rPr lang="en-US" altLang="ko-KR" sz="1400" b="1" dirty="0">
                <a:latin typeface="맑은 고딕" panose="020B0503020000020004" pitchFamily="50" charset="-127"/>
                <a:ea typeface="맑은 고딕" panose="020B0503020000020004" pitchFamily="50" charset="-127"/>
                <a:sym typeface="Wingdings" panose="05000000000000000000" pitchFamily="2" charset="2"/>
              </a:rPr>
              <a:t>ON</a:t>
            </a:r>
            <a:r>
              <a:rPr lang="ko-KR" altLang="en-US" sz="1400" b="1" dirty="0">
                <a:latin typeface="맑은 고딕" panose="020B0503020000020004" pitchFamily="50" charset="-127"/>
                <a:ea typeface="맑은 고딕" panose="020B0503020000020004" pitchFamily="50" charset="-127"/>
                <a:sym typeface="Wingdings" panose="05000000000000000000" pitchFamily="2" charset="2"/>
              </a:rPr>
              <a:t>이 됨 </a:t>
            </a:r>
            <a:r>
              <a:rPr lang="en-US" altLang="ko-KR" sz="1400" b="1" dirty="0">
                <a:latin typeface="맑은 고딕" panose="020B0503020000020004" pitchFamily="50" charset="-127"/>
                <a:ea typeface="맑은 고딕" panose="020B0503020000020004" pitchFamily="50" charset="-127"/>
                <a:sym typeface="Wingdings" panose="05000000000000000000" pitchFamily="2" charset="2"/>
              </a:rPr>
              <a:t> word line 4</a:t>
            </a:r>
            <a:r>
              <a:rPr lang="ko-KR" altLang="en-US" sz="1400" b="1" dirty="0">
                <a:latin typeface="맑은 고딕" panose="020B0503020000020004" pitchFamily="50" charset="-127"/>
                <a:ea typeface="맑은 고딕" panose="020B0503020000020004" pitchFamily="50" charset="-127"/>
                <a:sym typeface="Wingdings" panose="05000000000000000000" pitchFamily="2" charset="2"/>
              </a:rPr>
              <a:t>을 읽기 위한 준비 끝</a:t>
            </a:r>
            <a:r>
              <a:rPr lang="en-US" altLang="ko-KR" sz="1400" b="1" dirty="0">
                <a:latin typeface="맑은 고딕" panose="020B0503020000020004" pitchFamily="50" charset="-127"/>
                <a:ea typeface="맑은 고딕" panose="020B0503020000020004" pitchFamily="50" charset="-127"/>
                <a:sym typeface="Wingdings" panose="05000000000000000000" pitchFamily="2" charset="2"/>
              </a:rPr>
              <a:t>~ </a:t>
            </a:r>
            <a:endParaRPr lang="en-US" altLang="ko-KR" sz="1400" b="1" dirty="0">
              <a:latin typeface="맑은 고딕" panose="020B0503020000020004" pitchFamily="50" charset="-127"/>
              <a:ea typeface="맑은 고딕" panose="020B0503020000020004" pitchFamily="50" charset="-127"/>
            </a:endParaRPr>
          </a:p>
          <a:p>
            <a:pPr marL="342900" indent="-342900">
              <a:buFontTx/>
              <a:buAutoNum type="arabicPeriod"/>
              <a:defRPr/>
            </a:pPr>
            <a:r>
              <a:rPr lang="en-US" altLang="ko-KR" sz="1400" b="1" dirty="0">
                <a:latin typeface="맑은 고딕" panose="020B0503020000020004" pitchFamily="50" charset="-127"/>
                <a:ea typeface="맑은 고딕" panose="020B0503020000020004" pitchFamily="50" charset="-127"/>
              </a:rPr>
              <a:t>word line 4</a:t>
            </a:r>
            <a:r>
              <a:rPr lang="ko-KR" altLang="en-US" sz="1400" b="1" dirty="0">
                <a:latin typeface="맑은 고딕" panose="020B0503020000020004" pitchFamily="50" charset="-127"/>
                <a:ea typeface="맑은 고딕" panose="020B0503020000020004" pitchFamily="50" charset="-127"/>
              </a:rPr>
              <a:t>에 낮은 </a:t>
            </a:r>
            <a:r>
              <a:rPr lang="en-US" altLang="ko-KR" sz="1400" b="1" dirty="0">
                <a:latin typeface="맑은 고딕" panose="020B0503020000020004" pitchFamily="50" charset="-127"/>
                <a:ea typeface="맑은 고딕" panose="020B0503020000020004" pitchFamily="50" charset="-127"/>
              </a:rPr>
              <a:t>VT</a:t>
            </a:r>
            <a:r>
              <a:rPr lang="ko-KR" altLang="en-US" sz="1400" b="1" dirty="0">
                <a:latin typeface="맑은 고딕" panose="020B0503020000020004" pitchFamily="50" charset="-127"/>
                <a:ea typeface="맑은 고딕" panose="020B0503020000020004" pitchFamily="50" charset="-127"/>
              </a:rPr>
              <a:t>를 인가함</a:t>
            </a:r>
            <a:r>
              <a:rPr lang="en-US" altLang="ko-KR" sz="1400" b="1" dirty="0">
                <a:latin typeface="맑은 고딕" panose="020B0503020000020004" pitchFamily="50" charset="-127"/>
                <a:ea typeface="맑은 고딕" panose="020B0503020000020004" pitchFamily="50" charset="-127"/>
              </a:rPr>
              <a:t>(2.5V)</a:t>
            </a:r>
          </a:p>
          <a:p>
            <a:pPr marL="538163" indent="-177800">
              <a:buFont typeface="Arial" panose="020B0604020202020204" pitchFamily="34" charset="0"/>
              <a:buChar char="•"/>
              <a:defRPr/>
            </a:pPr>
            <a:r>
              <a:rPr lang="ko-KR" altLang="en-US" sz="1400" b="1" dirty="0">
                <a:solidFill>
                  <a:srgbClr val="3333CC"/>
                </a:solidFill>
                <a:latin typeface="맑은 고딕" panose="020B0503020000020004" pitchFamily="50" charset="-127"/>
                <a:ea typeface="맑은 고딕" panose="020B0503020000020004" pitchFamily="50" charset="-127"/>
              </a:rPr>
              <a:t>만약 </a:t>
            </a:r>
            <a:r>
              <a:rPr lang="en-US" altLang="ko-KR" sz="1400" b="1" dirty="0">
                <a:solidFill>
                  <a:srgbClr val="3333CC"/>
                </a:solidFill>
                <a:latin typeface="맑은 고딕" panose="020B0503020000020004" pitchFamily="50" charset="-127"/>
                <a:ea typeface="맑은 고딕" panose="020B0503020000020004" pitchFamily="50" charset="-127"/>
              </a:rPr>
              <a:t>CH</a:t>
            </a:r>
            <a:r>
              <a:rPr lang="ko-KR" altLang="en-US" sz="1400" b="1" dirty="0">
                <a:solidFill>
                  <a:srgbClr val="3333CC"/>
                </a:solidFill>
                <a:latin typeface="맑은 고딕" panose="020B0503020000020004" pitchFamily="50" charset="-127"/>
                <a:ea typeface="맑은 고딕" panose="020B0503020000020004" pitchFamily="50" charset="-127"/>
              </a:rPr>
              <a:t>이 </a:t>
            </a:r>
            <a:r>
              <a:rPr lang="en-US" altLang="ko-KR" sz="1400" b="1" dirty="0">
                <a:solidFill>
                  <a:srgbClr val="3333CC"/>
                </a:solidFill>
                <a:latin typeface="맑은 고딕" panose="020B0503020000020004" pitchFamily="50" charset="-127"/>
                <a:ea typeface="맑은 고딕" panose="020B0503020000020004" pitchFamily="50" charset="-127"/>
              </a:rPr>
              <a:t>ON</a:t>
            </a:r>
            <a:r>
              <a:rPr lang="ko-KR" altLang="en-US" sz="1400" b="1" dirty="0">
                <a:solidFill>
                  <a:srgbClr val="3333CC"/>
                </a:solidFill>
                <a:latin typeface="맑은 고딕" panose="020B0503020000020004" pitchFamily="50" charset="-127"/>
                <a:ea typeface="맑은 고딕" panose="020B0503020000020004" pitchFamily="50" charset="-127"/>
              </a:rPr>
              <a:t>이 되면</a:t>
            </a:r>
            <a:r>
              <a:rPr lang="en-US" altLang="ko-KR" sz="1400" b="1" dirty="0">
                <a:solidFill>
                  <a:srgbClr val="3333CC"/>
                </a:solidFill>
                <a:latin typeface="맑은 고딕" panose="020B0503020000020004" pitchFamily="50" charset="-127"/>
                <a:ea typeface="맑은 고딕" panose="020B0503020000020004" pitchFamily="50" charset="-127"/>
              </a:rPr>
              <a:t>, FG</a:t>
            </a:r>
            <a:r>
              <a:rPr lang="ko-KR" altLang="en-US" sz="1400" b="1" dirty="0">
                <a:solidFill>
                  <a:srgbClr val="3333CC"/>
                </a:solidFill>
                <a:latin typeface="맑은 고딕" panose="020B0503020000020004" pitchFamily="50" charset="-127"/>
                <a:ea typeface="맑은 고딕" panose="020B0503020000020004" pitchFamily="50" charset="-127"/>
              </a:rPr>
              <a:t>에 전자가 없는</a:t>
            </a:r>
            <a:r>
              <a:rPr lang="en-US" altLang="ko-KR" sz="1400" b="1" dirty="0">
                <a:solidFill>
                  <a:srgbClr val="3333CC"/>
                </a:solidFill>
                <a:latin typeface="맑은 고딕" panose="020B0503020000020004" pitchFamily="50" charset="-127"/>
                <a:ea typeface="맑은 고딕" panose="020B0503020000020004" pitchFamily="50" charset="-127"/>
              </a:rPr>
              <a:t>(program </a:t>
            </a:r>
            <a:r>
              <a:rPr lang="ko-KR" altLang="en-US" sz="1400" b="1" dirty="0">
                <a:solidFill>
                  <a:srgbClr val="3333CC"/>
                </a:solidFill>
                <a:latin typeface="맑은 고딕" panose="020B0503020000020004" pitchFamily="50" charset="-127"/>
                <a:ea typeface="맑은 고딕" panose="020B0503020000020004" pitchFamily="50" charset="-127"/>
              </a:rPr>
              <a:t>되지 않은</a:t>
            </a:r>
            <a:r>
              <a:rPr lang="en-US" altLang="ko-KR" sz="1400" b="1" dirty="0">
                <a:solidFill>
                  <a:srgbClr val="3333CC"/>
                </a:solidFill>
                <a:latin typeface="맑은 고딕" panose="020B0503020000020004" pitchFamily="50" charset="-127"/>
                <a:ea typeface="맑은 고딕" panose="020B0503020000020004" pitchFamily="50" charset="-127"/>
              </a:rPr>
              <a:t>)</a:t>
            </a:r>
            <a:r>
              <a:rPr lang="ko-KR" altLang="en-US" sz="1400" b="1" dirty="0">
                <a:solidFill>
                  <a:srgbClr val="3333CC"/>
                </a:solidFill>
                <a:latin typeface="맑은 고딕" panose="020B0503020000020004" pitchFamily="50" charset="-127"/>
                <a:ea typeface="맑은 고딕" panose="020B0503020000020004" pitchFamily="50" charset="-127"/>
              </a:rPr>
              <a:t> </a:t>
            </a:r>
            <a:r>
              <a:rPr lang="en-US" altLang="ko-KR" sz="1400" b="1" dirty="0">
                <a:solidFill>
                  <a:srgbClr val="3333CC"/>
                </a:solidFill>
                <a:latin typeface="맑은 고딕" panose="020B0503020000020004" pitchFamily="50" charset="-127"/>
                <a:ea typeface="맑은 고딕" panose="020B0503020000020004" pitchFamily="50" charset="-127"/>
              </a:rPr>
              <a:t>state “1”</a:t>
            </a:r>
            <a:r>
              <a:rPr lang="ko-KR" altLang="en-US" sz="1400" b="1" dirty="0">
                <a:solidFill>
                  <a:srgbClr val="3333CC"/>
                </a:solidFill>
                <a:latin typeface="맑은 고딕" panose="020B0503020000020004" pitchFamily="50" charset="-127"/>
                <a:ea typeface="맑은 고딕" panose="020B0503020000020004" pitchFamily="50" charset="-127"/>
              </a:rPr>
              <a:t>이라는 것을 의미함</a:t>
            </a:r>
            <a:endParaRPr lang="en-US" altLang="ko-KR" sz="1400" b="1" dirty="0">
              <a:solidFill>
                <a:srgbClr val="3333CC"/>
              </a:solidFill>
              <a:latin typeface="맑은 고딕" panose="020B0503020000020004" pitchFamily="50" charset="-127"/>
              <a:ea typeface="맑은 고딕" panose="020B0503020000020004" pitchFamily="50" charset="-127"/>
            </a:endParaRPr>
          </a:p>
          <a:p>
            <a:pPr marL="538163" indent="-177800">
              <a:buFont typeface="Arial" panose="020B0604020202020204" pitchFamily="34" charset="0"/>
              <a:buChar char="•"/>
              <a:defRPr/>
            </a:pPr>
            <a:r>
              <a:rPr lang="ko-KR" altLang="en-US" sz="1400" b="1" dirty="0">
                <a:solidFill>
                  <a:srgbClr val="3333CC"/>
                </a:solidFill>
                <a:latin typeface="맑은 고딕" panose="020B0503020000020004" pitchFamily="50" charset="-127"/>
                <a:ea typeface="맑은 고딕" panose="020B0503020000020004" pitchFamily="50" charset="-127"/>
              </a:rPr>
              <a:t>낮은 </a:t>
            </a:r>
            <a:r>
              <a:rPr lang="en-US" altLang="ko-KR" sz="1400" b="1" dirty="0">
                <a:solidFill>
                  <a:srgbClr val="3333CC"/>
                </a:solidFill>
                <a:latin typeface="맑은 고딕" panose="020B0503020000020004" pitchFamily="50" charset="-127"/>
                <a:ea typeface="맑은 고딕" panose="020B0503020000020004" pitchFamily="50" charset="-127"/>
              </a:rPr>
              <a:t>VT(2.5V)</a:t>
            </a:r>
            <a:r>
              <a:rPr lang="ko-KR" altLang="en-US" sz="1400" b="1" dirty="0">
                <a:solidFill>
                  <a:srgbClr val="3333CC"/>
                </a:solidFill>
                <a:latin typeface="맑은 고딕" panose="020B0503020000020004" pitchFamily="50" charset="-127"/>
                <a:ea typeface="맑은 고딕" panose="020B0503020000020004" pitchFamily="50" charset="-127"/>
              </a:rPr>
              <a:t>가</a:t>
            </a:r>
            <a:r>
              <a:rPr lang="en-US" altLang="ko-KR" sz="1400" b="1" dirty="0">
                <a:solidFill>
                  <a:srgbClr val="3333CC"/>
                </a:solidFill>
                <a:latin typeface="맑은 고딕" panose="020B0503020000020004" pitchFamily="50" charset="-127"/>
                <a:ea typeface="맑은 고딕" panose="020B0503020000020004" pitchFamily="50" charset="-127"/>
              </a:rPr>
              <a:t> </a:t>
            </a:r>
            <a:r>
              <a:rPr lang="ko-KR" altLang="en-US" sz="1400" b="1" dirty="0">
                <a:solidFill>
                  <a:srgbClr val="3333CC"/>
                </a:solidFill>
                <a:latin typeface="맑은 고딕" panose="020B0503020000020004" pitchFamily="50" charset="-127"/>
                <a:ea typeface="맑은 고딕" panose="020B0503020000020004" pitchFamily="50" charset="-127"/>
              </a:rPr>
              <a:t>인가된 경우</a:t>
            </a:r>
            <a:r>
              <a:rPr lang="en-US" altLang="ko-KR" sz="1400" b="1" dirty="0">
                <a:solidFill>
                  <a:srgbClr val="3333CC"/>
                </a:solidFill>
                <a:latin typeface="맑은 고딕" panose="020B0503020000020004" pitchFamily="50" charset="-127"/>
                <a:ea typeface="맑은 고딕" panose="020B0503020000020004" pitchFamily="50" charset="-127"/>
              </a:rPr>
              <a:t>,</a:t>
            </a:r>
            <a:r>
              <a:rPr lang="ko-KR" altLang="en-US" sz="1400" b="1" dirty="0">
                <a:solidFill>
                  <a:srgbClr val="3333CC"/>
                </a:solidFill>
                <a:latin typeface="맑은 고딕" panose="020B0503020000020004" pitchFamily="50" charset="-127"/>
                <a:ea typeface="맑은 고딕" panose="020B0503020000020004" pitchFamily="50" charset="-127"/>
              </a:rPr>
              <a:t> </a:t>
            </a:r>
            <a:r>
              <a:rPr lang="en-US" altLang="ko-KR" sz="1400" b="1" dirty="0">
                <a:solidFill>
                  <a:srgbClr val="3333CC"/>
                </a:solidFill>
                <a:latin typeface="맑은 고딕" panose="020B0503020000020004" pitchFamily="50" charset="-127"/>
                <a:ea typeface="맑은 고딕" panose="020B0503020000020004" pitchFamily="50" charset="-127"/>
              </a:rPr>
              <a:t>CH</a:t>
            </a:r>
            <a:r>
              <a:rPr lang="ko-KR" altLang="en-US" sz="1400" b="1" dirty="0">
                <a:solidFill>
                  <a:srgbClr val="3333CC"/>
                </a:solidFill>
                <a:latin typeface="맑은 고딕" panose="020B0503020000020004" pitchFamily="50" charset="-127"/>
                <a:ea typeface="맑은 고딕" panose="020B0503020000020004" pitchFamily="50" charset="-127"/>
              </a:rPr>
              <a:t>이 </a:t>
            </a:r>
            <a:r>
              <a:rPr lang="en-US" altLang="ko-KR" sz="1400" b="1" dirty="0">
                <a:solidFill>
                  <a:srgbClr val="3333CC"/>
                </a:solidFill>
                <a:latin typeface="맑은 고딕" panose="020B0503020000020004" pitchFamily="50" charset="-127"/>
                <a:ea typeface="맑은 고딕" panose="020B0503020000020004" pitchFamily="50" charset="-127"/>
              </a:rPr>
              <a:t>ON</a:t>
            </a:r>
            <a:r>
              <a:rPr lang="ko-KR" altLang="en-US" sz="1400" b="1" dirty="0">
                <a:solidFill>
                  <a:srgbClr val="3333CC"/>
                </a:solidFill>
                <a:latin typeface="맑은 고딕" panose="020B0503020000020004" pitchFamily="50" charset="-127"/>
                <a:ea typeface="맑은 고딕" panose="020B0503020000020004" pitchFamily="50" charset="-127"/>
              </a:rPr>
              <a:t>되지 않으면</a:t>
            </a:r>
            <a:r>
              <a:rPr lang="en-US" altLang="ko-KR" sz="1400" b="1" dirty="0">
                <a:solidFill>
                  <a:srgbClr val="3333CC"/>
                </a:solidFill>
                <a:latin typeface="맑은 고딕" panose="020B0503020000020004" pitchFamily="50" charset="-127"/>
                <a:ea typeface="맑은 고딕" panose="020B0503020000020004" pitchFamily="50" charset="-127"/>
              </a:rPr>
              <a:t>, state “0”</a:t>
            </a:r>
            <a:r>
              <a:rPr lang="ko-KR" altLang="en-US" sz="1400" b="1" dirty="0">
                <a:solidFill>
                  <a:srgbClr val="3333CC"/>
                </a:solidFill>
                <a:latin typeface="맑은 고딕" panose="020B0503020000020004" pitchFamily="50" charset="-127"/>
                <a:ea typeface="맑은 고딕" panose="020B0503020000020004" pitchFamily="50" charset="-127"/>
              </a:rPr>
              <a:t>이라는 것을 의미함  </a:t>
            </a:r>
            <a:endParaRPr lang="en-US" altLang="ko-KR" sz="1400" b="1" dirty="0">
              <a:solidFill>
                <a:srgbClr val="3333CC"/>
              </a:solidFill>
              <a:latin typeface="맑은 고딕" panose="020B0503020000020004" pitchFamily="50" charset="-127"/>
              <a:ea typeface="맑은 고딕" panose="020B0503020000020004" pitchFamily="50" charset="-127"/>
            </a:endParaRPr>
          </a:p>
          <a:p>
            <a:pPr>
              <a:defRPr/>
            </a:pPr>
            <a:endParaRPr lang="en-US" altLang="ko-KR" sz="1400" b="1" dirty="0">
              <a:solidFill>
                <a:srgbClr val="3333CC"/>
              </a:solidFill>
              <a:latin typeface="맑은 고딕" panose="020B0503020000020004" pitchFamily="50" charset="-127"/>
              <a:ea typeface="맑은 고딕" panose="020B0503020000020004" pitchFamily="50" charset="-127"/>
            </a:endParaRPr>
          </a:p>
        </p:txBody>
      </p:sp>
      <p:pic>
        <p:nvPicPr>
          <p:cNvPr id="132103" name="그림 2">
            <a:extLst>
              <a:ext uri="{FF2B5EF4-FFF2-40B4-BE49-F238E27FC236}">
                <a16:creationId xmlns:a16="http://schemas.microsoft.com/office/drawing/2014/main" id="{DD941870-FB4B-4216-889A-85275A71F2A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11863" y="2300288"/>
            <a:ext cx="2339975" cy="150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104" name="타원 1">
            <a:extLst>
              <a:ext uri="{FF2B5EF4-FFF2-40B4-BE49-F238E27FC236}">
                <a16:creationId xmlns:a16="http://schemas.microsoft.com/office/drawing/2014/main" id="{E346B480-C2EF-46D8-BCFD-CB0CEF067ED3}"/>
              </a:ext>
            </a:extLst>
          </p:cNvPr>
          <p:cNvSpPr>
            <a:spLocks noChangeArrowheads="1"/>
          </p:cNvSpPr>
          <p:nvPr/>
        </p:nvSpPr>
        <p:spPr bwMode="auto">
          <a:xfrm>
            <a:off x="2916238" y="1125538"/>
            <a:ext cx="576262" cy="2232025"/>
          </a:xfrm>
          <a:prstGeom prst="ellipse">
            <a:avLst/>
          </a:prstGeom>
          <a:noFill/>
          <a:ln w="38100"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ko-KR" altLang="en-US" sz="2400">
              <a:latin typeface="Times New Roman" panose="02020603050405020304" pitchFamily="18" charset="0"/>
              <a:ea typeface="굴림" panose="020B0600000101010101" pitchFamily="50" charset="-127"/>
            </a:endParaRPr>
          </a:p>
        </p:txBody>
      </p:sp>
      <p:sp>
        <p:nvSpPr>
          <p:cNvPr id="132105" name="TextBox 3">
            <a:extLst>
              <a:ext uri="{FF2B5EF4-FFF2-40B4-BE49-F238E27FC236}">
                <a16:creationId xmlns:a16="http://schemas.microsoft.com/office/drawing/2014/main" id="{93B7892E-D697-49BD-8246-F7952E88437E}"/>
              </a:ext>
            </a:extLst>
          </p:cNvPr>
          <p:cNvSpPr txBox="1">
            <a:spLocks noChangeArrowheads="1"/>
          </p:cNvSpPr>
          <p:nvPr/>
        </p:nvSpPr>
        <p:spPr bwMode="auto">
          <a:xfrm>
            <a:off x="323850" y="6092825"/>
            <a:ext cx="4968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200">
                <a:latin typeface="Times New Roman" panose="02020603050405020304" pitchFamily="18" charset="0"/>
                <a:ea typeface="굴림" panose="020B0600000101010101" pitchFamily="50" charset="-127"/>
              </a:rPr>
              <a:t>* </a:t>
            </a:r>
            <a:r>
              <a:rPr kumimoji="0" lang="ko-KR" altLang="en-US" sz="1200">
                <a:latin typeface="Times New Roman" panose="02020603050405020304" pitchFamily="18" charset="0"/>
                <a:ea typeface="굴림" panose="020B0600000101010101" pitchFamily="50" charset="-127"/>
              </a:rPr>
              <a:t>쓰기는 더욱</a:t>
            </a:r>
            <a:r>
              <a:rPr kumimoji="0" lang="en-US" altLang="ko-KR" sz="1200">
                <a:latin typeface="Times New Roman" panose="02020603050405020304" pitchFamily="18" charset="0"/>
                <a:ea typeface="굴림" panose="020B0600000101010101" pitchFamily="50" charset="-127"/>
              </a:rPr>
              <a:t> </a:t>
            </a:r>
            <a:r>
              <a:rPr kumimoji="0" lang="ko-KR" altLang="en-US" sz="1200">
                <a:latin typeface="Times New Roman" panose="02020603050405020304" pitchFamily="18" charset="0"/>
                <a:ea typeface="굴림" panose="020B0600000101010101" pitchFamily="50" charset="-127"/>
              </a:rPr>
              <a:t>단순함</a:t>
            </a:r>
            <a:r>
              <a:rPr kumimoji="0" lang="en-US" altLang="ko-KR" sz="1200">
                <a:latin typeface="Times New Roman" panose="02020603050405020304" pitchFamily="18" charset="0"/>
                <a:ea typeface="굴림" panose="020B0600000101010101" pitchFamily="50" charset="-127"/>
              </a:rPr>
              <a:t>: </a:t>
            </a:r>
            <a:r>
              <a:rPr kumimoji="0" lang="ko-KR" altLang="en-US" sz="1200">
                <a:latin typeface="Times New Roman" panose="02020603050405020304" pitchFamily="18" charset="0"/>
                <a:ea typeface="굴림" panose="020B0600000101010101" pitchFamily="50" charset="-127"/>
              </a:rPr>
              <a:t>매우 높은 </a:t>
            </a:r>
            <a:r>
              <a:rPr kumimoji="0" lang="en-US" altLang="ko-KR" sz="1200">
                <a:latin typeface="Times New Roman" panose="02020603050405020304" pitchFamily="18" charset="0"/>
                <a:ea typeface="굴림" panose="020B0600000101010101" pitchFamily="50" charset="-127"/>
              </a:rPr>
              <a:t>VT</a:t>
            </a:r>
            <a:r>
              <a:rPr kumimoji="0" lang="ko-KR" altLang="en-US" sz="1200">
                <a:latin typeface="Times New Roman" panose="02020603050405020304" pitchFamily="18" charset="0"/>
                <a:ea typeface="굴림" panose="020B0600000101010101" pitchFamily="50" charset="-127"/>
              </a:rPr>
              <a:t>를 인가하면 됨</a:t>
            </a:r>
            <a:r>
              <a:rPr kumimoji="0" lang="en-US" altLang="ko-KR" sz="1200">
                <a:latin typeface="Times New Roman" panose="02020603050405020304" pitchFamily="18" charset="0"/>
                <a:ea typeface="굴림" panose="020B0600000101010101" pitchFamily="50" charset="-127"/>
              </a:rPr>
              <a:t>(FG</a:t>
            </a:r>
            <a:r>
              <a:rPr kumimoji="0" lang="ko-KR" altLang="en-US" sz="1200">
                <a:latin typeface="Times New Roman" panose="02020603050405020304" pitchFamily="18" charset="0"/>
                <a:ea typeface="굴림" panose="020B0600000101010101" pitchFamily="50" charset="-127"/>
              </a:rPr>
              <a:t>에 전자를 </a:t>
            </a:r>
            <a:r>
              <a:rPr kumimoji="0" lang="en-US" altLang="ko-KR" sz="1200">
                <a:latin typeface="Times New Roman" panose="02020603050405020304" pitchFamily="18" charset="0"/>
                <a:ea typeface="굴림" panose="020B0600000101010101" pitchFamily="50" charset="-127"/>
              </a:rPr>
              <a:t>trap</a:t>
            </a:r>
            <a:r>
              <a:rPr kumimoji="0" lang="ko-KR" altLang="en-US" sz="1200">
                <a:latin typeface="Times New Roman" panose="02020603050405020304" pitchFamily="18" charset="0"/>
                <a:ea typeface="굴림" panose="020B0600000101010101" pitchFamily="50" charset="-127"/>
              </a:rPr>
              <a:t>하기에 충분한 전압</a:t>
            </a:r>
            <a:r>
              <a:rPr kumimoji="0" lang="en-US" altLang="ko-KR" sz="1200">
                <a:latin typeface="Times New Roman" panose="02020603050405020304" pitchFamily="18" charset="0"/>
                <a:ea typeface="굴림" panose="020B0600000101010101" pitchFamily="50" charset="-127"/>
              </a:rPr>
              <a:t>, </a:t>
            </a:r>
            <a:r>
              <a:rPr kumimoji="0" lang="ko-KR" altLang="en-US" sz="1200">
                <a:latin typeface="Times New Roman" panose="02020603050405020304" pitchFamily="18" charset="0"/>
                <a:ea typeface="굴림" panose="020B0600000101010101" pitchFamily="50" charset="-127"/>
              </a:rPr>
              <a:t>예</a:t>
            </a:r>
            <a:r>
              <a:rPr kumimoji="0" lang="en-US" altLang="ko-KR" sz="1200">
                <a:latin typeface="Times New Roman" panose="02020603050405020304" pitchFamily="18" charset="0"/>
                <a:ea typeface="굴림" panose="020B0600000101010101" pitchFamily="50" charset="-127"/>
              </a:rPr>
              <a:t>:12V)</a:t>
            </a:r>
            <a:endParaRPr kumimoji="0" lang="ko-KR" altLang="en-US" sz="1200">
              <a:latin typeface="Times New Roman" panose="02020603050405020304" pitchFamily="18" charset="0"/>
              <a:ea typeface="굴림" panose="020B0600000101010101" pitchFamily="50" charset="-127"/>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슬라이드 번호 개체 틀 1">
            <a:extLst>
              <a:ext uri="{FF2B5EF4-FFF2-40B4-BE49-F238E27FC236}">
                <a16:creationId xmlns:a16="http://schemas.microsoft.com/office/drawing/2014/main" id="{EBDFE887-57F0-4F75-BE4D-6B6F13F95D31}"/>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fld id="{434CB93B-197E-4A73-9BA0-09F5B342020A}" type="slidenum">
              <a:rPr kumimoji="0" lang="ko-KR" altLang="ko-KR" sz="2400">
                <a:latin typeface="Times New Roman" panose="02020603050405020304" pitchFamily="18" charset="0"/>
              </a:rPr>
              <a:pPr>
                <a:spcBef>
                  <a:spcPct val="0"/>
                </a:spcBef>
                <a:buClrTx/>
                <a:buFontTx/>
                <a:buNone/>
              </a:pPr>
              <a:t>63</a:t>
            </a:fld>
            <a:endParaRPr kumimoji="0" lang="ko-KR" altLang="ko-KR" sz="2400">
              <a:latin typeface="Times New Roman" panose="02020603050405020304" pitchFamily="18" charset="0"/>
            </a:endParaRPr>
          </a:p>
        </p:txBody>
      </p:sp>
      <p:sp>
        <p:nvSpPr>
          <p:cNvPr id="9" name="Title 1">
            <a:extLst>
              <a:ext uri="{FF2B5EF4-FFF2-40B4-BE49-F238E27FC236}">
                <a16:creationId xmlns:a16="http://schemas.microsoft.com/office/drawing/2014/main" id="{8B8EC55B-531B-4544-B101-3DFAABB3CF38}"/>
              </a:ext>
            </a:extLst>
          </p:cNvPr>
          <p:cNvSpPr txBox="1">
            <a:spLocks/>
          </p:cNvSpPr>
          <p:nvPr/>
        </p:nvSpPr>
        <p:spPr>
          <a:xfrm>
            <a:off x="406400" y="152400"/>
            <a:ext cx="8204200" cy="838200"/>
          </a:xfrm>
          <a:prstGeom prst="rect">
            <a:avLst/>
          </a:prstGeom>
        </p:spPr>
        <p:txBody>
          <a:bodyPr/>
          <a:lstStyle>
            <a:lvl1pPr algn="l" rtl="0" eaLnBrk="0" fontAlgn="base" hangingPunct="0">
              <a:spcBef>
                <a:spcPct val="0"/>
              </a:spcBef>
              <a:spcAft>
                <a:spcPct val="0"/>
              </a:spcAft>
              <a:defRPr kumimoji="1" sz="2800">
                <a:solidFill>
                  <a:schemeClr val="tx2"/>
                </a:solidFill>
                <a:latin typeface="+mj-lt"/>
                <a:ea typeface="+mj-ea"/>
                <a:cs typeface="+mj-cs"/>
              </a:defRPr>
            </a:lvl1pPr>
            <a:lvl2pPr algn="l" rtl="0" eaLnBrk="0" fontAlgn="base" hangingPunct="0">
              <a:spcBef>
                <a:spcPct val="0"/>
              </a:spcBef>
              <a:spcAft>
                <a:spcPct val="0"/>
              </a:spcAft>
              <a:defRPr kumimoji="1" sz="2800">
                <a:solidFill>
                  <a:schemeClr val="tx2"/>
                </a:solidFill>
                <a:latin typeface="Arial Black" pitchFamily="34" charset="0"/>
              </a:defRPr>
            </a:lvl2pPr>
            <a:lvl3pPr algn="l" rtl="0" eaLnBrk="0" fontAlgn="base" hangingPunct="0">
              <a:spcBef>
                <a:spcPct val="0"/>
              </a:spcBef>
              <a:spcAft>
                <a:spcPct val="0"/>
              </a:spcAft>
              <a:defRPr kumimoji="1" sz="2800">
                <a:solidFill>
                  <a:schemeClr val="tx2"/>
                </a:solidFill>
                <a:latin typeface="Arial Black" pitchFamily="34" charset="0"/>
              </a:defRPr>
            </a:lvl3pPr>
            <a:lvl4pPr algn="l" rtl="0" eaLnBrk="0" fontAlgn="base" hangingPunct="0">
              <a:spcBef>
                <a:spcPct val="0"/>
              </a:spcBef>
              <a:spcAft>
                <a:spcPct val="0"/>
              </a:spcAft>
              <a:defRPr kumimoji="1" sz="2800">
                <a:solidFill>
                  <a:schemeClr val="tx2"/>
                </a:solidFill>
                <a:latin typeface="Arial Black" pitchFamily="34" charset="0"/>
              </a:defRPr>
            </a:lvl4pPr>
            <a:lvl5pPr algn="l" rtl="0" eaLnBrk="0" fontAlgn="base" hangingPunct="0">
              <a:spcBef>
                <a:spcPct val="0"/>
              </a:spcBef>
              <a:spcAft>
                <a:spcPct val="0"/>
              </a:spcAft>
              <a:defRPr kumimoji="1" sz="2800">
                <a:solidFill>
                  <a:schemeClr val="tx2"/>
                </a:solidFill>
                <a:latin typeface="Arial Black" pitchFamily="34" charset="0"/>
              </a:defRPr>
            </a:lvl5pPr>
            <a:lvl6pPr marL="457200" algn="l" rtl="0" eaLnBrk="0" fontAlgn="base" hangingPunct="0">
              <a:spcBef>
                <a:spcPct val="0"/>
              </a:spcBef>
              <a:spcAft>
                <a:spcPct val="0"/>
              </a:spcAft>
              <a:defRPr kumimoji="1" sz="2800">
                <a:solidFill>
                  <a:schemeClr val="tx2"/>
                </a:solidFill>
                <a:latin typeface="Arial Black" pitchFamily="34" charset="0"/>
              </a:defRPr>
            </a:lvl6pPr>
            <a:lvl7pPr marL="914400" algn="l" rtl="0" eaLnBrk="0" fontAlgn="base" hangingPunct="0">
              <a:spcBef>
                <a:spcPct val="0"/>
              </a:spcBef>
              <a:spcAft>
                <a:spcPct val="0"/>
              </a:spcAft>
              <a:defRPr kumimoji="1" sz="2800">
                <a:solidFill>
                  <a:schemeClr val="tx2"/>
                </a:solidFill>
                <a:latin typeface="Arial Black" pitchFamily="34" charset="0"/>
              </a:defRPr>
            </a:lvl7pPr>
            <a:lvl8pPr marL="1371600" algn="l" rtl="0" eaLnBrk="0" fontAlgn="base" hangingPunct="0">
              <a:spcBef>
                <a:spcPct val="0"/>
              </a:spcBef>
              <a:spcAft>
                <a:spcPct val="0"/>
              </a:spcAft>
              <a:defRPr kumimoji="1" sz="2800">
                <a:solidFill>
                  <a:schemeClr val="tx2"/>
                </a:solidFill>
                <a:latin typeface="Arial Black" pitchFamily="34" charset="0"/>
              </a:defRPr>
            </a:lvl8pPr>
            <a:lvl9pPr marL="1828800" algn="l" rtl="0" eaLnBrk="0" fontAlgn="base" hangingPunct="0">
              <a:spcBef>
                <a:spcPct val="0"/>
              </a:spcBef>
              <a:spcAft>
                <a:spcPct val="0"/>
              </a:spcAft>
              <a:defRPr kumimoji="1" sz="2800">
                <a:solidFill>
                  <a:schemeClr val="tx2"/>
                </a:solidFill>
                <a:latin typeface="Arial Black" pitchFamily="34" charset="0"/>
              </a:defRPr>
            </a:lvl9pPr>
          </a:lstStyle>
          <a:p>
            <a:pPr>
              <a:defRPr/>
            </a:pPr>
            <a:r>
              <a:rPr lang="en-US" altLang="ko-KR" kern="0" dirty="0">
                <a:ea typeface="굴림" panose="020B0600000101010101" pitchFamily="50" charset="-127"/>
              </a:rPr>
              <a:t>NAND flash</a:t>
            </a:r>
            <a:r>
              <a:rPr lang="ko-KR" altLang="en-US" kern="0" dirty="0">
                <a:ea typeface="굴림" panose="020B0600000101010101" pitchFamily="50" charset="-127"/>
              </a:rPr>
              <a:t> </a:t>
            </a:r>
            <a:r>
              <a:rPr lang="en-US" altLang="ko-KR" kern="0" dirty="0">
                <a:ea typeface="굴림" panose="020B0600000101010101" pitchFamily="50" charset="-127"/>
              </a:rPr>
              <a:t>– Multilevel Cell </a:t>
            </a:r>
          </a:p>
        </p:txBody>
      </p:sp>
      <p:sp>
        <p:nvSpPr>
          <p:cNvPr id="134148" name="직사각형 1">
            <a:extLst>
              <a:ext uri="{FF2B5EF4-FFF2-40B4-BE49-F238E27FC236}">
                <a16:creationId xmlns:a16="http://schemas.microsoft.com/office/drawing/2014/main" id="{B12FB794-8120-4475-81F7-CB482D2D0C4C}"/>
              </a:ext>
            </a:extLst>
          </p:cNvPr>
          <p:cNvSpPr>
            <a:spLocks noChangeArrowheads="1"/>
          </p:cNvSpPr>
          <p:nvPr/>
        </p:nvSpPr>
        <p:spPr bwMode="auto">
          <a:xfrm>
            <a:off x="681038" y="6165850"/>
            <a:ext cx="81772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US" altLang="ko-KR" sz="1400">
                <a:latin typeface="Times New Roman" panose="02020603050405020304" pitchFamily="18" charset="0"/>
                <a:ea typeface="굴림" panose="020B0600000101010101" pitchFamily="50" charset="-127"/>
                <a:hlinkClick r:id="rId3"/>
              </a:rPr>
              <a:t>https://www.cactus-tech.com/resources/blog/details/solid-state-drive-primer-2-slc-mlc-and-tlc-nand-flash</a:t>
            </a:r>
            <a:endParaRPr kumimoji="0" lang="ko-KR" altLang="en-US" sz="2400">
              <a:latin typeface="Times New Roman" panose="02020603050405020304" pitchFamily="18" charset="0"/>
              <a:ea typeface="굴림" panose="020B0600000101010101" pitchFamily="50" charset="-127"/>
            </a:endParaRPr>
          </a:p>
        </p:txBody>
      </p:sp>
      <p:pic>
        <p:nvPicPr>
          <p:cNvPr id="134149" name="Picture 2" descr="4 States of MLC NAND">
            <a:extLst>
              <a:ext uri="{FF2B5EF4-FFF2-40B4-BE49-F238E27FC236}">
                <a16:creationId xmlns:a16="http://schemas.microsoft.com/office/drawing/2014/main" id="{69439930-511F-4BF1-A4C0-4984DB9F69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05038"/>
            <a:ext cx="4738688"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50" name="Picture 4" descr="SLC, MLC, TLC NAND States">
            <a:extLst>
              <a:ext uri="{FF2B5EF4-FFF2-40B4-BE49-F238E27FC236}">
                <a16:creationId xmlns:a16="http://schemas.microsoft.com/office/drawing/2014/main" id="{F9DAE433-B9F5-40D2-BF77-630A728AF3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38688" y="2189163"/>
            <a:ext cx="4548187" cy="341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51" name="직사각형 3">
            <a:extLst>
              <a:ext uri="{FF2B5EF4-FFF2-40B4-BE49-F238E27FC236}">
                <a16:creationId xmlns:a16="http://schemas.microsoft.com/office/drawing/2014/main" id="{00A54FDB-EFC8-461D-86AA-0C2D4F0D7881}"/>
              </a:ext>
            </a:extLst>
          </p:cNvPr>
          <p:cNvSpPr>
            <a:spLocks noChangeArrowheads="1"/>
          </p:cNvSpPr>
          <p:nvPr/>
        </p:nvSpPr>
        <p:spPr bwMode="auto">
          <a:xfrm>
            <a:off x="323850" y="1093788"/>
            <a:ext cx="46529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pPr>
            <a:r>
              <a:rPr kumimoji="0" lang="en-US" altLang="ko-KR" sz="1600">
                <a:latin typeface="Arial Narrow" panose="020B0606020202030204" pitchFamily="34" charset="0"/>
                <a:ea typeface="굴림" panose="020B0600000101010101" pitchFamily="50" charset="-127"/>
              </a:rPr>
              <a:t>SLC (Single Level Cell)</a:t>
            </a:r>
          </a:p>
          <a:p>
            <a:pPr>
              <a:spcBef>
                <a:spcPct val="0"/>
              </a:spcBef>
              <a:buClrTx/>
            </a:pPr>
            <a:r>
              <a:rPr kumimoji="0" lang="en-US" altLang="ko-KR" sz="1600">
                <a:latin typeface="Arial Narrow" panose="020B0606020202030204" pitchFamily="34" charset="0"/>
                <a:ea typeface="굴림" panose="020B0600000101010101" pitchFamily="50" charset="-127"/>
              </a:rPr>
              <a:t>MLC (Multi Level Cell)</a:t>
            </a:r>
          </a:p>
          <a:p>
            <a:pPr>
              <a:spcBef>
                <a:spcPct val="0"/>
              </a:spcBef>
              <a:buClrTx/>
            </a:pPr>
            <a:r>
              <a:rPr kumimoji="0" lang="en-US" altLang="ko-KR" sz="1600">
                <a:latin typeface="Arial Narrow" panose="020B0606020202030204" pitchFamily="34" charset="0"/>
                <a:ea typeface="굴림" panose="020B0600000101010101" pitchFamily="50" charset="-127"/>
              </a:rPr>
              <a:t>TLC (Tri Level Cell and also known as Triple Level Cell)</a:t>
            </a:r>
            <a:endParaRPr kumimoji="0" lang="ko-KR" altLang="en-US" sz="1600">
              <a:latin typeface="Arial Narrow" panose="020B0606020202030204" pitchFamily="34" charset="0"/>
              <a:ea typeface="굴림" panose="020B0600000101010101" pitchFamily="50" charset="-127"/>
            </a:endParaRPr>
          </a:p>
        </p:txBody>
      </p:sp>
    </p:spTree>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name="Stallings COE7e">
  <a:themeElements>
    <a:clrScheme name="Stallings COE7e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Stallings COE7e">
      <a:majorFont>
        <a:latin typeface="Arial Black"/>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chemeClr val="tx1"/>
          </a:solidFill>
          <a:prstDash val="solid"/>
          <a:round/>
          <a:headEnd w="med" len="med"/>
          <a:tailEnd w="med" len="med"/>
        </a:ln>
        <a:effectLst/>
      </a:spPr>
      <a:bodyPr vert="horz" wrap="none" lIns="90000" tIns="46800" rIns="90000" bIns="4680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FontTx/>
          <a:buNone/>
          <a:defRPr kumimoji="0" lang="en-US" sz="2400" b="0" i="0" u="none" strike="noStrike" cap="none" normalizeH="0" baseline="0" smtClean="0">
            <a:solidFill>
              <a:schemeClr val="tx1"/>
            </a:solidFill>
            <a:effectLst/>
            <a:latin typeface="Times New Roman"/>
          </a:defRPr>
        </a:defPPr>
      </a:lstStyle>
    </a:spDef>
    <a:lnDef>
      <a:spPr>
        <a:noFill/>
        <a:ln w="9525" cap="flat" cmpd="sng" algn="ctr">
          <a:solidFill>
            <a:schemeClr val="tx1"/>
          </a:solidFill>
          <a:prstDash val="solid"/>
          <a:round/>
          <a:headEnd w="med" len="med"/>
          <a:tailEnd w="med" len="med"/>
        </a:ln>
        <a:effectLst/>
      </a:spPr>
      <a:bodyPr vert="horz" wrap="none" lIns="90000" tIns="46800" rIns="90000" bIns="4680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FontTx/>
          <a:buNone/>
          <a:defRPr kumimoji="0" lang="en-US" sz="2400" b="0" i="0" u="none" strike="noStrike" cap="none" normalizeH="0" baseline="0" smtClean="0">
            <a:solidFill>
              <a:schemeClr val="tx1"/>
            </a:solidFill>
            <a:effectLst/>
            <a:latin typeface="Times New Roman"/>
          </a:defRPr>
        </a:defPPr>
      </a:lstStyle>
    </a:lnDef>
    <a:txDef>
      <a:spPr/>
      <a:bodyPr/>
      <a:lstStyle/>
    </a:txDef>
  </a:objectDefaul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Liverpool Hope University</ep:Company>
  <ep:Words>2677</ep:Words>
  <ep:PresentationFormat>화면 슬라이드 쇼(4:3)</ep:PresentationFormat>
  <ep:Paragraphs>468</ep:Paragraphs>
  <ep:Slides>63</ep:Slides>
  <ep:Notes>63</ep:Notes>
  <ep:TotalTime>0</ep:TotalTime>
  <ep:HiddenSlides>0</ep:HiddenSlides>
  <ep:MMClips>0</ep:MMClips>
  <ep:HeadingPairs>
    <vt:vector size="4" baseType="variant">
      <vt:variant>
        <vt:lpstr>테마</vt:lpstr>
      </vt:variant>
      <vt:variant>
        <vt:i4>1</vt:i4>
      </vt:variant>
      <vt:variant>
        <vt:lpstr>슬라이드 제목</vt:lpstr>
      </vt:variant>
      <vt:variant>
        <vt:i4>63</vt:i4>
      </vt:variant>
    </vt:vector>
  </ep:HeadingPairs>
  <ep:TitlesOfParts>
    <vt:vector size="64" baseType="lpstr">
      <vt:lpstr>Stallings COE7e</vt:lpstr>
      <vt:lpstr>Chapter 5 Internal Memory</vt:lpstr>
      <vt:lpstr>Memory Cell</vt:lpstr>
      <vt:lpstr>Ferrite Core Memory</vt:lpstr>
      <vt:lpstr>Example</vt:lpstr>
      <vt:lpstr>DRAM Operation</vt:lpstr>
      <vt:lpstr>Ferrite Core Memory</vt:lpstr>
      <vt:lpstr>Ferrite Core Memory</vt:lpstr>
      <vt:lpstr>Ferrite Core Memory</vt:lpstr>
      <vt:lpstr>Ferrite Core Stack</vt:lpstr>
      <vt:lpstr>Semiconductor Memory Types</vt:lpstr>
      <vt:lpstr>Semiconductor Memory</vt:lpstr>
      <vt:lpstr>Dynamic RAM</vt:lpstr>
      <vt:lpstr>Dynamic RAM Structure</vt:lpstr>
      <vt:lpstr>Dynamic RAM Structure</vt:lpstr>
      <vt:lpstr>Dynamic RAM Structure</vt:lpstr>
      <vt:lpstr>Static RAM</vt:lpstr>
      <vt:lpstr>Static RAM Structure</vt:lpstr>
      <vt:lpstr>Static RAM Operation</vt:lpstr>
      <vt:lpstr>SRAM Read</vt:lpstr>
      <vt:lpstr>SRAM Write</vt:lpstr>
      <vt:lpstr>SRAM 크기</vt:lpstr>
      <vt:lpstr>SRAM Column Example(Read  모델)</vt:lpstr>
      <vt:lpstr>SRAM Column Example( Write 모델)</vt:lpstr>
      <vt:lpstr>SRAM (Decoder)</vt:lpstr>
      <vt:lpstr>SRAM (Column Circuitry)</vt:lpstr>
      <vt:lpstr>SRAM (Column Circuitry)</vt:lpstr>
      <vt:lpstr>SRAM (Array 구조)</vt:lpstr>
      <vt:lpstr>Static RAM Structure</vt:lpstr>
      <vt:lpstr>SRAM v DRAM</vt:lpstr>
      <vt:lpstr>Read Only Memory (ROM)</vt:lpstr>
      <vt:lpstr>Types of ROM (1)</vt:lpstr>
      <vt:lpstr>Types of ROM (2)</vt:lpstr>
      <vt:lpstr>Organisation in detail</vt:lpstr>
      <vt:lpstr>Typical 16 Mb DRAM (4M x 4)</vt:lpstr>
      <vt:lpstr>Packaging</vt:lpstr>
      <vt:lpstr>Module  Organization</vt:lpstr>
      <vt:lpstr>1MByte Module Organization</vt:lpstr>
      <vt:lpstr>Error Correction</vt:lpstr>
      <vt:lpstr>Error Correcting Code Function</vt:lpstr>
      <vt:lpstr>Hamming Code</vt:lpstr>
      <vt:lpstr>Hamming Code</vt:lpstr>
      <vt:lpstr>Error Correcting and Detecting (1)</vt:lpstr>
      <vt:lpstr>Error Checking Overhead</vt:lpstr>
      <vt:lpstr>Single Bit Errors in 8-bit words</vt:lpstr>
      <vt:lpstr>Calculating check bits</vt:lpstr>
      <vt:lpstr>Error Correcting and Detecting (2)</vt:lpstr>
      <vt:lpstr>Hamming SEC-DED Code</vt:lpstr>
      <vt:lpstr>Advanced DRAM Organization</vt:lpstr>
      <vt:lpstr>Synchronous DRAM (SDRAM)</vt:lpstr>
      <vt:lpstr>SDRAM</vt:lpstr>
      <vt:lpstr>RAMBUS</vt:lpstr>
      <vt:lpstr>RAMBUS Diagram</vt:lpstr>
      <vt:lpstr>DDR SDRAM</vt:lpstr>
      <vt:lpstr>DDR SDRAM  Read Timing</vt:lpstr>
      <vt:lpstr>Simplified DRAM Read Timing</vt:lpstr>
      <vt:lpstr>Cache DRAM</vt:lpstr>
      <vt:lpstr>DRAM Technology</vt:lpstr>
      <vt:lpstr>NOR vs. NAND  FLASH</vt:lpstr>
      <vt:lpstr>Flash Memory</vt:lpstr>
      <vt:lpstr>슬라이드 60</vt:lpstr>
      <vt:lpstr>슬라이드 61</vt:lpstr>
      <vt:lpstr>슬라이드 62</vt:lpstr>
      <vt:lpstr>슬라이드 63</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1998-09-09T13:12:25.000</dcterms:created>
  <dc:creator>Adrian J Pullin</dc:creator>
  <cp:lastModifiedBy>재윤</cp:lastModifiedBy>
  <dcterms:modified xsi:type="dcterms:W3CDTF">2020-06-27T12:36:20.929</dcterms:modified>
  <cp:revision>170</cp:revision>
  <dc:title>05 Internal Memory</dc:title>
  <cp:version>1000.0000.01</cp:version>
</cp:coreProperties>
</file>