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64"/>
  </p:notesMasterIdLst>
  <p:handoutMasterIdLst>
    <p:handoutMasterId r:id="rId65"/>
  </p:handoutMasterIdLst>
  <p:sldIdLst>
    <p:sldId id="1002" r:id="rId3"/>
    <p:sldId id="1032" r:id="rId4"/>
    <p:sldId id="1034" r:id="rId5"/>
    <p:sldId id="1035" r:id="rId6"/>
    <p:sldId id="1037" r:id="rId7"/>
    <p:sldId id="1038" r:id="rId8"/>
    <p:sldId id="1039" r:id="rId9"/>
    <p:sldId id="1043" r:id="rId10"/>
    <p:sldId id="1044" r:id="rId11"/>
    <p:sldId id="1045" r:id="rId12"/>
    <p:sldId id="1046" r:id="rId13"/>
    <p:sldId id="1047" r:id="rId14"/>
    <p:sldId id="1048" r:id="rId15"/>
    <p:sldId id="1049" r:id="rId16"/>
    <p:sldId id="1050" r:id="rId17"/>
    <p:sldId id="1051" r:id="rId18"/>
    <p:sldId id="1052" r:id="rId19"/>
    <p:sldId id="1053" r:id="rId20"/>
    <p:sldId id="1054" r:id="rId21"/>
    <p:sldId id="1056" r:id="rId22"/>
    <p:sldId id="1057" r:id="rId23"/>
    <p:sldId id="1058" r:id="rId24"/>
    <p:sldId id="1059" r:id="rId25"/>
    <p:sldId id="1060" r:id="rId26"/>
    <p:sldId id="1151" r:id="rId27"/>
    <p:sldId id="1061" r:id="rId28"/>
    <p:sldId id="1063" r:id="rId29"/>
    <p:sldId id="1064" r:id="rId30"/>
    <p:sldId id="1065" r:id="rId31"/>
    <p:sldId id="1066" r:id="rId32"/>
    <p:sldId id="1067" r:id="rId33"/>
    <p:sldId id="1069" r:id="rId34"/>
    <p:sldId id="1070" r:id="rId35"/>
    <p:sldId id="1071" r:id="rId36"/>
    <p:sldId id="1073" r:id="rId37"/>
    <p:sldId id="1076" r:id="rId38"/>
    <p:sldId id="1087" r:id="rId39"/>
    <p:sldId id="1089" r:id="rId40"/>
    <p:sldId id="1090" r:id="rId41"/>
    <p:sldId id="1091" r:id="rId42"/>
    <p:sldId id="1092" r:id="rId43"/>
    <p:sldId id="1093" r:id="rId44"/>
    <p:sldId id="1094" r:id="rId45"/>
    <p:sldId id="1095" r:id="rId46"/>
    <p:sldId id="1096" r:id="rId47"/>
    <p:sldId id="1097" r:id="rId48"/>
    <p:sldId id="1098" r:id="rId49"/>
    <p:sldId id="1100" r:id="rId50"/>
    <p:sldId id="1101" r:id="rId51"/>
    <p:sldId id="1102" r:id="rId52"/>
    <p:sldId id="1105" r:id="rId53"/>
    <p:sldId id="1106" r:id="rId54"/>
    <p:sldId id="1107" r:id="rId55"/>
    <p:sldId id="1108" r:id="rId56"/>
    <p:sldId id="1109" r:id="rId57"/>
    <p:sldId id="1113" r:id="rId58"/>
    <p:sldId id="1114" r:id="rId59"/>
    <p:sldId id="1115" r:id="rId60"/>
    <p:sldId id="1121" r:id="rId61"/>
    <p:sldId id="1122" r:id="rId62"/>
    <p:sldId id="1123" r:id="rId6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0" autoAdjust="0"/>
    <p:restoredTop sz="88604" autoAdjust="0"/>
  </p:normalViewPr>
  <p:slideViewPr>
    <p:cSldViewPr snapToGrid="0" snapToObjects="1">
      <p:cViewPr>
        <p:scale>
          <a:sx n="125" d="100"/>
          <a:sy n="125" d="100"/>
        </p:scale>
        <p:origin x="-448" y="-2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notesMaster" Target="notesMasters/notesMaster1.xml"/><Relationship Id="rId65" Type="http://schemas.openxmlformats.org/officeDocument/2006/relationships/handoutMaster" Target="handoutMasters/handoutMaster1.xml"/><Relationship Id="rId66" Type="http://schemas.openxmlformats.org/officeDocument/2006/relationships/printerSettings" Target="printerSettings/printerSettings1.bin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tableStyles" Target="tableStyles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9/19/16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9/19/16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An individual’s data is connected to enormous data from people over the world such as social network, research articles, and biomedical data on daily basis via internet.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55573-23BE-7541-92D3-8BDD66C16B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5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emf"/><Relationship Id="rId3" Type="http://schemas.openxmlformats.org/officeDocument/2006/relationships/image" Target="../media/image3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5581203-97B6-3B43-B29F-76C143AAB82B}" type="datetimeFigureOut">
              <a:rPr lang="en-US"/>
              <a:pPr/>
              <a:t>9/19/16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E0CAE-F706-0043-B588-E2CB4A3070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3"/>
          <p:cNvSpPr>
            <a:spLocks noGrp="1"/>
          </p:cNvSpPr>
          <p:nvPr>
            <p:ph type="title"/>
          </p:nvPr>
        </p:nvSpPr>
        <p:spPr>
          <a:xfrm>
            <a:off x="949325" y="358775"/>
            <a:ext cx="7707313" cy="48895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102" charset="0"/>
                <a:ea typeface="ＭＳ Ｐゴシック" pitchFamily="-102" charset="-128"/>
                <a:cs typeface="ＭＳ Ｐゴシック" pitchFamily="-102" charset="-128"/>
              </a:rPr>
              <a:t>Basic computation</a:t>
            </a:r>
            <a:endParaRPr lang="en-US" dirty="0">
              <a:latin typeface="Arial" pitchFamily="-102" charset="0"/>
              <a:ea typeface="ＭＳ Ｐゴシック" pitchFamily="-102" charset="-128"/>
              <a:cs typeface="ＭＳ Ｐゴシック" pitchFamily="-102" charset="-128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>
              <a:buFont typeface="Wingdings" charset="2"/>
              <a:buChar char="q"/>
            </a:pPr>
            <a:r>
              <a:rPr lang="en-US" altLang="ko-KR" dirty="0" smtClean="0"/>
              <a:t>Variables, data types, and Java identifiers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en-US" altLang="ko-KR" dirty="0" smtClean="0"/>
              <a:t>Assignments statements</a:t>
            </a:r>
          </a:p>
          <a:p>
            <a:pPr lvl="1">
              <a:buFont typeface="Wingdings" charset="2"/>
              <a:buChar char="q"/>
            </a:pPr>
            <a:r>
              <a:rPr lang="en-US" altLang="ko-KR" dirty="0" smtClean="0"/>
              <a:t>Simple input and screen output</a:t>
            </a:r>
          </a:p>
          <a:p>
            <a:pPr lvl="1">
              <a:buFont typeface="Wingdings" charset="2"/>
              <a:buChar char="q"/>
            </a:pPr>
            <a:r>
              <a:rPr lang="en-US" altLang="ko-KR" dirty="0"/>
              <a:t>E</a:t>
            </a:r>
            <a:r>
              <a:rPr lang="en-US" altLang="ko-KR" dirty="0" smtClean="0"/>
              <a:t>xpressions </a:t>
            </a:r>
            <a:r>
              <a:rPr lang="en-US" altLang="ko-KR" dirty="0"/>
              <a:t>containing variables and </a:t>
            </a:r>
            <a:r>
              <a:rPr lang="en-US" altLang="ko-KR" dirty="0" smtClean="0"/>
              <a:t>constants</a:t>
            </a:r>
          </a:p>
          <a:p>
            <a:pPr lvl="1">
              <a:buFont typeface="Wingdings" charset="2"/>
              <a:buChar char="q"/>
            </a:pPr>
            <a:r>
              <a:rPr lang="en-US" altLang="ko-KR" dirty="0" smtClean="0"/>
              <a:t>Arithmetic operations</a:t>
            </a:r>
            <a:endParaRPr lang="en-US" altLang="ko-KR" dirty="0"/>
          </a:p>
          <a:p>
            <a:pPr lvl="1">
              <a:buFont typeface="Wingdings" charset="2"/>
              <a:buChar char="q"/>
            </a:pPr>
            <a:r>
              <a:rPr lang="en-US" altLang="ko-KR" dirty="0" smtClean="0"/>
              <a:t>Strings of characters</a:t>
            </a:r>
            <a:r>
              <a:rPr lang="en-US" altLang="ko-KR" dirty="0"/>
              <a:t> </a:t>
            </a:r>
            <a:r>
              <a:rPr lang="en-US" altLang="ko-KR" dirty="0" smtClean="0"/>
              <a:t>and simple </a:t>
            </a:r>
            <a:r>
              <a:rPr lang="en-US" altLang="ko-KR" dirty="0"/>
              <a:t>string processing</a:t>
            </a:r>
          </a:p>
        </p:txBody>
      </p:sp>
    </p:spTree>
    <p:extLst>
      <p:ext uri="{BB962C8B-B14F-4D97-AF65-F5344CB8AC3E}">
        <p14:creationId xmlns:p14="http://schemas.microsoft.com/office/powerpoint/2010/main" val="297236745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cs typeface="Arial"/>
              </a:rPr>
              <a:t>Variables</a:t>
            </a:r>
            <a:r>
              <a:rPr lang="ko-KR" altLang="en-US" dirty="0" smtClean="0">
                <a:cs typeface="Arial"/>
              </a:rPr>
              <a:t> </a:t>
            </a:r>
            <a:r>
              <a:rPr lang="en-US" altLang="ko-KR" dirty="0" smtClean="0">
                <a:cs typeface="Arial"/>
              </a:rPr>
              <a:t>(</a:t>
            </a:r>
            <a:r>
              <a:rPr lang="ko-KR" altLang="en-US" dirty="0" smtClean="0">
                <a:cs typeface="Arial"/>
              </a:rPr>
              <a:t>변수</a:t>
            </a:r>
            <a:r>
              <a:rPr lang="en-US" altLang="ko-KR" dirty="0" smtClean="0">
                <a:cs typeface="Arial"/>
              </a:rPr>
              <a:t>)</a:t>
            </a:r>
            <a:endParaRPr lang="en-US" dirty="0">
              <a:cs typeface="Arial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>
              <a:buFont typeface="Wingdings" charset="2"/>
              <a:buChar char="§"/>
            </a:pPr>
            <a:r>
              <a:rPr lang="en-US" altLang="ko-KR" dirty="0" smtClean="0"/>
              <a:t>Variables</a:t>
            </a:r>
            <a:r>
              <a:rPr lang="ko-KR" altLang="en-US" dirty="0" smtClean="0"/>
              <a:t>는 숫자나 문자와 같은 데이터를 저장</a:t>
            </a:r>
            <a:endParaRPr lang="en-US" altLang="ko-KR" dirty="0"/>
          </a:p>
          <a:p>
            <a:pPr lvl="2"/>
            <a:r>
              <a:rPr lang="ko-KR" altLang="en-US" dirty="0" smtClean="0"/>
              <a:t>데이터를 저장하는 곳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메모리에 공간이 할당됨</a:t>
            </a:r>
          </a:p>
          <a:p>
            <a:pPr lvl="1"/>
            <a:r>
              <a:rPr lang="ko-KR" altLang="en-US" dirty="0" smtClean="0"/>
              <a:t>변수라는 공간에는 변수값</a:t>
            </a:r>
            <a:r>
              <a:rPr lang="en-US" altLang="ko-KR" dirty="0" smtClean="0"/>
              <a:t>(value) </a:t>
            </a:r>
            <a:r>
              <a:rPr lang="ko-KR" altLang="en-US" dirty="0" smtClean="0"/>
              <a:t>이 저장됨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변수값은 프로그램 실행 중 변경될 수 있음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4396238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Variables and Values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219200" y="1137920"/>
            <a:ext cx="7091680" cy="3494803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Variables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numberOfBaskets</a:t>
            </a:r>
            <a:endParaRPr lang="en-US" b="1" dirty="0">
              <a:solidFill>
                <a:schemeClr val="accent2"/>
              </a:solidFill>
              <a:latin typeface="Courier New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eggsPerBasket</a:t>
            </a:r>
            <a:endParaRPr lang="en-US" b="1" dirty="0">
              <a:solidFill>
                <a:schemeClr val="accent2"/>
              </a:solidFill>
              <a:latin typeface="Courier New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b="1" dirty="0" err="1" smtClean="0">
                <a:solidFill>
                  <a:schemeClr val="accent2"/>
                </a:solidFill>
                <a:latin typeface="Courier New" charset="0"/>
              </a:rPr>
              <a:t>totalEggs</a:t>
            </a:r>
            <a:endParaRPr lang="en-US" b="1" dirty="0" smtClean="0">
              <a:solidFill>
                <a:schemeClr val="accent2"/>
              </a:solidFill>
              <a:latin typeface="Courier New" charset="0"/>
            </a:endParaRPr>
          </a:p>
          <a:p>
            <a:pPr lvl="1" eaLnBrk="1" hangingPunct="1">
              <a:buFont typeface="Wingdings" charset="0"/>
              <a:buNone/>
            </a:pPr>
            <a:endParaRPr lang="en-US" b="1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/>
            <a:r>
              <a:rPr lang="en-US" sz="2800" dirty="0">
                <a:latin typeface="Calibri" charset="0"/>
              </a:rPr>
              <a:t>Assigning values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eggsPerBasket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= 6;</a:t>
            </a:r>
          </a:p>
          <a:p>
            <a:pPr lvl="1" eaLnBrk="1" hangingPunct="1">
              <a:buFont typeface="Wingdings" charset="0"/>
              <a:buNone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eggsPerBasket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=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eggsPerBasket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 - 2;</a:t>
            </a:r>
          </a:p>
        </p:txBody>
      </p:sp>
    </p:spTree>
    <p:extLst>
      <p:ext uri="{BB962C8B-B14F-4D97-AF65-F5344CB8AC3E}">
        <p14:creationId xmlns:p14="http://schemas.microsoft.com/office/powerpoint/2010/main" val="116039112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변수 선언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/>
            <a:r>
              <a:rPr lang="ko-KR" altLang="en-US" dirty="0" smtClean="0">
                <a:solidFill>
                  <a:schemeClr val="tx1"/>
                </a:solidFill>
              </a:rPr>
              <a:t>변수 이름은 용도를 인지하기 편하도록 짓는 것이 좋음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1"/>
            <a:r>
              <a:rPr lang="ko-KR" altLang="en-US" dirty="0" smtClean="0">
                <a:solidFill>
                  <a:schemeClr val="tx1"/>
                </a:solidFill>
              </a:rPr>
              <a:t>변수 선언 시 변수 이름과 타입 </a:t>
            </a:r>
            <a:r>
              <a:rPr lang="en-US" altLang="ko-KR" dirty="0" smtClean="0">
                <a:solidFill>
                  <a:schemeClr val="tx1"/>
                </a:solidFill>
              </a:rPr>
              <a:t>(type)</a:t>
            </a:r>
            <a:r>
              <a:rPr lang="ko-KR" altLang="en-US" dirty="0" smtClean="0">
                <a:solidFill>
                  <a:schemeClr val="tx1"/>
                </a:solidFill>
              </a:rPr>
              <a:t>을 지정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r>
              <a:rPr lang="en-US" altLang="ko-KR" dirty="0" err="1">
                <a:solidFill>
                  <a:schemeClr val="accent4"/>
                </a:solidFill>
              </a:rPr>
              <a:t>int</a:t>
            </a:r>
            <a:r>
              <a:rPr lang="en-US" altLang="ko-KR" dirty="0">
                <a:solidFill>
                  <a:schemeClr val="accent4"/>
                </a:solidFill>
              </a:rPr>
              <a:t> </a:t>
            </a:r>
            <a:r>
              <a:rPr lang="en-US" altLang="ko-KR" dirty="0" err="1">
                <a:solidFill>
                  <a:schemeClr val="accent4"/>
                </a:solidFill>
              </a:rPr>
              <a:t>numberOfBaskets</a:t>
            </a:r>
            <a:r>
              <a:rPr lang="en-US" altLang="ko-KR" dirty="0" smtClean="0">
                <a:solidFill>
                  <a:schemeClr val="accent4"/>
                </a:solidFill>
              </a:rPr>
              <a:t>,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err="1" smtClean="0">
                <a:solidFill>
                  <a:schemeClr val="accent4"/>
                </a:solidFill>
              </a:rPr>
              <a:t>eggsPerBasket</a:t>
            </a:r>
            <a:r>
              <a:rPr lang="en-US" altLang="ko-KR" dirty="0">
                <a:solidFill>
                  <a:schemeClr val="accent4"/>
                </a:solidFill>
              </a:rPr>
              <a:t>;</a:t>
            </a:r>
          </a:p>
          <a:p>
            <a:pPr lvl="1"/>
            <a:r>
              <a:rPr lang="ko-KR" altLang="en-US" dirty="0" smtClean="0"/>
              <a:t>변수 타입이 값의 종류를 결정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, double, char, etc.)</a:t>
            </a:r>
          </a:p>
          <a:p>
            <a:pPr lvl="1"/>
            <a:r>
              <a:rPr lang="ko-KR" altLang="en-US" dirty="0" smtClean="0"/>
              <a:t>변수는 반드시 다른 </a:t>
            </a:r>
            <a:r>
              <a:rPr lang="en-US" altLang="ko-KR" dirty="0" smtClean="0"/>
              <a:t>statements</a:t>
            </a:r>
            <a:r>
              <a:rPr lang="ko-KR" altLang="en-US" dirty="0" smtClean="0"/>
              <a:t>에서 사용하기 전 선언되어야 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변수 선언시 값을 할당할 수 있음</a:t>
            </a:r>
            <a:endParaRPr lang="en-US" altLang="ko-KR" dirty="0" smtClean="0"/>
          </a:p>
          <a:p>
            <a:pPr lvl="2"/>
            <a:r>
              <a:rPr lang="en-US" altLang="ko-KR" dirty="0" err="1">
                <a:solidFill>
                  <a:schemeClr val="accent4"/>
                </a:solidFill>
              </a:rPr>
              <a:t>int</a:t>
            </a:r>
            <a:r>
              <a:rPr lang="en-US" altLang="ko-KR" dirty="0">
                <a:solidFill>
                  <a:schemeClr val="accent4"/>
                </a:solidFill>
              </a:rPr>
              <a:t> </a:t>
            </a:r>
            <a:r>
              <a:rPr lang="en-US" altLang="ko-KR" dirty="0" err="1" smtClean="0">
                <a:solidFill>
                  <a:schemeClr val="accent4"/>
                </a:solidFill>
              </a:rPr>
              <a:t>numberOfBaskets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smtClean="0">
                <a:solidFill>
                  <a:schemeClr val="accent4"/>
                </a:solidFill>
              </a:rPr>
              <a:t>=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smtClean="0">
                <a:solidFill>
                  <a:schemeClr val="accent4"/>
                </a:solidFill>
              </a:rPr>
              <a:t>1,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err="1" smtClean="0">
                <a:solidFill>
                  <a:schemeClr val="accent4"/>
                </a:solidFill>
              </a:rPr>
              <a:t>eggsPerBasket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smtClean="0">
                <a:solidFill>
                  <a:schemeClr val="accent4"/>
                </a:solidFill>
              </a:rPr>
              <a:t>=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smtClean="0">
                <a:solidFill>
                  <a:schemeClr val="accent4"/>
                </a:solidFill>
              </a:rPr>
              <a:t>12;</a:t>
            </a:r>
            <a:endParaRPr lang="en-US" altLang="ko-K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03271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Data Types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/>
            <a:r>
              <a:rPr lang="en-US" altLang="ko-KR" dirty="0">
                <a:solidFill>
                  <a:schemeClr val="tx1"/>
                </a:solidFill>
              </a:rPr>
              <a:t>Class type</a:t>
            </a:r>
          </a:p>
          <a:p>
            <a:pPr lvl="2"/>
            <a:r>
              <a:rPr lang="ko-KR" altLang="en-US" dirty="0">
                <a:solidFill>
                  <a:schemeClr val="tx1"/>
                </a:solidFill>
              </a:rPr>
              <a:t>데이터와 </a:t>
            </a:r>
            <a:r>
              <a:rPr lang="en-US" altLang="ko-KR" dirty="0">
                <a:solidFill>
                  <a:schemeClr val="tx1"/>
                </a:solidFill>
              </a:rPr>
              <a:t>methods</a:t>
            </a:r>
            <a:r>
              <a:rPr lang="ko-KR" altLang="en-US" dirty="0">
                <a:solidFill>
                  <a:schemeClr val="tx1"/>
                </a:solidFill>
              </a:rPr>
              <a:t>를 둘 다 가지는 객체에 대한 변수 형태</a:t>
            </a:r>
            <a:endParaRPr lang="en-US" altLang="ko-KR" dirty="0">
              <a:solidFill>
                <a:schemeClr val="tx1"/>
              </a:solidFill>
            </a:endParaRPr>
          </a:p>
          <a:p>
            <a:pPr lvl="2"/>
            <a:r>
              <a:rPr lang="ko-KR" altLang="en-US" dirty="0">
                <a:solidFill>
                  <a:schemeClr val="accent4"/>
                </a:solidFill>
              </a:rPr>
              <a:t>예</a:t>
            </a:r>
            <a:r>
              <a:rPr lang="ko-KR" altLang="ko-KR" dirty="0">
                <a:solidFill>
                  <a:schemeClr val="accent4"/>
                </a:solidFill>
              </a:rPr>
              <a:t>)</a:t>
            </a:r>
            <a:r>
              <a:rPr lang="ko-KR" altLang="en-US" dirty="0">
                <a:solidFill>
                  <a:schemeClr val="accent4"/>
                </a:solidFill>
              </a:rPr>
              <a:t> </a:t>
            </a:r>
            <a:r>
              <a:rPr lang="en-US" altLang="ko-KR" dirty="0">
                <a:solidFill>
                  <a:schemeClr val="accent4"/>
                </a:solidFill>
              </a:rPr>
              <a:t>S</a:t>
            </a:r>
            <a:r>
              <a:rPr lang="en-US" altLang="ko-KR" dirty="0" smtClean="0">
                <a:solidFill>
                  <a:schemeClr val="accent4"/>
                </a:solidFill>
              </a:rPr>
              <a:t>tring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1"/>
            <a:r>
              <a:rPr lang="en-US" altLang="ko-KR" dirty="0" smtClean="0">
                <a:solidFill>
                  <a:schemeClr val="tx1"/>
                </a:solidFill>
              </a:rPr>
              <a:t>Primitive type</a:t>
            </a:r>
          </a:p>
          <a:p>
            <a:pPr lvl="2"/>
            <a:r>
              <a:rPr lang="ko-KR" altLang="en-US" dirty="0" smtClean="0">
                <a:solidFill>
                  <a:schemeClr val="tx1"/>
                </a:solidFill>
              </a:rPr>
              <a:t>한 숫자나 문자로 더 이상 잘 게 쪼개어질 수 없는 형태의 값에 대한 변수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r>
              <a:rPr lang="ko-KR" altLang="en-US" dirty="0" smtClean="0">
                <a:solidFill>
                  <a:schemeClr val="accent4"/>
                </a:solidFill>
              </a:rPr>
              <a:t>예</a:t>
            </a:r>
            <a:r>
              <a:rPr lang="ko-KR" altLang="ko-KR" dirty="0" smtClean="0">
                <a:solidFill>
                  <a:schemeClr val="accent4"/>
                </a:solidFill>
              </a:rPr>
              <a:t>)</a:t>
            </a:r>
            <a:r>
              <a:rPr lang="ko-KR" altLang="en-US" dirty="0" smtClean="0">
                <a:solidFill>
                  <a:schemeClr val="accent4"/>
                </a:solidFill>
              </a:rPr>
              <a:t> </a:t>
            </a:r>
            <a:r>
              <a:rPr lang="en-US" altLang="ko-KR" dirty="0" err="1" smtClean="0">
                <a:solidFill>
                  <a:schemeClr val="accent4"/>
                </a:solidFill>
              </a:rPr>
              <a:t>int</a:t>
            </a:r>
            <a:r>
              <a:rPr lang="en-US" altLang="ko-KR" dirty="0" smtClean="0">
                <a:solidFill>
                  <a:schemeClr val="accent4"/>
                </a:solidFill>
              </a:rPr>
              <a:t>, double, and char</a:t>
            </a:r>
          </a:p>
        </p:txBody>
      </p:sp>
    </p:spTree>
    <p:extLst>
      <p:ext uri="{BB962C8B-B14F-4D97-AF65-F5344CB8AC3E}">
        <p14:creationId xmlns:p14="http://schemas.microsoft.com/office/powerpoint/2010/main" val="301296527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Primitive Types</a:t>
            </a:r>
          </a:p>
        </p:txBody>
      </p:sp>
      <p:pic>
        <p:nvPicPr>
          <p:cNvPr id="1536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" y="1147763"/>
            <a:ext cx="8237220" cy="338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052796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Java Identifiers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03955"/>
          </a:xfrm>
        </p:spPr>
        <p:txBody>
          <a:bodyPr>
            <a:normAutofit/>
          </a:bodyPr>
          <a:lstStyle/>
          <a:p>
            <a:pPr lvl="1"/>
            <a:r>
              <a:rPr lang="ko-KR" altLang="en-US" dirty="0" smtClean="0">
                <a:solidFill>
                  <a:schemeClr val="tx1"/>
                </a:solidFill>
              </a:rPr>
              <a:t>변수나 클래스에 대한 이름을 </a:t>
            </a:r>
            <a:r>
              <a:rPr lang="en-US" altLang="ko-KR" dirty="0" smtClean="0">
                <a:solidFill>
                  <a:schemeClr val="tx1"/>
                </a:solidFill>
              </a:rPr>
              <a:t>identifier</a:t>
            </a:r>
            <a:r>
              <a:rPr lang="ko-KR" altLang="en-US" dirty="0" smtClean="0">
                <a:solidFill>
                  <a:schemeClr val="tx1"/>
                </a:solidFill>
              </a:rPr>
              <a:t>라고 함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r>
              <a:rPr lang="ko-KR" altLang="en-US" dirty="0" smtClean="0">
                <a:solidFill>
                  <a:schemeClr val="tx1"/>
                </a:solidFill>
              </a:rPr>
              <a:t>문자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 숫자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and underscore character (_)</a:t>
            </a:r>
          </a:p>
          <a:p>
            <a:pPr lvl="2"/>
            <a:r>
              <a:rPr lang="ko-KR" altLang="en-US" dirty="0" smtClean="0">
                <a:solidFill>
                  <a:schemeClr val="tx1"/>
                </a:solidFill>
              </a:rPr>
              <a:t>대소문자 구별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r>
              <a:rPr lang="en-US" altLang="ko-KR" dirty="0" smtClean="0">
                <a:solidFill>
                  <a:schemeClr val="tx1"/>
                </a:solidFill>
              </a:rPr>
              <a:t>$</a:t>
            </a:r>
            <a:r>
              <a:rPr lang="ko-KR" altLang="en-US" dirty="0" smtClean="0">
                <a:solidFill>
                  <a:schemeClr val="tx1"/>
                </a:solidFill>
              </a:rPr>
              <a:t>는 특별한 의미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r>
              <a:rPr lang="ko-KR" altLang="en-US" dirty="0" smtClean="0">
                <a:solidFill>
                  <a:schemeClr val="tx1"/>
                </a:solidFill>
              </a:rPr>
              <a:t>첫자는 숫자로 시작해서는 안됨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r>
              <a:rPr lang="ko-KR" altLang="en-US" dirty="0" smtClean="0">
                <a:solidFill>
                  <a:schemeClr val="tx1"/>
                </a:solidFill>
              </a:rPr>
              <a:t>공백문자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 점</a:t>
            </a:r>
            <a:r>
              <a:rPr lang="en-US" altLang="ko-KR" dirty="0" smtClean="0">
                <a:solidFill>
                  <a:schemeClr val="tx1"/>
                </a:solidFill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</a:rPr>
              <a:t> * </a:t>
            </a:r>
            <a:r>
              <a:rPr lang="en-US" altLang="ko-KR" dirty="0" smtClean="0">
                <a:solidFill>
                  <a:schemeClr val="tx1"/>
                </a:solidFill>
              </a:rPr>
              <a:t>(asterisk) </a:t>
            </a:r>
            <a:r>
              <a:rPr lang="ko-KR" altLang="en-US" dirty="0" smtClean="0">
                <a:solidFill>
                  <a:schemeClr val="tx1"/>
                </a:solidFill>
              </a:rPr>
              <a:t>등은 허용 안됨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2"/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 smtClean="0">
                <a:solidFill>
                  <a:schemeClr val="tx1"/>
                </a:solidFill>
              </a:rPr>
              <a:t>Keywords or reserved words</a:t>
            </a:r>
          </a:p>
          <a:p>
            <a:pPr lvl="2"/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int</a:t>
            </a:r>
            <a:r>
              <a:rPr lang="en-US" dirty="0">
                <a:latin typeface="Courier New" charset="0"/>
              </a:rPr>
              <a:t>,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public</a:t>
            </a:r>
            <a:r>
              <a:rPr lang="en-US" dirty="0">
                <a:latin typeface="Courier New" charset="0"/>
              </a:rPr>
              <a:t>, </a:t>
            </a:r>
            <a:r>
              <a:rPr lang="en-US" b="1" dirty="0" smtClean="0">
                <a:solidFill>
                  <a:schemeClr val="accent2"/>
                </a:solidFill>
                <a:latin typeface="Courier New" charset="0"/>
              </a:rPr>
              <a:t>class </a:t>
            </a:r>
            <a:r>
              <a:rPr lang="ko-KR" altLang="en-US" dirty="0" smtClean="0">
                <a:solidFill>
                  <a:srgbClr val="000000"/>
                </a:solidFill>
                <a:latin typeface="Courier New" charset="0"/>
              </a:rPr>
              <a:t>등은 특별한 의미를 가지고 있는 이름이어서 </a:t>
            </a:r>
            <a:r>
              <a:rPr lang="en-US" altLang="ko-KR" dirty="0" smtClean="0">
                <a:solidFill>
                  <a:srgbClr val="000000"/>
                </a:solidFill>
                <a:cs typeface="Arial"/>
              </a:rPr>
              <a:t>identifier</a:t>
            </a:r>
            <a:r>
              <a:rPr lang="ko-KR" altLang="en-US" dirty="0" smtClean="0">
                <a:solidFill>
                  <a:srgbClr val="000000"/>
                </a:solidFill>
                <a:latin typeface="Courier New" charset="0"/>
              </a:rPr>
              <a:t>로 사용 불가</a:t>
            </a:r>
            <a:endParaRPr lang="en-US" dirty="0">
              <a:solidFill>
                <a:schemeClr val="accent2"/>
              </a:solidFill>
              <a:latin typeface="Courier New" charset="0"/>
            </a:endParaRPr>
          </a:p>
          <a:p>
            <a:pPr lvl="2"/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85199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77290"/>
            <a:ext cx="7707862" cy="3475989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Declare a variable </a:t>
            </a:r>
          </a:p>
          <a:p>
            <a:pPr lvl="1" eaLnBrk="1" hangingPunct="1"/>
            <a:r>
              <a:rPr lang="en-US" sz="2000" dirty="0">
                <a:cs typeface="Arial"/>
              </a:rPr>
              <a:t>Just before it is used or</a:t>
            </a:r>
          </a:p>
          <a:p>
            <a:pPr lvl="1" eaLnBrk="1" hangingPunct="1"/>
            <a:r>
              <a:rPr lang="en-US" sz="2000" dirty="0">
                <a:cs typeface="Arial"/>
              </a:rPr>
              <a:t>At the beginning of the section of your program that is enclosed in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{}</a:t>
            </a:r>
            <a:r>
              <a:rPr lang="en-US" sz="2000" dirty="0">
                <a:cs typeface="Arial"/>
              </a:rPr>
              <a:t>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public static void main(String[]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args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{ /* declare variables here */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    . . .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}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48776" y="359541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 smtClean="0">
                <a:cs typeface="Arial"/>
              </a:rPr>
              <a:t>Where to declare a variable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976416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Primitive Types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98880"/>
            <a:ext cx="7707862" cy="343384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Four integer types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byte</a:t>
            </a:r>
            <a:r>
              <a:rPr lang="en-US" sz="2000" dirty="0">
                <a:cs typeface="Arial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short</a:t>
            </a:r>
            <a:r>
              <a:rPr lang="en-US" sz="2000" dirty="0">
                <a:cs typeface="Arial"/>
              </a:rPr>
              <a:t>,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,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long</a:t>
            </a:r>
            <a:r>
              <a:rPr lang="en-US" sz="2000" dirty="0">
                <a:cs typeface="Arial"/>
              </a:rPr>
              <a:t>)</a:t>
            </a:r>
          </a:p>
          <a:p>
            <a:pPr lvl="1" eaLnBrk="1" hangingPunct="1"/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 is most common</a:t>
            </a:r>
          </a:p>
          <a:p>
            <a:pPr eaLnBrk="1" hangingPunct="1"/>
            <a:r>
              <a:rPr lang="en-US" sz="2000" dirty="0">
                <a:cs typeface="Arial"/>
              </a:rPr>
              <a:t>Two floating-point types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float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double</a:t>
            </a:r>
            <a:r>
              <a:rPr lang="en-US" sz="2000" dirty="0">
                <a:cs typeface="Arial"/>
              </a:rPr>
              <a:t>) </a:t>
            </a:r>
          </a:p>
          <a:p>
            <a:pPr lvl="1" eaLnBrk="1" hangingPunct="1"/>
            <a:r>
              <a:rPr lang="en-US" sz="2000" b="1" dirty="0">
                <a:solidFill>
                  <a:schemeClr val="accent2"/>
                </a:solidFill>
                <a:cs typeface="Arial"/>
              </a:rPr>
              <a:t>double</a:t>
            </a:r>
            <a:r>
              <a:rPr lang="en-US" sz="2000" dirty="0">
                <a:cs typeface="Arial"/>
              </a:rPr>
              <a:t> is more common</a:t>
            </a:r>
          </a:p>
          <a:p>
            <a:pPr eaLnBrk="1" hangingPunct="1"/>
            <a:r>
              <a:rPr lang="en-US" sz="2000" dirty="0">
                <a:cs typeface="Arial"/>
              </a:rPr>
              <a:t>One character type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char</a:t>
            </a:r>
            <a:r>
              <a:rPr lang="en-US" sz="2000" dirty="0">
                <a:cs typeface="Arial"/>
              </a:rPr>
              <a:t>)</a:t>
            </a:r>
          </a:p>
          <a:p>
            <a:pPr eaLnBrk="1" hangingPunct="1"/>
            <a:r>
              <a:rPr lang="en-US" sz="2000" dirty="0">
                <a:cs typeface="Arial"/>
              </a:rPr>
              <a:t>One </a:t>
            </a:r>
            <a:r>
              <a:rPr lang="en-US" sz="2000" dirty="0" err="1">
                <a:cs typeface="Arial"/>
              </a:rPr>
              <a:t>boolean</a:t>
            </a:r>
            <a:r>
              <a:rPr lang="en-US" sz="2000" dirty="0">
                <a:cs typeface="Arial"/>
              </a:rPr>
              <a:t> type 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boolean</a:t>
            </a:r>
            <a:r>
              <a:rPr lang="en-US" sz="2000" dirty="0"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652031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Examples of Primitive Values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80160"/>
            <a:ext cx="7707862" cy="335256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Integer types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0  -1  365  12000</a:t>
            </a:r>
          </a:p>
          <a:p>
            <a:pPr eaLnBrk="1" hangingPunct="1"/>
            <a:r>
              <a:rPr lang="en-US" sz="2000" dirty="0">
                <a:cs typeface="Arial"/>
              </a:rPr>
              <a:t>Floating-point types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0.99  -22.8  3.14159 5.0</a:t>
            </a:r>
          </a:p>
          <a:p>
            <a:pPr eaLnBrk="1" hangingPunct="1"/>
            <a:r>
              <a:rPr lang="en-US" sz="2000" dirty="0">
                <a:cs typeface="Arial"/>
              </a:rPr>
              <a:t>Character type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'a'  'A'  '#'  ' '</a:t>
            </a:r>
          </a:p>
          <a:p>
            <a:pPr eaLnBrk="1" hangingPunct="1"/>
            <a:r>
              <a:rPr lang="en-US" sz="2000" dirty="0">
                <a:cs typeface="Arial"/>
              </a:rPr>
              <a:t>Boolean type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true  false</a:t>
            </a:r>
          </a:p>
        </p:txBody>
      </p:sp>
    </p:spTree>
    <p:extLst>
      <p:ext uri="{BB962C8B-B14F-4D97-AF65-F5344CB8AC3E}">
        <p14:creationId xmlns:p14="http://schemas.microsoft.com/office/powerpoint/2010/main" val="30530196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Assignment Statements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27760"/>
            <a:ext cx="7707862" cy="350496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An assignment statement is used to assign a value to a variable.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answer = 42;</a:t>
            </a:r>
          </a:p>
          <a:p>
            <a:pPr eaLnBrk="1" hangingPunct="1"/>
            <a:r>
              <a:rPr lang="en-US" sz="2000" dirty="0">
                <a:cs typeface="Arial"/>
              </a:rPr>
              <a:t>The "equal sign" is called the </a:t>
            </a:r>
            <a:r>
              <a:rPr lang="en-US" sz="2000" i="1" dirty="0">
                <a:cs typeface="Arial"/>
              </a:rPr>
              <a:t>assignment operator.</a:t>
            </a:r>
          </a:p>
          <a:p>
            <a:pPr eaLnBrk="1" hangingPunct="1"/>
            <a:r>
              <a:rPr lang="en-US" sz="2000" dirty="0">
                <a:cs typeface="Arial"/>
              </a:rPr>
              <a:t>We say, "The variable named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answer</a:t>
            </a:r>
            <a:r>
              <a:rPr lang="en-US" sz="2000" dirty="0">
                <a:cs typeface="Arial"/>
              </a:rPr>
              <a:t> is assigned a value of 42," or more simply, "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answer</a:t>
            </a:r>
            <a:r>
              <a:rPr lang="en-US" sz="2000" dirty="0">
                <a:cs typeface="Arial"/>
              </a:rPr>
              <a:t> is assigned 42."</a:t>
            </a:r>
          </a:p>
        </p:txBody>
      </p:sp>
    </p:spTree>
    <p:extLst>
      <p:ext uri="{BB962C8B-B14F-4D97-AF65-F5344CB8AC3E}">
        <p14:creationId xmlns:p14="http://schemas.microsoft.com/office/powerpoint/2010/main" val="142723315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Assignment Statements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17600"/>
            <a:ext cx="7707862" cy="351512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Syntax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variable = expression</a:t>
            </a:r>
          </a:p>
          <a:p>
            <a:pPr eaLnBrk="1" hangingPunct="1">
              <a:buFontTx/>
              <a:buNone/>
            </a:pPr>
            <a:r>
              <a:rPr lang="en-US" sz="2000" i="1" dirty="0">
                <a:cs typeface="Arial"/>
              </a:rPr>
              <a:t>	</a:t>
            </a:r>
            <a:r>
              <a:rPr lang="en-US" sz="2000" dirty="0">
                <a:cs typeface="Arial"/>
              </a:rPr>
              <a:t>where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expression</a:t>
            </a:r>
            <a:r>
              <a:rPr lang="en-US" sz="2000" dirty="0">
                <a:cs typeface="Arial"/>
              </a:rPr>
              <a:t> can be another variable, a </a:t>
            </a:r>
            <a:r>
              <a:rPr lang="en-US" sz="2000" i="1" dirty="0">
                <a:cs typeface="Arial"/>
              </a:rPr>
              <a:t>literal</a:t>
            </a:r>
            <a:r>
              <a:rPr lang="en-US" sz="2000" dirty="0">
                <a:cs typeface="Arial"/>
              </a:rPr>
              <a:t> or </a:t>
            </a:r>
            <a:r>
              <a:rPr lang="en-US" sz="2000" i="1" dirty="0">
                <a:cs typeface="Arial"/>
              </a:rPr>
              <a:t>constant </a:t>
            </a:r>
            <a:r>
              <a:rPr lang="en-US" sz="2000" dirty="0">
                <a:cs typeface="Arial"/>
              </a:rPr>
              <a:t>(such as a number), or something more complicated which combines variables and literals using </a:t>
            </a:r>
            <a:r>
              <a:rPr lang="en-US" sz="2000" i="1" dirty="0">
                <a:cs typeface="Arial"/>
              </a:rPr>
              <a:t>operators</a:t>
            </a:r>
            <a:r>
              <a:rPr lang="en-US" sz="2000" dirty="0">
                <a:cs typeface="Arial"/>
              </a:rPr>
              <a:t> </a:t>
            </a:r>
            <a:br>
              <a:rPr lang="en-US" sz="2000" dirty="0">
                <a:cs typeface="Arial"/>
              </a:rPr>
            </a:br>
            <a:r>
              <a:rPr lang="en-US" sz="2000" dirty="0">
                <a:cs typeface="Arial"/>
              </a:rPr>
              <a:t>(such as + and -)</a:t>
            </a:r>
          </a:p>
        </p:txBody>
      </p:sp>
    </p:spTree>
    <p:extLst>
      <p:ext uri="{BB962C8B-B14F-4D97-AF65-F5344CB8AC3E}">
        <p14:creationId xmlns:p14="http://schemas.microsoft.com/office/powerpoint/2010/main" val="381009423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Assignment Examples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amount = 3.99;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firstInitial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'W';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score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numberOfCards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+ handicap;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eggsPerBasket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eggsPerBasket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- 2;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1971561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Initializing Variables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90320"/>
            <a:ext cx="7707862" cy="334240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 variable that has been declared, but no yet given a value is said to be </a:t>
            </a:r>
            <a:r>
              <a:rPr lang="en-US" sz="2000" i="1" dirty="0">
                <a:cs typeface="Arial"/>
              </a:rPr>
              <a:t>uninitialized.</a:t>
            </a:r>
          </a:p>
          <a:p>
            <a:pPr eaLnBrk="1" hangingPunct="1"/>
            <a:r>
              <a:rPr lang="en-US" sz="2000" dirty="0">
                <a:cs typeface="Arial"/>
              </a:rPr>
              <a:t>Uninitialized class variables have the value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null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/>
            <a:r>
              <a:rPr lang="en-US" sz="2000" dirty="0">
                <a:cs typeface="Arial"/>
              </a:rPr>
              <a:t>Uninitialized primitive variables may have a default value.</a:t>
            </a:r>
          </a:p>
          <a:p>
            <a:pPr eaLnBrk="1" hangingPunct="1"/>
            <a:r>
              <a:rPr lang="en-US" sz="2000" dirty="0">
                <a:cs typeface="Arial"/>
              </a:rPr>
              <a:t>It's good practice not to rely on a default value.</a:t>
            </a:r>
          </a:p>
        </p:txBody>
      </p:sp>
    </p:spTree>
    <p:extLst>
      <p:ext uri="{BB962C8B-B14F-4D97-AF65-F5344CB8AC3E}">
        <p14:creationId xmlns:p14="http://schemas.microsoft.com/office/powerpoint/2010/main" val="113372097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Initializing Variables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98880"/>
            <a:ext cx="7707862" cy="343384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To protect against an uninitialized variable (and to keep the compiler happy), assign a value at the time the variable is declared.</a:t>
            </a:r>
          </a:p>
          <a:p>
            <a:pPr eaLnBrk="1" hangingPunct="1"/>
            <a:r>
              <a:rPr lang="en-US" sz="2000" dirty="0">
                <a:cs typeface="Arial"/>
              </a:rPr>
              <a:t>Examples: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count = 0;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char grade = 'A';</a:t>
            </a:r>
          </a:p>
        </p:txBody>
      </p:sp>
    </p:spTree>
    <p:extLst>
      <p:ext uri="{BB962C8B-B14F-4D97-AF65-F5344CB8AC3E}">
        <p14:creationId xmlns:p14="http://schemas.microsoft.com/office/powerpoint/2010/main" val="188978585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Initializing Variables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syntax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type variable_1 = expression_1, variable_2 = expression_2, …;</a:t>
            </a:r>
          </a:p>
          <a:p>
            <a:pPr eaLnBrk="1" hangingPunct="1"/>
            <a:endParaRPr lang="en-US" sz="2000" b="1" dirty="0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830749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Assignment Evaluation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The expression on the right-hand side of the assignment operator (=) is evaluated first</a:t>
            </a:r>
            <a:r>
              <a:rPr lang="en-US" sz="2000" dirty="0" smtClean="0">
                <a:cs typeface="Arial"/>
              </a:rPr>
              <a:t>.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>The result is used to set the value of the variable on the left-hand side of the assignment operator.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score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numberOfCards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+ 	handicap;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eggsPerBasket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eggsPerBasket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- 2;</a:t>
            </a:r>
          </a:p>
        </p:txBody>
      </p:sp>
    </p:spTree>
    <p:extLst>
      <p:ext uri="{BB962C8B-B14F-4D97-AF65-F5344CB8AC3E}">
        <p14:creationId xmlns:p14="http://schemas.microsoft.com/office/powerpoint/2010/main" val="108596205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Simple Input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90600" y="1314451"/>
            <a:ext cx="7696200" cy="32801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Sometimes the data needed for a computation are obtained from the user at run time</a:t>
            </a:r>
            <a:r>
              <a:rPr lang="en-US" sz="2000" dirty="0" smtClean="0">
                <a:cs typeface="Arial"/>
              </a:rPr>
              <a:t>.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>Keyboard input requires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import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java.util.Scanner</a:t>
            </a:r>
            <a:endParaRPr lang="en-US" sz="2000" b="1" dirty="0">
              <a:solidFill>
                <a:schemeClr val="accent2"/>
              </a:solidFill>
              <a:cs typeface="Arial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at the beginning of the file.</a:t>
            </a:r>
          </a:p>
        </p:txBody>
      </p:sp>
    </p:spTree>
    <p:extLst>
      <p:ext uri="{BB962C8B-B14F-4D97-AF65-F5344CB8AC3E}">
        <p14:creationId xmlns:p14="http://schemas.microsoft.com/office/powerpoint/2010/main" val="333350963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Simple Input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9725" indent="-339725" eaLnBrk="1" hangingPunct="1"/>
            <a:r>
              <a:rPr lang="en-US" sz="2000" dirty="0">
                <a:cs typeface="Arial"/>
              </a:rPr>
              <a:t>Data can be entered from the keyboard using	</a:t>
            </a:r>
            <a:endParaRPr lang="en-US" sz="2000" dirty="0" smtClean="0">
              <a:cs typeface="Arial"/>
            </a:endParaRPr>
          </a:p>
          <a:p>
            <a:pPr marL="339725" indent="-339725" eaLnBrk="1" hangingPunct="1"/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Scanner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keyboard = </a:t>
            </a:r>
          </a:p>
          <a:p>
            <a:pPr marL="339725" indent="-339725"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		new Scanner(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System.in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);</a:t>
            </a:r>
          </a:p>
          <a:p>
            <a:pPr marL="339725" indent="-339725" eaLnBrk="1" hangingPunct="1">
              <a:buFontTx/>
              <a:buNone/>
            </a:pPr>
            <a:r>
              <a:rPr lang="en-US" sz="2000" dirty="0">
                <a:cs typeface="Arial"/>
              </a:rPr>
              <a:t>	followed, for example, by</a:t>
            </a:r>
          </a:p>
          <a:p>
            <a:pPr marL="339725" indent="-339725"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eggsPerBasket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keyboard.nextInt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  <a:p>
            <a:pPr marL="339725" indent="-339725" eaLnBrk="1" hangingPunct="1">
              <a:buFontTx/>
              <a:buNone/>
            </a:pPr>
            <a:r>
              <a:rPr lang="en-US" sz="2000" dirty="0">
                <a:cs typeface="Arial"/>
              </a:rPr>
              <a:t>	which reads one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 value from the keyboard and assigns it to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eggsPerBasket</a:t>
            </a:r>
            <a:r>
              <a:rPr lang="en-US" sz="2000" dirty="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345990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Simple Screen Output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57301"/>
            <a:ext cx="7707862" cy="333732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("The count is " + count);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>Outputs the sting literal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"the count is "</a:t>
            </a:r>
            <a:r>
              <a:rPr lang="en-US" sz="2000" dirty="0">
                <a:cs typeface="Arial"/>
              </a:rPr>
              <a:t> </a:t>
            </a:r>
          </a:p>
          <a:p>
            <a:pPr eaLnBrk="1" hangingPunct="1"/>
            <a:r>
              <a:rPr lang="en-US" sz="2000" dirty="0">
                <a:cs typeface="Arial"/>
              </a:rPr>
              <a:t>Followed by the current value of the variable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count</a:t>
            </a:r>
            <a:r>
              <a:rPr lang="en-US" sz="2000" dirty="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832108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Constants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>
                <a:cs typeface="Arial"/>
              </a:rPr>
              <a:t>Literal expressions such as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2, 3.7,</a:t>
            </a:r>
            <a:r>
              <a:rPr lang="en-US" sz="2000">
                <a:cs typeface="Arial"/>
              </a:rPr>
              <a:t> or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'y'</a:t>
            </a:r>
            <a:r>
              <a:rPr lang="en-US" sz="2000">
                <a:cs typeface="Arial"/>
              </a:rPr>
              <a:t> are called </a:t>
            </a:r>
            <a:r>
              <a:rPr lang="en-US" sz="2000" i="1">
                <a:cs typeface="Arial"/>
              </a:rPr>
              <a:t>constants</a:t>
            </a:r>
            <a:r>
              <a:rPr lang="en-US" sz="2000">
                <a:cs typeface="Arial"/>
              </a:rPr>
              <a:t>.</a:t>
            </a:r>
          </a:p>
          <a:p>
            <a:pPr eaLnBrk="1" hangingPunct="1"/>
            <a:r>
              <a:rPr lang="en-US" sz="2000">
                <a:cs typeface="Arial"/>
              </a:rPr>
              <a:t>Integer constants can be preceded by a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+</a:t>
            </a:r>
            <a:r>
              <a:rPr lang="en-US" sz="2000">
                <a:cs typeface="Arial"/>
              </a:rPr>
              <a:t> or </a:t>
            </a:r>
            <a:r>
              <a:rPr lang="en-US" sz="2000" b="1">
                <a:solidFill>
                  <a:schemeClr val="accent2"/>
                </a:solidFill>
                <a:cs typeface="Arial"/>
              </a:rPr>
              <a:t>-</a:t>
            </a:r>
            <a:r>
              <a:rPr lang="en-US" sz="2000">
                <a:cs typeface="Arial"/>
              </a:rPr>
              <a:t> sign, but cannot contain commas.</a:t>
            </a:r>
          </a:p>
          <a:p>
            <a:pPr eaLnBrk="1" hangingPunct="1"/>
            <a:r>
              <a:rPr lang="en-US" sz="2000">
                <a:cs typeface="Arial"/>
              </a:rPr>
              <a:t>Floating-point constants can be written </a:t>
            </a:r>
          </a:p>
          <a:p>
            <a:pPr lvl="1" eaLnBrk="1" hangingPunct="1"/>
            <a:r>
              <a:rPr lang="en-US" sz="2000">
                <a:cs typeface="Arial"/>
              </a:rPr>
              <a:t>With digits after a decimal point or</a:t>
            </a:r>
          </a:p>
          <a:p>
            <a:pPr lvl="1" eaLnBrk="1" hangingPunct="1"/>
            <a:r>
              <a:rPr lang="en-US" sz="2000">
                <a:cs typeface="Arial"/>
              </a:rPr>
              <a:t>Using </a:t>
            </a:r>
            <a:r>
              <a:rPr lang="en-US" sz="2000" i="1">
                <a:cs typeface="Arial"/>
              </a:rPr>
              <a:t>e notation.</a:t>
            </a: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371234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e Notation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e notation is also called </a:t>
            </a:r>
            <a:r>
              <a:rPr lang="en-US" sz="2000" i="1" dirty="0">
                <a:cs typeface="Arial"/>
              </a:rPr>
              <a:t>scientific notation</a:t>
            </a:r>
            <a:r>
              <a:rPr lang="en-US" sz="2000" dirty="0">
                <a:cs typeface="Arial"/>
              </a:rPr>
              <a:t> or </a:t>
            </a:r>
            <a:r>
              <a:rPr lang="en-US" sz="2000" i="1" dirty="0">
                <a:cs typeface="Arial"/>
              </a:rPr>
              <a:t>floating-point notation.</a:t>
            </a:r>
          </a:p>
          <a:p>
            <a:pPr eaLnBrk="1" hangingPunct="1"/>
            <a:r>
              <a:rPr lang="en-US" sz="2000" dirty="0">
                <a:cs typeface="Arial"/>
              </a:rPr>
              <a:t>Examples</a:t>
            </a:r>
          </a:p>
          <a:p>
            <a:pPr lvl="1" eaLnBrk="1" hangingPunct="1"/>
            <a:r>
              <a:rPr lang="en-US" sz="2000" b="1" dirty="0">
                <a:solidFill>
                  <a:schemeClr val="accent2"/>
                </a:solidFill>
                <a:cs typeface="Arial"/>
              </a:rPr>
              <a:t>865000000.0</a:t>
            </a:r>
            <a:r>
              <a:rPr lang="en-US" sz="2000" dirty="0">
                <a:cs typeface="Arial"/>
              </a:rPr>
              <a:t> can be written as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8.65e8</a:t>
            </a:r>
          </a:p>
          <a:p>
            <a:pPr lvl="1" eaLnBrk="1" hangingPunct="1"/>
            <a:r>
              <a:rPr lang="en-US" sz="2000" b="1" dirty="0">
                <a:solidFill>
                  <a:schemeClr val="accent2"/>
                </a:solidFill>
                <a:cs typeface="Arial"/>
              </a:rPr>
              <a:t>0.000483</a:t>
            </a:r>
            <a:r>
              <a:rPr lang="en-US" sz="2000" dirty="0">
                <a:cs typeface="Arial"/>
              </a:rPr>
              <a:t> can be written as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4.83e-4</a:t>
            </a:r>
          </a:p>
          <a:p>
            <a:pPr eaLnBrk="1" hangingPunct="1"/>
            <a:r>
              <a:rPr lang="en-US" sz="2000" dirty="0">
                <a:cs typeface="Arial"/>
              </a:rPr>
              <a:t>The number in front of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e</a:t>
            </a:r>
            <a:r>
              <a:rPr lang="en-US" sz="2000" dirty="0">
                <a:cs typeface="Arial"/>
              </a:rPr>
              <a:t> does not need to contain a decimal point.</a:t>
            </a:r>
          </a:p>
        </p:txBody>
      </p:sp>
    </p:spTree>
    <p:extLst>
      <p:ext uri="{BB962C8B-B14F-4D97-AF65-F5344CB8AC3E}">
        <p14:creationId xmlns:p14="http://schemas.microsoft.com/office/powerpoint/2010/main" val="325781220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59840"/>
            <a:ext cx="7738024" cy="333478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Floating-point numbers often are only approximations since they are stored with a finite number of bits</a:t>
            </a:r>
            <a:r>
              <a:rPr lang="en-US" sz="2000" dirty="0" smtClean="0">
                <a:cs typeface="Arial"/>
              </a:rPr>
              <a:t>.</a:t>
            </a:r>
          </a:p>
          <a:p>
            <a:pPr eaLnBrk="1" hangingPunct="1"/>
            <a:endParaRPr lang="en-US" sz="2000" dirty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>Hence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1.0/3.0</a:t>
            </a:r>
            <a:r>
              <a:rPr lang="en-US" sz="2000" dirty="0">
                <a:cs typeface="Arial"/>
              </a:rPr>
              <a:t> is slightly less than 1/3.</a:t>
            </a:r>
          </a:p>
          <a:p>
            <a:pPr eaLnBrk="1" hangingPunct="1"/>
            <a:r>
              <a:rPr lang="en-US" sz="2000" b="1" dirty="0">
                <a:solidFill>
                  <a:schemeClr val="accent2"/>
                </a:solidFill>
                <a:cs typeface="Arial"/>
              </a:rPr>
              <a:t>1.0/3.0 + 1.0/3.0 + 1.0/3.0</a:t>
            </a:r>
            <a:r>
              <a:rPr lang="en-US" sz="2000" dirty="0">
                <a:cs typeface="Arial"/>
              </a:rPr>
              <a:t> </a:t>
            </a:r>
            <a:br>
              <a:rPr lang="en-US" sz="2000" dirty="0">
                <a:cs typeface="Arial"/>
              </a:rPr>
            </a:br>
            <a:r>
              <a:rPr lang="en-US" sz="2000" dirty="0">
                <a:cs typeface="Arial"/>
              </a:rPr>
              <a:t>is less than 1.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48776" y="359541"/>
            <a:ext cx="7707862" cy="48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2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 Light" charset="0"/>
              </a:rPr>
              <a:t>Imprecision in Floating-Point Numbers</a:t>
            </a:r>
          </a:p>
        </p:txBody>
      </p:sp>
    </p:spTree>
    <p:extLst>
      <p:ext uri="{BB962C8B-B14F-4D97-AF65-F5344CB8AC3E}">
        <p14:creationId xmlns:p14="http://schemas.microsoft.com/office/powerpoint/2010/main" val="390491288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Named Constants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Java provides mechanism to …</a:t>
            </a:r>
          </a:p>
          <a:p>
            <a:pPr lvl="1" eaLnBrk="1" hangingPunct="1"/>
            <a:r>
              <a:rPr lang="en-US" sz="2000" dirty="0">
                <a:cs typeface="Arial"/>
              </a:rPr>
              <a:t>Define a variable</a:t>
            </a:r>
          </a:p>
          <a:p>
            <a:pPr lvl="1" eaLnBrk="1" hangingPunct="1"/>
            <a:r>
              <a:rPr lang="en-US" sz="2000" dirty="0">
                <a:cs typeface="Arial"/>
              </a:rPr>
              <a:t>Initialize it</a:t>
            </a:r>
          </a:p>
          <a:p>
            <a:pPr lvl="1" eaLnBrk="1" hangingPunct="1"/>
            <a:r>
              <a:rPr lang="en-US" sz="2000" dirty="0">
                <a:cs typeface="Arial"/>
              </a:rPr>
              <a:t>Fix the value so it cannot be changed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public static final Type Variable = Constant;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endParaRPr lang="en-US" sz="2000" b="1" dirty="0">
              <a:solidFill>
                <a:schemeClr val="accent2"/>
              </a:solidFill>
              <a:cs typeface="Arial"/>
            </a:endParaRPr>
          </a:p>
          <a:p>
            <a:pPr lvl="1" eaLnBrk="1" hangingPunct="1"/>
            <a:r>
              <a:rPr lang="en-US" sz="2000" dirty="0">
                <a:cs typeface="Arial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public static final double PI = 3.14159;</a:t>
            </a:r>
          </a:p>
        </p:txBody>
      </p:sp>
    </p:spTree>
    <p:extLst>
      <p:ext uri="{BB962C8B-B14F-4D97-AF65-F5344CB8AC3E}">
        <p14:creationId xmlns:p14="http://schemas.microsoft.com/office/powerpoint/2010/main" val="290872837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Assignment Compatibilities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Java is said to be </a:t>
            </a:r>
            <a:r>
              <a:rPr lang="en-US" sz="2000" i="1" dirty="0">
                <a:cs typeface="Arial"/>
              </a:rPr>
              <a:t>strongly typed.</a:t>
            </a:r>
          </a:p>
          <a:p>
            <a:pPr lvl="1" eaLnBrk="1" hangingPunct="1"/>
            <a:r>
              <a:rPr lang="en-US" sz="2000" dirty="0">
                <a:cs typeface="Arial"/>
              </a:rPr>
              <a:t>You can't, for example, assign a floating point value to a variable declared to store an integer</a:t>
            </a:r>
            <a:r>
              <a:rPr lang="en-US" sz="2000" dirty="0" smtClean="0">
                <a:cs typeface="Arial"/>
              </a:rPr>
              <a:t>.</a:t>
            </a:r>
          </a:p>
          <a:p>
            <a:pPr lvl="1" eaLnBrk="1" hangingPunct="1"/>
            <a:endParaRPr lang="en-US" sz="2000" dirty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>Sometimes conversions between numbers are possible.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doubleVariable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= 7;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is possible even if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doubleVariable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  <a:r>
              <a:rPr lang="en-US" sz="2000" dirty="0">
                <a:cs typeface="Arial"/>
              </a:rPr>
              <a:t>is of type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double</a:t>
            </a:r>
            <a:r>
              <a:rPr lang="en-US" sz="2000" dirty="0">
                <a:cs typeface="Arial"/>
              </a:rPr>
              <a:t>, for example.</a:t>
            </a:r>
          </a:p>
        </p:txBody>
      </p:sp>
    </p:spTree>
    <p:extLst>
      <p:ext uri="{BB962C8B-B14F-4D97-AF65-F5344CB8AC3E}">
        <p14:creationId xmlns:p14="http://schemas.microsoft.com/office/powerpoint/2010/main" val="30689838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Assignment Compatibilities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 value of one type can be assigned to a variable of any type further to the right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cs typeface="Arial"/>
              </a:rPr>
              <a:t>	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byte --&gt; short --&gt; </a:t>
            </a:r>
            <a:r>
              <a:rPr lang="en-US" sz="2000" b="1" dirty="0" err="1" smtClean="0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 --&gt; long </a:t>
            </a:r>
          </a:p>
          <a:p>
            <a:pPr eaLnBrk="1" hangingPunct="1">
              <a:buFontTx/>
              <a:buNone/>
            </a:pP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	--&gt; float --&gt; double</a:t>
            </a:r>
          </a:p>
          <a:p>
            <a:pPr lvl="1" eaLnBrk="1" hangingPunct="1"/>
            <a:r>
              <a:rPr lang="en-US" sz="2000" dirty="0" smtClean="0">
                <a:cs typeface="Arial"/>
              </a:rPr>
              <a:t>But not to a variable of any type further to the left.</a:t>
            </a:r>
          </a:p>
          <a:p>
            <a:pPr eaLnBrk="1" hangingPunct="1"/>
            <a:r>
              <a:rPr lang="en-US" sz="2000" dirty="0" smtClean="0">
                <a:cs typeface="Arial"/>
              </a:rPr>
              <a:t>You can assign a value of type char to a variable of type 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 smtClean="0">
                <a:cs typeface="Arial"/>
              </a:rPr>
              <a:t>.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984776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Type Casting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 </a:t>
            </a:r>
            <a:r>
              <a:rPr lang="en-US" sz="2000" i="1" dirty="0">
                <a:cs typeface="Arial"/>
              </a:rPr>
              <a:t>type cast </a:t>
            </a:r>
            <a:r>
              <a:rPr lang="en-US" sz="2000" dirty="0">
                <a:cs typeface="Arial"/>
              </a:rPr>
              <a:t>temporarily changes the value of a variable from the declared type to some other type.</a:t>
            </a:r>
          </a:p>
          <a:p>
            <a:pPr eaLnBrk="1" hangingPunct="1"/>
            <a:r>
              <a:rPr lang="en-US" sz="2000" dirty="0">
                <a:cs typeface="Arial"/>
              </a:rPr>
              <a:t>For example,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double distance;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distance = 9.0;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points;	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points = 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)distance;</a:t>
            </a:r>
          </a:p>
          <a:p>
            <a:pPr eaLnBrk="1" hangingPunct="1"/>
            <a:r>
              <a:rPr lang="en-US" sz="2000" dirty="0">
                <a:cs typeface="Arial"/>
              </a:rPr>
              <a:t>Illegal without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</a:t>
            </a:r>
            <a:r>
              <a:rPr lang="en-US" sz="2000" dirty="0">
                <a:cs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3520790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Type Casting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The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)distance</a:t>
            </a:r>
            <a:r>
              <a:rPr lang="en-US" sz="2000" dirty="0" smtClean="0">
                <a:cs typeface="Arial"/>
              </a:rPr>
              <a:t> </a:t>
            </a:r>
            <a:r>
              <a:rPr lang="en-US" sz="2000" dirty="0">
                <a:cs typeface="Arial"/>
              </a:rPr>
              <a:t>is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9</a:t>
            </a:r>
            <a:r>
              <a:rPr lang="en-US" sz="2000" dirty="0">
                <a:cs typeface="Arial"/>
              </a:rPr>
              <a:t>, </a:t>
            </a:r>
          </a:p>
          <a:p>
            <a:pPr eaLnBrk="1" hangingPunct="1"/>
            <a:r>
              <a:rPr lang="en-US" sz="2000" dirty="0">
                <a:cs typeface="Arial"/>
              </a:rPr>
              <a:t>The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distance</a:t>
            </a:r>
            <a:r>
              <a:rPr lang="en-US" sz="2000" dirty="0">
                <a:cs typeface="Arial"/>
              </a:rPr>
              <a:t>, both before and after the cast, is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9.0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/>
            <a:r>
              <a:rPr lang="en-US" sz="2000" dirty="0">
                <a:cs typeface="Arial"/>
              </a:rPr>
              <a:t>Any nonzero value to the right of the decimal point is </a:t>
            </a:r>
            <a:r>
              <a:rPr lang="en-US" sz="2000" i="1" dirty="0">
                <a:cs typeface="Arial"/>
              </a:rPr>
              <a:t>truncated </a:t>
            </a:r>
            <a:r>
              <a:rPr lang="en-US" sz="2000" dirty="0">
                <a:cs typeface="Arial"/>
              </a:rPr>
              <a:t>rather than </a:t>
            </a:r>
            <a:r>
              <a:rPr lang="en-US" sz="2000" i="1" dirty="0">
                <a:cs typeface="Arial"/>
              </a:rPr>
              <a:t>rounded.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55012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Arithmetic Operators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Calibri" charset="0"/>
              </a:rPr>
              <a:t>Arithmetic expressions can be formed using the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+</a:t>
            </a:r>
            <a:r>
              <a:rPr lang="en-US" sz="2000" dirty="0">
                <a:latin typeface="Courier New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-</a:t>
            </a:r>
            <a:r>
              <a:rPr lang="en-US" sz="2000" dirty="0">
                <a:latin typeface="Courier New" charset="0"/>
              </a:rPr>
              <a:t>,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*</a:t>
            </a:r>
            <a:r>
              <a:rPr lang="en-US" sz="2000" dirty="0">
                <a:latin typeface="Courier New" charset="0"/>
              </a:rPr>
              <a:t>,</a:t>
            </a:r>
            <a:r>
              <a:rPr lang="en-US" sz="2000" dirty="0">
                <a:latin typeface="Calibri" charset="0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/</a:t>
            </a:r>
            <a:r>
              <a:rPr lang="en-US" sz="2000" dirty="0">
                <a:latin typeface="Calibri" charset="0"/>
              </a:rPr>
              <a:t> operators together with variables or numbers referred to as </a:t>
            </a:r>
            <a:r>
              <a:rPr lang="en-US" sz="2000" i="1" dirty="0">
                <a:latin typeface="Calibri" charset="0"/>
              </a:rPr>
              <a:t>operands.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When both operands are of the same type, the result is of that type.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When one of the operands is a floating-point type and the other is an integer, the result is a floating point type.</a:t>
            </a:r>
          </a:p>
        </p:txBody>
      </p:sp>
    </p:spTree>
    <p:extLst>
      <p:ext uri="{BB962C8B-B14F-4D97-AF65-F5344CB8AC3E}">
        <p14:creationId xmlns:p14="http://schemas.microsoft.com/office/powerpoint/2010/main" val="182095406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Arithmetic Operations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If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hoursWorked</a:t>
            </a:r>
            <a:r>
              <a:rPr lang="en-US" sz="2000" dirty="0">
                <a:cs typeface="Arial"/>
              </a:rPr>
              <a:t> is an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 to which the value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40 </a:t>
            </a:r>
            <a:r>
              <a:rPr lang="en-US" sz="2000" dirty="0">
                <a:cs typeface="Arial"/>
              </a:rPr>
              <a:t>has been assigned, and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payRate</a:t>
            </a:r>
            <a:r>
              <a:rPr lang="en-US" sz="2000" dirty="0">
                <a:cs typeface="Arial"/>
              </a:rPr>
              <a:t> is a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double</a:t>
            </a:r>
            <a:r>
              <a:rPr lang="en-US" sz="2000" dirty="0">
                <a:cs typeface="Arial"/>
              </a:rPr>
              <a:t> to which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8.25</a:t>
            </a:r>
            <a:r>
              <a:rPr lang="en-US" sz="2000" dirty="0">
                <a:cs typeface="Arial"/>
              </a:rPr>
              <a:t> has been assigned</a:t>
            </a:r>
          </a:p>
          <a:p>
            <a:pPr eaLnBrk="1" hangingPunct="1">
              <a:buFontTx/>
              <a:buNone/>
            </a:pPr>
            <a:endParaRPr lang="en-US" sz="2000" dirty="0">
              <a:cs typeface="Arial"/>
            </a:endParaRP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hoursWorked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*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payRate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</a:t>
            </a:r>
          </a:p>
          <a:p>
            <a:pPr eaLnBrk="1" hangingPunct="1">
              <a:buFontTx/>
              <a:buNone/>
            </a:pPr>
            <a:endParaRPr lang="en-US" sz="2000" b="1" dirty="0">
              <a:solidFill>
                <a:schemeClr val="accent2"/>
              </a:solidFill>
              <a:cs typeface="Arial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is a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double</a:t>
            </a:r>
            <a:r>
              <a:rPr lang="en-US" sz="2000" dirty="0">
                <a:cs typeface="Arial"/>
              </a:rPr>
              <a:t> with a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500.0</a:t>
            </a:r>
            <a:r>
              <a:rPr lang="en-US" sz="2000" dirty="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540050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Arithmetic Operations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Expressions with two or more operators can be viewed as a series of steps, each involving only two operands.</a:t>
            </a:r>
          </a:p>
          <a:p>
            <a:pPr lvl="1" eaLnBrk="1" hangingPunct="1"/>
            <a:r>
              <a:rPr lang="en-US" sz="2000" dirty="0">
                <a:cs typeface="Arial"/>
              </a:rPr>
              <a:t>The result of one step produces one of the operands to be used in the next step.</a:t>
            </a:r>
          </a:p>
          <a:p>
            <a:pPr eaLnBrk="1" hangingPunct="1"/>
            <a:r>
              <a:rPr lang="en-US" sz="2000" dirty="0">
                <a:cs typeface="Arial"/>
              </a:rPr>
              <a:t>example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balance + (balance * rate)</a:t>
            </a:r>
          </a:p>
        </p:txBody>
      </p:sp>
    </p:spTree>
    <p:extLst>
      <p:ext uri="{BB962C8B-B14F-4D97-AF65-F5344CB8AC3E}">
        <p14:creationId xmlns:p14="http://schemas.microsoft.com/office/powerpoint/2010/main" val="397050830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The Division Operator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9725" indent="-339725" eaLnBrk="1" hangingPunct="1"/>
            <a:r>
              <a:rPr lang="en-US" sz="2000" dirty="0">
                <a:cs typeface="Arial"/>
              </a:rPr>
              <a:t>The division operator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/</a:t>
            </a:r>
            <a:r>
              <a:rPr lang="en-US" sz="2000" dirty="0">
                <a:cs typeface="Arial"/>
              </a:rPr>
              <a:t>) behaves as expected if one of the operands is a floating-point type.</a:t>
            </a:r>
          </a:p>
          <a:p>
            <a:pPr marL="339725" indent="-339725" eaLnBrk="1" hangingPunct="1"/>
            <a:r>
              <a:rPr lang="en-US" sz="2000" dirty="0">
                <a:cs typeface="Arial"/>
              </a:rPr>
              <a:t>When both operands are integer types, the result is truncated, not rounded.</a:t>
            </a:r>
          </a:p>
          <a:p>
            <a:pPr marL="454025" lvl="1" indent="0" eaLnBrk="1" hangingPunct="1"/>
            <a:r>
              <a:rPr lang="en-US" sz="2000" dirty="0">
                <a:cs typeface="Arial"/>
              </a:rPr>
              <a:t> Hence,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99/100</a:t>
            </a:r>
            <a:r>
              <a:rPr lang="en-US" sz="2000" dirty="0">
                <a:cs typeface="Arial"/>
              </a:rPr>
              <a:t> has a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0</a:t>
            </a:r>
            <a:r>
              <a:rPr lang="en-US" sz="2000" dirty="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608847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/>
              </a:rPr>
              <a:t>The 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mod</a:t>
            </a:r>
            <a:r>
              <a:rPr lang="en-US" dirty="0">
                <a:cs typeface="Arial"/>
              </a:rPr>
              <a:t> Operator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mod</a:t>
            </a:r>
            <a:r>
              <a:rPr lang="en-US" sz="2000" dirty="0">
                <a:cs typeface="Arial"/>
              </a:rPr>
              <a:t>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%</a:t>
            </a:r>
            <a:r>
              <a:rPr lang="en-US" sz="2000" dirty="0">
                <a:cs typeface="Arial"/>
              </a:rPr>
              <a:t>) operator is used with operators of integer type to obtain the remainder after integer division.</a:t>
            </a:r>
          </a:p>
          <a:p>
            <a:pPr eaLnBrk="1" hangingPunct="1"/>
            <a:r>
              <a:rPr lang="en-US" sz="2000" dirty="0">
                <a:cs typeface="Arial"/>
              </a:rPr>
              <a:t>14 divided by 4 is 3 </a:t>
            </a:r>
            <a:r>
              <a:rPr lang="en-US" sz="2000" i="1" dirty="0">
                <a:cs typeface="Arial"/>
              </a:rPr>
              <a:t>with a remainder of 2.</a:t>
            </a:r>
            <a:endParaRPr lang="en-US" sz="2000" dirty="0">
              <a:cs typeface="Arial"/>
            </a:endParaRPr>
          </a:p>
          <a:p>
            <a:pPr lvl="1" eaLnBrk="1" hangingPunct="1"/>
            <a:r>
              <a:rPr lang="en-US" sz="2000" dirty="0">
                <a:cs typeface="Arial"/>
              </a:rPr>
              <a:t>Hence,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14 % 4</a:t>
            </a:r>
            <a:r>
              <a:rPr lang="en-US" sz="2000" dirty="0">
                <a:cs typeface="Arial"/>
              </a:rPr>
              <a:t> is equal to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2.</a:t>
            </a:r>
          </a:p>
          <a:p>
            <a:pPr eaLnBrk="1" hangingPunct="1"/>
            <a:r>
              <a:rPr lang="en-US" sz="2000" dirty="0">
                <a:cs typeface="Arial"/>
              </a:rPr>
              <a:t>The mod operator has many uses, including</a:t>
            </a:r>
          </a:p>
          <a:p>
            <a:pPr lvl="1" eaLnBrk="1" hangingPunct="1"/>
            <a:r>
              <a:rPr lang="en-US" sz="2000" dirty="0">
                <a:cs typeface="Arial"/>
              </a:rPr>
              <a:t>determining if an integer is odd or even</a:t>
            </a:r>
          </a:p>
          <a:p>
            <a:pPr lvl="1" eaLnBrk="1" hangingPunct="1"/>
            <a:r>
              <a:rPr lang="en-US" sz="2000" dirty="0">
                <a:cs typeface="Arial"/>
              </a:rPr>
              <a:t>determining if one integer is evenly divisible by another integer.</a:t>
            </a:r>
          </a:p>
        </p:txBody>
      </p:sp>
    </p:spTree>
    <p:extLst>
      <p:ext uri="{BB962C8B-B14F-4D97-AF65-F5344CB8AC3E}">
        <p14:creationId xmlns:p14="http://schemas.microsoft.com/office/powerpoint/2010/main" val="51584832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Parentheses and Precedence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Parentheses can communicate the order in which arithmetic operations are performed</a:t>
            </a:r>
          </a:p>
          <a:p>
            <a:pPr eaLnBrk="1" hangingPunct="1"/>
            <a:r>
              <a:rPr lang="en-US" sz="2000" dirty="0">
                <a:cs typeface="Arial"/>
              </a:rPr>
              <a:t>examples: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(cost + tax) * discount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(cost + (tax * discount)</a:t>
            </a:r>
          </a:p>
          <a:p>
            <a:pPr eaLnBrk="1" hangingPunct="1"/>
            <a:r>
              <a:rPr lang="en-US" sz="2000" dirty="0">
                <a:cs typeface="Arial"/>
              </a:rPr>
              <a:t>Without parentheses, an expressions is evaluated according to the </a:t>
            </a:r>
            <a:r>
              <a:rPr lang="en-US" sz="2000" i="1" dirty="0">
                <a:cs typeface="Arial"/>
              </a:rPr>
              <a:t>rules of precedence.</a:t>
            </a: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236326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Precedence Rules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The </a:t>
            </a:r>
            <a:r>
              <a:rPr lang="en-US" sz="2000" i="1" dirty="0">
                <a:cs typeface="Arial"/>
              </a:rPr>
              <a:t>binary</a:t>
            </a:r>
            <a:r>
              <a:rPr lang="en-US" sz="2000" dirty="0">
                <a:cs typeface="Arial"/>
              </a:rPr>
              <a:t> arithmetic operators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*, /,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%</a:t>
            </a:r>
            <a:r>
              <a:rPr lang="en-US" sz="2000" dirty="0">
                <a:cs typeface="Arial"/>
              </a:rPr>
              <a:t>, have </a:t>
            </a:r>
            <a:r>
              <a:rPr lang="en-US" sz="2000" i="1" dirty="0">
                <a:cs typeface="Arial"/>
              </a:rPr>
              <a:t>lower precedence </a:t>
            </a:r>
            <a:r>
              <a:rPr lang="en-US" sz="2000" dirty="0">
                <a:cs typeface="Arial"/>
              </a:rPr>
              <a:t>than the </a:t>
            </a:r>
            <a:r>
              <a:rPr lang="en-US" sz="2000" i="1" dirty="0">
                <a:cs typeface="Arial"/>
              </a:rPr>
              <a:t>unary</a:t>
            </a:r>
            <a:r>
              <a:rPr lang="en-US" sz="2000" dirty="0">
                <a:cs typeface="Arial"/>
              </a:rPr>
              <a:t> operators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+, -, ++, --,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!</a:t>
            </a:r>
            <a:r>
              <a:rPr lang="en-US" sz="2000" dirty="0">
                <a:cs typeface="Arial"/>
              </a:rPr>
              <a:t>, but have </a:t>
            </a:r>
            <a:r>
              <a:rPr lang="en-US" sz="2000" i="1" dirty="0">
                <a:cs typeface="Arial"/>
              </a:rPr>
              <a:t>higher precedence</a:t>
            </a:r>
            <a:r>
              <a:rPr lang="en-US" sz="2000" dirty="0">
                <a:cs typeface="Arial"/>
              </a:rPr>
              <a:t> than the binary arithmetic operators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-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/>
            <a:r>
              <a:rPr lang="en-US" sz="2000" dirty="0">
                <a:cs typeface="Arial"/>
              </a:rPr>
              <a:t>When binary operators have equal precedence, the operator on the left acts before the operator(s)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1430792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574800"/>
            <a:ext cx="7738024" cy="301982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Assignment operators can be combined with arithmetic operators (including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-, *, /,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%, </a:t>
            </a:r>
            <a:r>
              <a:rPr lang="en-US" sz="2000" dirty="0">
                <a:cs typeface="Arial"/>
              </a:rPr>
              <a:t>discussed later).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amount = amount + 5;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can be written as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amount += 5;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yielding the same results.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48776" y="359541"/>
            <a:ext cx="7707862" cy="48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2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 Light" charset="0"/>
              </a:rPr>
              <a:t>Specialized 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76656771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158240"/>
            <a:ext cx="7707862" cy="364236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000" dirty="0">
                <a:cs typeface="Arial"/>
              </a:rPr>
              <a:t>Used to increase (or decrease) the value of a variable by 1</a:t>
            </a:r>
          </a:p>
          <a:p>
            <a:pPr eaLnBrk="1" hangingPunct="1"/>
            <a:r>
              <a:rPr lang="en-US" sz="2000" dirty="0">
                <a:cs typeface="Arial"/>
              </a:rPr>
              <a:t>Easy to use, important to recognize</a:t>
            </a:r>
          </a:p>
          <a:p>
            <a:pPr eaLnBrk="1" hangingPunct="1"/>
            <a:endParaRPr lang="en-US" sz="2000" dirty="0" smtClean="0">
              <a:cs typeface="Arial"/>
            </a:endParaRPr>
          </a:p>
          <a:p>
            <a:pPr eaLnBrk="1" hangingPunct="1"/>
            <a:r>
              <a:rPr lang="en-US" sz="2000" dirty="0" smtClean="0">
                <a:cs typeface="Arial"/>
              </a:rPr>
              <a:t>The </a:t>
            </a:r>
            <a:r>
              <a:rPr lang="en-US" sz="2000" dirty="0">
                <a:cs typeface="Arial"/>
              </a:rPr>
              <a:t>increment operator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count++</a:t>
            </a:r>
            <a:r>
              <a:rPr lang="en-US" sz="2000" dirty="0">
                <a:cs typeface="Arial"/>
              </a:rPr>
              <a:t> or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++count</a:t>
            </a:r>
          </a:p>
          <a:p>
            <a:pPr lvl="1" eaLnBrk="1" hangingPunct="1">
              <a:buFont typeface="Wingdings" charset="0"/>
              <a:buChar char="ó"/>
            </a:pPr>
            <a:r>
              <a:rPr lang="en-US" b="1" dirty="0" smtClean="0">
                <a:solidFill>
                  <a:schemeClr val="accent2"/>
                </a:solidFill>
                <a:latin typeface="Courier New" charset="0"/>
              </a:rPr>
              <a:t>count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= count + 1</a:t>
            </a:r>
            <a:r>
              <a:rPr lang="en-US" b="1" dirty="0" smtClean="0">
                <a:solidFill>
                  <a:schemeClr val="accent2"/>
                </a:solidFill>
                <a:latin typeface="Courier New" charset="0"/>
              </a:rPr>
              <a:t>;</a:t>
            </a:r>
          </a:p>
          <a:p>
            <a:pPr lvl="1" eaLnBrk="1" hangingPunct="1">
              <a:buFont typeface="Wingdings" charset="0"/>
              <a:buChar char="ó"/>
            </a:pPr>
            <a:endParaRPr lang="en-US" sz="2000" dirty="0" smtClean="0">
              <a:cs typeface="Arial"/>
            </a:endParaRPr>
          </a:p>
          <a:p>
            <a:pPr eaLnBrk="1" hangingPunct="1"/>
            <a:r>
              <a:rPr lang="en-US" sz="2000" dirty="0" smtClean="0">
                <a:cs typeface="Arial"/>
              </a:rPr>
              <a:t>The </a:t>
            </a:r>
            <a:r>
              <a:rPr lang="en-US" sz="2000" dirty="0">
                <a:cs typeface="Arial"/>
              </a:rPr>
              <a:t>decrement operator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count--</a:t>
            </a:r>
            <a:r>
              <a:rPr lang="en-US" sz="2000" dirty="0">
                <a:cs typeface="Arial"/>
              </a:rPr>
              <a:t> or </a:t>
            </a:r>
            <a:r>
              <a:rPr lang="en-US" sz="2000" b="1" dirty="0" smtClean="0">
                <a:solidFill>
                  <a:schemeClr val="accent2"/>
                </a:solidFill>
                <a:cs typeface="Arial"/>
              </a:rPr>
              <a:t>–count</a:t>
            </a:r>
          </a:p>
          <a:p>
            <a:pPr lvl="1" eaLnBrk="1" hangingPunct="1">
              <a:buFont typeface="Wingdings" charset="0"/>
              <a:buChar char="ó"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count = count </a:t>
            </a:r>
            <a:r>
              <a:rPr lang="en-US" sz="2000" b="1" dirty="0" smtClean="0">
                <a:solidFill>
                  <a:schemeClr val="accent2"/>
                </a:solidFill>
                <a:latin typeface="Courier New" charset="0"/>
              </a:rPr>
              <a:t>-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1;</a:t>
            </a:r>
          </a:p>
          <a:p>
            <a:pPr lvl="1" eaLnBrk="1" hangingPunct="1">
              <a:buFont typeface="Wingdings" charset="0"/>
              <a:buNone/>
            </a:pPr>
            <a:endParaRPr lang="en-US" sz="2000" b="1" dirty="0">
              <a:solidFill>
                <a:schemeClr val="accent2"/>
              </a:solidFill>
              <a:cs typeface="Arial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48776" y="359541"/>
            <a:ext cx="7707862" cy="48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2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 Light" charset="0"/>
              </a:rPr>
              <a:t>Increment and Decrement Operators</a:t>
            </a:r>
          </a:p>
        </p:txBody>
      </p:sp>
    </p:spTree>
    <p:extLst>
      <p:ext uri="{BB962C8B-B14F-4D97-AF65-F5344CB8AC3E}">
        <p14:creationId xmlns:p14="http://schemas.microsoft.com/office/powerpoint/2010/main" val="275548028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70000"/>
            <a:ext cx="7707862" cy="330200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after executing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m = 4;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result = 3 * (++m)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result</a:t>
            </a:r>
            <a:r>
              <a:rPr lang="en-US" sz="2000" dirty="0">
                <a:cs typeface="Arial"/>
              </a:rPr>
              <a:t> has a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15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m</a:t>
            </a:r>
            <a:r>
              <a:rPr lang="en-US" sz="2000" dirty="0">
                <a:cs typeface="Arial"/>
              </a:rPr>
              <a:t> has a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5</a:t>
            </a:r>
          </a:p>
          <a:p>
            <a:pPr eaLnBrk="1" hangingPunct="1"/>
            <a:r>
              <a:rPr lang="en-US" sz="2000" dirty="0">
                <a:cs typeface="Arial"/>
              </a:rPr>
              <a:t>after executing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m = 4;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result = 3 * (m++)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result</a:t>
            </a:r>
            <a:r>
              <a:rPr lang="en-US" sz="2000" dirty="0">
                <a:cs typeface="Arial"/>
              </a:rPr>
              <a:t> has a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12</a:t>
            </a:r>
            <a:r>
              <a:rPr lang="en-US" sz="2000" dirty="0">
                <a:cs typeface="Arial"/>
              </a:rPr>
              <a:t> and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m </a:t>
            </a:r>
            <a:r>
              <a:rPr lang="en-US" sz="2000" dirty="0">
                <a:cs typeface="Arial"/>
              </a:rPr>
              <a:t>has a value of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5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48776" y="369701"/>
            <a:ext cx="7707862" cy="48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2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 Light" charset="0"/>
              </a:rPr>
              <a:t>Increment and Decrement </a:t>
            </a:r>
            <a:r>
              <a:rPr lang="en-US" dirty="0" smtClean="0">
                <a:latin typeface="Calibri Light" charset="0"/>
              </a:rPr>
              <a:t>Operators in Expressions</a:t>
            </a:r>
            <a:endParaRPr lang="en-US" dirty="0">
              <a:latin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69988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The Class </a:t>
            </a:r>
            <a:r>
              <a:rPr lang="en-US" b="1">
                <a:solidFill>
                  <a:schemeClr val="accent2"/>
                </a:solidFill>
                <a:latin typeface="Courier New" charset="0"/>
              </a:rPr>
              <a:t>String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We've used constants of type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</a:t>
            </a:r>
            <a:r>
              <a:rPr lang="en-US" sz="2000" dirty="0">
                <a:cs typeface="Arial"/>
              </a:rPr>
              <a:t> already.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"Enter a whole number from 1 to 99."</a:t>
            </a:r>
          </a:p>
          <a:p>
            <a:pPr eaLnBrk="1" hangingPunct="1"/>
            <a:r>
              <a:rPr lang="en-US" sz="2000" dirty="0">
                <a:cs typeface="Arial"/>
              </a:rPr>
              <a:t>A value of type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</a:t>
            </a:r>
            <a:r>
              <a:rPr lang="en-US" sz="2000" dirty="0">
                <a:cs typeface="Arial"/>
              </a:rPr>
              <a:t> is a </a:t>
            </a:r>
          </a:p>
          <a:p>
            <a:pPr lvl="1" eaLnBrk="1" hangingPunct="1"/>
            <a:r>
              <a:rPr lang="en-US" sz="2000" dirty="0">
                <a:cs typeface="Arial"/>
              </a:rPr>
              <a:t>Sequence of characters </a:t>
            </a:r>
          </a:p>
          <a:p>
            <a:pPr lvl="1" eaLnBrk="1" hangingPunct="1"/>
            <a:r>
              <a:rPr lang="en-US" sz="2000" dirty="0">
                <a:cs typeface="Arial"/>
              </a:rPr>
              <a:t>Treated as a single item.</a:t>
            </a:r>
          </a:p>
        </p:txBody>
      </p:sp>
    </p:spTree>
    <p:extLst>
      <p:ext uri="{BB962C8B-B14F-4D97-AF65-F5344CB8AC3E}">
        <p14:creationId xmlns:p14="http://schemas.microsoft.com/office/powerpoint/2010/main" val="118392729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String Constants and Variables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085851"/>
            <a:ext cx="7742238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Declaring	 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String greeting;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greeting = "Hello!";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or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greeting = "Hello!";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or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greeting = new String("Hello!");</a:t>
            </a:r>
          </a:p>
          <a:p>
            <a:pPr eaLnBrk="1" hangingPunct="1"/>
            <a:r>
              <a:rPr lang="en-US" sz="2000" dirty="0">
                <a:cs typeface="Arial"/>
              </a:rPr>
              <a:t>Printing</a:t>
            </a:r>
          </a:p>
          <a:p>
            <a:pPr eaLnBrk="1" hangingPunct="1">
              <a:buFontTx/>
              <a:buNone/>
            </a:pPr>
            <a:r>
              <a:rPr lang="en-US" sz="2000" dirty="0">
                <a:cs typeface="Arial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(greeting);</a:t>
            </a:r>
          </a:p>
        </p:txBody>
      </p:sp>
    </p:spTree>
    <p:extLst>
      <p:ext uri="{BB962C8B-B14F-4D97-AF65-F5344CB8AC3E}">
        <p14:creationId xmlns:p14="http://schemas.microsoft.com/office/powerpoint/2010/main" val="128667451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Concatenation of Strings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59840"/>
            <a:ext cx="7707862" cy="337288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Two strings are </a:t>
            </a:r>
            <a:r>
              <a:rPr lang="en-US" sz="2000" i="1" dirty="0">
                <a:cs typeface="Arial"/>
              </a:rPr>
              <a:t>concatenated</a:t>
            </a:r>
            <a:r>
              <a:rPr lang="en-US" sz="2000" dirty="0">
                <a:cs typeface="Arial"/>
              </a:rPr>
              <a:t> using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 </a:t>
            </a:r>
            <a:r>
              <a:rPr lang="en-US" sz="2000" dirty="0">
                <a:cs typeface="Arial"/>
              </a:rPr>
              <a:t>operator.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greeting = "Hello";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String sentence;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sentence = greeting + " officer";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(sentence);</a:t>
            </a:r>
          </a:p>
          <a:p>
            <a:pPr eaLnBrk="1" hangingPunct="1"/>
            <a:r>
              <a:rPr lang="en-US" sz="2000" dirty="0">
                <a:cs typeface="Arial"/>
              </a:rPr>
              <a:t>Any number of strings can be concatenated using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</a:t>
            </a:r>
            <a:r>
              <a:rPr lang="en-US" sz="2000" dirty="0">
                <a:cs typeface="Arial"/>
              </a:rPr>
              <a:t> operator.</a:t>
            </a:r>
          </a:p>
        </p:txBody>
      </p:sp>
    </p:spTree>
    <p:extLst>
      <p:ext uri="{BB962C8B-B14F-4D97-AF65-F5344CB8AC3E}">
        <p14:creationId xmlns:p14="http://schemas.microsoft.com/office/powerpoint/2010/main" val="339576340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49680"/>
            <a:ext cx="7738024" cy="334494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	String solution;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	solution = "The answer is " + 42;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 (solution);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alibri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alibri" charset="0"/>
              </a:rPr>
              <a:t>	</a:t>
            </a:r>
            <a:endParaRPr lang="en-US" sz="2000" b="1" dirty="0">
              <a:solidFill>
                <a:schemeClr val="accent2"/>
              </a:solidFill>
              <a:latin typeface="Courier New" charset="0"/>
            </a:endParaRPr>
          </a:p>
        </p:txBody>
      </p:sp>
      <p:sp>
        <p:nvSpPr>
          <p:cNvPr id="71684" name="Text Box 5"/>
          <p:cNvSpPr txBox="1">
            <a:spLocks noChangeArrowheads="1"/>
          </p:cNvSpPr>
          <p:nvPr/>
        </p:nvSpPr>
        <p:spPr bwMode="auto">
          <a:xfrm>
            <a:off x="1733550" y="3019425"/>
            <a:ext cx="449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400" b="1">
                <a:solidFill>
                  <a:schemeClr val="accent2"/>
                </a:solidFill>
                <a:latin typeface="Courier New" charset="0"/>
              </a:rPr>
              <a:t>The temperature is 72</a:t>
            </a:r>
          </a:p>
        </p:txBody>
      </p:sp>
      <p:grpSp>
        <p:nvGrpSpPr>
          <p:cNvPr id="71685" name="Group 11"/>
          <p:cNvGrpSpPr>
            <a:grpSpLocks/>
          </p:cNvGrpSpPr>
          <p:nvPr/>
        </p:nvGrpSpPr>
        <p:grpSpPr bwMode="auto">
          <a:xfrm>
            <a:off x="1612900" y="2833688"/>
            <a:ext cx="5894388" cy="1714500"/>
            <a:chOff x="880" y="2198"/>
            <a:chExt cx="4259" cy="1667"/>
          </a:xfrm>
        </p:grpSpPr>
        <p:sp>
          <p:nvSpPr>
            <p:cNvPr id="75788" name="Rectangle 12"/>
            <p:cNvSpPr>
              <a:spLocks noChangeArrowheads="1"/>
            </p:cNvSpPr>
            <p:nvPr/>
          </p:nvSpPr>
          <p:spPr bwMode="auto">
            <a:xfrm>
              <a:off x="880" y="2198"/>
              <a:ext cx="4259" cy="166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 algn="ctr">
              <a:noFill/>
              <a:miter lim="800000"/>
              <a:headEnd/>
              <a:tailEnd/>
            </a:ln>
            <a:effectLst>
              <a:outerShdw dist="101600" dir="2700000" algn="ctr" rotWithShape="0">
                <a:schemeClr val="bg1">
                  <a:lumMod val="50000"/>
                </a:schemeClr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Arial" pitchFamily="34" charset="0"/>
                <a:ea typeface="+mn-ea"/>
              </a:endParaRPr>
            </a:p>
          </p:txBody>
        </p:sp>
        <p:sp>
          <p:nvSpPr>
            <p:cNvPr id="71688" name="AutoShape 13"/>
            <p:cNvSpPr>
              <a:spLocks noChangeArrowheads="1"/>
            </p:cNvSpPr>
            <p:nvPr/>
          </p:nvSpPr>
          <p:spPr bwMode="auto">
            <a:xfrm>
              <a:off x="1091" y="2365"/>
              <a:ext cx="3790" cy="130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</p:grpSp>
      <p:sp>
        <p:nvSpPr>
          <p:cNvPr id="71686" name="Text Box 14"/>
          <p:cNvSpPr txBox="1">
            <a:spLocks noChangeArrowheads="1"/>
          </p:cNvSpPr>
          <p:nvPr/>
        </p:nvSpPr>
        <p:spPr bwMode="auto">
          <a:xfrm>
            <a:off x="1929130" y="3446631"/>
            <a:ext cx="449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400" b="1" dirty="0">
                <a:solidFill>
                  <a:schemeClr val="accent2"/>
                </a:solidFill>
                <a:latin typeface="Courier New" charset="0"/>
              </a:rPr>
              <a:t>The answer is 42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948776" y="359541"/>
            <a:ext cx="7707862" cy="48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2"/>
                </a:solidFill>
                <a:latin typeface="Arial"/>
                <a:ea typeface="ＭＳ Ｐゴシック" charset="0"/>
                <a:cs typeface="ＭＳ Ｐゴシック" charset="0"/>
              </a:defRPr>
            </a:lvl1pPr>
            <a:lvl2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defTabSz="457200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2"/>
                </a:solidFill>
                <a:latin typeface="Source Sans Pro Semibold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dirty="0" smtClean="0">
                <a:latin typeface="Calibri Light" charset="0"/>
              </a:rPr>
              <a:t>Concatenation of Strings and Integers</a:t>
            </a:r>
            <a:endParaRPr lang="en-US" dirty="0">
              <a:latin typeface="Calibri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92866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String Methods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An object of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</a:t>
            </a:r>
            <a:r>
              <a:rPr lang="en-US" sz="2000" dirty="0">
                <a:cs typeface="Arial"/>
              </a:rPr>
              <a:t> class stores data consisting of a sequence of characters.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Objects have methods as well as data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length()</a:t>
            </a:r>
            <a:r>
              <a:rPr lang="en-US" sz="2000" dirty="0">
                <a:cs typeface="Arial"/>
              </a:rPr>
              <a:t> method returns the number of characters in a particular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String</a:t>
            </a:r>
            <a:r>
              <a:rPr lang="en-US" sz="2000" dirty="0">
                <a:cs typeface="Arial"/>
              </a:rPr>
              <a:t> object.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 String greeting = "Hello";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n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greeting.length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22686829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The Method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length()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7" y="1493044"/>
            <a:ext cx="7707862" cy="3101579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The method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length()</a:t>
            </a:r>
            <a:r>
              <a:rPr lang="en-US" sz="2000" dirty="0">
                <a:cs typeface="Arial"/>
              </a:rPr>
              <a:t> returns an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You can use a call to method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length()</a:t>
            </a:r>
            <a:r>
              <a:rPr lang="en-US" sz="2000" dirty="0">
                <a:cs typeface="Arial"/>
              </a:rPr>
              <a:t> anywhere an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 can be used.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count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command.length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("Length is " +    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 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command.length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count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command.length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 + 3;</a:t>
            </a:r>
          </a:p>
        </p:txBody>
      </p:sp>
    </p:spTree>
    <p:extLst>
      <p:ext uri="{BB962C8B-B14F-4D97-AF65-F5344CB8AC3E}">
        <p14:creationId xmlns:p14="http://schemas.microsoft.com/office/powerpoint/2010/main" val="1584759987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1016000" y="1079898"/>
            <a:ext cx="7599680" cy="349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dirty="0">
              <a:latin typeface="Arial"/>
              <a:cs typeface="Arial"/>
            </a:endParaRPr>
          </a:p>
          <a:p>
            <a:pPr>
              <a:spcBef>
                <a:spcPct val="20000"/>
              </a:spcBef>
            </a:pPr>
            <a:endParaRPr lang="en-US" sz="2000" dirty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dirty="0" smtClean="0">
              <a:latin typeface="Arial"/>
              <a:cs typeface="Arial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 smtClean="0">
                <a:latin typeface="Arial"/>
                <a:cs typeface="Arial"/>
              </a:rPr>
              <a:t>Positions </a:t>
            </a:r>
            <a:r>
              <a:rPr lang="en-US" sz="2000" dirty="0">
                <a:latin typeface="Arial"/>
                <a:cs typeface="Arial"/>
              </a:rPr>
              <a:t>start with 0, not 1.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Arial"/>
                <a:cs typeface="Arial"/>
              </a:rPr>
              <a:t>The 'J' in "Java is fun." is in position 0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Arial"/>
                <a:cs typeface="Arial"/>
              </a:rPr>
              <a:t>A position is referred to an an </a:t>
            </a:r>
            <a:r>
              <a:rPr lang="en-US" sz="2000" i="1" dirty="0">
                <a:latin typeface="Arial"/>
                <a:cs typeface="Arial"/>
              </a:rPr>
              <a:t>index.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>
                <a:latin typeface="Arial"/>
                <a:cs typeface="Arial"/>
              </a:rPr>
              <a:t>The '</a:t>
            </a:r>
            <a:r>
              <a:rPr lang="en-US" sz="2000" b="1" dirty="0">
                <a:solidFill>
                  <a:schemeClr val="accent2"/>
                </a:solidFill>
                <a:latin typeface="Arial"/>
                <a:cs typeface="Arial"/>
              </a:rPr>
              <a:t>f'</a:t>
            </a:r>
            <a:r>
              <a:rPr lang="en-US" sz="2000" dirty="0">
                <a:latin typeface="Arial"/>
                <a:cs typeface="Arial"/>
              </a:rPr>
              <a:t> in </a:t>
            </a:r>
            <a:r>
              <a:rPr lang="en-US" sz="2000" b="1" dirty="0">
                <a:solidFill>
                  <a:schemeClr val="accent2"/>
                </a:solidFill>
                <a:latin typeface="Arial"/>
                <a:cs typeface="Arial"/>
              </a:rPr>
              <a:t>"Java is fun."</a:t>
            </a:r>
            <a:r>
              <a:rPr lang="en-US" sz="2000" dirty="0">
                <a:latin typeface="Arial"/>
                <a:cs typeface="Arial"/>
              </a:rPr>
              <a:t> is at index 8.</a:t>
            </a:r>
          </a:p>
        </p:txBody>
      </p:sp>
      <p:sp>
        <p:nvSpPr>
          <p:cNvPr id="74755" name="Rectangle 4"/>
          <p:cNvSpPr>
            <a:spLocks noChangeArrowheads="1"/>
          </p:cNvSpPr>
          <p:nvPr/>
        </p:nvSpPr>
        <p:spPr bwMode="auto">
          <a:xfrm>
            <a:off x="685800" y="241697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Courier New" charset="0"/>
              </a:rPr>
              <a:t>String </a:t>
            </a:r>
            <a:r>
              <a:rPr lang="en-US" sz="2400" dirty="0">
                <a:solidFill>
                  <a:schemeClr val="tx2"/>
                </a:solidFill>
              </a:rPr>
              <a:t>Indices</a:t>
            </a:r>
          </a:p>
        </p:txBody>
      </p:sp>
      <p:pic>
        <p:nvPicPr>
          <p:cNvPr id="7578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7243" y="1098947"/>
            <a:ext cx="8102600" cy="1141809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algn="ctr">
            <a:noFill/>
            <a:miter lim="800000"/>
            <a:headEnd/>
            <a:tailEnd/>
          </a:ln>
          <a:effectLst>
            <a:outerShdw dist="101600" dir="2700000" algn="ctr" rotWithShape="0">
              <a:schemeClr val="bg1">
                <a:lumMod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95220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60" y="354331"/>
            <a:ext cx="7620000" cy="4698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23506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360" y="237807"/>
            <a:ext cx="6858000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4709658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Escape Characters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26160" y="1209040"/>
            <a:ext cx="7630478" cy="3423683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How would you print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"Java" refers to a language.   </a:t>
            </a:r>
            <a:r>
              <a:rPr lang="en-US" sz="2000" dirty="0">
                <a:cs typeface="Arial"/>
              </a:rPr>
              <a:t>?</a:t>
            </a:r>
          </a:p>
          <a:p>
            <a:pPr eaLnBrk="1" hangingPunct="1"/>
            <a:r>
              <a:rPr lang="en-US" sz="2000" dirty="0">
                <a:cs typeface="Arial"/>
              </a:rPr>
              <a:t>The compiler needs to be told that the quotation marks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"</a:t>
            </a:r>
            <a:r>
              <a:rPr lang="en-US" sz="2000" dirty="0">
                <a:cs typeface="Arial"/>
              </a:rPr>
              <a:t>) do not signal the start or end of a string, but instead are to be printed.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"\"Java\" refers to a language.");</a:t>
            </a:r>
          </a:p>
        </p:txBody>
      </p:sp>
    </p:spTree>
    <p:extLst>
      <p:ext uri="{BB962C8B-B14F-4D97-AF65-F5344CB8AC3E}">
        <p14:creationId xmlns:p14="http://schemas.microsoft.com/office/powerpoint/2010/main" val="65770946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Escape Characters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3015854"/>
            <a:ext cx="7738025" cy="1400175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Figure 2.6</a:t>
            </a:r>
          </a:p>
          <a:p>
            <a:pPr eaLnBrk="1" hangingPunct="1"/>
            <a:r>
              <a:rPr lang="en-US" sz="2000" dirty="0">
                <a:cs typeface="Arial"/>
              </a:rPr>
              <a:t>Each escape sequence is a single character even though it is written with two symbols.</a:t>
            </a:r>
          </a:p>
        </p:txBody>
      </p:sp>
      <p:pic>
        <p:nvPicPr>
          <p:cNvPr id="7987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232297"/>
            <a:ext cx="6648450" cy="1560909"/>
          </a:xfrm>
          <a:prstGeom prst="rect">
            <a:avLst/>
          </a:prstGeom>
          <a:noFill/>
          <a:ln w="12700">
            <a:solidFill>
              <a:srgbClr val="996633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979255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Examples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20470"/>
            <a:ext cx="7738024" cy="3598069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("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abc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\\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def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");</a:t>
            </a:r>
          </a:p>
          <a:p>
            <a:pPr eaLnBrk="1" hangingPunct="1">
              <a:buFontTx/>
              <a:buNone/>
            </a:pPr>
            <a:endParaRPr lang="en-US" sz="2000" b="1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ourier New" charset="0"/>
              </a:rPr>
              <a:t>		</a:t>
            </a:r>
            <a:endParaRPr lang="en-US" sz="2000" b="1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("new\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nline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");</a:t>
            </a:r>
          </a:p>
          <a:p>
            <a:pPr eaLnBrk="1" hangingPunct="1">
              <a:buFontTx/>
              <a:buNone/>
            </a:pPr>
            <a:endParaRPr lang="en-US" sz="2000" b="1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>
              <a:buFontTx/>
              <a:buNone/>
            </a:pPr>
            <a:endParaRPr lang="en-US" sz="2000" b="1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ourier New" charset="0"/>
              </a:rPr>
              <a:t>	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char 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singleQuote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 = '\'';</a:t>
            </a:r>
          </a:p>
          <a:p>
            <a:pPr eaLnBrk="1" hangingPunct="1">
              <a:buFontTx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	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/>
            </a:r>
            <a:br>
              <a:rPr lang="en-US" sz="2000" b="1" dirty="0">
                <a:solidFill>
                  <a:schemeClr val="accent2"/>
                </a:solidFill>
                <a:latin typeface="Courier New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  (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singleQuote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);	</a:t>
            </a:r>
          </a:p>
        </p:txBody>
      </p:sp>
      <p:grpSp>
        <p:nvGrpSpPr>
          <p:cNvPr id="80900" name="Group 4"/>
          <p:cNvGrpSpPr>
            <a:grpSpLocks/>
          </p:cNvGrpSpPr>
          <p:nvPr/>
        </p:nvGrpSpPr>
        <p:grpSpPr bwMode="auto">
          <a:xfrm>
            <a:off x="1949450" y="1653779"/>
            <a:ext cx="2355850" cy="659606"/>
            <a:chOff x="880" y="2198"/>
            <a:chExt cx="4259" cy="1667"/>
          </a:xfrm>
        </p:grpSpPr>
        <p:sp>
          <p:nvSpPr>
            <p:cNvPr id="80910" name="Rectangle 5"/>
            <p:cNvSpPr>
              <a:spLocks noChangeArrowheads="1"/>
            </p:cNvSpPr>
            <p:nvPr/>
          </p:nvSpPr>
          <p:spPr bwMode="auto">
            <a:xfrm>
              <a:off x="880" y="2198"/>
              <a:ext cx="4259" cy="1667"/>
            </a:xfrm>
            <a:prstGeom prst="rect">
              <a:avLst/>
            </a:prstGeom>
            <a:solidFill>
              <a:srgbClr val="6AC2A5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80911" name="AutoShape 6"/>
            <p:cNvSpPr>
              <a:spLocks noChangeArrowheads="1"/>
            </p:cNvSpPr>
            <p:nvPr/>
          </p:nvSpPr>
          <p:spPr bwMode="auto">
            <a:xfrm>
              <a:off x="1091" y="2365"/>
              <a:ext cx="3790" cy="130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</p:grpSp>
      <p:grpSp>
        <p:nvGrpSpPr>
          <p:cNvPr id="80901" name="Group 12"/>
          <p:cNvGrpSpPr>
            <a:grpSpLocks/>
          </p:cNvGrpSpPr>
          <p:nvPr/>
        </p:nvGrpSpPr>
        <p:grpSpPr bwMode="auto">
          <a:xfrm>
            <a:off x="5896484" y="3598505"/>
            <a:ext cx="2355850" cy="659606"/>
            <a:chOff x="880" y="2198"/>
            <a:chExt cx="4259" cy="1667"/>
          </a:xfrm>
        </p:grpSpPr>
        <p:sp>
          <p:nvSpPr>
            <p:cNvPr id="80908" name="Rectangle 13"/>
            <p:cNvSpPr>
              <a:spLocks noChangeArrowheads="1"/>
            </p:cNvSpPr>
            <p:nvPr/>
          </p:nvSpPr>
          <p:spPr bwMode="auto">
            <a:xfrm>
              <a:off x="880" y="2198"/>
              <a:ext cx="4259" cy="1667"/>
            </a:xfrm>
            <a:prstGeom prst="rect">
              <a:avLst/>
            </a:prstGeom>
            <a:solidFill>
              <a:srgbClr val="6AC2A5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80909" name="AutoShape 14"/>
            <p:cNvSpPr>
              <a:spLocks noChangeArrowheads="1"/>
            </p:cNvSpPr>
            <p:nvPr/>
          </p:nvSpPr>
          <p:spPr bwMode="auto">
            <a:xfrm>
              <a:off x="1091" y="2365"/>
              <a:ext cx="3790" cy="130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</p:grpSp>
      <p:sp>
        <p:nvSpPr>
          <p:cNvPr id="80902" name="Text Box 15"/>
          <p:cNvSpPr txBox="1">
            <a:spLocks noChangeArrowheads="1"/>
          </p:cNvSpPr>
          <p:nvPr/>
        </p:nvSpPr>
        <p:spPr bwMode="auto">
          <a:xfrm>
            <a:off x="5807902" y="3723521"/>
            <a:ext cx="8302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b="1">
                <a:solidFill>
                  <a:schemeClr val="accent2"/>
                </a:solidFill>
              </a:rPr>
              <a:t>'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2017713" y="1816260"/>
            <a:ext cx="2303462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abc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\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def</a:t>
            </a:r>
            <a:endParaRPr lang="en-US" dirty="0">
              <a:solidFill>
                <a:schemeClr val="accent2"/>
              </a:solidFill>
              <a:latin typeface="Courier New" charset="0"/>
            </a:endParaRPr>
          </a:p>
        </p:txBody>
      </p:sp>
      <p:grpSp>
        <p:nvGrpSpPr>
          <p:cNvPr id="80904" name="Group 9"/>
          <p:cNvGrpSpPr>
            <a:grpSpLocks/>
          </p:cNvGrpSpPr>
          <p:nvPr/>
        </p:nvGrpSpPr>
        <p:grpSpPr bwMode="auto">
          <a:xfrm>
            <a:off x="1965325" y="2778602"/>
            <a:ext cx="2355850" cy="659606"/>
            <a:chOff x="880" y="2198"/>
            <a:chExt cx="4259" cy="1667"/>
          </a:xfrm>
        </p:grpSpPr>
        <p:sp>
          <p:nvSpPr>
            <p:cNvPr id="80906" name="Rectangle 10"/>
            <p:cNvSpPr>
              <a:spLocks noChangeArrowheads="1"/>
            </p:cNvSpPr>
            <p:nvPr/>
          </p:nvSpPr>
          <p:spPr bwMode="auto">
            <a:xfrm>
              <a:off x="880" y="2198"/>
              <a:ext cx="4259" cy="1667"/>
            </a:xfrm>
            <a:prstGeom prst="rect">
              <a:avLst/>
            </a:prstGeom>
            <a:solidFill>
              <a:srgbClr val="6AC2A5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80907" name="AutoShape 11"/>
            <p:cNvSpPr>
              <a:spLocks noChangeArrowheads="1"/>
            </p:cNvSpPr>
            <p:nvPr/>
          </p:nvSpPr>
          <p:spPr bwMode="auto">
            <a:xfrm>
              <a:off x="1091" y="2365"/>
              <a:ext cx="3790" cy="130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</p:grpSp>
      <p:sp>
        <p:nvSpPr>
          <p:cNvPr id="80905" name="Text Box 8"/>
          <p:cNvSpPr txBox="1">
            <a:spLocks noChangeArrowheads="1"/>
          </p:cNvSpPr>
          <p:nvPr/>
        </p:nvSpPr>
        <p:spPr bwMode="auto">
          <a:xfrm>
            <a:off x="2085214" y="2682408"/>
            <a:ext cx="2252663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new</a:t>
            </a:r>
          </a:p>
          <a:p>
            <a:pPr eaLnBrk="1" hangingPunct="1">
              <a:spcBef>
                <a:spcPct val="20000"/>
              </a:spcBef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line</a:t>
            </a:r>
            <a:endParaRPr lang="en-US" sz="2000" dirty="0">
              <a:solidFill>
                <a:schemeClr val="accent2"/>
              </a:solidFill>
              <a:latin typeface="Courier New" charset="0"/>
            </a:endParaRPr>
          </a:p>
          <a:p>
            <a:pPr eaLnBrk="1" hangingPunct="1">
              <a:spcBef>
                <a:spcPct val="50000"/>
              </a:spcBef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52550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Screen Output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cs typeface="Arial"/>
              </a:rPr>
              <a:t>We've seen several examples of screen output already.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</a:t>
            </a:r>
            <a:r>
              <a:rPr lang="en-US" sz="2000" dirty="0">
                <a:cs typeface="Arial"/>
              </a:rPr>
              <a:t> is an object that is part of Java.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</a:t>
            </a:r>
            <a:r>
              <a:rPr lang="en-US" sz="2000" dirty="0">
                <a:cs typeface="Arial"/>
              </a:rPr>
              <a:t> is one of the methods available to the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</a:t>
            </a:r>
            <a:r>
              <a:rPr lang="en-US" sz="2000" dirty="0">
                <a:cs typeface="Arial"/>
              </a:rPr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31803535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Screen Output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The concatenation operator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</a:t>
            </a:r>
            <a:r>
              <a:rPr lang="en-US" sz="2000" dirty="0">
                <a:cs typeface="Arial"/>
              </a:rPr>
              <a:t>) is useful when everything does not fit on one line.  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("Lucky number = " + 13 +</a:t>
            </a:r>
            <a:br>
              <a:rPr lang="en-US" sz="2000" b="1" dirty="0">
                <a:solidFill>
                  <a:schemeClr val="accent2"/>
                </a:solidFill>
                <a:cs typeface="Arial"/>
              </a:rPr>
            </a:br>
            <a:r>
              <a:rPr lang="en-US" sz="2000" b="1" dirty="0">
                <a:solidFill>
                  <a:schemeClr val="accent2"/>
                </a:solidFill>
                <a:cs typeface="Arial"/>
              </a:rPr>
              <a:t>"Secret number = " + number);</a:t>
            </a:r>
          </a:p>
          <a:p>
            <a:pPr eaLnBrk="1" hangingPunct="1"/>
            <a:r>
              <a:rPr lang="en-US" sz="2000" dirty="0">
                <a:cs typeface="Arial"/>
              </a:rPr>
              <a:t>Do not break the line except immediately before or after the concatenation operator (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+</a:t>
            </a:r>
            <a:r>
              <a:rPr lang="en-US" sz="2000" dirty="0">
                <a:cs typeface="Arial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99985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Screen Output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Alternatively, use 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print()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("One, two,");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 buckle my shoe.");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 Three, four,");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System.out.println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(" shut the door.");</a:t>
            </a:r>
            <a:endParaRPr lang="en-US" sz="2000" dirty="0">
              <a:cs typeface="Arial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sz="2000" dirty="0">
                <a:cs typeface="Arial"/>
              </a:rPr>
              <a:t>ending with a  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println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13695876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Keyboard Input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Java has reasonable facilities for handling keyboard input.</a:t>
            </a:r>
          </a:p>
          <a:p>
            <a:pPr eaLnBrk="1" hangingPunct="1"/>
            <a:r>
              <a:rPr lang="en-US" sz="2000" dirty="0">
                <a:cs typeface="Arial"/>
              </a:rPr>
              <a:t>These facilities are provided by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Scanner</a:t>
            </a:r>
            <a:r>
              <a:rPr lang="en-US" sz="2000" dirty="0">
                <a:cs typeface="Arial"/>
              </a:rPr>
              <a:t> class in the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java.util</a:t>
            </a:r>
            <a:r>
              <a:rPr lang="en-US" sz="2000" dirty="0">
                <a:cs typeface="Arial"/>
              </a:rPr>
              <a:t> package.</a:t>
            </a:r>
          </a:p>
          <a:p>
            <a:pPr lvl="1" eaLnBrk="1" hangingPunct="1"/>
            <a:r>
              <a:rPr lang="en-US" sz="2000" dirty="0">
                <a:cs typeface="Arial"/>
              </a:rPr>
              <a:t>A </a:t>
            </a:r>
            <a:r>
              <a:rPr lang="en-US" sz="2000" i="1" dirty="0">
                <a:cs typeface="Arial"/>
              </a:rPr>
              <a:t>package</a:t>
            </a:r>
            <a:r>
              <a:rPr lang="en-US" sz="2000" dirty="0">
                <a:cs typeface="Arial"/>
              </a:rPr>
              <a:t> is a library of classes.</a:t>
            </a:r>
          </a:p>
        </p:txBody>
      </p:sp>
    </p:spTree>
    <p:extLst>
      <p:ext uri="{BB962C8B-B14F-4D97-AF65-F5344CB8AC3E}">
        <p14:creationId xmlns:p14="http://schemas.microsoft.com/office/powerpoint/2010/main" val="2328288961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Using the Scanner Class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707862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Near the beginning of your program, insert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import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java.util.Scanner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;</a:t>
            </a:r>
          </a:p>
          <a:p>
            <a:pPr eaLnBrk="1" hangingPunct="1"/>
            <a:r>
              <a:rPr lang="en-US" sz="2000" dirty="0">
                <a:cs typeface="Arial"/>
              </a:rPr>
              <a:t>Create an object of the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Scanner</a:t>
            </a:r>
            <a:r>
              <a:rPr lang="en-US" sz="2000" dirty="0">
                <a:cs typeface="Arial"/>
              </a:rPr>
              <a:t> class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Scanner keyboard = 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		new Scanner (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System.in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)</a:t>
            </a:r>
          </a:p>
          <a:p>
            <a:pPr eaLnBrk="1" hangingPunct="1"/>
            <a:r>
              <a:rPr lang="en-US" sz="2000" dirty="0">
                <a:cs typeface="Arial"/>
              </a:rPr>
              <a:t>Read data (an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dirty="0">
                <a:cs typeface="Arial"/>
              </a:rPr>
              <a:t> or a 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double</a:t>
            </a:r>
            <a:r>
              <a:rPr lang="en-US" sz="2000" dirty="0">
                <a:cs typeface="Arial"/>
              </a:rPr>
              <a:t>, for example)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 n1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keyboard.nextInt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cs typeface="Arial"/>
              </a:rPr>
              <a:t>double d1 =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keyboard,nextDouble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26680607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nextLine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()</a:t>
            </a:r>
            <a:r>
              <a:rPr lang="en-US" dirty="0">
                <a:latin typeface="Calibri Light" charset="0"/>
              </a:rPr>
              <a:t>Method Caution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581151"/>
            <a:ext cx="7738024" cy="3013472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cs typeface="Arial"/>
              </a:rPr>
              <a:t>The </a:t>
            </a:r>
            <a:r>
              <a:rPr lang="en-US" sz="2000" b="1" dirty="0" err="1">
                <a:solidFill>
                  <a:schemeClr val="accent2"/>
                </a:solidFill>
                <a:cs typeface="Arial"/>
              </a:rPr>
              <a:t>nextLine</a:t>
            </a:r>
            <a:r>
              <a:rPr lang="en-US" sz="2000" b="1" dirty="0">
                <a:solidFill>
                  <a:schemeClr val="accent2"/>
                </a:solidFill>
                <a:cs typeface="Arial"/>
              </a:rPr>
              <a:t>() </a:t>
            </a:r>
            <a:r>
              <a:rPr lang="en-US" sz="2000" dirty="0">
                <a:cs typeface="Arial"/>
              </a:rPr>
              <a:t>method reads </a:t>
            </a:r>
          </a:p>
          <a:p>
            <a:pPr lvl="1" eaLnBrk="1" hangingPunct="1"/>
            <a:r>
              <a:rPr lang="en-US" sz="2000" dirty="0">
                <a:cs typeface="Arial"/>
              </a:rPr>
              <a:t>The remainder of the current line, </a:t>
            </a:r>
          </a:p>
          <a:p>
            <a:pPr lvl="1" eaLnBrk="1" hangingPunct="1"/>
            <a:r>
              <a:rPr lang="en-US" sz="2000" dirty="0">
                <a:cs typeface="Arial"/>
              </a:rPr>
              <a:t>Even if it is empty.</a:t>
            </a:r>
          </a:p>
        </p:txBody>
      </p:sp>
    </p:spTree>
    <p:extLst>
      <p:ext uri="{BB962C8B-B14F-4D97-AF65-F5344CB8AC3E}">
        <p14:creationId xmlns:p14="http://schemas.microsoft.com/office/powerpoint/2010/main" val="3212397874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solidFill>
                  <a:schemeClr val="accent2"/>
                </a:solidFill>
                <a:cs typeface="Arial"/>
              </a:rPr>
              <a:t>nextLine</a:t>
            </a:r>
            <a:r>
              <a:rPr lang="en-US" b="1" dirty="0">
                <a:solidFill>
                  <a:schemeClr val="accent2"/>
                </a:solidFill>
                <a:cs typeface="Arial"/>
              </a:rPr>
              <a:t>()</a:t>
            </a:r>
            <a:r>
              <a:rPr lang="en-US" dirty="0">
                <a:cs typeface="Arial"/>
              </a:rPr>
              <a:t>Method Caution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009651"/>
            <a:ext cx="7738024" cy="3584972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1" hangingPunct="1"/>
            <a:r>
              <a:rPr lang="en-US" sz="2000" dirty="0">
                <a:latin typeface="Calibri" charset="0"/>
              </a:rPr>
              <a:t>Example – given following declaration.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int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 n;</a:t>
            </a:r>
            <a:br>
              <a:rPr lang="en-US" sz="2000" b="1" dirty="0">
                <a:solidFill>
                  <a:schemeClr val="accent2"/>
                </a:solidFill>
                <a:latin typeface="Courier New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String s1, s2;</a:t>
            </a:r>
            <a:br>
              <a:rPr lang="en-US" sz="2000" b="1" dirty="0">
                <a:solidFill>
                  <a:schemeClr val="accent2"/>
                </a:solidFill>
                <a:latin typeface="Courier New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n = 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keyboard.nextInt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();</a:t>
            </a:r>
            <a:br>
              <a:rPr lang="en-US" sz="2000" b="1" dirty="0">
                <a:solidFill>
                  <a:schemeClr val="accent2"/>
                </a:solidFill>
                <a:latin typeface="Courier New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s1 = 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keyboard.nextLine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();</a:t>
            </a:r>
            <a:br>
              <a:rPr lang="en-US" sz="2000" b="1" dirty="0">
                <a:solidFill>
                  <a:schemeClr val="accent2"/>
                </a:solidFill>
                <a:latin typeface="Courier New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s2 = </a:t>
            </a:r>
            <a:r>
              <a:rPr lang="en-US" sz="2000" b="1" dirty="0" err="1">
                <a:solidFill>
                  <a:schemeClr val="accent2"/>
                </a:solidFill>
                <a:latin typeface="Courier New" charset="0"/>
              </a:rPr>
              <a:t>keyboard.nextLine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();</a:t>
            </a:r>
          </a:p>
          <a:p>
            <a:pPr eaLnBrk="1" hangingPunct="1"/>
            <a:r>
              <a:rPr lang="en-US" sz="2000" dirty="0">
                <a:latin typeface="Calibri" charset="0"/>
              </a:rPr>
              <a:t>Assume input shown</a:t>
            </a:r>
          </a:p>
          <a:p>
            <a:pPr lvl="1" eaLnBrk="1" hangingPunct="1">
              <a:buFont typeface="Wingdings" charset="0"/>
              <a:buNone/>
            </a:pPr>
            <a:endParaRPr lang="en-US" sz="2000" b="1" dirty="0">
              <a:latin typeface="Courier New" charset="0"/>
            </a:endParaRP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n</a:t>
            </a:r>
            <a:r>
              <a:rPr lang="en-US" sz="2000" dirty="0">
                <a:latin typeface="Calibri" charset="0"/>
              </a:rPr>
              <a:t> is set to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42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dirty="0">
                <a:latin typeface="Calibri" charset="0"/>
              </a:rPr>
              <a:t>but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s1</a:t>
            </a:r>
            <a:r>
              <a:rPr lang="en-US" sz="2000" dirty="0">
                <a:latin typeface="Calibri" charset="0"/>
              </a:rPr>
              <a:t> is set to the empty string.</a:t>
            </a:r>
          </a:p>
        </p:txBody>
      </p:sp>
      <p:grpSp>
        <p:nvGrpSpPr>
          <p:cNvPr id="93188" name="Group 5"/>
          <p:cNvGrpSpPr>
            <a:grpSpLocks/>
          </p:cNvGrpSpPr>
          <p:nvPr/>
        </p:nvGrpSpPr>
        <p:grpSpPr bwMode="auto">
          <a:xfrm>
            <a:off x="4687889" y="3076575"/>
            <a:ext cx="3051175" cy="1219200"/>
            <a:chOff x="880" y="2198"/>
            <a:chExt cx="4259" cy="1667"/>
          </a:xfrm>
        </p:grpSpPr>
        <p:sp>
          <p:nvSpPr>
            <p:cNvPr id="93190" name="Rectangle 6"/>
            <p:cNvSpPr>
              <a:spLocks noChangeArrowheads="1"/>
            </p:cNvSpPr>
            <p:nvPr/>
          </p:nvSpPr>
          <p:spPr bwMode="auto">
            <a:xfrm>
              <a:off x="880" y="2198"/>
              <a:ext cx="4259" cy="1667"/>
            </a:xfrm>
            <a:prstGeom prst="rect">
              <a:avLst/>
            </a:prstGeom>
            <a:solidFill>
              <a:srgbClr val="6AC2A5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  <p:sp>
          <p:nvSpPr>
            <p:cNvPr id="93191" name="AutoShape 7"/>
            <p:cNvSpPr>
              <a:spLocks noChangeArrowheads="1"/>
            </p:cNvSpPr>
            <p:nvPr/>
          </p:nvSpPr>
          <p:spPr bwMode="auto">
            <a:xfrm>
              <a:off x="1091" y="2365"/>
              <a:ext cx="3790" cy="130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/>
            </a:p>
          </p:txBody>
        </p:sp>
      </p:grpSp>
      <p:sp>
        <p:nvSpPr>
          <p:cNvPr id="93189" name="Text Box 4"/>
          <p:cNvSpPr txBox="1">
            <a:spLocks noChangeArrowheads="1"/>
          </p:cNvSpPr>
          <p:nvPr/>
        </p:nvSpPr>
        <p:spPr bwMode="auto">
          <a:xfrm>
            <a:off x="4537076" y="3200400"/>
            <a:ext cx="3065463" cy="103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1" eaLnBrk="1" hangingPunct="1">
              <a:spcBef>
                <a:spcPct val="20000"/>
              </a:spcBef>
              <a:buSzPct val="90000"/>
              <a:buFont typeface="Wingdings" charset="0"/>
              <a:buNone/>
            </a:pPr>
            <a:r>
              <a:rPr lang="en-US" b="1">
                <a:solidFill>
                  <a:schemeClr val="accent2"/>
                </a:solidFill>
                <a:latin typeface="Courier New" charset="0"/>
              </a:rPr>
              <a:t>42</a:t>
            </a:r>
          </a:p>
          <a:p>
            <a:pPr lvl="1" eaLnBrk="1" hangingPunct="1">
              <a:spcBef>
                <a:spcPct val="20000"/>
              </a:spcBef>
              <a:buSzPct val="90000"/>
              <a:buFont typeface="Wingdings" charset="0"/>
              <a:buNone/>
            </a:pPr>
            <a:r>
              <a:rPr lang="en-US" b="1">
                <a:solidFill>
                  <a:schemeClr val="accent2"/>
                </a:solidFill>
                <a:latin typeface="Courier New" charset="0"/>
              </a:rPr>
              <a:t>and don't you</a:t>
            </a:r>
          </a:p>
          <a:p>
            <a:pPr lvl="1" eaLnBrk="1" hangingPunct="1">
              <a:spcBef>
                <a:spcPct val="20000"/>
              </a:spcBef>
              <a:buSzPct val="90000"/>
              <a:buFont typeface="Wingdings" charset="0"/>
              <a:buNone/>
            </a:pPr>
            <a:r>
              <a:rPr lang="en-US" b="1">
                <a:solidFill>
                  <a:schemeClr val="accent2"/>
                </a:solidFill>
                <a:latin typeface="Courier New" charset="0"/>
              </a:rPr>
              <a:t>forget it.</a:t>
            </a:r>
          </a:p>
        </p:txBody>
      </p:sp>
    </p:spTree>
    <p:extLst>
      <p:ext uri="{BB962C8B-B14F-4D97-AF65-F5344CB8AC3E}">
        <p14:creationId xmlns:p14="http://schemas.microsoft.com/office/powerpoint/2010/main" val="153926071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The Empty String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>
                <a:cs typeface="Arial"/>
              </a:rPr>
              <a:t>A string can have any number of characters, including zero.</a:t>
            </a:r>
          </a:p>
          <a:p>
            <a:pPr eaLnBrk="1" hangingPunct="1"/>
            <a:r>
              <a:rPr lang="en-US" sz="2000">
                <a:cs typeface="Arial"/>
              </a:rPr>
              <a:t>The string with zero characters is called the </a:t>
            </a:r>
            <a:r>
              <a:rPr lang="en-US" sz="2000" i="1">
                <a:cs typeface="Arial"/>
              </a:rPr>
              <a:t>empty </a:t>
            </a:r>
            <a:r>
              <a:rPr lang="en-US" sz="2000">
                <a:cs typeface="Arial"/>
              </a:rPr>
              <a:t>string.</a:t>
            </a:r>
          </a:p>
          <a:p>
            <a:pPr eaLnBrk="1" hangingPunct="1"/>
            <a:r>
              <a:rPr lang="en-US" sz="2000">
                <a:cs typeface="Arial"/>
              </a:rPr>
              <a:t>The empty string is useful and can be created in many ways including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>
                <a:solidFill>
                  <a:schemeClr val="accent2"/>
                </a:solidFill>
                <a:cs typeface="Arial"/>
              </a:rPr>
              <a:t>String s3 = "";</a:t>
            </a:r>
          </a:p>
        </p:txBody>
      </p:sp>
    </p:spTree>
    <p:extLst>
      <p:ext uri="{BB962C8B-B14F-4D97-AF65-F5344CB8AC3E}">
        <p14:creationId xmlns:p14="http://schemas.microsoft.com/office/powerpoint/2010/main" val="3011526900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Comments</a:t>
            </a:r>
          </a:p>
        </p:txBody>
      </p:sp>
      <p:sp>
        <p:nvSpPr>
          <p:cNvPr id="100355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Calibri" charset="0"/>
              </a:rPr>
              <a:t>The best programs are self-documenting.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Clean style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Well-chosen names</a:t>
            </a:r>
          </a:p>
          <a:p>
            <a:pPr eaLnBrk="1" hangingPunct="1"/>
            <a:r>
              <a:rPr lang="en-US" sz="2000" dirty="0">
                <a:latin typeface="Calibri" charset="0"/>
              </a:rPr>
              <a:t>Comments are written into a program as needed explain the program.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They are useful to the programmer, but they are ignored by the compiler.</a:t>
            </a:r>
          </a:p>
        </p:txBody>
      </p:sp>
    </p:spTree>
    <p:extLst>
      <p:ext uri="{BB962C8B-B14F-4D97-AF65-F5344CB8AC3E}">
        <p14:creationId xmlns:p14="http://schemas.microsoft.com/office/powerpoint/2010/main" val="51016448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Comments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buFont typeface="Wingdings" charset="2"/>
              <a:buChar char="§"/>
            </a:pPr>
            <a:r>
              <a:rPr lang="en-US" sz="2000" dirty="0">
                <a:latin typeface="Calibri" charset="0"/>
              </a:rPr>
              <a:t>A  comment can begin with //.</a:t>
            </a:r>
          </a:p>
          <a:p>
            <a:pPr eaLnBrk="1" hangingPunct="1">
              <a:buFont typeface="Wingdings" charset="2"/>
              <a:buChar char="§"/>
            </a:pPr>
            <a:r>
              <a:rPr lang="en-US" sz="2000" dirty="0">
                <a:latin typeface="Calibri" charset="0"/>
              </a:rPr>
              <a:t>Everything after these symbols and to the end of the line is treated as a comment and is ignored by the compiler.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	double radius; //in centimeters</a:t>
            </a:r>
          </a:p>
        </p:txBody>
      </p:sp>
    </p:spTree>
    <p:extLst>
      <p:ext uri="{BB962C8B-B14F-4D97-AF65-F5344CB8AC3E}">
        <p14:creationId xmlns:p14="http://schemas.microsoft.com/office/powerpoint/2010/main" val="1468348193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Comments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latin typeface="Calibri" charset="0"/>
              </a:rPr>
              <a:t>A comment can begin with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/*</a:t>
            </a:r>
            <a:r>
              <a:rPr lang="en-US" sz="2000" dirty="0">
                <a:latin typeface="Calibri" charset="0"/>
              </a:rPr>
              <a:t> and end with </a:t>
            </a: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*/</a:t>
            </a:r>
          </a:p>
          <a:p>
            <a:pPr eaLnBrk="1" hangingPunct="1"/>
            <a:r>
              <a:rPr lang="en-US" sz="2000" dirty="0">
                <a:latin typeface="Calibri" charset="0"/>
              </a:rPr>
              <a:t>Everything between these symbols is treated as a comment and is ignored by the compiler.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/**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This program should only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be used on alternate Thursdays,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except during leap years, when it should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only be used on alternate Tuesdays.</a:t>
            </a:r>
          </a:p>
          <a:p>
            <a:pPr lvl="1" eaLnBrk="1" hangingPunct="1">
              <a:buFont typeface="Wingdings" charset="0"/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4113729289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14258</TotalTime>
  <Words>2106</Words>
  <Application>Microsoft Macintosh PowerPoint</Application>
  <PresentationFormat>On-screen Show (16:9)</PresentationFormat>
  <Paragraphs>375</Paragraphs>
  <Slides>61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3" baseType="lpstr">
      <vt:lpstr>Jobtalk_UF</vt:lpstr>
      <vt:lpstr>SU_Template_TopBar</vt:lpstr>
      <vt:lpstr>Basic computation</vt:lpstr>
      <vt:lpstr>Variables (변수)</vt:lpstr>
      <vt:lpstr>Variables and Values</vt:lpstr>
      <vt:lpstr>변수 선언</vt:lpstr>
      <vt:lpstr>Data Types</vt:lpstr>
      <vt:lpstr>Primitive Types</vt:lpstr>
      <vt:lpstr>Java Identifiers</vt:lpstr>
      <vt:lpstr>Where to declare a variable</vt:lpstr>
      <vt:lpstr>Primitive Types</vt:lpstr>
      <vt:lpstr>Examples of Primitive Values</vt:lpstr>
      <vt:lpstr>Assignment Statements</vt:lpstr>
      <vt:lpstr>Assignment Statements</vt:lpstr>
      <vt:lpstr>Assignment Examples</vt:lpstr>
      <vt:lpstr>Initializing Variables</vt:lpstr>
      <vt:lpstr>Initializing Variables</vt:lpstr>
      <vt:lpstr>Initializing Variables</vt:lpstr>
      <vt:lpstr>Assignment Evaluation</vt:lpstr>
      <vt:lpstr>Simple Input</vt:lpstr>
      <vt:lpstr>Simple Input</vt:lpstr>
      <vt:lpstr>Simple Screen Output</vt:lpstr>
      <vt:lpstr>Constants</vt:lpstr>
      <vt:lpstr>e Notation</vt:lpstr>
      <vt:lpstr>PowerPoint Presentation</vt:lpstr>
      <vt:lpstr>Named Constants</vt:lpstr>
      <vt:lpstr>Assignment Compatibilities</vt:lpstr>
      <vt:lpstr>Assignment Compatibilities</vt:lpstr>
      <vt:lpstr>Type Casting</vt:lpstr>
      <vt:lpstr>Type Casting</vt:lpstr>
      <vt:lpstr>Arithmetic Operators</vt:lpstr>
      <vt:lpstr>Arithmetic Operations</vt:lpstr>
      <vt:lpstr>Arithmetic Operations</vt:lpstr>
      <vt:lpstr>The Division Operator</vt:lpstr>
      <vt:lpstr>The mod Operator</vt:lpstr>
      <vt:lpstr>Parentheses and Precedence</vt:lpstr>
      <vt:lpstr>Precedence Rules</vt:lpstr>
      <vt:lpstr>PowerPoint Presentation</vt:lpstr>
      <vt:lpstr>PowerPoint Presentation</vt:lpstr>
      <vt:lpstr>PowerPoint Presentation</vt:lpstr>
      <vt:lpstr>The Class String</vt:lpstr>
      <vt:lpstr>String Constants and Variables</vt:lpstr>
      <vt:lpstr>Concatenation of Strings</vt:lpstr>
      <vt:lpstr>PowerPoint Presentation</vt:lpstr>
      <vt:lpstr>String Methods</vt:lpstr>
      <vt:lpstr>The Method length()</vt:lpstr>
      <vt:lpstr>PowerPoint Presentation</vt:lpstr>
      <vt:lpstr>PowerPoint Presentation</vt:lpstr>
      <vt:lpstr>PowerPoint Presentation</vt:lpstr>
      <vt:lpstr>Escape Characters</vt:lpstr>
      <vt:lpstr>Escape Characters</vt:lpstr>
      <vt:lpstr>Examples</vt:lpstr>
      <vt:lpstr>Screen Output</vt:lpstr>
      <vt:lpstr>Screen Output</vt:lpstr>
      <vt:lpstr>Screen Output</vt:lpstr>
      <vt:lpstr>Keyboard Input</vt:lpstr>
      <vt:lpstr>Using the Scanner Class</vt:lpstr>
      <vt:lpstr>nextLine()Method Caution</vt:lpstr>
      <vt:lpstr>nextLine()Method Caution</vt:lpstr>
      <vt:lpstr>The Empty String</vt:lpstr>
      <vt:lpstr>Comments</vt:lpstr>
      <vt:lpstr>Comments</vt:lpstr>
      <vt:lpstr>Comments</vt:lpstr>
    </vt:vector>
  </TitlesOfParts>
  <Company>Stanford University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curator</cp:lastModifiedBy>
  <cp:revision>1368</cp:revision>
  <cp:lastPrinted>2016-01-15T22:14:07Z</cp:lastPrinted>
  <dcterms:created xsi:type="dcterms:W3CDTF">2016-01-04T21:30:26Z</dcterms:created>
  <dcterms:modified xsi:type="dcterms:W3CDTF">2016-09-19T14:19:26Z</dcterms:modified>
</cp:coreProperties>
</file>