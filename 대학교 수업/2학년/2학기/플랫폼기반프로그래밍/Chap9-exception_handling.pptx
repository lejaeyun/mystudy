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39"/>
  </p:notesMasterIdLst>
  <p:handoutMasterIdLst>
    <p:handoutMasterId r:id="rId40"/>
  </p:handoutMasterIdLst>
  <p:sldIdLst>
    <p:sldId id="256" r:id="rId3"/>
    <p:sldId id="257" r:id="rId4"/>
    <p:sldId id="294" r:id="rId5"/>
    <p:sldId id="258" r:id="rId6"/>
    <p:sldId id="295" r:id="rId7"/>
    <p:sldId id="259" r:id="rId8"/>
    <p:sldId id="260" r:id="rId9"/>
    <p:sldId id="261" r:id="rId10"/>
    <p:sldId id="262" r:id="rId11"/>
    <p:sldId id="263" r:id="rId12"/>
    <p:sldId id="264" r:id="rId13"/>
    <p:sldId id="296" r:id="rId14"/>
    <p:sldId id="297" r:id="rId15"/>
    <p:sldId id="298" r:id="rId16"/>
    <p:sldId id="265" r:id="rId17"/>
    <p:sldId id="266" r:id="rId18"/>
    <p:sldId id="267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0" autoAdjust="0"/>
    <p:restoredTop sz="98627" autoAdjust="0"/>
  </p:normalViewPr>
  <p:slideViewPr>
    <p:cSldViewPr snapToGrid="0" snapToObjects="1">
      <p:cViewPr varScale="1">
        <p:scale>
          <a:sx n="146" d="100"/>
          <a:sy n="146" d="100"/>
        </p:scale>
        <p:origin x="33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11/20/2019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11/20/2019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CodeSamples5.htm#Listing 9.2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CodeSamples5.htm#Listing 9.5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Exceptions in Java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An exception is an object</a:t>
            </a:r>
          </a:p>
          <a:p>
            <a:pPr lvl="1" eaLnBrk="1" hangingPunct="1"/>
            <a:r>
              <a:rPr lang="en-US" dirty="0">
                <a:cs typeface="Arial"/>
              </a:rPr>
              <a:t>Signals the occurrence of unusual event during program execution</a:t>
            </a:r>
          </a:p>
          <a:p>
            <a:pPr eaLnBrk="1" hangingPunct="1"/>
            <a:r>
              <a:rPr lang="en-US" dirty="0">
                <a:cs typeface="Arial"/>
              </a:rPr>
              <a:t>Throwing an exception </a:t>
            </a:r>
          </a:p>
          <a:p>
            <a:pPr lvl="1" eaLnBrk="1" hangingPunct="1"/>
            <a:r>
              <a:rPr lang="en-US" dirty="0">
                <a:cs typeface="Arial"/>
              </a:rPr>
              <a:t>Creating the exception object</a:t>
            </a:r>
          </a:p>
          <a:p>
            <a:pPr eaLnBrk="1" hangingPunct="1"/>
            <a:r>
              <a:rPr lang="en-US" dirty="0">
                <a:cs typeface="Arial"/>
              </a:rPr>
              <a:t>Handling the exception</a:t>
            </a:r>
          </a:p>
          <a:p>
            <a:pPr lvl="1" eaLnBrk="1" hangingPunct="1"/>
            <a:r>
              <a:rPr lang="en-US" dirty="0">
                <a:cs typeface="Arial"/>
              </a:rPr>
              <a:t>Code that detects and deals with the exception</a:t>
            </a:r>
          </a:p>
        </p:txBody>
      </p:sp>
    </p:spTree>
    <p:extLst>
      <p:ext uri="{BB962C8B-B14F-4D97-AF65-F5344CB8AC3E}">
        <p14:creationId xmlns:p14="http://schemas.microsoft.com/office/powerpoint/2010/main" val="17758990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Exceptions in Java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>
          <a:xfrm>
            <a:off x="948775" y="855344"/>
            <a:ext cx="3095857" cy="4021456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dirty="0">
                <a:latin typeface="Calibri" charset="0"/>
              </a:rPr>
              <a:t>Consider a program to assure us of a sufficient supply of milk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0"/>
          <a:stretch/>
        </p:blipFill>
        <p:spPr bwMode="auto">
          <a:xfrm>
            <a:off x="4044633" y="227461"/>
            <a:ext cx="4955950" cy="4783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706682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Exceptions in Java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dirty="0">
                <a:latin typeface="Calibri" charset="0"/>
              </a:rPr>
              <a:t>Example of the output for class </a:t>
            </a:r>
            <a:r>
              <a:rPr lang="en-US" dirty="0" err="1">
                <a:latin typeface="Calibri" charset="0"/>
              </a:rPr>
              <a:t>GotMilk</a:t>
            </a:r>
            <a:r>
              <a:rPr lang="en-US" dirty="0">
                <a:latin typeface="Calibri" charset="0"/>
              </a:rPr>
              <a:t> in the  previous slide </a:t>
            </a:r>
            <a:br>
              <a:rPr lang="en-US" dirty="0">
                <a:latin typeface="Calibri" charset="0"/>
              </a:rPr>
            </a:b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66864" y="2440067"/>
            <a:ext cx="6505575" cy="164306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7051675" y="2868693"/>
            <a:ext cx="1524000" cy="101566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ea typeface="+mn-ea"/>
              </a:rPr>
              <a:t>Sample </a:t>
            </a:r>
            <a:br>
              <a:rPr lang="en-US" sz="2000" dirty="0">
                <a:latin typeface="+mn-lt"/>
                <a:ea typeface="+mn-ea"/>
              </a:rPr>
            </a:br>
            <a:r>
              <a:rPr lang="en-US" sz="2000" dirty="0">
                <a:latin typeface="+mn-lt"/>
                <a:ea typeface="+mn-ea"/>
              </a:rPr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16568608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Exceptions in Java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10125"/>
            <a:ext cx="2881544" cy="2474755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dirty="0">
                <a:latin typeface="Calibri" charset="0"/>
              </a:rPr>
              <a:t>Now we revise the program to use exception-handling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7"/>
          <a:stretch/>
        </p:blipFill>
        <p:spPr bwMode="auto">
          <a:xfrm>
            <a:off x="3830320" y="641618"/>
            <a:ext cx="5190762" cy="4397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51280" y="3633371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  <a:r>
              <a:rPr lang="en-US" dirty="0"/>
              <a:t> called the catch-block parameter</a:t>
            </a:r>
          </a:p>
        </p:txBody>
      </p:sp>
      <p:cxnSp>
        <p:nvCxnSpPr>
          <p:cNvPr id="8" name="Straight Arrow Connector 7"/>
          <p:cNvCxnSpPr>
            <a:stCxn id="4" idx="3"/>
          </p:cNvCxnSpPr>
          <p:nvPr/>
        </p:nvCxnSpPr>
        <p:spPr>
          <a:xfrm flipV="1">
            <a:off x="3454400" y="3952240"/>
            <a:ext cx="1026160" cy="42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372218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Exceptions in Java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View </a:t>
            </a:r>
            <a:r>
              <a:rPr lang="en-US" dirty="0">
                <a:latin typeface="Calibri" charset="0"/>
                <a:hlinkClick r:id="rId2" action="ppaction://hlinkfile"/>
              </a:rPr>
              <a:t>new version</a:t>
            </a:r>
            <a:br>
              <a:rPr lang="en-US" dirty="0">
                <a:latin typeface="Calibri" charset="0"/>
              </a:rPr>
            </a:b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ExceptionDemo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85850" y="2801541"/>
            <a:ext cx="5583238" cy="1510903"/>
            <a:chOff x="1086255" y="3735503"/>
            <a:chExt cx="5582888" cy="2014659"/>
          </a:xfrm>
        </p:grpSpPr>
        <p:pic>
          <p:nvPicPr>
            <p:cNvPr id="820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6255" y="4026137"/>
              <a:ext cx="5181600" cy="172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5145239" y="3735503"/>
              <a:ext cx="1523904" cy="1354299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1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027363" y="3090862"/>
            <a:ext cx="5700712" cy="1452563"/>
            <a:chOff x="3027025" y="4121367"/>
            <a:chExt cx="5701139" cy="1936938"/>
          </a:xfrm>
        </p:grpSpPr>
        <p:pic>
          <p:nvPicPr>
            <p:cNvPr id="819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7025" y="4496205"/>
              <a:ext cx="5191125" cy="156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7204050" y="4121367"/>
              <a:ext cx="1524114" cy="1354348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92251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80160"/>
            <a:ext cx="7566574" cy="33525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Note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try </a:t>
            </a:r>
            <a:r>
              <a:rPr lang="en-US" altLang="ko-KR" dirty="0">
                <a:cs typeface="Arial"/>
              </a:rPr>
              <a:t>block</a:t>
            </a:r>
            <a:endParaRPr lang="en-US" b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r>
              <a:rPr lang="en-US" dirty="0">
                <a:cs typeface="Arial"/>
              </a:rPr>
              <a:t>Contains code where something could possibly go wrong</a:t>
            </a:r>
          </a:p>
          <a:p>
            <a:pPr lvl="1" eaLnBrk="1" hangingPunct="1"/>
            <a:r>
              <a:rPr lang="en-US" dirty="0">
                <a:cs typeface="Arial"/>
              </a:rPr>
              <a:t>If it does go wrong, we </a:t>
            </a:r>
            <a:r>
              <a:rPr lang="en-US" i="1" dirty="0">
                <a:cs typeface="Arial"/>
              </a:rPr>
              <a:t>throw an exception</a:t>
            </a:r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Note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catch</a:t>
            </a:r>
            <a:r>
              <a:rPr lang="en-US" dirty="0">
                <a:cs typeface="Arial"/>
              </a:rPr>
              <a:t> block</a:t>
            </a:r>
          </a:p>
          <a:p>
            <a:pPr lvl="1" eaLnBrk="1" hangingPunct="1"/>
            <a:r>
              <a:rPr lang="en-US" dirty="0">
                <a:cs typeface="Arial"/>
              </a:rPr>
              <a:t>When exception thrown,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catch</a:t>
            </a:r>
            <a:r>
              <a:rPr lang="en-US" dirty="0">
                <a:cs typeface="Arial"/>
              </a:rPr>
              <a:t> block begins execution</a:t>
            </a:r>
          </a:p>
          <a:p>
            <a:pPr lvl="1" eaLnBrk="1" hangingPunct="1"/>
            <a:r>
              <a:rPr lang="en-US" dirty="0">
                <a:cs typeface="Arial"/>
              </a:rPr>
              <a:t>Similar to method with parameter</a:t>
            </a:r>
          </a:p>
          <a:p>
            <a:pPr lvl="1" eaLnBrk="1" hangingPunct="1"/>
            <a:r>
              <a:rPr lang="en-US" dirty="0">
                <a:cs typeface="Arial"/>
              </a:rPr>
              <a:t>Parameter is the thrown object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Exceptions in Java</a:t>
            </a:r>
          </a:p>
        </p:txBody>
      </p:sp>
    </p:spTree>
    <p:extLst>
      <p:ext uri="{BB962C8B-B14F-4D97-AF65-F5344CB8AC3E}">
        <p14:creationId xmlns:p14="http://schemas.microsoft.com/office/powerpoint/2010/main" val="393929218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Exceptions in Java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4294967295"/>
          </p:nvPr>
        </p:nvSpPr>
        <p:spPr>
          <a:xfrm>
            <a:off x="948776" y="847565"/>
            <a:ext cx="3318424" cy="354155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Note flow of control when no exception is thrown</a:t>
            </a:r>
          </a:p>
        </p:txBody>
      </p:sp>
      <p:grpSp>
        <p:nvGrpSpPr>
          <p:cNvPr id="10244" name="Group 3"/>
          <p:cNvGrpSpPr>
            <a:grpSpLocks/>
          </p:cNvGrpSpPr>
          <p:nvPr/>
        </p:nvGrpSpPr>
        <p:grpSpPr bwMode="auto">
          <a:xfrm>
            <a:off x="582931" y="3537267"/>
            <a:ext cx="6462713" cy="1510904"/>
            <a:chOff x="1086255" y="3735503"/>
            <a:chExt cx="6462409" cy="2014659"/>
          </a:xfrm>
        </p:grpSpPr>
        <p:pic>
          <p:nvPicPr>
            <p:cNvPr id="1024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86255" y="4026033"/>
              <a:ext cx="5181356" cy="1724129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5145302" y="3735503"/>
              <a:ext cx="2403362" cy="1354298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with no exception</a:t>
              </a:r>
            </a:p>
          </p:txBody>
        </p:sp>
      </p:grp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0" b="3080"/>
          <a:stretch/>
        </p:blipFill>
        <p:spPr bwMode="auto">
          <a:xfrm>
            <a:off x="4500880" y="172721"/>
            <a:ext cx="4532917" cy="446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588035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Exceptions in Java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847565"/>
            <a:ext cx="3430184" cy="378515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Note flow of control when exception IS thrown</a:t>
            </a: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652464" y="3710861"/>
            <a:ext cx="6389687" cy="1351359"/>
            <a:chOff x="3027025" y="4257555"/>
            <a:chExt cx="6389350" cy="1800750"/>
          </a:xfrm>
        </p:grpSpPr>
        <p:pic>
          <p:nvPicPr>
            <p:cNvPr id="11269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027025" y="4495540"/>
              <a:ext cx="5190851" cy="1562765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6633635" y="4257555"/>
              <a:ext cx="2782740" cy="1353419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when exception is thrown</a:t>
              </a:r>
            </a:p>
          </p:txBody>
        </p:sp>
      </p:grp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3"/>
          <a:stretch/>
        </p:blipFill>
        <p:spPr bwMode="auto">
          <a:xfrm>
            <a:off x="4249105" y="143544"/>
            <a:ext cx="4722176" cy="491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62696" y="2031275"/>
            <a:ext cx="38975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Exception </a:t>
            </a:r>
            <a:r>
              <a:rPr lang="en-US" sz="1400" dirty="0" err="1"/>
              <a:t>exceptObject</a:t>
            </a:r>
            <a:r>
              <a:rPr lang="en-US" sz="1400" dirty="0"/>
              <a:t> = new Exception </a:t>
            </a:r>
          </a:p>
          <a:p>
            <a:r>
              <a:rPr lang="en-US" sz="1400" dirty="0"/>
              <a:t>                               (“Exception: No milk!”);</a:t>
            </a:r>
          </a:p>
          <a:p>
            <a:r>
              <a:rPr lang="en-US" sz="1400" dirty="0"/>
              <a:t>throw </a:t>
            </a:r>
            <a:r>
              <a:rPr lang="en-US" sz="1400" dirty="0" err="1"/>
              <a:t>exceptObject</a:t>
            </a:r>
            <a:r>
              <a:rPr lang="en-US" sz="1400" dirty="0"/>
              <a:t>;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165600" y="2499360"/>
            <a:ext cx="765896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78527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Predefined Exception Classes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Java has predefined exception classes within Java Class Library</a:t>
            </a:r>
          </a:p>
          <a:p>
            <a:pPr lvl="1" eaLnBrk="1" hangingPunct="1"/>
            <a:r>
              <a:rPr lang="en-US" dirty="0">
                <a:cs typeface="Arial"/>
              </a:rPr>
              <a:t>Can place method invocation in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try</a:t>
            </a:r>
            <a:r>
              <a:rPr lang="en-US" dirty="0">
                <a:cs typeface="Arial"/>
              </a:rPr>
              <a:t> block</a:t>
            </a:r>
          </a:p>
          <a:p>
            <a:pPr lvl="1" eaLnBrk="1" hangingPunct="1"/>
            <a:r>
              <a:rPr lang="en-US" dirty="0">
                <a:cs typeface="Arial"/>
              </a:rPr>
              <a:t>Follow with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catch</a:t>
            </a:r>
            <a:r>
              <a:rPr lang="en-US" dirty="0">
                <a:cs typeface="Arial"/>
              </a:rPr>
              <a:t> block for this type of exception</a:t>
            </a:r>
          </a:p>
          <a:p>
            <a:pPr eaLnBrk="1" hangingPunct="1"/>
            <a:r>
              <a:rPr lang="en-US" dirty="0">
                <a:cs typeface="Arial"/>
              </a:rPr>
              <a:t>Example classes</a:t>
            </a:r>
          </a:p>
          <a:p>
            <a:pPr lvl="1" eaLnBrk="1" hangingPunct="1"/>
            <a:r>
              <a:rPr lang="en-US" b="1" dirty="0" err="1">
                <a:solidFill>
                  <a:srgbClr val="0033CC"/>
                </a:solidFill>
                <a:cs typeface="Arial"/>
              </a:rPr>
              <a:t>BadStringOperationException</a:t>
            </a:r>
            <a:endParaRPr lang="en-US" b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r>
              <a:rPr lang="en-US" b="1" dirty="0" err="1">
                <a:solidFill>
                  <a:srgbClr val="0033CC"/>
                </a:solidFill>
                <a:cs typeface="Arial"/>
              </a:rPr>
              <a:t>ClassNotFoundException</a:t>
            </a:r>
            <a:endParaRPr lang="en-US" b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r>
              <a:rPr lang="en-US" b="1" dirty="0" err="1">
                <a:solidFill>
                  <a:srgbClr val="0033CC"/>
                </a:solidFill>
                <a:cs typeface="Arial"/>
              </a:rPr>
              <a:t>IOException</a:t>
            </a:r>
            <a:endParaRPr lang="en-US" b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r>
              <a:rPr lang="en-US" b="1" dirty="0" err="1">
                <a:solidFill>
                  <a:srgbClr val="0033CC"/>
                </a:solidFill>
                <a:cs typeface="Arial"/>
              </a:rPr>
              <a:t>NoSuchMethodException</a:t>
            </a:r>
            <a:endParaRPr lang="en-US" b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887266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Predefined Exception Classes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Example code</a:t>
            </a:r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8614" y="1903810"/>
            <a:ext cx="6442075" cy="2456259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907557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Your Own Exception Classes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Must be derived class of some predefined exception class</a:t>
            </a:r>
          </a:p>
          <a:p>
            <a:pPr lvl="1" eaLnBrk="1" hangingPunct="1"/>
            <a:r>
              <a:rPr lang="en-US" dirty="0">
                <a:cs typeface="Arial"/>
              </a:rPr>
              <a:t>Text uses classes derived from class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Exception</a:t>
            </a:r>
          </a:p>
        </p:txBody>
      </p:sp>
    </p:spTree>
    <p:extLst>
      <p:ext uri="{BB962C8B-B14F-4D97-AF65-F5344CB8AC3E}">
        <p14:creationId xmlns:p14="http://schemas.microsoft.com/office/powerpoint/2010/main" val="386863722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Your Own Exception Classes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4294967295"/>
          </p:nvPr>
        </p:nvSpPr>
        <p:spPr>
          <a:xfrm>
            <a:off x="948776" y="975361"/>
            <a:ext cx="3409864" cy="356616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  <a:hlinkClick r:id="rId2" action="ppaction://hlinkfile"/>
              </a:rPr>
              <a:t>sample class</a:t>
            </a:r>
            <a:r>
              <a:rPr lang="en-US" dirty="0">
                <a:cs typeface="Arial"/>
              </a:rPr>
              <a:t>,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class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DivideByZeroException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 </a:t>
            </a:r>
            <a:br>
              <a:rPr lang="en-US" b="1" dirty="0">
                <a:solidFill>
                  <a:srgbClr val="0033CC"/>
                </a:solidFill>
                <a:cs typeface="Arial"/>
              </a:rPr>
            </a:br>
            <a:r>
              <a:rPr lang="en-US" b="1" dirty="0">
                <a:solidFill>
                  <a:srgbClr val="0033CC"/>
                </a:solidFill>
                <a:cs typeface="Arial"/>
              </a:rPr>
              <a:t>        extends Exception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51" b="7166"/>
          <a:stretch/>
        </p:blipFill>
        <p:spPr bwMode="auto">
          <a:xfrm>
            <a:off x="1586865" y="2014468"/>
            <a:ext cx="6456363" cy="2527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1261833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Your Own Exception Classes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9"/>
          <a:stretch/>
        </p:blipFill>
        <p:spPr bwMode="auto">
          <a:xfrm>
            <a:off x="948776" y="1018391"/>
            <a:ext cx="4377865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066680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Your Own Exception Classes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847565"/>
            <a:ext cx="4005525" cy="266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678" y="847565"/>
            <a:ext cx="4674322" cy="412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469678" y="847565"/>
            <a:ext cx="0" cy="4295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82221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Your Own Exception Classes</a:t>
            </a:r>
          </a:p>
        </p:txBody>
      </p:sp>
      <p:sp>
        <p:nvSpPr>
          <p:cNvPr id="15363" name="Content Placeholder 11"/>
          <p:cNvSpPr>
            <a:spLocks noGrp="1"/>
          </p:cNvSpPr>
          <p:nvPr>
            <p:ph idx="4294967295"/>
          </p:nvPr>
        </p:nvSpPr>
        <p:spPr>
          <a:xfrm>
            <a:off x="948776" y="1090613"/>
            <a:ext cx="7847562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Different runs of the program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938213" y="1981200"/>
            <a:ext cx="6261100" cy="1264444"/>
            <a:chOff x="938403" y="2640902"/>
            <a:chExt cx="6261037" cy="1685925"/>
          </a:xfrm>
        </p:grpSpPr>
        <p:pic>
          <p:nvPicPr>
            <p:cNvPr id="15371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38403" y="2640902"/>
              <a:ext cx="5657793" cy="1685925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5675455" y="2948877"/>
              <a:ext cx="1523985" cy="1354217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1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641476" y="1671638"/>
            <a:ext cx="6289675" cy="2457450"/>
            <a:chOff x="1642110" y="2229612"/>
            <a:chExt cx="6288850" cy="3276600"/>
          </a:xfrm>
        </p:grpSpPr>
        <p:pic>
          <p:nvPicPr>
            <p:cNvPr id="1536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642110" y="2229612"/>
              <a:ext cx="5676155" cy="3276600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6407160" y="3571051"/>
              <a:ext cx="1523800" cy="1354217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2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762251" y="1600200"/>
            <a:ext cx="5961063" cy="2657475"/>
            <a:chOff x="0" y="614934"/>
            <a:chExt cx="5961952" cy="3543300"/>
          </a:xfrm>
        </p:grpSpPr>
        <p:pic>
          <p:nvPicPr>
            <p:cNvPr id="15367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614934"/>
              <a:ext cx="5638054" cy="3543300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4437725" y="1619822"/>
              <a:ext cx="1524227" cy="1354217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797420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Your Own Exception Classes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Note method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getMessage</a:t>
            </a:r>
            <a:r>
              <a:rPr lang="en-US" dirty="0">
                <a:latin typeface="Calibri" charset="0"/>
              </a:rPr>
              <a:t> defined in exception classes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Returns string passed as argument to constructor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If no actual parameter used, default message returned</a:t>
            </a:r>
          </a:p>
          <a:p>
            <a:pPr eaLnBrk="1" hangingPunct="1"/>
            <a:r>
              <a:rPr lang="en-US" dirty="0">
                <a:latin typeface="Calibri" charset="0"/>
              </a:rPr>
              <a:t>The type of an object is the name of the exception class</a:t>
            </a:r>
          </a:p>
        </p:txBody>
      </p:sp>
    </p:spTree>
    <p:extLst>
      <p:ext uri="{BB962C8B-B14F-4D97-AF65-F5344CB8AC3E}">
        <p14:creationId xmlns:p14="http://schemas.microsoft.com/office/powerpoint/2010/main" val="1302856599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Defining Your Own Exception Classes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>
                <a:latin typeface="Calibri" charset="0"/>
              </a:rPr>
              <a:t>Guidelines</a:t>
            </a:r>
          </a:p>
          <a:p>
            <a:pPr eaLnBrk="1" hangingPunct="1"/>
            <a:r>
              <a:rPr lang="en-US" dirty="0">
                <a:latin typeface="Calibri" charset="0"/>
              </a:rPr>
              <a:t>Use the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Exception</a:t>
            </a:r>
            <a:r>
              <a:rPr lang="en-US" dirty="0">
                <a:latin typeface="Calibri" charset="0"/>
              </a:rPr>
              <a:t> as the base class</a:t>
            </a:r>
          </a:p>
          <a:p>
            <a:pPr eaLnBrk="1" hangingPunct="1"/>
            <a:r>
              <a:rPr lang="en-US" dirty="0">
                <a:latin typeface="Calibri" charset="0"/>
              </a:rPr>
              <a:t>Define at least two constructors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Default, no parameter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With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String</a:t>
            </a:r>
            <a:r>
              <a:rPr lang="en-US" dirty="0">
                <a:latin typeface="Calibri" charset="0"/>
              </a:rPr>
              <a:t> parameter</a:t>
            </a:r>
          </a:p>
          <a:p>
            <a:pPr eaLnBrk="1" hangingPunct="1"/>
            <a:r>
              <a:rPr lang="en-US" dirty="0">
                <a:latin typeface="Calibri" charset="0"/>
              </a:rPr>
              <a:t>Start constructor definition with call to constructor of base class, using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 super</a:t>
            </a:r>
          </a:p>
          <a:p>
            <a:pPr eaLnBrk="1" hangingPunct="1"/>
            <a:r>
              <a:rPr lang="en-US" dirty="0">
                <a:latin typeface="Calibri" charset="0"/>
              </a:rPr>
              <a:t>Do not override inherited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getMessage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42845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Declaring Exceptions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214614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Consider method where code throws exception</a:t>
            </a:r>
          </a:p>
          <a:p>
            <a:pPr lvl="1" eaLnBrk="1" hangingPunct="1"/>
            <a:r>
              <a:rPr lang="en-US" dirty="0">
                <a:cs typeface="Arial"/>
              </a:rPr>
              <a:t>May want to handle immediately</a:t>
            </a:r>
          </a:p>
          <a:p>
            <a:pPr lvl="1" eaLnBrk="1" hangingPunct="1"/>
            <a:r>
              <a:rPr lang="en-US" dirty="0">
                <a:cs typeface="Arial"/>
              </a:rPr>
              <a:t>May want to delay until something else is done</a:t>
            </a:r>
          </a:p>
          <a:p>
            <a:pPr eaLnBrk="1" hangingPunct="1"/>
            <a:r>
              <a:rPr lang="en-US" dirty="0">
                <a:cs typeface="Arial"/>
              </a:rPr>
              <a:t>Method that does not </a:t>
            </a:r>
            <a:r>
              <a:rPr lang="en-US" u="sng" dirty="0">
                <a:cs typeface="Arial"/>
              </a:rPr>
              <a:t>catch</a:t>
            </a:r>
            <a:r>
              <a:rPr lang="en-US" dirty="0">
                <a:cs typeface="Arial"/>
              </a:rPr>
              <a:t> an exception</a:t>
            </a:r>
          </a:p>
          <a:p>
            <a:pPr lvl="1" eaLnBrk="1" hangingPunct="1"/>
            <a:r>
              <a:rPr lang="en-US" dirty="0">
                <a:cs typeface="Arial"/>
              </a:rPr>
              <a:t>Notify programmers with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throws</a:t>
            </a:r>
            <a:r>
              <a:rPr lang="en-US" dirty="0">
                <a:cs typeface="Arial"/>
              </a:rPr>
              <a:t> clause</a:t>
            </a:r>
          </a:p>
          <a:p>
            <a:pPr lvl="1" eaLnBrk="1" hangingPunct="1"/>
            <a:r>
              <a:rPr lang="en-US" dirty="0">
                <a:cs typeface="Arial"/>
              </a:rPr>
              <a:t>Programmer then given responsibility to handle exception</a:t>
            </a:r>
          </a:p>
        </p:txBody>
      </p:sp>
    </p:spTree>
    <p:extLst>
      <p:ext uri="{BB962C8B-B14F-4D97-AF65-F5344CB8AC3E}">
        <p14:creationId xmlns:p14="http://schemas.microsoft.com/office/powerpoint/2010/main" val="267541238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Declaring Exceptions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Note syntax for throws clause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Note distinction</a:t>
            </a:r>
          </a:p>
          <a:p>
            <a:pPr lvl="1" eaLnBrk="1" hangingPunct="1"/>
            <a:r>
              <a:rPr lang="en-US" dirty="0">
                <a:cs typeface="Arial"/>
              </a:rPr>
              <a:t>Keyword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throw</a:t>
            </a:r>
            <a:r>
              <a:rPr lang="en-US" dirty="0">
                <a:cs typeface="Arial"/>
              </a:rPr>
              <a:t> used to throw exception</a:t>
            </a:r>
          </a:p>
          <a:p>
            <a:pPr lvl="1" eaLnBrk="1" hangingPunct="1"/>
            <a:r>
              <a:rPr lang="en-US" dirty="0">
                <a:cs typeface="Arial"/>
              </a:rPr>
              <a:t>Keyword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throws</a:t>
            </a:r>
            <a:r>
              <a:rPr lang="en-US" dirty="0">
                <a:cs typeface="Arial"/>
              </a:rPr>
              <a:t> used in method heading to declare an exception</a:t>
            </a:r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0449" y="1826419"/>
            <a:ext cx="7577137" cy="558404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1717075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Declaring Exceptions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If a method throws exception and exception not caught inside the method</a:t>
            </a:r>
          </a:p>
          <a:p>
            <a:pPr lvl="1" eaLnBrk="1" hangingPunct="1"/>
            <a:r>
              <a:rPr lang="en-US" dirty="0">
                <a:cs typeface="Arial"/>
              </a:rPr>
              <a:t>Method ends immediately after exception thrown</a:t>
            </a:r>
          </a:p>
          <a:p>
            <a:pPr eaLnBrk="1" hangingPunct="1"/>
            <a:r>
              <a:rPr lang="en-US" dirty="0">
                <a:cs typeface="Arial"/>
              </a:rPr>
              <a:t>A throws clause in overriding method</a:t>
            </a:r>
          </a:p>
          <a:p>
            <a:pPr lvl="1" eaLnBrk="1" hangingPunct="1"/>
            <a:r>
              <a:rPr lang="en-US" dirty="0">
                <a:cs typeface="Arial"/>
              </a:rPr>
              <a:t>Can declare fewer exceptions than declared</a:t>
            </a:r>
          </a:p>
          <a:p>
            <a:pPr lvl="1" eaLnBrk="1" hangingPunct="1"/>
            <a:r>
              <a:rPr lang="en-US" dirty="0">
                <a:cs typeface="Arial"/>
              </a:rPr>
              <a:t>But not more</a:t>
            </a:r>
          </a:p>
        </p:txBody>
      </p:sp>
    </p:spTree>
    <p:extLst>
      <p:ext uri="{BB962C8B-B14F-4D97-AF65-F5344CB8AC3E}">
        <p14:creationId xmlns:p14="http://schemas.microsoft.com/office/powerpoint/2010/main" val="3510123762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Declaring Exceptions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4" b="40479"/>
          <a:stretch/>
        </p:blipFill>
        <p:spPr bwMode="auto">
          <a:xfrm>
            <a:off x="948776" y="1027544"/>
            <a:ext cx="4191000" cy="3382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08"/>
          <a:stretch/>
        </p:blipFill>
        <p:spPr bwMode="auto">
          <a:xfrm>
            <a:off x="4790758" y="1027544"/>
            <a:ext cx="4191000" cy="2486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>
            <a:stCxn id="21506" idx="2"/>
          </p:cNvCxnSpPr>
          <p:nvPr/>
        </p:nvCxnSpPr>
        <p:spPr>
          <a:xfrm flipH="1">
            <a:off x="4790758" y="847565"/>
            <a:ext cx="11949" cy="35627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14618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Kinds  of Exceptions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In most cases, exception is caught …</a:t>
            </a:r>
          </a:p>
          <a:p>
            <a:pPr lvl="1" eaLnBrk="1" hangingPunct="1"/>
            <a:r>
              <a:rPr lang="en-US" dirty="0">
                <a:cs typeface="Arial"/>
              </a:rPr>
              <a:t>In a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catch</a:t>
            </a:r>
            <a:r>
              <a:rPr lang="en-US" dirty="0">
                <a:cs typeface="Arial"/>
              </a:rPr>
              <a:t> block … or</a:t>
            </a:r>
          </a:p>
          <a:p>
            <a:pPr lvl="1" eaLnBrk="1" hangingPunct="1"/>
            <a:r>
              <a:rPr lang="en-US" dirty="0">
                <a:cs typeface="Arial"/>
              </a:rPr>
              <a:t>Be declared in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throws</a:t>
            </a:r>
            <a:r>
              <a:rPr lang="en-US" dirty="0">
                <a:cs typeface="Arial"/>
              </a:rPr>
              <a:t> clause</a:t>
            </a:r>
          </a:p>
          <a:p>
            <a:pPr eaLnBrk="1" hangingPunct="1"/>
            <a:r>
              <a:rPr lang="en-US" dirty="0">
                <a:cs typeface="Arial"/>
              </a:rPr>
              <a:t>But Java has exceptions you do not need to account for</a:t>
            </a:r>
          </a:p>
          <a:p>
            <a:pPr eaLnBrk="1" hangingPunct="1"/>
            <a:r>
              <a:rPr lang="en-US" dirty="0">
                <a:cs typeface="Arial"/>
              </a:rPr>
              <a:t>Categories of exceptions</a:t>
            </a:r>
          </a:p>
          <a:p>
            <a:pPr lvl="1" eaLnBrk="1" hangingPunct="1"/>
            <a:r>
              <a:rPr lang="en-US" dirty="0">
                <a:cs typeface="Arial"/>
              </a:rPr>
              <a:t>Checked exceptions</a:t>
            </a:r>
          </a:p>
          <a:p>
            <a:pPr lvl="1" eaLnBrk="1" hangingPunct="1"/>
            <a:r>
              <a:rPr lang="en-US" dirty="0">
                <a:cs typeface="Arial"/>
              </a:rPr>
              <a:t>Unchecked exceptions </a:t>
            </a:r>
          </a:p>
          <a:p>
            <a:pPr eaLnBrk="1" hangingPunct="1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8740928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Kinds  of Exceptions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15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i="1" dirty="0">
                <a:cs typeface="Arial"/>
              </a:rPr>
              <a:t>Checked</a:t>
            </a:r>
            <a:r>
              <a:rPr lang="en-US" dirty="0">
                <a:cs typeface="Arial"/>
              </a:rPr>
              <a:t> exception (e.g. </a:t>
            </a:r>
            <a:r>
              <a:rPr lang="en-US" dirty="0" err="1">
                <a:cs typeface="Arial"/>
              </a:rPr>
              <a:t>ClassNotFoundException</a:t>
            </a:r>
            <a:r>
              <a:rPr lang="en-US" dirty="0">
                <a:cs typeface="Arial"/>
              </a:rPr>
              <a:t>, </a:t>
            </a:r>
            <a:r>
              <a:rPr lang="en-US" dirty="0" err="1">
                <a:cs typeface="Arial"/>
              </a:rPr>
              <a:t>IOException</a:t>
            </a:r>
            <a:r>
              <a:rPr lang="en-US" dirty="0">
                <a:cs typeface="Arial"/>
              </a:rPr>
              <a:t>, and </a:t>
            </a:r>
            <a:r>
              <a:rPr lang="en-US" dirty="0" err="1">
                <a:cs typeface="Arial"/>
              </a:rPr>
              <a:t>NoSuchMethodException</a:t>
            </a:r>
            <a:r>
              <a:rPr lang="en-US" dirty="0">
                <a:cs typeface="Arial"/>
              </a:rPr>
              <a:t>)</a:t>
            </a:r>
          </a:p>
          <a:p>
            <a:pPr lvl="1" eaLnBrk="1" hangingPunct="1"/>
            <a:r>
              <a:rPr lang="en-US" dirty="0">
                <a:cs typeface="Arial"/>
              </a:rPr>
              <a:t>Must be caught in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catch</a:t>
            </a:r>
            <a:r>
              <a:rPr lang="en-US" dirty="0">
                <a:cs typeface="Arial"/>
              </a:rPr>
              <a:t> block</a:t>
            </a:r>
          </a:p>
          <a:p>
            <a:pPr lvl="1" eaLnBrk="1" hangingPunct="1"/>
            <a:r>
              <a:rPr lang="en-US" dirty="0">
                <a:cs typeface="Arial"/>
              </a:rPr>
              <a:t>Or declared in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throws</a:t>
            </a:r>
            <a:r>
              <a:rPr lang="en-US" dirty="0">
                <a:cs typeface="Arial"/>
              </a:rPr>
              <a:t> clause</a:t>
            </a:r>
          </a:p>
          <a:p>
            <a:pPr eaLnBrk="1" hangingPunct="1"/>
            <a:r>
              <a:rPr lang="en-US" i="1" dirty="0">
                <a:cs typeface="Arial"/>
              </a:rPr>
              <a:t>Unchecked</a:t>
            </a:r>
            <a:r>
              <a:rPr lang="en-US" dirty="0">
                <a:cs typeface="Arial"/>
              </a:rPr>
              <a:t> exception (e.g. </a:t>
            </a:r>
            <a:r>
              <a:rPr lang="en-US" dirty="0" err="1">
                <a:cs typeface="Arial"/>
              </a:rPr>
              <a:t>ArrayIndexOutOfBoundsException</a:t>
            </a:r>
            <a:r>
              <a:rPr lang="en-US" dirty="0">
                <a:cs typeface="Arial"/>
              </a:rPr>
              <a:t> or </a:t>
            </a:r>
            <a:r>
              <a:rPr lang="en-US" dirty="0" err="1">
                <a:cs typeface="Arial"/>
              </a:rPr>
              <a:t>ArithmeticException</a:t>
            </a:r>
            <a:r>
              <a:rPr lang="en-US" dirty="0">
                <a:cs typeface="Arial"/>
              </a:rPr>
              <a:t>)</a:t>
            </a:r>
          </a:p>
          <a:p>
            <a:pPr lvl="1" eaLnBrk="1" hangingPunct="1"/>
            <a:r>
              <a:rPr lang="en-US" dirty="0">
                <a:cs typeface="Arial"/>
              </a:rPr>
              <a:t>Also called </a:t>
            </a:r>
            <a:r>
              <a:rPr lang="en-US" i="1" dirty="0">
                <a:cs typeface="Arial"/>
              </a:rPr>
              <a:t>run-time</a:t>
            </a:r>
          </a:p>
          <a:p>
            <a:pPr lvl="1" eaLnBrk="1" hangingPunct="1"/>
            <a:r>
              <a:rPr lang="en-US" dirty="0">
                <a:cs typeface="Arial"/>
              </a:rPr>
              <a:t>Need not be caught in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catch</a:t>
            </a:r>
            <a:r>
              <a:rPr lang="en-US" dirty="0">
                <a:cs typeface="Arial"/>
              </a:rPr>
              <a:t> block or declared in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throws</a:t>
            </a:r>
            <a:r>
              <a:rPr lang="en-US" dirty="0">
                <a:cs typeface="Arial"/>
              </a:rPr>
              <a:t> </a:t>
            </a:r>
          </a:p>
          <a:p>
            <a:pPr lvl="1" eaLnBrk="1" hangingPunct="1"/>
            <a:r>
              <a:rPr lang="en-US" dirty="0">
                <a:cs typeface="Arial"/>
              </a:rPr>
              <a:t>Exceptions that coding problems exist, should be fixed</a:t>
            </a:r>
          </a:p>
        </p:txBody>
      </p:sp>
    </p:spTree>
    <p:extLst>
      <p:ext uri="{BB962C8B-B14F-4D97-AF65-F5344CB8AC3E}">
        <p14:creationId xmlns:p14="http://schemas.microsoft.com/office/powerpoint/2010/main" val="209462311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Kinds  of Exceptions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Examples why unchecked exceptions to are thrown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Attempt to use array index out of bounds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Division by zero</a:t>
            </a:r>
          </a:p>
          <a:p>
            <a:pPr eaLnBrk="1" hangingPunct="1"/>
            <a:r>
              <a:rPr lang="en-US" dirty="0">
                <a:latin typeface="Calibri" charset="0"/>
              </a:rPr>
              <a:t>Uncaught runtime exception terminates program execution</a:t>
            </a:r>
          </a:p>
        </p:txBody>
      </p:sp>
    </p:spTree>
    <p:extLst>
      <p:ext uri="{BB962C8B-B14F-4D97-AF65-F5344CB8AC3E}">
        <p14:creationId xmlns:p14="http://schemas.microsoft.com/office/powerpoint/2010/main" val="1670207834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Kinds  of Exceptions</a:t>
            </a:r>
          </a:p>
        </p:txBody>
      </p:sp>
      <p:sp>
        <p:nvSpPr>
          <p:cNvPr id="25603" name="Content Placeholder 3"/>
          <p:cNvSpPr>
            <a:spLocks noGrp="1"/>
          </p:cNvSpPr>
          <p:nvPr>
            <p:ph idx="4294967295"/>
          </p:nvPr>
        </p:nvSpPr>
        <p:spPr>
          <a:xfrm>
            <a:off x="1026160" y="1379379"/>
            <a:ext cx="748919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Hierarchy of the predefined exception classes</a:t>
            </a:r>
          </a:p>
        </p:txBody>
      </p:sp>
      <p:sp>
        <p:nvSpPr>
          <p:cNvPr id="7" name="Oval 6"/>
          <p:cNvSpPr/>
          <p:nvPr/>
        </p:nvSpPr>
        <p:spPr>
          <a:xfrm>
            <a:off x="4727575" y="2305050"/>
            <a:ext cx="876300" cy="4822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9714" y="2078831"/>
            <a:ext cx="6562725" cy="26431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dist="114300" dir="3000000" algn="ctr" rotWithShape="0">
              <a:schemeClr val="bg1">
                <a:lumMod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8001048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Errors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An </a:t>
            </a:r>
            <a:r>
              <a:rPr lang="en-US" i="1" dirty="0">
                <a:cs typeface="Arial"/>
              </a:rPr>
              <a:t>error</a:t>
            </a:r>
            <a:r>
              <a:rPr lang="en-US" dirty="0">
                <a:cs typeface="Arial"/>
              </a:rPr>
              <a:t> is an object of class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Error</a:t>
            </a:r>
          </a:p>
          <a:p>
            <a:pPr lvl="1" eaLnBrk="1" hangingPunct="1"/>
            <a:r>
              <a:rPr lang="en-US" dirty="0">
                <a:cs typeface="Arial"/>
              </a:rPr>
              <a:t>Similar to an unchecked exception</a:t>
            </a:r>
          </a:p>
          <a:p>
            <a:pPr lvl="1" eaLnBrk="1" hangingPunct="1"/>
            <a:r>
              <a:rPr lang="en-US" dirty="0">
                <a:cs typeface="Arial"/>
              </a:rPr>
              <a:t>Need not catch or declare in throws clause</a:t>
            </a:r>
          </a:p>
          <a:p>
            <a:pPr lvl="1" eaLnBrk="1" hangingPunct="1"/>
            <a:r>
              <a:rPr lang="en-US" dirty="0">
                <a:cs typeface="Arial"/>
              </a:rPr>
              <a:t>Object of class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Error</a:t>
            </a:r>
            <a:r>
              <a:rPr lang="en-US" dirty="0">
                <a:cs typeface="Arial"/>
              </a:rPr>
              <a:t> generated when abnormal conditions occur (e.g. </a:t>
            </a:r>
            <a:r>
              <a:rPr lang="en-US" dirty="0" err="1">
                <a:cs typeface="Arial"/>
              </a:rPr>
              <a:t>OutOfMemoryError</a:t>
            </a:r>
            <a:r>
              <a:rPr lang="en-US" dirty="0">
                <a:cs typeface="Arial"/>
              </a:rPr>
              <a:t>)</a:t>
            </a:r>
          </a:p>
          <a:p>
            <a:pPr eaLnBrk="1" hangingPunct="1"/>
            <a:r>
              <a:rPr lang="en-US" dirty="0">
                <a:cs typeface="Arial"/>
              </a:rPr>
              <a:t>Errors are more or less beyond your control</a:t>
            </a:r>
          </a:p>
          <a:p>
            <a:pPr lvl="1" eaLnBrk="1" hangingPunct="1"/>
            <a:r>
              <a:rPr lang="en-US" dirty="0">
                <a:cs typeface="Arial"/>
              </a:rPr>
              <a:t>Require change of program to resolve</a:t>
            </a:r>
          </a:p>
          <a:p>
            <a:pPr eaLnBrk="1" hangingPunct="1">
              <a:buFontTx/>
              <a:buNone/>
            </a:pP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6568496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948776" y="125861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Multiple Throws and Catches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4294967295"/>
          </p:nvPr>
        </p:nvSpPr>
        <p:spPr>
          <a:xfrm>
            <a:off x="948776" y="613885"/>
            <a:ext cx="7738024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 try block can throw any number of exceptions of different types</a:t>
            </a:r>
          </a:p>
          <a:p>
            <a:pPr eaLnBrk="1" hangingPunct="1"/>
            <a:r>
              <a:rPr lang="en-US" dirty="0">
                <a:cs typeface="Arial"/>
              </a:rPr>
              <a:t>Each catch block can catch exceptions of only one type</a:t>
            </a:r>
          </a:p>
          <a:p>
            <a:pPr lvl="1" eaLnBrk="1" hangingPunct="1"/>
            <a:r>
              <a:rPr lang="en-US" dirty="0">
                <a:cs typeface="Arial"/>
              </a:rPr>
              <a:t>Order of catch blocks matter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3" r="6639"/>
          <a:stretch/>
        </p:blipFill>
        <p:spPr bwMode="auto">
          <a:xfrm>
            <a:off x="704936" y="1366540"/>
            <a:ext cx="4004627" cy="377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705" y="1366540"/>
            <a:ext cx="3573501" cy="1457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403" y="2824479"/>
            <a:ext cx="4037696" cy="1483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953403" y="1442720"/>
            <a:ext cx="0" cy="36981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634877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Multiple Throws and Catches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895984"/>
            <a:ext cx="788670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Note multiple sample runs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993775" y="1267381"/>
            <a:ext cx="7067550" cy="1485900"/>
            <a:chOff x="1323975" y="2438400"/>
            <a:chExt cx="7068597" cy="1981200"/>
          </a:xfrm>
        </p:grpSpPr>
        <p:pic>
          <p:nvPicPr>
            <p:cNvPr id="28683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23975" y="2438400"/>
              <a:ext cx="6495425" cy="1981200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6868346" y="2808287"/>
              <a:ext cx="1524226" cy="1354217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1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246189" y="2580999"/>
            <a:ext cx="7026275" cy="1147823"/>
            <a:chOff x="1343025" y="4009012"/>
            <a:chExt cx="7026849" cy="1530430"/>
          </a:xfrm>
        </p:grpSpPr>
        <p:pic>
          <p:nvPicPr>
            <p:cNvPr id="2868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43025" y="4009012"/>
              <a:ext cx="6458478" cy="1485900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6845749" y="4185225"/>
              <a:ext cx="1524125" cy="1354217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2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420813" y="3537487"/>
            <a:ext cx="6673850" cy="1443038"/>
            <a:chOff x="1420847" y="3751026"/>
            <a:chExt cx="6673410" cy="1924050"/>
          </a:xfrm>
        </p:grpSpPr>
        <p:pic>
          <p:nvPicPr>
            <p:cNvPr id="28679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420847" y="3751026"/>
              <a:ext cx="6457524" cy="1924050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6570357" y="4201877"/>
              <a:ext cx="1523900" cy="1354217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000" dirty="0">
                  <a:latin typeface="+mn-lt"/>
                  <a:ea typeface="+mn-ea"/>
                </a:rPr>
                <a:t>Sample </a:t>
              </a:r>
              <a:br>
                <a:rPr lang="en-US" sz="2000" dirty="0">
                  <a:latin typeface="+mn-lt"/>
                  <a:ea typeface="+mn-ea"/>
                </a:rPr>
              </a:br>
              <a:r>
                <a:rPr lang="en-US" sz="2000" dirty="0">
                  <a:latin typeface="+mn-lt"/>
                  <a:ea typeface="+mn-ea"/>
                </a:rPr>
                <a:t>screen output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75170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Multiple Throws and Catches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Exceptions can deal with invalid user input</a:t>
            </a:r>
          </a:p>
          <a:p>
            <a:pPr eaLnBrk="1" hangingPunct="1"/>
            <a:r>
              <a:rPr lang="en-US" dirty="0">
                <a:cs typeface="Arial"/>
              </a:rPr>
              <a:t>To handle an exception thrown by a method</a:t>
            </a:r>
          </a:p>
          <a:p>
            <a:pPr lvl="1" eaLnBrk="1" hangingPunct="1"/>
            <a:r>
              <a:rPr lang="en-US" dirty="0">
                <a:cs typeface="Arial"/>
              </a:rPr>
              <a:t>It does not matter </a:t>
            </a:r>
            <a:r>
              <a:rPr lang="en-US" u="sng" dirty="0">
                <a:cs typeface="Arial"/>
              </a:rPr>
              <a:t>where</a:t>
            </a:r>
            <a:r>
              <a:rPr lang="en-US" dirty="0">
                <a:cs typeface="Arial"/>
              </a:rPr>
              <a:t> in the method the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throw</a:t>
            </a:r>
            <a:r>
              <a:rPr lang="en-US" dirty="0">
                <a:cs typeface="Arial"/>
              </a:rPr>
              <a:t> occurs</a:t>
            </a:r>
          </a:p>
          <a:p>
            <a:pPr eaLnBrk="1" hangingPunct="1"/>
            <a:r>
              <a:rPr lang="en-US" dirty="0">
                <a:cs typeface="Arial"/>
              </a:rPr>
              <a:t>Use of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throw</a:t>
            </a:r>
            <a:r>
              <a:rPr lang="en-US" dirty="0">
                <a:cs typeface="Arial"/>
              </a:rPr>
              <a:t> statement be should be reserved for cases where it is unavoidable</a:t>
            </a:r>
          </a:p>
          <a:p>
            <a:pPr eaLnBrk="1" hangingPunct="1"/>
            <a:r>
              <a:rPr lang="en-US" dirty="0">
                <a:cs typeface="Arial"/>
              </a:rPr>
              <a:t>Nested try-catch blocks rarely useful</a:t>
            </a:r>
          </a:p>
        </p:txBody>
      </p:sp>
    </p:spTree>
    <p:extLst>
      <p:ext uri="{BB962C8B-B14F-4D97-AF65-F5344CB8AC3E}">
        <p14:creationId xmlns:p14="http://schemas.microsoft.com/office/powerpoint/2010/main" val="1167893197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Multiple Throws and Catches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354194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catch(Exception e)</a:t>
            </a:r>
          </a:p>
          <a:p>
            <a:pPr eaLnBrk="1" hangingPunct="1"/>
            <a:r>
              <a:rPr lang="en-US" dirty="0">
                <a:cs typeface="Arial"/>
              </a:rPr>
              <a:t>{</a:t>
            </a:r>
          </a:p>
          <a:p>
            <a:pPr eaLnBrk="1" hangingPunct="1"/>
            <a:r>
              <a:rPr lang="en-US" dirty="0">
                <a:cs typeface="Arial"/>
              </a:rPr>
              <a:t>}</a:t>
            </a:r>
          </a:p>
          <a:p>
            <a:pPr eaLnBrk="1" hangingPunct="1"/>
            <a:r>
              <a:rPr lang="en-US" dirty="0">
                <a:cs typeface="Arial"/>
              </a:rPr>
              <a:t>catch(</a:t>
            </a:r>
            <a:r>
              <a:rPr lang="en-US" dirty="0" err="1">
                <a:cs typeface="Arial"/>
              </a:rPr>
              <a:t>DivideByZeroException</a:t>
            </a:r>
            <a:r>
              <a:rPr lang="en-US" dirty="0">
                <a:cs typeface="Arial"/>
              </a:rPr>
              <a:t> e)</a:t>
            </a:r>
          </a:p>
          <a:p>
            <a:pPr eaLnBrk="1" hangingPunct="1"/>
            <a:r>
              <a:rPr lang="en-US" dirty="0">
                <a:cs typeface="Arial"/>
              </a:rPr>
              <a:t>{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4829896" y="1369219"/>
            <a:ext cx="354194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catch(</a:t>
            </a:r>
            <a:r>
              <a:rPr lang="en-US" dirty="0" err="1">
                <a:cs typeface="Arial"/>
              </a:rPr>
              <a:t>DivideByZeroException</a:t>
            </a:r>
            <a:r>
              <a:rPr lang="en-US" dirty="0">
                <a:cs typeface="Arial"/>
              </a:rPr>
              <a:t> e)</a:t>
            </a:r>
          </a:p>
          <a:p>
            <a:pPr eaLnBrk="1" hangingPunct="1"/>
            <a:r>
              <a:rPr lang="en-US" dirty="0">
                <a:cs typeface="Arial"/>
              </a:rPr>
              <a:t>{</a:t>
            </a:r>
          </a:p>
          <a:p>
            <a:pPr eaLnBrk="1" hangingPunct="1"/>
            <a:r>
              <a:rPr lang="en-US" dirty="0">
                <a:cs typeface="Arial"/>
              </a:rPr>
              <a:t>}</a:t>
            </a:r>
          </a:p>
          <a:p>
            <a:pPr eaLnBrk="1" hangingPunct="1"/>
            <a:r>
              <a:rPr lang="en-US" dirty="0">
                <a:cs typeface="Arial"/>
              </a:rPr>
              <a:t>catch(Exception e)</a:t>
            </a:r>
          </a:p>
          <a:p>
            <a:pPr eaLnBrk="1" hangingPunct="1"/>
            <a:r>
              <a:rPr lang="en-US" dirty="0">
                <a:cs typeface="Arial"/>
              </a:rPr>
              <a:t>{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2" name="Right Arrow 1"/>
          <p:cNvSpPr/>
          <p:nvPr/>
        </p:nvSpPr>
        <p:spPr>
          <a:xfrm>
            <a:off x="4378960" y="2504440"/>
            <a:ext cx="294640" cy="3352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36527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</a:rPr>
              <a:t>The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finally</a:t>
            </a:r>
            <a:r>
              <a:rPr lang="en-US" dirty="0">
                <a:ea typeface="+mj-ea"/>
              </a:rPr>
              <a:t> Block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35539"/>
            <a:ext cx="7566574" cy="3263504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>
                <a:cs typeface="Arial"/>
              </a:rPr>
              <a:t>Possible to add a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finally</a:t>
            </a:r>
            <a:r>
              <a:rPr lang="en-US" dirty="0">
                <a:cs typeface="Arial"/>
              </a:rPr>
              <a:t> block after sequence of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catch</a:t>
            </a:r>
            <a:r>
              <a:rPr lang="en-US" dirty="0">
                <a:cs typeface="Arial"/>
              </a:rPr>
              <a:t> blocks</a:t>
            </a:r>
          </a:p>
          <a:p>
            <a:pPr eaLnBrk="1" hangingPunct="1"/>
            <a:r>
              <a:rPr lang="en-US" dirty="0">
                <a:cs typeface="Arial"/>
              </a:rPr>
              <a:t>Code in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finally</a:t>
            </a:r>
            <a:r>
              <a:rPr lang="en-US" dirty="0">
                <a:cs typeface="Arial"/>
              </a:rPr>
              <a:t> block executed </a:t>
            </a:r>
          </a:p>
          <a:p>
            <a:pPr lvl="1" eaLnBrk="1" hangingPunct="1"/>
            <a:r>
              <a:rPr lang="en-US" dirty="0">
                <a:cs typeface="Arial"/>
              </a:rPr>
              <a:t>Whether or not  execution thrown</a:t>
            </a:r>
          </a:p>
          <a:p>
            <a:pPr lvl="1" eaLnBrk="1" hangingPunct="1"/>
            <a:r>
              <a:rPr lang="en-US" dirty="0">
                <a:cs typeface="Arial"/>
              </a:rPr>
              <a:t>Whether or not required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catch</a:t>
            </a:r>
            <a:r>
              <a:rPr lang="en-US" dirty="0">
                <a:cs typeface="Arial"/>
              </a:rPr>
              <a:t> exists</a:t>
            </a:r>
          </a:p>
          <a:p>
            <a:pPr lvl="1" eaLnBrk="1" hangingPunct="1"/>
            <a:endParaRPr lang="en-US" dirty="0">
              <a:cs typeface="Arial"/>
            </a:endParaRPr>
          </a:p>
          <a:p>
            <a:pPr marL="0" lvl="1" indent="0" eaLnBrk="1" hangingPunct="1">
              <a:buNone/>
            </a:pPr>
            <a:r>
              <a:rPr lang="en-US" sz="1600" dirty="0">
                <a:solidFill>
                  <a:srgbClr val="000090"/>
                </a:solidFill>
                <a:cs typeface="Arial"/>
              </a:rPr>
              <a:t>try</a:t>
            </a:r>
          </a:p>
          <a:p>
            <a:pPr marL="0" lvl="1" indent="0" eaLnBrk="1" hangingPunct="1">
              <a:buNone/>
            </a:pPr>
            <a:r>
              <a:rPr lang="en-US" sz="1600" dirty="0">
                <a:cs typeface="Arial"/>
              </a:rPr>
              <a:t>{</a:t>
            </a:r>
          </a:p>
          <a:p>
            <a:pPr marL="0" lvl="1" indent="0" eaLnBrk="1" hangingPunct="1">
              <a:buNone/>
            </a:pPr>
            <a:r>
              <a:rPr lang="en-US" sz="1600" dirty="0">
                <a:cs typeface="Arial"/>
              </a:rPr>
              <a:t>}</a:t>
            </a:r>
          </a:p>
          <a:p>
            <a:pPr marL="0" lvl="1" indent="0" eaLnBrk="1" hangingPunct="1">
              <a:buNone/>
            </a:pPr>
            <a:r>
              <a:rPr lang="en-US" sz="1600" dirty="0">
                <a:cs typeface="Arial"/>
              </a:rPr>
              <a:t>catch blocks</a:t>
            </a:r>
          </a:p>
          <a:p>
            <a:pPr marL="0" lvl="1" indent="0" eaLnBrk="1" hangingPunct="1">
              <a:buNone/>
            </a:pPr>
            <a:r>
              <a:rPr lang="en-US" sz="1600" dirty="0">
                <a:solidFill>
                  <a:srgbClr val="000090"/>
                </a:solidFill>
                <a:cs typeface="Arial"/>
              </a:rPr>
              <a:t>finally</a:t>
            </a:r>
          </a:p>
          <a:p>
            <a:pPr marL="0" lvl="1" indent="0" eaLnBrk="1" hangingPunct="1">
              <a:buNone/>
            </a:pPr>
            <a:r>
              <a:rPr lang="en-US" sz="1600" dirty="0">
                <a:cs typeface="Arial"/>
              </a:rPr>
              <a:t>{</a:t>
            </a:r>
          </a:p>
          <a:p>
            <a:pPr marL="0" lvl="1" indent="0" eaLnBrk="1" hangingPunct="1">
              <a:buNone/>
            </a:pPr>
            <a:r>
              <a:rPr lang="en-US" sz="1600" dirty="0">
                <a:cs typeface="Arial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948776" y="2794000"/>
            <a:ext cx="1631864" cy="209296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97511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066799" y="558799"/>
            <a:ext cx="7448551" cy="440849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Case Study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>
          <a:xfrm>
            <a:off x="1066798" y="1369219"/>
            <a:ext cx="7448551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A Line-Oriented Calculator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Should do addition, subtraction, division, multiplication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Will use line input/output</a:t>
            </a:r>
          </a:p>
          <a:p>
            <a:pPr eaLnBrk="1" hangingPunct="1"/>
            <a:r>
              <a:rPr lang="en-US" dirty="0">
                <a:latin typeface="Calibri" charset="0"/>
              </a:rPr>
              <a:t>User will enter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Operation, space, number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Calculator displays result</a:t>
            </a: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918420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948775" y="995363"/>
            <a:ext cx="7626265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Proposed initial methods</a:t>
            </a:r>
          </a:p>
          <a:p>
            <a:pPr lvl="1" eaLnBrk="1" hangingPunct="1"/>
            <a:r>
              <a:rPr lang="en-US" dirty="0">
                <a:cs typeface="Arial"/>
              </a:rPr>
              <a:t>Method to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reset</a:t>
            </a:r>
            <a:r>
              <a:rPr lang="en-US" dirty="0">
                <a:cs typeface="Arial"/>
              </a:rPr>
              <a:t> value of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result</a:t>
            </a:r>
            <a:r>
              <a:rPr lang="en-US" dirty="0">
                <a:cs typeface="Arial"/>
              </a:rPr>
              <a:t> to zero</a:t>
            </a:r>
          </a:p>
          <a:p>
            <a:pPr lvl="1" eaLnBrk="1" hangingPunct="1"/>
            <a:r>
              <a:rPr lang="en-US" dirty="0">
                <a:cs typeface="Arial"/>
              </a:rPr>
              <a:t>Method to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evaluate</a:t>
            </a:r>
            <a:r>
              <a:rPr lang="en-US" dirty="0">
                <a:cs typeface="Arial"/>
              </a:rPr>
              <a:t> result of one operation</a:t>
            </a:r>
          </a:p>
          <a:p>
            <a:pPr lvl="1" eaLnBrk="1" hangingPunct="1"/>
            <a:r>
              <a:rPr lang="en-US" dirty="0">
                <a:cs typeface="Arial"/>
              </a:rPr>
              <a:t>Method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doCalculation</a:t>
            </a:r>
            <a:r>
              <a:rPr lang="en-US" dirty="0">
                <a:cs typeface="Arial"/>
              </a:rPr>
              <a:t> to perform series of operations</a:t>
            </a:r>
          </a:p>
          <a:p>
            <a:pPr lvl="1" eaLnBrk="1" hangingPunct="1"/>
            <a:r>
              <a:rPr lang="en-US" dirty="0" err="1">
                <a:cs typeface="Arial"/>
              </a:rPr>
              <a:t>Accessor</a:t>
            </a:r>
            <a:r>
              <a:rPr lang="en-US" dirty="0">
                <a:cs typeface="Arial"/>
              </a:rPr>
              <a:t> method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getResult</a:t>
            </a:r>
            <a:r>
              <a:rPr lang="en-US" dirty="0">
                <a:cs typeface="Arial"/>
              </a:rPr>
              <a:t>: returns value of instance variable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result</a:t>
            </a:r>
          </a:p>
          <a:p>
            <a:pPr lvl="1" eaLnBrk="1" hangingPunct="1"/>
            <a:r>
              <a:rPr lang="en-US" dirty="0" err="1">
                <a:cs typeface="Arial"/>
              </a:rPr>
              <a:t>Mutator</a:t>
            </a:r>
            <a:r>
              <a:rPr lang="en-US" dirty="0">
                <a:cs typeface="Arial"/>
              </a:rPr>
              <a:t> method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setResults</a:t>
            </a:r>
            <a:r>
              <a:rPr lang="en-US" dirty="0">
                <a:cs typeface="Arial"/>
              </a:rPr>
              <a:t>: sets value of instance variable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991630473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8979" y="1657113"/>
            <a:ext cx="5121275" cy="187761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570663" y="2755345"/>
            <a:ext cx="1524000" cy="101566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ea typeface="+mn-ea"/>
              </a:rPr>
              <a:t>Sample </a:t>
            </a:r>
            <a:br>
              <a:rPr lang="en-US" sz="2000" dirty="0">
                <a:latin typeface="+mn-lt"/>
                <a:ea typeface="+mn-ea"/>
              </a:rPr>
            </a:br>
            <a:r>
              <a:rPr lang="en-US" sz="2000" dirty="0">
                <a:latin typeface="+mn-lt"/>
                <a:ea typeface="+mn-ea"/>
              </a:rPr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385126789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71"/>
          <a:stretch/>
        </p:blipFill>
        <p:spPr bwMode="auto">
          <a:xfrm>
            <a:off x="531495" y="115992"/>
            <a:ext cx="4314825" cy="1559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58"/>
          <a:stretch/>
        </p:blipFill>
        <p:spPr bwMode="auto">
          <a:xfrm>
            <a:off x="881698" y="1675494"/>
            <a:ext cx="3568382" cy="341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320" y="0"/>
            <a:ext cx="3762473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4643120" y="0"/>
            <a:ext cx="0" cy="5143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408469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512058"/>
            <a:ext cx="4807585" cy="406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22504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20195</TotalTime>
  <Words>869</Words>
  <Application>Microsoft Office PowerPoint</Application>
  <PresentationFormat>화면 슬라이드 쇼(16:9)</PresentationFormat>
  <Paragraphs>184</Paragraphs>
  <Slides>36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36</vt:i4>
      </vt:variant>
    </vt:vector>
  </HeadingPairs>
  <TitlesOfParts>
    <vt:vector size="38" baseType="lpstr">
      <vt:lpstr>Jobtalk_UF</vt:lpstr>
      <vt:lpstr>SU_Template_TopBar</vt:lpstr>
      <vt:lpstr>Exceptions in Java</vt:lpstr>
      <vt:lpstr>Exceptions in Java</vt:lpstr>
      <vt:lpstr>Exceptions in Java</vt:lpstr>
      <vt:lpstr>Exceptions in Java</vt:lpstr>
      <vt:lpstr>Exceptions in Java</vt:lpstr>
      <vt:lpstr>Exceptions in Java</vt:lpstr>
      <vt:lpstr>Exceptions in Java</vt:lpstr>
      <vt:lpstr>Exceptions in Java</vt:lpstr>
      <vt:lpstr>Predefined Exception Classes</vt:lpstr>
      <vt:lpstr>Predefined Exception Classes</vt:lpstr>
      <vt:lpstr>Defining Your Own Exception Classes</vt:lpstr>
      <vt:lpstr>Defining Your Own Exception Classes</vt:lpstr>
      <vt:lpstr>Defining Your Own Exception Classes</vt:lpstr>
      <vt:lpstr>Defining Your Own Exception Classes</vt:lpstr>
      <vt:lpstr>Defining Your Own Exception Classes</vt:lpstr>
      <vt:lpstr>Defining Your Own Exception Classes</vt:lpstr>
      <vt:lpstr>Defining Your Own Exception Classes</vt:lpstr>
      <vt:lpstr>Declaring Exceptions</vt:lpstr>
      <vt:lpstr>Declaring Exceptions</vt:lpstr>
      <vt:lpstr>Declaring Exceptions</vt:lpstr>
      <vt:lpstr>Declaring Exceptions</vt:lpstr>
      <vt:lpstr>Kinds  of Exceptions</vt:lpstr>
      <vt:lpstr>Kinds  of Exceptions</vt:lpstr>
      <vt:lpstr>Kinds  of Exceptions</vt:lpstr>
      <vt:lpstr>Kinds  of Exceptions</vt:lpstr>
      <vt:lpstr>Errors</vt:lpstr>
      <vt:lpstr>Multiple Throws and Catches</vt:lpstr>
      <vt:lpstr>Multiple Throws and Catches</vt:lpstr>
      <vt:lpstr>Multiple Throws and Catches</vt:lpstr>
      <vt:lpstr>Multiple Throws and Catches</vt:lpstr>
      <vt:lpstr>The finally Block</vt:lpstr>
      <vt:lpstr>Case Study</vt:lpstr>
      <vt:lpstr>Case Study</vt:lpstr>
      <vt:lpstr>Case Study</vt:lpstr>
      <vt:lpstr>PowerPoint 프레젠테이션</vt:lpstr>
      <vt:lpstr>PowerPoint 프레젠테이션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Jin Kyu Gahm</cp:lastModifiedBy>
  <cp:revision>1752</cp:revision>
  <cp:lastPrinted>2016-01-15T22:14:07Z</cp:lastPrinted>
  <dcterms:created xsi:type="dcterms:W3CDTF">2016-01-04T21:30:26Z</dcterms:created>
  <dcterms:modified xsi:type="dcterms:W3CDTF">2019-11-21T02:11:45Z</dcterms:modified>
</cp:coreProperties>
</file>