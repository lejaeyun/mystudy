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8" r:id="rId11"/>
    <p:sldId id="263" r:id="rId12"/>
    <p:sldId id="264" r:id="rId13"/>
    <p:sldId id="265" r:id="rId14"/>
    <p:sldId id="269" r:id="rId15"/>
    <p:sldId id="266" r:id="rId16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0" autoAdjust="0"/>
    <p:restoredTop sz="98627" autoAdjust="0"/>
  </p:normalViewPr>
  <p:slideViewPr>
    <p:cSldViewPr snapToGrid="0" snapToObjects="1">
      <p:cViewPr>
        <p:scale>
          <a:sx n="125" d="100"/>
          <a:sy n="125" d="100"/>
        </p:scale>
        <p:origin x="-640" y="-4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11/20/2019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11/20/2019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BB933CF-97D5-D340-ADA8-FEDD17AD553C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0B1841-B4D7-3C4F-AE3A-1C7205809F1F}" type="datetimeFigureOut">
              <a:rPr lang="en-US"/>
              <a:pPr/>
              <a:t>11/20/2019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547F1-E42F-914D-B2CE-C72635F2A4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0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948776" y="2365002"/>
            <a:ext cx="7707862" cy="488024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Calibri Light" charset="0"/>
              </a:rPr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206950142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Draft 1 of algorithm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Algorithm requires additional parameters</a:t>
            </a:r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8776" y="1765696"/>
            <a:ext cx="7707862" cy="152614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081228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809625" y="1544319"/>
            <a:ext cx="7705725" cy="28953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Draft 2 of algorithm to search </a:t>
            </a:r>
            <a:r>
              <a:rPr lang="en-US" b="1" dirty="0">
                <a:solidFill>
                  <a:srgbClr val="0070C0"/>
                </a:solidFill>
                <a:latin typeface="Courier New" charset="0"/>
                <a:cs typeface="Courier New" charset="0"/>
              </a:rPr>
              <a:t>a[first] </a:t>
            </a:r>
            <a:r>
              <a:rPr lang="en-US" dirty="0">
                <a:latin typeface="Calibri" charset="0"/>
              </a:rPr>
              <a:t>through </a:t>
            </a:r>
            <a:r>
              <a:rPr lang="en-US" b="1" dirty="0">
                <a:solidFill>
                  <a:srgbClr val="0070C0"/>
                </a:solidFill>
                <a:latin typeface="Courier New" charset="0"/>
                <a:cs typeface="Courier New" charset="0"/>
              </a:rPr>
              <a:t>a[last]</a:t>
            </a: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What if target is not in the array?</a:t>
            </a: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8776" y="1880950"/>
            <a:ext cx="7707862" cy="1634728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019351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Final draft of algorithm to search </a:t>
            </a:r>
            <a:r>
              <a:rPr lang="en-US" b="1">
                <a:solidFill>
                  <a:srgbClr val="0070C0"/>
                </a:solidFill>
                <a:latin typeface="Courier New" charset="0"/>
                <a:cs typeface="Courier New" charset="0"/>
              </a:rPr>
              <a:t>a[first] </a:t>
            </a:r>
            <a:r>
              <a:rPr lang="en-US">
                <a:latin typeface="Calibri" charset="0"/>
              </a:rPr>
              <a:t>through </a:t>
            </a:r>
            <a:r>
              <a:rPr lang="en-US" b="1">
                <a:solidFill>
                  <a:srgbClr val="0070C0"/>
                </a:solidFill>
                <a:latin typeface="Courier New" charset="0"/>
                <a:cs typeface="Courier New" charset="0"/>
              </a:rPr>
              <a:t>a[last] </a:t>
            </a:r>
            <a:r>
              <a:rPr lang="en-US">
                <a:latin typeface="Calibri" charset="0"/>
              </a:rPr>
              <a:t>to find </a:t>
            </a:r>
            <a:r>
              <a:rPr lang="en-US" b="1">
                <a:solidFill>
                  <a:srgbClr val="0070C0"/>
                </a:solidFill>
                <a:latin typeface="Courier New" charset="0"/>
                <a:cs typeface="Courier New" charset="0"/>
              </a:rPr>
              <a:t>target</a:t>
            </a:r>
          </a:p>
          <a:p>
            <a:pPr eaLnBrk="1" hangingPunct="1"/>
            <a:endParaRPr lang="en-US">
              <a:latin typeface="Calibri" charset="0"/>
            </a:endParaRP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01" y="2092484"/>
            <a:ext cx="7435849" cy="1901429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698100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Binary search example</a:t>
            </a:r>
          </a:p>
        </p:txBody>
      </p:sp>
      <p:pic>
        <p:nvPicPr>
          <p:cNvPr id="3174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1239" y="1785938"/>
            <a:ext cx="7546975" cy="2718197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692502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Binary search example</a:t>
            </a:r>
          </a:p>
        </p:txBody>
      </p:sp>
      <p:pic>
        <p:nvPicPr>
          <p:cNvPr id="3277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7639" y="1837135"/>
            <a:ext cx="6719887" cy="2645569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28251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933450" y="1369219"/>
            <a:ext cx="758190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Binary search example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450" y="1996679"/>
            <a:ext cx="7639050" cy="2240756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264112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" t="7589" r="7902"/>
          <a:stretch/>
        </p:blipFill>
        <p:spPr bwMode="auto">
          <a:xfrm>
            <a:off x="545264" y="1260989"/>
            <a:ext cx="4285984" cy="335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419" y="1361021"/>
            <a:ext cx="3937000" cy="1369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88" y="2730138"/>
            <a:ext cx="4203531" cy="1585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861728" y="60960"/>
            <a:ext cx="0" cy="5041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55749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810928" y="60960"/>
            <a:ext cx="0" cy="5041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" t="9625" r="5020"/>
          <a:stretch/>
        </p:blipFill>
        <p:spPr bwMode="auto">
          <a:xfrm>
            <a:off x="497846" y="1117599"/>
            <a:ext cx="4237736" cy="2586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168" y="1117599"/>
            <a:ext cx="3745791" cy="198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480" y="3202080"/>
            <a:ext cx="4140279" cy="858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827172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Binary Search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7450" y="882509"/>
            <a:ext cx="4694577" cy="2124852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7451" y="2885440"/>
            <a:ext cx="4694577" cy="2085340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310027" y="2885440"/>
            <a:ext cx="1524000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</a:rPr>
              <a:t>Sample </a:t>
            </a:r>
            <a:br>
              <a:rPr lang="en-US" sz="2000" dirty="0">
                <a:latin typeface="+mn-lt"/>
                <a:ea typeface="+mn-ea"/>
              </a:rPr>
            </a:br>
            <a:r>
              <a:rPr lang="en-US" sz="20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60080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80160"/>
            <a:ext cx="7566574" cy="335256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Merge sort – A recursive sorting method</a:t>
            </a:r>
          </a:p>
          <a:p>
            <a:pPr eaLnBrk="1" hangingPunct="1"/>
            <a:r>
              <a:rPr lang="en-US" dirty="0">
                <a:latin typeface="Calibri" charset="0"/>
              </a:rPr>
              <a:t>A divide-and-conquer algorithm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Array to be sorted is divided in half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The two halves are sorted by recursive calls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This produces two smaller, sorted arrays which are merged to a single sorted array</a:t>
            </a:r>
          </a:p>
        </p:txBody>
      </p:sp>
    </p:spTree>
    <p:extLst>
      <p:ext uri="{BB962C8B-B14F-4D97-AF65-F5344CB8AC3E}">
        <p14:creationId xmlns:p14="http://schemas.microsoft.com/office/powerpoint/2010/main" val="1365672502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Merge Sort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4294967295"/>
          </p:nvPr>
        </p:nvSpPr>
        <p:spPr>
          <a:xfrm>
            <a:off x="85217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Algorithm to sort array </a:t>
            </a:r>
            <a:r>
              <a:rPr lang="en-US" b="1" dirty="0">
                <a:solidFill>
                  <a:srgbClr val="0070C0"/>
                </a:solidFill>
                <a:latin typeface="Courier New" charset="0"/>
                <a:cs typeface="Courier New" charset="0"/>
              </a:rPr>
              <a:t>a</a:t>
            </a: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b="1" dirty="0">
              <a:solidFill>
                <a:srgbClr val="0070C0"/>
              </a:solidFill>
              <a:latin typeface="Courier New" charset="0"/>
              <a:cs typeface="Courier New" charset="0"/>
            </a:endParaRPr>
          </a:p>
        </p:txBody>
      </p:sp>
      <p:grpSp>
        <p:nvGrpSpPr>
          <p:cNvPr id="37892" name="Group 6"/>
          <p:cNvGrpSpPr>
            <a:grpSpLocks/>
          </p:cNvGrpSpPr>
          <p:nvPr/>
        </p:nvGrpSpPr>
        <p:grpSpPr bwMode="auto">
          <a:xfrm>
            <a:off x="982345" y="1940719"/>
            <a:ext cx="7674293" cy="1593056"/>
            <a:chOff x="1066800" y="3001115"/>
            <a:chExt cx="6854042" cy="1637986"/>
          </a:xfrm>
        </p:grpSpPr>
        <p:pic>
          <p:nvPicPr>
            <p:cNvPr id="37893" name="Picture 2"/>
            <p:cNvPicPr>
              <a:picLocks noChangeAspect="1" noChangeArrowheads="1"/>
            </p:cNvPicPr>
            <p:nvPr/>
          </p:nvPicPr>
          <p:blipFill>
            <a:blip r:embed="rId3"/>
            <a:srcRect l="1472" b="13493"/>
            <a:stretch>
              <a:fillRect/>
            </a:stretch>
          </p:blipFill>
          <p:spPr bwMode="auto">
            <a:xfrm>
              <a:off x="1069555" y="3001115"/>
              <a:ext cx="6849910" cy="1029557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37894" name="Picture 4"/>
            <p:cNvPicPr>
              <a:picLocks noChangeAspect="1" noChangeArrowheads="1"/>
            </p:cNvPicPr>
            <p:nvPr/>
          </p:nvPicPr>
          <p:blipFill>
            <a:blip r:embed="rId4"/>
            <a:srcRect l="1511" t="15060" r="9100"/>
            <a:stretch>
              <a:fillRect/>
            </a:stretch>
          </p:blipFill>
          <p:spPr bwMode="auto">
            <a:xfrm>
              <a:off x="1066800" y="3967013"/>
              <a:ext cx="6854042" cy="672088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249855502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81" r="4079"/>
          <a:stretch/>
        </p:blipFill>
        <p:spPr bwMode="auto">
          <a:xfrm>
            <a:off x="562696" y="101600"/>
            <a:ext cx="4239602" cy="123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" y="1335172"/>
            <a:ext cx="3878163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456" y="2576114"/>
            <a:ext cx="3395027" cy="250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56" b="66407"/>
          <a:stretch/>
        </p:blipFill>
        <p:spPr bwMode="auto">
          <a:xfrm>
            <a:off x="762180" y="2973472"/>
            <a:ext cx="4181316" cy="166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06" r="7656"/>
          <a:stretch/>
        </p:blipFill>
        <p:spPr bwMode="auto">
          <a:xfrm>
            <a:off x="5212080" y="129913"/>
            <a:ext cx="3850640" cy="241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4924218" y="30480"/>
            <a:ext cx="0" cy="5078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63089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Merge Sort</a:t>
            </a:r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4777" y="3573237"/>
            <a:ext cx="3705224" cy="1205046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994401" y="3992880"/>
            <a:ext cx="1072832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Arial"/>
                <a:ea typeface="+mn-ea"/>
                <a:cs typeface="Arial"/>
              </a:rPr>
              <a:t>Sample </a:t>
            </a:r>
            <a:br>
              <a:rPr lang="en-US" sz="2000" dirty="0">
                <a:latin typeface="Arial"/>
                <a:ea typeface="+mn-ea"/>
                <a:cs typeface="Arial"/>
              </a:rPr>
            </a:br>
            <a:r>
              <a:rPr lang="en-US" sz="2000" dirty="0">
                <a:latin typeface="Arial"/>
                <a:ea typeface="+mn-ea"/>
                <a:cs typeface="Arial"/>
              </a:rPr>
              <a:t>screen output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8" b="30161"/>
          <a:stretch/>
        </p:blipFill>
        <p:spPr bwMode="auto">
          <a:xfrm>
            <a:off x="2065656" y="831463"/>
            <a:ext cx="4893944" cy="268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021262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16286</TotalTime>
  <Words>137</Words>
  <Application>Microsoft Office PowerPoint</Application>
  <PresentationFormat>화면 슬라이드 쇼(16:9)</PresentationFormat>
  <Paragraphs>43</Paragraphs>
  <Slides>14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16" baseType="lpstr">
      <vt:lpstr>Jobtalk_UF</vt:lpstr>
      <vt:lpstr>SU_Template_TopBar</vt:lpstr>
      <vt:lpstr>Recursion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Programming Example</vt:lpstr>
      <vt:lpstr>Merge Sort</vt:lpstr>
      <vt:lpstr>PowerPoint 프레젠테이션</vt:lpstr>
      <vt:lpstr>Merge Sort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curator</cp:lastModifiedBy>
  <cp:revision>1841</cp:revision>
  <cp:lastPrinted>2016-01-15T22:14:07Z</cp:lastPrinted>
  <dcterms:created xsi:type="dcterms:W3CDTF">2016-01-04T21:30:26Z</dcterms:created>
  <dcterms:modified xsi:type="dcterms:W3CDTF">2019-11-21T02:08:08Z</dcterms:modified>
</cp:coreProperties>
</file>