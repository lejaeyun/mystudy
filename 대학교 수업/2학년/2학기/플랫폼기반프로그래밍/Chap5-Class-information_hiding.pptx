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99" r:id="rId2"/>
  </p:sldMasterIdLst>
  <p:notesMasterIdLst>
    <p:notesMasterId r:id="rId32"/>
  </p:notesMasterIdLst>
  <p:handoutMasterIdLst>
    <p:handoutMasterId r:id="rId33"/>
  </p:handoutMasterIdLst>
  <p:sldIdLst>
    <p:sldId id="409" r:id="rId3"/>
    <p:sldId id="371" r:id="rId4"/>
    <p:sldId id="372" r:id="rId5"/>
    <p:sldId id="373" r:id="rId6"/>
    <p:sldId id="374" r:id="rId7"/>
    <p:sldId id="375" r:id="rId8"/>
    <p:sldId id="376" r:id="rId9"/>
    <p:sldId id="377" r:id="rId10"/>
    <p:sldId id="411" r:id="rId11"/>
    <p:sldId id="410" r:id="rId12"/>
    <p:sldId id="378" r:id="rId13"/>
    <p:sldId id="382" r:id="rId14"/>
    <p:sldId id="384" r:id="rId15"/>
    <p:sldId id="385" r:id="rId16"/>
    <p:sldId id="386" r:id="rId17"/>
    <p:sldId id="387" r:id="rId18"/>
    <p:sldId id="392" r:id="rId19"/>
    <p:sldId id="393" r:id="rId20"/>
    <p:sldId id="394" r:id="rId21"/>
    <p:sldId id="395" r:id="rId22"/>
    <p:sldId id="396" r:id="rId23"/>
    <p:sldId id="397" r:id="rId24"/>
    <p:sldId id="398" r:id="rId25"/>
    <p:sldId id="399" r:id="rId26"/>
    <p:sldId id="400" r:id="rId27"/>
    <p:sldId id="401" r:id="rId28"/>
    <p:sldId id="402" r:id="rId29"/>
    <p:sldId id="404" r:id="rId30"/>
    <p:sldId id="406" r:id="rId31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A44"/>
    <a:srgbClr val="D0A760"/>
    <a:srgbClr val="8C1515"/>
    <a:srgbClr val="D6DDD3"/>
    <a:srgbClr val="EDE8DD"/>
    <a:srgbClr val="C2B7A1"/>
    <a:srgbClr val="918873"/>
    <a:srgbClr val="3C3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066A7C-858A-5331-1242-31931FC326E4}" v="9" dt="2019-09-30T06:34:44.384"/>
    <p1510:client id="{8A7E09E4-A785-4602-ABDB-FA81A93CA3C1}" v="6" dt="2019-09-20T05:01:21.992"/>
    <p1510:client id="{F09DE0E8-67B7-4C91-8E9C-E339D8DF0E6A}" v="18" dt="2019-09-30T06:34:13.2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 Kyu Gahm" userId="c6ad9259-4a3e-47d5-815d-191ce031cf4b" providerId="ADAL" clId="{8A7E09E4-A785-4602-ABDB-FA81A93CA3C1}"/>
    <pc:docChg chg="custSel addSld delSld modSld">
      <pc:chgData name="Jin Kyu Gahm" userId="c6ad9259-4a3e-47d5-815d-191ce031cf4b" providerId="ADAL" clId="{8A7E09E4-A785-4602-ABDB-FA81A93CA3C1}" dt="2019-09-20T05:01:25.453" v="71" actId="2696"/>
      <pc:docMkLst>
        <pc:docMk/>
      </pc:docMkLst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2710454848" sldId="371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3684394994" sldId="372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1406442993" sldId="373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3079899075" sldId="374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1684762654" sldId="375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320152991" sldId="376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2539912415" sldId="377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1279539693" sldId="378"/>
        </pc:sldMkLst>
      </pc:sldChg>
      <pc:sldChg chg="modSp add del">
        <pc:chgData name="Jin Kyu Gahm" userId="c6ad9259-4a3e-47d5-815d-191ce031cf4b" providerId="ADAL" clId="{8A7E09E4-A785-4602-ABDB-FA81A93CA3C1}" dt="2019-09-20T05:01:22.084" v="70" actId="27636"/>
        <pc:sldMkLst>
          <pc:docMk/>
          <pc:sldMk cId="3560125133" sldId="382"/>
        </pc:sldMkLst>
        <pc:spChg chg="mod">
          <ac:chgData name="Jin Kyu Gahm" userId="c6ad9259-4a3e-47d5-815d-191ce031cf4b" providerId="ADAL" clId="{8A7E09E4-A785-4602-ABDB-FA81A93CA3C1}" dt="2019-09-20T05:01:22.084" v="70" actId="27636"/>
          <ac:spMkLst>
            <pc:docMk/>
            <pc:sldMk cId="3560125133" sldId="382"/>
            <ac:spMk id="40963" creationId="{00000000-0000-0000-0000-000000000000}"/>
          </ac:spMkLst>
        </pc:spChg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2459893565" sldId="384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1416049251" sldId="385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2617051033" sldId="386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3222640126" sldId="387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3615930752" sldId="392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1310587625" sldId="393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2417278502" sldId="394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3120321319" sldId="395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1797351929" sldId="396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2290830964" sldId="397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1406393615" sldId="398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382197084" sldId="399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2799946171" sldId="400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706059731" sldId="401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3510487788" sldId="402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40138541" sldId="404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582427425" sldId="406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2017413053" sldId="409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2688529547" sldId="410"/>
        </pc:sldMkLst>
      </pc:sldChg>
      <pc:sldChg chg="add del">
        <pc:chgData name="Jin Kyu Gahm" userId="c6ad9259-4a3e-47d5-815d-191ce031cf4b" providerId="ADAL" clId="{8A7E09E4-A785-4602-ABDB-FA81A93CA3C1}" dt="2019-09-20T05:01:21.989" v="69"/>
        <pc:sldMkLst>
          <pc:docMk/>
          <pc:sldMk cId="1897159432" sldId="411"/>
        </pc:sldMkLst>
      </pc:sldChg>
      <pc:sldChg chg="add del">
        <pc:chgData name="Jin Kyu Gahm" userId="c6ad9259-4a3e-47d5-815d-191ce031cf4b" providerId="ADAL" clId="{8A7E09E4-A785-4602-ABDB-FA81A93CA3C1}" dt="2019-09-20T04:56:56.582" v="2" actId="2696"/>
        <pc:sldMkLst>
          <pc:docMk/>
          <pc:sldMk cId="2987271688" sldId="412"/>
        </pc:sldMkLst>
      </pc:sldChg>
      <pc:sldChg chg="addSp delSp modSp add del">
        <pc:chgData name="Jin Kyu Gahm" userId="c6ad9259-4a3e-47d5-815d-191ce031cf4b" providerId="ADAL" clId="{8A7E09E4-A785-4602-ABDB-FA81A93CA3C1}" dt="2019-09-20T05:01:25.453" v="71" actId="2696"/>
        <pc:sldMkLst>
          <pc:docMk/>
          <pc:sldMk cId="3519987403" sldId="412"/>
        </pc:sldMkLst>
        <pc:spChg chg="mod">
          <ac:chgData name="Jin Kyu Gahm" userId="c6ad9259-4a3e-47d5-815d-191ce031cf4b" providerId="ADAL" clId="{8A7E09E4-A785-4602-ABDB-FA81A93CA3C1}" dt="2019-09-20T04:57:20.624" v="35" actId="20577"/>
          <ac:spMkLst>
            <pc:docMk/>
            <pc:sldMk cId="3519987403" sldId="412"/>
            <ac:spMk id="2" creationId="{2F637CF7-8AC2-44CC-AA55-3529343BD5C5}"/>
          </ac:spMkLst>
        </pc:spChg>
        <pc:spChg chg="add del mod">
          <ac:chgData name="Jin Kyu Gahm" userId="c6ad9259-4a3e-47d5-815d-191ce031cf4b" providerId="ADAL" clId="{8A7E09E4-A785-4602-ABDB-FA81A93CA3C1}" dt="2019-09-20T04:57:47.670" v="39" actId="27636"/>
          <ac:spMkLst>
            <pc:docMk/>
            <pc:sldMk cId="3519987403" sldId="412"/>
            <ac:spMk id="3" creationId="{9E740C03-D844-4F63-9F70-6CFAAC47DCCD}"/>
          </ac:spMkLst>
        </pc:spChg>
        <pc:spChg chg="add del">
          <ac:chgData name="Jin Kyu Gahm" userId="c6ad9259-4a3e-47d5-815d-191ce031cf4b" providerId="ADAL" clId="{8A7E09E4-A785-4602-ABDB-FA81A93CA3C1}" dt="2019-09-20T04:57:40.104" v="37"/>
          <ac:spMkLst>
            <pc:docMk/>
            <pc:sldMk cId="3519987403" sldId="412"/>
            <ac:spMk id="5" creationId="{A69AC923-C95D-4979-A71D-3EFE9C53E4FB}"/>
          </ac:spMkLst>
        </pc:spChg>
        <pc:graphicFrameChg chg="add del mod">
          <ac:chgData name="Jin Kyu Gahm" userId="c6ad9259-4a3e-47d5-815d-191ce031cf4b" providerId="ADAL" clId="{8A7E09E4-A785-4602-ABDB-FA81A93CA3C1}" dt="2019-09-20T04:57:40.104" v="37"/>
          <ac:graphicFrameMkLst>
            <pc:docMk/>
            <pc:sldMk cId="3519987403" sldId="412"/>
            <ac:graphicFrameMk id="4" creationId="{C9CE9161-80F1-484F-ABA1-47BB79F6BF3F}"/>
          </ac:graphicFrameMkLst>
        </pc:graphicFrameChg>
      </pc:sldChg>
    </pc:docChg>
  </pc:docChgLst>
  <pc:docChgLst>
    <pc:chgData name="게스트 사용자" userId="S::urn:spo:anon#0d023c95bdef606b6cb39ab04175d8801c5cb82acfd8a201ac77737128f877e3::" providerId="AD" clId="Web-{25066A7C-858A-5331-1242-31931FC326E4}"/>
    <pc:docChg chg="modSld">
      <pc:chgData name="게스트 사용자" userId="S::urn:spo:anon#0d023c95bdef606b6cb39ab04175d8801c5cb82acfd8a201ac77737128f877e3::" providerId="AD" clId="Web-{25066A7C-858A-5331-1242-31931FC326E4}" dt="2019-09-30T06:34:43.618" v="7" actId="20577"/>
      <pc:docMkLst>
        <pc:docMk/>
      </pc:docMkLst>
      <pc:sldChg chg="modSp">
        <pc:chgData name="게스트 사용자" userId="S::urn:spo:anon#0d023c95bdef606b6cb39ab04175d8801c5cb82acfd8a201ac77737128f877e3::" providerId="AD" clId="Web-{25066A7C-858A-5331-1242-31931FC326E4}" dt="2019-09-30T06:34:43.618" v="6" actId="20577"/>
        <pc:sldMkLst>
          <pc:docMk/>
          <pc:sldMk cId="2017413053" sldId="409"/>
        </pc:sldMkLst>
        <pc:spChg chg="mod">
          <ac:chgData name="게스트 사용자" userId="S::urn:spo:anon#0d023c95bdef606b6cb39ab04175d8801c5cb82acfd8a201ac77737128f877e3::" providerId="AD" clId="Web-{25066A7C-858A-5331-1242-31931FC326E4}" dt="2019-09-30T06:34:43.618" v="6" actId="20577"/>
          <ac:spMkLst>
            <pc:docMk/>
            <pc:sldMk cId="2017413053" sldId="409"/>
            <ac:spMk id="4099" creationId="{00000000-0000-0000-0000-000000000000}"/>
          </ac:spMkLst>
        </pc:spChg>
      </pc:sldChg>
    </pc:docChg>
  </pc:docChgLst>
  <pc:docChgLst>
    <pc:chgData name="게스트 사용자" userId="S::urn:spo:anon#e154a0d102ff58cd6c4885a3ecdc39134a1ec64c036d34704ec725fc9fe5d2b9::" providerId="AD" clId="Web-{F09DE0E8-67B7-4C91-8E9C-E339D8DF0E6A}"/>
    <pc:docChg chg="modSld">
      <pc:chgData name="게스트 사용자" userId="S::urn:spo:anon#e154a0d102ff58cd6c4885a3ecdc39134a1ec64c036d34704ec725fc9fe5d2b9::" providerId="AD" clId="Web-{F09DE0E8-67B7-4C91-8E9C-E339D8DF0E6A}" dt="2019-09-30T06:34:13.276" v="17" actId="20577"/>
      <pc:docMkLst>
        <pc:docMk/>
      </pc:docMkLst>
      <pc:sldChg chg="modSp">
        <pc:chgData name="게스트 사용자" userId="S::urn:spo:anon#e154a0d102ff58cd6c4885a3ecdc39134a1ec64c036d34704ec725fc9fe5d2b9::" providerId="AD" clId="Web-{F09DE0E8-67B7-4C91-8E9C-E339D8DF0E6A}" dt="2019-09-30T06:34:04.198" v="15" actId="20577"/>
        <pc:sldMkLst>
          <pc:docMk/>
          <pc:sldMk cId="2017413053" sldId="409"/>
        </pc:sldMkLst>
        <pc:spChg chg="mod">
          <ac:chgData name="게스트 사용자" userId="S::urn:spo:anon#e154a0d102ff58cd6c4885a3ecdc39134a1ec64c036d34704ec725fc9fe5d2b9::" providerId="AD" clId="Web-{F09DE0E8-67B7-4C91-8E9C-E339D8DF0E6A}" dt="2019-09-30T06:34:04.198" v="15" actId="20577"/>
          <ac:spMkLst>
            <pc:docMk/>
            <pc:sldMk cId="2017413053" sldId="409"/>
            <ac:spMk id="4099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E057C042-89AF-7C4F-814C-314EFA3A3EE1}" type="datetimeFigureOut">
              <a:rPr lang="en-US"/>
              <a:pPr/>
              <a:t>9/29/2019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F4901583-69B2-544D-B088-2FDC2234E5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53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50284C57-E8CD-D545-98D2-D98BB465D38A}" type="datetimeFigureOut">
              <a:rPr lang="en-US"/>
              <a:pPr/>
              <a:t>9/29/2019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DCF55573-23BE-7541-92D3-8BDD66C16B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40319" y="1071091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 userDrawn="1">
            <p:ph type="body" sz="quarter" idx="18"/>
          </p:nvPr>
        </p:nvSpPr>
        <p:spPr>
          <a:xfrm>
            <a:off x="1586494" y="2877596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 userDrawn="1">
            <p:ph type="subTitle" idx="1"/>
          </p:nvPr>
        </p:nvSpPr>
        <p:spPr>
          <a:xfrm>
            <a:off x="440319" y="1689564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14" name="Picture 5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6986" y="3477453"/>
            <a:ext cx="1158660" cy="1158660"/>
          </a:xfrm>
          <a:prstGeom prst="rect">
            <a:avLst/>
          </a:prstGeom>
        </p:spPr>
      </p:pic>
      <p:pic>
        <p:nvPicPr>
          <p:cNvPr id="515" name="Picture 5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67806" y="3505379"/>
            <a:ext cx="1158660" cy="11586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buNone/>
              <a:defRPr sz="1200"/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2pPr marL="0" indent="0">
              <a:buFont typeface="Arial"/>
              <a:buNone/>
              <a:defRPr baseline="0"/>
            </a:lvl2pPr>
            <a:lvl3pPr marL="344488" indent="0">
              <a:buNone/>
              <a:defRPr/>
            </a:lvl3pPr>
            <a:lvl4pPr marL="687387" indent="0">
              <a:buNone/>
              <a:defRPr/>
            </a:lvl4pPr>
            <a:lvl5pPr marL="103187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D308AB99-1C09-3141-9A6B-ED1B38F7FDA2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Sig_White.ep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0350" y="4811713"/>
            <a:ext cx="2046288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>
            <p:ph type="body" sz="quarter" idx="18"/>
          </p:nvPr>
        </p:nvSpPr>
        <p:spPr>
          <a:xfrm>
            <a:off x="1603375" y="3599022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rgbClr val="A4001D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defRPr lang="en-US" sz="1200" dirty="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8C1515"/>
              </a:solid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8C1515"/>
              </a:solidFill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6011AB87-0029-AF46-BA7B-14EC2941E070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7E9329A1-051D-4748-88E9-0F62A5F8FD3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defRPr kern="1200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49034457-845F-754F-BC5C-0728835684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8C1515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2" charset="0"/>
        <a:defRPr sz="1600" kern="1200" cap="small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Class – Information hiding (Chapter 5)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452879"/>
            <a:ext cx="7566574" cy="3179843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400">
                <a:ea typeface="ＭＳ Ｐゴシック"/>
                <a:cs typeface="Arial"/>
              </a:rPr>
              <a:t>Information hiding </a:t>
            </a:r>
            <a:endParaRPr lang="en-US" sz="2400"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r>
              <a:rPr lang="en-US" sz="2400">
                <a:ea typeface="ＭＳ Ｐゴシック"/>
                <a:cs typeface="Arial"/>
              </a:rPr>
              <a:t>Encapsulation</a:t>
            </a:r>
            <a:endParaRPr lang="ko-KR" altLang="en-US" sz="24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7413053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Information Hiding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107440"/>
            <a:ext cx="7707862" cy="3525283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Programmer using a class method need </a:t>
            </a:r>
            <a:r>
              <a:rPr lang="en-US" sz="2000" u="sng">
                <a:cs typeface="Arial"/>
              </a:rPr>
              <a:t>not</a:t>
            </a:r>
            <a:r>
              <a:rPr lang="en-US" sz="2000">
                <a:cs typeface="Arial"/>
              </a:rPr>
              <a:t> know details of implementation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>
                <a:solidFill>
                  <a:schemeClr val="tx1"/>
                </a:solidFill>
                <a:cs typeface="Arial"/>
              </a:rPr>
              <a:t>Only needs to know </a:t>
            </a:r>
            <a:r>
              <a:rPr lang="en-US" sz="2000" i="1">
                <a:solidFill>
                  <a:schemeClr val="tx1"/>
                </a:solidFill>
                <a:cs typeface="Arial"/>
              </a:rPr>
              <a:t>what</a:t>
            </a:r>
            <a:r>
              <a:rPr lang="en-US" sz="2000">
                <a:solidFill>
                  <a:schemeClr val="tx1"/>
                </a:solidFill>
                <a:cs typeface="Arial"/>
              </a:rPr>
              <a:t> the method does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Information hiding: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>
                <a:solidFill>
                  <a:srgbClr val="000000"/>
                </a:solidFill>
                <a:cs typeface="Arial"/>
              </a:rPr>
              <a:t>Designing a method so it can be used without knowing details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Also referred to as </a:t>
            </a:r>
            <a:r>
              <a:rPr lang="en-US" sz="2000" i="1">
                <a:cs typeface="Arial"/>
              </a:rPr>
              <a:t>abstraction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Method design should separate </a:t>
            </a:r>
            <a:r>
              <a:rPr lang="en-US" sz="2000" i="1">
                <a:cs typeface="Arial"/>
              </a:rPr>
              <a:t>what</a:t>
            </a:r>
            <a:r>
              <a:rPr lang="en-US" sz="2000">
                <a:cs typeface="Arial"/>
              </a:rPr>
              <a:t> from </a:t>
            </a:r>
            <a:r>
              <a:rPr lang="en-US" sz="2000" i="1">
                <a:cs typeface="Arial"/>
              </a:rPr>
              <a:t>how</a:t>
            </a:r>
            <a:endParaRPr lang="en-US" sz="2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0454848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934719" y="396240"/>
            <a:ext cx="7792721" cy="444976"/>
          </a:xfrm>
        </p:spPr>
        <p:txBody>
          <a:bodyPr/>
          <a:lstStyle/>
          <a:p>
            <a:pPr eaLnBrk="1" hangingPunct="1"/>
            <a:r>
              <a:rPr lang="en-US">
                <a:cs typeface="Arial"/>
              </a:rPr>
              <a:t>Pre- and Post-condition Comments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34718" y="1369219"/>
            <a:ext cx="7792722" cy="326350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Pre-condition comment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>
                <a:solidFill>
                  <a:srgbClr val="000000"/>
                </a:solidFill>
                <a:cs typeface="Arial"/>
              </a:rPr>
              <a:t>States conditions that must be true before method is invoked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Example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2978627"/>
            <a:ext cx="7188200" cy="1316831"/>
          </a:xfrm>
          <a:prstGeom prst="rect">
            <a:avLst/>
          </a:prstGeom>
          <a:noFill/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4394994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4239" y="528319"/>
            <a:ext cx="7792721" cy="436721"/>
          </a:xfrm>
        </p:spPr>
        <p:txBody>
          <a:bodyPr/>
          <a:lstStyle/>
          <a:p>
            <a:pPr eaLnBrk="1" hangingPunct="1"/>
            <a:r>
              <a:rPr lang="en-US">
                <a:cs typeface="Arial"/>
              </a:rPr>
              <a:t>Pre- and Post-condition Comments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Post-condition comment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>
                <a:solidFill>
                  <a:srgbClr val="000000"/>
                </a:solidFill>
                <a:cs typeface="Arial"/>
              </a:rPr>
              <a:t>Tells what will be true after method executed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Example</a:t>
            </a:r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438" y="3139123"/>
            <a:ext cx="7427912" cy="1268016"/>
          </a:xfrm>
          <a:prstGeom prst="rect">
            <a:avLst/>
          </a:prstGeom>
          <a:noFill/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6442993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14866"/>
            <a:ext cx="7833360" cy="412988"/>
          </a:xfrm>
        </p:spPr>
        <p:txBody>
          <a:bodyPr/>
          <a:lstStyle/>
          <a:p>
            <a:pPr eaLnBrk="1" hangingPunct="1"/>
            <a:r>
              <a:rPr lang="en-US">
                <a:cs typeface="Arial"/>
              </a:rPr>
              <a:t>The </a:t>
            </a:r>
            <a:r>
              <a:rPr lang="en-US" b="1">
                <a:solidFill>
                  <a:schemeClr val="accent2"/>
                </a:solidFill>
                <a:cs typeface="Arial"/>
              </a:rPr>
              <a:t>public</a:t>
            </a:r>
            <a:r>
              <a:rPr lang="en-US">
                <a:cs typeface="Arial"/>
              </a:rPr>
              <a:t> and </a:t>
            </a:r>
            <a:r>
              <a:rPr lang="en-US" b="1">
                <a:solidFill>
                  <a:schemeClr val="accent2"/>
                </a:solidFill>
                <a:cs typeface="Arial"/>
              </a:rPr>
              <a:t>private</a:t>
            </a:r>
            <a:r>
              <a:rPr lang="en-US">
                <a:cs typeface="Arial"/>
              </a:rPr>
              <a:t> Modifiers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4400" y="1369219"/>
            <a:ext cx="7833360" cy="326350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Type specified as 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public</a:t>
            </a:r>
          </a:p>
          <a:p>
            <a:pPr lvl="2" eaLnBrk="1" hangingPunct="1"/>
            <a:r>
              <a:rPr lang="en-US" sz="2000">
                <a:solidFill>
                  <a:srgbClr val="000000"/>
                </a:solidFill>
                <a:cs typeface="Arial"/>
              </a:rPr>
              <a:t>Any other class can directly access that object by name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Classes generally specified as 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public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Instance variables usually </a:t>
            </a:r>
            <a:r>
              <a:rPr lang="en-US" sz="2000" u="sng">
                <a:cs typeface="Arial"/>
              </a:rPr>
              <a:t>not</a:t>
            </a:r>
            <a:r>
              <a:rPr lang="en-US" sz="2000">
                <a:cs typeface="Arial"/>
              </a:rPr>
              <a:t> 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public</a:t>
            </a:r>
          </a:p>
          <a:p>
            <a:pPr lvl="2" eaLnBrk="1" hangingPunct="1"/>
            <a:r>
              <a:rPr lang="en-US" sz="2000">
                <a:solidFill>
                  <a:srgbClr val="000000"/>
                </a:solidFill>
                <a:cs typeface="Arial"/>
              </a:rPr>
              <a:t>Instead specify as 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private</a:t>
            </a:r>
          </a:p>
        </p:txBody>
      </p:sp>
    </p:spTree>
    <p:extLst>
      <p:ext uri="{BB962C8B-B14F-4D97-AF65-F5344CB8AC3E}">
        <p14:creationId xmlns:p14="http://schemas.microsoft.com/office/powerpoint/2010/main" val="3079899075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910" y="215265"/>
            <a:ext cx="6437313" cy="478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565910" y="215265"/>
            <a:ext cx="1410970" cy="2622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62654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Programming Example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29360"/>
            <a:ext cx="7707862" cy="340336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000" b="1" err="1">
                <a:solidFill>
                  <a:schemeClr val="accent2"/>
                </a:solidFill>
                <a:cs typeface="Arial"/>
              </a:rPr>
              <a:t>box.width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 = 6;</a:t>
            </a:r>
            <a:r>
              <a:rPr lang="en-US" sz="2000">
                <a:cs typeface="Arial"/>
              </a:rPr>
              <a:t>  </a:t>
            </a:r>
            <a:br>
              <a:rPr lang="en-US" sz="2000">
                <a:cs typeface="Arial"/>
              </a:rPr>
            </a:br>
            <a:r>
              <a:rPr lang="en-US" sz="2000">
                <a:cs typeface="Arial"/>
              </a:rPr>
              <a:t>is </a:t>
            </a:r>
            <a:r>
              <a:rPr lang="en-US" sz="2000" u="sng">
                <a:cs typeface="Arial"/>
              </a:rPr>
              <a:t>illegal</a:t>
            </a:r>
            <a:r>
              <a:rPr lang="en-US" sz="2000">
                <a:cs typeface="Arial"/>
              </a:rPr>
              <a:t> since width is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 private</a:t>
            </a:r>
          </a:p>
          <a:p>
            <a:pPr eaLnBrk="1" hangingPunct="1"/>
            <a:endParaRPr lang="en-US" sz="2000">
              <a:cs typeface="Arial"/>
            </a:endParaRPr>
          </a:p>
          <a:p>
            <a:pPr eaLnBrk="1" hangingPunct="1"/>
            <a:r>
              <a:rPr lang="en-US" sz="2000" b="1" err="1">
                <a:solidFill>
                  <a:schemeClr val="accent2"/>
                </a:solidFill>
                <a:cs typeface="Arial"/>
              </a:rPr>
              <a:t>setDimensions</a:t>
            </a:r>
            <a:r>
              <a:rPr lang="en-US" sz="2000">
                <a:cs typeface="Arial"/>
              </a:rPr>
              <a:t> method</a:t>
            </a:r>
          </a:p>
          <a:p>
            <a:pPr lvl="1" eaLnBrk="1" hangingPunct="1"/>
            <a:r>
              <a:rPr lang="en-US" sz="2000">
                <a:cs typeface="Arial"/>
              </a:rPr>
              <a:t>This is the only way the 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width</a:t>
            </a:r>
            <a:r>
              <a:rPr lang="en-US" sz="2000">
                <a:cs typeface="Arial"/>
              </a:rPr>
              <a:t> and 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height</a:t>
            </a:r>
            <a:r>
              <a:rPr lang="en-US" sz="2000">
                <a:cs typeface="Arial"/>
              </a:rPr>
              <a:t> may be altered outside the class</a:t>
            </a:r>
          </a:p>
        </p:txBody>
      </p:sp>
      <p:sp>
        <p:nvSpPr>
          <p:cNvPr id="4" name="Content Placeholder 3"/>
          <p:cNvSpPr>
            <a:spLocks noGrp="1" noChangeArrowheads="1"/>
          </p:cNvSpPr>
          <p:nvPr>
            <p:ph idx="4294967295"/>
          </p:nvPr>
        </p:nvSpPr>
        <p:spPr>
          <a:xfrm>
            <a:off x="948776" y="1014333"/>
            <a:ext cx="7707862" cy="1098948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endParaRPr lang="en-US" sz="2000">
              <a:cs typeface="Arial"/>
            </a:endParaRPr>
          </a:p>
          <a:p>
            <a:pPr eaLnBrk="1" hangingPunct="1"/>
            <a:endParaRPr lang="en-US" sz="2000">
              <a:cs typeface="Arial"/>
            </a:endParaRPr>
          </a:p>
          <a:p>
            <a:pPr eaLnBrk="1" hangingPunct="1"/>
            <a:endParaRPr lang="en-US" sz="2000">
              <a:cs typeface="Arial"/>
            </a:endParaRPr>
          </a:p>
          <a:p>
            <a:pPr eaLnBrk="1" hangingPunct="1"/>
            <a:endParaRPr lang="en-US" sz="2000">
              <a:cs typeface="Arial"/>
            </a:endParaRPr>
          </a:p>
          <a:p>
            <a:pPr eaLnBrk="1" hangingPunct="1"/>
            <a:endParaRPr lang="en-US" sz="2000">
              <a:cs typeface="Arial"/>
            </a:endParaRPr>
          </a:p>
          <a:p>
            <a:pPr eaLnBrk="1" hangingPunct="1"/>
            <a:endParaRPr lang="en-US" sz="2000">
              <a:cs typeface="Arial"/>
            </a:endParaRPr>
          </a:p>
          <a:p>
            <a:pPr eaLnBrk="1" hangingPunct="1"/>
            <a:endParaRPr lang="en-US" sz="2000">
              <a:cs typeface="Arial"/>
            </a:endParaRPr>
          </a:p>
          <a:p>
            <a:pPr eaLnBrk="1" hangingPunct="1"/>
            <a:endParaRPr lang="en-US" sz="2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152991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err="1">
                <a:cs typeface="Arial"/>
              </a:rPr>
              <a:t>Accessor</a:t>
            </a:r>
            <a:r>
              <a:rPr lang="en-US">
                <a:cs typeface="Arial"/>
              </a:rPr>
              <a:t> and </a:t>
            </a:r>
            <a:r>
              <a:rPr lang="en-US" err="1">
                <a:cs typeface="Arial"/>
              </a:rPr>
              <a:t>Mutator</a:t>
            </a:r>
            <a:r>
              <a:rPr lang="en-US">
                <a:cs typeface="Arial"/>
              </a:rPr>
              <a:t> Methods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168400"/>
            <a:ext cx="7707862" cy="3464323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When instance variables are private must provide methods to access values stored there</a:t>
            </a:r>
          </a:p>
          <a:p>
            <a:pPr lvl="2" eaLnBrk="1" hangingPunct="1"/>
            <a:r>
              <a:rPr lang="en-US" sz="2000">
                <a:cs typeface="Arial"/>
              </a:rPr>
              <a:t>Typically named </a:t>
            </a:r>
            <a:r>
              <a:rPr lang="en-US" sz="2000" b="1" err="1">
                <a:solidFill>
                  <a:schemeClr val="accent2"/>
                </a:solidFill>
                <a:cs typeface="Arial"/>
              </a:rPr>
              <a:t>get</a:t>
            </a:r>
            <a:r>
              <a:rPr lang="en-US" sz="2000" b="1" i="1" err="1">
                <a:solidFill>
                  <a:schemeClr val="accent2"/>
                </a:solidFill>
                <a:cs typeface="Arial"/>
              </a:rPr>
              <a:t>SomeValue</a:t>
            </a:r>
            <a:endParaRPr lang="en-US" sz="2000" b="1" i="1">
              <a:solidFill>
                <a:schemeClr val="accent2"/>
              </a:solidFill>
              <a:cs typeface="Arial"/>
            </a:endParaRPr>
          </a:p>
          <a:p>
            <a:pPr lvl="2" eaLnBrk="1" hangingPunct="1"/>
            <a:r>
              <a:rPr lang="en-US" sz="2000">
                <a:cs typeface="Arial"/>
              </a:rPr>
              <a:t>Referred to as an </a:t>
            </a:r>
            <a:r>
              <a:rPr lang="en-US" sz="2000" err="1">
                <a:cs typeface="Arial"/>
              </a:rPr>
              <a:t>accessor</a:t>
            </a:r>
            <a:r>
              <a:rPr lang="en-US" sz="2000">
                <a:cs typeface="Arial"/>
              </a:rPr>
              <a:t> method</a:t>
            </a:r>
          </a:p>
          <a:p>
            <a:pPr lvl="2" eaLnBrk="1" hangingPunct="1"/>
            <a:endParaRPr lang="en-US" sz="2000"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Must also provide methods to change the values of the private instance variable</a:t>
            </a:r>
          </a:p>
          <a:p>
            <a:pPr lvl="2" eaLnBrk="1" hangingPunct="1"/>
            <a:r>
              <a:rPr lang="en-US" sz="2000">
                <a:cs typeface="Arial"/>
              </a:rPr>
              <a:t>Typically named </a:t>
            </a:r>
            <a:r>
              <a:rPr lang="en-US" sz="2000" b="1" err="1">
                <a:solidFill>
                  <a:schemeClr val="accent2"/>
                </a:solidFill>
                <a:cs typeface="Arial"/>
              </a:rPr>
              <a:t>set</a:t>
            </a:r>
            <a:r>
              <a:rPr lang="en-US" sz="2000" b="1" i="1" err="1">
                <a:solidFill>
                  <a:schemeClr val="accent2"/>
                </a:solidFill>
                <a:cs typeface="Arial"/>
              </a:rPr>
              <a:t>SomeValue</a:t>
            </a:r>
            <a:endParaRPr lang="en-US" sz="2000" b="1" i="1">
              <a:solidFill>
                <a:schemeClr val="accent2"/>
              </a:solidFill>
              <a:cs typeface="Arial"/>
            </a:endParaRPr>
          </a:p>
          <a:p>
            <a:pPr lvl="2" eaLnBrk="1" hangingPunct="1"/>
            <a:r>
              <a:rPr lang="en-US" sz="2000">
                <a:cs typeface="Arial"/>
              </a:rPr>
              <a:t>Referred to as a </a:t>
            </a:r>
            <a:r>
              <a:rPr lang="en-US" sz="2000" err="1">
                <a:cs typeface="Arial"/>
              </a:rPr>
              <a:t>mutator</a:t>
            </a:r>
            <a:r>
              <a:rPr lang="en-US" sz="2000">
                <a:cs typeface="Arial"/>
              </a:rPr>
              <a:t> method</a:t>
            </a:r>
          </a:p>
        </p:txBody>
      </p:sp>
    </p:spTree>
    <p:extLst>
      <p:ext uri="{BB962C8B-B14F-4D97-AF65-F5344CB8AC3E}">
        <p14:creationId xmlns:p14="http://schemas.microsoft.com/office/powerpoint/2010/main" val="2539912415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961" y="269240"/>
            <a:ext cx="5313679" cy="3085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" b="62477"/>
          <a:stretch/>
        </p:blipFill>
        <p:spPr bwMode="auto">
          <a:xfrm>
            <a:off x="2130745" y="3355112"/>
            <a:ext cx="5275896" cy="1716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422400" y="269241"/>
            <a:ext cx="5709920" cy="482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632960" y="660400"/>
            <a:ext cx="2021840" cy="370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948776" y="329061"/>
            <a:ext cx="7707862" cy="488024"/>
          </a:xfrm>
        </p:spPr>
        <p:txBody>
          <a:bodyPr/>
          <a:lstStyle/>
          <a:p>
            <a:pPr eaLnBrk="1" hangingPunct="1"/>
            <a:r>
              <a:rPr lang="en-US">
                <a:cs typeface="Arial"/>
              </a:rPr>
              <a:t>Exercise – code example</a:t>
            </a:r>
          </a:p>
        </p:txBody>
      </p:sp>
    </p:spTree>
    <p:extLst>
      <p:ext uri="{BB962C8B-B14F-4D97-AF65-F5344CB8AC3E}">
        <p14:creationId xmlns:p14="http://schemas.microsoft.com/office/powerpoint/2010/main" val="1897159432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422400" y="269241"/>
            <a:ext cx="5709920" cy="482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632960" y="660400"/>
            <a:ext cx="2021840" cy="370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948776" y="329061"/>
            <a:ext cx="3221904" cy="488024"/>
          </a:xfrm>
        </p:spPr>
        <p:txBody>
          <a:bodyPr/>
          <a:lstStyle/>
          <a:p>
            <a:pPr eaLnBrk="1" hangingPunct="1"/>
            <a:r>
              <a:rPr lang="en-US">
                <a:cs typeface="Arial"/>
              </a:rPr>
              <a:t>Code example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560" y="60961"/>
            <a:ext cx="4927600" cy="5021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3799840" y="1198880"/>
            <a:ext cx="4612640" cy="386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804160" y="76201"/>
            <a:ext cx="1920240" cy="1422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529547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Accessor and Mutator Methods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137920"/>
            <a:ext cx="7707862" cy="3494803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 err="1">
                <a:cs typeface="Arial"/>
              </a:rPr>
              <a:t>Mutator</a:t>
            </a:r>
            <a:r>
              <a:rPr lang="en-US" sz="2000">
                <a:cs typeface="Arial"/>
              </a:rPr>
              <a:t> method </a:t>
            </a:r>
          </a:p>
          <a:p>
            <a:pPr lvl="2" eaLnBrk="1" hangingPunct="1"/>
            <a:r>
              <a:rPr lang="en-US" sz="2000" b="1" err="1">
                <a:solidFill>
                  <a:schemeClr val="accent2"/>
                </a:solidFill>
                <a:cs typeface="Arial"/>
              </a:rPr>
              <a:t>setSpecies</a:t>
            </a:r>
            <a:endParaRPr lang="en-US" sz="2000" b="1">
              <a:solidFill>
                <a:schemeClr val="accent2"/>
              </a:solidFill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r>
              <a:rPr lang="en-US" sz="2000" err="1">
                <a:cs typeface="Arial"/>
              </a:rPr>
              <a:t>Accessor</a:t>
            </a:r>
            <a:r>
              <a:rPr lang="en-US" sz="2000">
                <a:cs typeface="Arial"/>
              </a:rPr>
              <a:t> methods</a:t>
            </a:r>
          </a:p>
          <a:p>
            <a:pPr lvl="2" eaLnBrk="1" hangingPunct="1"/>
            <a:r>
              <a:rPr lang="en-US" sz="2000" b="1" err="1">
                <a:solidFill>
                  <a:schemeClr val="accent2"/>
                </a:solidFill>
                <a:cs typeface="Arial"/>
              </a:rPr>
              <a:t>getName</a:t>
            </a:r>
            <a:r>
              <a:rPr lang="en-US" sz="2000">
                <a:cs typeface="Arial"/>
              </a:rPr>
              <a:t>, </a:t>
            </a:r>
            <a:r>
              <a:rPr lang="en-US" sz="2000" b="1" err="1">
                <a:solidFill>
                  <a:schemeClr val="accent2"/>
                </a:solidFill>
                <a:cs typeface="Arial"/>
              </a:rPr>
              <a:t>getPopulation</a:t>
            </a:r>
            <a:r>
              <a:rPr lang="en-US" sz="2000">
                <a:cs typeface="Arial"/>
              </a:rPr>
              <a:t>, </a:t>
            </a:r>
            <a:r>
              <a:rPr lang="en-US" sz="2000" b="1" err="1">
                <a:solidFill>
                  <a:schemeClr val="accent2"/>
                </a:solidFill>
                <a:cs typeface="Arial"/>
              </a:rPr>
              <a:t>getGrowthRate</a:t>
            </a:r>
            <a:endParaRPr lang="en-US" sz="2000" b="1">
              <a:solidFill>
                <a:schemeClr val="accent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9539693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Methods Calling Methods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924560"/>
            <a:ext cx="7707862" cy="38608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eaLnBrk="1" hangingPunct="1">
              <a:buFont typeface="Wingdings" charset="2"/>
              <a:buChar char="§"/>
            </a:pPr>
            <a:r>
              <a:rPr lang="en-US" sz="2000">
                <a:cs typeface="Arial"/>
              </a:rPr>
              <a:t>A method body may call any other method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>
                <a:cs typeface="Arial"/>
              </a:rPr>
              <a:t>If the invoked method is within the same class</a:t>
            </a:r>
          </a:p>
          <a:p>
            <a:pPr lvl="2" eaLnBrk="1" hangingPunct="1"/>
            <a:r>
              <a:rPr lang="en-US">
                <a:solidFill>
                  <a:srgbClr val="000000"/>
                </a:solidFill>
                <a:cs typeface="Arial"/>
              </a:rPr>
              <a:t>Need not use prefix of receiving object</a:t>
            </a:r>
          </a:p>
          <a:p>
            <a:pPr lvl="2" eaLnBrk="1" hangingPunct="1"/>
            <a:endParaRPr lang="en-US" sz="1000">
              <a:solidFill>
                <a:srgbClr val="000000"/>
              </a:solidFill>
              <a:cs typeface="Arial"/>
            </a:endParaRPr>
          </a:p>
          <a:p>
            <a:pPr marL="344488" lvl="2" indent="0" eaLnBrk="1" hangingPunct="1">
              <a:buNone/>
            </a:pPr>
            <a:r>
              <a:rPr lang="en-US">
                <a:solidFill>
                  <a:srgbClr val="3366FF"/>
                </a:solidFill>
                <a:cs typeface="Arial"/>
              </a:rPr>
              <a:t>public class oracle {</a:t>
            </a:r>
          </a:p>
          <a:p>
            <a:pPr marL="344488" lvl="2" indent="0" eaLnBrk="1" hangingPunct="1">
              <a:buNone/>
            </a:pPr>
            <a:r>
              <a:rPr lang="en-US">
                <a:solidFill>
                  <a:srgbClr val="3366FF"/>
                </a:solidFill>
                <a:cs typeface="Arial"/>
              </a:rPr>
              <a:t>  public void chat()</a:t>
            </a:r>
          </a:p>
          <a:p>
            <a:pPr marL="344488" lvl="2" indent="0" eaLnBrk="1" hangingPunct="1">
              <a:buNone/>
            </a:pPr>
            <a:r>
              <a:rPr lang="en-US">
                <a:solidFill>
                  <a:srgbClr val="3366FF"/>
                </a:solidFill>
                <a:cs typeface="Arial"/>
              </a:rPr>
              <a:t>  {</a:t>
            </a:r>
          </a:p>
          <a:p>
            <a:pPr marL="344488" lvl="2" indent="0" eaLnBrk="1" hangingPunct="1">
              <a:buNone/>
            </a:pPr>
            <a:r>
              <a:rPr lang="en-US">
                <a:solidFill>
                  <a:srgbClr val="3366FF"/>
                </a:solidFill>
                <a:cs typeface="Arial"/>
              </a:rPr>
              <a:t>    answer();</a:t>
            </a:r>
          </a:p>
          <a:p>
            <a:pPr marL="344488" lvl="2" indent="0" eaLnBrk="1" hangingPunct="1">
              <a:buNone/>
            </a:pPr>
            <a:r>
              <a:rPr lang="en-US">
                <a:solidFill>
                  <a:srgbClr val="3366FF"/>
                </a:solidFill>
                <a:cs typeface="Arial"/>
              </a:rPr>
              <a:t>  }</a:t>
            </a:r>
          </a:p>
          <a:p>
            <a:pPr marL="344488" lvl="2" indent="0" eaLnBrk="1" hangingPunct="1">
              <a:buNone/>
            </a:pPr>
            <a:r>
              <a:rPr lang="en-US">
                <a:solidFill>
                  <a:srgbClr val="3366FF"/>
                </a:solidFill>
                <a:cs typeface="Arial"/>
              </a:rPr>
              <a:t>  private void answer() {</a:t>
            </a:r>
          </a:p>
          <a:p>
            <a:pPr marL="344488" lvl="2" indent="0" eaLnBrk="1" hangingPunct="1">
              <a:buNone/>
            </a:pPr>
            <a:r>
              <a:rPr lang="en-US">
                <a:solidFill>
                  <a:srgbClr val="3366FF"/>
                </a:solidFill>
                <a:cs typeface="Arial"/>
              </a:rPr>
              <a:t>	}</a:t>
            </a:r>
          </a:p>
          <a:p>
            <a:pPr marL="344488" lvl="2" indent="0" eaLnBrk="1" hangingPunct="1">
              <a:buNone/>
            </a:pPr>
            <a:r>
              <a:rPr lang="en-US">
                <a:solidFill>
                  <a:srgbClr val="3366FF"/>
                </a:solidFill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0125133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Encapsulation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066800"/>
            <a:ext cx="7707862" cy="3677920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Consider example of driving a car</a:t>
            </a:r>
          </a:p>
          <a:p>
            <a:pPr lvl="2" eaLnBrk="1" hangingPunct="1"/>
            <a:r>
              <a:rPr lang="en-US" sz="2000">
                <a:solidFill>
                  <a:schemeClr val="tx1"/>
                </a:solidFill>
                <a:cs typeface="Arial"/>
              </a:rPr>
              <a:t>We see and use break pedal, accelerator pedal, steering wheel – know </a:t>
            </a:r>
            <a:r>
              <a:rPr lang="en-US" sz="2000" u="sng">
                <a:solidFill>
                  <a:schemeClr val="tx1"/>
                </a:solidFill>
                <a:cs typeface="Arial"/>
              </a:rPr>
              <a:t>what</a:t>
            </a:r>
            <a:r>
              <a:rPr lang="en-US" sz="2000">
                <a:solidFill>
                  <a:schemeClr val="tx1"/>
                </a:solidFill>
                <a:cs typeface="Arial"/>
              </a:rPr>
              <a:t> they do</a:t>
            </a:r>
          </a:p>
          <a:p>
            <a:pPr lvl="2" eaLnBrk="1" hangingPunct="1"/>
            <a:r>
              <a:rPr lang="en-US" sz="2000">
                <a:solidFill>
                  <a:schemeClr val="tx1"/>
                </a:solidFill>
                <a:cs typeface="Arial"/>
              </a:rPr>
              <a:t>We do </a:t>
            </a:r>
            <a:r>
              <a:rPr lang="en-US" sz="2000" u="sng">
                <a:solidFill>
                  <a:schemeClr val="tx1"/>
                </a:solidFill>
                <a:cs typeface="Arial"/>
              </a:rPr>
              <a:t>not</a:t>
            </a:r>
            <a:r>
              <a:rPr lang="en-US" sz="2000">
                <a:solidFill>
                  <a:schemeClr val="tx1"/>
                </a:solidFill>
                <a:cs typeface="Arial"/>
              </a:rPr>
              <a:t> see mechanical details of </a:t>
            </a:r>
            <a:r>
              <a:rPr lang="en-US" sz="2000" u="sng">
                <a:solidFill>
                  <a:schemeClr val="tx1"/>
                </a:solidFill>
                <a:cs typeface="Arial"/>
              </a:rPr>
              <a:t>how</a:t>
            </a:r>
            <a:r>
              <a:rPr lang="en-US" sz="2000">
                <a:solidFill>
                  <a:schemeClr val="tx1"/>
                </a:solidFill>
                <a:cs typeface="Arial"/>
              </a:rPr>
              <a:t> they do their jobs</a:t>
            </a:r>
          </a:p>
          <a:p>
            <a:pPr lvl="2" eaLnBrk="1" hangingPunct="1"/>
            <a:endParaRPr lang="en-US" sz="2000">
              <a:solidFill>
                <a:schemeClr val="tx1"/>
              </a:solidFill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Encapsulation divides class definition into</a:t>
            </a:r>
          </a:p>
          <a:p>
            <a:pPr lvl="2" eaLnBrk="1" hangingPunct="1"/>
            <a:r>
              <a:rPr lang="en-US" sz="2000">
                <a:solidFill>
                  <a:srgbClr val="000000"/>
                </a:solidFill>
                <a:cs typeface="Arial"/>
              </a:rPr>
              <a:t>Class interface</a:t>
            </a:r>
          </a:p>
          <a:p>
            <a:pPr lvl="2" eaLnBrk="1" hangingPunct="1"/>
            <a:r>
              <a:rPr lang="en-US" sz="2000">
                <a:solidFill>
                  <a:srgbClr val="000000"/>
                </a:solidFill>
                <a:cs typeface="Arial"/>
              </a:rPr>
              <a:t>Class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459893565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Encapsulation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117600"/>
            <a:ext cx="7707862" cy="3515123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A </a:t>
            </a:r>
            <a:r>
              <a:rPr lang="en-US" sz="2000" i="1">
                <a:cs typeface="Arial"/>
              </a:rPr>
              <a:t>class interface</a:t>
            </a:r>
          </a:p>
          <a:p>
            <a:pPr lvl="2" eaLnBrk="1" hangingPunct="1"/>
            <a:r>
              <a:rPr lang="en-US" sz="2000">
                <a:solidFill>
                  <a:srgbClr val="000000"/>
                </a:solidFill>
                <a:cs typeface="Arial"/>
              </a:rPr>
              <a:t>Tells </a:t>
            </a:r>
            <a:r>
              <a:rPr lang="en-US" sz="2000" u="sng">
                <a:solidFill>
                  <a:srgbClr val="000000"/>
                </a:solidFill>
                <a:cs typeface="Arial"/>
              </a:rPr>
              <a:t>what</a:t>
            </a:r>
            <a:r>
              <a:rPr lang="en-US" sz="2000">
                <a:solidFill>
                  <a:srgbClr val="000000"/>
                </a:solidFill>
                <a:cs typeface="Arial"/>
              </a:rPr>
              <a:t> the class does</a:t>
            </a:r>
          </a:p>
          <a:p>
            <a:pPr lvl="2" eaLnBrk="1" hangingPunct="1"/>
            <a:r>
              <a:rPr lang="en-US" sz="2000">
                <a:solidFill>
                  <a:srgbClr val="000000"/>
                </a:solidFill>
                <a:cs typeface="Arial"/>
              </a:rPr>
              <a:t>Gives headings for public methods and comments about them</a:t>
            </a:r>
          </a:p>
          <a:p>
            <a:pPr lvl="1" eaLnBrk="1" hangingPunct="1"/>
            <a:endParaRPr lang="en-US" sz="2000"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A </a:t>
            </a:r>
            <a:r>
              <a:rPr lang="en-US" sz="2000" i="1">
                <a:cs typeface="Arial"/>
              </a:rPr>
              <a:t>class implementation</a:t>
            </a:r>
          </a:p>
          <a:p>
            <a:pPr lvl="2" eaLnBrk="1" hangingPunct="1"/>
            <a:r>
              <a:rPr lang="en-US" sz="2000">
                <a:solidFill>
                  <a:srgbClr val="000000"/>
                </a:solidFill>
                <a:cs typeface="Arial"/>
              </a:rPr>
              <a:t>Contains private variables</a:t>
            </a:r>
          </a:p>
          <a:p>
            <a:pPr lvl="2" eaLnBrk="1" hangingPunct="1"/>
            <a:r>
              <a:rPr lang="en-US" sz="2000">
                <a:solidFill>
                  <a:srgbClr val="000000"/>
                </a:solidFill>
                <a:cs typeface="Arial"/>
              </a:rPr>
              <a:t>Includes definitions of public and private methods</a:t>
            </a:r>
          </a:p>
        </p:txBody>
      </p:sp>
    </p:spTree>
    <p:extLst>
      <p:ext uri="{BB962C8B-B14F-4D97-AF65-F5344CB8AC3E}">
        <p14:creationId xmlns:p14="http://schemas.microsoft.com/office/powerpoint/2010/main" val="1416049251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965200" y="416560"/>
            <a:ext cx="7721600" cy="453788"/>
          </a:xfrm>
        </p:spPr>
        <p:txBody>
          <a:bodyPr/>
          <a:lstStyle/>
          <a:p>
            <a:pPr eaLnBrk="1" hangingPunct="1"/>
            <a:r>
              <a:rPr lang="en-US">
                <a:cs typeface="Arial"/>
              </a:rPr>
              <a:t>Encapsulation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65200" y="1026159"/>
            <a:ext cx="7721600" cy="366609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 well encapsulated class definition</a:t>
            </a:r>
          </a:p>
        </p:txBody>
      </p:sp>
      <p:sp>
        <p:nvSpPr>
          <p:cNvPr id="45060" name="Text Box 5"/>
          <p:cNvSpPr txBox="1">
            <a:spLocks noChangeArrowheads="1"/>
          </p:cNvSpPr>
          <p:nvPr/>
        </p:nvSpPr>
        <p:spPr bwMode="auto">
          <a:xfrm>
            <a:off x="6542088" y="3051573"/>
            <a:ext cx="1636712" cy="523220"/>
          </a:xfrm>
          <a:prstGeom prst="rect">
            <a:avLst/>
          </a:prstGeom>
          <a:solidFill>
            <a:srgbClr val="FFE4C9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400" i="1">
                <a:latin typeface="Times New Roman" charset="0"/>
              </a:rPr>
              <a:t>Programmer who uses the class</a:t>
            </a:r>
          </a:p>
        </p:txBody>
      </p:sp>
      <p:sp>
        <p:nvSpPr>
          <p:cNvPr id="45061" name="Line 6"/>
          <p:cNvSpPr>
            <a:spLocks noChangeShapeType="1"/>
          </p:cNvSpPr>
          <p:nvPr/>
        </p:nvSpPr>
        <p:spPr bwMode="auto">
          <a:xfrm>
            <a:off x="5743576" y="3264694"/>
            <a:ext cx="7350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5062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863" y="1699023"/>
            <a:ext cx="4514850" cy="2993231"/>
          </a:xfrm>
          <a:prstGeom prst="rect">
            <a:avLst/>
          </a:prstGeom>
          <a:noFill/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7051033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Encapsulation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066800"/>
            <a:ext cx="7707862" cy="3527823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§"/>
            </a:pPr>
            <a:r>
              <a:rPr lang="en-US">
                <a:cs typeface="Arial"/>
              </a:rPr>
              <a:t>Preface class definition with comment on how to use class</a:t>
            </a:r>
          </a:p>
          <a:p>
            <a:pPr eaLnBrk="1" hangingPunct="1">
              <a:buFont typeface="Wingdings" charset="2"/>
              <a:buChar char="§"/>
            </a:pPr>
            <a:r>
              <a:rPr lang="en-US">
                <a:cs typeface="Arial"/>
              </a:rPr>
              <a:t>Declare all instance variables in the class as private.</a:t>
            </a:r>
          </a:p>
          <a:p>
            <a:pPr eaLnBrk="1" hangingPunct="1">
              <a:buFont typeface="Wingdings" charset="2"/>
              <a:buChar char="§"/>
            </a:pPr>
            <a:r>
              <a:rPr lang="en-US">
                <a:cs typeface="Arial"/>
              </a:rPr>
              <a:t>Provide public </a:t>
            </a:r>
            <a:r>
              <a:rPr lang="en-US" err="1">
                <a:cs typeface="Arial"/>
              </a:rPr>
              <a:t>accessor</a:t>
            </a:r>
            <a:r>
              <a:rPr lang="en-US">
                <a:cs typeface="Arial"/>
              </a:rPr>
              <a:t> methods to retrieve data </a:t>
            </a:r>
          </a:p>
          <a:p>
            <a:pPr eaLnBrk="1" hangingPunct="1">
              <a:buFont typeface="Wingdings" charset="2"/>
              <a:buChar char="§"/>
            </a:pPr>
            <a:r>
              <a:rPr lang="en-US">
                <a:cs typeface="Arial"/>
              </a:rPr>
              <a:t>Provide public methods manipulating data</a:t>
            </a:r>
          </a:p>
          <a:p>
            <a:pPr lvl="2" eaLnBrk="1" hangingPunct="1"/>
            <a:r>
              <a:rPr lang="en-US">
                <a:cs typeface="Arial"/>
              </a:rPr>
              <a:t>Such methods could include public </a:t>
            </a:r>
            <a:r>
              <a:rPr lang="en-US" err="1">
                <a:cs typeface="Arial"/>
              </a:rPr>
              <a:t>mutator</a:t>
            </a:r>
            <a:r>
              <a:rPr lang="en-US">
                <a:cs typeface="Arial"/>
              </a:rPr>
              <a:t> methods.</a:t>
            </a:r>
          </a:p>
          <a:p>
            <a:pPr eaLnBrk="1" hangingPunct="1">
              <a:buFont typeface="Wingdings" charset="2"/>
              <a:buChar char="§"/>
            </a:pPr>
            <a:r>
              <a:rPr lang="en-US">
                <a:cs typeface="Arial"/>
              </a:rPr>
              <a:t>Place a comment before each public method heading that fully specifies how to use method.</a:t>
            </a:r>
          </a:p>
          <a:p>
            <a:pPr eaLnBrk="1" hangingPunct="1">
              <a:buFont typeface="Wingdings" charset="2"/>
              <a:buChar char="§"/>
            </a:pPr>
            <a:r>
              <a:rPr lang="en-US">
                <a:cs typeface="Arial"/>
              </a:rPr>
              <a:t>Make any helping methods private.</a:t>
            </a:r>
          </a:p>
          <a:p>
            <a:pPr eaLnBrk="1" hangingPunct="1">
              <a:buFont typeface="Wingdings" charset="2"/>
              <a:buChar char="§"/>
            </a:pPr>
            <a:r>
              <a:rPr lang="en-US">
                <a:cs typeface="Arial"/>
              </a:rPr>
              <a:t>Write comments within class definition to describe implementation details.</a:t>
            </a:r>
          </a:p>
        </p:txBody>
      </p:sp>
    </p:spTree>
    <p:extLst>
      <p:ext uri="{BB962C8B-B14F-4D97-AF65-F5344CB8AC3E}">
        <p14:creationId xmlns:p14="http://schemas.microsoft.com/office/powerpoint/2010/main" val="3222640126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883920" y="426720"/>
            <a:ext cx="7823518" cy="495618"/>
          </a:xfrm>
        </p:spPr>
        <p:txBody>
          <a:bodyPr/>
          <a:lstStyle/>
          <a:p>
            <a:pPr eaLnBrk="1" hangingPunct="1"/>
            <a:r>
              <a:rPr lang="en-US">
                <a:cs typeface="Arial"/>
              </a:rPr>
              <a:t>Objects and References: Outline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4294967295"/>
          </p:nvPr>
        </p:nvSpPr>
        <p:spPr>
          <a:xfrm>
            <a:off x="883920" y="1168400"/>
            <a:ext cx="7802880" cy="3426223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Variables of a Class Type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Defining an equals Method for a Class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Boolean-Valued Methods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Parameters of a Class Type</a:t>
            </a:r>
          </a:p>
        </p:txBody>
      </p:sp>
    </p:spTree>
    <p:extLst>
      <p:ext uri="{BB962C8B-B14F-4D97-AF65-F5344CB8AC3E}">
        <p14:creationId xmlns:p14="http://schemas.microsoft.com/office/powerpoint/2010/main" val="3615930752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Variables of a Class Type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087120"/>
            <a:ext cx="7707862" cy="3545603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§"/>
            </a:pPr>
            <a:r>
              <a:rPr lang="en-US" sz="2000">
                <a:cs typeface="Arial"/>
              </a:rPr>
              <a:t>All variables are implemented as a memory location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>
                <a:cs typeface="Arial"/>
              </a:rPr>
              <a:t>Data of </a:t>
            </a:r>
            <a:r>
              <a:rPr lang="en-US" sz="2000" i="1">
                <a:cs typeface="Arial"/>
              </a:rPr>
              <a:t>primitive type </a:t>
            </a:r>
            <a:r>
              <a:rPr lang="en-US" sz="2000">
                <a:cs typeface="Arial"/>
              </a:rPr>
              <a:t>stored in the memory location assigned to the variable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>
                <a:cs typeface="Arial"/>
              </a:rPr>
              <a:t>Variable of </a:t>
            </a:r>
            <a:r>
              <a:rPr lang="en-US" sz="2000" i="1">
                <a:cs typeface="Arial"/>
              </a:rPr>
              <a:t>class type </a:t>
            </a:r>
            <a:r>
              <a:rPr lang="en-US" sz="2000">
                <a:cs typeface="Arial"/>
              </a:rPr>
              <a:t>contains memory address of object named by the variable</a:t>
            </a:r>
          </a:p>
          <a:p>
            <a:pPr lvl="1" eaLnBrk="1" hangingPunct="1">
              <a:buFont typeface="Wingdings" charset="2"/>
              <a:buChar char="§"/>
            </a:pPr>
            <a:endParaRPr lang="en-US" sz="2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0587625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Variables of a Class Type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056640"/>
            <a:ext cx="7707862" cy="3576083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Object itself not stored in the variable</a:t>
            </a:r>
          </a:p>
          <a:p>
            <a:pPr lvl="2" eaLnBrk="1" hangingPunct="1"/>
            <a:r>
              <a:rPr lang="en-US" sz="2000">
                <a:solidFill>
                  <a:srgbClr val="000000"/>
                </a:solidFill>
                <a:cs typeface="Arial"/>
              </a:rPr>
              <a:t>Stored elsewhere in memory</a:t>
            </a:r>
          </a:p>
          <a:p>
            <a:pPr lvl="2" eaLnBrk="1" hangingPunct="1"/>
            <a:r>
              <a:rPr lang="en-US" sz="2000">
                <a:solidFill>
                  <a:srgbClr val="000000"/>
                </a:solidFill>
                <a:cs typeface="Arial"/>
              </a:rPr>
              <a:t>Variable contains address of where it is stored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Address called the </a:t>
            </a:r>
            <a:r>
              <a:rPr lang="en-US" sz="2000" i="1">
                <a:cs typeface="Arial"/>
              </a:rPr>
              <a:t>reference</a:t>
            </a:r>
            <a:r>
              <a:rPr lang="en-US" sz="2000">
                <a:cs typeface="Arial"/>
              </a:rPr>
              <a:t> to the variable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A </a:t>
            </a:r>
            <a:r>
              <a:rPr lang="en-US" sz="2000" i="1">
                <a:cs typeface="Arial"/>
              </a:rPr>
              <a:t>reference type</a:t>
            </a:r>
            <a:r>
              <a:rPr lang="en-US" sz="2000">
                <a:cs typeface="Arial"/>
              </a:rPr>
              <a:t> variable holds references (memory addresses) </a:t>
            </a:r>
          </a:p>
          <a:p>
            <a:pPr lvl="2" eaLnBrk="1" hangingPunct="1"/>
            <a:r>
              <a:rPr lang="en-US" sz="2000">
                <a:solidFill>
                  <a:srgbClr val="000000"/>
                </a:solidFill>
                <a:cs typeface="Arial"/>
              </a:rPr>
              <a:t>This makes memory management of class types more efficient</a:t>
            </a:r>
          </a:p>
        </p:txBody>
      </p:sp>
    </p:spTree>
    <p:extLst>
      <p:ext uri="{BB962C8B-B14F-4D97-AF65-F5344CB8AC3E}">
        <p14:creationId xmlns:p14="http://schemas.microsoft.com/office/powerpoint/2010/main" val="2417278502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Variables of a Class Type</a:t>
            </a:r>
          </a:p>
        </p:txBody>
      </p:sp>
      <p:sp>
        <p:nvSpPr>
          <p:cNvPr id="54275" name="Content Placeholder 7"/>
          <p:cNvSpPr>
            <a:spLocks noGrp="1"/>
          </p:cNvSpPr>
          <p:nvPr>
            <p:ph idx="4294967295"/>
          </p:nvPr>
        </p:nvSpPr>
        <p:spPr>
          <a:xfrm>
            <a:off x="948776" y="904241"/>
            <a:ext cx="7707862" cy="444658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Behavior of class variables</a:t>
            </a:r>
          </a:p>
        </p:txBody>
      </p:sp>
      <p:pic>
        <p:nvPicPr>
          <p:cNvPr id="5427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595" y="1420019"/>
            <a:ext cx="5321300" cy="35075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0321319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Variables of a Class Type</a:t>
            </a:r>
          </a:p>
        </p:txBody>
      </p:sp>
      <p:sp>
        <p:nvSpPr>
          <p:cNvPr id="55299" name="Content Placeholder 7"/>
          <p:cNvSpPr>
            <a:spLocks noGrp="1"/>
          </p:cNvSpPr>
          <p:nvPr>
            <p:ph idx="4294967295"/>
          </p:nvPr>
        </p:nvSpPr>
        <p:spPr>
          <a:xfrm>
            <a:off x="948776" y="975362"/>
            <a:ext cx="8032664" cy="538480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Behavior of class variables</a:t>
            </a:r>
          </a:p>
        </p:txBody>
      </p:sp>
      <p:pic>
        <p:nvPicPr>
          <p:cNvPr id="5530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780" y="1603139"/>
            <a:ext cx="5377180" cy="3133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7351929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Variables of a Class Type</a:t>
            </a:r>
          </a:p>
        </p:txBody>
      </p:sp>
      <p:sp>
        <p:nvSpPr>
          <p:cNvPr id="56323" name="Content Placeholder 7"/>
          <p:cNvSpPr>
            <a:spLocks noGrp="1"/>
          </p:cNvSpPr>
          <p:nvPr>
            <p:ph idx="4294967295"/>
          </p:nvPr>
        </p:nvSpPr>
        <p:spPr>
          <a:xfrm>
            <a:off x="948775" y="1017586"/>
            <a:ext cx="7763425" cy="520542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Behavior of class variables</a:t>
            </a:r>
          </a:p>
        </p:txBody>
      </p:sp>
      <p:pic>
        <p:nvPicPr>
          <p:cNvPr id="5632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675" y="1737836"/>
            <a:ext cx="5749924" cy="28015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830964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Variables of a Class Type</a:t>
            </a:r>
          </a:p>
        </p:txBody>
      </p:sp>
      <p:sp>
        <p:nvSpPr>
          <p:cNvPr id="57347" name="Content Placeholder 7"/>
          <p:cNvSpPr>
            <a:spLocks noGrp="1"/>
          </p:cNvSpPr>
          <p:nvPr>
            <p:ph idx="4294967295"/>
          </p:nvPr>
        </p:nvSpPr>
        <p:spPr>
          <a:xfrm>
            <a:off x="948776" y="1063228"/>
            <a:ext cx="7707862" cy="611981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Behavior of class variables</a:t>
            </a:r>
          </a:p>
        </p:txBody>
      </p:sp>
      <p:pic>
        <p:nvPicPr>
          <p:cNvPr id="5734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899" y="1798241"/>
            <a:ext cx="5919787" cy="28634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6393615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Variables of a Class Type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176179"/>
            <a:ext cx="7707862" cy="581422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Dangers of using 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==</a:t>
            </a:r>
            <a:r>
              <a:rPr lang="en-US" sz="2000">
                <a:cs typeface="Arial"/>
              </a:rPr>
              <a:t> with objects</a:t>
            </a:r>
          </a:p>
        </p:txBody>
      </p:sp>
      <p:pic>
        <p:nvPicPr>
          <p:cNvPr id="5837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4" y="1950641"/>
            <a:ext cx="5741987" cy="25991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197084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Variables of a Class Type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idx="4294967295"/>
          </p:nvPr>
        </p:nvSpPr>
        <p:spPr>
          <a:xfrm>
            <a:off x="948776" y="841691"/>
            <a:ext cx="7707862" cy="52165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Dangers of using 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== </a:t>
            </a:r>
            <a:r>
              <a:rPr lang="en-US" sz="2000">
                <a:cs typeface="Arial"/>
              </a:rPr>
              <a:t>with objects</a:t>
            </a:r>
          </a:p>
        </p:txBody>
      </p:sp>
      <p:pic>
        <p:nvPicPr>
          <p:cNvPr id="5939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291" y="1287939"/>
            <a:ext cx="5516563" cy="3704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9946171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Arial"/>
              </a:rPr>
              <a:t>Defining an </a:t>
            </a:r>
            <a:r>
              <a:rPr lang="en-US" b="1">
                <a:solidFill>
                  <a:schemeClr val="accent2"/>
                </a:solidFill>
                <a:ea typeface="+mn-ea"/>
                <a:cs typeface="Arial"/>
              </a:rPr>
              <a:t>equals</a:t>
            </a:r>
            <a:r>
              <a:rPr lang="en-US">
                <a:ea typeface="+mj-ea"/>
                <a:cs typeface="Arial"/>
              </a:rPr>
              <a:t> Method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59840"/>
            <a:ext cx="7707862" cy="3372883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As demonstrated by previous figures</a:t>
            </a:r>
          </a:p>
          <a:p>
            <a:pPr lvl="2" eaLnBrk="1" hangingPunct="1"/>
            <a:r>
              <a:rPr lang="en-US" sz="2000">
                <a:solidFill>
                  <a:srgbClr val="000000"/>
                </a:solidFill>
                <a:cs typeface="Arial"/>
              </a:rPr>
              <a:t>We cannot use == to compare two objects</a:t>
            </a:r>
          </a:p>
          <a:p>
            <a:pPr lvl="2" eaLnBrk="1" hangingPunct="1"/>
            <a:r>
              <a:rPr lang="en-US" sz="2000">
                <a:solidFill>
                  <a:srgbClr val="000000"/>
                </a:solidFill>
                <a:cs typeface="Arial"/>
              </a:rPr>
              <a:t>We must write a method for a given class which will make the comparison as needed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The 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equals</a:t>
            </a:r>
            <a:r>
              <a:rPr lang="en-US" sz="2000">
                <a:cs typeface="Arial"/>
              </a:rPr>
              <a:t> for this class method used same way as 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equals</a:t>
            </a:r>
            <a:r>
              <a:rPr lang="en-US" sz="2000">
                <a:cs typeface="Arial"/>
              </a:rPr>
              <a:t> method for 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706059731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881" y="398024"/>
            <a:ext cx="7762240" cy="443469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Arial"/>
              </a:rPr>
              <a:t>Demonstrating an </a:t>
            </a:r>
            <a:r>
              <a:rPr lang="en-US" b="1">
                <a:solidFill>
                  <a:schemeClr val="accent2"/>
                </a:solidFill>
                <a:ea typeface="+mn-ea"/>
                <a:cs typeface="Arial"/>
              </a:rPr>
              <a:t>equals</a:t>
            </a:r>
            <a:r>
              <a:rPr lang="en-US">
                <a:ea typeface="+mj-ea"/>
                <a:cs typeface="Arial"/>
              </a:rPr>
              <a:t> Method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7" b="66721"/>
          <a:stretch/>
        </p:blipFill>
        <p:spPr bwMode="auto">
          <a:xfrm>
            <a:off x="1597025" y="1348928"/>
            <a:ext cx="6456363" cy="1425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99" b="11640"/>
          <a:stretch/>
        </p:blipFill>
        <p:spPr bwMode="auto">
          <a:xfrm>
            <a:off x="1597025" y="2913516"/>
            <a:ext cx="6456363" cy="1517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0487788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Boolean-Valued Methods</a:t>
            </a:r>
          </a:p>
        </p:txBody>
      </p:sp>
      <p:sp>
        <p:nvSpPr>
          <p:cNvPr id="6349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00151"/>
            <a:ext cx="7707862" cy="923289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Methods can return a value of type </a:t>
            </a:r>
            <a:r>
              <a:rPr lang="en-US" sz="2000" b="1" err="1">
                <a:solidFill>
                  <a:schemeClr val="accent2"/>
                </a:solidFill>
                <a:cs typeface="Arial"/>
              </a:rPr>
              <a:t>boolean</a:t>
            </a:r>
            <a:endParaRPr lang="en-US" sz="2000" b="1">
              <a:solidFill>
                <a:schemeClr val="accent2"/>
              </a:solidFill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cs typeface="Arial"/>
              </a:rPr>
              <a:t>Use a </a:t>
            </a:r>
            <a:r>
              <a:rPr lang="en-US" sz="2000" b="1" err="1">
                <a:solidFill>
                  <a:schemeClr val="accent2"/>
                </a:solidFill>
                <a:cs typeface="Arial"/>
              </a:rPr>
              <a:t>boolean</a:t>
            </a:r>
            <a:r>
              <a:rPr lang="en-US" sz="2000">
                <a:cs typeface="Arial"/>
              </a:rPr>
              <a:t> value in the 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return</a:t>
            </a:r>
            <a:r>
              <a:rPr lang="en-US" sz="2000">
                <a:cs typeface="Arial"/>
              </a:rPr>
              <a:t> statement</a:t>
            </a:r>
          </a:p>
        </p:txBody>
      </p:sp>
      <p:pic>
        <p:nvPicPr>
          <p:cNvPr id="6349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238" y="2718515"/>
            <a:ext cx="6234112" cy="1515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38541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Parameters of a Class Type</a:t>
            </a:r>
          </a:p>
        </p:txBody>
      </p:sp>
      <p:sp>
        <p:nvSpPr>
          <p:cNvPr id="6553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026161"/>
            <a:ext cx="7707862" cy="3037840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>
                <a:solidFill>
                  <a:srgbClr val="000000"/>
                </a:solidFill>
                <a:cs typeface="Arial"/>
              </a:rPr>
              <a:t>When assignment operator used with objects of class type</a:t>
            </a:r>
          </a:p>
          <a:p>
            <a:pPr lvl="2" eaLnBrk="1" hangingPunct="1"/>
            <a:r>
              <a:rPr lang="en-US" sz="2000">
                <a:solidFill>
                  <a:srgbClr val="000000"/>
                </a:solidFill>
                <a:cs typeface="Arial"/>
              </a:rPr>
              <a:t>Only memory address is copied</a:t>
            </a:r>
          </a:p>
          <a:p>
            <a:pPr marL="344488" lvl="2" indent="0" eaLnBrk="1" hangingPunct="1">
              <a:buNone/>
            </a:pPr>
            <a:endParaRPr lang="en-US" sz="2000">
              <a:solidFill>
                <a:srgbClr val="000000"/>
              </a:solidFill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r>
              <a:rPr lang="en-US" sz="2000">
                <a:solidFill>
                  <a:srgbClr val="000000"/>
                </a:solidFill>
                <a:cs typeface="Arial"/>
              </a:rPr>
              <a:t>Similar to use of parameter of class type</a:t>
            </a:r>
          </a:p>
          <a:p>
            <a:pPr lvl="2" eaLnBrk="1" hangingPunct="1"/>
            <a:r>
              <a:rPr lang="en-US" sz="2000">
                <a:solidFill>
                  <a:srgbClr val="000000"/>
                </a:solidFill>
                <a:cs typeface="Arial"/>
              </a:rPr>
              <a:t>Memory address of actual parameter passed to formal parameter</a:t>
            </a:r>
          </a:p>
          <a:p>
            <a:pPr lvl="2" eaLnBrk="1" hangingPunct="1"/>
            <a:r>
              <a:rPr lang="en-US" sz="2000">
                <a:solidFill>
                  <a:srgbClr val="000000"/>
                </a:solidFill>
                <a:cs typeface="Arial"/>
              </a:rPr>
              <a:t>Formal parameter may access public elements of the class</a:t>
            </a:r>
          </a:p>
          <a:p>
            <a:pPr lvl="2" eaLnBrk="1" hangingPunct="1"/>
            <a:r>
              <a:rPr lang="en-US" sz="2000">
                <a:solidFill>
                  <a:srgbClr val="000000"/>
                </a:solidFill>
                <a:cs typeface="Arial"/>
              </a:rPr>
              <a:t>Actual parameter thus can be  changed by class methods</a:t>
            </a:r>
          </a:p>
        </p:txBody>
      </p:sp>
    </p:spTree>
    <p:extLst>
      <p:ext uri="{BB962C8B-B14F-4D97-AF65-F5344CB8AC3E}">
        <p14:creationId xmlns:p14="http://schemas.microsoft.com/office/powerpoint/2010/main" val="582427425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Jobtalk_UF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_Template_Top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Jobtalk_UF.pot</Template>
  <Application>Microsoft Office PowerPoint</Application>
  <PresentationFormat>On-screen Show (16:9)</PresentationFormat>
  <Slides>29</Slides>
  <Notes>27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1" baseType="lpstr">
      <vt:lpstr>Jobtalk_UF</vt:lpstr>
      <vt:lpstr>SU_Template_TopBar</vt:lpstr>
      <vt:lpstr>Class – Information hiding (Chapter 5)</vt:lpstr>
      <vt:lpstr>Information Hiding</vt:lpstr>
      <vt:lpstr>Pre- and Post-condition Comments</vt:lpstr>
      <vt:lpstr>Pre- and Post-condition Comments</vt:lpstr>
      <vt:lpstr>The public and private Modifiers</vt:lpstr>
      <vt:lpstr>PowerPoint Presentation</vt:lpstr>
      <vt:lpstr>Programming Example</vt:lpstr>
      <vt:lpstr>Accessor and Mutator Methods</vt:lpstr>
      <vt:lpstr>Exercise – code example</vt:lpstr>
      <vt:lpstr>Code example</vt:lpstr>
      <vt:lpstr>Accessor and Mutator Methods</vt:lpstr>
      <vt:lpstr>Methods Calling Methods</vt:lpstr>
      <vt:lpstr>Encapsulation</vt:lpstr>
      <vt:lpstr>Encapsulation</vt:lpstr>
      <vt:lpstr>Encapsulation</vt:lpstr>
      <vt:lpstr>Encapsulation</vt:lpstr>
      <vt:lpstr>Objects and References: Outline</vt:lpstr>
      <vt:lpstr>Variables of a Class Type</vt:lpstr>
      <vt:lpstr>Variables of a Class Type</vt:lpstr>
      <vt:lpstr>Variables of a Class Type</vt:lpstr>
      <vt:lpstr>Variables of a Class Type</vt:lpstr>
      <vt:lpstr>Variables of a Class Type</vt:lpstr>
      <vt:lpstr>Variables of a Class Type</vt:lpstr>
      <vt:lpstr>Variables of a Class Type</vt:lpstr>
      <vt:lpstr>Variables of a Class Type</vt:lpstr>
      <vt:lpstr>Defining an equals Method</vt:lpstr>
      <vt:lpstr>Demonstrating an equals Method</vt:lpstr>
      <vt:lpstr>Boolean-Valued Methods</vt:lpstr>
      <vt:lpstr>Parameters of a Class Type</vt:lpstr>
    </vt:vector>
  </TitlesOfParts>
  <Company>Stanford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Guidelines</dc:title>
  <dc:creator>Giltae Song</dc:creator>
  <dc:description>2012 PowerPoint template redesign</dc:description>
  <cp:revision>1</cp:revision>
  <cp:lastPrinted>2016-01-15T22:14:07Z</cp:lastPrinted>
  <dcterms:created xsi:type="dcterms:W3CDTF">2016-01-04T21:30:26Z</dcterms:created>
  <dcterms:modified xsi:type="dcterms:W3CDTF">2019-09-30T06:34:47Z</dcterms:modified>
</cp:coreProperties>
</file>