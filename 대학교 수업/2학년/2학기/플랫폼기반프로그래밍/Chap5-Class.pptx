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26"/>
  </p:notesMasterIdLst>
  <p:handoutMasterIdLst>
    <p:handoutMasterId r:id="rId27"/>
  </p:handoutMasterIdLst>
  <p:sldIdLst>
    <p:sldId id="256" r:id="rId3"/>
    <p:sldId id="357" r:id="rId4"/>
    <p:sldId id="358" r:id="rId5"/>
    <p:sldId id="359" r:id="rId6"/>
    <p:sldId id="360" r:id="rId7"/>
    <p:sldId id="361" r:id="rId8"/>
    <p:sldId id="334" r:id="rId9"/>
    <p:sldId id="362" r:id="rId10"/>
    <p:sldId id="338" r:id="rId11"/>
    <p:sldId id="363" r:id="rId12"/>
    <p:sldId id="364" r:id="rId13"/>
    <p:sldId id="365" r:id="rId14"/>
    <p:sldId id="366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367" r:id="rId23"/>
    <p:sldId id="368" r:id="rId24"/>
    <p:sldId id="369" r:id="rId25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게스트 사용자" initials="게사" lastIdx="14" clrIdx="0">
    <p:extLst>
      <p:ext uri="{19B8F6BF-5375-455C-9EA6-DF929625EA0E}">
        <p15:presenceInfo xmlns:p15="http://schemas.microsoft.com/office/powerpoint/2012/main" userId="S::urn:spo:anon#bec63561c13019025d6c8931388a442974232f35208d8c754885758df8c99ee5::" providerId="AD"/>
      </p:ext>
    </p:extLst>
  </p:cmAuthor>
  <p:cmAuthor id="2" name="게스트 사용자" initials="게사 [2]" lastIdx="5" clrIdx="1">
    <p:extLst>
      <p:ext uri="{19B8F6BF-5375-455C-9EA6-DF929625EA0E}">
        <p15:presenceInfo xmlns:p15="http://schemas.microsoft.com/office/powerpoint/2012/main" userId="S::urn:spo:anon#0d023c95bdef606b6cb39ab04175d8801c5cb82acfd8a201ac77737128f877e3::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3730AD-04EA-4AB0-8315-304438C6E045}" v="5" dt="2019-10-01T04:57:40.927"/>
    <p1510:client id="{11B54D21-7567-3DCC-2E36-040293FEFE24}" v="40" dt="2019-09-30T06:17:31.818"/>
    <p1510:client id="{282278D8-646E-4B39-80D6-5BFC282A58BF}" v="100" dt="2019-09-30T06:20:06.912"/>
    <p1510:client id="{30C8D574-AAAF-17E3-C844-3957539C8F7F}" v="4" dt="2019-09-30T06:19:36.115"/>
    <p1510:client id="{3409090A-8C4F-1D77-345B-4500DC1AABC4}" v="1" dt="2019-10-01T04:13:55.436"/>
    <p1510:client id="{34FF516D-6F5F-365D-2E62-309E9FBAEFBE}" v="252" dt="2019-09-30T06:23:44.135"/>
    <p1510:client id="{38DEAB3C-7A91-FFBB-14FC-7EBAFCF9F08A}" v="2" dt="2019-09-30T06:21:46.129"/>
    <p1510:client id="{3C8E548E-376E-3738-2F6C-775097F97581}" v="1" dt="2019-09-30T06:11:56.752"/>
    <p1510:client id="{3FCDCC39-EAA8-4AA9-A571-74A1D1B0C855}" v="3" dt="2019-09-30T06:11:37.908"/>
    <p1510:client id="{4874E9FC-814D-41DE-BF2A-A2031F2FF557}" v="7" dt="2019-09-30T06:12:37.768"/>
    <p1510:client id="{4B946C34-DE54-54A7-D662-A9FDC9144F1E}" v="55" dt="2019-09-30T06:26:04.728"/>
    <p1510:client id="{558095E0-0DB1-43BA-BEF1-DD39FE7FB0F6}" v="1" dt="2019-09-30T06:13:52.456"/>
    <p1510:client id="{58668F67-CB6D-4346-A7AE-EAC39F44D9B0}" v="1" dt="2019-09-30T06:21:54.401"/>
    <p1510:client id="{5D9A4303-2EAD-6604-440B-47F82E9D1F5A}" v="11" dt="2019-09-30T06:25:53.839"/>
    <p1510:client id="{6446C1E2-BDC4-CCF4-1E15-BDAF8D3FFA6E}" v="1" dt="2019-09-30T06:12:48.144"/>
    <p1510:client id="{6F2A6F59-B8ED-429D-A5E4-4352A33333B1}" v="11" dt="2019-09-30T06:11:57.845"/>
    <p1510:client id="{73B08810-03E0-F052-3944-9283601BAD42}" v="2" dt="2019-09-30T06:15:39.738"/>
    <p1510:client id="{78D7F653-1CA7-4A88-AEB9-DC17E506C492}" v="1" dt="2019-09-30T06:11:30.454"/>
    <p1510:client id="{87D4E3B3-B72D-4287-86EC-889CEDF746D5}" v="2" dt="2019-09-30T06:30:39.605"/>
    <p1510:client id="{89486D4F-B635-DCA1-C4D8-67200FA4EC32}" v="2" dt="2019-09-30T06:26:14.665"/>
    <p1510:client id="{A228698A-8210-4A1A-B12A-EC022DDD3133}" v="5" dt="2019-09-30T06:06:17.781"/>
    <p1510:client id="{ACBF9FCB-9576-69D0-5EE7-314FD61F2DA2}" v="1" dt="2019-09-30T06:25:46.650"/>
    <p1510:client id="{AFA33197-C88A-B64F-0BB9-6FA04B5B6650}" v="32" dt="2019-09-30T06:16:52.487"/>
    <p1510:client id="{B04E56DC-1EF4-4404-AF74-73E090E5A466}" v="282" dt="2019-09-30T06:20:40.991"/>
    <p1510:client id="{B4BD46DE-5254-4EBE-A947-AED68D7625BB}" v="4" dt="2019-09-30T06:22:42.351"/>
    <p1510:client id="{BEF133F6-472B-2A93-DABB-FB79FA86844C}" v="9" dt="2019-09-30T06:20:45.081"/>
    <p1510:client id="{C009F868-DF1F-F6FA-4AE4-76693511007E}" v="59" dt="2019-09-30T06:25:50.915"/>
    <p1510:client id="{C8451B4D-7A8B-6483-A05E-DCC5C2E7587F}" v="2" dt="2019-09-30T06:12:27.830"/>
    <p1510:client id="{CA709DED-AE65-E437-694F-BC3A494C07DF}" v="1" dt="2019-09-30T14:47:51.177"/>
    <p1510:client id="{CBDD146B-CAB1-4612-A351-E0FBC551CE76}" v="30" dt="2019-09-30T06:30:22.862"/>
    <p1510:client id="{CFD170BD-648B-4ED9-AA49-A9EE0274422C}" v="25" dt="2019-09-30T06:21:49.790"/>
    <p1510:client id="{EFF21B24-558D-4658-BC6F-CAD8A48E0E8F}" v="1" dt="2019-09-30T06:09:41.891"/>
    <p1510:client id="{F776F15E-B0A1-4432-881B-27AC8732C3CB}" v="3" dt="2019-09-30T06:22:52.088"/>
    <p1510:client id="{FD2064E3-C1AB-42D7-B206-5DBE3B90D9AD}" v="9" dt="2019-09-30T06:31:37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defRPr>
                <a:latin typeface="맑은 고딕" pitchFamily="50" charset="-127"/>
                <a:ea typeface="맑은 고딕" pitchFamily="50" charset="-127"/>
              </a:defRPr>
            </a:lvl3pPr>
            <a:lvl4pPr>
              <a:defRPr>
                <a:latin typeface="맑은 고딕" pitchFamily="50" charset="-127"/>
                <a:ea typeface="맑은 고딕" pitchFamily="50" charset="-127"/>
              </a:defRPr>
            </a:lvl4pPr>
            <a:lvl5pPr>
              <a:defRPr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839891"/>
            <a:ext cx="2963008" cy="152400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xfrm>
            <a:off x="3851031" y="4839891"/>
            <a:ext cx="2107223" cy="171450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378212" y="4839891"/>
            <a:ext cx="1414096" cy="161925"/>
          </a:xfrm>
        </p:spPr>
        <p:txBody>
          <a:bodyPr/>
          <a:lstStyle>
            <a:lvl1pPr>
              <a:defRPr/>
            </a:lvl1pPr>
          </a:lstStyle>
          <a:p>
            <a:fld id="{E328C8E6-9254-1649-823C-232BB3A0EE5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95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Class (Chapter 5)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452879"/>
            <a:ext cx="7566574" cy="317984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Describe concepts of class, class object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Define a Java class, its methods</a:t>
            </a:r>
          </a:p>
        </p:txBody>
      </p:sp>
    </p:spTree>
    <p:extLst>
      <p:ext uri="{BB962C8B-B14F-4D97-AF65-F5344CB8AC3E}">
        <p14:creationId xmlns:p14="http://schemas.microsoft.com/office/powerpoint/2010/main" val="223731573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Class and Method Definitions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6896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Java program consists of objects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Objects of class types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Objects that interact with one another</a:t>
            </a:r>
          </a:p>
          <a:p>
            <a:pPr lvl="2" eaLnBrk="1" hangingPunct="1">
              <a:buFont typeface="Wingdings" charset="2"/>
              <a:buChar char="§"/>
            </a:pPr>
            <a:endParaRPr lang="en-US" sz="2000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Program objects can represent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Objects in real world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Abstractions</a:t>
            </a:r>
          </a:p>
        </p:txBody>
      </p:sp>
      <p:sp>
        <p:nvSpPr>
          <p:cNvPr id="4" name="직사각형 3"/>
          <p:cNvSpPr>
            <a:spLocks noChangeArrowheads="1"/>
          </p:cNvSpPr>
          <p:nvPr/>
        </p:nvSpPr>
        <p:spPr bwMode="auto">
          <a:xfrm>
            <a:off x="5963920" y="847565"/>
            <a:ext cx="1320800" cy="540544"/>
          </a:xfrm>
          <a:prstGeom prst="rect">
            <a:avLst/>
          </a:prstGeom>
          <a:solidFill>
            <a:srgbClr val="FF9BFF">
              <a:alpha val="2588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pPr algn="ctr"/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5" name="순서도: 문서 3"/>
          <p:cNvSpPr>
            <a:spLocks noChangeArrowheads="1"/>
          </p:cNvSpPr>
          <p:nvPr/>
        </p:nvSpPr>
        <p:spPr bwMode="auto">
          <a:xfrm>
            <a:off x="5963920" y="1533447"/>
            <a:ext cx="1320800" cy="539354"/>
          </a:xfrm>
          <a:prstGeom prst="rect">
            <a:avLst/>
          </a:prstGeom>
          <a:solidFill>
            <a:srgbClr val="FF9BFF">
              <a:alpha val="2588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pPr algn="ctr"/>
            <a:r>
              <a:rPr lang="en-US" altLang="ko-KR"/>
              <a:t>Professor</a:t>
            </a:r>
            <a:endParaRPr lang="ko-KR" altLang="en-US"/>
          </a:p>
        </p:txBody>
      </p:sp>
      <p:sp>
        <p:nvSpPr>
          <p:cNvPr id="6" name="순서도: 문서 3"/>
          <p:cNvSpPr>
            <a:spLocks noChangeArrowheads="1"/>
          </p:cNvSpPr>
          <p:nvPr/>
        </p:nvSpPr>
        <p:spPr bwMode="auto">
          <a:xfrm>
            <a:off x="7772399" y="2773684"/>
            <a:ext cx="1196830" cy="540544"/>
          </a:xfrm>
          <a:prstGeom prst="rect">
            <a:avLst/>
          </a:prstGeom>
          <a:solidFill>
            <a:srgbClr val="FF9BFF">
              <a:alpha val="2588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pPr algn="ctr"/>
            <a:r>
              <a:rPr lang="en-US" altLang="ko-KR" dirty="0"/>
              <a:t>School</a:t>
            </a:r>
            <a:endParaRPr lang="ko-KR" altLang="en-US" dirty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7772399" y="1188957"/>
            <a:ext cx="1196829" cy="540544"/>
          </a:xfrm>
          <a:prstGeom prst="rect">
            <a:avLst/>
          </a:prstGeom>
          <a:solidFill>
            <a:srgbClr val="FF9BFF">
              <a:alpha val="2588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pPr algn="ctr"/>
            <a:r>
              <a:rPr lang="en-US" altLang="ko-KR"/>
              <a:t>Course</a:t>
            </a:r>
            <a:endParaRPr lang="ko-KR" altLang="en-US"/>
          </a:p>
        </p:txBody>
      </p:sp>
      <p:sp>
        <p:nvSpPr>
          <p:cNvPr id="8" name="순서도: 문서 3"/>
          <p:cNvSpPr>
            <a:spLocks noChangeArrowheads="1"/>
          </p:cNvSpPr>
          <p:nvPr/>
        </p:nvSpPr>
        <p:spPr bwMode="auto">
          <a:xfrm>
            <a:off x="5963920" y="2778762"/>
            <a:ext cx="1320800" cy="540544"/>
          </a:xfrm>
          <a:prstGeom prst="rect">
            <a:avLst/>
          </a:prstGeom>
          <a:solidFill>
            <a:srgbClr val="FF9BFF">
              <a:alpha val="25882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pPr algn="ctr"/>
            <a:r>
              <a:rPr lang="en-US" altLang="ko-KR" dirty="0"/>
              <a:t>Department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933769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Class and Method Definitions</a:t>
            </a:r>
          </a:p>
        </p:txBody>
      </p:sp>
      <p:pic>
        <p:nvPicPr>
          <p:cNvPr id="819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031" y="1750696"/>
            <a:ext cx="4581525" cy="2221706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3493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Class and Method Definitions</a:t>
            </a:r>
          </a:p>
        </p:txBody>
      </p:sp>
      <p:sp>
        <p:nvSpPr>
          <p:cNvPr id="9220" name="Text Box 7"/>
          <p:cNvSpPr txBox="1">
            <a:spLocks noChangeArrowheads="1"/>
          </p:cNvSpPr>
          <p:nvPr/>
        </p:nvSpPr>
        <p:spPr bwMode="auto">
          <a:xfrm>
            <a:off x="5327651" y="3676968"/>
            <a:ext cx="33289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atin typeface="Arial"/>
                <a:cs typeface="Arial"/>
              </a:rPr>
              <a:t>Objects that are instantiations of the class </a:t>
            </a:r>
            <a:r>
              <a:rPr lang="en-US" sz="2000" b="1" dirty="0">
                <a:solidFill>
                  <a:schemeClr val="accent2"/>
                </a:solidFill>
                <a:latin typeface="Arial"/>
                <a:cs typeface="Arial"/>
              </a:rPr>
              <a:t>Automobile</a:t>
            </a:r>
          </a:p>
        </p:txBody>
      </p:sp>
      <p:pic>
        <p:nvPicPr>
          <p:cNvPr id="922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3302318"/>
            <a:ext cx="3600450" cy="1088231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271" y="2354342"/>
            <a:ext cx="3248025" cy="1165622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134" y="1350884"/>
            <a:ext cx="3698875" cy="1235869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105806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Class and Method Definitions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 class outline as a UML (Universal Modeling Language) class diagram</a:t>
            </a:r>
          </a:p>
        </p:txBody>
      </p:sp>
      <p:pic>
        <p:nvPicPr>
          <p:cNvPr id="1024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4" y="2141935"/>
            <a:ext cx="5686425" cy="20133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19905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372070"/>
            <a:ext cx="6323330" cy="475060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Class Files and Separate Compilation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71550" y="1369219"/>
            <a:ext cx="7543800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Each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Java</a:t>
            </a:r>
            <a:r>
              <a:rPr lang="en-US" sz="2000" dirty="0">
                <a:cs typeface="Arial"/>
              </a:rPr>
              <a:t> class definition usually in a file by itself</a:t>
            </a:r>
          </a:p>
          <a:p>
            <a:pPr lvl="2" eaLnBrk="1" hangingPunct="1"/>
            <a:r>
              <a:rPr lang="en-US" sz="2000" dirty="0">
                <a:cs typeface="Arial"/>
              </a:rPr>
              <a:t>File begins with name of the class</a:t>
            </a:r>
          </a:p>
          <a:p>
            <a:pPr lvl="2" eaLnBrk="1" hangingPunct="1"/>
            <a:r>
              <a:rPr lang="en-US" sz="2000" dirty="0">
                <a:cs typeface="Arial"/>
              </a:rPr>
              <a:t>Ends with .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java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Class can be compiled separately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Helpful to keep all class files used by a program in the same directory</a:t>
            </a:r>
          </a:p>
        </p:txBody>
      </p:sp>
    </p:spTree>
    <p:extLst>
      <p:ext uri="{BB962C8B-B14F-4D97-AF65-F5344CB8AC3E}">
        <p14:creationId xmlns:p14="http://schemas.microsoft.com/office/powerpoint/2010/main" val="62828335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내용 개체 틀 2"/>
          <p:cNvSpPr>
            <a:spLocks noGrp="1"/>
          </p:cNvSpPr>
          <p:nvPr>
            <p:ph idx="1"/>
          </p:nvPr>
        </p:nvSpPr>
        <p:spPr>
          <a:xfrm>
            <a:off x="949324" y="701755"/>
            <a:ext cx="7737475" cy="432197"/>
          </a:xfrm>
        </p:spPr>
        <p:txBody>
          <a:bodyPr>
            <a:normAutofit/>
          </a:bodyPr>
          <a:lstStyle/>
          <a:p>
            <a:pPr>
              <a:buFont typeface="Wingdings" charset="2"/>
              <a:buChar char="§"/>
            </a:pPr>
            <a:r>
              <a:rPr lang="en-US" altLang="ko-KR" dirty="0">
                <a:latin typeface="Arial"/>
                <a:ea typeface="맑은 고딕" charset="0"/>
                <a:cs typeface="Arial"/>
              </a:rPr>
              <a:t>Each class consists of instance variables and methods</a:t>
            </a: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2367084" y="1108552"/>
            <a:ext cx="4968436" cy="395667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7925" tIns="38963" rIns="77925" bIns="38963">
            <a:spAutoFit/>
          </a:bodyPr>
          <a:lstStyle>
            <a:lvl1pPr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1pPr>
            <a:lvl2pPr marL="742950" indent="-28575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2pPr>
            <a:lvl3pPr marL="11430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3pPr>
            <a:lvl4pPr marL="16002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4pPr>
            <a:lvl5pPr marL="20574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9pPr>
          </a:lstStyle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public </a:t>
            </a:r>
            <a:r>
              <a:rPr lang="en-US" altLang="ko-KR" sz="14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lang="en-US" altLang="ko-KR" sz="1400" dirty="0">
                <a:latin typeface="Arial"/>
                <a:cs typeface="Arial"/>
              </a:rPr>
              <a:t> Dog {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public String name;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public String breed;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public </a:t>
            </a:r>
            <a:r>
              <a:rPr lang="en-US" altLang="ko-KR" sz="1400" dirty="0" err="1">
                <a:latin typeface="Arial"/>
                <a:cs typeface="Arial"/>
              </a:rPr>
              <a:t>int</a:t>
            </a:r>
            <a:r>
              <a:rPr lang="en-US" altLang="ko-KR" sz="1400" dirty="0">
                <a:latin typeface="Arial"/>
                <a:cs typeface="Arial"/>
              </a:rPr>
              <a:t> age;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public void </a:t>
            </a:r>
            <a:r>
              <a:rPr lang="en-US" altLang="ko-KR" sz="1400" dirty="0" err="1">
                <a:latin typeface="Arial"/>
                <a:cs typeface="Arial"/>
              </a:rPr>
              <a:t>writeOutput</a:t>
            </a:r>
            <a:r>
              <a:rPr lang="en-US" altLang="ko-KR" sz="1400" dirty="0">
                <a:latin typeface="Arial"/>
                <a:cs typeface="Arial"/>
              </a:rPr>
              <a:t>() {</a:t>
            </a:r>
          </a:p>
          <a:p>
            <a:pPr eaLnBrk="1" hangingPunct="1"/>
            <a:r>
              <a:rPr lang="fr-FR" altLang="ko-KR" sz="1400" dirty="0">
                <a:latin typeface="Arial"/>
                <a:cs typeface="Arial"/>
              </a:rPr>
              <a:t>		</a:t>
            </a:r>
            <a:r>
              <a:rPr lang="fr-FR" altLang="ko-KR" sz="1400" dirty="0" err="1">
                <a:latin typeface="Arial"/>
                <a:cs typeface="Arial"/>
              </a:rPr>
              <a:t>System.out.println</a:t>
            </a:r>
            <a:r>
              <a:rPr lang="fr-FR" altLang="ko-KR" sz="1400" dirty="0">
                <a:latin typeface="Arial"/>
                <a:cs typeface="Arial"/>
              </a:rPr>
              <a:t>(</a:t>
            </a:r>
            <a:r>
              <a:rPr lang="en-US" sz="1400" dirty="0">
                <a:cs typeface="Arial"/>
              </a:rPr>
              <a:t>“</a:t>
            </a:r>
            <a:r>
              <a:rPr lang="fr-FR" altLang="ko-KR" sz="1400" dirty="0">
                <a:latin typeface="Arial"/>
                <a:cs typeface="Arial"/>
              </a:rPr>
              <a:t>Name: </a:t>
            </a:r>
            <a:r>
              <a:rPr lang="en-US" sz="1400" dirty="0">
                <a:cs typeface="Arial"/>
              </a:rPr>
              <a:t>” + name</a:t>
            </a:r>
            <a:r>
              <a:rPr lang="fr-FR" altLang="ko-KR" sz="14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400" dirty="0">
                <a:latin typeface="Arial"/>
                <a:cs typeface="Arial"/>
              </a:rPr>
              <a:t>		</a:t>
            </a:r>
            <a:r>
              <a:rPr lang="fr-FR" altLang="ko-KR" sz="1400" dirty="0" err="1">
                <a:latin typeface="Arial"/>
                <a:cs typeface="Arial"/>
              </a:rPr>
              <a:t>System.out.println</a:t>
            </a:r>
            <a:r>
              <a:rPr lang="fr-FR" altLang="ko-KR" sz="1400" dirty="0">
                <a:latin typeface="Arial"/>
                <a:cs typeface="Arial"/>
              </a:rPr>
              <a:t>(</a:t>
            </a:r>
            <a:r>
              <a:rPr lang="en-US" sz="1400" dirty="0">
                <a:cs typeface="Arial"/>
              </a:rPr>
              <a:t>“</a:t>
            </a:r>
            <a:r>
              <a:rPr lang="fr-FR" sz="1400" dirty="0" err="1">
                <a:latin typeface="Arial"/>
                <a:cs typeface="Arial"/>
              </a:rPr>
              <a:t>Breed</a:t>
            </a:r>
            <a:r>
              <a:rPr lang="fr-FR" altLang="ko-KR" sz="1400" dirty="0">
                <a:latin typeface="Arial"/>
                <a:cs typeface="Arial"/>
              </a:rPr>
              <a:t>: </a:t>
            </a:r>
            <a:r>
              <a:rPr lang="en-US" sz="1400" dirty="0">
                <a:cs typeface="Arial"/>
              </a:rPr>
              <a:t>” + breed</a:t>
            </a:r>
            <a:r>
              <a:rPr lang="fr-FR" altLang="ko-KR" sz="14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400" dirty="0">
                <a:latin typeface="Arial"/>
                <a:cs typeface="Arial"/>
              </a:rPr>
              <a:t>		</a:t>
            </a:r>
            <a:r>
              <a:rPr lang="fr-FR" altLang="ko-KR" sz="1400" dirty="0" err="1">
                <a:latin typeface="Arial"/>
                <a:cs typeface="Arial"/>
              </a:rPr>
              <a:t>System.out.println</a:t>
            </a:r>
            <a:r>
              <a:rPr lang="fr-FR" altLang="ko-KR" sz="1400" dirty="0">
                <a:latin typeface="Arial"/>
                <a:cs typeface="Arial"/>
              </a:rPr>
              <a:t>(</a:t>
            </a:r>
            <a:r>
              <a:rPr lang="en-US" sz="1400" dirty="0">
                <a:cs typeface="Arial"/>
              </a:rPr>
              <a:t>“</a:t>
            </a:r>
            <a:r>
              <a:rPr lang="fr-FR" sz="1400" dirty="0">
                <a:latin typeface="Arial"/>
                <a:cs typeface="Arial"/>
              </a:rPr>
              <a:t>Age in </a:t>
            </a:r>
            <a:r>
              <a:rPr lang="fr-FR" sz="1400" dirty="0" err="1">
                <a:latin typeface="Arial"/>
                <a:cs typeface="Arial"/>
              </a:rPr>
              <a:t>calendar</a:t>
            </a:r>
            <a:r>
              <a:rPr lang="fr-FR" sz="1400" dirty="0">
                <a:latin typeface="Arial"/>
                <a:cs typeface="Arial"/>
              </a:rPr>
              <a:t> </a:t>
            </a:r>
            <a:r>
              <a:rPr lang="fr-FR" sz="1400" dirty="0" err="1">
                <a:latin typeface="Arial"/>
                <a:cs typeface="Arial"/>
              </a:rPr>
              <a:t>years</a:t>
            </a:r>
            <a:r>
              <a:rPr lang="fr-FR" sz="1400" dirty="0">
                <a:latin typeface="Arial"/>
                <a:cs typeface="Arial"/>
              </a:rPr>
              <a:t> </a:t>
            </a:r>
            <a:r>
              <a:rPr lang="fr-FR" altLang="ko-KR" sz="1400" dirty="0">
                <a:latin typeface="Arial"/>
                <a:cs typeface="Arial"/>
              </a:rPr>
              <a:t>: </a:t>
            </a:r>
            <a:r>
              <a:rPr lang="en-US" sz="1400" dirty="0">
                <a:cs typeface="Arial"/>
              </a:rPr>
              <a:t>” + age</a:t>
            </a:r>
            <a:r>
              <a:rPr lang="fr-FR" altLang="ko-KR" sz="14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400" dirty="0">
                <a:latin typeface="Arial"/>
                <a:cs typeface="Arial"/>
              </a:rPr>
              <a:t>		</a:t>
            </a:r>
            <a:r>
              <a:rPr lang="fr-FR" altLang="ko-KR" sz="1400" dirty="0" err="1">
                <a:latin typeface="Arial"/>
                <a:cs typeface="Arial"/>
              </a:rPr>
              <a:t>System.out.println</a:t>
            </a:r>
            <a:r>
              <a:rPr lang="fr-FR" altLang="ko-KR" sz="1400" dirty="0">
                <a:latin typeface="Arial"/>
                <a:cs typeface="Arial"/>
              </a:rPr>
              <a:t>(</a:t>
            </a:r>
            <a:r>
              <a:rPr lang="en-US" sz="1400" dirty="0">
                <a:cs typeface="Arial"/>
              </a:rPr>
              <a:t>“</a:t>
            </a:r>
            <a:r>
              <a:rPr lang="fr-FR" sz="1400" dirty="0">
                <a:latin typeface="Arial"/>
                <a:cs typeface="Arial"/>
              </a:rPr>
              <a:t>Age in </a:t>
            </a:r>
            <a:r>
              <a:rPr lang="fr-FR" sz="1400" dirty="0" err="1">
                <a:latin typeface="Arial"/>
                <a:cs typeface="Arial"/>
              </a:rPr>
              <a:t>human</a:t>
            </a:r>
            <a:r>
              <a:rPr lang="fr-FR" sz="1400" dirty="0">
                <a:latin typeface="Arial"/>
                <a:cs typeface="Arial"/>
              </a:rPr>
              <a:t> </a:t>
            </a:r>
            <a:r>
              <a:rPr lang="fr-FR" sz="1400" dirty="0" err="1">
                <a:latin typeface="Arial"/>
                <a:cs typeface="Arial"/>
              </a:rPr>
              <a:t>years</a:t>
            </a:r>
            <a:r>
              <a:rPr lang="fr-FR" sz="1400" dirty="0">
                <a:latin typeface="Arial"/>
                <a:cs typeface="Arial"/>
              </a:rPr>
              <a:t> </a:t>
            </a:r>
            <a:r>
              <a:rPr lang="fr-FR" altLang="ko-KR" sz="1400" dirty="0">
                <a:latin typeface="Arial"/>
                <a:cs typeface="Arial"/>
              </a:rPr>
              <a:t>: </a:t>
            </a:r>
            <a:r>
              <a:rPr lang="en-US" sz="1400" dirty="0">
                <a:cs typeface="Arial"/>
              </a:rPr>
              <a:t>” + </a:t>
            </a:r>
            <a:r>
              <a:rPr lang="en-US" sz="1400" dirty="0" err="1">
                <a:cs typeface="Arial"/>
              </a:rPr>
              <a:t>getAgeInHumanYears</a:t>
            </a:r>
            <a:r>
              <a:rPr lang="en-US" sz="1400" dirty="0">
                <a:cs typeface="Arial"/>
              </a:rPr>
              <a:t>()</a:t>
            </a:r>
            <a:r>
              <a:rPr lang="fr-FR" altLang="ko-KR" sz="1400" dirty="0">
                <a:latin typeface="Arial"/>
                <a:cs typeface="Arial"/>
              </a:rPr>
              <a:t>); </a:t>
            </a:r>
          </a:p>
          <a:p>
            <a:pPr algn="l" eaLnBrk="1" hangingPunct="1"/>
            <a:r>
              <a:rPr lang="fr-FR" altLang="ko-KR" sz="1400" dirty="0">
                <a:latin typeface="Arial"/>
                <a:cs typeface="Arial"/>
              </a:rPr>
              <a:t>	}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public </a:t>
            </a:r>
            <a:r>
              <a:rPr lang="en-US" altLang="ko-KR" sz="1400" dirty="0" err="1">
                <a:latin typeface="Arial"/>
                <a:cs typeface="Arial"/>
              </a:rPr>
              <a:t>int</a:t>
            </a:r>
            <a:r>
              <a:rPr lang="en-US" altLang="ko-KR" sz="1400" dirty="0">
                <a:latin typeface="Arial"/>
                <a:cs typeface="Arial"/>
              </a:rPr>
              <a:t> </a:t>
            </a:r>
            <a:r>
              <a:rPr lang="en-US" altLang="ko-KR" sz="1400" dirty="0" err="1">
                <a:latin typeface="Arial"/>
                <a:cs typeface="Arial"/>
              </a:rPr>
              <a:t>getAgeInHumanYears</a:t>
            </a:r>
            <a:r>
              <a:rPr lang="en-US" altLang="ko-KR" sz="1400" dirty="0">
                <a:latin typeface="Arial"/>
                <a:cs typeface="Arial"/>
              </a:rPr>
              <a:t>() {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	</a:t>
            </a:r>
            <a:r>
              <a:rPr lang="en-US" altLang="ko-KR" sz="1400" dirty="0" err="1">
                <a:latin typeface="Arial"/>
                <a:cs typeface="Arial"/>
              </a:rPr>
              <a:t>int</a:t>
            </a:r>
            <a:r>
              <a:rPr lang="en-US" altLang="ko-KR" sz="1400" dirty="0">
                <a:latin typeface="Arial"/>
                <a:cs typeface="Arial"/>
              </a:rPr>
              <a:t> </a:t>
            </a:r>
            <a:r>
              <a:rPr lang="en-US" altLang="ko-KR" sz="1400" dirty="0" err="1">
                <a:latin typeface="Arial"/>
                <a:cs typeface="Arial"/>
              </a:rPr>
              <a:t>humanAge</a:t>
            </a:r>
            <a:r>
              <a:rPr lang="en-US" altLang="ko-KR" sz="1400" dirty="0">
                <a:latin typeface="Arial"/>
                <a:cs typeface="Arial"/>
              </a:rPr>
              <a:t> = 0;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	if (  age &lt;= 2 ) </a:t>
            </a:r>
            <a:r>
              <a:rPr lang="en-US" altLang="ko-KR" sz="1400" dirty="0" err="1">
                <a:latin typeface="Arial"/>
                <a:cs typeface="Arial"/>
              </a:rPr>
              <a:t>humanAge</a:t>
            </a:r>
            <a:r>
              <a:rPr lang="en-US" altLang="ko-KR" sz="1400" dirty="0">
                <a:latin typeface="Arial"/>
                <a:cs typeface="Arial"/>
              </a:rPr>
              <a:t> = age * 11;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	else </a:t>
            </a:r>
            <a:r>
              <a:rPr lang="en-US" altLang="ko-KR" sz="1400" dirty="0" err="1">
                <a:latin typeface="Arial"/>
                <a:cs typeface="Arial"/>
              </a:rPr>
              <a:t>humanAge</a:t>
            </a:r>
            <a:r>
              <a:rPr lang="en-US" altLang="ko-KR" sz="1400" dirty="0">
                <a:latin typeface="Arial"/>
                <a:cs typeface="Arial"/>
              </a:rPr>
              <a:t> = 22 + ((age-2) + 5);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	return </a:t>
            </a:r>
            <a:r>
              <a:rPr lang="en-US" altLang="ko-KR" sz="1400" dirty="0" err="1">
                <a:latin typeface="Arial"/>
                <a:cs typeface="Arial"/>
              </a:rPr>
              <a:t>humanAge</a:t>
            </a:r>
            <a:r>
              <a:rPr lang="en-US" altLang="ko-KR" sz="1400" dirty="0">
                <a:latin typeface="Arial"/>
                <a:cs typeface="Arial"/>
              </a:rPr>
              <a:t>;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	}</a:t>
            </a:r>
          </a:p>
          <a:p>
            <a:pPr algn="l" eaLnBrk="1" hangingPunct="1"/>
            <a:r>
              <a:rPr lang="en-US" altLang="ko-KR" sz="1400" dirty="0">
                <a:latin typeface="Arial"/>
                <a:cs typeface="Arial"/>
              </a:rPr>
              <a:t>}</a:t>
            </a:r>
          </a:p>
        </p:txBody>
      </p:sp>
      <p:sp>
        <p:nvSpPr>
          <p:cNvPr id="7173" name="오른쪽 대괄호 4"/>
          <p:cNvSpPr>
            <a:spLocks/>
          </p:cNvSpPr>
          <p:nvPr/>
        </p:nvSpPr>
        <p:spPr bwMode="auto">
          <a:xfrm>
            <a:off x="6808861" y="1450949"/>
            <a:ext cx="1129811" cy="476555"/>
          </a:xfrm>
          <a:prstGeom prst="rightBracket">
            <a:avLst>
              <a:gd name="adj" fmla="val 8333"/>
            </a:avLst>
          </a:prstGeom>
          <a:solidFill>
            <a:schemeClr val="bg1">
              <a:alpha val="2588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endParaRPr lang="ko-KR" altLang="en-US" sz="1600">
              <a:latin typeface="Arial"/>
              <a:cs typeface="Arial"/>
            </a:endParaRPr>
          </a:p>
        </p:txBody>
      </p:sp>
      <p:sp>
        <p:nvSpPr>
          <p:cNvPr id="7175" name="오른쪽 대괄호 6"/>
          <p:cNvSpPr>
            <a:spLocks/>
          </p:cNvSpPr>
          <p:nvPr/>
        </p:nvSpPr>
        <p:spPr bwMode="auto">
          <a:xfrm>
            <a:off x="6808861" y="2176490"/>
            <a:ext cx="1129811" cy="2761270"/>
          </a:xfrm>
          <a:prstGeom prst="rightBracket">
            <a:avLst>
              <a:gd name="adj" fmla="val 8339"/>
            </a:avLst>
          </a:prstGeom>
          <a:solidFill>
            <a:schemeClr val="bg1">
              <a:alpha val="2588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7925" tIns="38963" rIns="77925" bIns="38963" anchor="ctr"/>
          <a:lstStyle/>
          <a:p>
            <a:endParaRPr lang="ko-KR" altLang="en-US" sz="1600">
              <a:latin typeface="Arial"/>
              <a:cs typeface="Arial"/>
            </a:endParaRPr>
          </a:p>
        </p:txBody>
      </p:sp>
      <p:sp useBgFill="1">
        <p:nvSpPr>
          <p:cNvPr id="7177" name="설명선 1(강조선) 4"/>
          <p:cNvSpPr>
            <a:spLocks/>
          </p:cNvSpPr>
          <p:nvPr/>
        </p:nvSpPr>
        <p:spPr bwMode="auto">
          <a:xfrm>
            <a:off x="477519" y="1359139"/>
            <a:ext cx="1558193" cy="817351"/>
          </a:xfrm>
          <a:prstGeom prst="accentCallout1">
            <a:avLst>
              <a:gd name="adj1" fmla="val 48394"/>
              <a:gd name="adj2" fmla="val 100338"/>
              <a:gd name="adj3" fmla="val -1384"/>
              <a:gd name="adj4" fmla="val 124444"/>
            </a:avLst>
          </a:prstGeom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7925" tIns="38963" rIns="77925" bIns="38963">
            <a:spAutoFit/>
          </a:bodyPr>
          <a:lstStyle/>
          <a:p>
            <a:pPr marL="54115" lvl="1"/>
            <a:r>
              <a:rPr lang="en-US" altLang="ko-KR" sz="1600" dirty="0">
                <a:latin typeface="Arial"/>
                <a:cs typeface="Arial"/>
              </a:rPr>
              <a:t>Each class can be public or not.</a:t>
            </a:r>
          </a:p>
        </p:txBody>
      </p:sp>
      <p:sp useBgFill="1">
        <p:nvSpPr>
          <p:cNvPr id="7178" name="설명선 1(강조선) 4"/>
          <p:cNvSpPr>
            <a:spLocks/>
          </p:cNvSpPr>
          <p:nvPr/>
        </p:nvSpPr>
        <p:spPr bwMode="auto">
          <a:xfrm>
            <a:off x="497839" y="2424827"/>
            <a:ext cx="1558194" cy="1063572"/>
          </a:xfrm>
          <a:prstGeom prst="accentCallout1">
            <a:avLst>
              <a:gd name="adj1" fmla="val 48394"/>
              <a:gd name="adj2" fmla="val 100338"/>
              <a:gd name="adj3" fmla="val 1833"/>
              <a:gd name="adj4" fmla="val 125769"/>
            </a:avLst>
          </a:prstGeom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7925" tIns="38963" rIns="77925" bIns="38963">
            <a:spAutoFit/>
          </a:bodyPr>
          <a:lstStyle/>
          <a:p>
            <a:pPr marL="54115" lvl="1"/>
            <a:r>
              <a:rPr lang="en-US" altLang="ko-KR" sz="1600" dirty="0">
                <a:latin typeface="Arial"/>
                <a:cs typeface="Arial"/>
              </a:rPr>
              <a:t>Each field and method can be public, private, or protected.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325" y="267335"/>
            <a:ext cx="7707313" cy="488950"/>
          </a:xfrm>
        </p:spPr>
        <p:txBody>
          <a:bodyPr/>
          <a:lstStyle/>
          <a:p>
            <a:r>
              <a:rPr lang="en-US" dirty="0"/>
              <a:t>Class –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38672" y="1344286"/>
            <a:ext cx="10769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Instance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5440" y="3279525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43573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2285804" y="1519568"/>
            <a:ext cx="4968436" cy="284867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7925" tIns="38963" rIns="77925" bIns="38963">
            <a:spAutoFit/>
          </a:bodyPr>
          <a:lstStyle>
            <a:lvl1pPr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1pPr>
            <a:lvl2pPr marL="742950" indent="-28575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2pPr>
            <a:lvl3pPr marL="11430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3pPr>
            <a:lvl4pPr marL="16002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4pPr>
            <a:lvl5pPr marL="20574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9pPr>
          </a:lstStyle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public class </a:t>
            </a:r>
            <a:r>
              <a:rPr lang="en-US" altLang="ko-KR" dirty="0" err="1">
                <a:latin typeface="Arial"/>
                <a:cs typeface="Arial"/>
              </a:rPr>
              <a:t>DogDemo</a:t>
            </a:r>
            <a:r>
              <a:rPr lang="en-US" altLang="ko-KR" dirty="0">
                <a:latin typeface="Arial"/>
                <a:cs typeface="Arial"/>
              </a:rPr>
              <a:t> {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public static void main(String[] </a:t>
            </a:r>
            <a:r>
              <a:rPr lang="en-US" altLang="ko-KR" dirty="0" err="1">
                <a:latin typeface="Arial"/>
                <a:cs typeface="Arial"/>
              </a:rPr>
              <a:t>args</a:t>
            </a:r>
            <a:r>
              <a:rPr lang="en-US" altLang="ko-KR" dirty="0">
                <a:latin typeface="Arial"/>
                <a:cs typeface="Arial"/>
              </a:rPr>
              <a:t>)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{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	Dog </a:t>
            </a:r>
            <a:r>
              <a:rPr lang="en-US" altLang="ko-KR" dirty="0" err="1">
                <a:latin typeface="Arial"/>
                <a:cs typeface="Arial"/>
              </a:rPr>
              <a:t>balto</a:t>
            </a:r>
            <a:r>
              <a:rPr lang="en-US" altLang="ko-KR" dirty="0">
                <a:latin typeface="Arial"/>
                <a:cs typeface="Arial"/>
              </a:rPr>
              <a:t> = new Dog();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	</a:t>
            </a:r>
            <a:r>
              <a:rPr lang="en-US" altLang="ko-KR" dirty="0" err="1">
                <a:latin typeface="Arial"/>
                <a:cs typeface="Arial"/>
              </a:rPr>
              <a:t>balto.name</a:t>
            </a:r>
            <a:r>
              <a:rPr lang="en-US" altLang="ko-KR" dirty="0">
                <a:latin typeface="Arial"/>
                <a:cs typeface="Arial"/>
              </a:rPr>
              <a:t> = “</a:t>
            </a:r>
            <a:r>
              <a:rPr lang="en-US" altLang="ko-KR" dirty="0" err="1">
                <a:latin typeface="Arial"/>
                <a:cs typeface="Arial"/>
              </a:rPr>
              <a:t>Balto</a:t>
            </a:r>
            <a:r>
              <a:rPr lang="en-US" altLang="ko-KR" dirty="0">
                <a:latin typeface="Arial"/>
                <a:cs typeface="Arial"/>
              </a:rPr>
              <a:t>”;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	</a:t>
            </a:r>
            <a:r>
              <a:rPr lang="en-US" altLang="ko-KR" dirty="0" err="1">
                <a:latin typeface="Arial"/>
                <a:cs typeface="Arial"/>
              </a:rPr>
              <a:t>balto.age</a:t>
            </a:r>
            <a:r>
              <a:rPr lang="en-US" altLang="ko-KR" dirty="0">
                <a:latin typeface="Arial"/>
                <a:cs typeface="Arial"/>
              </a:rPr>
              <a:t> = 8;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	</a:t>
            </a:r>
            <a:r>
              <a:rPr lang="en-US" altLang="ko-KR" dirty="0" err="1">
                <a:latin typeface="Arial"/>
                <a:cs typeface="Arial"/>
              </a:rPr>
              <a:t>balto.breed</a:t>
            </a:r>
            <a:r>
              <a:rPr lang="en-US" altLang="ko-KR" dirty="0">
                <a:latin typeface="Arial"/>
                <a:cs typeface="Arial"/>
              </a:rPr>
              <a:t> = “Siberian Husky”;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		</a:t>
            </a:r>
            <a:r>
              <a:rPr lang="en-US" altLang="ko-KR" dirty="0" err="1">
                <a:latin typeface="Arial"/>
                <a:cs typeface="Arial"/>
              </a:rPr>
              <a:t>balto.writeOutput</a:t>
            </a:r>
            <a:r>
              <a:rPr lang="en-US" altLang="ko-KR" dirty="0">
                <a:latin typeface="Arial"/>
                <a:cs typeface="Arial"/>
              </a:rPr>
              <a:t>();</a:t>
            </a:r>
          </a:p>
          <a:p>
            <a:pPr algn="l" eaLnBrk="1" hangingPunct="1"/>
            <a:r>
              <a:rPr lang="fr-FR" altLang="ko-KR" dirty="0">
                <a:latin typeface="Arial"/>
                <a:cs typeface="Arial"/>
              </a:rPr>
              <a:t>	</a:t>
            </a:r>
            <a:r>
              <a:rPr lang="en-US" altLang="ko-KR" dirty="0">
                <a:latin typeface="Arial"/>
                <a:cs typeface="Arial"/>
              </a:rPr>
              <a:t>}</a:t>
            </a:r>
          </a:p>
          <a:p>
            <a:pPr algn="l" eaLnBrk="1" hangingPunct="1"/>
            <a:r>
              <a:rPr lang="en-US" altLang="ko-KR" dirty="0">
                <a:latin typeface="Arial"/>
                <a:cs typeface="Arial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– example using the defined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4992" y="2238366"/>
            <a:ext cx="10769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Object creation</a:t>
            </a:r>
          </a:p>
        </p:txBody>
      </p:sp>
      <p:cxnSp>
        <p:nvCxnSpPr>
          <p:cNvPr id="7" name="Straight Connector 6"/>
          <p:cNvCxnSpPr>
            <a:stCxn id="14" idx="1"/>
          </p:cNvCxnSpPr>
          <p:nvPr/>
        </p:nvCxnSpPr>
        <p:spPr>
          <a:xfrm flipH="1">
            <a:off x="5140960" y="2530754"/>
            <a:ext cx="2564032" cy="0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15152" y="3355966"/>
            <a:ext cx="10769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/>
                <a:cs typeface="Arial"/>
              </a:rPr>
              <a:t>Calling a method</a:t>
            </a:r>
          </a:p>
        </p:txBody>
      </p:sp>
      <p:cxnSp>
        <p:nvCxnSpPr>
          <p:cNvPr id="18" name="Straight Connector 17"/>
          <p:cNvCxnSpPr>
            <a:stCxn id="17" idx="1"/>
          </p:cNvCxnSpPr>
          <p:nvPr/>
        </p:nvCxnSpPr>
        <p:spPr>
          <a:xfrm flipH="1">
            <a:off x="5151120" y="3648354"/>
            <a:ext cx="2564032" cy="0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17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§"/>
            </a:pPr>
            <a:r>
              <a:rPr lang="en-US" altLang="ko-KR" dirty="0">
                <a:latin typeface="Arial"/>
                <a:ea typeface="맑은 고딕" charset="0"/>
                <a:cs typeface="Arial"/>
              </a:rPr>
              <a:t>A class consists of instance variables (fields) and methods(functions)</a:t>
            </a:r>
          </a:p>
          <a:p>
            <a:pPr>
              <a:buFont typeface="Wingdings" charset="2"/>
              <a:buChar char="§"/>
            </a:pPr>
            <a:r>
              <a:rPr lang="en-US" altLang="ko-KR" dirty="0">
                <a:latin typeface="Arial"/>
                <a:ea typeface="맑은 고딕" charset="0"/>
                <a:cs typeface="Arial"/>
              </a:rPr>
              <a:t>“new” is a unary operator to create objects of a class </a:t>
            </a:r>
          </a:p>
          <a:p>
            <a:pPr>
              <a:buFont typeface="Wingdings" charset="2"/>
              <a:buChar char="§"/>
            </a:pPr>
            <a:r>
              <a:rPr lang="en-US" altLang="ko-KR" dirty="0">
                <a:latin typeface="Arial"/>
                <a:ea typeface="맑은 고딕" charset="0"/>
                <a:cs typeface="Arial"/>
              </a:rPr>
              <a:t>All the methods should be implemented within the class</a:t>
            </a:r>
            <a:endParaRPr lang="ko-KR" altLang="en-US" dirty="0">
              <a:latin typeface="Arial"/>
              <a:ea typeface="맑은 고딕" charset="0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– summary</a:t>
            </a:r>
          </a:p>
        </p:txBody>
      </p:sp>
    </p:spTree>
    <p:extLst>
      <p:ext uri="{BB962C8B-B14F-4D97-AF65-F5344CB8AC3E}">
        <p14:creationId xmlns:p14="http://schemas.microsoft.com/office/powerpoint/2010/main" val="624968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Methods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Calling a method that returns a single value or object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Use anywhere a value can be used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Calling a void method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Resulting statement performs the action defined by the method</a:t>
            </a:r>
          </a:p>
        </p:txBody>
      </p:sp>
    </p:spTree>
    <p:extLst>
      <p:ext uri="{BB962C8B-B14F-4D97-AF65-F5344CB8AC3E}">
        <p14:creationId xmlns:p14="http://schemas.microsoft.com/office/powerpoint/2010/main" val="249802890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void</a:t>
            </a:r>
            <a:r>
              <a:rPr lang="en-US" dirty="0">
                <a:cs typeface="Arial"/>
              </a:rPr>
              <a:t> Methods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17600"/>
            <a:ext cx="7707862" cy="351512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Consider method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writeOutput</a:t>
            </a:r>
            <a:r>
              <a:rPr lang="en-US" sz="2000" dirty="0">
                <a:cs typeface="Arial"/>
              </a:rPr>
              <a:t> from the example </a:t>
            </a:r>
            <a:br>
              <a:rPr lang="en-US" sz="2000" dirty="0">
                <a:cs typeface="Arial"/>
              </a:rPr>
            </a:br>
            <a:endParaRPr lang="en-US" sz="2000" dirty="0">
              <a:cs typeface="Arial"/>
            </a:endParaRPr>
          </a:p>
          <a:p>
            <a:pPr marL="0" indent="0" eaLnBrk="1" hangingPunct="1"/>
            <a:endParaRPr lang="en-US" sz="2000" dirty="0">
              <a:cs typeface="Arial"/>
            </a:endParaRPr>
          </a:p>
          <a:p>
            <a:pPr marL="0" indent="0" eaLnBrk="1" hangingPunct="1"/>
            <a:endParaRPr lang="en-US" sz="2000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endParaRPr lang="en-US" sz="2000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endParaRPr lang="en-US" sz="2000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Method definitions appear inside class definition</a:t>
            </a:r>
          </a:p>
          <a:p>
            <a:pPr lvl="2" eaLnBrk="1" hangingPunct="1"/>
            <a:r>
              <a:rPr lang="en-US" dirty="0">
                <a:cs typeface="Arial"/>
              </a:rPr>
              <a:t>Can be used only with objects of that class</a:t>
            </a:r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658" y="1603376"/>
            <a:ext cx="51816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2476145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void</a:t>
            </a:r>
            <a:r>
              <a:rPr lang="en-US" dirty="0">
                <a:cs typeface="Arial"/>
              </a:rPr>
              <a:t> Methods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7777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Most method definitions we will see as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public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Method does not return a value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Specified as a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void</a:t>
            </a:r>
            <a:r>
              <a:rPr lang="en-US" sz="2000" dirty="0">
                <a:cs typeface="Arial"/>
              </a:rPr>
              <a:t> method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Heading includes parameters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Body enclosed in braces 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{  }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Think of method as defining an action to be taken</a:t>
            </a:r>
          </a:p>
        </p:txBody>
      </p:sp>
    </p:spTree>
    <p:extLst>
      <p:ext uri="{BB962C8B-B14F-4D97-AF65-F5344CB8AC3E}">
        <p14:creationId xmlns:p14="http://schemas.microsoft.com/office/powerpoint/2010/main" val="1073416894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Methods That Return a Value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040607"/>
            <a:ext cx="7707862" cy="3627835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Consider method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getAgeInHumanYears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( )</a:t>
            </a:r>
            <a:r>
              <a:rPr lang="en-US" dirty="0">
                <a:cs typeface="Arial"/>
              </a:rPr>
              <a:t> </a:t>
            </a:r>
          </a:p>
          <a:p>
            <a:pPr eaLnBrk="1" hangingPunct="1">
              <a:buFont typeface="Wingdings" charset="2"/>
              <a:buChar char="v"/>
            </a:pPr>
            <a:endParaRPr lang="en-US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endParaRPr lang="en-US" dirty="0">
              <a:cs typeface="Arial"/>
            </a:endParaRPr>
          </a:p>
          <a:p>
            <a:pPr marL="0" indent="0" eaLnBrk="1" hangingPunct="1"/>
            <a:endParaRPr lang="en-US" dirty="0">
              <a:cs typeface="Arial"/>
            </a:endParaRPr>
          </a:p>
          <a:p>
            <a:pPr marL="0" indent="0" eaLnBrk="1" hangingPunct="1"/>
            <a:endParaRPr lang="en-US" dirty="0">
              <a:cs typeface="Arial"/>
            </a:endParaRPr>
          </a:p>
          <a:p>
            <a:pPr marL="0" indent="0" eaLnBrk="1" hangingPunct="1"/>
            <a:endParaRPr lang="en-US" dirty="0">
              <a:cs typeface="Arial"/>
            </a:endParaRPr>
          </a:p>
          <a:p>
            <a:pPr marL="0" indent="0" eaLnBrk="1" hangingPunct="1"/>
            <a:endParaRPr lang="en-US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endParaRPr lang="en-US" dirty="0"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Heading declares type of value to be returned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Last statement executed is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return</a:t>
            </a:r>
          </a:p>
        </p:txBody>
      </p:sp>
      <p:pic>
        <p:nvPicPr>
          <p:cNvPr id="1843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6" y="1459230"/>
            <a:ext cx="3895725" cy="2121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8437" name="Line 13"/>
          <p:cNvSpPr>
            <a:spLocks noChangeShapeType="1"/>
          </p:cNvSpPr>
          <p:nvPr/>
        </p:nvSpPr>
        <p:spPr bwMode="auto">
          <a:xfrm flipV="1">
            <a:off x="1401129" y="1678385"/>
            <a:ext cx="827087" cy="19228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Line 14"/>
          <p:cNvSpPr>
            <a:spLocks noChangeShapeType="1"/>
          </p:cNvSpPr>
          <p:nvPr/>
        </p:nvSpPr>
        <p:spPr bwMode="auto">
          <a:xfrm flipH="1" flipV="1">
            <a:off x="3549968" y="3430985"/>
            <a:ext cx="817562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736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Keyword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this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36668" y="867886"/>
            <a:ext cx="7738024" cy="497839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Referring a name for the object receiving the method call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55324" y="1428128"/>
            <a:ext cx="4968436" cy="155601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7925" tIns="38963" rIns="77925" bIns="38963">
            <a:spAutoFit/>
          </a:bodyPr>
          <a:lstStyle>
            <a:lvl1pPr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1pPr>
            <a:lvl2pPr marL="742950" indent="-28575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2pPr>
            <a:lvl3pPr marL="11430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3pPr>
            <a:lvl4pPr marL="16002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4pPr>
            <a:lvl5pPr marL="20574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9pPr>
          </a:lstStyle>
          <a:p>
            <a:pPr eaLnBrk="1" hangingPunct="1"/>
            <a:r>
              <a:rPr lang="en-US" altLang="ko-KR" sz="1600" dirty="0">
                <a:latin typeface="Arial"/>
                <a:cs typeface="Arial"/>
              </a:rPr>
              <a:t>public void </a:t>
            </a:r>
            <a:r>
              <a:rPr lang="en-US" altLang="ko-KR" sz="1600" dirty="0" err="1">
                <a:latin typeface="Arial"/>
                <a:cs typeface="Arial"/>
              </a:rPr>
              <a:t>writeOutput</a:t>
            </a:r>
            <a:r>
              <a:rPr lang="en-US" altLang="ko-KR" sz="1600" dirty="0">
                <a:latin typeface="Arial"/>
                <a:cs typeface="Arial"/>
              </a:rPr>
              <a:t>() {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		</a:t>
            </a:r>
            <a:r>
              <a:rPr lang="fr-FR" altLang="ko-KR" sz="1600" dirty="0" err="1">
                <a:latin typeface="Arial"/>
                <a:cs typeface="Arial"/>
              </a:rPr>
              <a:t>System.out.println</a:t>
            </a:r>
            <a:r>
              <a:rPr lang="fr-FR" altLang="ko-KR" sz="1600" dirty="0">
                <a:latin typeface="Arial"/>
                <a:cs typeface="Arial"/>
              </a:rPr>
              <a:t>(</a:t>
            </a:r>
            <a:r>
              <a:rPr lang="en-US" sz="1600" dirty="0">
                <a:cs typeface="Arial"/>
              </a:rPr>
              <a:t>“</a:t>
            </a:r>
            <a:r>
              <a:rPr lang="fr-FR" altLang="ko-KR" sz="1600" dirty="0">
                <a:latin typeface="Arial"/>
                <a:cs typeface="Arial"/>
              </a:rPr>
              <a:t>Name: </a:t>
            </a:r>
            <a:r>
              <a:rPr lang="en-US" sz="1600" dirty="0">
                <a:cs typeface="Arial"/>
              </a:rPr>
              <a:t>” + name</a:t>
            </a:r>
            <a:r>
              <a:rPr lang="fr-FR" altLang="ko-KR" sz="16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		</a:t>
            </a:r>
            <a:r>
              <a:rPr lang="fr-FR" altLang="ko-KR" sz="1600" dirty="0" err="1">
                <a:latin typeface="Arial"/>
                <a:cs typeface="Arial"/>
              </a:rPr>
              <a:t>System.out.println</a:t>
            </a:r>
            <a:r>
              <a:rPr lang="fr-FR" altLang="ko-KR" sz="1600" dirty="0">
                <a:latin typeface="Arial"/>
                <a:cs typeface="Arial"/>
              </a:rPr>
              <a:t>(</a:t>
            </a:r>
            <a:r>
              <a:rPr lang="en-US" sz="1600" dirty="0">
                <a:cs typeface="Arial"/>
              </a:rPr>
              <a:t>“</a:t>
            </a:r>
            <a:r>
              <a:rPr lang="fr-FR" sz="1600" dirty="0" err="1">
                <a:latin typeface="Arial"/>
                <a:cs typeface="Arial"/>
              </a:rPr>
              <a:t>Breed</a:t>
            </a:r>
            <a:r>
              <a:rPr lang="fr-FR" altLang="ko-KR" sz="1600" dirty="0">
                <a:latin typeface="Arial"/>
                <a:cs typeface="Arial"/>
              </a:rPr>
              <a:t>: </a:t>
            </a:r>
            <a:r>
              <a:rPr lang="en-US" sz="1600" dirty="0">
                <a:cs typeface="Arial"/>
              </a:rPr>
              <a:t>” + breed</a:t>
            </a:r>
            <a:r>
              <a:rPr lang="fr-FR" altLang="ko-KR" sz="16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		</a:t>
            </a:r>
            <a:r>
              <a:rPr lang="fr-FR" altLang="ko-KR" sz="1600" dirty="0" err="1">
                <a:latin typeface="Arial"/>
                <a:cs typeface="Arial"/>
              </a:rPr>
              <a:t>System.out.println</a:t>
            </a:r>
            <a:r>
              <a:rPr lang="fr-FR" altLang="ko-KR" sz="1600" dirty="0">
                <a:latin typeface="Arial"/>
                <a:cs typeface="Arial"/>
              </a:rPr>
              <a:t>(</a:t>
            </a:r>
            <a:r>
              <a:rPr lang="en-US" sz="1600" dirty="0">
                <a:cs typeface="Arial"/>
              </a:rPr>
              <a:t>“</a:t>
            </a:r>
            <a:r>
              <a:rPr lang="fr-FR" sz="1600" dirty="0">
                <a:latin typeface="Arial"/>
                <a:cs typeface="Arial"/>
              </a:rPr>
              <a:t>Age in </a:t>
            </a:r>
            <a:r>
              <a:rPr lang="fr-FR" sz="1600" dirty="0" err="1">
                <a:latin typeface="Arial"/>
                <a:cs typeface="Arial"/>
              </a:rPr>
              <a:t>calendar</a:t>
            </a:r>
            <a:r>
              <a:rPr lang="fr-FR" sz="1600" dirty="0">
                <a:latin typeface="Arial"/>
                <a:cs typeface="Arial"/>
              </a:rPr>
              <a:t> </a:t>
            </a:r>
            <a:r>
              <a:rPr lang="fr-FR" sz="1600" dirty="0" err="1">
                <a:latin typeface="Arial"/>
                <a:cs typeface="Arial"/>
              </a:rPr>
              <a:t>years</a:t>
            </a:r>
            <a:r>
              <a:rPr lang="fr-FR" sz="1600" dirty="0">
                <a:latin typeface="Arial"/>
                <a:cs typeface="Arial"/>
              </a:rPr>
              <a:t> </a:t>
            </a:r>
            <a:r>
              <a:rPr lang="fr-FR" altLang="ko-KR" sz="1600" dirty="0">
                <a:latin typeface="Arial"/>
                <a:cs typeface="Arial"/>
              </a:rPr>
              <a:t>: </a:t>
            </a:r>
            <a:r>
              <a:rPr lang="en-US" sz="1600" dirty="0">
                <a:cs typeface="Arial"/>
              </a:rPr>
              <a:t>” + age</a:t>
            </a:r>
            <a:r>
              <a:rPr lang="fr-FR" altLang="ko-KR" sz="16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}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255324" y="3327267"/>
            <a:ext cx="4968436" cy="158679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7925" tIns="38963" rIns="77925" bIns="38963">
            <a:spAutoFit/>
          </a:bodyPr>
          <a:lstStyle>
            <a:lvl1pPr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1pPr>
            <a:lvl2pPr marL="742950" indent="-28575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2pPr>
            <a:lvl3pPr marL="11430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3pPr>
            <a:lvl4pPr marL="16002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4pPr>
            <a:lvl5pPr marL="2057400" indent="-228600" eaLnBrk="0" hangingPunct="0"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74625" algn="l"/>
                <a:tab pos="339725" algn="l"/>
                <a:tab pos="514350" algn="l"/>
                <a:tab pos="739775" algn="l"/>
              </a:tabLst>
              <a:defRPr>
                <a:solidFill>
                  <a:schemeClr val="tx1"/>
                </a:solidFill>
                <a:latin typeface="Arial" charset="0"/>
                <a:ea typeface="굴림" charset="0"/>
                <a:cs typeface="굴림" charset="0"/>
              </a:defRPr>
            </a:lvl9pPr>
          </a:lstStyle>
          <a:p>
            <a:pPr eaLnBrk="1" hangingPunct="1"/>
            <a:r>
              <a:rPr lang="en-US" altLang="ko-KR" sz="1600" dirty="0">
                <a:latin typeface="Arial"/>
                <a:cs typeface="Arial"/>
              </a:rPr>
              <a:t>public void </a:t>
            </a:r>
            <a:r>
              <a:rPr lang="en-US" altLang="ko-KR" sz="1600" dirty="0" err="1">
                <a:latin typeface="Arial"/>
                <a:cs typeface="Arial"/>
              </a:rPr>
              <a:t>writeOutput</a:t>
            </a:r>
            <a:r>
              <a:rPr lang="en-US" altLang="ko-KR" sz="1600" dirty="0">
                <a:latin typeface="Arial"/>
                <a:cs typeface="Arial"/>
              </a:rPr>
              <a:t>() {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		</a:t>
            </a:r>
            <a:r>
              <a:rPr lang="fr-FR" altLang="ko-KR" sz="1600" dirty="0" err="1">
                <a:latin typeface="Arial"/>
                <a:cs typeface="Arial"/>
              </a:rPr>
              <a:t>System.out.println</a:t>
            </a:r>
            <a:r>
              <a:rPr lang="fr-FR" altLang="ko-KR" sz="1600" dirty="0">
                <a:latin typeface="Arial"/>
                <a:cs typeface="Arial"/>
              </a:rPr>
              <a:t>(</a:t>
            </a:r>
            <a:r>
              <a:rPr lang="en-US" sz="1600" dirty="0">
                <a:cs typeface="Arial"/>
              </a:rPr>
              <a:t>“</a:t>
            </a:r>
            <a:r>
              <a:rPr lang="fr-FR" altLang="ko-KR" sz="1600" dirty="0">
                <a:latin typeface="Arial"/>
                <a:cs typeface="Arial"/>
              </a:rPr>
              <a:t>Name: </a:t>
            </a:r>
            <a:r>
              <a:rPr lang="en-US" sz="1600" dirty="0">
                <a:cs typeface="Arial"/>
              </a:rPr>
              <a:t>” + </a:t>
            </a:r>
            <a:r>
              <a:rPr lang="en-US" sz="1600" b="1" dirty="0" err="1">
                <a:solidFill>
                  <a:schemeClr val="accent2"/>
                </a:solidFill>
                <a:cs typeface="Arial"/>
              </a:rPr>
              <a:t>this.</a:t>
            </a:r>
            <a:r>
              <a:rPr lang="en-US" sz="1600" dirty="0" err="1">
                <a:cs typeface="Arial"/>
              </a:rPr>
              <a:t>name</a:t>
            </a:r>
            <a:r>
              <a:rPr lang="fr-FR" altLang="ko-KR" sz="16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		</a:t>
            </a:r>
            <a:r>
              <a:rPr lang="fr-FR" altLang="ko-KR" sz="1600" dirty="0" err="1">
                <a:latin typeface="Arial"/>
                <a:cs typeface="Arial"/>
              </a:rPr>
              <a:t>System.out.println</a:t>
            </a:r>
            <a:r>
              <a:rPr lang="fr-FR" altLang="ko-KR" sz="1600" dirty="0">
                <a:latin typeface="Arial"/>
                <a:cs typeface="Arial"/>
              </a:rPr>
              <a:t>(</a:t>
            </a:r>
            <a:r>
              <a:rPr lang="en-US" sz="1600" dirty="0">
                <a:cs typeface="Arial"/>
              </a:rPr>
              <a:t>“</a:t>
            </a:r>
            <a:r>
              <a:rPr lang="fr-FR" sz="1600" dirty="0" err="1">
                <a:latin typeface="Arial"/>
                <a:cs typeface="Arial"/>
              </a:rPr>
              <a:t>Breed</a:t>
            </a:r>
            <a:r>
              <a:rPr lang="fr-FR" altLang="ko-KR" sz="1600" dirty="0">
                <a:latin typeface="Arial"/>
                <a:cs typeface="Arial"/>
              </a:rPr>
              <a:t>: </a:t>
            </a:r>
            <a:r>
              <a:rPr lang="en-US" sz="1600" dirty="0">
                <a:cs typeface="Arial"/>
              </a:rPr>
              <a:t>” + </a:t>
            </a:r>
            <a:r>
              <a:rPr lang="en-US" sz="1600" b="1" dirty="0" err="1">
                <a:solidFill>
                  <a:schemeClr val="accent2"/>
                </a:solidFill>
                <a:cs typeface="Arial"/>
              </a:rPr>
              <a:t>this.</a:t>
            </a:r>
            <a:r>
              <a:rPr lang="en-US" sz="1600" dirty="0" err="1">
                <a:cs typeface="Arial"/>
              </a:rPr>
              <a:t>breed</a:t>
            </a:r>
            <a:r>
              <a:rPr lang="fr-FR" altLang="ko-KR" sz="16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		</a:t>
            </a:r>
            <a:r>
              <a:rPr lang="fr-FR" altLang="ko-KR" sz="1600" dirty="0" err="1">
                <a:latin typeface="Arial"/>
                <a:cs typeface="Arial"/>
              </a:rPr>
              <a:t>System.out.println</a:t>
            </a:r>
            <a:r>
              <a:rPr lang="fr-FR" altLang="ko-KR" sz="1600" dirty="0">
                <a:latin typeface="Arial"/>
                <a:cs typeface="Arial"/>
              </a:rPr>
              <a:t>(</a:t>
            </a:r>
            <a:r>
              <a:rPr lang="en-US" sz="1600" dirty="0">
                <a:cs typeface="Arial"/>
              </a:rPr>
              <a:t>“</a:t>
            </a:r>
            <a:r>
              <a:rPr lang="fr-FR" sz="1600" dirty="0">
                <a:latin typeface="Arial"/>
                <a:cs typeface="Arial"/>
              </a:rPr>
              <a:t>Age in </a:t>
            </a:r>
            <a:r>
              <a:rPr lang="fr-FR" sz="1600" dirty="0" err="1">
                <a:latin typeface="Arial"/>
                <a:cs typeface="Arial"/>
              </a:rPr>
              <a:t>calendar</a:t>
            </a:r>
            <a:r>
              <a:rPr lang="fr-FR" sz="1600" dirty="0">
                <a:latin typeface="Arial"/>
                <a:cs typeface="Arial"/>
              </a:rPr>
              <a:t> </a:t>
            </a:r>
            <a:r>
              <a:rPr lang="fr-FR" sz="1600" dirty="0" err="1">
                <a:latin typeface="Arial"/>
                <a:cs typeface="Arial"/>
              </a:rPr>
              <a:t>years</a:t>
            </a:r>
            <a:r>
              <a:rPr lang="fr-FR" sz="1600" dirty="0">
                <a:latin typeface="Arial"/>
                <a:cs typeface="Arial"/>
              </a:rPr>
              <a:t> </a:t>
            </a:r>
            <a:r>
              <a:rPr lang="fr-FR" altLang="ko-KR" sz="1600" dirty="0">
                <a:latin typeface="Arial"/>
                <a:cs typeface="Arial"/>
              </a:rPr>
              <a:t>: </a:t>
            </a:r>
            <a:r>
              <a:rPr lang="en-US" sz="1600" dirty="0">
                <a:cs typeface="Arial"/>
              </a:rPr>
              <a:t>” + </a:t>
            </a:r>
            <a:r>
              <a:rPr lang="en-US" sz="1600" b="1" dirty="0" err="1">
                <a:solidFill>
                  <a:schemeClr val="accent2"/>
                </a:solidFill>
                <a:cs typeface="Arial"/>
              </a:rPr>
              <a:t>this.</a:t>
            </a:r>
            <a:r>
              <a:rPr lang="en-US" sz="1600" dirty="0" err="1">
                <a:cs typeface="Arial"/>
              </a:rPr>
              <a:t>age</a:t>
            </a:r>
            <a:r>
              <a:rPr lang="fr-FR" altLang="ko-KR" sz="1600" dirty="0">
                <a:latin typeface="Arial"/>
                <a:cs typeface="Arial"/>
              </a:rPr>
              <a:t>); </a:t>
            </a:r>
          </a:p>
          <a:p>
            <a:pPr eaLnBrk="1" hangingPunct="1"/>
            <a:r>
              <a:rPr lang="fr-FR" altLang="ko-KR" sz="1600" dirty="0">
                <a:latin typeface="Arial"/>
                <a:cs typeface="Arial"/>
              </a:rPr>
              <a:t>}</a:t>
            </a:r>
          </a:p>
        </p:txBody>
      </p:sp>
      <p:sp>
        <p:nvSpPr>
          <p:cNvPr id="2" name="Down Arrow 1"/>
          <p:cNvSpPr/>
          <p:nvPr/>
        </p:nvSpPr>
        <p:spPr>
          <a:xfrm>
            <a:off x="4500880" y="3027680"/>
            <a:ext cx="304800" cy="24878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8765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Keyword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this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7777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Inside the class the unnamed object can be referred to with the name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this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 Example</a:t>
            </a:r>
            <a:br>
              <a:rPr lang="en-US" sz="2000" dirty="0">
                <a:cs typeface="Arial"/>
              </a:rPr>
            </a:br>
            <a:r>
              <a:rPr lang="en-US" sz="2000" dirty="0">
                <a:cs typeface="Arial"/>
              </a:rPr>
              <a:t>    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this.name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keyboard.nextLine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The keyword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this</a:t>
            </a:r>
            <a:r>
              <a:rPr lang="en-US" sz="2000" dirty="0">
                <a:cs typeface="Arial"/>
              </a:rPr>
              <a:t> stands for the receiving object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We </a:t>
            </a:r>
            <a:r>
              <a:rPr lang="en-US" sz="2000">
                <a:cs typeface="Arial"/>
              </a:rPr>
              <a:t>will see </a:t>
            </a:r>
            <a:r>
              <a:rPr lang="en-US" sz="2000" dirty="0">
                <a:cs typeface="Arial"/>
              </a:rPr>
              <a:t>some situations later that require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this</a:t>
            </a:r>
          </a:p>
        </p:txBody>
      </p:sp>
    </p:spTree>
    <p:extLst>
      <p:ext uri="{BB962C8B-B14F-4D97-AF65-F5344CB8AC3E}">
        <p14:creationId xmlns:p14="http://schemas.microsoft.com/office/powerpoint/2010/main" val="227037934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Local Variables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3167"/>
            <a:ext cx="7738024" cy="3555206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Variables declared inside a method are called </a:t>
            </a:r>
            <a:r>
              <a:rPr lang="en-US" sz="2000" i="1" dirty="0">
                <a:cs typeface="Arial"/>
              </a:rPr>
              <a:t>local</a:t>
            </a:r>
            <a:r>
              <a:rPr lang="en-US" sz="2000" dirty="0">
                <a:cs typeface="Arial"/>
              </a:rPr>
              <a:t> variables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May be used only inside the method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All variables declared in method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main</a:t>
            </a:r>
            <a:r>
              <a:rPr lang="en-US" sz="2000" dirty="0">
                <a:cs typeface="Arial"/>
              </a:rPr>
              <a:t> are local to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main</a:t>
            </a:r>
            <a:r>
              <a:rPr lang="en-US" sz="2000" dirty="0">
                <a:cs typeface="Arial"/>
              </a:rPr>
              <a:t> 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Local variables having the same name and declared in different methods are different variables</a:t>
            </a:r>
          </a:p>
          <a:p>
            <a:pPr marL="571500" indent="-571500" eaLnBrk="1" hangingPunct="1">
              <a:buFont typeface="Wingdings" charset="2"/>
              <a:buChar char="v"/>
            </a:pPr>
            <a:endParaRPr lang="en-US" sz="2000" b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226364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Local Variables –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public class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BankAccount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{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	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newAmount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= 0;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}</a:t>
            </a:r>
          </a:p>
          <a:p>
            <a:pPr eaLnBrk="1" hangingPunct="1"/>
            <a:endParaRPr lang="en-US" b="1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public class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LocalVariablesDemoProgram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{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	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int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newAmount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= 0;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}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>
              <a:buFont typeface="Wingdings" charset="2"/>
              <a:buChar char="§"/>
            </a:pPr>
            <a:r>
              <a:rPr lang="en-US" dirty="0">
                <a:cs typeface="Arial"/>
              </a:rPr>
              <a:t>Two different variables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newAmount</a:t>
            </a:r>
            <a:endParaRPr lang="en-US" b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0123237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Blocks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81100"/>
            <a:ext cx="7738024" cy="3496866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Recall compound statements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Enclosed in braces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{</a:t>
            </a:r>
            <a:r>
              <a:rPr lang="en-US" sz="2000" dirty="0">
                <a:cs typeface="Arial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}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When you declare a variable within a compound statement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The compound statement is called a </a:t>
            </a:r>
            <a:r>
              <a:rPr lang="en-US" sz="2000" i="1" dirty="0">
                <a:cs typeface="Arial"/>
              </a:rPr>
              <a:t>block</a:t>
            </a:r>
            <a:endParaRPr lang="en-US" sz="2000" dirty="0">
              <a:cs typeface="Arial"/>
            </a:endParaRP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The scope of the variable is from its declaration to the end of the block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Variable declared outside the block usable both outside and inside the block</a:t>
            </a:r>
          </a:p>
        </p:txBody>
      </p:sp>
    </p:spTree>
    <p:extLst>
      <p:ext uri="{BB962C8B-B14F-4D97-AF65-F5344CB8AC3E}">
        <p14:creationId xmlns:p14="http://schemas.microsoft.com/office/powerpoint/2010/main" val="4281599600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Parameters of Primitive Type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069182"/>
            <a:ext cx="7707862" cy="359926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Note the declaration</a:t>
            </a:r>
            <a:br>
              <a:rPr lang="en-US" dirty="0">
                <a:cs typeface="Arial"/>
              </a:rPr>
            </a:br>
            <a:r>
              <a:rPr lang="en-US" b="1" dirty="0">
                <a:solidFill>
                  <a:schemeClr val="accent2"/>
                </a:solidFill>
                <a:cs typeface="Arial"/>
              </a:rPr>
              <a:t>public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predictPopulation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years)</a:t>
            </a:r>
          </a:p>
          <a:p>
            <a:pPr lvl="2" eaLnBrk="1" hangingPunct="1"/>
            <a:r>
              <a:rPr lang="en-US" dirty="0">
                <a:cs typeface="Arial"/>
              </a:rPr>
              <a:t>The </a:t>
            </a:r>
            <a:r>
              <a:rPr lang="en-US" i="1" dirty="0">
                <a:cs typeface="Arial"/>
              </a:rPr>
              <a:t>formal</a:t>
            </a:r>
            <a:r>
              <a:rPr lang="en-US" dirty="0">
                <a:cs typeface="Arial"/>
              </a:rPr>
              <a:t> parameter is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years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Calling the method</a:t>
            </a:r>
            <a:br>
              <a:rPr lang="en-US" dirty="0">
                <a:cs typeface="Arial"/>
              </a:rPr>
            </a:br>
            <a:r>
              <a:rPr lang="en-US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futurePopulation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=</a:t>
            </a:r>
            <a:r>
              <a:rPr lang="en-US" dirty="0">
                <a:cs typeface="Arial"/>
              </a:rPr>
              <a:t>   </a:t>
            </a:r>
            <a:br>
              <a:rPr lang="en-US" dirty="0">
                <a:cs typeface="Arial"/>
              </a:rPr>
            </a:br>
            <a:r>
              <a:rPr lang="en-US" dirty="0">
                <a:cs typeface="Arial"/>
              </a:rPr>
              <a:t>  </a:t>
            </a:r>
            <a:r>
              <a:rPr lang="en-US" b="1" dirty="0" err="1">
                <a:solidFill>
                  <a:schemeClr val="accent2"/>
                </a:solidFill>
                <a:cs typeface="Arial"/>
              </a:rPr>
              <a:t>speciesOfTheMonth.predictPopulation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(10);</a:t>
            </a:r>
          </a:p>
          <a:p>
            <a:pPr lvl="2" eaLnBrk="1" hangingPunct="1"/>
            <a:r>
              <a:rPr lang="en-US" dirty="0">
                <a:cs typeface="Arial"/>
              </a:rPr>
              <a:t>The </a:t>
            </a:r>
            <a:r>
              <a:rPr lang="en-US" i="1" dirty="0">
                <a:cs typeface="Arial"/>
              </a:rPr>
              <a:t>actual</a:t>
            </a:r>
            <a:r>
              <a:rPr lang="en-US" dirty="0">
                <a:cs typeface="Arial"/>
              </a:rPr>
              <a:t> parameter is the integer 10</a:t>
            </a:r>
          </a:p>
        </p:txBody>
      </p:sp>
    </p:spTree>
    <p:extLst>
      <p:ext uri="{BB962C8B-B14F-4D97-AF65-F5344CB8AC3E}">
        <p14:creationId xmlns:p14="http://schemas.microsoft.com/office/powerpoint/2010/main" val="1910939097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Parameters of Primitive Type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59840"/>
            <a:ext cx="7707862" cy="337288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Parameter names are local to the method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When method invoked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Each parameter initialized to value in corresponding actual parameter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Primitive actual parameter cannot be altered by invocation of the method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Automatic type conversion performed</a:t>
            </a:r>
            <a:br>
              <a:rPr lang="en-US" sz="2000" dirty="0"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byte -&gt; short -&gt;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-&gt; 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      long -&gt; float -&gt; double</a:t>
            </a:r>
          </a:p>
        </p:txBody>
      </p:sp>
    </p:spTree>
    <p:extLst>
      <p:ext uri="{BB962C8B-B14F-4D97-AF65-F5344CB8AC3E}">
        <p14:creationId xmlns:p14="http://schemas.microsoft.com/office/powerpoint/2010/main" val="3194708476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Exercise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59840"/>
            <a:ext cx="7707862" cy="337288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Define class “Species” with instance variables name (String), population (</a:t>
            </a:r>
            <a:r>
              <a:rPr lang="en-US" sz="2000" dirty="0" err="1">
                <a:cs typeface="Arial"/>
              </a:rPr>
              <a:t>int</a:t>
            </a:r>
            <a:r>
              <a:rPr lang="en-US" sz="2000" dirty="0">
                <a:cs typeface="Arial"/>
              </a:rPr>
              <a:t>), and </a:t>
            </a:r>
            <a:r>
              <a:rPr lang="en-US" sz="2000" dirty="0" err="1">
                <a:cs typeface="Arial"/>
              </a:rPr>
              <a:t>growthRate</a:t>
            </a:r>
            <a:r>
              <a:rPr lang="en-US" sz="2000" dirty="0">
                <a:cs typeface="Arial"/>
              </a:rPr>
              <a:t> (double)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Write three methods as follows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public void </a:t>
            </a:r>
            <a:r>
              <a:rPr lang="en-US" sz="2000" dirty="0" err="1">
                <a:cs typeface="Arial"/>
              </a:rPr>
              <a:t>readInput</a:t>
            </a:r>
            <a:r>
              <a:rPr lang="en-US" sz="2000" dirty="0">
                <a:cs typeface="Arial"/>
              </a:rPr>
              <a:t>(): input the values for three variables from the keyboard   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public void </a:t>
            </a:r>
            <a:r>
              <a:rPr lang="en-US" sz="2000" dirty="0" err="1">
                <a:cs typeface="Arial"/>
              </a:rPr>
              <a:t>writeOutput</a:t>
            </a:r>
            <a:r>
              <a:rPr lang="en-US" sz="2000" dirty="0">
                <a:cs typeface="Arial"/>
              </a:rPr>
              <a:t>(): output three values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public </a:t>
            </a:r>
            <a:r>
              <a:rPr lang="en-US" sz="2000" dirty="0" err="1">
                <a:cs typeface="Arial"/>
              </a:rPr>
              <a:t>int</a:t>
            </a:r>
            <a:r>
              <a:rPr lang="en-US" sz="2000" dirty="0">
                <a:cs typeface="Arial"/>
              </a:rPr>
              <a:t> </a:t>
            </a:r>
            <a:r>
              <a:rPr lang="en-US" sz="2000" dirty="0" err="1">
                <a:cs typeface="Arial"/>
              </a:rPr>
              <a:t>getPopulationIn</a:t>
            </a:r>
            <a:r>
              <a:rPr lang="en-US" sz="2000" dirty="0">
                <a:cs typeface="Arial"/>
              </a:rPr>
              <a:t>(</a:t>
            </a:r>
            <a:r>
              <a:rPr lang="en-US" sz="2000" dirty="0" err="1">
                <a:cs typeface="Arial"/>
              </a:rPr>
              <a:t>int</a:t>
            </a:r>
            <a:r>
              <a:rPr lang="en-US" sz="2000" dirty="0">
                <a:cs typeface="Arial"/>
              </a:rPr>
              <a:t> years): return the projected population of the receiving object after the specified number of years</a:t>
            </a:r>
          </a:p>
        </p:txBody>
      </p:sp>
    </p:spTree>
    <p:extLst>
      <p:ext uri="{BB962C8B-B14F-4D97-AF65-F5344CB8AC3E}">
        <p14:creationId xmlns:p14="http://schemas.microsoft.com/office/powerpoint/2010/main" val="1258220160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961" y="269240"/>
            <a:ext cx="5313679" cy="3085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" b="62477"/>
          <a:stretch/>
        </p:blipFill>
        <p:spPr bwMode="auto">
          <a:xfrm>
            <a:off x="2130745" y="3355112"/>
            <a:ext cx="5275896" cy="1716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22400" y="269241"/>
            <a:ext cx="5709920" cy="4825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32960" y="660400"/>
            <a:ext cx="2021840" cy="370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329061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Exercise – code example</a:t>
            </a:r>
          </a:p>
        </p:txBody>
      </p:sp>
    </p:spTree>
    <p:extLst>
      <p:ext uri="{BB962C8B-B14F-4D97-AF65-F5344CB8AC3E}">
        <p14:creationId xmlns:p14="http://schemas.microsoft.com/office/powerpoint/2010/main" val="239633624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46" r="890"/>
          <a:stretch/>
        </p:blipFill>
        <p:spPr bwMode="auto">
          <a:xfrm>
            <a:off x="2093558" y="214555"/>
            <a:ext cx="4886960" cy="280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3" r="83" b="46785"/>
          <a:stretch/>
        </p:blipFill>
        <p:spPr bwMode="auto">
          <a:xfrm>
            <a:off x="2062480" y="2922816"/>
            <a:ext cx="5019638" cy="2164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82333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0</TotalTime>
  <Words>589</Words>
  <Application>Microsoft Office PowerPoint</Application>
  <PresentationFormat>화면 슬라이드 쇼(16:9)</PresentationFormat>
  <Paragraphs>155</Paragraphs>
  <Slides>23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25" baseType="lpstr">
      <vt:lpstr>Jobtalk_UF</vt:lpstr>
      <vt:lpstr>SU_Template_TopBar</vt:lpstr>
      <vt:lpstr>Class (Chapter 5)</vt:lpstr>
      <vt:lpstr>Class and Method Definitions</vt:lpstr>
      <vt:lpstr>Class and Method Definitions</vt:lpstr>
      <vt:lpstr>Class and Method Definitions</vt:lpstr>
      <vt:lpstr>Class and Method Definitions</vt:lpstr>
      <vt:lpstr>Class Files and Separate Compilation</vt:lpstr>
      <vt:lpstr>Class – example</vt:lpstr>
      <vt:lpstr>Class – example using the defined class</vt:lpstr>
      <vt:lpstr>Class – summary</vt:lpstr>
      <vt:lpstr>Methods</vt:lpstr>
      <vt:lpstr>Defining void Methods</vt:lpstr>
      <vt:lpstr>Defining void Methods</vt:lpstr>
      <vt:lpstr>Methods That Return a Value</vt:lpstr>
      <vt:lpstr>The Keyword this</vt:lpstr>
      <vt:lpstr>The Keyword this</vt:lpstr>
      <vt:lpstr>Local Variables</vt:lpstr>
      <vt:lpstr>Local Variables – example</vt:lpstr>
      <vt:lpstr>Blocks</vt:lpstr>
      <vt:lpstr>Parameters of Primitive Type</vt:lpstr>
      <vt:lpstr>Parameters of Primitive Type</vt:lpstr>
      <vt:lpstr>Exercise</vt:lpstr>
      <vt:lpstr>Exercise – code example</vt:lpstr>
      <vt:lpstr>PowerPoint 프레젠테이션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4</cp:revision>
  <cp:lastPrinted>2016-01-15T22:14:07Z</cp:lastPrinted>
  <dcterms:created xsi:type="dcterms:W3CDTF">2016-01-04T21:30:26Z</dcterms:created>
  <dcterms:modified xsi:type="dcterms:W3CDTF">2019-10-21T08:25:10Z</dcterms:modified>
</cp:coreProperties>
</file>