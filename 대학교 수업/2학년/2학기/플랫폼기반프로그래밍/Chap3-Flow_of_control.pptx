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54"/>
  </p:notesMasterIdLst>
  <p:handoutMasterIdLst>
    <p:handoutMasterId r:id="rId55"/>
  </p:handoutMasterIdLst>
  <p:sldIdLst>
    <p:sldId id="1078" r:id="rId3"/>
    <p:sldId id="1005" r:id="rId4"/>
    <p:sldId id="1006" r:id="rId5"/>
    <p:sldId id="1007" r:id="rId6"/>
    <p:sldId id="1079" r:id="rId7"/>
    <p:sldId id="1009" r:id="rId8"/>
    <p:sldId id="1080" r:id="rId9"/>
    <p:sldId id="1012" r:id="rId10"/>
    <p:sldId id="1013" r:id="rId11"/>
    <p:sldId id="1014" r:id="rId12"/>
    <p:sldId id="1015" r:id="rId13"/>
    <p:sldId id="1016" r:id="rId14"/>
    <p:sldId id="1017" r:id="rId15"/>
    <p:sldId id="1018" r:id="rId16"/>
    <p:sldId id="1020" r:id="rId17"/>
    <p:sldId id="1021" r:id="rId18"/>
    <p:sldId id="1022" r:id="rId19"/>
    <p:sldId id="1023" r:id="rId20"/>
    <p:sldId id="1024" r:id="rId21"/>
    <p:sldId id="1025" r:id="rId22"/>
    <p:sldId id="1026" r:id="rId23"/>
    <p:sldId id="1027" r:id="rId24"/>
    <p:sldId id="1029" r:id="rId25"/>
    <p:sldId id="1030" r:id="rId26"/>
    <p:sldId id="1031" r:id="rId27"/>
    <p:sldId id="1032" r:id="rId28"/>
    <p:sldId id="1033" r:id="rId29"/>
    <p:sldId id="1034" r:id="rId30"/>
    <p:sldId id="1036" r:id="rId31"/>
    <p:sldId id="1037" r:id="rId32"/>
    <p:sldId id="1038" r:id="rId33"/>
    <p:sldId id="1039" r:id="rId34"/>
    <p:sldId id="1041" r:id="rId35"/>
    <p:sldId id="1044" r:id="rId36"/>
    <p:sldId id="1045" r:id="rId37"/>
    <p:sldId id="1046" r:id="rId38"/>
    <p:sldId id="1047" r:id="rId39"/>
    <p:sldId id="1048" r:id="rId40"/>
    <p:sldId id="1049" r:id="rId41"/>
    <p:sldId id="1051" r:id="rId42"/>
    <p:sldId id="1052" r:id="rId43"/>
    <p:sldId id="1053" r:id="rId44"/>
    <p:sldId id="1054" r:id="rId45"/>
    <p:sldId id="1057" r:id="rId46"/>
    <p:sldId id="1060" r:id="rId47"/>
    <p:sldId id="1061" r:id="rId48"/>
    <p:sldId id="1062" r:id="rId49"/>
    <p:sldId id="1064" r:id="rId50"/>
    <p:sldId id="1067" r:id="rId51"/>
    <p:sldId id="1068" r:id="rId52"/>
    <p:sldId id="1069" r:id="rId5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88604" autoAdjust="0"/>
  </p:normalViewPr>
  <p:slideViewPr>
    <p:cSldViewPr snapToGrid="0" snapToObjects="1">
      <p:cViewPr>
        <p:scale>
          <a:sx n="125" d="100"/>
          <a:sy n="125" d="100"/>
        </p:scale>
        <p:origin x="-448" y="-2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notesMaster" Target="notesMasters/notesMaster1.xml"/><Relationship Id="rId55" Type="http://schemas.openxmlformats.org/officeDocument/2006/relationships/handoutMaster" Target="handoutMasters/handoutMaster1.xml"/><Relationship Id="rId56" Type="http://schemas.openxmlformats.org/officeDocument/2006/relationships/printerSettings" Target="printerSettings/printerSettings1.bin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9/22/16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9/22/16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An individual’s data is connected to enormous data from people over the world such as social network, research articles, and biomedical data on daily basis via internet.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55573-23BE-7541-92D3-8BDD66C16B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5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Relationship Id="rId3" Type="http://schemas.openxmlformats.org/officeDocument/2006/relationships/image" Target="../media/image3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3"/>
          <p:cNvSpPr>
            <a:spLocks noGrp="1"/>
          </p:cNvSpPr>
          <p:nvPr>
            <p:ph type="title"/>
          </p:nvPr>
        </p:nvSpPr>
        <p:spPr>
          <a:xfrm>
            <a:off x="949325" y="358775"/>
            <a:ext cx="7707313" cy="48895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102" charset="0"/>
                <a:ea typeface="ＭＳ Ｐゴシック" pitchFamily="-102" charset="-128"/>
                <a:cs typeface="ＭＳ Ｐゴシック" pitchFamily="-102" charset="-128"/>
              </a:rPr>
              <a:t>Flow of control (Chapter 3)</a:t>
            </a:r>
            <a:endParaRPr lang="en-US" dirty="0">
              <a:latin typeface="Arial" pitchFamily="-102" charset="0"/>
              <a:ea typeface="ＭＳ Ｐゴシック" pitchFamily="-102" charset="-128"/>
              <a:cs typeface="ＭＳ Ｐゴシック" pitchFamily="-102" charset="-128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>
              <a:buFont typeface="Wingdings" charset="2"/>
              <a:buChar char="q"/>
            </a:pPr>
            <a:r>
              <a:rPr lang="en-US" altLang="ko-KR" sz="2400" dirty="0"/>
              <a:t>The </a:t>
            </a:r>
            <a:r>
              <a:rPr lang="en-US" altLang="ko-KR" sz="2400" b="1" i="1" dirty="0">
                <a:solidFill>
                  <a:schemeClr val="tx1"/>
                </a:solidFill>
              </a:rPr>
              <a:t>if-else </a:t>
            </a:r>
            <a:r>
              <a:rPr lang="en-US" altLang="ko-KR" sz="2400" dirty="0" err="1" smtClean="0"/>
              <a:t>stetement</a:t>
            </a:r>
            <a:endParaRPr lang="en-US" altLang="ko-KR" sz="2400" dirty="0"/>
          </a:p>
          <a:p>
            <a:pPr lvl="1">
              <a:buFont typeface="Wingdings" charset="2"/>
              <a:buChar char="q"/>
            </a:pPr>
            <a:r>
              <a:rPr lang="en-US" altLang="ko-KR" sz="2400" dirty="0"/>
              <a:t>The Type </a:t>
            </a:r>
            <a:r>
              <a:rPr lang="en-US" altLang="ko-KR" sz="2400" b="1" i="1" dirty="0" err="1">
                <a:solidFill>
                  <a:srgbClr val="000000"/>
                </a:solidFill>
              </a:rPr>
              <a:t>boolean</a:t>
            </a:r>
            <a:endParaRPr lang="en-US" altLang="ko-KR" sz="2400" b="1" i="1" dirty="0">
              <a:solidFill>
                <a:srgbClr val="000000"/>
              </a:solidFill>
            </a:endParaRPr>
          </a:p>
          <a:p>
            <a:pPr lvl="1">
              <a:buFont typeface="Wingdings" charset="2"/>
              <a:buChar char="q"/>
            </a:pPr>
            <a:r>
              <a:rPr lang="en-US" altLang="ko-KR" sz="2400" dirty="0"/>
              <a:t>The </a:t>
            </a:r>
            <a:r>
              <a:rPr lang="en-US" altLang="ko-KR" sz="2400" b="1" i="1" dirty="0">
                <a:solidFill>
                  <a:srgbClr val="000000"/>
                </a:solidFill>
              </a:rPr>
              <a:t>switch</a:t>
            </a:r>
            <a:r>
              <a:rPr lang="en-US" altLang="ko-KR" sz="2400" dirty="0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181293439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9324" y="1200150"/>
            <a:ext cx="7737475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000" i="1" dirty="0">
                <a:cs typeface="Arial"/>
              </a:rPr>
              <a:t>Flow of control</a:t>
            </a:r>
            <a:r>
              <a:rPr lang="en-US" sz="2000" dirty="0">
                <a:cs typeface="Arial"/>
              </a:rPr>
              <a:t> is the order in which a program performs actions.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Up to this point, the order has been sequential.</a:t>
            </a:r>
          </a:p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</a:t>
            </a:r>
            <a:r>
              <a:rPr lang="en-US" sz="2000" i="1" dirty="0">
                <a:cs typeface="Arial"/>
              </a:rPr>
              <a:t> branching statement </a:t>
            </a:r>
            <a:r>
              <a:rPr lang="en-US" sz="2000" dirty="0">
                <a:cs typeface="Arial"/>
              </a:rPr>
              <a:t>chooses between two or more possible actions.</a:t>
            </a:r>
          </a:p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</a:t>
            </a:r>
            <a:r>
              <a:rPr lang="en-US" sz="2000" i="1" dirty="0">
                <a:cs typeface="Arial"/>
              </a:rPr>
              <a:t>loop statement</a:t>
            </a:r>
            <a:r>
              <a:rPr lang="en-US" sz="2000" dirty="0">
                <a:cs typeface="Arial"/>
              </a:rPr>
              <a:t> repeats an action until a stopping condition occurs.</a:t>
            </a:r>
            <a:endParaRPr lang="en-US" sz="2000" i="1" dirty="0">
              <a:cs typeface="Arial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2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dirty="0" smtClean="0">
                <a:latin typeface="Arial" pitchFamily="-102" charset="0"/>
                <a:ea typeface="ＭＳ Ｐゴシック" pitchFamily="-102" charset="-128"/>
                <a:cs typeface="ＭＳ Ｐゴシック" pitchFamily="-102" charset="-128"/>
              </a:rPr>
              <a:t>Flow of control</a:t>
            </a:r>
            <a:endParaRPr lang="en-US" dirty="0">
              <a:latin typeface="Arial" pitchFamily="-102" charset="0"/>
              <a:ea typeface="ＭＳ Ｐゴシック" pitchFamily="-102" charset="-128"/>
              <a:cs typeface="ＭＳ Ｐゴシック" pitchFamily="-10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636902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32252"/>
            <a:ext cx="8229600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i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i="1" dirty="0">
                <a:cs typeface="Arial"/>
              </a:rPr>
              <a:t> </a:t>
            </a:r>
            <a:r>
              <a:rPr lang="en-US" dirty="0">
                <a:cs typeface="Arial"/>
              </a:rPr>
              <a:t>Statement: 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1" y="1359694"/>
            <a:ext cx="781303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Basic 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Statement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Boolean Expressions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Comparing Strings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Nested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Statements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 smtClean="0">
                <a:cs typeface="Arial"/>
              </a:rPr>
              <a:t>Multi-branch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Statements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sz="2000" dirty="0">
                <a:cs typeface="Arial"/>
              </a:rPr>
              <a:t> </a:t>
            </a:r>
            <a:r>
              <a:rPr lang="en-US" sz="2000" dirty="0" smtClean="0">
                <a:cs typeface="Arial"/>
              </a:rPr>
              <a:t>Statement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950307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0151"/>
            <a:ext cx="7738024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A branching statement that chooses between two possible actions.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Syntax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if (</a:t>
            </a:r>
            <a:r>
              <a:rPr lang="en-US" b="1" i="1" dirty="0" err="1">
                <a:solidFill>
                  <a:schemeClr val="accent2"/>
                </a:solidFill>
                <a:latin typeface="Courier New" charset="0"/>
              </a:rPr>
              <a:t>Boolean_Expression</a:t>
            </a: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	Statement_1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else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	Statement_2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432067"/>
            <a:ext cx="7707862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i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i="1" dirty="0">
                <a:cs typeface="Arial"/>
              </a:rPr>
              <a:t> </a:t>
            </a:r>
            <a:r>
              <a:rPr lang="en-US" dirty="0" smtClean="0">
                <a:cs typeface="Arial"/>
              </a:rPr>
              <a:t>Statement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34662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432067"/>
            <a:ext cx="7707862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i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i="1" dirty="0">
                <a:cs typeface="Arial"/>
              </a:rPr>
              <a:t> </a:t>
            </a:r>
            <a:r>
              <a:rPr lang="en-US" dirty="0" smtClean="0">
                <a:cs typeface="Arial"/>
              </a:rPr>
              <a:t>Statement: example</a:t>
            </a:r>
            <a:endParaRPr lang="en-US" dirty="0">
              <a:cs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56" y="1151494"/>
            <a:ext cx="7540625" cy="1044178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176810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dirty="0">
                <a:cs typeface="Arial"/>
              </a:rPr>
              <a:t> Statement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853440" y="953691"/>
            <a:ext cx="7885748" cy="339447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 smtClean="0">
                <a:cs typeface="Arial"/>
              </a:rPr>
              <a:t>The </a:t>
            </a:r>
            <a:r>
              <a:rPr lang="en-US" sz="2000" dirty="0">
                <a:cs typeface="Arial"/>
              </a:rPr>
              <a:t>Action of the 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i="1" dirty="0">
                <a:cs typeface="Arial"/>
              </a:rPr>
              <a:t> </a:t>
            </a:r>
            <a:r>
              <a:rPr lang="en-US" sz="2000" dirty="0" smtClean="0">
                <a:cs typeface="Arial"/>
              </a:rPr>
              <a:t>Statement</a:t>
            </a:r>
            <a:endParaRPr lang="en-US" sz="2000" dirty="0">
              <a:cs typeface="Arial"/>
            </a:endParaRP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036" y="1640047"/>
            <a:ext cx="6551613" cy="295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246987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cs typeface="Arial"/>
              </a:rPr>
              <a:t>The semantics of 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dirty="0">
                <a:cs typeface="Arial"/>
              </a:rPr>
              <a:t> Statement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1422400"/>
            <a:ext cx="6348208" cy="3048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705868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4856"/>
            <a:ext cx="77724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Compound Statements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300479"/>
            <a:ext cx="7772400" cy="292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cs typeface="Arial"/>
              </a:rPr>
              <a:t>To include multiple statements in a branch, enclose the statements in braces</a:t>
            </a:r>
            <a:r>
              <a:rPr lang="en-US" sz="2000" dirty="0" smtClean="0">
                <a:cs typeface="Arial"/>
              </a:rPr>
              <a:t>.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(count &lt; 3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{</a:t>
            </a:r>
            <a:endParaRPr lang="en-US" sz="2000" b="1" dirty="0">
              <a:solidFill>
                <a:schemeClr val="accent2"/>
              </a:solidFill>
              <a:cs typeface="Arial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	total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= 0;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count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= 0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}</a:t>
            </a:r>
            <a:endParaRPr lang="en-US" sz="2000" b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47226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504856"/>
            <a:ext cx="78232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Omitting 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else</a:t>
            </a:r>
            <a:r>
              <a:rPr lang="en-US" dirty="0">
                <a:cs typeface="Arial"/>
              </a:rPr>
              <a:t> Part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3600" y="1057275"/>
            <a:ext cx="782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 smtClean="0">
                <a:cs typeface="Arial"/>
              </a:rPr>
              <a:t>The </a:t>
            </a:r>
            <a:r>
              <a:rPr lang="en-US" sz="2000" dirty="0">
                <a:cs typeface="Arial"/>
              </a:rPr>
              <a:t>Semantics of 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</a:t>
            </a:r>
            <a:r>
              <a:rPr lang="en-US" sz="2000" dirty="0">
                <a:cs typeface="Arial"/>
              </a:rPr>
              <a:t> Statement without 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else</a:t>
            </a:r>
          </a:p>
        </p:txBody>
      </p:sp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1605919"/>
            <a:ext cx="6817360" cy="3334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609008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493188"/>
            <a:ext cx="7772400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Introduction to Boolean Expressions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2" y="1594248"/>
            <a:ext cx="7772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The value of a </a:t>
            </a:r>
            <a:r>
              <a:rPr lang="en-US" sz="2000" i="1" dirty="0" err="1">
                <a:cs typeface="Arial"/>
              </a:rPr>
              <a:t>boolean</a:t>
            </a:r>
            <a:r>
              <a:rPr lang="en-US" sz="2000" i="1" dirty="0">
                <a:cs typeface="Arial"/>
              </a:rPr>
              <a:t> expression</a:t>
            </a:r>
            <a:r>
              <a:rPr lang="en-US" sz="2000" dirty="0">
                <a:cs typeface="Arial"/>
              </a:rPr>
              <a:t> is either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true</a:t>
            </a:r>
            <a:r>
              <a:rPr lang="en-US" sz="2000" dirty="0">
                <a:cs typeface="Arial"/>
              </a:rPr>
              <a:t> or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false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time &lt; limit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balance &lt;= 0</a:t>
            </a:r>
          </a:p>
        </p:txBody>
      </p:sp>
    </p:spTree>
    <p:extLst>
      <p:ext uri="{BB962C8B-B14F-4D97-AF65-F5344CB8AC3E}">
        <p14:creationId xmlns:p14="http://schemas.microsoft.com/office/powerpoint/2010/main" val="111641980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4856"/>
            <a:ext cx="77724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Java Comparison Operators</a:t>
            </a:r>
          </a:p>
        </p:txBody>
      </p:sp>
      <p:pic>
        <p:nvPicPr>
          <p:cNvPr id="1638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" y="1646238"/>
            <a:ext cx="7946709" cy="2521744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339828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591802"/>
            <a:ext cx="7772400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Compound Boolean Expressions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470026"/>
            <a:ext cx="7929880" cy="292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Boolean expressions can be combined using the "and"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(&amp;&amp;)</a:t>
            </a:r>
            <a:r>
              <a:rPr lang="en-US" sz="2000" dirty="0">
                <a:cs typeface="Arial"/>
              </a:rPr>
              <a:t> operator.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((score &gt; 0) &amp;&amp; (score &lt;= 100))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...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Not allowed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(0 &lt; score &lt;= 100)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7563700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43280" y="548328"/>
            <a:ext cx="7895908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Compound Boolean Expressions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43280" y="1503680"/>
            <a:ext cx="78959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Syntax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(Sub_Expression_1) &amp;&amp; (Sub_Expression_2)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Parentheses often are used to enhance readability.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The larger expression is true only when both of the smaller expressions are true.</a:t>
            </a:r>
          </a:p>
        </p:txBody>
      </p:sp>
    </p:spTree>
    <p:extLst>
      <p:ext uri="{BB962C8B-B14F-4D97-AF65-F5344CB8AC3E}">
        <p14:creationId xmlns:p14="http://schemas.microsoft.com/office/powerpoint/2010/main" val="90214796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52493"/>
            <a:ext cx="78536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>
                <a:latin typeface="Calibri Light" charset="0"/>
              </a:rPr>
              <a:t>Compound Boolean Expressions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200151"/>
            <a:ext cx="7772400" cy="2554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Boolean expressions can be combined using the "or"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(||)</a:t>
            </a:r>
            <a:r>
              <a:rPr lang="en-US" sz="2000" dirty="0">
                <a:cs typeface="Arial"/>
              </a:rPr>
              <a:t> </a:t>
            </a:r>
            <a:r>
              <a:rPr lang="en-US" sz="2000" dirty="0" smtClean="0">
                <a:cs typeface="Arial"/>
              </a:rPr>
              <a:t>operator (</a:t>
            </a:r>
            <a:r>
              <a:rPr lang="ko-KR" altLang="en-US" sz="2000" dirty="0" smtClean="0">
                <a:cs typeface="Arial"/>
              </a:rPr>
              <a:t>둘 중 하나 혹은 둘다 참이면 참</a:t>
            </a:r>
            <a:r>
              <a:rPr lang="en-US" altLang="ko-KR" sz="2000" dirty="0" smtClean="0">
                <a:cs typeface="Arial"/>
              </a:rPr>
              <a:t>)</a:t>
            </a:r>
            <a:endParaRPr lang="en-US" sz="2000" dirty="0">
              <a:cs typeface="Arial"/>
            </a:endParaRPr>
          </a:p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</a:t>
            </a:r>
          </a:p>
          <a:p>
            <a:pPr marL="280988" lvl="2" indent="0" eaLnBrk="1" hangingPunct="1"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((quantity &gt; 5) || (cost &lt; 10))</a:t>
            </a:r>
          </a:p>
          <a:p>
            <a:pPr marL="280988" lvl="2" indent="0" eaLnBrk="1" hangingPunct="1"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...</a:t>
            </a:r>
          </a:p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Syntax</a:t>
            </a:r>
          </a:p>
          <a:p>
            <a:pPr marL="280988" lvl="2" indent="0" eaLnBrk="1" hangingPunct="1"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(Sub_Expression_1) || (Sub_Expression_2</a:t>
            </a:r>
            <a:r>
              <a:rPr lang="en-US" sz="2000" b="1" i="1" dirty="0" smtClean="0">
                <a:solidFill>
                  <a:schemeClr val="accent2"/>
                </a:solidFill>
                <a:cs typeface="Arial"/>
              </a:rPr>
              <a:t>)</a:t>
            </a:r>
            <a:endParaRPr lang="en-US" sz="2000" b="1" i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413934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4240" y="664637"/>
            <a:ext cx="783336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Negating a Boolean Expression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4240" y="1537097"/>
            <a:ext cx="7833360" cy="2443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</a:t>
            </a:r>
            <a:r>
              <a:rPr lang="en-US" sz="2000" dirty="0" err="1">
                <a:cs typeface="Arial"/>
              </a:rPr>
              <a:t>boolean</a:t>
            </a:r>
            <a:r>
              <a:rPr lang="en-US" sz="2000" dirty="0">
                <a:cs typeface="Arial"/>
              </a:rPr>
              <a:t> expression can be negated using the "not"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!</a:t>
            </a:r>
            <a:r>
              <a:rPr lang="en-US" sz="2000" dirty="0">
                <a:cs typeface="Arial"/>
              </a:rPr>
              <a:t>) operator.</a:t>
            </a:r>
          </a:p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Syntax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!(</a:t>
            </a:r>
            <a:r>
              <a:rPr lang="en-US" b="1" i="1" dirty="0" err="1">
                <a:solidFill>
                  <a:schemeClr val="accent2"/>
                </a:solidFill>
                <a:latin typeface="Courier New" charset="0"/>
              </a:rPr>
              <a:t>Boolean_Expression</a:t>
            </a:r>
            <a:r>
              <a:rPr lang="en-US" b="1" i="1" dirty="0">
                <a:solidFill>
                  <a:schemeClr val="accent2"/>
                </a:solidFill>
                <a:latin typeface="Courier New" charset="0"/>
              </a:rPr>
              <a:t>)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(a || b) &amp;&amp; !(a &amp;&amp; b)</a:t>
            </a:r>
          </a:p>
          <a:p>
            <a:pPr lvl="1" eaLnBrk="1" hangingPunct="1">
              <a:buFont typeface="Wingdings" charset="0"/>
              <a:buNone/>
            </a:pPr>
            <a:r>
              <a:rPr lang="en-US" dirty="0">
                <a:latin typeface="Calibri" charset="0"/>
              </a:rPr>
              <a:t>which is the </a:t>
            </a:r>
            <a:r>
              <a:rPr lang="en-US" i="1" dirty="0">
                <a:latin typeface="Calibri" charset="0"/>
              </a:rPr>
              <a:t>exclusive or</a:t>
            </a: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12794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94080" y="742981"/>
            <a:ext cx="7892733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Negating a Boolean Expression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94079" y="1581150"/>
            <a:ext cx="78927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 smtClean="0">
                <a:cs typeface="Arial"/>
              </a:rPr>
              <a:t>Avoiding </a:t>
            </a:r>
            <a:r>
              <a:rPr lang="en-US" sz="2000" dirty="0">
                <a:cs typeface="Arial"/>
              </a:rPr>
              <a:t>the Negation Operator</a:t>
            </a:r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336" y="2282350"/>
            <a:ext cx="5064125" cy="1980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632470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50901" y="522101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Java Logical Operators</a:t>
            </a:r>
          </a:p>
        </p:txBody>
      </p:sp>
      <p:pic>
        <p:nvPicPr>
          <p:cNvPr id="2355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1" y="1532016"/>
            <a:ext cx="7813675" cy="1132285"/>
          </a:xfrm>
          <a:prstGeom prst="rect">
            <a:avLst/>
          </a:prstGeom>
          <a:noFill/>
          <a:ln w="12700">
            <a:solidFill>
              <a:srgbClr val="66FFCC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77814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Boolean Operators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 smtClean="0">
                <a:cs typeface="Arial"/>
              </a:rPr>
              <a:t>The </a:t>
            </a:r>
            <a:r>
              <a:rPr lang="en-US" sz="2000" dirty="0">
                <a:cs typeface="Arial"/>
              </a:rPr>
              <a:t>Effect of the Boolean Operators 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&amp;&amp;</a:t>
            </a:r>
            <a:r>
              <a:rPr lang="en-US" sz="2000" dirty="0">
                <a:cs typeface="Arial"/>
              </a:rPr>
              <a:t> (and), 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||</a:t>
            </a:r>
            <a:r>
              <a:rPr lang="en-US" sz="2000" dirty="0">
                <a:cs typeface="Arial"/>
              </a:rPr>
              <a:t> (or),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!</a:t>
            </a:r>
            <a:r>
              <a:rPr lang="en-US" sz="2000" dirty="0">
                <a:cs typeface="Arial"/>
              </a:rPr>
              <a:t> (not) on Boolean values</a:t>
            </a:r>
          </a:p>
        </p:txBody>
      </p:sp>
      <p:pic>
        <p:nvPicPr>
          <p:cNvPr id="2458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6" y="2576513"/>
            <a:ext cx="6981825" cy="1650206"/>
          </a:xfrm>
          <a:prstGeom prst="rect">
            <a:avLst/>
          </a:prstGeom>
          <a:noFill/>
          <a:ln w="12700">
            <a:solidFill>
              <a:srgbClr val="66FFCC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61312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83920" y="504856"/>
            <a:ext cx="78028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Using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==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3920" y="1300481"/>
            <a:ext cx="7802880" cy="3426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==</a:t>
            </a:r>
            <a:r>
              <a:rPr lang="en-US" sz="2000" dirty="0">
                <a:cs typeface="Arial"/>
              </a:rPr>
              <a:t> is appropriate for determining if two integers or characters have the same value.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(a == 3)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cs typeface="Arial"/>
              </a:rPr>
              <a:t>where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a</a:t>
            </a:r>
            <a:r>
              <a:rPr lang="en-US" sz="2000" dirty="0">
                <a:cs typeface="Arial"/>
              </a:rPr>
              <a:t> is an integer type</a:t>
            </a:r>
          </a:p>
          <a:p>
            <a:pPr eaLnBrk="1" hangingPunct="1">
              <a:buFont typeface="Wingdings" charset="2"/>
              <a:buChar char="v"/>
            </a:pPr>
            <a:endParaRPr lang="en-US" sz="2000" b="1" dirty="0" smtClean="0">
              <a:solidFill>
                <a:schemeClr val="accent2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=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=</a:t>
            </a:r>
            <a:r>
              <a:rPr lang="en-US" sz="2000" dirty="0">
                <a:cs typeface="Arial"/>
              </a:rPr>
              <a:t> is </a:t>
            </a:r>
            <a:r>
              <a:rPr lang="en-US" sz="2000" b="1" dirty="0">
                <a:cs typeface="Arial"/>
              </a:rPr>
              <a:t>not</a:t>
            </a:r>
            <a:r>
              <a:rPr lang="en-US" sz="2000" dirty="0">
                <a:cs typeface="Arial"/>
              </a:rPr>
              <a:t> appropriate for determining if two floating points values are equal.   Use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&lt;</a:t>
            </a:r>
            <a:r>
              <a:rPr lang="en-US" sz="2000" dirty="0">
                <a:cs typeface="Arial"/>
              </a:rPr>
              <a:t> and some appropriate tolerance instead</a:t>
            </a:r>
            <a:r>
              <a:rPr lang="en-US" sz="2000" dirty="0" smtClean="0">
                <a:cs typeface="Arial"/>
              </a:rPr>
              <a:t>.</a:t>
            </a:r>
            <a:endParaRPr lang="en-US" sz="2000" dirty="0">
              <a:cs typeface="Arial"/>
            </a:endParaRP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(abs(b - c) &lt; epsilon)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cs typeface="Arial"/>
              </a:rPr>
              <a:t>where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b</a:t>
            </a:r>
            <a:r>
              <a:rPr lang="en-US" sz="2000" dirty="0">
                <a:cs typeface="Arial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c</a:t>
            </a:r>
            <a:r>
              <a:rPr lang="en-US" sz="2000" dirty="0">
                <a:cs typeface="Arial"/>
              </a:rPr>
              <a:t>,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epsilon</a:t>
            </a:r>
            <a:r>
              <a:rPr lang="en-US" sz="2000" dirty="0">
                <a:cs typeface="Arial"/>
              </a:rPr>
              <a:t> are floating point types</a:t>
            </a:r>
          </a:p>
        </p:txBody>
      </p:sp>
    </p:spTree>
    <p:extLst>
      <p:ext uri="{BB962C8B-B14F-4D97-AF65-F5344CB8AC3E}">
        <p14:creationId xmlns:p14="http://schemas.microsoft.com/office/powerpoint/2010/main" val="270019356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4856"/>
            <a:ext cx="77724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Using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==</a:t>
            </a:r>
            <a:endParaRPr lang="en-US" dirty="0">
              <a:cs typeface="Arial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200151"/>
            <a:ext cx="77724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==</a:t>
            </a:r>
            <a:r>
              <a:rPr lang="en-US" sz="2000" dirty="0">
                <a:cs typeface="Arial"/>
              </a:rPr>
              <a:t> is not appropriate for determining if two objects have the same value.</a:t>
            </a:r>
          </a:p>
          <a:p>
            <a:pPr lvl="2" eaLnBrk="1" hangingPunct="1"/>
            <a:r>
              <a:rPr lang="en-US" sz="2000" b="1" dirty="0">
                <a:solidFill>
                  <a:schemeClr val="accent2"/>
                </a:solidFill>
                <a:cs typeface="Arial"/>
              </a:rPr>
              <a:t>if (s1 == s2),</a:t>
            </a:r>
            <a:r>
              <a:rPr lang="en-US" sz="2000" dirty="0">
                <a:cs typeface="Arial"/>
              </a:rPr>
              <a:t> where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s1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s2</a:t>
            </a:r>
            <a:r>
              <a:rPr lang="en-US" sz="2000" dirty="0">
                <a:cs typeface="Arial"/>
              </a:rPr>
              <a:t> refer to strings, determines only if s1 and s2 refer the a common memory location.</a:t>
            </a:r>
          </a:p>
          <a:p>
            <a:pPr lvl="2" eaLnBrk="1" hangingPunct="1"/>
            <a:r>
              <a:rPr lang="en-US" sz="2000" dirty="0">
                <a:cs typeface="Arial"/>
              </a:rPr>
              <a:t>If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s1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s2</a:t>
            </a:r>
            <a:r>
              <a:rPr lang="en-US" sz="2000" dirty="0">
                <a:cs typeface="Arial"/>
              </a:rPr>
              <a:t> refer to strings with identical sequences of characters, but stored in different memory locations,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(s1 == s2)</a:t>
            </a:r>
            <a:r>
              <a:rPr lang="en-US" sz="2000" dirty="0">
                <a:cs typeface="Arial"/>
              </a:rPr>
              <a:t> is false.</a:t>
            </a:r>
          </a:p>
        </p:txBody>
      </p:sp>
    </p:spTree>
    <p:extLst>
      <p:ext uri="{BB962C8B-B14F-4D97-AF65-F5344CB8AC3E}">
        <p14:creationId xmlns:p14="http://schemas.microsoft.com/office/powerpoint/2010/main" val="356326726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4856"/>
            <a:ext cx="77724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Using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==</a:t>
            </a:r>
            <a:r>
              <a:rPr lang="en-US" dirty="0">
                <a:cs typeface="Arial"/>
              </a:rPr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200150"/>
            <a:ext cx="77724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To test the equality of objects of class String, use method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equals</a:t>
            </a:r>
            <a:r>
              <a:rPr lang="en-US" sz="2000" dirty="0">
                <a:cs typeface="Arial"/>
              </a:rPr>
              <a:t>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s1.equals(s2)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or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s2.equals(s1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)</a:t>
            </a:r>
          </a:p>
          <a:p>
            <a:pPr lvl="1" eaLnBrk="1" hangingPunct="1">
              <a:buFont typeface="Wingdings" charset="0"/>
              <a:buNone/>
            </a:pPr>
            <a:endParaRPr lang="en-US" sz="2000" b="1" dirty="0">
              <a:solidFill>
                <a:schemeClr val="accent2"/>
              </a:solidFill>
              <a:cs typeface="Arial"/>
            </a:endParaRPr>
          </a:p>
          <a:p>
            <a:pPr lvl="1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To test for equality ignoring case, use method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equalsIgnoreCase</a:t>
            </a:r>
            <a:r>
              <a:rPr lang="en-US" sz="2000" dirty="0">
                <a:cs typeface="Arial"/>
              </a:rPr>
              <a:t>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("Hello".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equalsIgnoreCase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("hello"))</a:t>
            </a:r>
          </a:p>
        </p:txBody>
      </p:sp>
    </p:spTree>
    <p:extLst>
      <p:ext uri="{BB962C8B-B14F-4D97-AF65-F5344CB8AC3E}">
        <p14:creationId xmlns:p14="http://schemas.microsoft.com/office/powerpoint/2010/main" val="128563329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09320" y="832277"/>
            <a:ext cx="7772400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 b="1" dirty="0">
                <a:solidFill>
                  <a:schemeClr val="accent2"/>
                </a:solidFill>
                <a:cs typeface="Arial"/>
              </a:rPr>
              <a:t>equals</a:t>
            </a:r>
            <a:r>
              <a:rPr lang="en-US" dirty="0">
                <a:cs typeface="Arial"/>
              </a:rPr>
              <a:t> and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equalsIgnoreCase</a:t>
            </a:r>
            <a:endParaRPr lang="en-US" b="1" dirty="0">
              <a:solidFill>
                <a:schemeClr val="accent2"/>
              </a:solidFill>
              <a:cs typeface="Arial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9320" y="2286000"/>
            <a:ext cx="777240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Syntax</a:t>
            </a:r>
          </a:p>
          <a:p>
            <a:pPr lvl="1" eaLnBrk="1" hangingPunct="1">
              <a:buFont typeface="Wingdings" charset="0"/>
              <a:buNone/>
            </a:pPr>
            <a:r>
              <a:rPr lang="en-US" sz="2400" b="1" i="1" dirty="0" err="1">
                <a:solidFill>
                  <a:schemeClr val="accent2"/>
                </a:solidFill>
                <a:cs typeface="Arial"/>
              </a:rPr>
              <a:t>String.equals</a:t>
            </a:r>
            <a:r>
              <a:rPr lang="en-US" sz="2400" b="1" i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sz="2400" b="1" i="1" dirty="0" err="1">
                <a:solidFill>
                  <a:schemeClr val="accent2"/>
                </a:solidFill>
                <a:cs typeface="Arial"/>
              </a:rPr>
              <a:t>Other_String</a:t>
            </a:r>
            <a:r>
              <a:rPr lang="en-US" sz="2400" b="1" i="1" dirty="0">
                <a:solidFill>
                  <a:schemeClr val="accent2"/>
                </a:solidFill>
                <a:cs typeface="Arial"/>
              </a:rPr>
              <a:t>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400" b="1" i="1" dirty="0" err="1">
                <a:solidFill>
                  <a:schemeClr val="accent2"/>
                </a:solidFill>
                <a:cs typeface="Arial"/>
              </a:rPr>
              <a:t>String.equalsIgnoreCase</a:t>
            </a:r>
            <a:r>
              <a:rPr lang="en-US" sz="2400" b="1" i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sz="2400" b="1" i="1" dirty="0" err="1">
                <a:solidFill>
                  <a:schemeClr val="accent2"/>
                </a:solidFill>
                <a:cs typeface="Arial"/>
              </a:rPr>
              <a:t>Other_String</a:t>
            </a:r>
            <a:r>
              <a:rPr lang="en-US" sz="2400" b="1" i="1" dirty="0">
                <a:solidFill>
                  <a:schemeClr val="accent2"/>
                </a:solidFill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681240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83920" y="504856"/>
            <a:ext cx="78028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Lexicographic Order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3920" y="1200150"/>
            <a:ext cx="780288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Lexicographic order is similar to alphabetical order, but is it based on the order of the characters in the ASCII (and Unicode) character set.</a:t>
            </a:r>
          </a:p>
          <a:p>
            <a:pPr lvl="2" eaLnBrk="1" hangingPunct="1"/>
            <a:r>
              <a:rPr lang="en-US" sz="2000" dirty="0">
                <a:cs typeface="Arial"/>
              </a:rPr>
              <a:t>All the digits come before all the letters.</a:t>
            </a:r>
          </a:p>
          <a:p>
            <a:pPr lvl="2" eaLnBrk="1" hangingPunct="1"/>
            <a:r>
              <a:rPr lang="en-US" sz="2000" dirty="0">
                <a:cs typeface="Arial"/>
              </a:rPr>
              <a:t>All the uppercase letters come before all the lower case letters.</a:t>
            </a:r>
          </a:p>
          <a:p>
            <a:pPr lvl="1" eaLnBrk="1" hangingPunct="1"/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576853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34720" y="504856"/>
            <a:ext cx="77520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Lexicographic Order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34720" y="1200150"/>
            <a:ext cx="775208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Strings consisting of alphabetical characters can be compared using method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compareTo</a:t>
            </a:r>
            <a:r>
              <a:rPr lang="en-US" sz="2000" dirty="0">
                <a:cs typeface="Arial"/>
              </a:rPr>
              <a:t> and method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toUpperCase</a:t>
            </a:r>
            <a:r>
              <a:rPr lang="en-US" sz="2000" dirty="0">
                <a:cs typeface="Arial"/>
              </a:rPr>
              <a:t> or method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toLowerCase</a:t>
            </a:r>
            <a:r>
              <a:rPr lang="en-US" sz="2000" dirty="0" smtClean="0">
                <a:cs typeface="Arial"/>
              </a:rPr>
              <a:t>.</a:t>
            </a:r>
          </a:p>
          <a:p>
            <a:pPr eaLnBrk="1" hangingPunct="1">
              <a:buFont typeface="Wingdings" charset="2"/>
              <a:buChar char="v"/>
            </a:pPr>
            <a:endParaRPr lang="en-US" sz="2000" dirty="0">
              <a:cs typeface="Arial"/>
            </a:endParaRP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s1 = "Hello";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lowerS1 = s1.toLowerCase();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s2 = "hello";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(s1.compareTo(s2)) == 0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 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("Equal!");</a:t>
            </a:r>
          </a:p>
        </p:txBody>
      </p:sp>
    </p:spTree>
    <p:extLst>
      <p:ext uri="{BB962C8B-B14F-4D97-AF65-F5344CB8AC3E}">
        <p14:creationId xmlns:p14="http://schemas.microsoft.com/office/powerpoint/2010/main" val="859097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3280" y="504856"/>
            <a:ext cx="784352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Method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compareTo</a:t>
            </a:r>
            <a:endParaRPr lang="en-US" b="1" dirty="0">
              <a:solidFill>
                <a:schemeClr val="accent2"/>
              </a:solidFill>
              <a:cs typeface="Arial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43280" y="1200150"/>
            <a:ext cx="78435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Syntax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String_1.compareTo(String_2)</a:t>
            </a:r>
          </a:p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Method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compareTo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sz="2000" dirty="0">
                <a:cs typeface="Arial"/>
              </a:rPr>
              <a:t>returns</a:t>
            </a:r>
          </a:p>
          <a:p>
            <a:pPr lvl="2" eaLnBrk="1" hangingPunct="1"/>
            <a:r>
              <a:rPr lang="en-US" sz="2000" dirty="0">
                <a:cs typeface="Arial"/>
              </a:rPr>
              <a:t>a negative number if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String_1</a:t>
            </a:r>
            <a:r>
              <a:rPr lang="en-US" sz="2000" dirty="0">
                <a:cs typeface="Arial"/>
              </a:rPr>
              <a:t> precedes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String_2</a:t>
            </a:r>
          </a:p>
          <a:p>
            <a:pPr lvl="2" eaLnBrk="1" hangingPunct="1"/>
            <a:r>
              <a:rPr lang="en-US" sz="2000" dirty="0">
                <a:cs typeface="Arial"/>
              </a:rPr>
              <a:t>zero if the two strings are equal</a:t>
            </a:r>
          </a:p>
          <a:p>
            <a:pPr lvl="2" eaLnBrk="1" hangingPunct="1"/>
            <a:r>
              <a:rPr lang="en-US" sz="2000" dirty="0">
                <a:cs typeface="Arial"/>
              </a:rPr>
              <a:t>a positive number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String_2</a:t>
            </a:r>
            <a:r>
              <a:rPr lang="en-US" sz="2000" dirty="0">
                <a:cs typeface="Arial"/>
              </a:rPr>
              <a:t> precedes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String_1</a:t>
            </a:r>
            <a:r>
              <a:rPr lang="en-US" sz="2000" i="1" dirty="0">
                <a:cs typeface="Arial"/>
              </a:rPr>
              <a:t>.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77331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44880" y="504856"/>
            <a:ext cx="774192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Nested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dirty="0">
                <a:cs typeface="Arial"/>
              </a:rPr>
              <a:t> Statements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4880" y="1314450"/>
            <a:ext cx="751332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statement can contain any sort of statement within it.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In particular, it can contain another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statement.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>
                <a:cs typeface="Arial"/>
              </a:rPr>
              <a:t>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may be nested within the "if" part.</a:t>
            </a:r>
          </a:p>
          <a:p>
            <a:pPr lvl="2" eaLnBrk="1" hangingPunct="1"/>
            <a:r>
              <a:rPr lang="en-US" sz="2000" dirty="0">
                <a:cs typeface="Arial"/>
              </a:rPr>
              <a:t>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may be nested within the "else" part.</a:t>
            </a:r>
          </a:p>
          <a:p>
            <a:pPr lvl="2" eaLnBrk="1" hangingPunct="1"/>
            <a:r>
              <a:rPr lang="en-US" sz="2000" dirty="0">
                <a:cs typeface="Arial"/>
              </a:rPr>
              <a:t>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sz="2000" dirty="0">
                <a:cs typeface="Arial"/>
              </a:rPr>
              <a:t> may be nested within both parts</a:t>
            </a:r>
            <a:r>
              <a:rPr lang="en-US" sz="2000" dirty="0" smtClean="0">
                <a:cs typeface="Arial"/>
              </a:rPr>
              <a:t>.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293658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4560" y="504856"/>
            <a:ext cx="776224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>
                <a:cs typeface="Arial"/>
              </a:rPr>
              <a:t>Nested Statements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24560" y="1259840"/>
            <a:ext cx="7533640" cy="369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Syntax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if (Boolean_Expression_1)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  if (Boolean_Expression_2)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	    Statement_1)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  else 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	    Statement_2)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else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 if (Boolean_Expression_3)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	    Statement_3)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  else </a:t>
            </a:r>
          </a:p>
          <a:p>
            <a:pPr lvl="2" eaLnBrk="1" hangingPunct="1">
              <a:buFont typeface="Wingdings" charset="0"/>
              <a:buNone/>
            </a:pPr>
            <a:r>
              <a:rPr lang="en-US" b="1" i="1" dirty="0">
                <a:solidFill>
                  <a:schemeClr val="accent2"/>
                </a:solidFill>
                <a:cs typeface="Arial"/>
              </a:rPr>
              <a:t>		    Statement_4);</a:t>
            </a:r>
          </a:p>
        </p:txBody>
      </p:sp>
    </p:spTree>
    <p:extLst>
      <p:ext uri="{BB962C8B-B14F-4D97-AF65-F5344CB8AC3E}">
        <p14:creationId xmlns:p14="http://schemas.microsoft.com/office/powerpoint/2010/main" val="79343796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55040" y="504856"/>
            <a:ext cx="773176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Nested Statements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5040" y="1200150"/>
            <a:ext cx="7731760" cy="2148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Each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else</a:t>
            </a:r>
            <a:r>
              <a:rPr lang="en-US" sz="2000" dirty="0">
                <a:cs typeface="Arial"/>
              </a:rPr>
              <a:t> is paired with the nearest unmatched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</a:t>
            </a:r>
            <a:r>
              <a:rPr lang="en-US" sz="2000" dirty="0">
                <a:cs typeface="Arial"/>
              </a:rPr>
              <a:t>.</a:t>
            </a:r>
          </a:p>
          <a:p>
            <a:pPr marL="457200" indent="-457200" eaLnBrk="1" hangingPunct="1">
              <a:buFont typeface="Wingdings" charset="2"/>
              <a:buChar char="§"/>
            </a:pPr>
            <a:r>
              <a:rPr lang="en-US" sz="2000" b="1" dirty="0">
                <a:cs typeface="Arial"/>
              </a:rPr>
              <a:t>If used properly</a:t>
            </a:r>
            <a:r>
              <a:rPr lang="en-US" sz="2000" dirty="0">
                <a:cs typeface="Arial"/>
              </a:rPr>
              <a:t>, indentation communicates which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if</a:t>
            </a:r>
            <a:r>
              <a:rPr lang="en-US" sz="2000" dirty="0">
                <a:cs typeface="Arial"/>
              </a:rPr>
              <a:t> goes with which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else</a:t>
            </a:r>
            <a:r>
              <a:rPr lang="en-US" sz="2000" dirty="0">
                <a:cs typeface="Arial"/>
              </a:rPr>
              <a:t>.</a:t>
            </a:r>
          </a:p>
          <a:p>
            <a:pPr marL="457200" indent="-457200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Braces can be used like parentheses to group statements.</a:t>
            </a:r>
          </a:p>
          <a:p>
            <a:pPr lvl="1" eaLnBrk="1" hangingPunct="1">
              <a:buFont typeface="Wingdings" charset="0"/>
              <a:buNone/>
            </a:pPr>
            <a:endParaRPr lang="en-US" sz="2000" dirty="0">
              <a:latin typeface="Courier New" charset="0"/>
            </a:endParaRPr>
          </a:p>
          <a:p>
            <a:pPr lvl="1" eaLnBrk="1" hangingPunct="1">
              <a:buFont typeface="Wingdings" charset="0"/>
              <a:buNone/>
            </a:pP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5223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4720" y="504856"/>
            <a:ext cx="77520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>
                <a:latin typeface="Calibri Light" charset="0"/>
              </a:rPr>
              <a:t>Compound Statements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34720" y="1200151"/>
            <a:ext cx="7752080" cy="292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When a list of statements is enclosed in braces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{}</a:t>
            </a:r>
            <a:r>
              <a:rPr lang="en-US" sz="2000" dirty="0">
                <a:cs typeface="Arial"/>
              </a:rPr>
              <a:t>), they form a single </a:t>
            </a:r>
            <a:r>
              <a:rPr lang="en-US" sz="2000" i="1" dirty="0">
                <a:cs typeface="Arial"/>
              </a:rPr>
              <a:t>compound statement.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Syntax</a:t>
            </a:r>
          </a:p>
          <a:p>
            <a:pPr marL="280988" lvl="2" indent="0" eaLnBrk="1" hangingPunct="1"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{</a:t>
            </a:r>
          </a:p>
          <a:p>
            <a:pPr marL="280988" lvl="2" indent="0" eaLnBrk="1" hangingPunct="1"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i="1" dirty="0" smtClean="0">
                <a:solidFill>
                  <a:schemeClr val="accent2"/>
                </a:solidFill>
                <a:cs typeface="Arial"/>
              </a:rPr>
              <a:t>Statement_1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;</a:t>
            </a:r>
          </a:p>
          <a:p>
            <a:pPr marL="280988" lvl="2" indent="0" eaLnBrk="1" hangingPunct="1">
              <a:buNone/>
            </a:pPr>
            <a:r>
              <a:rPr lang="en-US" sz="2000" b="1" i="1" dirty="0" smtClean="0">
                <a:solidFill>
                  <a:schemeClr val="accent2"/>
                </a:solidFill>
                <a:cs typeface="Arial"/>
              </a:rPr>
              <a:t>	Statement_2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;</a:t>
            </a:r>
          </a:p>
          <a:p>
            <a:pPr marL="280988" lvl="2" indent="0" eaLnBrk="1" hangingPunct="1"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i="1" dirty="0" smtClean="0">
                <a:solidFill>
                  <a:schemeClr val="accent2"/>
                </a:solidFill>
                <a:cs typeface="Arial"/>
              </a:rPr>
              <a:t>…</a:t>
            </a:r>
            <a:endParaRPr lang="en-US" sz="2000" b="1" i="1" dirty="0">
              <a:solidFill>
                <a:schemeClr val="accent2"/>
              </a:solidFill>
              <a:cs typeface="Arial"/>
            </a:endParaRPr>
          </a:p>
          <a:p>
            <a:pPr marL="280988" lvl="2" indent="0" eaLnBrk="1" hangingPunct="1"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153350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504856"/>
            <a:ext cx="78740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Compound </a:t>
            </a:r>
            <a:r>
              <a:rPr lang="en-US" dirty="0">
                <a:cs typeface="Arial"/>
              </a:rPr>
              <a:t>Statements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12800" y="1200150"/>
            <a:ext cx="7874000" cy="292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compound statement can be used wherever a statement can be used.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(total &gt; 10)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{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	sum = sum + total;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	total = 0;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100115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24560" y="569363"/>
            <a:ext cx="784352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>
                <a:cs typeface="Arial"/>
              </a:rPr>
              <a:t>Multibranch</a:t>
            </a:r>
            <a:r>
              <a:rPr lang="en-US" dirty="0">
                <a:cs typeface="Arial"/>
              </a:rPr>
              <a:t>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dirty="0">
                <a:cs typeface="Arial"/>
              </a:rPr>
              <a:t> Statements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24560" y="1166391"/>
            <a:ext cx="7533640" cy="339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Syntax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if (Boolean_Expression_1)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	  Statement_1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else if (Boolean_Expression_2)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	  Statement_2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else if (Boolean_Expression_3)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	  Statement_3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else if …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else</a:t>
            </a:r>
          </a:p>
          <a:p>
            <a:pPr lvl="2" eaLnBrk="1" hangingPunct="1">
              <a:buFont typeface="Wingdings" charset="0"/>
              <a:buNone/>
            </a:pPr>
            <a:r>
              <a:rPr lang="en-US" i="1" dirty="0">
                <a:solidFill>
                  <a:schemeClr val="accent2"/>
                </a:solidFill>
                <a:cs typeface="Arial"/>
              </a:rPr>
              <a:t>	  </a:t>
            </a:r>
            <a:r>
              <a:rPr lang="en-US" i="1" dirty="0" err="1">
                <a:solidFill>
                  <a:schemeClr val="accent2"/>
                </a:solidFill>
                <a:cs typeface="Arial"/>
              </a:rPr>
              <a:t>Default_Statement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568776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 noChangeArrowheads="1"/>
          </p:cNvSpPr>
          <p:nvPr>
            <p:ph type="title"/>
          </p:nvPr>
        </p:nvSpPr>
        <p:spPr>
          <a:xfrm>
            <a:off x="863599" y="599517"/>
            <a:ext cx="3149601" cy="843201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/>
              </a:rPr>
              <a:t>Multibranch</a:t>
            </a:r>
            <a:r>
              <a:rPr lang="en-US" dirty="0">
                <a:cs typeface="Arial"/>
              </a:rPr>
              <a:t>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dirty="0">
                <a:cs typeface="Arial"/>
              </a:rPr>
              <a:t> Statements</a:t>
            </a:r>
          </a:p>
        </p:txBody>
      </p:sp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6" y="269161"/>
            <a:ext cx="4913313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336129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4538"/>
            <a:ext cx="82296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>
                <a:cs typeface="Arial"/>
              </a:rPr>
              <a:t>Multibranch</a:t>
            </a:r>
            <a:r>
              <a:rPr lang="en-US" dirty="0">
                <a:cs typeface="Arial"/>
              </a:rPr>
              <a:t>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if-else</a:t>
            </a:r>
            <a:r>
              <a:rPr lang="en-US" dirty="0">
                <a:cs typeface="Arial"/>
              </a:rPr>
              <a:t> Statements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108710"/>
            <a:ext cx="7772401" cy="3724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if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(score &gt;= 90)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    grade = 'A';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else if ((score &gt;= 80) &amp;&amp; (score &lt; 90))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    grade = 'B';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else if ((score &gt;= 70) &amp;&amp; (score &lt; 80))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    grade = 'C';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else if ((score &gt;= 60) &amp;&amp; (score &lt; 70))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    grade = 'D';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else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    grade = 'F';</a:t>
            </a:r>
          </a:p>
        </p:txBody>
      </p:sp>
    </p:spTree>
    <p:extLst>
      <p:ext uri="{BB962C8B-B14F-4D97-AF65-F5344CB8AC3E}">
        <p14:creationId xmlns:p14="http://schemas.microsoft.com/office/powerpoint/2010/main" val="263410489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83920" y="504856"/>
            <a:ext cx="78028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The Conditional Operator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3920" y="1230630"/>
            <a:ext cx="7802880" cy="3360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b="1" dirty="0" smtClean="0">
                <a:solidFill>
                  <a:schemeClr val="accent2"/>
                </a:solidFill>
                <a:cs typeface="Arial"/>
              </a:rPr>
              <a:t>if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(n1 &gt; n2)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		max = n1;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else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		max = n2</a:t>
            </a:r>
            <a:r>
              <a:rPr lang="en-US" b="1" dirty="0" smtClean="0">
                <a:solidFill>
                  <a:schemeClr val="accent2"/>
                </a:solidFill>
                <a:cs typeface="Arial"/>
              </a:rPr>
              <a:t>;</a:t>
            </a:r>
          </a:p>
          <a:p>
            <a:pPr lvl="1" eaLnBrk="1" hangingPunct="1">
              <a:buFont typeface="Wingdings" charset="0"/>
              <a:buNone/>
            </a:pPr>
            <a:endParaRPr lang="en-US" b="1" dirty="0">
              <a:solidFill>
                <a:schemeClr val="accent2"/>
              </a:solidFill>
              <a:cs typeface="Arial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dirty="0">
                <a:cs typeface="Arial"/>
              </a:rPr>
              <a:t>can be written </a:t>
            </a:r>
            <a:r>
              <a:rPr lang="en-US" dirty="0" smtClean="0">
                <a:cs typeface="Arial"/>
              </a:rPr>
              <a:t>as</a:t>
            </a:r>
          </a:p>
          <a:p>
            <a:pPr lvl="1" eaLnBrk="1" hangingPunct="1">
              <a:buFont typeface="Wingdings" charset="0"/>
              <a:buNone/>
            </a:pPr>
            <a:endParaRPr lang="en-US" dirty="0">
              <a:cs typeface="Arial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max = (n1 &gt; n2) ? n1 : n2</a:t>
            </a:r>
            <a:r>
              <a:rPr lang="en-US" b="1" dirty="0" smtClean="0">
                <a:solidFill>
                  <a:schemeClr val="accent2"/>
                </a:solidFill>
                <a:cs typeface="Arial"/>
              </a:rPr>
              <a:t>;</a:t>
            </a:r>
          </a:p>
          <a:p>
            <a:pPr lvl="1" eaLnBrk="1" hangingPunct="1">
              <a:buFont typeface="Wingdings" charset="0"/>
              <a:buNone/>
            </a:pPr>
            <a:endParaRPr lang="en-US" b="1" dirty="0">
              <a:solidFill>
                <a:schemeClr val="accent2"/>
              </a:solidFill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?</a:t>
            </a:r>
            <a:r>
              <a:rPr lang="en-US" dirty="0">
                <a:cs typeface="Arial"/>
              </a:rPr>
              <a:t> and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:</a:t>
            </a:r>
            <a:r>
              <a:rPr lang="en-US" dirty="0">
                <a:cs typeface="Arial"/>
              </a:rPr>
              <a:t> together are call the </a:t>
            </a:r>
            <a:r>
              <a:rPr lang="en-US" i="1" dirty="0">
                <a:cs typeface="Arial"/>
              </a:rPr>
              <a:t>conditional operator </a:t>
            </a:r>
            <a:r>
              <a:rPr lang="en-US" dirty="0">
                <a:cs typeface="Arial"/>
              </a:rPr>
              <a:t>or </a:t>
            </a:r>
            <a:r>
              <a:rPr lang="en-US" i="1" dirty="0">
                <a:cs typeface="Arial"/>
              </a:rPr>
              <a:t>ternary operator.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943662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24560" y="756077"/>
            <a:ext cx="753364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>
                <a:latin typeface="Calibri Light" charset="0"/>
              </a:rPr>
              <a:t>The Conditional Operator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24559" y="1677591"/>
            <a:ext cx="781780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The conditional operator is useful with print and </a:t>
            </a:r>
            <a:r>
              <a:rPr lang="en-US" sz="2000" dirty="0" err="1">
                <a:cs typeface="Arial"/>
              </a:rPr>
              <a:t>println</a:t>
            </a:r>
            <a:r>
              <a:rPr lang="en-US" sz="2000" dirty="0">
                <a:cs typeface="Arial"/>
              </a:rPr>
              <a:t> statements.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("You worked " +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	((hours &gt; 1) ? "hours" ; "hour"));</a:t>
            </a:r>
          </a:p>
        </p:txBody>
      </p:sp>
    </p:spTree>
    <p:extLst>
      <p:ext uri="{BB962C8B-B14F-4D97-AF65-F5344CB8AC3E}">
        <p14:creationId xmlns:p14="http://schemas.microsoft.com/office/powerpoint/2010/main" val="185750574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3120" y="504856"/>
            <a:ext cx="78536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exit</a:t>
            </a:r>
            <a:r>
              <a:rPr lang="en-US" dirty="0">
                <a:cs typeface="Arial"/>
              </a:rPr>
              <a:t> Method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4240" y="1371600"/>
            <a:ext cx="755396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Sometimes a situation arises that makes continuing the program pointless.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 program can be terminated normally by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System.exit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(0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)</a:t>
            </a:r>
            <a:r>
              <a:rPr lang="en-US" altLang="ko-KR" sz="2000" b="1" dirty="0" smtClean="0">
                <a:solidFill>
                  <a:schemeClr val="accent2"/>
                </a:solidFill>
                <a:cs typeface="Arial"/>
              </a:rPr>
              <a:t>;</a:t>
            </a:r>
            <a:endParaRPr lang="en-US" sz="2000" b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551865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" y="504856"/>
            <a:ext cx="781304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exit</a:t>
            </a:r>
            <a:r>
              <a:rPr lang="en-US" dirty="0">
                <a:cs typeface="Arial"/>
              </a:rPr>
              <a:t> Method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3760" y="1290320"/>
            <a:ext cx="7584440" cy="3360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buFont typeface="Wingdings" charset="0"/>
              <a:buNone/>
            </a:pPr>
            <a:r>
              <a:rPr lang="en-US" b="1" dirty="0" smtClean="0">
                <a:solidFill>
                  <a:schemeClr val="accent2"/>
                </a:solidFill>
                <a:cs typeface="Arial"/>
              </a:rPr>
              <a:t>if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numberOfWinners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== 0)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{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("Error: Dividing by zero.");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System.exit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(0);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}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else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{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oneShare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= payoff /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numberOfWinners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;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("Each winner will receive $" +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oneShare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);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>
                <a:solidFill>
                  <a:schemeClr val="accent2"/>
                </a:solidFill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724691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504856"/>
            <a:ext cx="78232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Type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boolean</a:t>
            </a:r>
            <a:endParaRPr lang="en-US" dirty="0">
              <a:cs typeface="Arial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3600" y="1200150"/>
            <a:ext cx="78232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The type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 dirty="0">
                <a:cs typeface="Arial"/>
              </a:rPr>
              <a:t> is a primitive type with only two values: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true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false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Boolean variables can make programs more readable.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systemsAreOK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instead of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if((temperature &lt;= 100) &amp;&amp; (thrust &gt;= 12000) &amp;&amp; 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cabinPressure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&gt; 30) &amp;&amp; …)</a:t>
            </a:r>
          </a:p>
        </p:txBody>
      </p:sp>
    </p:spTree>
    <p:extLst>
      <p:ext uri="{BB962C8B-B14F-4D97-AF65-F5344CB8AC3E}">
        <p14:creationId xmlns:p14="http://schemas.microsoft.com/office/powerpoint/2010/main" val="62435013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83920" y="633902"/>
            <a:ext cx="757428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Boolean Expressions and Variables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3920" y="1690688"/>
            <a:ext cx="784352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Variables, constants, and expressions of type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 dirty="0">
                <a:cs typeface="Arial"/>
              </a:rPr>
              <a:t> all evaluate to either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true</a:t>
            </a:r>
            <a:r>
              <a:rPr lang="en-US" sz="2000" dirty="0">
                <a:cs typeface="Arial"/>
              </a:rPr>
              <a:t> or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false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</a:t>
            </a:r>
            <a:r>
              <a:rPr lang="en-US" sz="2000" dirty="0" err="1">
                <a:cs typeface="Arial"/>
              </a:rPr>
              <a:t>boolean</a:t>
            </a:r>
            <a:r>
              <a:rPr lang="en-US" sz="2000" dirty="0">
                <a:cs typeface="Arial"/>
              </a:rPr>
              <a:t> variable can be given the value of a </a:t>
            </a:r>
            <a:r>
              <a:rPr lang="en-US" sz="2000" dirty="0" err="1">
                <a:cs typeface="Arial"/>
              </a:rPr>
              <a:t>boolean</a:t>
            </a:r>
            <a:r>
              <a:rPr lang="en-US" sz="2000" dirty="0">
                <a:cs typeface="Arial"/>
              </a:rPr>
              <a:t> expression by using an assignment operator.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isPositive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(number &gt; 0);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...</a:t>
            </a:r>
          </a:p>
          <a:p>
            <a:pPr lvl="2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if 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isPositive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 ...</a:t>
            </a:r>
          </a:p>
        </p:txBody>
      </p:sp>
    </p:spTree>
    <p:extLst>
      <p:ext uri="{BB962C8B-B14F-4D97-AF65-F5344CB8AC3E}">
        <p14:creationId xmlns:p14="http://schemas.microsoft.com/office/powerpoint/2010/main" val="218236086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504856"/>
            <a:ext cx="782320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Precedence Rules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3599" y="1930003"/>
            <a:ext cx="786606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Parentheses should be used to indicate the order of operations.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When parentheses are omitted, the order of operation is determined by </a:t>
            </a:r>
            <a:r>
              <a:rPr lang="en-US" sz="2000" i="1" dirty="0">
                <a:cs typeface="Arial"/>
              </a:rPr>
              <a:t>precedence rules.</a:t>
            </a:r>
          </a:p>
        </p:txBody>
      </p:sp>
    </p:spTree>
    <p:extLst>
      <p:ext uri="{BB962C8B-B14F-4D97-AF65-F5344CB8AC3E}">
        <p14:creationId xmlns:p14="http://schemas.microsoft.com/office/powerpoint/2010/main" val="143192856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04240" y="504856"/>
            <a:ext cx="778256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Precedence Rules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4240" y="1472804"/>
            <a:ext cx="7796848" cy="190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Operations with </a:t>
            </a:r>
            <a:r>
              <a:rPr lang="en-US" sz="2000" i="1" dirty="0">
                <a:cs typeface="Arial"/>
              </a:rPr>
              <a:t>higher precedence </a:t>
            </a:r>
            <a:r>
              <a:rPr lang="en-US" sz="2000" dirty="0">
                <a:cs typeface="Arial"/>
              </a:rPr>
              <a:t>are performed before operations with </a:t>
            </a:r>
            <a:r>
              <a:rPr lang="en-US" sz="2000" i="1" dirty="0">
                <a:cs typeface="Arial"/>
              </a:rPr>
              <a:t>lower precedence.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Operations with </a:t>
            </a:r>
            <a:r>
              <a:rPr lang="en-US" sz="2000" i="1" dirty="0">
                <a:cs typeface="Arial"/>
              </a:rPr>
              <a:t>equal precedence</a:t>
            </a:r>
            <a:r>
              <a:rPr lang="en-US" sz="2000" dirty="0">
                <a:cs typeface="Arial"/>
              </a:rPr>
              <a:t> are done left-to-right (except for unary operations which are done right-to-left).</a:t>
            </a:r>
          </a:p>
          <a:p>
            <a:pPr marL="457200" indent="-457200" eaLnBrk="1" hangingPunct="1">
              <a:buFont typeface="Wingdings" charset="2"/>
              <a:buChar char="v"/>
            </a:pPr>
            <a:endParaRPr lang="en-US" sz="28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2271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432067"/>
            <a:ext cx="7707862" cy="415498"/>
          </a:xfrm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Calibri Light" charset="0"/>
              </a:rPr>
              <a:t>Precedence Rules</a:t>
            </a:r>
          </a:p>
        </p:txBody>
      </p:sp>
      <p:pic>
        <p:nvPicPr>
          <p:cNvPr id="5530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124744"/>
            <a:ext cx="5287962" cy="3646885"/>
          </a:xfrm>
          <a:prstGeom prst="rect">
            <a:avLst/>
          </a:prstGeom>
          <a:noFill/>
          <a:ln w="12700">
            <a:solidFill>
              <a:srgbClr val="66FFCC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20313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924560" y="504856"/>
            <a:ext cx="776224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Calibri Light" charset="0"/>
              </a:rPr>
              <a:t>Precedence Rules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02640" y="1200150"/>
            <a:ext cx="788416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/>
            <a:r>
              <a:rPr lang="en-US" sz="2000" dirty="0">
                <a:cs typeface="Arial"/>
              </a:rPr>
              <a:t> </a:t>
            </a:r>
            <a:r>
              <a:rPr lang="en-US" sz="2000" dirty="0" smtClean="0">
                <a:cs typeface="Arial"/>
              </a:rPr>
              <a:t>In </a:t>
            </a:r>
            <a:r>
              <a:rPr lang="en-US" sz="2000" dirty="0">
                <a:cs typeface="Arial"/>
              </a:rPr>
              <a:t>what order are the operations performed?</a:t>
            </a:r>
          </a:p>
          <a:p>
            <a:pPr marL="457200" lvl="1" indent="-342900" eaLnBrk="1" hangingPunct="1">
              <a:buFont typeface="Wingdings" charset="0"/>
              <a:buNone/>
            </a:pPr>
            <a:endParaRPr lang="en-US" sz="2000" dirty="0">
              <a:cs typeface="Arial"/>
            </a:endParaRPr>
          </a:p>
          <a:p>
            <a:pPr marL="457200" lvl="1" indent="-342900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score &lt; min/2 - 10 || score &gt; 90</a:t>
            </a:r>
          </a:p>
          <a:p>
            <a:pPr marL="457200" lvl="1" indent="-342900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score &lt; (min/2) - 10 || score &gt; 90</a:t>
            </a:r>
          </a:p>
          <a:p>
            <a:pPr marL="457200" lvl="1" indent="-342900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score &lt; ((min/2) - 10) || score &gt; 90</a:t>
            </a:r>
          </a:p>
          <a:p>
            <a:pPr marL="457200" lvl="1" indent="-342900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(score &lt; ((min/2) - 10)) || score &gt; 90</a:t>
            </a:r>
          </a:p>
          <a:p>
            <a:pPr marL="457200" lvl="1" indent="-342900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(score &lt; ((min/2) - 10)) || (score &gt; 90)</a:t>
            </a:r>
          </a:p>
        </p:txBody>
      </p:sp>
    </p:spTree>
    <p:extLst>
      <p:ext uri="{BB962C8B-B14F-4D97-AF65-F5344CB8AC3E}">
        <p14:creationId xmlns:p14="http://schemas.microsoft.com/office/powerpoint/2010/main" val="132260440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" y="557854"/>
            <a:ext cx="788416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Input and Output of Boolean Values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3759" y="1635760"/>
            <a:ext cx="7752081" cy="2654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buFont typeface="Wingdings" charset="0"/>
              <a:buNone/>
            </a:pPr>
            <a:r>
              <a:rPr lang="en-US" sz="2000" b="1" dirty="0" err="1" smtClean="0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booleanVar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false;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booleanVar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("Enter a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value:");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Scanner keyboard = new Scanner(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System.in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booleanVar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keyboard.nextBoolean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("You entered " +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booleanVar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);</a:t>
            </a:r>
          </a:p>
          <a:p>
            <a:pPr lvl="1" eaLnBrk="1" hangingPunct="1">
              <a:buFont typeface="Wingdings" charset="0"/>
              <a:buNone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204218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latin typeface="Calibri Light" charset="0"/>
              </a:rPr>
              <a:t>Input Validation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Address these problems by ensuring that the entered values are reasonable:</a:t>
            </a: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814388" y="2262188"/>
            <a:ext cx="6043612" cy="1867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457200">
              <a:lnSpc>
                <a:spcPct val="107000"/>
              </a:lnSpc>
            </a:pPr>
            <a:r>
              <a:rPr lang="en-US" b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int </a:t>
            </a: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feet = keyboard.nextInt();</a:t>
            </a:r>
            <a:endParaRPr lang="en-US" sz="2400" b="1">
              <a:latin typeface="Calibri" charset="0"/>
              <a:ea typeface="Calibri" charset="0"/>
              <a:cs typeface="Times New Roman" charset="0"/>
            </a:endParaRPr>
          </a:p>
          <a:p>
            <a:pPr indent="457200">
              <a:lnSpc>
                <a:spcPct val="107000"/>
              </a:lnSpc>
            </a:pPr>
            <a:r>
              <a:rPr lang="en-US" b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if </a:t>
            </a: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((feet &gt;= 0) &amp;&amp; (feet &lt; 10))</a:t>
            </a:r>
            <a:endParaRPr lang="en-US" sz="2400" b="1">
              <a:latin typeface="Calibri" charset="0"/>
              <a:ea typeface="Calibri" charset="0"/>
              <a:cs typeface="Times New Roman" charset="0"/>
            </a:endParaRPr>
          </a:p>
          <a:p>
            <a:pPr indent="457200">
              <a:lnSpc>
                <a:spcPct val="107000"/>
              </a:lnSpc>
            </a:pP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{</a:t>
            </a:r>
            <a:endParaRPr lang="en-US" sz="2400" b="1">
              <a:latin typeface="Calibri" charset="0"/>
              <a:ea typeface="Calibri" charset="0"/>
              <a:cs typeface="Times New Roman" charset="0"/>
            </a:endParaRPr>
          </a:p>
          <a:p>
            <a:pPr indent="457200">
              <a:lnSpc>
                <a:spcPct val="107000"/>
              </a:lnSpc>
            </a:pP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  </a:t>
            </a:r>
            <a:r>
              <a:rPr lang="en-US" b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int </a:t>
            </a: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inches = feet * 12;</a:t>
            </a:r>
            <a:endParaRPr lang="en-US" sz="2400" b="1">
              <a:latin typeface="Calibri" charset="0"/>
              <a:ea typeface="Calibri" charset="0"/>
              <a:cs typeface="Times New Roman" charset="0"/>
            </a:endParaRPr>
          </a:p>
          <a:p>
            <a:pPr indent="457200">
              <a:lnSpc>
                <a:spcPct val="107000"/>
              </a:lnSpc>
            </a:pP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  ...</a:t>
            </a:r>
            <a:br>
              <a:rPr lang="en-US" b="1">
                <a:latin typeface="Courier New" charset="0"/>
                <a:ea typeface="Calibri" charset="0"/>
                <a:cs typeface="Times New Roman" charset="0"/>
              </a:rPr>
            </a:br>
            <a:r>
              <a:rPr lang="en-US" b="1">
                <a:latin typeface="Courier New" charset="0"/>
                <a:ea typeface="Calibri" charset="0"/>
                <a:cs typeface="Times New Roman" charset="0"/>
              </a:rPr>
              <a:t>   }</a:t>
            </a:r>
            <a:endParaRPr lang="en-US" sz="2400" b="1">
              <a:latin typeface="Calibri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6798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43280" y="504856"/>
            <a:ext cx="784352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dirty="0">
                <a:cs typeface="Arial"/>
              </a:rPr>
              <a:t> Statement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43280" y="1200151"/>
            <a:ext cx="784352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sz="2000" dirty="0">
                <a:cs typeface="Arial"/>
              </a:rPr>
              <a:t> statement is a </a:t>
            </a:r>
            <a:r>
              <a:rPr lang="en-US" sz="2000" dirty="0" smtClean="0">
                <a:cs typeface="Arial"/>
              </a:rPr>
              <a:t>multi-way </a:t>
            </a:r>
            <a:r>
              <a:rPr lang="en-US" sz="2000" dirty="0">
                <a:cs typeface="Arial"/>
              </a:rPr>
              <a:t>branch that makes a decision based on an </a:t>
            </a:r>
            <a:r>
              <a:rPr lang="en-US" sz="2000" i="1" dirty="0">
                <a:cs typeface="Arial"/>
              </a:rPr>
              <a:t>integral </a:t>
            </a:r>
            <a:r>
              <a:rPr lang="en-US" sz="2000" dirty="0">
                <a:cs typeface="Arial"/>
              </a:rPr>
              <a:t>(integer or character) expression.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 smtClean="0">
                <a:cs typeface="Arial"/>
              </a:rPr>
              <a:t>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sz="2000" dirty="0">
                <a:cs typeface="Arial"/>
              </a:rPr>
              <a:t> statement begins with the keyword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sz="2000" dirty="0">
                <a:cs typeface="Arial"/>
              </a:rPr>
              <a:t> followed by an integral expression in parentheses and called the </a:t>
            </a:r>
            <a:r>
              <a:rPr lang="en-US" sz="2000" i="1" dirty="0">
                <a:cs typeface="Arial"/>
              </a:rPr>
              <a:t>controlling expression.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221124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" y="504856"/>
            <a:ext cx="781304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dirty="0">
                <a:cs typeface="Arial"/>
              </a:rPr>
              <a:t> Statement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3760" y="1314450"/>
            <a:ext cx="758444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list of cases follows, enclosed in braces.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Each case consists of the keyword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case</a:t>
            </a:r>
            <a:r>
              <a:rPr lang="en-US" sz="2000" dirty="0">
                <a:cs typeface="Arial"/>
              </a:rPr>
              <a:t> followed by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 constant called the </a:t>
            </a:r>
            <a:r>
              <a:rPr lang="en-US" sz="2000" i="1" dirty="0">
                <a:cs typeface="Arial"/>
              </a:rPr>
              <a:t>case label</a:t>
            </a:r>
            <a:endParaRPr lang="en-US" sz="2000" dirty="0">
              <a:cs typeface="Arial"/>
            </a:endParaRP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 colon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 list of statements.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The list is searched for a case label matching the controlling expression.</a:t>
            </a:r>
          </a:p>
        </p:txBody>
      </p:sp>
    </p:spTree>
    <p:extLst>
      <p:ext uri="{BB962C8B-B14F-4D97-AF65-F5344CB8AC3E}">
        <p14:creationId xmlns:p14="http://schemas.microsoft.com/office/powerpoint/2010/main" val="409873710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02640" y="508427"/>
            <a:ext cx="7884160" cy="415498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dirty="0">
                <a:cs typeface="Arial"/>
              </a:rPr>
              <a:t> Statement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02640" y="1140302"/>
            <a:ext cx="7655560" cy="3724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buFont typeface="Wingdings" charset="0"/>
              <a:buNone/>
            </a:pPr>
            <a:r>
              <a:rPr lang="en-US" sz="2000" b="1" i="1" dirty="0" smtClean="0">
                <a:solidFill>
                  <a:schemeClr val="accent2"/>
                </a:solidFill>
                <a:cs typeface="Arial"/>
              </a:rPr>
              <a:t>switch 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sz="2000" b="1" i="1" dirty="0" err="1">
                <a:solidFill>
                  <a:schemeClr val="accent2"/>
                </a:solidFill>
                <a:cs typeface="Arial"/>
              </a:rPr>
              <a:t>Controlling_Expression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{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case </a:t>
            </a:r>
            <a:r>
              <a:rPr lang="en-US" sz="2000" b="1" i="1" dirty="0" err="1">
                <a:solidFill>
                  <a:schemeClr val="accent2"/>
                </a:solidFill>
                <a:cs typeface="Arial"/>
              </a:rPr>
              <a:t>Case_Label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: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	Statement(s);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	break;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case </a:t>
            </a:r>
            <a:r>
              <a:rPr lang="en-US" sz="2000" b="1" i="1" dirty="0" err="1">
                <a:solidFill>
                  <a:schemeClr val="accent2"/>
                </a:solidFill>
                <a:cs typeface="Arial"/>
              </a:rPr>
              <a:t>Case_Label</a:t>
            </a:r>
            <a:r>
              <a:rPr lang="en-US" sz="2000" b="1" i="1" dirty="0">
                <a:solidFill>
                  <a:schemeClr val="accent2"/>
                </a:solidFill>
                <a:cs typeface="Arial"/>
              </a:rPr>
              <a:t>: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…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default: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		…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 dirty="0">
                <a:solidFill>
                  <a:schemeClr val="accent2"/>
                </a:solidFill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75353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Enumerations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Consider a need to restrict contents of a variable to certain values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An enumeration lists the values a variable can have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</a:t>
            </a:r>
            <a:br>
              <a:rPr lang="en-US" sz="2000" dirty="0">
                <a:cs typeface="Arial"/>
              </a:rPr>
            </a:br>
            <a:r>
              <a:rPr lang="pt-BR" sz="2000" b="1" dirty="0" err="1">
                <a:solidFill>
                  <a:schemeClr val="accent2"/>
                </a:solidFill>
                <a:cs typeface="Arial"/>
              </a:rPr>
              <a:t>enum</a:t>
            </a:r>
            <a:r>
              <a:rPr lang="pt-BR" sz="2000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pt-BR" sz="2000" b="1" dirty="0" err="1">
                <a:solidFill>
                  <a:schemeClr val="accent2"/>
                </a:solidFill>
                <a:cs typeface="Arial"/>
              </a:rPr>
              <a:t>MovieRating</a:t>
            </a:r>
            <a:r>
              <a:rPr lang="pt-BR" sz="2000" b="1" dirty="0">
                <a:solidFill>
                  <a:schemeClr val="accent2"/>
                </a:solidFill>
                <a:cs typeface="Arial"/>
              </a:rPr>
              <a:t> {E, A, </a:t>
            </a:r>
            <a:r>
              <a:rPr lang="pt-BR" sz="2000" b="1" dirty="0" err="1">
                <a:solidFill>
                  <a:schemeClr val="accent2"/>
                </a:solidFill>
                <a:cs typeface="Arial"/>
              </a:rPr>
              <a:t>B</a:t>
            </a:r>
            <a:r>
              <a:rPr lang="pt-BR" sz="2000" b="1" dirty="0">
                <a:solidFill>
                  <a:schemeClr val="accent2"/>
                </a:solidFill>
                <a:cs typeface="Arial"/>
              </a:rPr>
              <a:t>}</a:t>
            </a:r>
            <a:br>
              <a:rPr lang="pt-BR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MovieRating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rating;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rating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MovieRating.A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5324576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Enumerations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cs typeface="Arial"/>
              </a:rPr>
              <a:t>Now possible to use in a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switch</a:t>
            </a:r>
            <a:r>
              <a:rPr lang="en-US" sz="2000" dirty="0">
                <a:cs typeface="Arial"/>
              </a:rPr>
              <a:t> statement</a:t>
            </a:r>
          </a:p>
        </p:txBody>
      </p:sp>
      <p:pic>
        <p:nvPicPr>
          <p:cNvPr id="706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6" y="2008585"/>
            <a:ext cx="6638925" cy="2321719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4"/>
          <p:cNvSpPr>
            <a:spLocks noChangeArrowheads="1"/>
          </p:cNvSpPr>
          <p:nvPr/>
        </p:nvSpPr>
        <p:spPr bwMode="auto">
          <a:xfrm>
            <a:off x="1839914" y="4075510"/>
            <a:ext cx="1519237" cy="2071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6237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Enumerations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90320"/>
            <a:ext cx="7566574" cy="334240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cs typeface="Arial"/>
              </a:rPr>
              <a:t>An even better choice of descriptive identifiers for the constants</a:t>
            </a:r>
            <a:br>
              <a:rPr lang="en-US" sz="2000" dirty="0">
                <a:cs typeface="Arial"/>
              </a:rPr>
            </a:br>
            <a:r>
              <a:rPr lang="en-US" sz="2000" dirty="0">
                <a:cs typeface="Arial"/>
              </a:rPr>
              <a:t/>
            </a:r>
            <a:br>
              <a:rPr lang="en-US" sz="2000" dirty="0">
                <a:cs typeface="Arial"/>
              </a:rPr>
            </a:b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enum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MovieRating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      {EXCELLENT, AVERAGE, BAD}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rating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MovieRating.AVERAGE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;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/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case EXCELLENT:  ...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/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379486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14438</TotalTime>
  <Words>1740</Words>
  <Application>Microsoft Macintosh PowerPoint</Application>
  <PresentationFormat>On-screen Show (16:9)</PresentationFormat>
  <Paragraphs>281</Paragraphs>
  <Slides>51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3" baseType="lpstr">
      <vt:lpstr>Jobtalk_UF</vt:lpstr>
      <vt:lpstr>SU_Template_TopBar</vt:lpstr>
      <vt:lpstr>Flow of control (Chapter 3)</vt:lpstr>
      <vt:lpstr>PowerPoint Presentation</vt:lpstr>
      <vt:lpstr>The if-else Statement: Outline</vt:lpstr>
      <vt:lpstr>The if-else Statement</vt:lpstr>
      <vt:lpstr>The if-else Statement: example</vt:lpstr>
      <vt:lpstr>The if-else Statement</vt:lpstr>
      <vt:lpstr>The semantics of the if-else Statement</vt:lpstr>
      <vt:lpstr>Compound Statements</vt:lpstr>
      <vt:lpstr>Omitting the else Part</vt:lpstr>
      <vt:lpstr>Introduction to Boolean Expressions</vt:lpstr>
      <vt:lpstr>Java Comparison Operators</vt:lpstr>
      <vt:lpstr>Compound Boolean Expressions</vt:lpstr>
      <vt:lpstr>Compound Boolean Expressions</vt:lpstr>
      <vt:lpstr>Compound Boolean Expressions</vt:lpstr>
      <vt:lpstr>Negating a Boolean Expression</vt:lpstr>
      <vt:lpstr>Negating a Boolean Expression </vt:lpstr>
      <vt:lpstr>Java Logical Operators</vt:lpstr>
      <vt:lpstr>Boolean Operators</vt:lpstr>
      <vt:lpstr>Using ==</vt:lpstr>
      <vt:lpstr>Using ==</vt:lpstr>
      <vt:lpstr>Using == </vt:lpstr>
      <vt:lpstr>equals and equalsIgnoreCase</vt:lpstr>
      <vt:lpstr>Lexicographic Order</vt:lpstr>
      <vt:lpstr>Lexicographic Order</vt:lpstr>
      <vt:lpstr>Method compareTo</vt:lpstr>
      <vt:lpstr>Nested if-else Statements</vt:lpstr>
      <vt:lpstr>Nested Statements</vt:lpstr>
      <vt:lpstr>Nested Statements</vt:lpstr>
      <vt:lpstr>Compound Statements</vt:lpstr>
      <vt:lpstr>Compound Statements</vt:lpstr>
      <vt:lpstr>Multibranch if-else Statements</vt:lpstr>
      <vt:lpstr>Multibranch if-else Statements</vt:lpstr>
      <vt:lpstr>Multibranch if-else Statements</vt:lpstr>
      <vt:lpstr>The Conditional Operator</vt:lpstr>
      <vt:lpstr>The Conditional Operator</vt:lpstr>
      <vt:lpstr>The exit Method</vt:lpstr>
      <vt:lpstr>The exit Method</vt:lpstr>
      <vt:lpstr>The Type boolean</vt:lpstr>
      <vt:lpstr>Boolean Expressions and Variables</vt:lpstr>
      <vt:lpstr>Precedence Rules</vt:lpstr>
      <vt:lpstr>Precedence Rules</vt:lpstr>
      <vt:lpstr>Precedence Rules</vt:lpstr>
      <vt:lpstr>Precedence Rules</vt:lpstr>
      <vt:lpstr>Input and Output of Boolean Values</vt:lpstr>
      <vt:lpstr>Input Validation</vt:lpstr>
      <vt:lpstr>The switch Statement</vt:lpstr>
      <vt:lpstr>The switch Statement</vt:lpstr>
      <vt:lpstr>The switch Statement</vt:lpstr>
      <vt:lpstr>Enumerations</vt:lpstr>
      <vt:lpstr>Enumerations</vt:lpstr>
      <vt:lpstr>Enumerations</vt:lpstr>
    </vt:vector>
  </TitlesOfParts>
  <Company>Stanford University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curator</cp:lastModifiedBy>
  <cp:revision>1421</cp:revision>
  <cp:lastPrinted>2016-01-15T22:14:07Z</cp:lastPrinted>
  <dcterms:created xsi:type="dcterms:W3CDTF">2016-01-04T21:30:26Z</dcterms:created>
  <dcterms:modified xsi:type="dcterms:W3CDTF">2016-09-22T00:48:16Z</dcterms:modified>
</cp:coreProperties>
</file>