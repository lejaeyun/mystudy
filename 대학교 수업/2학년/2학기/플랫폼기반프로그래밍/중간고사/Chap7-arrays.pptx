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99" r:id="rId2"/>
  </p:sldMasterIdLst>
  <p:notesMasterIdLst>
    <p:notesMasterId r:id="rId37"/>
  </p:notesMasterIdLst>
  <p:handoutMasterIdLst>
    <p:handoutMasterId r:id="rId38"/>
  </p:handoutMasterIdLst>
  <p:sldIdLst>
    <p:sldId id="409" r:id="rId3"/>
    <p:sldId id="410" r:id="rId4"/>
    <p:sldId id="411" r:id="rId5"/>
    <p:sldId id="413" r:id="rId6"/>
    <p:sldId id="414" r:id="rId7"/>
    <p:sldId id="415" r:id="rId8"/>
    <p:sldId id="416" r:id="rId9"/>
    <p:sldId id="418" r:id="rId10"/>
    <p:sldId id="419" r:id="rId11"/>
    <p:sldId id="420" r:id="rId12"/>
    <p:sldId id="421" r:id="rId13"/>
    <p:sldId id="422" r:id="rId14"/>
    <p:sldId id="423" r:id="rId15"/>
    <p:sldId id="424" r:id="rId16"/>
    <p:sldId id="461" r:id="rId17"/>
    <p:sldId id="462" r:id="rId18"/>
    <p:sldId id="425" r:id="rId19"/>
    <p:sldId id="426" r:id="rId20"/>
    <p:sldId id="427" r:id="rId21"/>
    <p:sldId id="428" r:id="rId22"/>
    <p:sldId id="429" r:id="rId23"/>
    <p:sldId id="431" r:id="rId24"/>
    <p:sldId id="432" r:id="rId25"/>
    <p:sldId id="433" r:id="rId26"/>
    <p:sldId id="463" r:id="rId27"/>
    <p:sldId id="434" r:id="rId28"/>
    <p:sldId id="435" r:id="rId29"/>
    <p:sldId id="436" r:id="rId30"/>
    <p:sldId id="438" r:id="rId31"/>
    <p:sldId id="437" r:id="rId32"/>
    <p:sldId id="439" r:id="rId33"/>
    <p:sldId id="464" r:id="rId34"/>
    <p:sldId id="440" r:id="rId35"/>
    <p:sldId id="441" r:id="rId36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A44"/>
    <a:srgbClr val="D0A760"/>
    <a:srgbClr val="8C1515"/>
    <a:srgbClr val="D6DDD3"/>
    <a:srgbClr val="EDE8DD"/>
    <a:srgbClr val="C2B7A1"/>
    <a:srgbClr val="918873"/>
    <a:srgbClr val="3C3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70" autoAdjust="0"/>
    <p:restoredTop sz="98627" autoAdjust="0"/>
  </p:normalViewPr>
  <p:slideViewPr>
    <p:cSldViewPr snapToGrid="0" snapToObjects="1">
      <p:cViewPr>
        <p:scale>
          <a:sx n="125" d="100"/>
          <a:sy n="125" d="100"/>
        </p:scale>
        <p:origin x="-848" y="-26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9" Type="http://schemas.openxmlformats.org/officeDocument/2006/relationships/slide" Target="slides/slide7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printerSettings" Target="printerSettings/printerSettings1.bin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E057C042-89AF-7C4F-814C-314EFA3A3EE1}" type="datetimeFigureOut">
              <a:rPr lang="en-US"/>
              <a:pPr/>
              <a:t>10/20/16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F4901583-69B2-544D-B088-2FDC2234E5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53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50284C57-E8CD-D545-98D2-D98BB465D38A}" type="datetimeFigureOut">
              <a:rPr lang="en-US"/>
              <a:pPr/>
              <a:t>10/20/16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DCF55573-23BE-7541-92D3-8BDD66C16B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1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emf"/><Relationship Id="rId3" Type="http://schemas.openxmlformats.org/officeDocument/2006/relationships/image" Target="../media/image3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40319" y="1071091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Text Placeholder 33"/>
          <p:cNvSpPr>
            <a:spLocks noGrp="1"/>
          </p:cNvSpPr>
          <p:nvPr userDrawn="1">
            <p:ph type="body" sz="quarter" idx="18"/>
          </p:nvPr>
        </p:nvSpPr>
        <p:spPr>
          <a:xfrm>
            <a:off x="1586494" y="2877596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 userDrawn="1">
            <p:ph type="subTitle" idx="1"/>
          </p:nvPr>
        </p:nvSpPr>
        <p:spPr>
          <a:xfrm>
            <a:off x="440319" y="1689564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514" name="Picture 5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46986" y="3477453"/>
            <a:ext cx="1158660" cy="1158660"/>
          </a:xfrm>
          <a:prstGeom prst="rect">
            <a:avLst/>
          </a:prstGeom>
        </p:spPr>
      </p:pic>
      <p:pic>
        <p:nvPicPr>
          <p:cNvPr id="515" name="Picture 5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67806" y="3505379"/>
            <a:ext cx="1158660" cy="115866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buNone/>
              <a:defRPr sz="1200"/>
            </a:lvl1pPr>
          </a:lstStyle>
          <a:p>
            <a:pPr lvl="0"/>
            <a:r>
              <a:rPr lang="en-US" noProof="0" smtClean="0"/>
              <a:t>Drag picture to placeholder or click icon to add</a:t>
            </a:r>
            <a:endParaRPr lang="en-US" noProof="0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2pPr marL="0" indent="0">
              <a:buFont typeface="Arial"/>
              <a:buNone/>
              <a:defRPr baseline="0"/>
            </a:lvl2pPr>
            <a:lvl3pPr marL="344488" indent="0">
              <a:buNone/>
              <a:defRPr/>
            </a:lvl3pPr>
            <a:lvl4pPr marL="687387" indent="0">
              <a:buNone/>
              <a:defRPr/>
            </a:lvl4pPr>
            <a:lvl5pPr marL="1031875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D308AB99-1C09-3141-9A6B-ED1B38F7FDA2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693FA0A-839A-9247-9A67-1FC47B7B8576}" type="datetimeFigureOut">
              <a:rPr lang="en-US"/>
              <a:pPr/>
              <a:t>10/20/16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FBC074-9BA2-B943-8697-4BF185FAF12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70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SUSig_White.eps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0350" y="4811713"/>
            <a:ext cx="2046288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00555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Text Placeholder 33"/>
          <p:cNvSpPr>
            <a:spLocks noGrp="1"/>
          </p:cNvSpPr>
          <p:nvPr>
            <p:ph type="body" sz="quarter" idx="18"/>
          </p:nvPr>
        </p:nvSpPr>
        <p:spPr>
          <a:xfrm>
            <a:off x="1603375" y="3599022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457200" y="2419028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rgbClr val="A4001D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defRPr lang="en-US" sz="1200" dirty="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6011AB87-0029-AF46-BA7B-14EC2941E070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theme" Target="../theme/theme2.xml"/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7E9329A1-051D-4748-88E9-0F62A5F8FD3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9" r:id="rId9"/>
  </p:sldLayoutIdLst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defRPr kern="1200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49034457-845F-754F-BC5C-07288356842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094" r:id="rId3"/>
    <p:sldLayoutId id="2147484095" r:id="rId4"/>
    <p:sldLayoutId id="2147484096" r:id="rId5"/>
    <p:sldLayoutId id="2147484097" r:id="rId6"/>
    <p:sldLayoutId id="2147484098" r:id="rId7"/>
  </p:sldLayoutIdLst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02" charset="0"/>
        <a:defRPr sz="1600" kern="1200" cap="small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CodeSamples4.htm%23Listing%207.9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cs typeface="Arial"/>
              </a:rPr>
              <a:t>Arrays (Chapter 7)</a:t>
            </a:r>
            <a:endParaRPr lang="en-US" dirty="0">
              <a:cs typeface="Arial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452879"/>
            <a:ext cx="7566574" cy="3179843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400" dirty="0" smtClean="0">
                <a:cs typeface="Arial"/>
              </a:rPr>
              <a:t>Arrays in classes and methods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400" dirty="0" smtClean="0">
                <a:cs typeface="Arial"/>
              </a:rPr>
              <a:t>Programming with arrays and classes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400" dirty="0" smtClean="0">
                <a:cs typeface="Arial"/>
              </a:rPr>
              <a:t>Sorting and searching arrays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400" dirty="0" smtClean="0">
                <a:cs typeface="Arial"/>
              </a:rPr>
              <a:t>Multidimensional arrays</a:t>
            </a:r>
          </a:p>
        </p:txBody>
      </p:sp>
    </p:spTree>
    <p:extLst>
      <p:ext uri="{BB962C8B-B14F-4D97-AF65-F5344CB8AC3E}">
        <p14:creationId xmlns:p14="http://schemas.microsoft.com/office/powerpoint/2010/main" val="2017413053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Creating and Accessing Arrays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4294967295"/>
          </p:nvPr>
        </p:nvSpPr>
        <p:spPr>
          <a:xfrm>
            <a:off x="948776" y="993299"/>
            <a:ext cx="7707862" cy="3263504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An array is a special kind of object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Think of as collection of variables of same type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Creating an array with 7 variables of type double</a:t>
            </a:r>
          </a:p>
          <a:p>
            <a:pPr eaLnBrk="1" hangingPunct="1"/>
            <a:endParaRPr lang="en-US" sz="2000" dirty="0">
              <a:cs typeface="Arial"/>
            </a:endParaRPr>
          </a:p>
          <a:p>
            <a:pPr eaLnBrk="1" hangingPunct="1"/>
            <a:endParaRPr lang="en-US" sz="2000" dirty="0">
              <a:cs typeface="Arial"/>
            </a:endParaRP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To access an element use</a:t>
            </a:r>
          </a:p>
          <a:p>
            <a:pPr lvl="2" eaLnBrk="1" hangingPunct="1"/>
            <a:r>
              <a:rPr lang="en-US" sz="2000" dirty="0">
                <a:solidFill>
                  <a:schemeClr val="tx1"/>
                </a:solidFill>
                <a:cs typeface="Arial"/>
              </a:rPr>
              <a:t>The name of the array</a:t>
            </a:r>
          </a:p>
          <a:p>
            <a:pPr lvl="2" eaLnBrk="1" hangingPunct="1"/>
            <a:r>
              <a:rPr lang="en-US" sz="2000" dirty="0">
                <a:solidFill>
                  <a:schemeClr val="tx1"/>
                </a:solidFill>
                <a:cs typeface="Arial"/>
              </a:rPr>
              <a:t>An index number enclosed in braces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Array indices begin at zero</a:t>
            </a:r>
          </a:p>
        </p:txBody>
      </p:sp>
      <p:pic>
        <p:nvPicPr>
          <p:cNvPr id="717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1" y="2225437"/>
            <a:ext cx="4657725" cy="528638"/>
          </a:xfrm>
          <a:prstGeom prst="rect">
            <a:avLst/>
          </a:prstGeom>
          <a:noFill/>
          <a:ln>
            <a:noFill/>
          </a:ln>
          <a:effectLst>
            <a:outerShdw blurRad="63500" dist="88900" dir="2700000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194516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Creating and Accessing Arrays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70001"/>
            <a:ext cx="7707862" cy="1717039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dirty="0" smtClean="0">
                <a:cs typeface="Arial"/>
              </a:rPr>
              <a:t>A </a:t>
            </a:r>
            <a:r>
              <a:rPr lang="en-US" dirty="0">
                <a:cs typeface="Arial"/>
              </a:rPr>
              <a:t>common way to visualize an array</a:t>
            </a: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endParaRPr lang="en-US" dirty="0">
              <a:cs typeface="Arial"/>
            </a:endParaRPr>
          </a:p>
        </p:txBody>
      </p:sp>
      <p:pic>
        <p:nvPicPr>
          <p:cNvPr id="819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418" y="1733551"/>
            <a:ext cx="4594542" cy="1106025"/>
          </a:xfrm>
          <a:prstGeom prst="rect">
            <a:avLst/>
          </a:prstGeom>
          <a:noFill/>
          <a:ln>
            <a:noFill/>
          </a:ln>
          <a:effectLst>
            <a:outerShdw blurRad="63500" dist="88900" dir="2700000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90"/>
          <a:stretch/>
        </p:blipFill>
        <p:spPr bwMode="auto">
          <a:xfrm>
            <a:off x="1447800" y="3133136"/>
            <a:ext cx="6589713" cy="251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53" b="89404"/>
          <a:stretch/>
        </p:blipFill>
        <p:spPr bwMode="auto">
          <a:xfrm>
            <a:off x="1447800" y="3368132"/>
            <a:ext cx="6191250" cy="272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34030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Array Details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80160"/>
            <a:ext cx="7707862" cy="3352563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§"/>
            </a:pPr>
            <a:r>
              <a:rPr lang="en-US" dirty="0">
                <a:cs typeface="Arial"/>
              </a:rPr>
              <a:t>Syntax for declaring an array with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new</a:t>
            </a:r>
          </a:p>
          <a:p>
            <a:pPr eaLnBrk="1" hangingPunct="1">
              <a:buFont typeface="Wingdings" charset="2"/>
              <a:buChar char="§"/>
            </a:pPr>
            <a:endParaRPr lang="en-US" b="1" dirty="0">
              <a:solidFill>
                <a:srgbClr val="0033CC"/>
              </a:solidFill>
              <a:cs typeface="Arial"/>
            </a:endParaRPr>
          </a:p>
          <a:p>
            <a:pPr eaLnBrk="1" hangingPunct="1">
              <a:buFont typeface="Wingdings" charset="2"/>
              <a:buChar char="§"/>
            </a:pPr>
            <a:endParaRPr lang="en-US" b="1" dirty="0">
              <a:solidFill>
                <a:srgbClr val="0033CC"/>
              </a:solidFill>
              <a:cs typeface="Arial"/>
            </a:endParaRPr>
          </a:p>
          <a:p>
            <a:pPr marL="0" indent="0" eaLnBrk="1" hangingPunct="1"/>
            <a:endParaRPr lang="en-US" b="1" dirty="0">
              <a:solidFill>
                <a:srgbClr val="0033CC"/>
              </a:solidFill>
              <a:cs typeface="Arial"/>
            </a:endParaRPr>
          </a:p>
          <a:p>
            <a:pPr eaLnBrk="1" hangingPunct="1">
              <a:buFont typeface="Wingdings" charset="2"/>
              <a:buChar char="§"/>
            </a:pPr>
            <a:r>
              <a:rPr lang="en-US" dirty="0">
                <a:cs typeface="Arial"/>
              </a:rPr>
              <a:t>The number of elements in an array is its length</a:t>
            </a:r>
          </a:p>
          <a:p>
            <a:pPr eaLnBrk="1" hangingPunct="1">
              <a:buFont typeface="Wingdings" charset="2"/>
              <a:buChar char="§"/>
            </a:pPr>
            <a:r>
              <a:rPr lang="en-US" dirty="0">
                <a:cs typeface="Arial"/>
              </a:rPr>
              <a:t>The type of the array elements is the array's base type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018" y="1763316"/>
            <a:ext cx="6534150" cy="62388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2797672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Square Brackets with Arrays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§"/>
            </a:pPr>
            <a:r>
              <a:rPr lang="en-US" dirty="0">
                <a:cs typeface="Arial"/>
              </a:rPr>
              <a:t>With a data type when declaring an array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	</a:t>
            </a:r>
            <a:r>
              <a:rPr lang="en-US" b="1" dirty="0" err="1">
                <a:solidFill>
                  <a:srgbClr val="0033CC"/>
                </a:solidFill>
                <a:cs typeface="Arial"/>
              </a:rPr>
              <a:t>int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 [ ] pressure;</a:t>
            </a:r>
          </a:p>
          <a:p>
            <a:pPr eaLnBrk="1" hangingPunct="1">
              <a:buFont typeface="Wingdings" charset="2"/>
              <a:buChar char="§"/>
            </a:pPr>
            <a:r>
              <a:rPr lang="en-US" dirty="0">
                <a:cs typeface="Arial"/>
              </a:rPr>
              <a:t>To enclose an integer expression to declare the length of the array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	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pressure = new </a:t>
            </a:r>
            <a:r>
              <a:rPr lang="en-US" b="1" dirty="0" err="1">
                <a:solidFill>
                  <a:srgbClr val="0033CC"/>
                </a:solidFill>
                <a:cs typeface="Arial"/>
              </a:rPr>
              <a:t>int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 [100];</a:t>
            </a:r>
          </a:p>
          <a:p>
            <a:pPr eaLnBrk="1" hangingPunct="1">
              <a:buFont typeface="Wingdings" charset="2"/>
              <a:buChar char="§"/>
            </a:pPr>
            <a:r>
              <a:rPr lang="en-US" dirty="0">
                <a:cs typeface="Arial"/>
              </a:rPr>
              <a:t>To name an indexed value of the array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	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pressure[3] = </a:t>
            </a:r>
            <a:r>
              <a:rPr lang="en-US" b="1" dirty="0" err="1">
                <a:solidFill>
                  <a:srgbClr val="0033CC"/>
                </a:solidFill>
                <a:cs typeface="Arial"/>
              </a:rPr>
              <a:t>keyboard.nextInt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725993838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Array Details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dirty="0" smtClean="0">
                <a:cs typeface="Arial"/>
              </a:rPr>
              <a:t>Array </a:t>
            </a:r>
            <a:r>
              <a:rPr lang="en-US" dirty="0">
                <a:cs typeface="Arial"/>
              </a:rPr>
              <a:t>terminology</a:t>
            </a:r>
          </a:p>
        </p:txBody>
      </p:sp>
      <p:pic>
        <p:nvPicPr>
          <p:cNvPr id="1229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678" y="1975009"/>
            <a:ext cx="5867400" cy="234910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2883058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a typeface="+mj-ea"/>
                <a:cs typeface="Arial"/>
              </a:rPr>
              <a:t>The Instance Variable </a:t>
            </a:r>
            <a:r>
              <a:rPr lang="en-US" b="1" dirty="0" smtClean="0">
                <a:solidFill>
                  <a:srgbClr val="0033CC"/>
                </a:solidFill>
                <a:ea typeface="+mn-ea"/>
                <a:cs typeface="Arial"/>
              </a:rPr>
              <a:t>length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90320"/>
            <a:ext cx="7707862" cy="334240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000" dirty="0">
                <a:cs typeface="Arial"/>
              </a:rPr>
              <a:t>As an object an array has only one public instance variable</a:t>
            </a:r>
          </a:p>
          <a:p>
            <a:pPr lvl="1" eaLnBrk="1" hangingPunct="1"/>
            <a:r>
              <a:rPr lang="en-US" sz="2000" dirty="0">
                <a:cs typeface="Arial"/>
              </a:rPr>
              <a:t>Variable </a:t>
            </a:r>
            <a:r>
              <a:rPr lang="en-US" sz="2000" b="1" dirty="0">
                <a:solidFill>
                  <a:srgbClr val="0033CC"/>
                </a:solidFill>
                <a:cs typeface="Arial"/>
              </a:rPr>
              <a:t>length</a:t>
            </a:r>
          </a:p>
          <a:p>
            <a:pPr lvl="1" eaLnBrk="1" hangingPunct="1"/>
            <a:r>
              <a:rPr lang="en-US" sz="2000" dirty="0">
                <a:cs typeface="Arial"/>
              </a:rPr>
              <a:t>Contains number of elements in the array</a:t>
            </a:r>
          </a:p>
          <a:p>
            <a:pPr lvl="1" eaLnBrk="1" hangingPunct="1"/>
            <a:r>
              <a:rPr lang="en-US" sz="2000" dirty="0">
                <a:cs typeface="Arial"/>
              </a:rPr>
              <a:t>It is final, value cannot be </a:t>
            </a:r>
            <a:r>
              <a:rPr lang="en-US" sz="2000" dirty="0" smtClean="0">
                <a:cs typeface="Arial"/>
              </a:rPr>
              <a:t>changed</a:t>
            </a:r>
          </a:p>
          <a:p>
            <a:pPr lvl="1" eaLnBrk="1" hangingPunct="1"/>
            <a:endParaRPr lang="en-US" sz="2000" dirty="0">
              <a:cs typeface="Arial"/>
            </a:endParaRPr>
          </a:p>
          <a:p>
            <a:pPr marL="280988" lvl="2" indent="0" eaLnBrk="1" hangingPunct="1">
              <a:buNone/>
            </a:pPr>
            <a:r>
              <a:rPr lang="en-US" sz="2000" dirty="0" smtClean="0">
                <a:solidFill>
                  <a:srgbClr val="000000"/>
                </a:solidFill>
                <a:cs typeface="Arial"/>
              </a:rPr>
              <a:t>e.g. </a:t>
            </a:r>
            <a:r>
              <a:rPr lang="en-US" sz="2000" dirty="0" err="1" smtClean="0">
                <a:solidFill>
                  <a:srgbClr val="000000"/>
                </a:solidFill>
                <a:cs typeface="Arial"/>
              </a:rPr>
              <a:t>temperature.length</a:t>
            </a:r>
            <a:endParaRPr lang="en-US" sz="2000" dirty="0">
              <a:solidFill>
                <a:srgbClr val="00000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7090137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More About Array Indices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085851"/>
            <a:ext cx="7707862" cy="3394472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Index of first array element is 0</a:t>
            </a:r>
          </a:p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Last valid Index is </a:t>
            </a:r>
            <a:r>
              <a:rPr lang="en-US" b="1" dirty="0" err="1">
                <a:solidFill>
                  <a:srgbClr val="0033CC"/>
                </a:solidFill>
                <a:cs typeface="Arial"/>
              </a:rPr>
              <a:t>arrayName.length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 – 1</a:t>
            </a:r>
          </a:p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Array indices must be within bounds to be valid</a:t>
            </a:r>
          </a:p>
          <a:p>
            <a:pPr lvl="2" eaLnBrk="1" hangingPunct="1"/>
            <a:r>
              <a:rPr lang="en-US" dirty="0">
                <a:solidFill>
                  <a:srgbClr val="000000"/>
                </a:solidFill>
                <a:cs typeface="Arial"/>
              </a:rPr>
              <a:t>When program tries to access outside bounds, run time error occurs</a:t>
            </a:r>
          </a:p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OK to "waste" element 0</a:t>
            </a:r>
          </a:p>
          <a:p>
            <a:pPr lvl="2" eaLnBrk="1" hangingPunct="1"/>
            <a:r>
              <a:rPr lang="en-US" dirty="0">
                <a:solidFill>
                  <a:srgbClr val="000000"/>
                </a:solidFill>
                <a:cs typeface="Arial"/>
              </a:rPr>
              <a:t>Program easier to manage and understand</a:t>
            </a:r>
          </a:p>
          <a:p>
            <a:pPr lvl="2" eaLnBrk="1" hangingPunct="1"/>
            <a:r>
              <a:rPr lang="en-US" dirty="0">
                <a:solidFill>
                  <a:srgbClr val="000000"/>
                </a:solidFill>
                <a:cs typeface="Arial"/>
              </a:rPr>
              <a:t>Yet, get used to using index 0</a:t>
            </a:r>
          </a:p>
        </p:txBody>
      </p:sp>
    </p:spTree>
    <p:extLst>
      <p:ext uri="{BB962C8B-B14F-4D97-AF65-F5344CB8AC3E}">
        <p14:creationId xmlns:p14="http://schemas.microsoft.com/office/powerpoint/2010/main" val="2142749073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Initializing Arrays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0000"/>
                </a:solidFill>
                <a:cs typeface="Arial"/>
              </a:rPr>
              <a:t>Possible to initialize at declaration time</a:t>
            </a:r>
          </a:p>
          <a:p>
            <a:pPr eaLnBrk="1" hangingPunct="1"/>
            <a:endParaRPr lang="en-US" dirty="0">
              <a:solidFill>
                <a:srgbClr val="000000"/>
              </a:solidFill>
              <a:cs typeface="Arial"/>
            </a:endParaRPr>
          </a:p>
          <a:p>
            <a:pPr eaLnBrk="1" hangingPunct="1"/>
            <a:endParaRPr lang="en-US" dirty="0">
              <a:solidFill>
                <a:srgbClr val="000000"/>
              </a:solidFill>
              <a:cs typeface="Arial"/>
            </a:endParaRPr>
          </a:p>
          <a:p>
            <a:pPr eaLnBrk="1" hangingPunct="1"/>
            <a:r>
              <a:rPr lang="en-US" dirty="0">
                <a:solidFill>
                  <a:srgbClr val="000000"/>
                </a:solidFill>
                <a:cs typeface="Arial"/>
              </a:rPr>
              <a:t>Also may use normal assignment statements</a:t>
            </a:r>
          </a:p>
          <a:p>
            <a:pPr lvl="1" eaLnBrk="1" hangingPunct="1"/>
            <a:r>
              <a:rPr lang="en-US" dirty="0">
                <a:solidFill>
                  <a:srgbClr val="000000"/>
                </a:solidFill>
                <a:cs typeface="Arial"/>
              </a:rPr>
              <a:t>One at a time</a:t>
            </a:r>
          </a:p>
          <a:p>
            <a:pPr lvl="1" eaLnBrk="1" hangingPunct="1"/>
            <a:r>
              <a:rPr lang="en-US" dirty="0">
                <a:solidFill>
                  <a:srgbClr val="000000"/>
                </a:solidFill>
                <a:cs typeface="Arial"/>
              </a:rPr>
              <a:t>In a loop</a:t>
            </a: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525" y="1832373"/>
            <a:ext cx="4552950" cy="33575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190" y="3690065"/>
            <a:ext cx="3810000" cy="73580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5294263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775971" y="382784"/>
            <a:ext cx="8006080" cy="453629"/>
          </a:xfr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Arrays in Classes and Methods: Outline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4294967295"/>
          </p:nvPr>
        </p:nvSpPr>
        <p:spPr>
          <a:xfrm>
            <a:off x="775971" y="1286192"/>
            <a:ext cx="8006080" cy="3495675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Case Study: Sales Report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Indexed Variables as Method Arguments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Entire Arrays as Arguments to a Method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Arguments for the Method main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Array Assignment and Equality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Methods that Return Arrays</a:t>
            </a:r>
          </a:p>
        </p:txBody>
      </p:sp>
    </p:spTree>
    <p:extLst>
      <p:ext uri="{BB962C8B-B14F-4D97-AF65-F5344CB8AC3E}">
        <p14:creationId xmlns:p14="http://schemas.microsoft.com/office/powerpoint/2010/main" val="896796872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Case Study: Sales Report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52" r="3933"/>
          <a:stretch/>
        </p:blipFill>
        <p:spPr bwMode="auto">
          <a:xfrm>
            <a:off x="483871" y="1075719"/>
            <a:ext cx="4484370" cy="3310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" t="1071" r="12247" b="4666"/>
          <a:stretch/>
        </p:blipFill>
        <p:spPr bwMode="auto">
          <a:xfrm>
            <a:off x="4943868" y="1065559"/>
            <a:ext cx="4179812" cy="3525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9" name="Straight Connector 8"/>
          <p:cNvCxnSpPr/>
          <p:nvPr/>
        </p:nvCxnSpPr>
        <p:spPr>
          <a:xfrm>
            <a:off x="5080001" y="953799"/>
            <a:ext cx="0" cy="36385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71843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Case Study: Sales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46188" y="1200151"/>
            <a:ext cx="7440612" cy="339447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 smtClean="0">
                <a:ea typeface="+mn-ea"/>
              </a:rPr>
              <a:t>Main subtasks for our program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smtClean="0">
                <a:ea typeface="+mn-ea"/>
              </a:rPr>
              <a:t>Get ready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smtClean="0">
                <a:ea typeface="+mn-ea"/>
              </a:rPr>
              <a:t>Obtain the data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smtClean="0">
                <a:ea typeface="+mn-ea"/>
              </a:rPr>
              <a:t>Compute some statistics (update instance variables)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smtClean="0">
                <a:ea typeface="+mn-ea"/>
              </a:rPr>
              <a:t>Display the results</a:t>
            </a:r>
            <a:endParaRPr lang="en-US" dirty="0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22582144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Case Study: Sales Report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179224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 smtClean="0">
                <a:cs typeface="Arial"/>
              </a:rPr>
              <a:t>class </a:t>
            </a:r>
            <a:r>
              <a:rPr lang="en-US" sz="2000" b="1" dirty="0" err="1" smtClean="0">
                <a:solidFill>
                  <a:srgbClr val="0033CC"/>
                </a:solidFill>
                <a:cs typeface="Arial"/>
              </a:rPr>
              <a:t>SalesReporter</a:t>
            </a:r>
            <a:endParaRPr lang="en-US" sz="2000" b="1" dirty="0">
              <a:solidFill>
                <a:srgbClr val="0033CC"/>
              </a:solidFill>
              <a:cs typeface="Arial"/>
            </a:endParaRPr>
          </a:p>
        </p:txBody>
      </p:sp>
      <p:pic>
        <p:nvPicPr>
          <p:cNvPr id="2048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4" y="2089151"/>
            <a:ext cx="5907087" cy="208954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2806774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Case Study: Sales Report</a:t>
            </a:r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687" y="1684178"/>
            <a:ext cx="6477000" cy="2614613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" y="1698466"/>
            <a:ext cx="6477000" cy="27717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Text Box 7"/>
          <p:cNvSpPr txBox="1">
            <a:spLocks noChangeArrowheads="1"/>
          </p:cNvSpPr>
          <p:nvPr/>
        </p:nvSpPr>
        <p:spPr bwMode="auto">
          <a:xfrm>
            <a:off x="6837362" y="2336642"/>
            <a:ext cx="1524000" cy="1015663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/>
              <a:t>Sample </a:t>
            </a:r>
            <a:br>
              <a:rPr lang="en-US" sz="2000"/>
            </a:br>
            <a:r>
              <a:rPr lang="en-US" sz="2000"/>
              <a:t>screen output</a:t>
            </a:r>
          </a:p>
        </p:txBody>
      </p:sp>
    </p:spTree>
    <p:extLst>
      <p:ext uri="{BB962C8B-B14F-4D97-AF65-F5344CB8AC3E}">
        <p14:creationId xmlns:p14="http://schemas.microsoft.com/office/powerpoint/2010/main" val="310739790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23" r="8763"/>
          <a:stretch/>
        </p:blipFill>
        <p:spPr bwMode="auto">
          <a:xfrm>
            <a:off x="514986" y="548640"/>
            <a:ext cx="4364226" cy="3972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492" y="1360872"/>
            <a:ext cx="4102228" cy="2376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9" name="Straight Connector 8"/>
          <p:cNvCxnSpPr/>
          <p:nvPr/>
        </p:nvCxnSpPr>
        <p:spPr>
          <a:xfrm>
            <a:off x="4922878" y="447040"/>
            <a:ext cx="0" cy="41195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666745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17" y="477520"/>
            <a:ext cx="4084203" cy="309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37" y="3570605"/>
            <a:ext cx="3916680" cy="950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457" y="909941"/>
            <a:ext cx="4364941" cy="2894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627017" y="477520"/>
            <a:ext cx="0" cy="41195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468577"/>
      </p:ext>
    </p:extLst>
  </p:cSld>
  <p:clrMapOvr>
    <a:masterClrMapping/>
  </p:clrMapOvr>
  <p:transition xmlns:p14="http://schemas.microsoft.com/office/powerpoint/2010/main"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904240" y="589280"/>
            <a:ext cx="7223760" cy="473948"/>
          </a:xfr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Indexed Variables as Method Arguments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4294967295"/>
          </p:nvPr>
        </p:nvSpPr>
        <p:spPr>
          <a:xfrm>
            <a:off x="904240" y="1493519"/>
            <a:ext cx="7611110" cy="3139203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Indexed variable of an array</a:t>
            </a:r>
          </a:p>
          <a:p>
            <a:pPr lvl="1" eaLnBrk="1" hangingPunct="1"/>
            <a:r>
              <a:rPr lang="en-US" sz="2000" dirty="0">
                <a:solidFill>
                  <a:schemeClr val="tx1"/>
                </a:solidFill>
                <a:cs typeface="Arial"/>
              </a:rPr>
              <a:t>Example … </a:t>
            </a:r>
            <a:r>
              <a:rPr lang="en-US" sz="2000" b="1" dirty="0">
                <a:solidFill>
                  <a:srgbClr val="000090"/>
                </a:solidFill>
                <a:cs typeface="Arial"/>
              </a:rPr>
              <a:t>a[</a:t>
            </a:r>
            <a:r>
              <a:rPr lang="en-US" sz="2000" b="1" dirty="0" err="1">
                <a:solidFill>
                  <a:srgbClr val="000090"/>
                </a:solidFill>
                <a:cs typeface="Arial"/>
              </a:rPr>
              <a:t>i</a:t>
            </a:r>
            <a:r>
              <a:rPr lang="en-US" sz="2000" b="1" dirty="0">
                <a:solidFill>
                  <a:srgbClr val="000090"/>
                </a:solidFill>
                <a:cs typeface="Arial"/>
              </a:rPr>
              <a:t>]</a:t>
            </a:r>
          </a:p>
          <a:p>
            <a:pPr lvl="1" eaLnBrk="1" hangingPunct="1"/>
            <a:r>
              <a:rPr lang="en-US" sz="2000" dirty="0">
                <a:solidFill>
                  <a:schemeClr val="tx1"/>
                </a:solidFill>
                <a:cs typeface="Arial"/>
              </a:rPr>
              <a:t>Can be used anywhere variable of array base type can be used</a:t>
            </a:r>
          </a:p>
          <a:p>
            <a:pPr eaLnBrk="1" hangingPunct="1"/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8537825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Entire Arrays as Arguments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503679"/>
            <a:ext cx="7566574" cy="3129043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Declaration of array parameter similar to how an array is declared</a:t>
            </a:r>
          </a:p>
          <a:p>
            <a:pPr eaLnBrk="1" hangingPunct="1"/>
            <a:r>
              <a:rPr lang="en-US" sz="2000" dirty="0">
                <a:cs typeface="Arial"/>
              </a:rPr>
              <a:t>Example:</a:t>
            </a: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519" y="2646760"/>
            <a:ext cx="6105525" cy="15716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/>
          <p:nvPr/>
        </p:nvSpPr>
        <p:spPr>
          <a:xfrm>
            <a:off x="5875656" y="2829401"/>
            <a:ext cx="2314575" cy="4964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008498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Entire Arrays as Arguments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Note – array parameter in a method heading does not specify the length</a:t>
            </a:r>
          </a:p>
          <a:p>
            <a:pPr lvl="1" eaLnBrk="1" hangingPunct="1"/>
            <a:r>
              <a:rPr lang="en-US" dirty="0">
                <a:solidFill>
                  <a:schemeClr val="tx1"/>
                </a:solidFill>
                <a:cs typeface="Arial"/>
              </a:rPr>
              <a:t>An array of any length can be passed to the method</a:t>
            </a:r>
          </a:p>
          <a:p>
            <a:pPr lvl="1" eaLnBrk="1" hangingPunct="1"/>
            <a:r>
              <a:rPr lang="en-US" dirty="0">
                <a:solidFill>
                  <a:schemeClr val="tx1"/>
                </a:solidFill>
                <a:cs typeface="Arial"/>
              </a:rPr>
              <a:t>Inside the method, elements of the array can be changed</a:t>
            </a:r>
          </a:p>
          <a:p>
            <a:pPr eaLnBrk="1" hangingPunct="1"/>
            <a:r>
              <a:rPr lang="en-US" dirty="0">
                <a:cs typeface="Arial"/>
              </a:rPr>
              <a:t>When you pass the entire array, do not use square brackets in the actual parameter</a:t>
            </a:r>
          </a:p>
        </p:txBody>
      </p:sp>
    </p:spTree>
    <p:extLst>
      <p:ext uri="{BB962C8B-B14F-4D97-AF65-F5344CB8AC3E}">
        <p14:creationId xmlns:p14="http://schemas.microsoft.com/office/powerpoint/2010/main" val="4067087337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Arguments for Method main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cs typeface="Arial"/>
              </a:rPr>
              <a:t>Recall heading of method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main</a:t>
            </a:r>
            <a:r>
              <a:rPr lang="en-US" dirty="0">
                <a:cs typeface="Arial"/>
              </a:rPr>
              <a:t/>
            </a:r>
            <a:br>
              <a:rPr lang="en-US" dirty="0">
                <a:cs typeface="Arial"/>
              </a:rPr>
            </a:br>
            <a:r>
              <a:rPr lang="en-US" b="1" dirty="0">
                <a:solidFill>
                  <a:srgbClr val="0033CC"/>
                </a:solidFill>
                <a:cs typeface="Arial"/>
              </a:rPr>
              <a:t>public static void main (String[] </a:t>
            </a:r>
            <a:r>
              <a:rPr lang="en-US" b="1" dirty="0" err="1">
                <a:solidFill>
                  <a:srgbClr val="0033CC"/>
                </a:solidFill>
                <a:cs typeface="Arial"/>
              </a:rPr>
              <a:t>args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)</a:t>
            </a:r>
          </a:p>
          <a:p>
            <a:pPr eaLnBrk="1" hangingPunct="1"/>
            <a:r>
              <a:rPr lang="en-US" dirty="0">
                <a:cs typeface="Arial"/>
              </a:rPr>
              <a:t>This declares an array </a:t>
            </a:r>
          </a:p>
          <a:p>
            <a:pPr lvl="1" eaLnBrk="1" hangingPunct="1"/>
            <a:r>
              <a:rPr lang="en-US" dirty="0">
                <a:cs typeface="Arial"/>
              </a:rPr>
              <a:t>Formal parameter named </a:t>
            </a:r>
            <a:r>
              <a:rPr lang="en-US" b="1" dirty="0" err="1">
                <a:solidFill>
                  <a:srgbClr val="0033CC"/>
                </a:solidFill>
                <a:cs typeface="Arial"/>
              </a:rPr>
              <a:t>args</a:t>
            </a:r>
            <a:endParaRPr lang="en-US" b="1" dirty="0">
              <a:solidFill>
                <a:srgbClr val="0033CC"/>
              </a:solidFill>
              <a:cs typeface="Arial"/>
            </a:endParaRPr>
          </a:p>
          <a:p>
            <a:pPr lvl="1" eaLnBrk="1" hangingPunct="1"/>
            <a:r>
              <a:rPr lang="en-US" dirty="0">
                <a:cs typeface="Arial"/>
              </a:rPr>
              <a:t>Its base type is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String</a:t>
            </a:r>
          </a:p>
          <a:p>
            <a:pPr eaLnBrk="1" hangingPunct="1"/>
            <a:r>
              <a:rPr lang="en-US" dirty="0">
                <a:cs typeface="Arial"/>
              </a:rPr>
              <a:t>Thus possible to pass to the run of a program multiple strings</a:t>
            </a:r>
          </a:p>
          <a:p>
            <a:pPr lvl="1" eaLnBrk="1" hangingPunct="1"/>
            <a:r>
              <a:rPr lang="en-US" dirty="0">
                <a:cs typeface="Arial"/>
              </a:rPr>
              <a:t>These can then be used by the program</a:t>
            </a:r>
          </a:p>
        </p:txBody>
      </p:sp>
    </p:spTree>
    <p:extLst>
      <p:ext uri="{BB962C8B-B14F-4D97-AF65-F5344CB8AC3E}">
        <p14:creationId xmlns:p14="http://schemas.microsoft.com/office/powerpoint/2010/main" val="1556050997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Array Assignment and Equality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Arrays are objects</a:t>
            </a:r>
          </a:p>
          <a:p>
            <a:pPr lvl="1" eaLnBrk="1" hangingPunct="1"/>
            <a:r>
              <a:rPr lang="en-US" dirty="0">
                <a:cs typeface="Arial"/>
              </a:rPr>
              <a:t>Assignment and equality operators behave (misbehave) as specified in previous chapter</a:t>
            </a:r>
          </a:p>
          <a:p>
            <a:pPr eaLnBrk="1" hangingPunct="1"/>
            <a:r>
              <a:rPr lang="en-US" dirty="0">
                <a:cs typeface="Arial"/>
              </a:rPr>
              <a:t>Variable for the array object contains memory address of the object</a:t>
            </a:r>
          </a:p>
          <a:p>
            <a:pPr lvl="1" eaLnBrk="1" hangingPunct="1"/>
            <a:r>
              <a:rPr lang="en-US" dirty="0">
                <a:cs typeface="Arial"/>
              </a:rPr>
              <a:t>Assignment operator </a:t>
            </a:r>
            <a:r>
              <a:rPr lang="en-US" sz="3200" b="1" dirty="0">
                <a:solidFill>
                  <a:srgbClr val="0033CC"/>
                </a:solidFill>
                <a:cs typeface="Arial"/>
              </a:rPr>
              <a:t>=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 </a:t>
            </a:r>
            <a:r>
              <a:rPr lang="en-US" dirty="0">
                <a:cs typeface="Arial"/>
              </a:rPr>
              <a:t>copies this address</a:t>
            </a:r>
          </a:p>
          <a:p>
            <a:pPr lvl="1" eaLnBrk="1" hangingPunct="1"/>
            <a:r>
              <a:rPr lang="en-US" dirty="0">
                <a:cs typeface="Arial"/>
              </a:rPr>
              <a:t>Equality operator </a:t>
            </a:r>
            <a:r>
              <a:rPr lang="en-US" sz="3200" b="1" dirty="0">
                <a:solidFill>
                  <a:srgbClr val="0033CC"/>
                </a:solidFill>
                <a:cs typeface="Arial"/>
              </a:rPr>
              <a:t>==</a:t>
            </a:r>
            <a:r>
              <a:rPr lang="en-US" dirty="0">
                <a:cs typeface="Arial"/>
              </a:rPr>
              <a:t>  tests whether two arrays are stored in same place in memory</a:t>
            </a:r>
          </a:p>
        </p:txBody>
      </p:sp>
    </p:spTree>
    <p:extLst>
      <p:ext uri="{BB962C8B-B14F-4D97-AF65-F5344CB8AC3E}">
        <p14:creationId xmlns:p14="http://schemas.microsoft.com/office/powerpoint/2010/main" val="2971199928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Array Assignment and Equality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Note results of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==</a:t>
            </a:r>
          </a:p>
          <a:p>
            <a:pPr eaLnBrk="1" hangingPunct="1"/>
            <a:r>
              <a:rPr lang="en-US" dirty="0">
                <a:cs typeface="Arial"/>
              </a:rPr>
              <a:t>Note definition and use of method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equals</a:t>
            </a:r>
          </a:p>
          <a:p>
            <a:pPr lvl="1" eaLnBrk="1" hangingPunct="1"/>
            <a:r>
              <a:rPr lang="en-US" dirty="0">
                <a:cs typeface="Arial"/>
              </a:rPr>
              <a:t>Receives two array parameters</a:t>
            </a:r>
          </a:p>
          <a:p>
            <a:pPr lvl="1" eaLnBrk="1" hangingPunct="1"/>
            <a:r>
              <a:rPr lang="en-US" dirty="0">
                <a:cs typeface="Arial"/>
              </a:rPr>
              <a:t>Checks length and each individual pair of array elements</a:t>
            </a:r>
          </a:p>
          <a:p>
            <a:pPr eaLnBrk="1" hangingPunct="1"/>
            <a:r>
              <a:rPr lang="en-US" dirty="0">
                <a:cs typeface="Arial"/>
              </a:rPr>
              <a:t>Remember array types are reference types</a:t>
            </a:r>
          </a:p>
          <a:p>
            <a:pPr eaLnBrk="1" hangingPunct="1"/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459421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Gotcha – Don</a:t>
            </a:r>
            <a:r>
              <a:rPr lang="ja-JP" altLang="en-US">
                <a:cs typeface="Arial"/>
              </a:rPr>
              <a:t>’</a:t>
            </a:r>
            <a:r>
              <a:rPr lang="en-US">
                <a:cs typeface="Arial"/>
              </a:rPr>
              <a:t>t Exceed Array Bounds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03393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The code below fails if the user enters a number like 4.  Use input validation.</a:t>
            </a: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436562" y="1787049"/>
            <a:ext cx="8707438" cy="305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    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Scanner </a:t>
            </a:r>
            <a:r>
              <a:rPr lang="en-US" sz="1600" dirty="0" err="1">
                <a:latin typeface="Courier New" charset="0"/>
                <a:ea typeface="Calibri" charset="0"/>
                <a:cs typeface="Times New Roman" charset="0"/>
              </a:rPr>
              <a:t>kbd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 = </a:t>
            </a:r>
            <a:r>
              <a:rPr lang="en-US" sz="1600" dirty="0">
                <a:solidFill>
                  <a:srgbClr val="5B9BD5"/>
                </a:solidFill>
                <a:latin typeface="Courier New" charset="0"/>
                <a:ea typeface="Calibri" charset="0"/>
                <a:cs typeface="Times New Roman" charset="0"/>
              </a:rPr>
              <a:t>new 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Scanner(</a:t>
            </a:r>
            <a:r>
              <a:rPr lang="en-US" sz="1600" dirty="0" err="1">
                <a:latin typeface="Courier New" charset="0"/>
                <a:ea typeface="Calibri" charset="0"/>
                <a:cs typeface="Times New Roman" charset="0"/>
              </a:rPr>
              <a:t>System.in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);</a:t>
            </a:r>
            <a:endParaRPr lang="en-US" sz="2000" dirty="0">
              <a:latin typeface="Calibri" charset="0"/>
              <a:ea typeface="Calibri" charset="0"/>
              <a:cs typeface="Times New Roman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  </a:t>
            </a:r>
            <a:r>
              <a:rPr lang="en-US" sz="1600" dirty="0" err="1">
                <a:solidFill>
                  <a:srgbClr val="5B9BD5"/>
                </a:solidFill>
                <a:latin typeface="Courier New" charset="0"/>
                <a:ea typeface="Calibri" charset="0"/>
                <a:cs typeface="Times New Roman" charset="0"/>
              </a:rPr>
              <a:t>int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[] count = {0,0,0,0};</a:t>
            </a:r>
            <a:endParaRPr lang="en-US" sz="2000" dirty="0">
              <a:latin typeface="Calibri" charset="0"/>
              <a:ea typeface="Calibri" charset="0"/>
              <a:cs typeface="Times New Roman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 </a:t>
            </a:r>
            <a:endParaRPr lang="en-US" sz="2000" dirty="0">
              <a:latin typeface="Calibri" charset="0"/>
              <a:ea typeface="Calibri" charset="0"/>
              <a:cs typeface="Times New Roman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  </a:t>
            </a:r>
            <a:r>
              <a:rPr lang="en-US" sz="1600" dirty="0" err="1">
                <a:latin typeface="Courier New" charset="0"/>
                <a:ea typeface="Calibri" charset="0"/>
                <a:cs typeface="Times New Roman" charset="0"/>
              </a:rPr>
              <a:t>System.out.println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("Enter ten numbers between 0 and 3.");</a:t>
            </a:r>
            <a:endParaRPr lang="en-US" sz="2000" dirty="0">
              <a:latin typeface="Calibri" charset="0"/>
              <a:ea typeface="Calibri" charset="0"/>
              <a:cs typeface="Times New Roman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  </a:t>
            </a:r>
            <a:r>
              <a:rPr lang="en-US" sz="1600" dirty="0">
                <a:solidFill>
                  <a:srgbClr val="5B9BD5"/>
                </a:solidFill>
                <a:latin typeface="Courier New" charset="0"/>
                <a:ea typeface="Calibri" charset="0"/>
                <a:cs typeface="Times New Roman" charset="0"/>
              </a:rPr>
              <a:t>for 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(</a:t>
            </a:r>
            <a:r>
              <a:rPr lang="en-US" sz="1600" dirty="0" err="1">
                <a:solidFill>
                  <a:srgbClr val="5B9BD5"/>
                </a:solidFill>
                <a:latin typeface="Courier New" charset="0"/>
                <a:ea typeface="Calibri" charset="0"/>
                <a:cs typeface="Times New Roman" charset="0"/>
              </a:rPr>
              <a:t>int</a:t>
            </a:r>
            <a:r>
              <a:rPr lang="en-US" sz="1600" dirty="0">
                <a:solidFill>
                  <a:srgbClr val="5B9BD5"/>
                </a:solidFill>
                <a:latin typeface="Courier New" charset="0"/>
                <a:ea typeface="Calibri" charset="0"/>
                <a:cs typeface="Times New Roman" charset="0"/>
              </a:rPr>
              <a:t> </a:t>
            </a:r>
            <a:r>
              <a:rPr lang="en-US" sz="1600" dirty="0" err="1">
                <a:latin typeface="Courier New" charset="0"/>
                <a:ea typeface="Calibri" charset="0"/>
                <a:cs typeface="Times New Roman" charset="0"/>
              </a:rPr>
              <a:t>i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 = 0; </a:t>
            </a:r>
            <a:r>
              <a:rPr lang="en-US" sz="1600" dirty="0" err="1">
                <a:latin typeface="Courier New" charset="0"/>
                <a:ea typeface="Calibri" charset="0"/>
                <a:cs typeface="Times New Roman" charset="0"/>
              </a:rPr>
              <a:t>i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 &lt; 10; </a:t>
            </a:r>
            <a:r>
              <a:rPr lang="en-US" sz="1600" dirty="0" err="1">
                <a:latin typeface="Courier New" charset="0"/>
                <a:ea typeface="Calibri" charset="0"/>
                <a:cs typeface="Times New Roman" charset="0"/>
              </a:rPr>
              <a:t>i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++)</a:t>
            </a:r>
            <a:endParaRPr lang="en-US" sz="2000" dirty="0">
              <a:latin typeface="Calibri" charset="0"/>
              <a:ea typeface="Calibri" charset="0"/>
              <a:cs typeface="Times New Roman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  {</a:t>
            </a:r>
            <a:endParaRPr lang="en-US" sz="2000" dirty="0">
              <a:latin typeface="Calibri" charset="0"/>
              <a:ea typeface="Calibri" charset="0"/>
              <a:cs typeface="Times New Roman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   </a:t>
            </a:r>
            <a:r>
              <a:rPr lang="en-US" sz="1600" dirty="0" err="1">
                <a:solidFill>
                  <a:srgbClr val="5B9BD5"/>
                </a:solidFill>
                <a:latin typeface="Courier New" charset="0"/>
                <a:ea typeface="Calibri" charset="0"/>
                <a:cs typeface="Times New Roman" charset="0"/>
              </a:rPr>
              <a:t>int</a:t>
            </a:r>
            <a:r>
              <a:rPr lang="en-US" sz="1600" dirty="0">
                <a:solidFill>
                  <a:srgbClr val="5B9BD5"/>
                </a:solidFill>
                <a:latin typeface="Courier New" charset="0"/>
                <a:ea typeface="Calibri" charset="0"/>
                <a:cs typeface="Times New Roman" charset="0"/>
              </a:rPr>
              <a:t> </a:t>
            </a:r>
            <a:r>
              <a:rPr lang="en-US" sz="1600" dirty="0" err="1">
                <a:latin typeface="Courier New" charset="0"/>
                <a:ea typeface="Calibri" charset="0"/>
                <a:cs typeface="Times New Roman" charset="0"/>
              </a:rPr>
              <a:t>num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 = </a:t>
            </a:r>
            <a:r>
              <a:rPr lang="en-US" sz="1600" dirty="0" err="1">
                <a:latin typeface="Courier New" charset="0"/>
                <a:ea typeface="Calibri" charset="0"/>
                <a:cs typeface="Times New Roman" charset="0"/>
              </a:rPr>
              <a:t>kbd.nextInt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();</a:t>
            </a:r>
            <a:endParaRPr lang="en-US" sz="2000" dirty="0">
              <a:latin typeface="Calibri" charset="0"/>
              <a:ea typeface="Calibri" charset="0"/>
              <a:cs typeface="Times New Roman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   count[</a:t>
            </a:r>
            <a:r>
              <a:rPr lang="en-US" sz="1600" dirty="0" err="1">
                <a:latin typeface="Courier New" charset="0"/>
                <a:ea typeface="Calibri" charset="0"/>
                <a:cs typeface="Times New Roman" charset="0"/>
              </a:rPr>
              <a:t>num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]++;</a:t>
            </a:r>
            <a:endParaRPr lang="en-US" sz="2000" dirty="0">
              <a:latin typeface="Calibri" charset="0"/>
              <a:ea typeface="Calibri" charset="0"/>
              <a:cs typeface="Times New Roman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  }</a:t>
            </a:r>
            <a:endParaRPr lang="en-US" sz="2000" dirty="0">
              <a:latin typeface="Calibri" charset="0"/>
              <a:ea typeface="Calibri" charset="0"/>
              <a:cs typeface="Times New Roman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  </a:t>
            </a:r>
            <a:r>
              <a:rPr lang="en-US" sz="1600" dirty="0">
                <a:solidFill>
                  <a:srgbClr val="5B9BD5"/>
                </a:solidFill>
                <a:latin typeface="Courier New" charset="0"/>
                <a:ea typeface="Calibri" charset="0"/>
                <a:cs typeface="Times New Roman" charset="0"/>
              </a:rPr>
              <a:t>for 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(</a:t>
            </a:r>
            <a:r>
              <a:rPr lang="en-US" sz="1600" dirty="0" err="1">
                <a:solidFill>
                  <a:srgbClr val="5B9BD5"/>
                </a:solidFill>
                <a:latin typeface="Courier New" charset="0"/>
                <a:ea typeface="Calibri" charset="0"/>
                <a:cs typeface="Times New Roman" charset="0"/>
              </a:rPr>
              <a:t>int</a:t>
            </a:r>
            <a:r>
              <a:rPr lang="en-US" sz="1600" dirty="0">
                <a:solidFill>
                  <a:srgbClr val="5B9BD5"/>
                </a:solidFill>
                <a:latin typeface="Courier New" charset="0"/>
                <a:ea typeface="Calibri" charset="0"/>
                <a:cs typeface="Times New Roman" charset="0"/>
              </a:rPr>
              <a:t> </a:t>
            </a:r>
            <a:r>
              <a:rPr lang="en-US" sz="1600" dirty="0" err="1">
                <a:latin typeface="Courier New" charset="0"/>
                <a:ea typeface="Calibri" charset="0"/>
                <a:cs typeface="Times New Roman" charset="0"/>
              </a:rPr>
              <a:t>i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 = 0; </a:t>
            </a:r>
            <a:r>
              <a:rPr lang="en-US" sz="1600" dirty="0" err="1">
                <a:latin typeface="Courier New" charset="0"/>
                <a:ea typeface="Calibri" charset="0"/>
                <a:cs typeface="Times New Roman" charset="0"/>
              </a:rPr>
              <a:t>i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 &lt; </a:t>
            </a:r>
            <a:r>
              <a:rPr lang="en-US" sz="1600" dirty="0" err="1">
                <a:latin typeface="Courier New" charset="0"/>
                <a:ea typeface="Calibri" charset="0"/>
                <a:cs typeface="Times New Roman" charset="0"/>
              </a:rPr>
              <a:t>count.length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; </a:t>
            </a:r>
            <a:r>
              <a:rPr lang="en-US" sz="1600" dirty="0" err="1">
                <a:latin typeface="Courier New" charset="0"/>
                <a:ea typeface="Calibri" charset="0"/>
                <a:cs typeface="Times New Roman" charset="0"/>
              </a:rPr>
              <a:t>i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++)</a:t>
            </a:r>
            <a:endParaRPr lang="en-US" sz="2000" dirty="0">
              <a:latin typeface="Calibri" charset="0"/>
              <a:ea typeface="Calibri" charset="0"/>
              <a:cs typeface="Times New Roman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     </a:t>
            </a:r>
            <a:r>
              <a:rPr lang="en-US" sz="1600" dirty="0" err="1">
                <a:latin typeface="Courier New" charset="0"/>
                <a:ea typeface="Calibri" charset="0"/>
                <a:cs typeface="Times New Roman" charset="0"/>
              </a:rPr>
              <a:t>System.out.println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("You entered " + count[</a:t>
            </a:r>
            <a:r>
              <a:rPr lang="en-US" sz="1600" dirty="0" err="1">
                <a:latin typeface="Courier New" charset="0"/>
                <a:ea typeface="Calibri" charset="0"/>
                <a:cs typeface="Times New Roman" charset="0"/>
              </a:rPr>
              <a:t>i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] + " " + </a:t>
            </a:r>
            <a:r>
              <a:rPr lang="en-US" sz="1600" dirty="0" err="1">
                <a:latin typeface="Courier New" charset="0"/>
                <a:ea typeface="Calibri" charset="0"/>
                <a:cs typeface="Times New Roman" charset="0"/>
              </a:rPr>
              <a:t>i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 + "'s");</a:t>
            </a:r>
            <a:endParaRPr lang="en-US" sz="1600" dirty="0">
              <a:ea typeface="Calibri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756702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Gotcha – Creating an Array of Objects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87939"/>
            <a:ext cx="7566574" cy="3263504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eaLnBrk="1" hangingPunct="1"/>
            <a:r>
              <a:rPr lang="en-US" dirty="0">
                <a:cs typeface="Arial"/>
              </a:rPr>
              <a:t>When you create an array of objects Java does not create instances of any of the objects!  For example, consider the code:</a:t>
            </a: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r>
              <a:rPr lang="en-US" dirty="0">
                <a:cs typeface="Arial"/>
              </a:rPr>
              <a:t>We can</a:t>
            </a:r>
            <a:r>
              <a:rPr lang="ja-JP" altLang="en-US" dirty="0">
                <a:cs typeface="Arial"/>
              </a:rPr>
              <a:t>’</a:t>
            </a:r>
            <a:r>
              <a:rPr lang="en-US" dirty="0">
                <a:cs typeface="Arial"/>
              </a:rPr>
              <a:t>t access team[0] yet;  it is </a:t>
            </a:r>
            <a:r>
              <a:rPr lang="en-US" b="1" dirty="0">
                <a:solidFill>
                  <a:srgbClr val="00B0F0"/>
                </a:solidFill>
                <a:cs typeface="Arial"/>
              </a:rPr>
              <a:t>null</a:t>
            </a:r>
            <a:r>
              <a:rPr lang="en-US" dirty="0">
                <a:cs typeface="Arial"/>
              </a:rPr>
              <a:t>.  First we must create references to an object:</a:t>
            </a: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r>
              <a:rPr lang="en-US" dirty="0">
                <a:cs typeface="Arial"/>
              </a:rPr>
              <a:t>we can now access team[0].</a:t>
            </a:r>
            <a:r>
              <a:rPr lang="en-US" dirty="0" err="1">
                <a:cs typeface="Arial"/>
              </a:rPr>
              <a:t>getName</a:t>
            </a:r>
            <a:r>
              <a:rPr lang="en-US" dirty="0">
                <a:cs typeface="Arial"/>
              </a:rPr>
              <a:t>() or team[1].</a:t>
            </a:r>
            <a:r>
              <a:rPr lang="en-US" dirty="0" err="1">
                <a:cs typeface="Arial"/>
              </a:rPr>
              <a:t>getSalary</a:t>
            </a:r>
            <a:r>
              <a:rPr lang="en-US" dirty="0">
                <a:cs typeface="Arial"/>
              </a:rPr>
              <a:t>()</a:t>
            </a:r>
          </a:p>
        </p:txBody>
      </p:sp>
      <p:sp>
        <p:nvSpPr>
          <p:cNvPr id="30724" name="Rectangle 3"/>
          <p:cNvSpPr>
            <a:spLocks noChangeArrowheads="1"/>
          </p:cNvSpPr>
          <p:nvPr/>
        </p:nvSpPr>
        <p:spPr bwMode="auto">
          <a:xfrm>
            <a:off x="1350964" y="1853557"/>
            <a:ext cx="8709025" cy="35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en-US" sz="1600" dirty="0" err="1">
                <a:latin typeface="Courier New" charset="0"/>
                <a:ea typeface="Calibri" charset="0"/>
                <a:cs typeface="Courier New" charset="0"/>
              </a:rPr>
              <a:t>SalesAssociate</a:t>
            </a:r>
            <a:r>
              <a:rPr lang="en-US" sz="1600" dirty="0">
                <a:latin typeface="Courier New" charset="0"/>
                <a:ea typeface="Calibri" charset="0"/>
                <a:cs typeface="Courier New" charset="0"/>
              </a:rPr>
              <a:t>[] team = new </a:t>
            </a:r>
            <a:r>
              <a:rPr lang="en-US" sz="1600" dirty="0" err="1">
                <a:latin typeface="Courier New" charset="0"/>
                <a:ea typeface="Calibri" charset="0"/>
                <a:cs typeface="Courier New" charset="0"/>
              </a:rPr>
              <a:t>SalesAssociate</a:t>
            </a:r>
            <a:r>
              <a:rPr lang="en-US" sz="1600" dirty="0">
                <a:latin typeface="Courier New" charset="0"/>
                <a:ea typeface="Calibri" charset="0"/>
                <a:cs typeface="Courier New" charset="0"/>
              </a:rPr>
              <a:t>[10];</a:t>
            </a:r>
            <a:endParaRPr lang="en-US" sz="1200" dirty="0">
              <a:latin typeface="Courier New" charset="0"/>
              <a:ea typeface="Calibri" charset="0"/>
              <a:cs typeface="Courier New" charset="0"/>
            </a:endParaRPr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1350964" y="3100388"/>
            <a:ext cx="6994525" cy="616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team[0] = new </a:t>
            </a:r>
            <a:r>
              <a:rPr lang="en-US" sz="1600" dirty="0" err="1">
                <a:latin typeface="Courier New" charset="0"/>
                <a:ea typeface="Calibri" charset="0"/>
                <a:cs typeface="Times New Roman" charset="0"/>
              </a:rPr>
              <a:t>SalesAssociate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("Jane Doe", 5000);</a:t>
            </a:r>
            <a:br>
              <a:rPr lang="en-US" sz="1600" dirty="0">
                <a:latin typeface="Courier New" charset="0"/>
                <a:ea typeface="Calibri" charset="0"/>
                <a:cs typeface="Times New Roman" charset="0"/>
              </a:rPr>
            </a:b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team[1] = new </a:t>
            </a:r>
            <a:r>
              <a:rPr lang="en-US" sz="1600" dirty="0" err="1">
                <a:latin typeface="Courier New" charset="0"/>
                <a:ea typeface="Calibri" charset="0"/>
                <a:cs typeface="Times New Roman" charset="0"/>
              </a:rPr>
              <a:t>SalesAssociate</a:t>
            </a:r>
            <a:r>
              <a:rPr lang="en-US" sz="1600" dirty="0">
                <a:latin typeface="Courier New" charset="0"/>
                <a:ea typeface="Calibri" charset="0"/>
                <a:cs typeface="Times New Roman" charset="0"/>
              </a:rPr>
              <a:t>("John Doe", 5000);</a:t>
            </a:r>
            <a:endParaRPr lang="en-US" sz="2000" dirty="0">
              <a:latin typeface="Calibri" charset="0"/>
              <a:ea typeface="Calibri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93466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5"/>
          <a:stretch/>
        </p:blipFill>
        <p:spPr bwMode="auto">
          <a:xfrm>
            <a:off x="2230120" y="60960"/>
            <a:ext cx="4675188" cy="4988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5716832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Methods that Return Arrays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cs typeface="Arial"/>
              </a:rPr>
              <a:t>A Java method may return an array</a:t>
            </a:r>
          </a:p>
          <a:p>
            <a:pPr eaLnBrk="1" hangingPunct="1"/>
            <a:r>
              <a:rPr lang="en-US" dirty="0" smtClean="0">
                <a:cs typeface="Arial"/>
              </a:rPr>
              <a:t>Note </a:t>
            </a:r>
            <a:r>
              <a:rPr lang="en-US" dirty="0">
                <a:cs typeface="Arial"/>
              </a:rPr>
              <a:t>definition of return type as an array</a:t>
            </a:r>
          </a:p>
          <a:p>
            <a:pPr eaLnBrk="1" hangingPunct="1"/>
            <a:r>
              <a:rPr lang="en-US" dirty="0">
                <a:cs typeface="Arial"/>
              </a:rPr>
              <a:t>To return the array value</a:t>
            </a:r>
          </a:p>
          <a:p>
            <a:pPr lvl="1" eaLnBrk="1" hangingPunct="1"/>
            <a:r>
              <a:rPr lang="en-US" dirty="0">
                <a:cs typeface="Arial"/>
              </a:rPr>
              <a:t>Declare a local array</a:t>
            </a:r>
          </a:p>
          <a:p>
            <a:pPr lvl="1" eaLnBrk="1" hangingPunct="1"/>
            <a:r>
              <a:rPr lang="en-US" dirty="0">
                <a:cs typeface="Arial"/>
              </a:rPr>
              <a:t>Use that identifier in the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return</a:t>
            </a:r>
            <a:r>
              <a:rPr lang="en-US" dirty="0">
                <a:cs typeface="Arial"/>
              </a:rPr>
              <a:t> statement</a:t>
            </a:r>
          </a:p>
        </p:txBody>
      </p:sp>
    </p:spTree>
    <p:extLst>
      <p:ext uri="{BB962C8B-B14F-4D97-AF65-F5344CB8AC3E}">
        <p14:creationId xmlns:p14="http://schemas.microsoft.com/office/powerpoint/2010/main" val="385168476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005840" y="812799"/>
            <a:ext cx="7477760" cy="571897"/>
          </a:xfr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Programming with Arrays and Classes: Outline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4294967295"/>
          </p:nvPr>
        </p:nvSpPr>
        <p:spPr>
          <a:xfrm>
            <a:off x="1005840" y="1819276"/>
            <a:ext cx="7680960" cy="2775347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Programming Example: A Specialized List Class</a:t>
            </a:r>
          </a:p>
          <a:p>
            <a:pPr eaLnBrk="1" hangingPunct="1"/>
            <a:r>
              <a:rPr lang="en-US" dirty="0">
                <a:cs typeface="Arial"/>
              </a:rPr>
              <a:t>Partially Filled Arrays</a:t>
            </a:r>
          </a:p>
        </p:txBody>
      </p:sp>
    </p:spTree>
    <p:extLst>
      <p:ext uri="{BB962C8B-B14F-4D97-AF65-F5344CB8AC3E}">
        <p14:creationId xmlns:p14="http://schemas.microsoft.com/office/powerpoint/2010/main" val="4135032035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Programming Example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A specialized List class</a:t>
            </a:r>
          </a:p>
          <a:p>
            <a:pPr lvl="1" eaLnBrk="1" hangingPunct="1"/>
            <a:r>
              <a:rPr lang="en-US" dirty="0">
                <a:cs typeface="Arial"/>
              </a:rPr>
              <a:t>Objects can be used for keeping lists of items</a:t>
            </a:r>
          </a:p>
          <a:p>
            <a:pPr eaLnBrk="1" hangingPunct="1"/>
            <a:r>
              <a:rPr lang="en-US" dirty="0">
                <a:cs typeface="Arial"/>
              </a:rPr>
              <a:t>Methods include</a:t>
            </a:r>
          </a:p>
          <a:p>
            <a:pPr lvl="1" eaLnBrk="1" hangingPunct="1"/>
            <a:r>
              <a:rPr lang="en-US" dirty="0">
                <a:cs typeface="Arial"/>
              </a:rPr>
              <a:t>Capability to add items to the list</a:t>
            </a:r>
          </a:p>
          <a:p>
            <a:pPr lvl="1" eaLnBrk="1" hangingPunct="1"/>
            <a:r>
              <a:rPr lang="en-US" dirty="0">
                <a:cs typeface="Arial"/>
              </a:rPr>
              <a:t>Also delete entire list, start with blank list</a:t>
            </a:r>
          </a:p>
          <a:p>
            <a:pPr lvl="1" eaLnBrk="1" hangingPunct="1"/>
            <a:r>
              <a:rPr lang="en-US" dirty="0">
                <a:cs typeface="Arial"/>
              </a:rPr>
              <a:t>But no method to modify or delete list item</a:t>
            </a:r>
          </a:p>
          <a:p>
            <a:pPr eaLnBrk="1" hangingPunct="1"/>
            <a:r>
              <a:rPr lang="en-US" dirty="0">
                <a:cs typeface="Arial"/>
              </a:rPr>
              <a:t>Maximum number of items can be specified</a:t>
            </a:r>
          </a:p>
        </p:txBody>
      </p:sp>
    </p:spTree>
    <p:extLst>
      <p:ext uri="{BB962C8B-B14F-4D97-AF65-F5344CB8AC3E}">
        <p14:creationId xmlns:p14="http://schemas.microsoft.com/office/powerpoint/2010/main" val="1811804538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Programming Example</a:t>
            </a:r>
          </a:p>
        </p:txBody>
      </p:sp>
      <p:pic>
        <p:nvPicPr>
          <p:cNvPr id="3584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964" y="1162050"/>
            <a:ext cx="6467475" cy="3243263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Text Box 7"/>
          <p:cNvSpPr txBox="1">
            <a:spLocks noChangeArrowheads="1"/>
          </p:cNvSpPr>
          <p:nvPr/>
        </p:nvSpPr>
        <p:spPr bwMode="auto">
          <a:xfrm>
            <a:off x="6816725" y="2524125"/>
            <a:ext cx="1524000" cy="1015663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/>
              <a:t>Sample </a:t>
            </a:r>
            <a:br>
              <a:rPr lang="en-US" sz="2000"/>
            </a:br>
            <a:r>
              <a:rPr lang="en-US" sz="2000"/>
              <a:t>screen output</a:t>
            </a:r>
          </a:p>
        </p:txBody>
      </p:sp>
    </p:spTree>
    <p:extLst>
      <p:ext uri="{BB962C8B-B14F-4D97-AF65-F5344CB8AC3E}">
        <p14:creationId xmlns:p14="http://schemas.microsoft.com/office/powerpoint/2010/main" val="14639459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948776" y="115529"/>
            <a:ext cx="7707862" cy="488024"/>
          </a:xfrm>
        </p:spPr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Programming Example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" t="6770" r="15380"/>
          <a:stretch/>
        </p:blipFill>
        <p:spPr bwMode="auto">
          <a:xfrm>
            <a:off x="579420" y="644193"/>
            <a:ext cx="4216100" cy="443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440" y="1069111"/>
            <a:ext cx="3813809" cy="1642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4958796" y="559912"/>
            <a:ext cx="0" cy="45191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87287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Programming Example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smtClean="0">
                <a:cs typeface="Arial"/>
                <a:hlinkClick r:id="rId2" action="ppaction://hlinkfile"/>
              </a:rPr>
              <a:t>array </a:t>
            </a:r>
            <a:r>
              <a:rPr lang="en-US" dirty="0">
                <a:cs typeface="Arial"/>
                <a:hlinkClick r:id="rId2" action="ppaction://hlinkfile"/>
              </a:rPr>
              <a:t>wrapped in a class </a:t>
            </a:r>
            <a:r>
              <a:rPr lang="en-US" dirty="0">
                <a:cs typeface="Arial"/>
              </a:rPr>
              <a:t>to represent a </a:t>
            </a:r>
            <a:r>
              <a:rPr lang="en-US" dirty="0" smtClean="0">
                <a:cs typeface="Arial"/>
              </a:rPr>
              <a:t>list</a:t>
            </a:r>
            <a:r>
              <a:rPr lang="en-US" dirty="0">
                <a:cs typeface="Arial"/>
              </a:rPr>
              <a:t/>
            </a:r>
            <a:br>
              <a:rPr lang="en-US" dirty="0">
                <a:cs typeface="Arial"/>
              </a:rPr>
            </a:br>
            <a:r>
              <a:rPr lang="en-US" b="1" dirty="0">
                <a:solidFill>
                  <a:srgbClr val="0033CC"/>
                </a:solidFill>
                <a:cs typeface="Arial"/>
              </a:rPr>
              <a:t>class </a:t>
            </a:r>
            <a:r>
              <a:rPr lang="en-US" b="1" dirty="0" err="1">
                <a:solidFill>
                  <a:srgbClr val="0033CC"/>
                </a:solidFill>
                <a:cs typeface="Arial"/>
              </a:rPr>
              <a:t>OneWayNoRepeatsList</a:t>
            </a:r>
            <a:endParaRPr lang="en-US" b="1" dirty="0">
              <a:solidFill>
                <a:srgbClr val="0033CC"/>
              </a:solidFill>
              <a:cs typeface="Arial"/>
            </a:endParaRPr>
          </a:p>
          <a:p>
            <a:pPr eaLnBrk="1" hangingPunct="1"/>
            <a:r>
              <a:rPr lang="en-US" dirty="0">
                <a:cs typeface="Arial"/>
              </a:rPr>
              <a:t>Notable code elements</a:t>
            </a:r>
          </a:p>
          <a:p>
            <a:pPr lvl="1" eaLnBrk="1" hangingPunct="1"/>
            <a:r>
              <a:rPr lang="en-US" dirty="0">
                <a:cs typeface="Arial"/>
              </a:rPr>
              <a:t>Declaration of private array</a:t>
            </a:r>
          </a:p>
          <a:p>
            <a:pPr lvl="1" eaLnBrk="1" hangingPunct="1"/>
            <a:r>
              <a:rPr lang="en-US" dirty="0">
                <a:cs typeface="Arial"/>
              </a:rPr>
              <a:t>Method to find n</a:t>
            </a:r>
            <a:r>
              <a:rPr lang="en-US" baseline="30000" dirty="0">
                <a:cs typeface="Arial"/>
              </a:rPr>
              <a:t>th </a:t>
            </a:r>
            <a:r>
              <a:rPr lang="en-US" dirty="0">
                <a:cs typeface="Arial"/>
              </a:rPr>
              <a:t>list item</a:t>
            </a:r>
          </a:p>
          <a:p>
            <a:pPr lvl="1" eaLnBrk="1" hangingPunct="1"/>
            <a:r>
              <a:rPr lang="en-US" dirty="0">
                <a:cs typeface="Arial"/>
              </a:rPr>
              <a:t>Method to check if item is on the list or not</a:t>
            </a:r>
          </a:p>
        </p:txBody>
      </p:sp>
    </p:spTree>
    <p:extLst>
      <p:ext uri="{BB962C8B-B14F-4D97-AF65-F5344CB8AC3E}">
        <p14:creationId xmlns:p14="http://schemas.microsoft.com/office/powerpoint/2010/main" val="855673565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" t="39994" r="10436"/>
          <a:stretch/>
        </p:blipFill>
        <p:spPr bwMode="auto">
          <a:xfrm>
            <a:off x="530258" y="30480"/>
            <a:ext cx="4620862" cy="2656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2727937"/>
            <a:ext cx="4022090" cy="2372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76"/>
          <a:stretch/>
        </p:blipFill>
        <p:spPr bwMode="auto">
          <a:xfrm>
            <a:off x="5102225" y="20320"/>
            <a:ext cx="4031615" cy="2707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120" y="2727937"/>
            <a:ext cx="3901440" cy="2415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9" name="Straight Connector 8"/>
          <p:cNvCxnSpPr/>
          <p:nvPr/>
        </p:nvCxnSpPr>
        <p:spPr>
          <a:xfrm>
            <a:off x="5102225" y="30480"/>
            <a:ext cx="0" cy="5069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038408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Partially Filled Arrays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81761"/>
            <a:ext cx="7566574" cy="325096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Array size specified at definition</a:t>
            </a:r>
          </a:p>
          <a:p>
            <a:pPr eaLnBrk="1" hangingPunct="1"/>
            <a:r>
              <a:rPr lang="en-US" dirty="0">
                <a:cs typeface="Arial"/>
              </a:rPr>
              <a:t>Not all elements of the array might receive values</a:t>
            </a:r>
          </a:p>
          <a:p>
            <a:pPr lvl="1" eaLnBrk="1" hangingPunct="1"/>
            <a:r>
              <a:rPr lang="en-US" dirty="0">
                <a:cs typeface="Arial"/>
              </a:rPr>
              <a:t>This is termed a </a:t>
            </a:r>
            <a:r>
              <a:rPr lang="en-US" i="1" dirty="0">
                <a:cs typeface="Arial"/>
              </a:rPr>
              <a:t>partially filled array</a:t>
            </a:r>
            <a:endParaRPr lang="en-US" dirty="0">
              <a:cs typeface="Arial"/>
            </a:endParaRPr>
          </a:p>
          <a:p>
            <a:pPr eaLnBrk="1" hangingPunct="1"/>
            <a:r>
              <a:rPr lang="en-US" dirty="0">
                <a:cs typeface="Arial"/>
              </a:rPr>
              <a:t>Programmer must keep track of how much of array is used</a:t>
            </a:r>
          </a:p>
        </p:txBody>
      </p:sp>
    </p:spTree>
    <p:extLst>
      <p:ext uri="{BB962C8B-B14F-4D97-AF65-F5344CB8AC3E}">
        <p14:creationId xmlns:p14="http://schemas.microsoft.com/office/powerpoint/2010/main" val="1154513708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Partially Filled Arrays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smtClean="0">
                <a:cs typeface="Arial"/>
              </a:rPr>
              <a:t>A </a:t>
            </a:r>
            <a:r>
              <a:rPr lang="en-US" dirty="0">
                <a:cs typeface="Arial"/>
              </a:rPr>
              <a:t>partially filled array</a:t>
            </a:r>
          </a:p>
        </p:txBody>
      </p:sp>
      <p:pic>
        <p:nvPicPr>
          <p:cNvPr id="3891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6" y="2025254"/>
            <a:ext cx="6994525" cy="201810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5151107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Jobtalk_UF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U_Template_TopBar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Jobtalk_UF.pot</Template>
  <TotalTime>15371</TotalTime>
  <Words>826</Words>
  <Application>Microsoft Macintosh PowerPoint</Application>
  <PresentationFormat>On-screen Show (16:9)</PresentationFormat>
  <Paragraphs>163</Paragraphs>
  <Slides>34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Jobtalk_UF</vt:lpstr>
      <vt:lpstr>SU_Template_TopBar</vt:lpstr>
      <vt:lpstr>Arrays (Chapter 7)</vt:lpstr>
      <vt:lpstr>Creating and Accessing Arrays</vt:lpstr>
      <vt:lpstr>Creating and Accessing Arrays</vt:lpstr>
      <vt:lpstr>Array Details</vt:lpstr>
      <vt:lpstr>Square Brackets with Arrays</vt:lpstr>
      <vt:lpstr>Array Details</vt:lpstr>
      <vt:lpstr>The Instance Variable length</vt:lpstr>
      <vt:lpstr>More About Array Indices</vt:lpstr>
      <vt:lpstr>Initializing Arrays</vt:lpstr>
      <vt:lpstr>Arrays in Classes and Methods: Outline</vt:lpstr>
      <vt:lpstr>Case Study: Sales Report</vt:lpstr>
      <vt:lpstr>Case Study: Sales Report</vt:lpstr>
      <vt:lpstr>Case Study: Sales Report</vt:lpstr>
      <vt:lpstr>Case Study: Sales Report</vt:lpstr>
      <vt:lpstr>PowerPoint Presentation</vt:lpstr>
      <vt:lpstr>PowerPoint Presentation</vt:lpstr>
      <vt:lpstr>Indexed Variables as Method Arguments</vt:lpstr>
      <vt:lpstr>Entire Arrays as Arguments</vt:lpstr>
      <vt:lpstr>Entire Arrays as Arguments</vt:lpstr>
      <vt:lpstr>Arguments for Method main</vt:lpstr>
      <vt:lpstr>Array Assignment and Equality</vt:lpstr>
      <vt:lpstr>Array Assignment and Equality</vt:lpstr>
      <vt:lpstr>Gotcha – Don’t Exceed Array Bounds</vt:lpstr>
      <vt:lpstr>Gotcha – Creating an Array of Objects</vt:lpstr>
      <vt:lpstr>PowerPoint Presentation</vt:lpstr>
      <vt:lpstr>Methods that Return Arrays</vt:lpstr>
      <vt:lpstr>Programming with Arrays and Classes: Outline</vt:lpstr>
      <vt:lpstr>Programming Example</vt:lpstr>
      <vt:lpstr>Programming Example</vt:lpstr>
      <vt:lpstr>Programming Example</vt:lpstr>
      <vt:lpstr>Programming Example</vt:lpstr>
      <vt:lpstr>PowerPoint Presentation</vt:lpstr>
      <vt:lpstr>Partially Filled Arrays</vt:lpstr>
      <vt:lpstr>Partially Filled Arrays</vt:lpstr>
    </vt:vector>
  </TitlesOfParts>
  <Company>Stanford University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Guidelines</dc:title>
  <dc:creator>Giltae Song</dc:creator>
  <dc:description>2012 PowerPoint template redesign</dc:description>
  <cp:lastModifiedBy>curator</cp:lastModifiedBy>
  <cp:revision>1663</cp:revision>
  <cp:lastPrinted>2016-01-15T22:14:07Z</cp:lastPrinted>
  <dcterms:created xsi:type="dcterms:W3CDTF">2016-01-04T21:30:26Z</dcterms:created>
  <dcterms:modified xsi:type="dcterms:W3CDTF">2016-10-20T05:47:34Z</dcterms:modified>
</cp:coreProperties>
</file>