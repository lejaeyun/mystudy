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31"/>
  </p:notesMasterIdLst>
  <p:handoutMasterIdLst>
    <p:handoutMasterId r:id="rId32"/>
  </p:handoutMasterIdLst>
  <p:sldIdLst>
    <p:sldId id="1002" r:id="rId3"/>
    <p:sldId id="972" r:id="rId4"/>
    <p:sldId id="1003" r:id="rId5"/>
    <p:sldId id="1004" r:id="rId6"/>
    <p:sldId id="1005" r:id="rId7"/>
    <p:sldId id="1007" r:id="rId8"/>
    <p:sldId id="1008" r:id="rId9"/>
    <p:sldId id="1009" r:id="rId10"/>
    <p:sldId id="1010" r:id="rId11"/>
    <p:sldId id="1011" r:id="rId12"/>
    <p:sldId id="1012" r:id="rId13"/>
    <p:sldId id="1013" r:id="rId14"/>
    <p:sldId id="988" r:id="rId15"/>
    <p:sldId id="1006" r:id="rId16"/>
    <p:sldId id="989" r:id="rId17"/>
    <p:sldId id="1014" r:id="rId18"/>
    <p:sldId id="990" r:id="rId19"/>
    <p:sldId id="991" r:id="rId20"/>
    <p:sldId id="992" r:id="rId21"/>
    <p:sldId id="993" r:id="rId22"/>
    <p:sldId id="994" r:id="rId23"/>
    <p:sldId id="1001" r:id="rId24"/>
    <p:sldId id="995" r:id="rId25"/>
    <p:sldId id="996" r:id="rId26"/>
    <p:sldId id="997" r:id="rId27"/>
    <p:sldId id="998" r:id="rId28"/>
    <p:sldId id="999" r:id="rId29"/>
    <p:sldId id="1000" r:id="rId30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88604" autoAdjust="0"/>
  </p:normalViewPr>
  <p:slideViewPr>
    <p:cSldViewPr snapToGrid="0" snapToObjects="1">
      <p:cViewPr varScale="1">
        <p:scale>
          <a:sx n="133" d="100"/>
          <a:sy n="133" d="100"/>
        </p:scale>
        <p:origin x="72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8/30/2019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8/28/2019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An individual’s data is connected to enormous data from people over the world such as social network, research articles, and biomedical data on daily basis via internet.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55573-23BE-7541-92D3-8BDD66C16B5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5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기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lnSpc>
                <a:spcPct val="120000"/>
              </a:lnSpc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defRPr sz="1400" b="0">
                <a:latin typeface="맑은 고딕" pitchFamily="50" charset="-127"/>
                <a:ea typeface="맑은 고딕" pitchFamily="50" charset="-127"/>
              </a:defRPr>
            </a:lvl3pPr>
            <a:lvl4pPr>
              <a:defRPr sz="1200">
                <a:latin typeface="맑은 고딕" pitchFamily="50" charset="-127"/>
                <a:ea typeface="맑은 고딕" pitchFamily="50" charset="-127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149813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3"/>
          <p:cNvSpPr>
            <a:spLocks noGrp="1"/>
          </p:cNvSpPr>
          <p:nvPr>
            <p:ph type="title"/>
          </p:nvPr>
        </p:nvSpPr>
        <p:spPr>
          <a:xfrm>
            <a:off x="949325" y="358775"/>
            <a:ext cx="7707313" cy="48895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-102" charset="0"/>
                <a:ea typeface="ＭＳ Ｐゴシック" pitchFamily="-102" charset="-128"/>
                <a:cs typeface="ＭＳ Ｐゴシック" pitchFamily="-102" charset="-128"/>
              </a:rPr>
              <a:t>Introduction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/>
          </a:bodyPr>
          <a:lstStyle/>
          <a:p>
            <a:pPr lvl="1">
              <a:buFont typeface="Wingdings" charset="2"/>
              <a:buChar char="q"/>
            </a:pPr>
            <a:r>
              <a:rPr lang="en-US" altLang="ko-KR" dirty="0"/>
              <a:t>Computer Basics</a:t>
            </a:r>
          </a:p>
          <a:p>
            <a:pPr lvl="1">
              <a:buFont typeface="Wingdings" charset="2"/>
              <a:buChar char="q"/>
            </a:pPr>
            <a:r>
              <a:rPr lang="en-US" altLang="ko-KR" dirty="0"/>
              <a:t>Java</a:t>
            </a:r>
          </a:p>
          <a:p>
            <a:pPr lvl="1">
              <a:buFont typeface="Wingdings" charset="2"/>
              <a:buChar char="q"/>
            </a:pPr>
            <a:r>
              <a:rPr lang="en-US" altLang="ko-KR" dirty="0"/>
              <a:t>Programming Basics</a:t>
            </a:r>
          </a:p>
        </p:txBody>
      </p:sp>
    </p:spTree>
    <p:extLst>
      <p:ext uri="{BB962C8B-B14F-4D97-AF65-F5344CB8AC3E}">
        <p14:creationId xmlns:p14="http://schemas.microsoft.com/office/powerpoint/2010/main" val="297236745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HY견고딕" charset="0"/>
                <a:ea typeface="HY견고딕" charset="0"/>
              </a:rPr>
              <a:t>Hardware and Software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컴퓨터 시스템은 하드웨어와 소프트웨어로 구성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맑은 고딕" charset="0"/>
                <a:ea typeface="맑은 고딕" charset="0"/>
              </a:rPr>
              <a:t>하드웨어</a:t>
            </a:r>
            <a:r>
              <a:rPr lang="en-US" altLang="ko-KR" dirty="0">
                <a:latin typeface="맑은 고딕" charset="0"/>
                <a:ea typeface="맑은 고딕" charset="0"/>
              </a:rPr>
              <a:t>:</a:t>
            </a:r>
            <a:r>
              <a:rPr lang="ko-KR" altLang="en-US" dirty="0">
                <a:latin typeface="맑은 고딕" charset="0"/>
                <a:ea typeface="맑은 고딕" charset="0"/>
              </a:rPr>
              <a:t> 컴퓨터 시스템에서 실제로 손으로 만질 수 있는 물질적인 파트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소프트웨어</a:t>
            </a:r>
            <a:r>
              <a:rPr lang="ko-KR" altLang="ko-KR" dirty="0">
                <a:latin typeface="Arial" charset="0"/>
                <a:ea typeface="맑은 고딕" charset="0"/>
              </a:rPr>
              <a:t>:</a:t>
            </a:r>
            <a:r>
              <a:rPr lang="ko-KR" altLang="en-US" dirty="0">
                <a:latin typeface="Arial" charset="0"/>
                <a:ea typeface="맑은 고딕" charset="0"/>
              </a:rPr>
              <a:t> 컴퓨터 프로그램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하드웨어에 대한 배경 지식은 소프트웨어 이해를 도움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>
              <a:buFont typeface="Wingdings" charset="0"/>
              <a:buNone/>
            </a:pP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>
              <a:buFont typeface="Wingdings" charset="0"/>
              <a:buNone/>
            </a:pPr>
            <a:endParaRPr lang="ko-KR" altLang="en-US" dirty="0">
              <a:latin typeface="맑은 고딕" charset="0"/>
              <a:ea typeface="맑은 고딕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54320" y="2875280"/>
            <a:ext cx="3444240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43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HY견고딕" charset="0"/>
                <a:ea typeface="HY견고딕" charset="0"/>
              </a:rPr>
              <a:t>Hardware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입력 장치</a:t>
            </a:r>
            <a:r>
              <a:rPr lang="en-US" altLang="ko-KR" dirty="0">
                <a:latin typeface="맑은 고딕" charset="0"/>
                <a:ea typeface="맑은 고딕" charset="0"/>
              </a:rPr>
              <a:t>:</a:t>
            </a:r>
            <a:r>
              <a:rPr lang="ko-KR" altLang="en-US" dirty="0">
                <a:latin typeface="맑은 고딕" charset="0"/>
                <a:ea typeface="맑은 고딕" charset="0"/>
              </a:rPr>
              <a:t> 키보드</a:t>
            </a:r>
            <a:r>
              <a:rPr lang="en-US" altLang="ko-KR" dirty="0">
                <a:latin typeface="맑은 고딕" charset="0"/>
                <a:ea typeface="맑은 고딕" charset="0"/>
              </a:rPr>
              <a:t>,</a:t>
            </a:r>
            <a:r>
              <a:rPr lang="ko-KR" altLang="en-US" dirty="0">
                <a:latin typeface="맑은 고딕" charset="0"/>
                <a:ea typeface="맑은 고딕" charset="0"/>
              </a:rPr>
              <a:t> 마우스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출력 장치</a:t>
            </a:r>
            <a:r>
              <a:rPr lang="en-US" altLang="ko-KR" dirty="0">
                <a:latin typeface="Arial" charset="0"/>
                <a:ea typeface="맑은 고딕" charset="0"/>
              </a:rPr>
              <a:t>:</a:t>
            </a:r>
            <a:r>
              <a:rPr lang="ko-KR" altLang="en-US" dirty="0">
                <a:latin typeface="Arial" charset="0"/>
                <a:ea typeface="맑은 고딕" charset="0"/>
              </a:rPr>
              <a:t> 모니터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프린터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프로세서 </a:t>
            </a:r>
            <a:r>
              <a:rPr lang="en-US" altLang="ko-KR" dirty="0">
                <a:latin typeface="Arial" charset="0"/>
                <a:ea typeface="맑은 고딕" charset="0"/>
              </a:rPr>
              <a:t>(central processing unit  or chip)</a:t>
            </a: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메모리 </a:t>
            </a:r>
            <a:r>
              <a:rPr lang="en-US" altLang="ko-KR" dirty="0">
                <a:latin typeface="Arial" charset="0"/>
                <a:ea typeface="맑은 고딕" charset="0"/>
              </a:rPr>
              <a:t>(main memory, </a:t>
            </a:r>
            <a:r>
              <a:rPr lang="ko-KR" altLang="en-US" dirty="0">
                <a:latin typeface="Arial" charset="0"/>
                <a:ea typeface="맑은 고딕" charset="0"/>
              </a:rPr>
              <a:t>보조 기억 장치 </a:t>
            </a:r>
            <a:r>
              <a:rPr lang="en-US" altLang="ko-KR" dirty="0">
                <a:latin typeface="Arial" charset="0"/>
                <a:ea typeface="맑은 고딕" charset="0"/>
              </a:rPr>
              <a:t>–</a:t>
            </a:r>
            <a:r>
              <a:rPr lang="ko-KR" altLang="en-US" dirty="0">
                <a:latin typeface="Arial" charset="0"/>
                <a:ea typeface="맑은 고딕" charset="0"/>
              </a:rPr>
              <a:t> 하드디스크 등</a:t>
            </a:r>
            <a:r>
              <a:rPr lang="en-US" altLang="ko-KR" dirty="0">
                <a:latin typeface="Arial" charset="0"/>
                <a:ea typeface="맑은 고딕" charset="0"/>
              </a:rPr>
              <a:t>)</a:t>
            </a:r>
            <a:r>
              <a:rPr lang="ko-KR" altLang="en-US" dirty="0">
                <a:latin typeface="Arial" charset="0"/>
                <a:ea typeface="맑은 고딕" charset="0"/>
              </a:rPr>
              <a:t> 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>
              <a:buFont typeface="Wingdings" charset="0"/>
              <a:buNone/>
            </a:pPr>
            <a:endParaRPr lang="ko-KR" altLang="en-US" dirty="0">
              <a:latin typeface="맑은 고딕" charset="0"/>
              <a:ea typeface="맑은 고딕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54320" y="2875280"/>
            <a:ext cx="3444240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89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비트</a:t>
            </a:r>
            <a:r>
              <a:rPr lang="en-US" altLang="ko-KR" dirty="0">
                <a:latin typeface="HY견고딕" charset="0"/>
                <a:ea typeface="HY견고딕" charset="0"/>
              </a:rPr>
              <a:t>,</a:t>
            </a:r>
            <a:r>
              <a:rPr lang="ko-KR" altLang="en-US" dirty="0">
                <a:latin typeface="HY견고딕" charset="0"/>
                <a:ea typeface="HY견고딕" charset="0"/>
              </a:rPr>
              <a:t> 바이트</a:t>
            </a:r>
            <a:r>
              <a:rPr lang="en-US" altLang="ko-KR" dirty="0">
                <a:latin typeface="HY견고딕" charset="0"/>
                <a:ea typeface="HY견고딕" charset="0"/>
              </a:rPr>
              <a:t>,</a:t>
            </a:r>
            <a:r>
              <a:rPr lang="ko-KR" altLang="en-US" dirty="0">
                <a:latin typeface="HY견고딕" charset="0"/>
                <a:ea typeface="HY견고딕" charset="0"/>
              </a:rPr>
              <a:t> 어드레스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2921635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비트</a:t>
            </a:r>
            <a:r>
              <a:rPr lang="en-US" altLang="ko-KR" dirty="0">
                <a:latin typeface="Arial" charset="0"/>
                <a:ea typeface="맑은 고딕" charset="0"/>
              </a:rPr>
              <a:t>:</a:t>
            </a:r>
            <a:r>
              <a:rPr lang="ko-KR" altLang="en-US" dirty="0">
                <a:latin typeface="Arial" charset="0"/>
                <a:ea typeface="맑은 고딕" charset="0"/>
              </a:rPr>
              <a:t> </a:t>
            </a:r>
            <a:r>
              <a:rPr lang="en-US" altLang="ko-KR" dirty="0">
                <a:latin typeface="Arial" charset="0"/>
                <a:ea typeface="맑은 고딕" charset="0"/>
              </a:rPr>
              <a:t>0 or 1</a:t>
            </a: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바이트</a:t>
            </a:r>
            <a:r>
              <a:rPr lang="en-US" altLang="ko-KR" dirty="0">
                <a:latin typeface="Arial" charset="0"/>
                <a:ea typeface="맑은 고딕" charset="0"/>
              </a:rPr>
              <a:t>:</a:t>
            </a:r>
            <a:r>
              <a:rPr lang="ko-KR" altLang="en-US" dirty="0">
                <a:latin typeface="Arial" charset="0"/>
                <a:ea typeface="맑은 고딕" charset="0"/>
              </a:rPr>
              <a:t> </a:t>
            </a:r>
            <a:r>
              <a:rPr lang="en-US" altLang="ko-KR" dirty="0">
                <a:latin typeface="Arial" charset="0"/>
                <a:ea typeface="맑은 고딕" charset="0"/>
              </a:rPr>
              <a:t>8</a:t>
            </a:r>
            <a:r>
              <a:rPr lang="ko-KR" altLang="en-US" dirty="0">
                <a:latin typeface="Arial" charset="0"/>
                <a:ea typeface="맑은 고딕" charset="0"/>
              </a:rPr>
              <a:t> 비트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en-US" altLang="ko-KR" dirty="0">
                <a:latin typeface="맑은 고딕" charset="0"/>
                <a:ea typeface="맑은 고딕" charset="0"/>
              </a:rPr>
              <a:t>Main memory</a:t>
            </a:r>
            <a:r>
              <a:rPr lang="ko-KR" altLang="en-US" dirty="0">
                <a:latin typeface="맑은 고딕" charset="0"/>
                <a:ea typeface="맑은 고딕" charset="0"/>
              </a:rPr>
              <a:t>의 </a:t>
            </a:r>
            <a:r>
              <a:rPr lang="en-US" altLang="ko-KR" dirty="0">
                <a:latin typeface="맑은 고딕" charset="0"/>
                <a:ea typeface="맑은 고딕" charset="0"/>
              </a:rPr>
              <a:t>1</a:t>
            </a:r>
            <a:r>
              <a:rPr lang="ko-KR" altLang="en-US" dirty="0">
                <a:latin typeface="맑은 고딕" charset="0"/>
                <a:ea typeface="맑은 고딕" charset="0"/>
              </a:rPr>
              <a:t>바이트는 하나의 주소</a:t>
            </a:r>
            <a:endParaRPr lang="en-US" altLang="ko-KR" dirty="0">
              <a:latin typeface="Arial" charset="0"/>
              <a:ea typeface="맑은 고딕" charset="0"/>
            </a:endParaRPr>
          </a:p>
        </p:txBody>
      </p:sp>
      <p:pic>
        <p:nvPicPr>
          <p:cNvPr id="3" name="Picture 2" descr="그림-주기억장치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439" y="1148081"/>
            <a:ext cx="4664199" cy="343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2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데이터 저장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숫자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문자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문자열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이미지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비디오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프로그램 자체 모두 바이너리 형태로 변환되어 저장됨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en-US" altLang="ko-KR" dirty="0">
                <a:latin typeface="Arial" charset="0"/>
                <a:ea typeface="맑은 고딕" charset="0"/>
              </a:rPr>
              <a:t>1</a:t>
            </a:r>
            <a:r>
              <a:rPr lang="ko-KR" altLang="en-US" dirty="0">
                <a:latin typeface="Arial" charset="0"/>
                <a:ea typeface="맑은 고딕" charset="0"/>
              </a:rPr>
              <a:t>바이트 이상의 데이터를 저장할 때는 여러개의 메모리의 주소가 사용됨</a:t>
            </a:r>
            <a:endParaRPr lang="en-US" altLang="ko-KR" dirty="0">
              <a:latin typeface="Arial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16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파일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하드디스크와 같은 보조 기억 장치에 저장되는 형태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여러 바이트가 하나의 파일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여러 파일은 하나의 디렉토리 혹은 폴더로 저장됨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프로그램 파일은 보조 기억 장치에서 실행될 때는 주기억 장치로 복사됨</a:t>
            </a:r>
            <a:endParaRPr lang="en-US" altLang="ko-KR" dirty="0">
              <a:latin typeface="Arial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26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HY견고딕" charset="0"/>
                <a:ea typeface="HY견고딕" charset="0"/>
              </a:rPr>
              <a:t>Binary</a:t>
            </a:r>
            <a:r>
              <a:rPr lang="ko-KR" altLang="en-US" dirty="0">
                <a:latin typeface="HY견고딕" charset="0"/>
                <a:ea typeface="HY견고딕" charset="0"/>
              </a:rPr>
              <a:t> </a:t>
            </a:r>
            <a:r>
              <a:rPr lang="en-US" altLang="ko-KR" dirty="0">
                <a:latin typeface="HY견고딕" charset="0"/>
                <a:ea typeface="HY견고딕" charset="0"/>
              </a:rPr>
              <a:t>data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기계는 </a:t>
            </a:r>
            <a:r>
              <a:rPr lang="en-US" altLang="ko-KR" dirty="0">
                <a:latin typeface="Arial" charset="0"/>
                <a:ea typeface="맑은 고딕" charset="0"/>
              </a:rPr>
              <a:t>0</a:t>
            </a:r>
            <a:r>
              <a:rPr lang="ko-KR" altLang="en-US" dirty="0">
                <a:latin typeface="Arial" charset="0"/>
                <a:ea typeface="맑은 고딕" charset="0"/>
              </a:rPr>
              <a:t>과 </a:t>
            </a:r>
            <a:r>
              <a:rPr lang="en-US" altLang="ko-KR" dirty="0">
                <a:latin typeface="Arial" charset="0"/>
                <a:ea typeface="맑은 고딕" charset="0"/>
              </a:rPr>
              <a:t>1</a:t>
            </a:r>
            <a:r>
              <a:rPr lang="ko-KR" altLang="en-US" dirty="0">
                <a:latin typeface="Arial" charset="0"/>
                <a:ea typeface="맑은 고딕" charset="0"/>
              </a:rPr>
              <a:t>의 형태로 데이터를 유지하는 게 쉽지만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사람이 </a:t>
            </a:r>
            <a:r>
              <a:rPr lang="en-US" altLang="ko-KR" dirty="0">
                <a:latin typeface="Arial" charset="0"/>
                <a:ea typeface="맑은 고딕" charset="0"/>
              </a:rPr>
              <a:t>0</a:t>
            </a:r>
            <a:r>
              <a:rPr lang="ko-KR" altLang="en-US" dirty="0">
                <a:latin typeface="Arial" charset="0"/>
                <a:ea typeface="맑은 고딕" charset="0"/>
              </a:rPr>
              <a:t>과 </a:t>
            </a:r>
            <a:r>
              <a:rPr lang="en-US" altLang="ko-KR" dirty="0">
                <a:latin typeface="Arial" charset="0"/>
                <a:ea typeface="맑은 고딕" charset="0"/>
              </a:rPr>
              <a:t>1</a:t>
            </a:r>
            <a:r>
              <a:rPr lang="ko-KR" altLang="en-US" dirty="0">
                <a:latin typeface="Arial" charset="0"/>
                <a:ea typeface="맑은 고딕" charset="0"/>
              </a:rPr>
              <a:t>의 형태로 프로그래밍하기는 어려움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숫자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문자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이미지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비디오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프로그램 등의 데이터는 자동으로 </a:t>
            </a:r>
            <a:r>
              <a:rPr lang="en-US" altLang="ko-KR" dirty="0">
                <a:latin typeface="Arial" charset="0"/>
                <a:ea typeface="맑은 고딕" charset="0"/>
              </a:rPr>
              <a:t>0</a:t>
            </a:r>
            <a:r>
              <a:rPr lang="ko-KR" altLang="en-US" dirty="0">
                <a:latin typeface="Arial" charset="0"/>
                <a:ea typeface="맑은 고딕" charset="0"/>
              </a:rPr>
              <a:t>과 </a:t>
            </a:r>
            <a:r>
              <a:rPr lang="en-US" altLang="ko-KR" dirty="0">
                <a:latin typeface="Arial" charset="0"/>
                <a:ea typeface="맑은 고딕" charset="0"/>
              </a:rPr>
              <a:t>1</a:t>
            </a:r>
            <a:r>
              <a:rPr lang="ko-KR" altLang="en-US" dirty="0">
                <a:latin typeface="Arial" charset="0"/>
                <a:ea typeface="맑은 고딕" charset="0"/>
              </a:rPr>
              <a:t>의 형태로 변환됨</a:t>
            </a:r>
            <a:endParaRPr lang="en-US" altLang="ko-KR" dirty="0">
              <a:latin typeface="Arial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960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HY견고딕" charset="0"/>
                <a:ea typeface="HY견고딕" charset="0"/>
              </a:rPr>
              <a:t>Programs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한 프로그램은 여러 </a:t>
            </a:r>
            <a:r>
              <a:rPr lang="en-US" altLang="ko-KR" dirty="0">
                <a:latin typeface="Arial" charset="0"/>
                <a:ea typeface="맑은 고딕" charset="0"/>
              </a:rPr>
              <a:t>instructions</a:t>
            </a:r>
            <a:r>
              <a:rPr lang="ko-KR" altLang="en-US" dirty="0">
                <a:latin typeface="Arial" charset="0"/>
                <a:ea typeface="맑은 고딕" charset="0"/>
              </a:rPr>
              <a:t> </a:t>
            </a:r>
            <a:r>
              <a:rPr lang="en-US" altLang="ko-KR" dirty="0">
                <a:latin typeface="Arial" charset="0"/>
                <a:ea typeface="맑은 고딕" charset="0"/>
              </a:rPr>
              <a:t>(</a:t>
            </a:r>
            <a:r>
              <a:rPr lang="ko-KR" altLang="en-US" dirty="0">
                <a:latin typeface="Arial" charset="0"/>
                <a:ea typeface="맑은 고딕" charset="0"/>
              </a:rPr>
              <a:t>명령어</a:t>
            </a:r>
            <a:r>
              <a:rPr lang="en-US" altLang="ko-KR" dirty="0">
                <a:latin typeface="Arial" charset="0"/>
                <a:ea typeface="맑은 고딕" charset="0"/>
              </a:rPr>
              <a:t>)</a:t>
            </a:r>
            <a:r>
              <a:rPr lang="ko-KR" altLang="en-US" dirty="0">
                <a:latin typeface="Arial" charset="0"/>
                <a:ea typeface="맑은 고딕" charset="0"/>
              </a:rPr>
              <a:t> 의 한 집합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숫자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문자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이미지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비디오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프로그램 등의 데이터는 자동으로 </a:t>
            </a:r>
            <a:r>
              <a:rPr lang="en-US" altLang="ko-KR" dirty="0">
                <a:latin typeface="Arial" charset="0"/>
                <a:ea typeface="맑은 고딕" charset="0"/>
              </a:rPr>
              <a:t>0</a:t>
            </a:r>
            <a:r>
              <a:rPr lang="ko-KR" altLang="en-US" dirty="0">
                <a:latin typeface="Arial" charset="0"/>
                <a:ea typeface="맑은 고딕" charset="0"/>
              </a:rPr>
              <a:t>과 </a:t>
            </a:r>
            <a:r>
              <a:rPr lang="en-US" altLang="ko-KR" dirty="0">
                <a:latin typeface="Arial" charset="0"/>
                <a:ea typeface="맑은 고딕" charset="0"/>
              </a:rPr>
              <a:t>1</a:t>
            </a:r>
            <a:r>
              <a:rPr lang="ko-KR" altLang="en-US" dirty="0">
                <a:latin typeface="Arial" charset="0"/>
                <a:ea typeface="맑은 고딕" charset="0"/>
              </a:rPr>
              <a:t>의 형태로 변환됨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이메일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문서편집기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휴대폰 앱</a:t>
            </a:r>
            <a:r>
              <a:rPr lang="en-US" altLang="ko-KR" dirty="0">
                <a:latin typeface="Arial" charset="0"/>
                <a:ea typeface="맑은 고딕" charset="0"/>
              </a:rPr>
              <a:t>,</a:t>
            </a:r>
            <a:r>
              <a:rPr lang="ko-KR" altLang="en-US" dirty="0">
                <a:latin typeface="Arial" charset="0"/>
                <a:ea typeface="맑은 고딕" charset="0"/>
              </a:rPr>
              <a:t> 비디오 게임 등 일상생활에서 거의 매일 프로그램을 사용함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주기억 장치로 저장된 명령어들을 따라가는 것을 프로그램을 실행한다</a:t>
            </a:r>
            <a:r>
              <a:rPr lang="en-US" altLang="ko-KR" dirty="0">
                <a:latin typeface="Arial" charset="0"/>
                <a:ea typeface="맑은 고딕" charset="0"/>
              </a:rPr>
              <a:t>(run or execute)</a:t>
            </a:r>
            <a:r>
              <a:rPr lang="ko-KR" altLang="en-US" dirty="0">
                <a:latin typeface="Arial" charset="0"/>
                <a:ea typeface="맑은 고딕" charset="0"/>
              </a:rPr>
              <a:t>고 함</a:t>
            </a:r>
            <a:endParaRPr lang="en-US" altLang="ko-KR" dirty="0">
              <a:latin typeface="Arial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91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프로그램의 실행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두 개의 형태의 입력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프로그램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프로그램 실행에 필요한 데이터 </a:t>
            </a: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출력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프로그램을 실행한 후 결과</a:t>
            </a:r>
            <a:endParaRPr lang="en-US" altLang="ko-KR" dirty="0">
              <a:latin typeface="Arial" charset="0"/>
              <a:ea typeface="맑은 고딕" charset="0"/>
            </a:endParaRPr>
          </a:p>
        </p:txBody>
      </p:sp>
      <p:pic>
        <p:nvPicPr>
          <p:cNvPr id="2" name="Picture 1" descr="그림-프로그램실행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20" y="2619180"/>
            <a:ext cx="7012940" cy="237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9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운영 체제 </a:t>
            </a:r>
            <a:r>
              <a:rPr lang="en-US" altLang="ko-KR" dirty="0">
                <a:latin typeface="HY견고딕" charset="0"/>
                <a:ea typeface="HY견고딕" charset="0"/>
              </a:rPr>
              <a:t>(Operating System)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운영체제란</a:t>
            </a:r>
            <a:r>
              <a:rPr lang="en-US" altLang="ko-KR" dirty="0">
                <a:latin typeface="Arial" charset="0"/>
                <a:ea typeface="맑은 고딕" charset="0"/>
              </a:rPr>
              <a:t>?</a:t>
            </a: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컴퓨터 연산을 총괄하는 프로그램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실행하고자 하는 프로그램을 탐색하여 시작하게 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운영체제 종류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Arial" charset="0"/>
                <a:ea typeface="맑은 고딕" charset="0"/>
              </a:rPr>
              <a:t>Microsoft Windows</a:t>
            </a:r>
          </a:p>
          <a:p>
            <a:pPr lvl="2" eaLnBrk="1" hangingPunct="1"/>
            <a:r>
              <a:rPr lang="en-US" altLang="ko-KR" dirty="0">
                <a:latin typeface="Arial" charset="0"/>
                <a:ea typeface="맑은 고딕" charset="0"/>
              </a:rPr>
              <a:t>Apple’s Mac OS</a:t>
            </a:r>
          </a:p>
          <a:p>
            <a:pPr lvl="2" eaLnBrk="1" hangingPunct="1"/>
            <a:r>
              <a:rPr lang="en-US" altLang="ko-KR" dirty="0">
                <a:latin typeface="Arial" charset="0"/>
                <a:ea typeface="맑은 고딕" charset="0"/>
              </a:rPr>
              <a:t>Linux </a:t>
            </a:r>
          </a:p>
          <a:p>
            <a:pPr lvl="2" eaLnBrk="1" hangingPunct="1"/>
            <a:r>
              <a:rPr lang="en-US" altLang="ko-KR" dirty="0">
                <a:latin typeface="Arial" charset="0"/>
                <a:ea typeface="맑은 고딕" charset="0"/>
              </a:rPr>
              <a:t>UNIX </a:t>
            </a:r>
          </a:p>
        </p:txBody>
      </p:sp>
    </p:spTree>
    <p:extLst>
      <p:ext uri="{BB962C8B-B14F-4D97-AF65-F5344CB8AC3E}">
        <p14:creationId xmlns:p14="http://schemas.microsoft.com/office/powerpoint/2010/main" val="369271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프로그래밍 언어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고급 </a:t>
            </a:r>
            <a:r>
              <a:rPr lang="en-US" altLang="ko-KR" dirty="0">
                <a:latin typeface="Arial" charset="0"/>
                <a:ea typeface="맑은 고딕" charset="0"/>
              </a:rPr>
              <a:t>(high-level) </a:t>
            </a:r>
            <a:r>
              <a:rPr lang="ko-KR" altLang="en-US" dirty="0">
                <a:latin typeface="Arial" charset="0"/>
                <a:ea typeface="맑은 고딕" charset="0"/>
              </a:rPr>
              <a:t>프로그래밍 언어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사람이 사용하기 편리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en-US" dirty="0"/>
              <a:t>Java, C#, C++, Visual Basic, Python, Ruby</a:t>
            </a: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컴퓨터 하드웨어는 고급 프로그래밍 언어를 이해할 수 없음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Arial" charset="0"/>
                <a:ea typeface="맑은 고딕" charset="0"/>
              </a:rPr>
              <a:t>고급 프로그래밍 언어는 기계어나 어셈블리어로 변환되어야 함</a:t>
            </a:r>
          </a:p>
          <a:p>
            <a:pPr lvl="1" eaLnBrk="1" hangingPunct="1"/>
            <a:endParaRPr lang="en-US" altLang="ko-KR" dirty="0">
              <a:latin typeface="Arial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00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컴파일러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/>
              <a:t>고급 프로그래밍 언어로 작성된 프로그래 소스를 기계어나 어셈블리어로 번역함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각 운영체제나 컴퓨터에 따라 소스 코드가 컴파일 되어야 함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컴파일된 프로그램이 다른 운영체제나 컴퓨터 환경에서 실행이 안 될 수 있음</a:t>
            </a:r>
            <a:endParaRPr lang="en-US" altLang="ko-KR" dirty="0"/>
          </a:p>
          <a:p>
            <a:pPr lvl="1" eaLnBrk="1" hangingPunct="1"/>
            <a:endParaRPr lang="en-US" altLang="ko-KR" dirty="0">
              <a:latin typeface="Arial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54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 탄생 배경 </a:t>
            </a:r>
            <a:r>
              <a:rPr lang="en-US" altLang="ko-KR" dirty="0">
                <a:latin typeface="HY견고딕" charset="0"/>
                <a:ea typeface="HY견고딕" charset="0"/>
              </a:rPr>
              <a:t>–</a:t>
            </a:r>
            <a:r>
              <a:rPr lang="ko-KR" altLang="en-US" dirty="0">
                <a:latin typeface="HY견고딕" charset="0"/>
                <a:ea typeface="HY견고딕" charset="0"/>
              </a:rPr>
              <a:t> 기존 프로그래밍 언어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특정 플랫폼에 종속된 코드를 생성</a:t>
            </a:r>
          </a:p>
        </p:txBody>
      </p:sp>
      <p:pic>
        <p:nvPicPr>
          <p:cNvPr id="7172" name="Picture 2" descr="H:\한빛\강의교안제작\[보안주의]출판원고PDF\자바기초_그림&amp;표\ch01_img\ch01-02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1257300"/>
            <a:ext cx="737235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49325" y="3561080"/>
            <a:ext cx="1021715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7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자바의 탄생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388207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썬 마이크로시스템즈사에서 개발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인터넷이 확산됨에 따라 기존의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ko-KR" dirty="0">
                <a:latin typeface="Arial" charset="0"/>
                <a:ea typeface="맑은 고딕" charset="0"/>
              </a:rPr>
              <a:t>	</a:t>
            </a:r>
            <a:r>
              <a:rPr lang="ko-KR" altLang="en-US" dirty="0">
                <a:latin typeface="Arial" charset="0"/>
                <a:ea typeface="맑은 고딕" charset="0"/>
              </a:rPr>
              <a:t>객체지향언어인 오크</a:t>
            </a:r>
            <a:r>
              <a:rPr lang="en-US" altLang="ko-KR" dirty="0">
                <a:latin typeface="Arial" charset="0"/>
                <a:ea typeface="맑은 고딕" charset="0"/>
              </a:rPr>
              <a:t>(OAK)</a:t>
            </a:r>
            <a:r>
              <a:rPr lang="ko-KR" altLang="en-US" dirty="0">
                <a:latin typeface="Arial" charset="0"/>
                <a:ea typeface="맑은 고딕" charset="0"/>
              </a:rPr>
              <a:t>가 </a:t>
            </a:r>
            <a:r>
              <a:rPr lang="ko-KR" altLang="en-US" dirty="0">
                <a:solidFill>
                  <a:srgbClr val="FF0000"/>
                </a:solidFill>
                <a:latin typeface="Arial" charset="0"/>
                <a:ea typeface="맑은 고딕" charset="0"/>
              </a:rPr>
              <a:t>자바</a:t>
            </a:r>
            <a:r>
              <a:rPr lang="ko-KR" altLang="en-US" dirty="0">
                <a:latin typeface="Arial" charset="0"/>
                <a:ea typeface="맑은 고딕" charset="0"/>
              </a:rPr>
              <a:t>라는 </a:t>
            </a:r>
            <a:br>
              <a:rPr lang="en-US" altLang="ko-KR" dirty="0">
                <a:latin typeface="Arial" charset="0"/>
                <a:ea typeface="맑은 고딕" charset="0"/>
              </a:rPr>
            </a:br>
            <a:r>
              <a:rPr lang="ko-KR" altLang="en-US" dirty="0">
                <a:latin typeface="Arial" charset="0"/>
                <a:ea typeface="맑은 고딕" charset="0"/>
              </a:rPr>
              <a:t>이름으로 새롭게 탄생함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캐나다 컴퓨터과학자 제임스 고슬링에 의해 설계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Arial" charset="0"/>
                <a:ea typeface="맑은 고딕" charset="0"/>
              </a:rPr>
              <a:t>자바라는 이름은 인도네시아 커피에서 유래됨</a:t>
            </a:r>
            <a:endParaRPr lang="en-US" altLang="ko-KR" dirty="0">
              <a:latin typeface="Arial" charset="0"/>
              <a:ea typeface="맑은 고딕" charset="0"/>
            </a:endParaRPr>
          </a:p>
          <a:p>
            <a:pPr lvl="1" eaLnBrk="1" hangingPunct="1"/>
            <a:endParaRPr lang="ko-KR" altLang="en-US" dirty="0">
              <a:latin typeface="Arial" charset="0"/>
              <a:ea typeface="맑은 고딕" charset="0"/>
            </a:endParaRPr>
          </a:p>
        </p:txBody>
      </p:sp>
      <p:pic>
        <p:nvPicPr>
          <p:cNvPr id="5" name="Picture 121" descr="H:\한빛\강의교안제작\[보안주의]출판원고PDF\자바기초_그림&amp;표\ch01_img\ch01-01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990600"/>
            <a:ext cx="27432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267325" y="3927792"/>
            <a:ext cx="1021715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889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1071562"/>
            <a:ext cx="7707313" cy="3763962"/>
          </a:xfrm>
        </p:spPr>
        <p:txBody>
          <a:bodyPr>
            <a:normAutofit fontScale="70000" lnSpcReduction="20000"/>
          </a:bodyPr>
          <a:lstStyle/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altLang="ko-KR" sz="1400" dirty="0">
                <a:latin typeface="휴먼엑스포" charset="0"/>
                <a:ea typeface="맑은 고딕" charset="0"/>
              </a:rPr>
              <a:t>[</a:t>
            </a:r>
            <a:r>
              <a:rPr lang="ko-KR" altLang="en-US" sz="1400" dirty="0">
                <a:latin typeface="휴먼엑스포" charset="0"/>
                <a:ea typeface="맑은 고딕" charset="0"/>
              </a:rPr>
              <a:t>그림 </a:t>
            </a:r>
            <a:r>
              <a:rPr lang="en-US" altLang="ko-KR" sz="1400" dirty="0">
                <a:latin typeface="휴먼엑스포" charset="0"/>
                <a:ea typeface="맑은 고딕" charset="0"/>
              </a:rPr>
              <a:t>1-3] </a:t>
            </a:r>
            <a:r>
              <a:rPr lang="ko-KR" altLang="en-US" sz="1400" dirty="0">
                <a:latin typeface="휴먼엑스포" charset="0"/>
                <a:ea typeface="맑은 고딕" charset="0"/>
              </a:rPr>
              <a:t>자바의 운영체제별 실행조건</a:t>
            </a:r>
            <a:endParaRPr lang="en-US" altLang="ko-KR" sz="1400" dirty="0">
              <a:latin typeface="휴먼엑스포" charset="0"/>
              <a:ea typeface="맑은 고딕" charset="0"/>
            </a:endParaRPr>
          </a:p>
          <a:p>
            <a:pPr lvl="1" eaLnBrk="1" hangingPunct="1">
              <a:buFont typeface="Wingdings" charset="0"/>
              <a:buNone/>
            </a:pPr>
            <a:endParaRPr lang="ko-KR" altLang="en-US" sz="1400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자바 가상머신</a:t>
            </a:r>
            <a:r>
              <a:rPr lang="en-US" altLang="ko-KR" dirty="0">
                <a:latin typeface="맑은 고딕" charset="0"/>
                <a:ea typeface="맑은 고딕" charset="0"/>
              </a:rPr>
              <a:t>(JVM Java Virtual Machine) </a:t>
            </a:r>
            <a:r>
              <a:rPr lang="ko-KR" altLang="en-US" dirty="0">
                <a:latin typeface="맑은 고딕" charset="0"/>
                <a:ea typeface="맑은 고딕" charset="0"/>
              </a:rPr>
              <a:t>개념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ko-KR" altLang="en-US" dirty="0">
              <a:latin typeface="맑은 고딕" charset="0"/>
              <a:ea typeface="맑은 고딕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플랫폼에 독립된 프로그램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pic>
        <p:nvPicPr>
          <p:cNvPr id="8196" name="Picture 2" descr="H:\한빛\강의교안제작\[보안주의]출판원고PDF\자바기초_그림&amp;표\ch01_img\ch01-03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8564"/>
            <a:ext cx="7391400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845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Java Byte-Code 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59485" y="903288"/>
            <a:ext cx="7707313" cy="3882072"/>
          </a:xfrm>
        </p:spPr>
        <p:txBody>
          <a:bodyPr>
            <a:normAutofit/>
          </a:bodyPr>
          <a:lstStyle/>
          <a:p>
            <a:pPr lvl="1" eaLnBrk="1" hangingPunct="1"/>
            <a:r>
              <a:rPr lang="en-US" altLang="ko-KR" dirty="0"/>
              <a:t>The Java compiler</a:t>
            </a:r>
            <a:r>
              <a:rPr lang="ko-KR" altLang="ko-KR" dirty="0"/>
              <a:t> </a:t>
            </a:r>
            <a:r>
              <a:rPr lang="en-US" altLang="ko-KR" dirty="0"/>
              <a:t>does not translate a Java program into assembly</a:t>
            </a:r>
            <a:r>
              <a:rPr lang="ko-KR" altLang="en-US" dirty="0"/>
              <a:t> </a:t>
            </a:r>
            <a:r>
              <a:rPr lang="en-US" altLang="ko-KR" dirty="0"/>
              <a:t>language</a:t>
            </a:r>
            <a:r>
              <a:rPr lang="ko-KR" altLang="ko-KR" dirty="0"/>
              <a:t> </a:t>
            </a:r>
            <a:r>
              <a:rPr lang="en-US" altLang="ko-KR" dirty="0"/>
              <a:t>or machine language</a:t>
            </a:r>
            <a:r>
              <a:rPr lang="ko-KR" altLang="ko-KR" dirty="0"/>
              <a:t> </a:t>
            </a:r>
            <a:r>
              <a:rPr lang="en-US" altLang="ko-KR" dirty="0"/>
              <a:t>for a particular computer.</a:t>
            </a:r>
          </a:p>
          <a:p>
            <a:pPr lvl="1" eaLnBrk="1" hangingPunct="1"/>
            <a:r>
              <a:rPr lang="en-US" dirty="0"/>
              <a:t>Instead, it translates a Java program into byte-code. </a:t>
            </a:r>
          </a:p>
          <a:p>
            <a:pPr lvl="1" eaLnBrk="1" hangingPunct="1"/>
            <a:r>
              <a:rPr lang="en-US" dirty="0"/>
              <a:t>Byte-code is the machine language for a hypothetical computer (or interpreter) called the Java Virtual Machine. </a:t>
            </a:r>
          </a:p>
          <a:p>
            <a:pPr lvl="1" eaLnBrk="1" hangingPunct="1"/>
            <a:endParaRPr lang="en-US" altLang="ko-KR" dirty="0">
              <a:latin typeface="Arial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436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 가상 머신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자바 가상머신</a:t>
            </a:r>
            <a:r>
              <a:rPr lang="en-US" altLang="ko-KR" dirty="0">
                <a:latin typeface="맑은 고딕" charset="0"/>
                <a:ea typeface="맑은 고딕" charset="0"/>
              </a:rPr>
              <a:t>(JVM)</a:t>
            </a:r>
            <a:r>
              <a:rPr lang="ko-KR" altLang="en-US" dirty="0">
                <a:latin typeface="맑은 고딕" charset="0"/>
                <a:ea typeface="맑은 고딕" charset="0"/>
              </a:rPr>
              <a:t>의 장점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다양한 운영체제와 하드웨어에서 실행 할 수 있다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예</a:t>
            </a:r>
            <a:r>
              <a:rPr lang="en-US" altLang="ko-KR" dirty="0">
                <a:latin typeface="맑은 고딕" charset="0"/>
                <a:ea typeface="맑은 고딕" charset="0"/>
              </a:rPr>
              <a:t>) PC</a:t>
            </a:r>
            <a:r>
              <a:rPr lang="ko-KR" altLang="en-US" dirty="0">
                <a:latin typeface="맑은 고딕" charset="0"/>
                <a:ea typeface="맑은 고딕" charset="0"/>
              </a:rPr>
              <a:t>에서 만든 프로그램을 휴대폰이나 냉장고 등 가전제품에서 실행할 수 있다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자바 가상머신</a:t>
            </a:r>
            <a:r>
              <a:rPr lang="en-US" altLang="ko-KR" dirty="0">
                <a:latin typeface="맑은 고딕" charset="0"/>
                <a:ea typeface="맑은 고딕" charset="0"/>
              </a:rPr>
              <a:t>(JVM)</a:t>
            </a:r>
            <a:r>
              <a:rPr lang="ko-KR" altLang="en-US" dirty="0">
                <a:latin typeface="맑은 고딕" charset="0"/>
                <a:ea typeface="맑은 고딕" charset="0"/>
              </a:rPr>
              <a:t>의 단점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시스템에 최적화된 바이너리에 비해 속도가 느려질 수 있음</a:t>
            </a:r>
            <a:br>
              <a:rPr lang="en-US" altLang="ko-KR" dirty="0">
                <a:latin typeface="맑은 고딕" charset="0"/>
                <a:ea typeface="맑은 고딕" charset="0"/>
              </a:rPr>
            </a:br>
            <a:r>
              <a:rPr lang="en-US" altLang="ko-KR" dirty="0">
                <a:latin typeface="맑은 고딕" charset="0"/>
                <a:ea typeface="맑은 고딕" charset="0"/>
              </a:rPr>
              <a:t>(</a:t>
            </a:r>
            <a:r>
              <a:rPr lang="ko-KR" altLang="en-US" dirty="0">
                <a:latin typeface="맑은 고딕" charset="0"/>
                <a:ea typeface="맑은 고딕" charset="0"/>
              </a:rPr>
              <a:t>최근 기술력의 발전으로 속도가 많이 향상됨</a:t>
            </a:r>
            <a:r>
              <a:rPr lang="en-US" altLang="ko-KR" dirty="0">
                <a:latin typeface="맑은 고딕" charset="0"/>
                <a:ea typeface="맑은 고딕" charset="0"/>
              </a:rPr>
              <a:t>)</a:t>
            </a: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모든 플랫폼에서 가상머신을 개발해야 함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499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자바의 변천과정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애플릿</a:t>
            </a:r>
            <a:r>
              <a:rPr lang="en-US" altLang="ko-KR" dirty="0">
                <a:latin typeface="맑은 고딕" charset="0"/>
                <a:ea typeface="맑은 고딕" charset="0"/>
              </a:rPr>
              <a:t>(Applet) : </a:t>
            </a:r>
            <a:r>
              <a:rPr lang="ko-KR" altLang="en-US" dirty="0">
                <a:latin typeface="맑은 고딕" charset="0"/>
                <a:ea typeface="맑은 고딕" charset="0"/>
              </a:rPr>
              <a:t>자바로 만든 애플리케이션을 웹 브라우저에서 실행하는 형태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초기 웹은 정적인 웹 페이지 형태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맑은 고딕" charset="0"/>
                <a:ea typeface="맑은 고딕" charset="0"/>
              </a:rPr>
              <a:t>단점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3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애플릿을 실행하려면 </a:t>
            </a:r>
            <a:r>
              <a:rPr lang="en-US" altLang="ko-KR" dirty="0">
                <a:latin typeface="맑은 고딕" charset="0"/>
                <a:ea typeface="맑은 고딕" charset="0"/>
              </a:rPr>
              <a:t>PC</a:t>
            </a:r>
            <a:r>
              <a:rPr lang="ko-KR" altLang="en-US" dirty="0">
                <a:latin typeface="맑은 고딕" charset="0"/>
                <a:ea typeface="맑은 고딕" charset="0"/>
              </a:rPr>
              <a:t>의</a:t>
            </a:r>
            <a:r>
              <a:rPr lang="en-US" altLang="ko-KR" dirty="0">
                <a:latin typeface="맑은 고딕" charset="0"/>
                <a:ea typeface="맑은 고딕" charset="0"/>
              </a:rPr>
              <a:t> </a:t>
            </a:r>
            <a:r>
              <a:rPr lang="ko-KR" altLang="en-US" dirty="0">
                <a:latin typeface="맑은 고딕" charset="0"/>
                <a:ea typeface="맑은 고딕" charset="0"/>
              </a:rPr>
              <a:t>하드디스크에 있는 클래스 파일을 실행해야 함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보안상의 문제 발생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맑은 고딕" charset="0"/>
                <a:ea typeface="맑은 고딕" charset="0"/>
              </a:rPr>
              <a:t>플래시 등의 멀티미디어 웹 기술의 발달로 수요가 감소됨</a:t>
            </a:r>
          </a:p>
        </p:txBody>
      </p:sp>
      <p:pic>
        <p:nvPicPr>
          <p:cNvPr id="10244" name="Picture 2" descr="H:\한빛\강의교안제작\[보안주의]출판원고PDF\자바기초_그림&amp;표\ch01_img\ch01-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2388846"/>
            <a:ext cx="4348479" cy="2295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Box 6"/>
          <p:cNvSpPr txBox="1">
            <a:spLocks noChangeArrowheads="1"/>
          </p:cNvSpPr>
          <p:nvPr/>
        </p:nvSpPr>
        <p:spPr bwMode="auto">
          <a:xfrm>
            <a:off x="1676400" y="4683919"/>
            <a:ext cx="21480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1pPr>
            <a:lvl2pPr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2pPr>
            <a:lvl3pPr marL="11430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3pPr>
            <a:lvl4pPr marL="16002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4pPr>
            <a:lvl5pPr marL="20574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9pPr>
          </a:lstStyle>
          <a:p>
            <a:pPr marL="0" lvl="1"/>
            <a:r>
              <a:rPr lang="ko-KR" altLang="en-US" sz="1400" b="0" dirty="0">
                <a:solidFill>
                  <a:srgbClr val="000000"/>
                </a:solidFill>
                <a:latin typeface="휴먼엑스포" charset="0"/>
                <a:ea typeface="휴먼엑스포" charset="0"/>
                <a:cs typeface="휴먼엑스포" charset="0"/>
              </a:rPr>
              <a:t>애플릿으로 구현한 웹페이지</a:t>
            </a:r>
            <a:endParaRPr lang="en-US" altLang="ko-KR" sz="1400" b="0" dirty="0">
              <a:solidFill>
                <a:srgbClr val="000000"/>
              </a:solidFill>
              <a:latin typeface="휴먼엑스포" charset="0"/>
              <a:ea typeface="휴먼엑스포" charset="0"/>
              <a:cs typeface="휴먼엑스포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036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 서블릿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서블릿</a:t>
            </a:r>
            <a:r>
              <a:rPr lang="en-US" altLang="ko-KR" dirty="0">
                <a:latin typeface="맑은 고딕" charset="0"/>
                <a:ea typeface="맑은 고딕" charset="0"/>
              </a:rPr>
              <a:t>(Servlet) : </a:t>
            </a:r>
            <a:r>
              <a:rPr lang="ko-KR" altLang="en-US" dirty="0">
                <a:latin typeface="맑은 고딕" charset="0"/>
                <a:ea typeface="맑은 고딕" charset="0"/>
              </a:rPr>
              <a:t>자바에 기반을 둔 웹 프로그래밍 기술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맑은 고딕" charset="0"/>
                <a:ea typeface="맑은 고딕" charset="0"/>
              </a:rPr>
              <a:t>CGI(Common Gateway Interface)</a:t>
            </a:r>
            <a:r>
              <a:rPr lang="ko-KR" altLang="en-US" dirty="0">
                <a:latin typeface="맑은 고딕" charset="0"/>
                <a:ea typeface="맑은 고딕" charset="0"/>
              </a:rPr>
              <a:t>에</a:t>
            </a:r>
            <a:r>
              <a:rPr lang="en-US" altLang="ko-KR" dirty="0">
                <a:latin typeface="맑은 고딕" charset="0"/>
                <a:ea typeface="맑은 고딕" charset="0"/>
              </a:rPr>
              <a:t> </a:t>
            </a:r>
            <a:r>
              <a:rPr lang="ko-KR" altLang="en-US" dirty="0">
                <a:latin typeface="맑은 고딕" charset="0"/>
                <a:ea typeface="맑은 고딕" charset="0"/>
              </a:rPr>
              <a:t>비해 편리하고 성능 우수 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맑은 고딕" charset="0"/>
                <a:ea typeface="맑은 고딕" charset="0"/>
              </a:rPr>
              <a:t>JSP(Java Server Page) </a:t>
            </a:r>
            <a:r>
              <a:rPr lang="ko-KR" altLang="en-US" dirty="0">
                <a:latin typeface="맑은 고딕" charset="0"/>
                <a:ea typeface="맑은 고딕" charset="0"/>
              </a:rPr>
              <a:t>기술로 발전</a:t>
            </a:r>
          </a:p>
        </p:txBody>
      </p:sp>
      <p:sp>
        <p:nvSpPr>
          <p:cNvPr id="11268" name="TextBox 6"/>
          <p:cNvSpPr txBox="1">
            <a:spLocks noChangeArrowheads="1"/>
          </p:cNvSpPr>
          <p:nvPr/>
        </p:nvSpPr>
        <p:spPr bwMode="auto">
          <a:xfrm>
            <a:off x="1524000" y="4705351"/>
            <a:ext cx="24030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1pPr>
            <a:lvl2pPr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2pPr>
            <a:lvl3pPr marL="11430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3pPr>
            <a:lvl4pPr marL="16002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4pPr>
            <a:lvl5pPr marL="20574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9pPr>
          </a:lstStyle>
          <a:p>
            <a:pPr marL="0" lvl="1"/>
            <a:r>
              <a:rPr lang="ko-KR" altLang="en-US" sz="1400" b="0" dirty="0">
                <a:solidFill>
                  <a:srgbClr val="000000"/>
                </a:solidFill>
                <a:latin typeface="휴먼엑스포" charset="0"/>
                <a:ea typeface="휴먼엑스포" charset="0"/>
                <a:cs typeface="휴먼엑스포" charset="0"/>
              </a:rPr>
              <a:t>서블릿으로 만든 대표적 페이지</a:t>
            </a:r>
            <a:endParaRPr lang="en-US" altLang="ko-KR" sz="1400" b="0" dirty="0">
              <a:solidFill>
                <a:srgbClr val="000000"/>
              </a:solidFill>
              <a:latin typeface="휴먼엑스포" charset="0"/>
              <a:ea typeface="휴먼엑스포" charset="0"/>
              <a:cs typeface="휴먼엑스포" charset="0"/>
            </a:endParaRPr>
          </a:p>
        </p:txBody>
      </p:sp>
      <p:pic>
        <p:nvPicPr>
          <p:cNvPr id="11269" name="Picture 2" descr="H:\한빛\강의교안제작\[보안주의]출판원고PDF\자바기초_그림&amp;표\ch01_img\ch01-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1" y="1988344"/>
            <a:ext cx="5095875" cy="2678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1301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자바의 변천 과정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pic>
        <p:nvPicPr>
          <p:cNvPr id="12292" name="Picture 2" descr="H:\한빛\강의교안제작\[보안주의]출판원고PDF\자바기초_그림&amp;표\ch01_img\ch01-06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74420"/>
            <a:ext cx="6707188" cy="372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23645" y="4575810"/>
            <a:ext cx="1021715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231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자바의 장단점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12800" y="985520"/>
            <a:ext cx="7995920" cy="377952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자바의 장점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매우 간결하면서도 강력한 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객체지향 언어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운영체제와 하드웨어에 독립적이며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많은 부분이 공개되어 있어 여러 기술에 표준화된 공개 규격이 있음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플랫폼에 독립적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endParaRPr lang="en-US" altLang="ko-KR" dirty="0">
              <a:latin typeface="맑은 고딕" charset="0"/>
              <a:ea typeface="맑은 고딕" charset="0"/>
            </a:endParaRPr>
          </a:p>
          <a:p>
            <a:pPr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자바의 단점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그래픽 처리의 속도가 중요한 애플리케이션에는 적합하지 않음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윈도우 응용 프로그램을 개발하는데 적합하지 않음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맑은 고딕" charset="0"/>
                <a:ea typeface="맑은 고딕" charset="0"/>
              </a:rPr>
              <a:t>UI </a:t>
            </a:r>
            <a:r>
              <a:rPr lang="ko-KR" altLang="en-US" dirty="0">
                <a:latin typeface="맑은 고딕" charset="0"/>
                <a:ea typeface="맑은 고딕" charset="0"/>
              </a:rPr>
              <a:t>라이브러리인 </a:t>
            </a:r>
            <a:r>
              <a:rPr lang="en-US" altLang="ko-KR" dirty="0">
                <a:latin typeface="맑은 고딕" charset="0"/>
                <a:ea typeface="맑은 고딕" charset="0"/>
              </a:rPr>
              <a:t>Swing</a:t>
            </a:r>
            <a:r>
              <a:rPr lang="ko-KR" altLang="en-US" dirty="0">
                <a:latin typeface="맑은 고딕" charset="0"/>
                <a:ea typeface="맑은 고딕" charset="0"/>
              </a:rPr>
              <a:t>의 속도가 느림 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윈도우 운영체제에 능동적으로 대처하기 힘듦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911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자바의 활용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12800" y="1040924"/>
            <a:ext cx="8006080" cy="2718276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ko-KR" altLang="en-US" dirty="0">
                <a:latin typeface="맑은 고딕" charset="0"/>
                <a:ea typeface="맑은 고딕" charset="0"/>
              </a:rPr>
              <a:t>최근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en-US" altLang="ko-KR" dirty="0">
                <a:latin typeface="맑은 고딕" charset="0"/>
                <a:ea typeface="맑은 고딕" charset="0"/>
              </a:rPr>
              <a:t>SWT </a:t>
            </a:r>
            <a:r>
              <a:rPr lang="ko-KR" altLang="en-US" dirty="0">
                <a:latin typeface="맑은 고딕" charset="0"/>
                <a:ea typeface="맑은 고딕" charset="0"/>
              </a:rPr>
              <a:t>라이브러리</a:t>
            </a:r>
            <a:r>
              <a:rPr lang="en-US" altLang="ko-KR" dirty="0">
                <a:latin typeface="맑은 고딕" charset="0"/>
                <a:ea typeface="맑은 고딕" charset="0"/>
              </a:rPr>
              <a:t>, RCP(Rich Client Platform), RAP(Rich Ajax Platform)</a:t>
            </a:r>
          </a:p>
          <a:p>
            <a:pPr marL="0" lvl="1" indent="0" eaLnBrk="1" hangingPunct="1">
              <a:buNone/>
            </a:pPr>
            <a:endParaRPr lang="en-US" altLang="ko-KR" dirty="0">
              <a:latin typeface="맑은 고딕" charset="0"/>
              <a:ea typeface="맑은 고딕" charset="0"/>
            </a:endParaRPr>
          </a:p>
          <a:p>
            <a:pPr eaLnBrk="1" hangingPunct="1"/>
            <a:r>
              <a:rPr lang="en-US" altLang="ko-KR" dirty="0">
                <a:latin typeface="맑은 고딕" charset="0"/>
                <a:ea typeface="맑은 고딕" charset="0"/>
              </a:rPr>
              <a:t>Java</a:t>
            </a:r>
            <a:r>
              <a:rPr lang="ko-KR" altLang="en-US" dirty="0">
                <a:latin typeface="맑은 고딕" charset="0"/>
                <a:ea typeface="맑은 고딕" charset="0"/>
              </a:rPr>
              <a:t>의 활용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인터넷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웹 기반의 서버 프로그램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휴대폰 등의 임베디드 기반의 애플리케이션 개발에 적합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운영체제의 영향을 받는 일반 애플리케이션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그래픽 처리가 필요한 게임 등의 개발에는 부적합 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577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플랫폼이란</a:t>
            </a:r>
            <a:r>
              <a:rPr lang="en-US" altLang="ko-KR" dirty="0">
                <a:latin typeface="HY견고딕" charset="0"/>
                <a:ea typeface="HY견고딕" charset="0"/>
              </a:rPr>
              <a:t>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자바 프로그램이 실행될 특정 환경</a:t>
            </a:r>
            <a:r>
              <a:rPr lang="en-US" altLang="ko-KR" dirty="0">
                <a:latin typeface="맑은 고딕" charset="0"/>
                <a:ea typeface="맑은 고딕" charset="0"/>
              </a:rPr>
              <a:t>(</a:t>
            </a:r>
            <a:r>
              <a:rPr lang="ko-KR" altLang="en-US" dirty="0">
                <a:latin typeface="맑은 고딕" charset="0"/>
                <a:ea typeface="맑은 고딕" charset="0"/>
              </a:rPr>
              <a:t>하드웨어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운영체제</a:t>
            </a:r>
            <a:r>
              <a:rPr lang="en-US" altLang="ko-KR" dirty="0">
                <a:latin typeface="맑은 고딕" charset="0"/>
                <a:ea typeface="맑은 고딕" charset="0"/>
              </a:rPr>
              <a:t>)</a:t>
            </a: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초기에는 작고 간결했으나 점차 덩치가 커짐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  <p:sp>
        <p:nvSpPr>
          <p:cNvPr id="14340" name="TextBox 5"/>
          <p:cNvSpPr txBox="1">
            <a:spLocks noChangeArrowheads="1"/>
          </p:cNvSpPr>
          <p:nvPr/>
        </p:nvSpPr>
        <p:spPr bwMode="auto">
          <a:xfrm>
            <a:off x="2362201" y="4743451"/>
            <a:ext cx="137152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1pPr>
            <a:lvl2pPr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2pPr>
            <a:lvl3pPr marL="11430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3pPr>
            <a:lvl4pPr marL="16002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4pPr>
            <a:lvl5pPr marL="20574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9pPr>
          </a:lstStyle>
          <a:p>
            <a:pPr marL="0" lvl="1"/>
            <a:r>
              <a:rPr lang="ko-KR" altLang="en-US" sz="1400" dirty="0">
                <a:solidFill>
                  <a:srgbClr val="000000"/>
                </a:solidFill>
                <a:latin typeface="맑은 고딕" charset="0"/>
                <a:ea typeface="맑은 고딕" charset="0"/>
                <a:cs typeface="맑은 고딕" charset="0"/>
              </a:rPr>
              <a:t>자바 기술의 분류</a:t>
            </a:r>
            <a:endParaRPr lang="en-US" altLang="ko-KR" sz="1400" dirty="0">
              <a:solidFill>
                <a:srgbClr val="000000"/>
              </a:solidFill>
              <a:latin typeface="맑은 고딕" charset="0"/>
              <a:ea typeface="맑은 고딕" charset="0"/>
              <a:cs typeface="맑은 고딕" charset="0"/>
            </a:endParaRPr>
          </a:p>
        </p:txBody>
      </p:sp>
      <p:grpSp>
        <p:nvGrpSpPr>
          <p:cNvPr id="14341" name="그룹 1"/>
          <p:cNvGrpSpPr>
            <a:grpSpLocks/>
          </p:cNvGrpSpPr>
          <p:nvPr/>
        </p:nvGrpSpPr>
        <p:grpSpPr bwMode="auto">
          <a:xfrm>
            <a:off x="1828801" y="1756172"/>
            <a:ext cx="4333875" cy="2930128"/>
            <a:chOff x="2781300" y="2266987"/>
            <a:chExt cx="4562475" cy="4183025"/>
          </a:xfrm>
        </p:grpSpPr>
        <p:pic>
          <p:nvPicPr>
            <p:cNvPr id="14342" name="Picture 2" descr="H:\한빛\강의교안제작\[보안주의]출판원고PDF\자바기초_그림&amp;표\ch01_img\ch01-07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1300" y="2266987"/>
              <a:ext cx="4562475" cy="418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3" name="직사각형 8"/>
            <p:cNvSpPr>
              <a:spLocks noChangeArrowheads="1"/>
            </p:cNvSpPr>
            <p:nvPr/>
          </p:nvSpPr>
          <p:spPr bwMode="auto">
            <a:xfrm>
              <a:off x="2895600" y="2743200"/>
              <a:ext cx="533400" cy="351503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 sz="1000"/>
            </a:p>
          </p:txBody>
        </p:sp>
      </p:grpSp>
    </p:spTree>
    <p:extLst>
      <p:ext uri="{BB962C8B-B14F-4D97-AF65-F5344CB8AC3E}">
        <p14:creationId xmlns:p14="http://schemas.microsoft.com/office/powerpoint/2010/main" val="3295407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 주요 플랫폼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ko-KR" dirty="0">
                <a:latin typeface="맑은 고딕" charset="0"/>
                <a:ea typeface="맑은 고딕" charset="0"/>
              </a:rPr>
              <a:t>Java EE(Enterprise Edition) – </a:t>
            </a:r>
            <a:r>
              <a:rPr lang="ko-KR" altLang="en-US" dirty="0">
                <a:latin typeface="맑은 고딕" charset="0"/>
                <a:ea typeface="맑은 고딕" charset="0"/>
              </a:rPr>
              <a:t>기업용 애플리케이션 개발에 적합한 솔루션만 모아둠 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맑은 고딕" charset="0"/>
                <a:ea typeface="맑은 고딕" charset="0"/>
              </a:rPr>
              <a:t>ERP(Enterprise Resource Planning), </a:t>
            </a:r>
            <a:r>
              <a:rPr lang="ko-KR" altLang="en-US" dirty="0">
                <a:latin typeface="맑은 고딕" charset="0"/>
                <a:ea typeface="맑은 고딕" charset="0"/>
              </a:rPr>
              <a:t>인터넷 뱅킹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쇼핑몰</a:t>
            </a:r>
            <a:r>
              <a:rPr lang="en-US" altLang="ko-KR" dirty="0">
                <a:latin typeface="맑은 고딕" charset="0"/>
                <a:ea typeface="맑은 고딕" charset="0"/>
              </a:rPr>
              <a:t> </a:t>
            </a:r>
            <a:r>
              <a:rPr lang="ko-KR" altLang="en-US" dirty="0">
                <a:latin typeface="맑은 고딕" charset="0"/>
                <a:ea typeface="맑은 고딕" charset="0"/>
              </a:rPr>
              <a:t>등 동시에 다수 사용자를 처리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맑은 고딕" charset="0"/>
                <a:ea typeface="맑은 고딕" charset="0"/>
              </a:rPr>
              <a:t>데이터베이스와 밀접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실시간 대용량 데이터 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  <p:grpSp>
        <p:nvGrpSpPr>
          <p:cNvPr id="15364" name="그룹 1"/>
          <p:cNvGrpSpPr>
            <a:grpSpLocks/>
          </p:cNvGrpSpPr>
          <p:nvPr/>
        </p:nvGrpSpPr>
        <p:grpSpPr bwMode="auto">
          <a:xfrm>
            <a:off x="1056640" y="2185670"/>
            <a:ext cx="7391400" cy="2571750"/>
            <a:chOff x="685800" y="1981200"/>
            <a:chExt cx="7924800" cy="3886200"/>
          </a:xfrm>
        </p:grpSpPr>
        <p:pic>
          <p:nvPicPr>
            <p:cNvPr id="15366" name="Picture 2" descr="H:\한빛\강의교안제작\[보안주의]출판원고PDF\자바기초_그림&amp;표\ch01_img\ch01-08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981200"/>
              <a:ext cx="5857875" cy="3886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7" name="AutoShape 11"/>
            <p:cNvSpPr>
              <a:spLocks/>
            </p:cNvSpPr>
            <p:nvPr/>
          </p:nvSpPr>
          <p:spPr bwMode="blackWhite">
            <a:xfrm>
              <a:off x="6096000" y="2819400"/>
              <a:ext cx="2514600" cy="304800"/>
            </a:xfrm>
            <a:prstGeom prst="borderCallout2">
              <a:avLst>
                <a:gd name="adj1" fmla="val 25000"/>
                <a:gd name="adj2" fmla="val 773"/>
                <a:gd name="adj3" fmla="val 25000"/>
                <a:gd name="adj4" fmla="val -25593"/>
                <a:gd name="adj5" fmla="val 204167"/>
                <a:gd name="adj6" fmla="val -45481"/>
              </a:avLst>
            </a:pr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r>
                <a:rPr lang="ko-KR" altLang="en-US" sz="1000">
                  <a:solidFill>
                    <a:srgbClr val="FF0000"/>
                  </a:solidFill>
                  <a:latin typeface="맑은 고딕" charset="0"/>
                  <a:ea typeface="맑은 고딕" charset="0"/>
                  <a:cs typeface="맑은 고딕" charset="0"/>
                </a:rPr>
                <a:t>사용자가 접하는 클라이언트 영역</a:t>
              </a:r>
            </a:p>
          </p:txBody>
        </p:sp>
        <p:sp>
          <p:nvSpPr>
            <p:cNvPr id="15368" name="AutoShape 11"/>
            <p:cNvSpPr>
              <a:spLocks/>
            </p:cNvSpPr>
            <p:nvPr/>
          </p:nvSpPr>
          <p:spPr bwMode="blackWhite">
            <a:xfrm>
              <a:off x="6096000" y="3429000"/>
              <a:ext cx="2514600" cy="457200"/>
            </a:xfrm>
            <a:prstGeom prst="borderCallout2">
              <a:avLst>
                <a:gd name="adj1" fmla="val 25000"/>
                <a:gd name="adj2" fmla="val -741"/>
                <a:gd name="adj3" fmla="val 25000"/>
                <a:gd name="adj4" fmla="val -25593"/>
                <a:gd name="adj5" fmla="val 161458"/>
                <a:gd name="adj6" fmla="val -45102"/>
              </a:avLst>
            </a:pr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r>
                <a:rPr lang="ko-KR" altLang="en-US" sz="1000">
                  <a:solidFill>
                    <a:srgbClr val="FF0000"/>
                  </a:solidFill>
                  <a:latin typeface="맑은 고딕" charset="0"/>
                  <a:ea typeface="맑은 고딕" charset="0"/>
                  <a:cs typeface="맑은 고딕" charset="0"/>
                </a:rPr>
                <a:t>사용자 요청을 처리하는 비즈니스 로직 등을 구현하는 영역</a:t>
              </a:r>
            </a:p>
          </p:txBody>
        </p:sp>
        <p:sp>
          <p:nvSpPr>
            <p:cNvPr id="15369" name="AutoShape 11"/>
            <p:cNvSpPr>
              <a:spLocks/>
            </p:cNvSpPr>
            <p:nvPr/>
          </p:nvSpPr>
          <p:spPr bwMode="blackWhite">
            <a:xfrm>
              <a:off x="6096000" y="4267200"/>
              <a:ext cx="2514600" cy="457200"/>
            </a:xfrm>
            <a:prstGeom prst="borderCallout2">
              <a:avLst>
                <a:gd name="adj1" fmla="val 25000"/>
                <a:gd name="adj2" fmla="val -361"/>
                <a:gd name="adj3" fmla="val 25000"/>
                <a:gd name="adj4" fmla="val -25593"/>
                <a:gd name="adj5" fmla="val 161458"/>
                <a:gd name="adj6" fmla="val -45102"/>
              </a:avLst>
            </a:pr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r>
                <a:rPr lang="en-US" altLang="ko-KR" sz="1000">
                  <a:solidFill>
                    <a:srgbClr val="FF0000"/>
                  </a:solidFill>
                  <a:latin typeface="맑은 고딕" charset="0"/>
                  <a:ea typeface="맑은 고딕" charset="0"/>
                  <a:cs typeface="맑은 고딕" charset="0"/>
                </a:rPr>
                <a:t>DB, ERP </a:t>
              </a:r>
              <a:r>
                <a:rPr lang="ko-KR" altLang="en-US" sz="1000">
                  <a:solidFill>
                    <a:srgbClr val="FF0000"/>
                  </a:solidFill>
                  <a:latin typeface="맑은 고딕" charset="0"/>
                  <a:ea typeface="맑은 고딕" charset="0"/>
                  <a:cs typeface="맑은 고딕" charset="0"/>
                </a:rPr>
                <a:t>등 기업의 핵심 기간 시스템</a:t>
              </a:r>
              <a:r>
                <a:rPr lang="en-US" altLang="ko-KR" sz="1000">
                  <a:solidFill>
                    <a:srgbClr val="FF0000"/>
                  </a:solidFill>
                  <a:latin typeface="맑은 고딕" charset="0"/>
                  <a:ea typeface="맑은 고딕" charset="0"/>
                  <a:cs typeface="맑은 고딕" charset="0"/>
                </a:rPr>
                <a:t>. </a:t>
              </a:r>
              <a:endParaRPr lang="ko-KR" altLang="en-US" sz="1000">
                <a:solidFill>
                  <a:srgbClr val="FF0000"/>
                </a:solidFill>
                <a:latin typeface="맑은 고딕" charset="0"/>
                <a:ea typeface="맑은 고딕" charset="0"/>
                <a:cs typeface="맑은 고딕" charset="0"/>
              </a:endParaRPr>
            </a:p>
          </p:txBody>
        </p:sp>
      </p:grpSp>
      <p:sp>
        <p:nvSpPr>
          <p:cNvPr id="15365" name="TextBox 2"/>
          <p:cNvSpPr txBox="1">
            <a:spLocks noChangeArrowheads="1"/>
          </p:cNvSpPr>
          <p:nvPr/>
        </p:nvSpPr>
        <p:spPr bwMode="auto">
          <a:xfrm>
            <a:off x="4353878" y="4572873"/>
            <a:ext cx="218654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1pPr>
            <a:lvl2pPr marL="742950" indent="-28575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2pPr>
            <a:lvl3pPr marL="11430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3pPr>
            <a:lvl4pPr marL="16002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4pPr>
            <a:lvl5pPr marL="2057400" indent="-228600"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000" b="1">
                <a:solidFill>
                  <a:schemeClr val="tx1"/>
                </a:solidFill>
                <a:latin typeface="Lucida Console" charset="0"/>
                <a:ea typeface="궁서체" charset="0"/>
                <a:cs typeface="궁서체" charset="0"/>
              </a:defRPr>
            </a:lvl9pPr>
          </a:lstStyle>
          <a:p>
            <a:r>
              <a:rPr lang="en-US" altLang="ko-KR" sz="1000">
                <a:latin typeface="Times New Roman" charset="0"/>
                <a:cs typeface="Times New Roman" charset="0"/>
              </a:rPr>
              <a:t>EIS(Enterprise Information System)</a:t>
            </a:r>
            <a:endParaRPr lang="ko-KR" altLang="en-US" sz="1000">
              <a:latin typeface="Times New Roman" charset="0"/>
              <a:cs typeface="Times New Roman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9325" y="4575810"/>
            <a:ext cx="757555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66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자바의 주요 플랫폼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ko-KR" dirty="0">
                <a:latin typeface="맑은 고딕" charset="0"/>
                <a:ea typeface="맑은 고딕" charset="0"/>
              </a:rPr>
              <a:t>Java SE(Standard Edition) – </a:t>
            </a:r>
            <a:r>
              <a:rPr lang="ko-KR" altLang="en-US" dirty="0">
                <a:latin typeface="맑은 고딕" charset="0"/>
                <a:ea typeface="맑은 고딕" charset="0"/>
              </a:rPr>
              <a:t>자바의 기본 플랫폼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맑은 고딕" charset="0"/>
                <a:ea typeface="맑은 고딕" charset="0"/>
              </a:rPr>
              <a:t>JDK</a:t>
            </a:r>
            <a:r>
              <a:rPr lang="ko-KR" altLang="en-US" dirty="0">
                <a:latin typeface="맑은 고딕" charset="0"/>
                <a:ea typeface="맑은 고딕" charset="0"/>
              </a:rPr>
              <a:t> </a:t>
            </a:r>
            <a:r>
              <a:rPr lang="en-US" altLang="ko-KR" dirty="0">
                <a:latin typeface="맑은 고딕" charset="0"/>
                <a:ea typeface="맑은 고딕" charset="0"/>
              </a:rPr>
              <a:t>(Java Development Kit) : </a:t>
            </a:r>
            <a:r>
              <a:rPr lang="ko-KR" altLang="en-US" dirty="0">
                <a:latin typeface="맑은 고딕" charset="0"/>
                <a:ea typeface="맑은 고딕" charset="0"/>
              </a:rPr>
              <a:t>컴파일러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라이브러리 등을 포함하는 영역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맑은 고딕" charset="0"/>
                <a:ea typeface="맑은 고딕" charset="0"/>
              </a:rPr>
              <a:t>JRE (Java Runtime Environment)</a:t>
            </a:r>
            <a:r>
              <a:rPr lang="ko-KR" altLang="en-US" dirty="0">
                <a:latin typeface="맑은 고딕" charset="0"/>
                <a:ea typeface="맑은 고딕" charset="0"/>
              </a:rPr>
              <a:t>  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  <p:grpSp>
        <p:nvGrpSpPr>
          <p:cNvPr id="16388" name="그룹 1"/>
          <p:cNvGrpSpPr>
            <a:grpSpLocks/>
          </p:cNvGrpSpPr>
          <p:nvPr/>
        </p:nvGrpSpPr>
        <p:grpSpPr bwMode="auto">
          <a:xfrm>
            <a:off x="838200" y="1828800"/>
            <a:ext cx="7239000" cy="2743200"/>
            <a:chOff x="685800" y="1828800"/>
            <a:chExt cx="7543800" cy="4191000"/>
          </a:xfrm>
        </p:grpSpPr>
        <p:pic>
          <p:nvPicPr>
            <p:cNvPr id="16391" name="Picture 2" descr="H:\한빛\강의교안제작\[보안주의]출판원고PDF\자바기초_그림&amp;표\ch01_img\ch01-09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1828800"/>
              <a:ext cx="6096000" cy="36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2" name="AutoShape 11"/>
            <p:cNvSpPr>
              <a:spLocks/>
            </p:cNvSpPr>
            <p:nvPr/>
          </p:nvSpPr>
          <p:spPr bwMode="blackWhite">
            <a:xfrm rot="10800000" flipV="1">
              <a:off x="685800" y="2209800"/>
              <a:ext cx="1219200" cy="304800"/>
            </a:xfrm>
            <a:prstGeom prst="borderCallout2">
              <a:avLst>
                <a:gd name="adj1" fmla="val 25000"/>
                <a:gd name="adj2" fmla="val -4907"/>
                <a:gd name="adj3" fmla="val 28125"/>
                <a:gd name="adj4" fmla="val -44440"/>
                <a:gd name="adj5" fmla="val 138542"/>
                <a:gd name="adj6" fmla="val -52630"/>
              </a:avLst>
            </a:prstGeom>
            <a:noFill/>
            <a:ln w="12700">
              <a:solidFill>
                <a:srgbClr val="003366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r>
                <a:rPr lang="ko-KR" altLang="en-US" sz="1000" b="0">
                  <a:solidFill>
                    <a:schemeClr val="tx2"/>
                  </a:solidFill>
                  <a:latin typeface="HY견고딕" charset="0"/>
                  <a:ea typeface="HY견고딕" charset="0"/>
                  <a:cs typeface="HY견고딕" charset="0"/>
                </a:rPr>
                <a:t>자바 실행영역</a:t>
              </a:r>
            </a:p>
          </p:txBody>
        </p:sp>
        <p:sp>
          <p:nvSpPr>
            <p:cNvPr id="16393" name="AutoShape 11"/>
            <p:cNvSpPr>
              <a:spLocks/>
            </p:cNvSpPr>
            <p:nvPr/>
          </p:nvSpPr>
          <p:spPr bwMode="blackWhite">
            <a:xfrm flipH="1">
              <a:off x="5105400" y="5562600"/>
              <a:ext cx="2209800" cy="457200"/>
            </a:xfrm>
            <a:prstGeom prst="borderCallout2">
              <a:avLst>
                <a:gd name="adj1" fmla="val 25000"/>
                <a:gd name="adj2" fmla="val -4907"/>
                <a:gd name="adj3" fmla="val 25000"/>
                <a:gd name="adj4" fmla="val -16884"/>
                <a:gd name="adj5" fmla="val -178125"/>
                <a:gd name="adj6" fmla="val -33292"/>
              </a:avLst>
            </a:prstGeom>
            <a:noFill/>
            <a:ln w="12700">
              <a:solidFill>
                <a:srgbClr val="003366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l"/>
              <a:r>
                <a:rPr lang="ko-KR" altLang="en-US" sz="1000" b="0">
                  <a:solidFill>
                    <a:schemeClr val="tx2"/>
                  </a:solidFill>
                  <a:latin typeface="HY견고딕" charset="0"/>
                  <a:ea typeface="HY견고딕" charset="0"/>
                  <a:cs typeface="HY견고딕" charset="0"/>
                </a:rPr>
                <a:t>자바에서 기본적으로 제공하는 클래스 라이브러리</a:t>
              </a:r>
            </a:p>
          </p:txBody>
        </p:sp>
        <p:sp>
          <p:nvSpPr>
            <p:cNvPr id="16394" name="TextBox 8"/>
            <p:cNvSpPr txBox="1">
              <a:spLocks noChangeArrowheads="1"/>
            </p:cNvSpPr>
            <p:nvPr/>
          </p:nvSpPr>
          <p:spPr bwMode="auto">
            <a:xfrm>
              <a:off x="2133600" y="5438775"/>
              <a:ext cx="1937819" cy="423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1pPr>
              <a:lvl2pPr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2pPr>
              <a:lvl3pPr marL="1143000" indent="-22860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3pPr>
              <a:lvl4pPr marL="1600200" indent="-22860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4pPr>
              <a:lvl5pPr marL="2057400" indent="-22860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9pPr>
            </a:lstStyle>
            <a:p>
              <a:pPr marL="0" lvl="1"/>
              <a:r>
                <a:rPr lang="en-US" altLang="ko-KR" sz="1200" b="0">
                  <a:solidFill>
                    <a:srgbClr val="000000"/>
                  </a:solidFill>
                  <a:latin typeface="휴먼엑스포" charset="0"/>
                  <a:ea typeface="휴먼엑스포" charset="0"/>
                  <a:cs typeface="휴먼엑스포" charset="0"/>
                </a:rPr>
                <a:t>[</a:t>
              </a:r>
              <a:r>
                <a:rPr lang="ko-KR" altLang="en-US" sz="1200" b="0">
                  <a:solidFill>
                    <a:srgbClr val="000000"/>
                  </a:solidFill>
                  <a:latin typeface="휴먼엑스포" charset="0"/>
                  <a:ea typeface="휴먼엑스포" charset="0"/>
                  <a:cs typeface="휴먼엑스포" charset="0"/>
                </a:rPr>
                <a:t>그림 </a:t>
              </a:r>
              <a:r>
                <a:rPr lang="en-US" altLang="ko-KR" sz="1200" b="0">
                  <a:solidFill>
                    <a:srgbClr val="000000"/>
                  </a:solidFill>
                  <a:latin typeface="휴먼엑스포" charset="0"/>
                  <a:ea typeface="휴먼엑스포" charset="0"/>
                  <a:cs typeface="휴먼엑스포" charset="0"/>
                </a:rPr>
                <a:t>1-9] Java SE</a:t>
              </a:r>
              <a:r>
                <a:rPr lang="ko-KR" altLang="en-US" sz="1200" b="0">
                  <a:solidFill>
                    <a:srgbClr val="000000"/>
                  </a:solidFill>
                  <a:latin typeface="휴먼엑스포" charset="0"/>
                  <a:ea typeface="휴먼엑스포" charset="0"/>
                  <a:cs typeface="휴먼엑스포" charset="0"/>
                </a:rPr>
                <a:t>의 구성</a:t>
              </a:r>
              <a:endParaRPr lang="en-US" altLang="ko-KR" sz="1200" b="0">
                <a:solidFill>
                  <a:srgbClr val="000000"/>
                </a:solidFill>
                <a:latin typeface="휴먼엑스포" charset="0"/>
                <a:ea typeface="휴먼엑스포" charset="0"/>
                <a:cs typeface="휴먼엑스포" charset="0"/>
              </a:endParaRPr>
            </a:p>
          </p:txBody>
        </p:sp>
        <p:sp>
          <p:nvSpPr>
            <p:cNvPr id="16395" name="AutoShape 11"/>
            <p:cNvSpPr>
              <a:spLocks/>
            </p:cNvSpPr>
            <p:nvPr/>
          </p:nvSpPr>
          <p:spPr bwMode="blackWhite">
            <a:xfrm rot="10800000" flipV="1">
              <a:off x="685800" y="2667000"/>
              <a:ext cx="1219200" cy="457200"/>
            </a:xfrm>
            <a:prstGeom prst="borderCallout2">
              <a:avLst>
                <a:gd name="adj1" fmla="val 25000"/>
                <a:gd name="adj2" fmla="val -4907"/>
                <a:gd name="adj3" fmla="val 25852"/>
                <a:gd name="adj4" fmla="val -24907"/>
                <a:gd name="adj5" fmla="val 64190"/>
                <a:gd name="adj6" fmla="val -29194"/>
              </a:avLst>
            </a:prstGeom>
            <a:noFill/>
            <a:ln w="12700">
              <a:solidFill>
                <a:srgbClr val="003366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r>
                <a:rPr lang="ko-KR" altLang="en-US" sz="1000" b="0">
                  <a:solidFill>
                    <a:schemeClr val="tx2"/>
                  </a:solidFill>
                  <a:latin typeface="HY견고딕" charset="0"/>
                  <a:ea typeface="HY견고딕" charset="0"/>
                  <a:cs typeface="HY견고딕" charset="0"/>
                </a:rPr>
                <a:t>자바 개발환경 포함 영역</a:t>
              </a:r>
            </a:p>
          </p:txBody>
        </p:sp>
      </p:grpSp>
      <p:sp>
        <p:nvSpPr>
          <p:cNvPr id="16389" name="직사각형 2"/>
          <p:cNvSpPr>
            <a:spLocks noChangeArrowheads="1"/>
          </p:cNvSpPr>
          <p:nvPr/>
        </p:nvSpPr>
        <p:spPr bwMode="auto">
          <a:xfrm>
            <a:off x="3810000" y="2800350"/>
            <a:ext cx="990600" cy="171450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l"/>
            <a:endParaRPr lang="ko-KR" altLang="en-US" sz="2000" b="0">
              <a:latin typeface="돋움" charset="0"/>
              <a:ea typeface="돋움" charset="0"/>
              <a:cs typeface="돋움" charset="0"/>
            </a:endParaRPr>
          </a:p>
        </p:txBody>
      </p:sp>
      <p:sp>
        <p:nvSpPr>
          <p:cNvPr id="16390" name="직사각형 10"/>
          <p:cNvSpPr>
            <a:spLocks noChangeArrowheads="1"/>
          </p:cNvSpPr>
          <p:nvPr/>
        </p:nvSpPr>
        <p:spPr bwMode="auto">
          <a:xfrm>
            <a:off x="4038600" y="3371850"/>
            <a:ext cx="685800" cy="228600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l"/>
            <a:endParaRPr lang="ko-KR" altLang="en-US" sz="2000" b="0">
              <a:latin typeface="돋움" charset="0"/>
              <a:ea typeface="돋움" charset="0"/>
              <a:cs typeface="돋움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27503" y="4272742"/>
            <a:ext cx="757555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026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맑은 고딕" charset="0"/>
                <a:ea typeface="맑은 고딕" charset="0"/>
              </a:rPr>
              <a:t>자바의 주요 플랫폼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920355" cy="3763962"/>
          </a:xfrm>
        </p:spPr>
        <p:txBody>
          <a:bodyPr/>
          <a:lstStyle/>
          <a:p>
            <a:pPr lvl="1" eaLnBrk="1" hangingPunct="1"/>
            <a:r>
              <a:rPr lang="en-US" altLang="ko-KR" dirty="0">
                <a:latin typeface="맑은 고딕" charset="0"/>
                <a:ea typeface="맑은 고딕" charset="0"/>
              </a:rPr>
              <a:t>Java ME(Micro Edition) – </a:t>
            </a:r>
            <a:r>
              <a:rPr lang="ko-KR" altLang="en-US" dirty="0">
                <a:latin typeface="맑은 고딕" charset="0"/>
                <a:ea typeface="맑은 고딕" charset="0"/>
              </a:rPr>
              <a:t>휴대폰</a:t>
            </a:r>
            <a:r>
              <a:rPr lang="en-US" altLang="ko-KR" dirty="0">
                <a:latin typeface="맑은 고딕" charset="0"/>
                <a:ea typeface="맑은 고딕" charset="0"/>
              </a:rPr>
              <a:t>, PDA</a:t>
            </a:r>
            <a:r>
              <a:rPr lang="ko-KR" altLang="en-US" dirty="0">
                <a:latin typeface="맑은 고딕" charset="0"/>
                <a:ea typeface="맑은 고딕" charset="0"/>
              </a:rPr>
              <a:t>등</a:t>
            </a:r>
            <a:r>
              <a:rPr lang="en-US" altLang="ko-KR" dirty="0">
                <a:latin typeface="맑은 고딕" charset="0"/>
                <a:ea typeface="맑은 고딕" charset="0"/>
              </a:rPr>
              <a:t> </a:t>
            </a:r>
            <a:r>
              <a:rPr lang="ko-KR" altLang="en-US" dirty="0">
                <a:latin typeface="맑은 고딕" charset="0"/>
                <a:ea typeface="맑은 고딕" charset="0"/>
              </a:rPr>
              <a:t>환경이 제한된 임베디드 시스템 개발용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2" eaLnBrk="1" hangingPunct="1"/>
            <a:r>
              <a:rPr lang="en-US" altLang="ko-KR" dirty="0">
                <a:latin typeface="맑은 고딕" charset="0"/>
                <a:ea typeface="맑은 고딕" charset="0"/>
              </a:rPr>
              <a:t>Java SE</a:t>
            </a:r>
            <a:r>
              <a:rPr lang="ko-KR" altLang="en-US" dirty="0">
                <a:latin typeface="맑은 고딕" charset="0"/>
                <a:ea typeface="맑은 고딕" charset="0"/>
              </a:rPr>
              <a:t>를 축소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다양한 기기의 특성을 반영할 수 있도록 설계 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White">
          <a:xfrm>
            <a:off x="2674800" y="1542799"/>
            <a:ext cx="5334000" cy="3294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97023" y="4555000"/>
            <a:ext cx="757555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65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 가상머신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882968"/>
            <a:ext cx="7707313" cy="3763962"/>
          </a:xfrm>
        </p:spPr>
        <p:txBody>
          <a:bodyPr/>
          <a:lstStyle/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실행 형태로 만들기 전 바이트 코드를 먼저 생성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가상머신만 있으면 자바 프로그램 해석가능</a:t>
            </a:r>
            <a:endParaRPr lang="en-US" altLang="ko-KR" dirty="0">
              <a:latin typeface="맑은 고딕" charset="0"/>
              <a:ea typeface="맑은 고딕" charset="0"/>
            </a:endParaRPr>
          </a:p>
          <a:p>
            <a:pPr lvl="1" eaLnBrk="1" hangingPunct="1"/>
            <a:r>
              <a:rPr lang="ko-KR" altLang="en-US" dirty="0">
                <a:latin typeface="맑은 고딕" charset="0"/>
                <a:ea typeface="맑은 고딕" charset="0"/>
              </a:rPr>
              <a:t>다양한 환경에서 실행가능</a:t>
            </a:r>
            <a:endParaRPr lang="en-US" altLang="ko-KR" dirty="0">
              <a:latin typeface="맑은 고딕" charset="0"/>
              <a:ea typeface="맑은 고딕" charset="0"/>
            </a:endParaRPr>
          </a:p>
        </p:txBody>
      </p:sp>
      <p:grpSp>
        <p:nvGrpSpPr>
          <p:cNvPr id="18437" name="그룹 1"/>
          <p:cNvGrpSpPr>
            <a:grpSpLocks/>
          </p:cNvGrpSpPr>
          <p:nvPr/>
        </p:nvGrpSpPr>
        <p:grpSpPr bwMode="auto">
          <a:xfrm>
            <a:off x="896938" y="1991042"/>
            <a:ext cx="7759700" cy="2971800"/>
            <a:chOff x="609600" y="2590800"/>
            <a:chExt cx="7759700" cy="3962400"/>
          </a:xfrm>
        </p:grpSpPr>
        <p:pic>
          <p:nvPicPr>
            <p:cNvPr id="18438" name="Picture 3" descr="H:\한빛\강의교안제작\[보안주의]출판원고PDF\자바기초_그림&amp;표\ch01_img\ch01-12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2590800"/>
              <a:ext cx="7759700" cy="396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39" name="TextBox 5"/>
            <p:cNvSpPr txBox="1">
              <a:spLocks noChangeArrowheads="1"/>
            </p:cNvSpPr>
            <p:nvPr/>
          </p:nvSpPr>
          <p:spPr bwMode="auto">
            <a:xfrm>
              <a:off x="3124200" y="5029199"/>
              <a:ext cx="902811" cy="328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1pPr>
              <a:lvl2pPr marL="742950" indent="-28575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2pPr>
              <a:lvl3pPr marL="1143000" indent="-22860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3pPr>
              <a:lvl4pPr marL="1600200" indent="-22860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4pPr>
              <a:lvl5pPr marL="2057400" indent="-228600"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6000" b="1">
                  <a:solidFill>
                    <a:schemeClr val="tx1"/>
                  </a:solidFill>
                  <a:latin typeface="Lucida Console" charset="0"/>
                  <a:ea typeface="궁서체" charset="0"/>
                  <a:cs typeface="궁서체" charset="0"/>
                </a:defRPr>
              </a:lvl9pPr>
            </a:lstStyle>
            <a:p>
              <a:r>
                <a:rPr lang="ko-KR" altLang="en-US" sz="1000">
                  <a:latin typeface="맑은 고딕" charset="0"/>
                  <a:ea typeface="맑은 고딕" charset="0"/>
                  <a:cs typeface="Times New Roman" charset="0"/>
                </a:rPr>
                <a:t>자바 컴퍼일러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896938" y="4777104"/>
            <a:ext cx="955040" cy="282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543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>
                <a:latin typeface="HY견고딕" charset="0"/>
                <a:ea typeface="HY견고딕" charset="0"/>
              </a:rPr>
              <a:t>자바 가상머신의 오해와 진실</a:t>
            </a:r>
            <a:endParaRPr lang="en-US" altLang="ko-KR" dirty="0">
              <a:latin typeface="HY견고딕" charset="0"/>
              <a:ea typeface="HY견고딕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49325" y="903288"/>
            <a:ext cx="7707313" cy="4240212"/>
          </a:xfrm>
        </p:spPr>
        <p:txBody>
          <a:bodyPr>
            <a:normAutofit fontScale="85000" lnSpcReduction="20000"/>
          </a:bodyPr>
          <a:lstStyle/>
          <a:p>
            <a:pPr lvl="1">
              <a:buFont typeface="Wingdings" charset="0"/>
              <a:buNone/>
            </a:pPr>
            <a:r>
              <a:rPr lang="ko-KR" altLang="en-US" b="1" dirty="0">
                <a:solidFill>
                  <a:srgbClr val="0070C0"/>
                </a:solidFill>
                <a:latin typeface="MS Mincho" charset="0"/>
                <a:ea typeface="맑은 고딕" charset="0"/>
              </a:rPr>
              <a:t>➊</a:t>
            </a:r>
            <a:r>
              <a:rPr lang="ko-KR" altLang="en-US" b="1" dirty="0">
                <a:solidFill>
                  <a:srgbClr val="0070C0"/>
                </a:solidFill>
                <a:latin typeface="맑은 고딕" charset="0"/>
                <a:ea typeface="맑은 고딕" charset="0"/>
              </a:rPr>
              <a:t> 자바 가상머신은 느리다</a:t>
            </a:r>
            <a:r>
              <a:rPr lang="en-US" altLang="ko-KR" b="1" dirty="0">
                <a:solidFill>
                  <a:srgbClr val="0070C0"/>
                </a:solidFill>
                <a:latin typeface="맑은 고딕" charset="0"/>
                <a:ea typeface="맑은 고딕" charset="0"/>
              </a:rPr>
              <a:t>?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초기</a:t>
            </a:r>
            <a:r>
              <a:rPr lang="ko-KR" altLang="en-US" dirty="0">
                <a:latin typeface="맑은 고딕" charset="0"/>
                <a:ea typeface="맑은 고딕" charset="0"/>
              </a:rPr>
              <a:t>에는 상당히 느린 것으로 인식되었고 실제로도 성능에 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다소 문제가 있었다</a:t>
            </a:r>
            <a:r>
              <a:rPr lang="en-US" altLang="ko-KR" dirty="0">
                <a:latin typeface="맑은 고딕" charset="0"/>
                <a:ea typeface="맑은 고딕" charset="0"/>
              </a:rPr>
              <a:t>. </a:t>
            </a:r>
            <a:r>
              <a:rPr lang="ko-KR" altLang="en-US" dirty="0">
                <a:latin typeface="맑은 고딕" charset="0"/>
                <a:ea typeface="맑은 고딕" charset="0"/>
              </a:rPr>
              <a:t>그러나 기술이 발달하면서 </a:t>
            </a:r>
            <a:r>
              <a:rPr lang="en-US" altLang="ko-KR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JIT</a:t>
            </a:r>
            <a:r>
              <a:rPr lang="en-US" altLang="ko-KR" dirty="0">
                <a:latin typeface="맑은 고딕" charset="0"/>
                <a:ea typeface="맑은 고딕" charset="0"/>
              </a:rPr>
              <a:t>(Just-In-Time)</a:t>
            </a:r>
            <a:r>
              <a:rPr lang="ko-KR" altLang="en-US" dirty="0">
                <a:latin typeface="맑은 고딕" charset="0"/>
                <a:ea typeface="맑은 고딕" charset="0"/>
              </a:rPr>
              <a:t>와 동적 컴파일 기술인 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핫스팟</a:t>
            </a:r>
            <a:r>
              <a:rPr lang="en-US" altLang="ko-KR" dirty="0">
                <a:latin typeface="맑은 고딕" charset="0"/>
                <a:ea typeface="맑은 고딕" charset="0"/>
              </a:rPr>
              <a:t>(Hotspot) </a:t>
            </a:r>
            <a:r>
              <a:rPr lang="ko-KR" altLang="en-US" dirty="0">
                <a:latin typeface="맑은 고딕" charset="0"/>
                <a:ea typeface="맑은 고딕" charset="0"/>
              </a:rPr>
              <a:t>기술을 적용해 성능상의 문제점은 거의 해결되었다</a:t>
            </a:r>
            <a:r>
              <a:rPr lang="en-US" altLang="ko-KR" dirty="0">
                <a:latin typeface="맑은 고딕" charset="0"/>
                <a:ea typeface="맑은 고딕" charset="0"/>
              </a:rPr>
              <a:t>. </a:t>
            </a:r>
            <a:r>
              <a:rPr lang="ko-KR" altLang="en-US" dirty="0">
                <a:latin typeface="맑은 고딕" charset="0"/>
                <a:ea typeface="맑은 고딕" charset="0"/>
              </a:rPr>
              <a:t>또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바이트 코드를 최적화하는 서드 파티</a:t>
            </a:r>
            <a:r>
              <a:rPr lang="en-US" altLang="ko-KR" dirty="0">
                <a:latin typeface="맑은 고딕" charset="0"/>
                <a:ea typeface="맑은 고딕" charset="0"/>
              </a:rPr>
              <a:t>(Third Party) </a:t>
            </a:r>
            <a:r>
              <a:rPr lang="ko-KR" altLang="en-US" dirty="0">
                <a:latin typeface="맑은 고딕" charset="0"/>
                <a:ea typeface="맑은 고딕" charset="0"/>
              </a:rPr>
              <a:t>제품을 이용해 성능을 어느 정도 향상시킬 수 있다</a:t>
            </a:r>
            <a:r>
              <a:rPr lang="en-US" altLang="ko-KR" dirty="0">
                <a:latin typeface="맑은 고딕" charset="0"/>
                <a:ea typeface="맑은 고딕" charset="0"/>
              </a:rPr>
              <a:t>. </a:t>
            </a:r>
            <a:r>
              <a:rPr lang="ko-KR" altLang="en-US" dirty="0">
                <a:latin typeface="맑은 고딕" charset="0"/>
                <a:ea typeface="맑은 고딕" charset="0"/>
              </a:rPr>
              <a:t>인터넷 뱅킹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온라인 쇼핑몰 등 대규모 온라인 서비스 시스템을 자바로 구축하는 것만 봐도 자바 속도가 느리다는 말은 설득력이 떨어진다</a:t>
            </a:r>
            <a:r>
              <a:rPr lang="en-US" altLang="ko-KR" dirty="0">
                <a:latin typeface="맑은 고딕" charset="0"/>
                <a:ea typeface="맑은 고딕" charset="0"/>
              </a:rPr>
              <a:t>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endParaRPr lang="en-US" altLang="ko-KR" dirty="0">
              <a:latin typeface="맑은 고딕" charset="0"/>
              <a:ea typeface="맑은 고딕" charset="0"/>
            </a:endParaRPr>
          </a:p>
          <a:p>
            <a:pPr lvl="1">
              <a:buFont typeface="Wingdings" charset="0"/>
              <a:buNone/>
            </a:pPr>
            <a:r>
              <a:rPr lang="ko-KR" altLang="en-US" b="1" dirty="0">
                <a:solidFill>
                  <a:srgbClr val="0070C0"/>
                </a:solidFill>
                <a:latin typeface="MS Mincho" charset="0"/>
                <a:ea typeface="맑은 고딕" charset="0"/>
              </a:rPr>
              <a:t>➋</a:t>
            </a:r>
            <a:r>
              <a:rPr lang="ko-KR" altLang="en-US" b="1" dirty="0">
                <a:solidFill>
                  <a:srgbClr val="0070C0"/>
                </a:solidFill>
                <a:latin typeface="맑은 고딕" charset="0"/>
                <a:ea typeface="맑은 고딕" charset="0"/>
              </a:rPr>
              <a:t> 모든 자바 프로그램은 다른 플랫폼의 가상머신에서도 동일하게 동작한다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ko-KR" altLang="en-US" dirty="0">
                <a:latin typeface="맑은 고딕" charset="0"/>
                <a:ea typeface="맑은 고딕" charset="0"/>
              </a:rPr>
              <a:t>이론적으로는 그렇지만 모니터 크기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입</a:t>
            </a:r>
            <a:r>
              <a:rPr lang="en-US" altLang="ko-KR" dirty="0">
                <a:latin typeface="맑은 고딕" charset="0"/>
                <a:ea typeface="맑은 고딕" charset="0"/>
              </a:rPr>
              <a:t>·</a:t>
            </a:r>
            <a:r>
              <a:rPr lang="ko-KR" altLang="en-US" dirty="0">
                <a:latin typeface="맑은 고딕" charset="0"/>
                <a:ea typeface="맑은 고딕" charset="0"/>
              </a:rPr>
              <a:t>출력 장치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메모리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디스크 등 물리적인 실행환경에 따라 다를 수 있다</a:t>
            </a:r>
            <a:r>
              <a:rPr lang="en-US" altLang="ko-KR" dirty="0">
                <a:latin typeface="맑은 고딕" charset="0"/>
                <a:ea typeface="맑은 고딕" charset="0"/>
              </a:rPr>
              <a:t>. Java ME</a:t>
            </a:r>
            <a:r>
              <a:rPr lang="ko-KR" altLang="en-US" dirty="0">
                <a:latin typeface="맑은 고딕" charset="0"/>
                <a:ea typeface="맑은 고딕" charset="0"/>
              </a:rPr>
              <a:t>는 표준 </a:t>
            </a:r>
            <a:r>
              <a:rPr lang="en-US" altLang="ko-KR" dirty="0">
                <a:latin typeface="맑은 고딕" charset="0"/>
                <a:ea typeface="맑은 고딕" charset="0"/>
              </a:rPr>
              <a:t>Java SE</a:t>
            </a:r>
            <a:r>
              <a:rPr lang="ko-KR" altLang="en-US" dirty="0">
                <a:latin typeface="맑은 고딕" charset="0"/>
                <a:ea typeface="맑은 고딕" charset="0"/>
              </a:rPr>
              <a:t>의 일부 기능만 수용하므로 </a:t>
            </a:r>
            <a:r>
              <a:rPr lang="en-US" altLang="ko-KR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Java SE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로 개발한 프로그램은 </a:t>
            </a:r>
            <a:r>
              <a:rPr lang="en-US" altLang="ko-KR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Java ME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에서 </a:t>
            </a:r>
            <a:r>
              <a:rPr lang="en-US" altLang="ko-KR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100% 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실행할 수 없다</a:t>
            </a:r>
            <a:r>
              <a:rPr lang="en-US" altLang="ko-KR" dirty="0">
                <a:latin typeface="맑은 고딕" charset="0"/>
                <a:ea typeface="맑은 고딕" charset="0"/>
              </a:rPr>
              <a:t>. </a:t>
            </a:r>
            <a:r>
              <a:rPr lang="ko-KR" altLang="en-US" b="1" dirty="0">
                <a:latin typeface="맑은 고딕" charset="0"/>
                <a:ea typeface="맑은 고딕" charset="0"/>
              </a:rPr>
              <a:t>그러나 같은 자바 플랫폼끼리는 가상머신 제조회사나 운영체제가 달라도 실행하는데 문제가 없다</a:t>
            </a:r>
            <a:r>
              <a:rPr lang="en-US" altLang="ko-KR" b="1" dirty="0">
                <a:latin typeface="맑은 고딕" charset="0"/>
                <a:ea typeface="맑은 고딕" charset="0"/>
              </a:rPr>
              <a:t>.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endParaRPr lang="en-US" altLang="ko-KR" b="1" dirty="0">
              <a:latin typeface="맑은 고딕" charset="0"/>
              <a:ea typeface="맑은 고딕" charset="0"/>
            </a:endParaRPr>
          </a:p>
          <a:p>
            <a:pPr lvl="1">
              <a:buFont typeface="Wingdings" charset="0"/>
              <a:buNone/>
            </a:pPr>
            <a:r>
              <a:rPr lang="ko-KR" altLang="en-US" b="1" dirty="0">
                <a:solidFill>
                  <a:srgbClr val="0070C0"/>
                </a:solidFill>
                <a:latin typeface="MS Mincho" charset="0"/>
                <a:ea typeface="맑은 고딕" charset="0"/>
              </a:rPr>
              <a:t>➌</a:t>
            </a:r>
            <a:r>
              <a:rPr lang="ko-KR" altLang="en-US" b="1" dirty="0">
                <a:solidFill>
                  <a:srgbClr val="0070C0"/>
                </a:solidFill>
                <a:latin typeface="맑은 고딕" charset="0"/>
                <a:ea typeface="맑은 고딕" charset="0"/>
              </a:rPr>
              <a:t> 자바 프로그램은 </a:t>
            </a:r>
            <a:r>
              <a:rPr lang="en-US" altLang="ko-KR" b="1" dirty="0">
                <a:solidFill>
                  <a:srgbClr val="0070C0"/>
                </a:solidFill>
                <a:latin typeface="맑은 고딕" charset="0"/>
                <a:ea typeface="맑은 고딕" charset="0"/>
              </a:rPr>
              <a:t>PC</a:t>
            </a:r>
            <a:r>
              <a:rPr lang="ko-KR" altLang="en-US" b="1" dirty="0">
                <a:solidFill>
                  <a:srgbClr val="0070C0"/>
                </a:solidFill>
                <a:latin typeface="맑은 고딕" charset="0"/>
                <a:ea typeface="맑은 고딕" charset="0"/>
              </a:rPr>
              <a:t>용으로 사용하기 힘들다</a:t>
            </a:r>
          </a:p>
          <a:p>
            <a:pPr lvl="2">
              <a:lnSpc>
                <a:spcPct val="120000"/>
              </a:lnSpc>
              <a:spcBef>
                <a:spcPts val="200"/>
              </a:spcBef>
            </a:pPr>
            <a:r>
              <a:rPr lang="ko-KR" altLang="en-US" dirty="0">
                <a:latin typeface="맑은 고딕" charset="0"/>
                <a:ea typeface="맑은 고딕" charset="0"/>
              </a:rPr>
              <a:t>자바의 가장 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취약점</a:t>
            </a:r>
            <a:r>
              <a:rPr lang="ko-KR" altLang="en-US" dirty="0">
                <a:latin typeface="맑은 고딕" charset="0"/>
                <a:ea typeface="맑은 고딕" charset="0"/>
              </a:rPr>
              <a:t>은 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애플리케이션의 사용자 인터페이스 부분</a:t>
            </a:r>
            <a:r>
              <a:rPr lang="ko-KR" altLang="en-US" dirty="0">
                <a:latin typeface="맑은 고딕" charset="0"/>
                <a:ea typeface="맑은 고딕" charset="0"/>
              </a:rPr>
              <a:t>인데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기본으로 제공하는 </a:t>
            </a:r>
            <a:r>
              <a:rPr lang="en-US" altLang="ko-KR" dirty="0">
                <a:latin typeface="맑은 고딕" charset="0"/>
                <a:ea typeface="맑은 고딕" charset="0"/>
              </a:rPr>
              <a:t>AWT, Swing </a:t>
            </a:r>
            <a:r>
              <a:rPr lang="ko-KR" altLang="en-US" dirty="0">
                <a:latin typeface="맑은 고딕" charset="0"/>
                <a:ea typeface="맑은 고딕" charset="0"/>
              </a:rPr>
              <a:t>등은 성능이나 사용의 편리성 면에서 문제점이 많다</a:t>
            </a:r>
            <a:r>
              <a:rPr lang="en-US" altLang="ko-KR" dirty="0">
                <a:latin typeface="맑은 고딕" charset="0"/>
                <a:ea typeface="맑은 고딕" charset="0"/>
              </a:rPr>
              <a:t>. </a:t>
            </a:r>
            <a:r>
              <a:rPr lang="ko-KR" altLang="en-US" dirty="0">
                <a:latin typeface="맑은 고딕" charset="0"/>
                <a:ea typeface="맑은 고딕" charset="0"/>
              </a:rPr>
              <a:t>이 때문에 일반 </a:t>
            </a:r>
            <a:r>
              <a:rPr lang="en-US" altLang="ko-KR" dirty="0">
                <a:latin typeface="맑은 고딕" charset="0"/>
                <a:ea typeface="맑은 고딕" charset="0"/>
              </a:rPr>
              <a:t>PC</a:t>
            </a:r>
            <a:r>
              <a:rPr lang="ko-KR" altLang="en-US" dirty="0">
                <a:latin typeface="맑은 고딕" charset="0"/>
                <a:ea typeface="맑은 고딕" charset="0"/>
              </a:rPr>
              <a:t>용으로 나온 자바 프로그램은 거의 없다</a:t>
            </a:r>
            <a:r>
              <a:rPr lang="en-US" altLang="ko-KR" dirty="0">
                <a:latin typeface="맑은 고딕" charset="0"/>
                <a:ea typeface="맑은 고딕" charset="0"/>
              </a:rPr>
              <a:t>. </a:t>
            </a:r>
            <a:r>
              <a:rPr lang="ko-KR" altLang="en-US" dirty="0">
                <a:latin typeface="맑은 고딕" charset="0"/>
                <a:ea typeface="맑은 고딕" charset="0"/>
              </a:rPr>
              <a:t>그러나 </a:t>
            </a:r>
            <a:r>
              <a:rPr lang="ko-KR" altLang="en-US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이클립스 </a:t>
            </a:r>
            <a:r>
              <a:rPr lang="ko-KR" altLang="en-US" dirty="0">
                <a:latin typeface="맑은 고딕" charset="0"/>
                <a:ea typeface="맑은 고딕" charset="0"/>
              </a:rPr>
              <a:t>프로젝트의 산출물 중 하나인 </a:t>
            </a:r>
            <a:r>
              <a:rPr lang="en-US" altLang="ko-KR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SWT</a:t>
            </a:r>
            <a:r>
              <a:rPr lang="en-US" altLang="ko-KR" dirty="0">
                <a:latin typeface="맑은 고딕" charset="0"/>
                <a:ea typeface="맑은 고딕" charset="0"/>
              </a:rPr>
              <a:t>(Simple Widget Toolkit)</a:t>
            </a:r>
            <a:r>
              <a:rPr lang="ko-KR" altLang="en-US" dirty="0">
                <a:latin typeface="맑은 고딕" charset="0"/>
                <a:ea typeface="맑은 고딕" charset="0"/>
              </a:rPr>
              <a:t>는 빠른 속도와 최적화된 운영체제로 이질감 없이 프로그램을 개발할 수 있다</a:t>
            </a:r>
            <a:r>
              <a:rPr lang="en-US" altLang="ko-KR" dirty="0">
                <a:latin typeface="맑은 고딕" charset="0"/>
                <a:ea typeface="맑은 고딕" charset="0"/>
              </a:rPr>
              <a:t>. </a:t>
            </a:r>
            <a:r>
              <a:rPr lang="ko-KR" altLang="en-US" dirty="0">
                <a:latin typeface="맑은 고딕" charset="0"/>
                <a:ea typeface="맑은 고딕" charset="0"/>
              </a:rPr>
              <a:t>특히</a:t>
            </a:r>
            <a:r>
              <a:rPr lang="en-US" altLang="ko-KR" dirty="0">
                <a:latin typeface="맑은 고딕" charset="0"/>
                <a:ea typeface="맑은 고딕" charset="0"/>
              </a:rPr>
              <a:t>, </a:t>
            </a:r>
            <a:r>
              <a:rPr lang="ko-KR" altLang="en-US" dirty="0">
                <a:latin typeface="맑은 고딕" charset="0"/>
                <a:ea typeface="맑은 고딕" charset="0"/>
              </a:rPr>
              <a:t>이클립스의 </a:t>
            </a:r>
            <a:r>
              <a:rPr lang="en-US" altLang="ko-KR" dirty="0">
                <a:solidFill>
                  <a:srgbClr val="FF0000"/>
                </a:solidFill>
                <a:latin typeface="맑은 고딕" charset="0"/>
                <a:ea typeface="맑은 고딕" charset="0"/>
              </a:rPr>
              <a:t>RCP</a:t>
            </a:r>
            <a:r>
              <a:rPr lang="en-US" altLang="ko-KR" dirty="0">
                <a:latin typeface="맑은 고딕" charset="0"/>
                <a:ea typeface="맑은 고딕" charset="0"/>
              </a:rPr>
              <a:t>(Rich Client Platform)</a:t>
            </a:r>
            <a:r>
              <a:rPr lang="ko-KR" altLang="en-US" dirty="0">
                <a:latin typeface="맑은 고딕" charset="0"/>
                <a:ea typeface="맑은 고딕" charset="0"/>
              </a:rPr>
              <a:t>가 확산되면서 앞으로 많은 자바 기반의 </a:t>
            </a:r>
            <a:r>
              <a:rPr lang="en-US" altLang="ko-KR" dirty="0">
                <a:latin typeface="맑은 고딕" charset="0"/>
                <a:ea typeface="맑은 고딕" charset="0"/>
              </a:rPr>
              <a:t>PC</a:t>
            </a:r>
            <a:r>
              <a:rPr lang="ko-KR" altLang="en-US" dirty="0">
                <a:latin typeface="맑은 고딕" charset="0"/>
                <a:ea typeface="맑은 고딕" charset="0"/>
              </a:rPr>
              <a:t>용 애플리케이션을 볼 수 있을 것으로 기대된다</a:t>
            </a:r>
            <a:r>
              <a:rPr lang="en-US" altLang="ko-KR" dirty="0">
                <a:latin typeface="맑은 고딕" charset="0"/>
                <a:ea typeface="맑은 고딕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369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16932</TotalTime>
  <Words>1130</Words>
  <Application>Microsoft Office PowerPoint</Application>
  <PresentationFormat>On-screen Show (16:9)</PresentationFormat>
  <Paragraphs>178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Dotum</vt:lpstr>
      <vt:lpstr>휴먼엑스포</vt:lpstr>
      <vt:lpstr>HY견고딕</vt:lpstr>
      <vt:lpstr>Malgun Gothic</vt:lpstr>
      <vt:lpstr>MS Mincho</vt:lpstr>
      <vt:lpstr>Arial</vt:lpstr>
      <vt:lpstr>Calibri</vt:lpstr>
      <vt:lpstr>Source Sans Pro</vt:lpstr>
      <vt:lpstr>Source Sans Pro Semibold</vt:lpstr>
      <vt:lpstr>Times New Roman</vt:lpstr>
      <vt:lpstr>Wingdings</vt:lpstr>
      <vt:lpstr>Jobtalk_UF</vt:lpstr>
      <vt:lpstr>SU_Template_TopBar</vt:lpstr>
      <vt:lpstr>Introduction</vt:lpstr>
      <vt:lpstr>Hardware and Software</vt:lpstr>
      <vt:lpstr>Hardware</vt:lpstr>
      <vt:lpstr>비트, 바이트, 어드레스</vt:lpstr>
      <vt:lpstr>데이터 저장</vt:lpstr>
      <vt:lpstr>파일</vt:lpstr>
      <vt:lpstr>Binary data</vt:lpstr>
      <vt:lpstr>Programs</vt:lpstr>
      <vt:lpstr>프로그램의 실행</vt:lpstr>
      <vt:lpstr>운영 체제 (Operating System)</vt:lpstr>
      <vt:lpstr>프로그래밍 언어</vt:lpstr>
      <vt:lpstr>컴파일러</vt:lpstr>
      <vt:lpstr>자바 탄생 배경 – 기존 프로그래밍 언어</vt:lpstr>
      <vt:lpstr>자바의 탄생</vt:lpstr>
      <vt:lpstr>플랫폼에 독립된 프로그램</vt:lpstr>
      <vt:lpstr>Java Byte-Code </vt:lpstr>
      <vt:lpstr>자바 가상 머신</vt:lpstr>
      <vt:lpstr>자바의 변천과정</vt:lpstr>
      <vt:lpstr>자바 서블릿</vt:lpstr>
      <vt:lpstr>자바의 변천 과정</vt:lpstr>
      <vt:lpstr>자바의 장단점</vt:lpstr>
      <vt:lpstr>자바의 활용</vt:lpstr>
      <vt:lpstr>플랫폼이란?</vt:lpstr>
      <vt:lpstr>자바 주요 플랫폼</vt:lpstr>
      <vt:lpstr>자바의 주요 플랫폼</vt:lpstr>
      <vt:lpstr>자바의 주요 플랫폼</vt:lpstr>
      <vt:lpstr>자바 가상머신</vt:lpstr>
      <vt:lpstr>자바 가상머신의 오해와 진실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Jin Kyu Gahm</cp:lastModifiedBy>
  <cp:revision>1288</cp:revision>
  <cp:lastPrinted>2016-01-15T22:14:07Z</cp:lastPrinted>
  <dcterms:created xsi:type="dcterms:W3CDTF">2016-01-04T21:30:26Z</dcterms:created>
  <dcterms:modified xsi:type="dcterms:W3CDTF">2019-08-30T04:18:53Z</dcterms:modified>
</cp:coreProperties>
</file>