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autoCompressPictures="0">
  <p:sldMasterIdLst>
    <p:sldMasterId id="2147484099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/>
        <a:ea typeface="ＭＳ Ｐゴシック"/>
        <a:cs typeface="ＭＳ Ｐゴシック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20170" autoAdjust="0"/>
    <p:restoredTop sz="98627" autoAdjust="0"/>
  </p:normalViewPr>
  <p:slideViewPr>
    <p:cSldViewPr snapToGrid="0" snapToObjects="1">
      <p:cViewPr varScale="1">
        <p:scale>
          <a:sx n="100" d="100"/>
          <a:sy n="100" d="100"/>
        </p:scale>
        <p:origin x="-904" y="-496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latin typeface="Calibri"/>
              </a:defRPr>
            </a:lvl1pPr>
          </a:lstStyle>
          <a:p>
            <a:pPr lvl="0">
              <a:defRPr/>
            </a:pPr>
            <a:fld id="{E057C042-89AF-7C4F-814C-314EFA3A3EE1}" type="datetime1">
              <a:rPr lang="en-US"/>
              <a:pPr lvl="0">
                <a:defRPr/>
              </a:pPr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latin typeface="Calibri"/>
              </a:defRPr>
            </a:lvl1pPr>
          </a:lstStyle>
          <a:p>
            <a:pPr lvl="0">
              <a:defRPr/>
            </a:pPr>
            <a:fld id="{F4901583-69B2-544D-B088-2FDC2234E575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>
              <a:defRPr sz="1200">
                <a:latin typeface="Calibri"/>
              </a:defRPr>
            </a:lvl1pPr>
          </a:lstStyle>
          <a:p>
            <a:pPr lvl="0">
              <a:defRPr/>
            </a:pPr>
            <a:fld id="{50284C57-E8CD-D545-98D2-D98BB465D38A}" type="datetime1">
              <a:rPr lang="en-US"/>
              <a:pPr lvl="0">
                <a:defRPr/>
              </a:pPr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sz="1200">
                <a:latin typeface="Calibri"/>
              </a:defRPr>
            </a:lvl1pPr>
          </a:lstStyle>
          <a:p>
            <a:pPr lvl="0">
              <a:defRPr/>
            </a:pPr>
            <a:fld id="{DCF55573-23BE-7541-92D3-8BDD66C16B52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ko-KR" altLang="en-US">
                <a:latin typeface="Calibri"/>
              </a:rPr>
              <a:t/>
            </a:r>
            <a:endParaRPr lang="ko-KR" altLang="en-US"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Objects and Methods (Chapter 6)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452879"/>
            <a:ext cx="7566574" cy="317984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Math class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Wrapper classes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Overloaded methods</a:t>
            </a:r>
          </a:p>
        </p:txBody>
      </p:sp>
    </p:spTree>
    <p:extLst>
      <p:ext uri="{BB962C8B-B14F-4D97-AF65-F5344CB8AC3E}">
        <p14:creationId xmlns:p14="http://schemas.microsoft.com/office/powerpoint/2010/main" val="201741305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ea typeface="+mn-ea"/>
                <a:cs typeface="Arial"/>
              </a:rPr>
              <a:t>Math</a:t>
            </a:r>
            <a:r>
              <a:rPr lang="en-US" dirty="0">
                <a:ea typeface="+mj-ea"/>
                <a:cs typeface="Arial"/>
              </a:rPr>
              <a:t> Class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52512"/>
            <a:ext cx="7738024" cy="3793807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Provides many standard mathematical methods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solidFill>
                  <a:schemeClr val="tx1"/>
                </a:solidFill>
                <a:cs typeface="Arial"/>
              </a:rPr>
              <a:t>Automatically provided, no import needed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 methods</a:t>
            </a: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988" y="2441894"/>
            <a:ext cx="6965950" cy="2270522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093165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Math</a:t>
            </a:r>
            <a:r>
              <a:rPr lang="en-US" dirty="0">
                <a:cs typeface="Arial"/>
              </a:rPr>
              <a:t> Class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76960"/>
            <a:ext cx="7707862" cy="3616959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 methods</a:t>
            </a:r>
          </a:p>
        </p:txBody>
      </p:sp>
      <p:grpSp>
        <p:nvGrpSpPr>
          <p:cNvPr id="24580" name="Group 9"/>
          <p:cNvGrpSpPr>
            <a:grpSpLocks/>
          </p:cNvGrpSpPr>
          <p:nvPr/>
        </p:nvGrpSpPr>
        <p:grpSpPr bwMode="auto">
          <a:xfrm>
            <a:off x="1591629" y="1696165"/>
            <a:ext cx="6421437" cy="2800350"/>
            <a:chOff x="1514475" y="2861324"/>
            <a:chExt cx="6421997" cy="3734739"/>
          </a:xfrm>
        </p:grpSpPr>
        <p:pic>
          <p:nvPicPr>
            <p:cNvPr id="24581" name="Picture 8"/>
            <p:cNvPicPr>
              <a:picLocks noChangeAspect="1" noChangeArrowheads="1"/>
            </p:cNvPicPr>
            <p:nvPr/>
          </p:nvPicPr>
          <p:blipFill>
            <a:blip r:embed="rId2"/>
            <a:srcRect b="90425"/>
            <a:stretch>
              <a:fillRect/>
            </a:stretch>
          </p:blipFill>
          <p:spPr bwMode="auto">
            <a:xfrm>
              <a:off x="1516062" y="2861324"/>
              <a:ext cx="6420410" cy="577995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24582" name="Picture 8"/>
            <p:cNvPicPr>
              <a:picLocks noChangeAspect="1" noChangeArrowheads="1"/>
            </p:cNvPicPr>
            <p:nvPr/>
          </p:nvPicPr>
          <p:blipFill>
            <a:blip r:embed="rId2"/>
            <a:srcRect t="47420"/>
            <a:stretch>
              <a:fillRect/>
            </a:stretch>
          </p:blipFill>
          <p:spPr bwMode="auto">
            <a:xfrm>
              <a:off x="1514475" y="3425028"/>
              <a:ext cx="6420410" cy="3171035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32233679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Random Numbers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77778"/>
            <a:ext cx="7707862" cy="3365341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b="1" dirty="0" err="1">
                <a:solidFill>
                  <a:srgbClr val="000000"/>
                </a:solidFill>
                <a:cs typeface="Arial"/>
              </a:rPr>
              <a:t>Math.random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()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returns a random double that is greater than or equal to zero and less than 1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Java also has a 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Random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 class to generate random numbers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Can scale using addition and multiplication; the following simulates rolling a six sided die</a:t>
            </a:r>
          </a:p>
          <a:p>
            <a:pPr marL="457200" lvl="1" indent="0" eaLnBrk="1" hangingPunct="1"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int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 die = (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int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) (6.0 * 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Math.random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()) + 1;</a:t>
            </a:r>
          </a:p>
        </p:txBody>
      </p:sp>
    </p:spTree>
    <p:extLst>
      <p:ext uri="{BB962C8B-B14F-4D97-AF65-F5344CB8AC3E}">
        <p14:creationId xmlns:p14="http://schemas.microsoft.com/office/powerpoint/2010/main" val="393670677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Wrapper Classes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68400"/>
            <a:ext cx="7707862" cy="346432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Java provides </a:t>
            </a:r>
            <a:r>
              <a:rPr lang="en-US" sz="2000" i="1" dirty="0">
                <a:solidFill>
                  <a:srgbClr val="000000"/>
                </a:solidFill>
                <a:cs typeface="Arial"/>
              </a:rPr>
              <a:t>wrapper classes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for each primitive type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Methods provided to act on values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Allow programmer to have an object that corresponds to value of primitive type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Contain useful predefined constants and methods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Wrapper classes have no default constructor</a:t>
            </a:r>
          </a:p>
          <a:p>
            <a:pPr marL="857250" lvl="3" indent="-285750" eaLnBrk="1" hangingPunct="1">
              <a:buFont typeface="Wingdings" charset="2"/>
              <a:buChar char="²"/>
            </a:pPr>
            <a:r>
              <a:rPr lang="en-US" dirty="0">
                <a:solidFill>
                  <a:srgbClr val="000000"/>
                </a:solidFill>
                <a:cs typeface="Arial"/>
              </a:rPr>
              <a:t>Programmer must specify an initializing value when creating new object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Wrapper classes have no </a:t>
            </a:r>
            <a:r>
              <a:rPr lang="en-US" b="1" dirty="0">
                <a:solidFill>
                  <a:srgbClr val="000000"/>
                </a:solidFill>
                <a:cs typeface="Arial"/>
              </a:rPr>
              <a:t>set</a:t>
            </a:r>
            <a:r>
              <a:rPr lang="en-US" dirty="0">
                <a:solidFill>
                  <a:srgbClr val="000000"/>
                </a:solidFill>
                <a:cs typeface="Arial"/>
              </a:rPr>
              <a:t> methods</a:t>
            </a:r>
          </a:p>
          <a:p>
            <a:pPr lvl="2" eaLnBrk="1" hangingPunct="1"/>
            <a:endParaRPr lang="en-US" sz="2000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646687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Wrapper Classes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Static methods in class </a:t>
            </a:r>
            <a:r>
              <a:rPr lang="en-US" sz="2400" b="1" dirty="0">
                <a:solidFill>
                  <a:schemeClr val="accent2"/>
                </a:solidFill>
                <a:cs typeface="Arial"/>
              </a:rPr>
              <a:t>Character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336" y="2118043"/>
            <a:ext cx="7847013" cy="19240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26808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Wrapper Classes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0871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Static methods in class </a:t>
            </a:r>
            <a:r>
              <a:rPr lang="en-US" sz="2400" b="1" dirty="0">
                <a:solidFill>
                  <a:schemeClr val="accent2"/>
                </a:solidFill>
                <a:cs typeface="Arial"/>
              </a:rPr>
              <a:t>Character</a:t>
            </a:r>
          </a:p>
        </p:txBody>
      </p:sp>
      <p:grpSp>
        <p:nvGrpSpPr>
          <p:cNvPr id="29700" name="Group 8"/>
          <p:cNvGrpSpPr>
            <a:grpSpLocks/>
          </p:cNvGrpSpPr>
          <p:nvPr/>
        </p:nvGrpSpPr>
        <p:grpSpPr bwMode="auto">
          <a:xfrm>
            <a:off x="735330" y="1797844"/>
            <a:ext cx="8096250" cy="2870597"/>
            <a:chOff x="794331" y="2745213"/>
            <a:chExt cx="8096250" cy="3827439"/>
          </a:xfrm>
        </p:grpSpPr>
        <p:pic>
          <p:nvPicPr>
            <p:cNvPr id="29701" name="Picture 7"/>
            <p:cNvPicPr>
              <a:picLocks noChangeAspect="1" noChangeArrowheads="1"/>
            </p:cNvPicPr>
            <p:nvPr/>
          </p:nvPicPr>
          <p:blipFill>
            <a:blip r:embed="rId2"/>
            <a:srcRect b="86201"/>
            <a:stretch>
              <a:fillRect/>
            </a:stretch>
          </p:blipFill>
          <p:spPr bwMode="auto">
            <a:xfrm>
              <a:off x="794331" y="2745213"/>
              <a:ext cx="8096250" cy="796920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29702" name="Picture 8"/>
            <p:cNvPicPr>
              <a:picLocks noChangeAspect="1" noChangeArrowheads="1"/>
            </p:cNvPicPr>
            <p:nvPr/>
          </p:nvPicPr>
          <p:blipFill>
            <a:blip r:embed="rId2"/>
            <a:srcRect t="46822"/>
            <a:stretch>
              <a:fillRect/>
            </a:stretch>
          </p:blipFill>
          <p:spPr bwMode="auto">
            <a:xfrm>
              <a:off x="794331" y="3502446"/>
              <a:ext cx="8096250" cy="3070206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352054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Decomposition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With this </a:t>
            </a:r>
            <a:r>
              <a:rPr lang="en-US" sz="2000" dirty="0" err="1">
                <a:cs typeface="Arial"/>
              </a:rPr>
              <a:t>pseudocode</a:t>
            </a:r>
            <a:r>
              <a:rPr lang="en-US" sz="2000" dirty="0">
                <a:cs typeface="Arial"/>
              </a:rPr>
              <a:t> we </a:t>
            </a:r>
            <a:r>
              <a:rPr lang="en-US" sz="2000" i="1" dirty="0">
                <a:cs typeface="Arial"/>
              </a:rPr>
              <a:t>decompose</a:t>
            </a:r>
            <a:r>
              <a:rPr lang="en-US" sz="2000" dirty="0">
                <a:cs typeface="Arial"/>
              </a:rPr>
              <a:t> the task into subtasks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Then solve each subtask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Combine code of subtasks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Place in a method</a:t>
            </a:r>
          </a:p>
        </p:txBody>
      </p:sp>
    </p:spTree>
    <p:extLst>
      <p:ext uri="{BB962C8B-B14F-4D97-AF65-F5344CB8AC3E}">
        <p14:creationId xmlns:p14="http://schemas.microsoft.com/office/powerpoint/2010/main" val="292417303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Addressing Compiler Concerns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Compiler ensures necessary tasks are done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Initialize variables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Include</a:t>
            </a:r>
            <a:r>
              <a:rPr lang="en-US" sz="2000" dirty="0">
                <a:cs typeface="Arial"/>
              </a:rPr>
              <a:t>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return</a:t>
            </a:r>
            <a:r>
              <a:rPr lang="en-US" sz="2000" dirty="0"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statement</a:t>
            </a:r>
          </a:p>
          <a:p>
            <a:pPr lvl="2" eaLnBrk="1" hangingPunct="1"/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Rule of thumb: believe the compiler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Change the code as requested by compiler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It is most likely correct</a:t>
            </a:r>
          </a:p>
        </p:txBody>
      </p:sp>
    </p:spTree>
    <p:extLst>
      <p:ext uri="{BB962C8B-B14F-4D97-AF65-F5344CB8AC3E}">
        <p14:creationId xmlns:p14="http://schemas.microsoft.com/office/powerpoint/2010/main" val="388091845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Testing Methods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To test a method use a driver program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Every method in a class should be tested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Bottom-up testing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Test code at end of sequence of method calls first</a:t>
            </a:r>
          </a:p>
        </p:txBody>
      </p:sp>
    </p:spTree>
    <p:extLst>
      <p:ext uri="{BB962C8B-B14F-4D97-AF65-F5344CB8AC3E}">
        <p14:creationId xmlns:p14="http://schemas.microsoft.com/office/powerpoint/2010/main" val="116117355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Basics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When two or more methods have same name within the same class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Java distinguishes the methods by number and types of parameters</a:t>
            </a:r>
          </a:p>
          <a:p>
            <a:pPr lvl="2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If it cannot match a call with a definition, it attempts to do type conversions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 method's name and number and type of parameters is called the </a:t>
            </a:r>
            <a:r>
              <a:rPr lang="en-US" i="1" dirty="0">
                <a:cs typeface="Arial"/>
              </a:rPr>
              <a:t>signature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192275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Basics – example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0" b="20424"/>
          <a:stretch/>
        </p:blipFill>
        <p:spPr bwMode="auto">
          <a:xfrm>
            <a:off x="2103120" y="956642"/>
            <a:ext cx="4997450" cy="4021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18511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and Type Conversion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Overloading and automatic type conversion can conflict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Remember the compiler attempts to overload before it does type conversion</a:t>
            </a:r>
          </a:p>
        </p:txBody>
      </p:sp>
    </p:spTree>
    <p:extLst>
      <p:ext uri="{BB962C8B-B14F-4D97-AF65-F5344CB8AC3E}">
        <p14:creationId xmlns:p14="http://schemas.microsoft.com/office/powerpoint/2010/main" val="23367986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and Return Type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cs typeface="Arial"/>
              </a:rPr>
              <a:t>You must not overload a method where the only difference is the type of value returned !!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7576" y="2397760"/>
            <a:ext cx="4955048" cy="1879599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5" name="&quot;No&quot; Symbol 4"/>
          <p:cNvSpPr/>
          <p:nvPr/>
        </p:nvSpPr>
        <p:spPr>
          <a:xfrm>
            <a:off x="3558859" y="2581275"/>
            <a:ext cx="2008187" cy="1506141"/>
          </a:xfrm>
          <a:prstGeom prst="noSmoking">
            <a:avLst/>
          </a:prstGeom>
          <a:solidFill>
            <a:srgbClr val="FF0000">
              <a:alpha val="37000"/>
            </a:srgbClr>
          </a:solidFill>
          <a:ln w="12700" algn="ctr">
            <a:noFill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18636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>
                <a:cs typeface="Arial"/>
              </a:rPr>
              <a:t>public class Money</a:t>
            </a:r>
          </a:p>
          <a:p>
            <a:pPr eaLnBrk="1" hangingPunct="1"/>
            <a:r>
              <a:rPr lang="en-US" dirty="0">
                <a:cs typeface="Arial"/>
              </a:rPr>
              <a:t>{</a:t>
            </a:r>
          </a:p>
          <a:p>
            <a:pPr eaLnBrk="1" hangingPunct="1"/>
            <a:r>
              <a:rPr lang="en-US" dirty="0">
                <a:cs typeface="Arial"/>
              </a:rPr>
              <a:t>	public void set(long </a:t>
            </a:r>
            <a:r>
              <a:rPr lang="en-US" dirty="0" err="1">
                <a:cs typeface="Arial"/>
              </a:rPr>
              <a:t>newDollars</a:t>
            </a:r>
            <a:r>
              <a:rPr lang="en-US" dirty="0">
                <a:cs typeface="Arial"/>
              </a:rPr>
              <a:t>) {</a:t>
            </a:r>
          </a:p>
          <a:p>
            <a:pPr eaLnBrk="1" hangingPunct="1"/>
            <a:r>
              <a:rPr lang="en-US" dirty="0">
                <a:cs typeface="Arial"/>
              </a:rPr>
              <a:t>	</a:t>
            </a:r>
          </a:p>
          <a:p>
            <a:pPr eaLnBrk="1" hangingPunct="1"/>
            <a:r>
              <a:rPr lang="en-US" dirty="0">
                <a:cs typeface="Arial"/>
              </a:rPr>
              <a:t>	}</a:t>
            </a:r>
          </a:p>
          <a:p>
            <a:pPr eaLnBrk="1" hangingPunct="1"/>
            <a:r>
              <a:rPr lang="en-US" dirty="0">
                <a:cs typeface="Arial"/>
              </a:rPr>
              <a:t>	public void set(double </a:t>
            </a:r>
            <a:r>
              <a:rPr lang="en-US" dirty="0" err="1">
                <a:cs typeface="Arial"/>
              </a:rPr>
              <a:t>newAmount</a:t>
            </a:r>
            <a:r>
              <a:rPr lang="en-US" dirty="0">
                <a:cs typeface="Arial"/>
              </a:rPr>
              <a:t>) {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	}</a:t>
            </a:r>
          </a:p>
          <a:p>
            <a:pPr eaLnBrk="1" hangingPunct="1"/>
            <a:r>
              <a:rPr lang="en-US" dirty="0">
                <a:cs typeface="Arial"/>
              </a:rPr>
              <a:t>	public void set(Money </a:t>
            </a:r>
            <a:r>
              <a:rPr lang="en-US" dirty="0" err="1">
                <a:cs typeface="Arial"/>
              </a:rPr>
              <a:t>moneyObject</a:t>
            </a:r>
            <a:r>
              <a:rPr lang="en-US" dirty="0">
                <a:cs typeface="Arial"/>
              </a:rPr>
              <a:t>) {</a:t>
            </a:r>
          </a:p>
          <a:p>
            <a:pPr eaLnBrk="1" hangingPunct="1"/>
            <a:r>
              <a:rPr lang="en-US" dirty="0">
                <a:cs typeface="Arial"/>
              </a:rPr>
              <a:t>		</a:t>
            </a:r>
          </a:p>
          <a:p>
            <a:pPr eaLnBrk="1" hangingPunct="1"/>
            <a:r>
              <a:rPr lang="en-US" dirty="0">
                <a:cs typeface="Arial"/>
              </a:rPr>
              <a:t>	}</a:t>
            </a:r>
          </a:p>
          <a:p>
            <a:pPr eaLnBrk="1" hangingPunct="1"/>
            <a:r>
              <a:rPr lang="en-US" dirty="0"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2997706"/>
      </p:ext>
    </p:extLst>
  </p:cSld>
  <p:clrMapOvr>
    <a:masterClrMapping/>
  </p:clrMapOvr>
  <p:transition spd="slow">
    <p:fade/>
  </p:transition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Stanford University</ep:Company>
  <ep:Words>335</ep:Words>
  <ep:PresentationFormat>화면 슬라이드 쇼(16:9)</ep:PresentationFormat>
  <ep:Paragraphs>67</ep:Paragraphs>
  <ep:Slides>15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Jobtalk_UF</vt:lpstr>
      <vt:lpstr>Objects and Methods (Chapter 6)</vt:lpstr>
      <vt:lpstr>The Math Class</vt:lpstr>
      <vt:lpstr>The Math Class</vt:lpstr>
      <vt:lpstr>Random Numbers</vt:lpstr>
      <vt:lpstr>Wrapper Classes</vt:lpstr>
      <vt:lpstr>Wrapper Classes</vt:lpstr>
      <vt:lpstr>Wrapper Classes</vt:lpstr>
      <vt:lpstr>Decomposition</vt:lpstr>
      <vt:lpstr>Addressing Compiler Concerns</vt:lpstr>
      <vt:lpstr>Testing Methods</vt:lpstr>
      <vt:lpstr>Overloading Basics</vt:lpstr>
      <vt:lpstr>Overloading Basics – example</vt:lpstr>
      <vt:lpstr>Overloading and Type Conversion</vt:lpstr>
      <vt:lpstr>Overloading and Return Type</vt:lpstr>
      <vt:lpstr>Programming Example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2016-01-04T21:30:26.000</dcterms:created>
  <dc:creator>Giltae Song</dc:creator>
  <dc:description>2012 PowerPoint template redesign</dc:description>
  <cp:lastModifiedBy>이재윤_</cp:lastModifiedBy>
  <dcterms:modified xsi:type="dcterms:W3CDTF">2019-10-21T11:03:46.484</dcterms:modified>
  <cp:revision>1638</cp:revision>
  <dc:title>PowerPoint Guidelines</dc:title>
  <cp:version>1000.0000.01</cp:version>
</cp:coreProperties>
</file>