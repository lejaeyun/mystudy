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31"/>
  </p:notesMasterIdLst>
  <p:handoutMasterIdLst>
    <p:handoutMasterId r:id="rId3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83" r:id="rId14"/>
    <p:sldId id="267" r:id="rId15"/>
    <p:sldId id="268" r:id="rId16"/>
    <p:sldId id="269" r:id="rId17"/>
    <p:sldId id="284" r:id="rId18"/>
    <p:sldId id="270" r:id="rId19"/>
    <p:sldId id="285" r:id="rId20"/>
    <p:sldId id="286" r:id="rId21"/>
    <p:sldId id="287" r:id="rId22"/>
    <p:sldId id="274" r:id="rId23"/>
    <p:sldId id="275" r:id="rId24"/>
    <p:sldId id="276" r:id="rId25"/>
    <p:sldId id="278" r:id="rId26"/>
    <p:sldId id="288" r:id="rId27"/>
    <p:sldId id="279" r:id="rId28"/>
    <p:sldId id="280" r:id="rId29"/>
    <p:sldId id="281" r:id="rId30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0" autoAdjust="0"/>
    <p:restoredTop sz="98627" autoAdjust="0"/>
  </p:normalViewPr>
  <p:slideViewPr>
    <p:cSldViewPr snapToGrid="0" snapToObjects="1">
      <p:cViewPr varScale="1">
        <p:scale>
          <a:sx n="146" d="100"/>
          <a:sy n="146" d="100"/>
        </p:scale>
        <p:origin x="336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11/5/2019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11/5/2019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89D2585-4C2D-664C-A83A-5B4516AD14BF}" type="datetimeFigureOut">
              <a:rPr lang="en-US"/>
              <a:pPr/>
              <a:t>11/5/2019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826A01-74CF-D041-A317-02415DBCDE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18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9" r:id="rId9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Polymorphism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73944"/>
            <a:ext cx="7738024" cy="3520679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 dirty="0">
                <a:cs typeface="Arial"/>
              </a:rPr>
              <a:t>Inheritance allows you to define a base class and derive classes from the base class</a:t>
            </a:r>
          </a:p>
          <a:p>
            <a:pPr eaLnBrk="1" hangingPunct="1">
              <a:buFont typeface="Wingdings" charset="2"/>
              <a:buChar char="§"/>
            </a:pPr>
            <a:r>
              <a:rPr lang="en-US" dirty="0">
                <a:cs typeface="Arial"/>
              </a:rPr>
              <a:t>Polymorphism allows you to make changes in the method definition for the derived classes and have those changes apply to methods written in the base class</a:t>
            </a:r>
          </a:p>
        </p:txBody>
      </p:sp>
    </p:spTree>
    <p:extLst>
      <p:ext uri="{BB962C8B-B14F-4D97-AF65-F5344CB8AC3E}">
        <p14:creationId xmlns:p14="http://schemas.microsoft.com/office/powerpoint/2010/main" val="758650055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873760" y="205979"/>
            <a:ext cx="3688716" cy="576341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29920" y="1047750"/>
            <a:ext cx="4227830" cy="369451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sz="1600" dirty="0">
                <a:ea typeface="+mn-ea"/>
                <a:cs typeface="Arial"/>
              </a:rPr>
              <a:t>Consider an array of </a:t>
            </a:r>
            <a:r>
              <a:rPr lang="en-US" sz="1600" b="1" dirty="0">
                <a:solidFill>
                  <a:srgbClr val="0070C0"/>
                </a:solidFill>
                <a:ea typeface="+mn-ea"/>
                <a:cs typeface="Arial"/>
              </a:rPr>
              <a:t>Person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600" b="1" dirty="0">
                <a:solidFill>
                  <a:srgbClr val="0070C0"/>
                </a:solidFill>
                <a:ea typeface="+mn-ea"/>
                <a:cs typeface="Arial"/>
              </a:rPr>
              <a:t>Person[] people = new Person[4];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600" b="1" dirty="0">
              <a:solidFill>
                <a:srgbClr val="FF0000"/>
              </a:solidFill>
              <a:ea typeface="+mn-ea"/>
              <a:cs typeface="Arial"/>
            </a:endParaRPr>
          </a:p>
          <a:p>
            <a:pPr eaLnBrk="1" fontAlgn="auto" hangingPunct="1"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sz="1600" dirty="0">
                <a:ea typeface="+mn-ea"/>
                <a:cs typeface="Arial"/>
              </a:rPr>
              <a:t>Since </a:t>
            </a:r>
            <a:r>
              <a:rPr lang="en-US" sz="1600" b="1" dirty="0">
                <a:solidFill>
                  <a:srgbClr val="0070C0"/>
                </a:solidFill>
                <a:ea typeface="+mn-ea"/>
                <a:cs typeface="Arial"/>
              </a:rPr>
              <a:t>Student</a:t>
            </a:r>
            <a:r>
              <a:rPr lang="en-US" sz="1600" dirty="0">
                <a:solidFill>
                  <a:srgbClr val="0070C0"/>
                </a:solidFill>
                <a:ea typeface="+mn-ea"/>
                <a:cs typeface="Arial"/>
              </a:rPr>
              <a:t> </a:t>
            </a:r>
            <a:r>
              <a:rPr lang="en-US" sz="1600" dirty="0">
                <a:ea typeface="+mn-ea"/>
                <a:cs typeface="Arial"/>
              </a:rPr>
              <a:t>and </a:t>
            </a:r>
            <a:r>
              <a:rPr lang="en-US" sz="1600" b="1" dirty="0">
                <a:solidFill>
                  <a:srgbClr val="0070C0"/>
                </a:solidFill>
                <a:ea typeface="+mn-ea"/>
                <a:cs typeface="Arial"/>
              </a:rPr>
              <a:t>Undergraduate</a:t>
            </a:r>
            <a:r>
              <a:rPr lang="en-US" sz="1600" dirty="0">
                <a:solidFill>
                  <a:srgbClr val="0070C0"/>
                </a:solidFill>
                <a:ea typeface="+mn-ea"/>
                <a:cs typeface="Arial"/>
              </a:rPr>
              <a:t> </a:t>
            </a:r>
            <a:r>
              <a:rPr lang="en-US" sz="1600" dirty="0">
                <a:ea typeface="+mn-ea"/>
                <a:cs typeface="Arial"/>
              </a:rPr>
              <a:t>are types of </a:t>
            </a:r>
            <a:r>
              <a:rPr lang="en-US" sz="1600" b="1" dirty="0">
                <a:solidFill>
                  <a:srgbClr val="0070C0"/>
                </a:solidFill>
                <a:ea typeface="+mn-ea"/>
                <a:cs typeface="Arial"/>
              </a:rPr>
              <a:t>Person</a:t>
            </a:r>
            <a:r>
              <a:rPr lang="en-US" sz="1600" dirty="0">
                <a:ea typeface="+mn-ea"/>
                <a:cs typeface="Arial"/>
              </a:rPr>
              <a:t>, we can assign them to </a:t>
            </a:r>
            <a:r>
              <a:rPr lang="en-US" sz="1600" b="1" dirty="0">
                <a:solidFill>
                  <a:srgbClr val="0070C0"/>
                </a:solidFill>
                <a:ea typeface="+mn-ea"/>
                <a:cs typeface="Arial"/>
              </a:rPr>
              <a:t>Person</a:t>
            </a:r>
            <a:r>
              <a:rPr lang="en-US" sz="1600" b="1" dirty="0">
                <a:solidFill>
                  <a:srgbClr val="FF0000"/>
                </a:solidFill>
                <a:ea typeface="+mn-ea"/>
                <a:cs typeface="Arial"/>
              </a:rPr>
              <a:t> </a:t>
            </a:r>
            <a:r>
              <a:rPr lang="en-US" sz="1600" dirty="0">
                <a:ea typeface="+mn-ea"/>
                <a:cs typeface="Arial"/>
              </a:rPr>
              <a:t>variables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600" b="1" dirty="0">
                <a:solidFill>
                  <a:srgbClr val="0070C0"/>
                </a:solidFill>
                <a:ea typeface="+mn-ea"/>
                <a:cs typeface="Arial"/>
              </a:rPr>
              <a:t>people[0] = new Student("</a:t>
            </a:r>
            <a:r>
              <a:rPr lang="en-US" sz="1600" b="1" dirty="0" err="1">
                <a:solidFill>
                  <a:srgbClr val="0070C0"/>
                </a:solidFill>
                <a:ea typeface="+mn-ea"/>
                <a:cs typeface="Arial"/>
              </a:rPr>
              <a:t>DeBanque</a:t>
            </a:r>
            <a:r>
              <a:rPr lang="en-US" sz="1600" b="1" dirty="0">
                <a:solidFill>
                  <a:srgbClr val="0070C0"/>
                </a:solidFill>
                <a:ea typeface="+mn-ea"/>
                <a:cs typeface="Arial"/>
              </a:rPr>
              <a:t>, Robin", 8812);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600" b="1" dirty="0">
              <a:solidFill>
                <a:srgbClr val="0070C0"/>
              </a:solidFill>
              <a:ea typeface="+mn-ea"/>
              <a:cs typeface="Arial"/>
            </a:endParaRP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600" b="1" dirty="0">
                <a:solidFill>
                  <a:srgbClr val="0070C0"/>
                </a:solidFill>
                <a:ea typeface="+mn-ea"/>
                <a:cs typeface="Arial"/>
              </a:rPr>
              <a:t>people[1] = new Undergraduate("</a:t>
            </a:r>
            <a:r>
              <a:rPr lang="en-US" sz="1600" b="1" dirty="0" err="1">
                <a:solidFill>
                  <a:srgbClr val="0070C0"/>
                </a:solidFill>
                <a:ea typeface="+mn-ea"/>
                <a:cs typeface="Arial"/>
              </a:rPr>
              <a:t>Cotty</a:t>
            </a:r>
            <a:r>
              <a:rPr lang="en-US" sz="1600" b="1" dirty="0">
                <a:solidFill>
                  <a:srgbClr val="0070C0"/>
                </a:solidFill>
                <a:ea typeface="+mn-ea"/>
                <a:cs typeface="Arial"/>
              </a:rPr>
              <a:t>, Manny", 8812, 1);</a:t>
            </a:r>
          </a:p>
        </p:txBody>
      </p:sp>
      <p:pic>
        <p:nvPicPr>
          <p:cNvPr id="266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75" y="186929"/>
            <a:ext cx="4059238" cy="4555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5880508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48079"/>
            <a:ext cx="7738024" cy="3294143"/>
          </a:xfrm>
          <a:prstGeom prst="rect">
            <a:avLst/>
          </a:prstGeo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dirty="0">
                <a:ea typeface="+mn-ea"/>
                <a:cs typeface="Arial"/>
              </a:rPr>
              <a:t>Given: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dirty="0">
                <a:solidFill>
                  <a:srgbClr val="0070C0"/>
                </a:solidFill>
                <a:ea typeface="+mn-ea"/>
                <a:cs typeface="Arial"/>
              </a:rPr>
              <a:t>Person[] people = new Person[4];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dirty="0">
                <a:solidFill>
                  <a:srgbClr val="0070C0"/>
                </a:solidFill>
                <a:ea typeface="+mn-ea"/>
                <a:cs typeface="Arial"/>
              </a:rPr>
              <a:t>people[0] = new Student("</a:t>
            </a:r>
            <a:r>
              <a:rPr lang="en-US" b="1" dirty="0" err="1">
                <a:solidFill>
                  <a:srgbClr val="0070C0"/>
                </a:solidFill>
                <a:ea typeface="+mn-ea"/>
                <a:cs typeface="Arial"/>
              </a:rPr>
              <a:t>DeBanque</a:t>
            </a:r>
            <a:r>
              <a:rPr lang="en-US" b="1" dirty="0">
                <a:solidFill>
                  <a:srgbClr val="0070C0"/>
                </a:solidFill>
                <a:ea typeface="+mn-ea"/>
                <a:cs typeface="Arial"/>
              </a:rPr>
              <a:t>, Robin", 8812);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endParaRPr lang="en-US" b="1" dirty="0">
              <a:solidFill>
                <a:srgbClr val="0070C0"/>
              </a:solidFill>
              <a:ea typeface="+mn-ea"/>
              <a:cs typeface="Arial"/>
            </a:endParaRPr>
          </a:p>
          <a:p>
            <a:pPr eaLnBrk="1" fontAlgn="auto" hangingPunct="1"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dirty="0">
                <a:ea typeface="+mn-ea"/>
                <a:cs typeface="Arial"/>
              </a:rPr>
              <a:t>When invoking: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dirty="0">
                <a:solidFill>
                  <a:srgbClr val="0070C0"/>
                </a:solidFill>
                <a:ea typeface="+mn-ea"/>
                <a:cs typeface="Arial"/>
              </a:rPr>
              <a:t>people[0].</a:t>
            </a:r>
            <a:r>
              <a:rPr lang="en-US" b="1" dirty="0" err="1">
                <a:solidFill>
                  <a:srgbClr val="0070C0"/>
                </a:solidFill>
                <a:ea typeface="+mn-ea"/>
                <a:cs typeface="Arial"/>
              </a:rPr>
              <a:t>writeOutput</a:t>
            </a:r>
            <a:r>
              <a:rPr lang="en-US" b="1" dirty="0">
                <a:solidFill>
                  <a:srgbClr val="0070C0"/>
                </a:solidFill>
                <a:ea typeface="+mn-ea"/>
                <a:cs typeface="Arial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FontTx/>
              <a:buNone/>
              <a:defRPr/>
            </a:pPr>
            <a:endParaRPr lang="en-US" dirty="0">
              <a:solidFill>
                <a:srgbClr val="0070C0"/>
              </a:solidFill>
              <a:ea typeface="+mn-ea"/>
              <a:cs typeface="Arial"/>
            </a:endParaRPr>
          </a:p>
          <a:p>
            <a:pPr eaLnBrk="1" fontAlgn="auto" hangingPunct="1"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dirty="0">
                <a:ea typeface="+mn-ea"/>
                <a:cs typeface="Arial"/>
              </a:rPr>
              <a:t>Which </a:t>
            </a:r>
            <a:r>
              <a:rPr lang="en-US" b="1" dirty="0" err="1">
                <a:solidFill>
                  <a:srgbClr val="0070C0"/>
                </a:solidFill>
                <a:ea typeface="+mn-ea"/>
                <a:cs typeface="Arial"/>
              </a:rPr>
              <a:t>writeOutput</a:t>
            </a:r>
            <a:r>
              <a:rPr lang="en-US" b="1" dirty="0">
                <a:solidFill>
                  <a:srgbClr val="0070C0"/>
                </a:solidFill>
                <a:ea typeface="+mn-ea"/>
                <a:cs typeface="Arial"/>
              </a:rPr>
              <a:t>() </a:t>
            </a:r>
            <a:r>
              <a:rPr lang="en-US" dirty="0">
                <a:ea typeface="+mn-ea"/>
                <a:cs typeface="Arial"/>
              </a:rPr>
              <a:t>is invoked, the one defined for </a:t>
            </a:r>
            <a:r>
              <a:rPr lang="en-US" b="1" dirty="0">
                <a:solidFill>
                  <a:srgbClr val="0070C0"/>
                </a:solidFill>
                <a:ea typeface="+mn-ea"/>
                <a:cs typeface="Arial"/>
              </a:rPr>
              <a:t>Student</a:t>
            </a:r>
            <a:r>
              <a:rPr lang="en-US" dirty="0">
                <a:solidFill>
                  <a:srgbClr val="0070C0"/>
                </a:solidFill>
                <a:ea typeface="+mn-ea"/>
                <a:cs typeface="Arial"/>
              </a:rPr>
              <a:t> </a:t>
            </a:r>
            <a:r>
              <a:rPr lang="en-US" dirty="0">
                <a:ea typeface="+mn-ea"/>
                <a:cs typeface="Arial"/>
              </a:rPr>
              <a:t>or the one defined for </a:t>
            </a:r>
            <a:r>
              <a:rPr lang="en-US" b="1" dirty="0">
                <a:solidFill>
                  <a:srgbClr val="0070C0"/>
                </a:solidFill>
                <a:ea typeface="+mn-ea"/>
                <a:cs typeface="Arial"/>
              </a:rPr>
              <a:t>Person</a:t>
            </a:r>
            <a:r>
              <a:rPr lang="en-US" dirty="0">
                <a:ea typeface="+mn-ea"/>
                <a:cs typeface="Arial"/>
              </a:rPr>
              <a:t>?</a:t>
            </a:r>
          </a:p>
          <a:p>
            <a:pPr eaLnBrk="1" fontAlgn="auto" hangingPunct="1">
              <a:spcAft>
                <a:spcPts val="0"/>
              </a:spcAft>
              <a:buFont typeface="Wingdings" charset="2"/>
              <a:buChar char="§"/>
              <a:defRPr/>
            </a:pPr>
            <a:endParaRPr lang="en-US" dirty="0">
              <a:ea typeface="+mn-ea"/>
              <a:cs typeface="Arial"/>
            </a:endParaRPr>
          </a:p>
          <a:p>
            <a:pPr eaLnBrk="1" fontAlgn="auto" hangingPunct="1"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dirty="0">
                <a:ea typeface="+mn-ea"/>
                <a:cs typeface="Arial"/>
              </a:rPr>
              <a:t>Answer: The one defined for </a:t>
            </a:r>
            <a:r>
              <a:rPr lang="en-US" b="1" dirty="0">
                <a:solidFill>
                  <a:srgbClr val="0070C0"/>
                </a:solidFill>
                <a:ea typeface="+mn-ea"/>
                <a:cs typeface="Arial"/>
              </a:rPr>
              <a:t>Student</a:t>
            </a:r>
            <a:r>
              <a:rPr lang="en-US" dirty="0">
                <a:solidFill>
                  <a:srgbClr val="0070C0"/>
                </a:solidFill>
                <a:ea typeface="+mn-ea"/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968950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An Inheritance as a Type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The method can substitute one object for another</a:t>
            </a:r>
          </a:p>
          <a:p>
            <a:pPr lvl="1" eaLnBrk="1" hangingPunct="1"/>
            <a:r>
              <a:rPr lang="en-US" dirty="0">
                <a:cs typeface="Arial"/>
              </a:rPr>
              <a:t>Called </a:t>
            </a:r>
            <a:r>
              <a:rPr lang="en-US" i="1" dirty="0">
                <a:cs typeface="Arial"/>
              </a:rPr>
              <a:t>polymorphism</a:t>
            </a:r>
          </a:p>
          <a:p>
            <a:pPr eaLnBrk="1" hangingPunct="1"/>
            <a:r>
              <a:rPr lang="en-US" dirty="0">
                <a:cs typeface="Arial"/>
              </a:rPr>
              <a:t>This is made possible by mechanism </a:t>
            </a:r>
          </a:p>
          <a:p>
            <a:pPr lvl="1" eaLnBrk="1" hangingPunct="1"/>
            <a:r>
              <a:rPr lang="en-US" i="1" dirty="0">
                <a:cs typeface="Arial"/>
              </a:rPr>
              <a:t>Dynamic binding</a:t>
            </a:r>
          </a:p>
          <a:p>
            <a:pPr lvl="1" eaLnBrk="1" hangingPunct="1"/>
            <a:r>
              <a:rPr lang="en-US" dirty="0">
                <a:cs typeface="Arial"/>
              </a:rPr>
              <a:t>Also known as </a:t>
            </a:r>
            <a:r>
              <a:rPr lang="en-US" i="1" dirty="0">
                <a:cs typeface="Arial"/>
              </a:rPr>
              <a:t>late binding</a:t>
            </a:r>
          </a:p>
          <a:p>
            <a:pPr eaLnBrk="1" hangingPunct="1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8350935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833120" y="518159"/>
            <a:ext cx="7904480" cy="545069"/>
          </a:xfr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Dynamic Binding and Inheritance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4294967295"/>
          </p:nvPr>
        </p:nvSpPr>
        <p:spPr>
          <a:xfrm>
            <a:off x="833120" y="1369219"/>
            <a:ext cx="7682230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When an overridden method invoked</a:t>
            </a:r>
          </a:p>
          <a:p>
            <a:pPr lvl="1" eaLnBrk="1" hangingPunct="1"/>
            <a:r>
              <a:rPr lang="en-US" dirty="0">
                <a:cs typeface="Arial"/>
              </a:rPr>
              <a:t>Action matches method defined in class used to create object using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new</a:t>
            </a:r>
          </a:p>
          <a:p>
            <a:pPr lvl="1" eaLnBrk="1" hangingPunct="1"/>
            <a:r>
              <a:rPr lang="en-US" dirty="0">
                <a:cs typeface="Arial"/>
              </a:rPr>
              <a:t>Not determined by type of variable naming the object</a:t>
            </a:r>
          </a:p>
          <a:p>
            <a:pPr eaLnBrk="1" hangingPunct="1"/>
            <a:r>
              <a:rPr lang="en-US" dirty="0">
                <a:cs typeface="Arial"/>
              </a:rPr>
              <a:t>Variable of any ancestor class can reference object of descendant class</a:t>
            </a:r>
          </a:p>
          <a:p>
            <a:pPr lvl="1" eaLnBrk="1" hangingPunct="1"/>
            <a:r>
              <a:rPr lang="en-US" dirty="0">
                <a:cs typeface="Arial"/>
              </a:rPr>
              <a:t>Object always remembers which method actions to use for each method name</a:t>
            </a:r>
          </a:p>
        </p:txBody>
      </p:sp>
    </p:spTree>
    <p:extLst>
      <p:ext uri="{BB962C8B-B14F-4D97-AF65-F5344CB8AC3E}">
        <p14:creationId xmlns:p14="http://schemas.microsoft.com/office/powerpoint/2010/main" val="356375502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Polymorphism Example</a:t>
            </a:r>
          </a:p>
        </p:txBody>
      </p:sp>
      <p:pic>
        <p:nvPicPr>
          <p:cNvPr id="307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007" y="1184096"/>
            <a:ext cx="2139631" cy="10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072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658" y="2582099"/>
            <a:ext cx="2150158" cy="911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74" b="37407"/>
          <a:stretch/>
        </p:blipFill>
        <p:spPr bwMode="auto">
          <a:xfrm>
            <a:off x="948776" y="971973"/>
            <a:ext cx="5149460" cy="2634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8708230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Class Interfaces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Consider a set of behaviors for pets</a:t>
            </a:r>
          </a:p>
          <a:p>
            <a:pPr lvl="1" eaLnBrk="1" hangingPunct="1"/>
            <a:r>
              <a:rPr lang="en-US" dirty="0">
                <a:cs typeface="Arial"/>
              </a:rPr>
              <a:t>Be named</a:t>
            </a:r>
          </a:p>
          <a:p>
            <a:pPr lvl="1" eaLnBrk="1" hangingPunct="1"/>
            <a:r>
              <a:rPr lang="en-US" dirty="0">
                <a:cs typeface="Arial"/>
              </a:rPr>
              <a:t>Eat</a:t>
            </a:r>
          </a:p>
          <a:p>
            <a:pPr lvl="1" eaLnBrk="1" hangingPunct="1"/>
            <a:r>
              <a:rPr lang="en-US" dirty="0">
                <a:cs typeface="Arial"/>
              </a:rPr>
              <a:t>Respond to a command</a:t>
            </a:r>
          </a:p>
          <a:p>
            <a:pPr eaLnBrk="1" hangingPunct="1"/>
            <a:r>
              <a:rPr lang="en-US" dirty="0">
                <a:cs typeface="Arial"/>
              </a:rPr>
              <a:t>We could specify method headings for these behaviors</a:t>
            </a:r>
          </a:p>
          <a:p>
            <a:pPr eaLnBrk="1" hangingPunct="1"/>
            <a:r>
              <a:rPr lang="en-US" dirty="0">
                <a:cs typeface="Arial"/>
              </a:rPr>
              <a:t>These method headings can form a class interface</a:t>
            </a:r>
          </a:p>
        </p:txBody>
      </p:sp>
    </p:spTree>
    <p:extLst>
      <p:ext uri="{BB962C8B-B14F-4D97-AF65-F5344CB8AC3E}">
        <p14:creationId xmlns:p14="http://schemas.microsoft.com/office/powerpoint/2010/main" val="242719817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Class Interfaces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Now consider different classes that implement this interface</a:t>
            </a:r>
          </a:p>
          <a:p>
            <a:pPr lvl="1" eaLnBrk="1" hangingPunct="1"/>
            <a:r>
              <a:rPr lang="en-US" dirty="0">
                <a:cs typeface="Arial"/>
              </a:rPr>
              <a:t>They will each have the </a:t>
            </a:r>
            <a:r>
              <a:rPr lang="en-US" u="sng" dirty="0">
                <a:cs typeface="Arial"/>
              </a:rPr>
              <a:t>same behaviors</a:t>
            </a:r>
          </a:p>
          <a:p>
            <a:pPr lvl="1" eaLnBrk="1" hangingPunct="1"/>
            <a:r>
              <a:rPr lang="en-US" u="sng" dirty="0">
                <a:cs typeface="Arial"/>
              </a:rPr>
              <a:t>Nature</a:t>
            </a:r>
            <a:r>
              <a:rPr lang="en-US" dirty="0">
                <a:cs typeface="Arial"/>
              </a:rPr>
              <a:t> of the behaviors will be different</a:t>
            </a:r>
          </a:p>
          <a:p>
            <a:pPr eaLnBrk="1" hangingPunct="1"/>
            <a:r>
              <a:rPr lang="en-US" dirty="0">
                <a:cs typeface="Arial"/>
              </a:rPr>
              <a:t>Each of the classes implements the behaviors/methods differently</a:t>
            </a:r>
          </a:p>
        </p:txBody>
      </p:sp>
    </p:spTree>
    <p:extLst>
      <p:ext uri="{BB962C8B-B14F-4D97-AF65-F5344CB8AC3E}">
        <p14:creationId xmlns:p14="http://schemas.microsoft.com/office/powerpoint/2010/main" val="3621196228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Java Interfaces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 program component that contains headings for a number of public methods</a:t>
            </a:r>
          </a:p>
          <a:p>
            <a:pPr lvl="1" eaLnBrk="1" hangingPunct="1"/>
            <a:r>
              <a:rPr lang="en-US" dirty="0">
                <a:cs typeface="Arial"/>
              </a:rPr>
              <a:t>Will include comments that describe the methods</a:t>
            </a:r>
          </a:p>
          <a:p>
            <a:pPr eaLnBrk="1" hangingPunct="1"/>
            <a:r>
              <a:rPr lang="en-US" dirty="0">
                <a:cs typeface="Arial"/>
              </a:rPr>
              <a:t>Interface can also define public named constants</a:t>
            </a:r>
          </a:p>
          <a:p>
            <a:pPr eaLnBrk="1" hangingPunct="1"/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interface Measurable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641" b="7322"/>
          <a:stretch/>
        </p:blipFill>
        <p:spPr bwMode="auto">
          <a:xfrm>
            <a:off x="1385888" y="3369733"/>
            <a:ext cx="6370637" cy="1439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733785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Java Interfaces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Interface name begins with uppercase letter</a:t>
            </a:r>
          </a:p>
          <a:p>
            <a:pPr eaLnBrk="1" hangingPunct="1"/>
            <a:r>
              <a:rPr lang="en-US" dirty="0">
                <a:cs typeface="Arial"/>
              </a:rPr>
              <a:t>Stored in a file with suffix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.java</a:t>
            </a:r>
          </a:p>
          <a:p>
            <a:pPr eaLnBrk="1" hangingPunct="1"/>
            <a:r>
              <a:rPr lang="en-US" dirty="0">
                <a:cs typeface="Arial"/>
              </a:rPr>
              <a:t>Interface does not include </a:t>
            </a:r>
          </a:p>
          <a:p>
            <a:pPr lvl="1" eaLnBrk="1" hangingPunct="1"/>
            <a:r>
              <a:rPr lang="en-US" dirty="0">
                <a:cs typeface="Arial"/>
              </a:rPr>
              <a:t>Declarations of constructors</a:t>
            </a:r>
          </a:p>
          <a:p>
            <a:pPr lvl="1" eaLnBrk="1" hangingPunct="1"/>
            <a:r>
              <a:rPr lang="en-US" dirty="0">
                <a:cs typeface="Arial"/>
              </a:rPr>
              <a:t>Instance variables</a:t>
            </a:r>
          </a:p>
          <a:p>
            <a:pPr lvl="1" eaLnBrk="1" hangingPunct="1"/>
            <a:r>
              <a:rPr lang="en-US" dirty="0">
                <a:cs typeface="Arial"/>
              </a:rPr>
              <a:t>Method bodies</a:t>
            </a:r>
          </a:p>
        </p:txBody>
      </p:sp>
    </p:spTree>
    <p:extLst>
      <p:ext uri="{BB962C8B-B14F-4D97-AF65-F5344CB8AC3E}">
        <p14:creationId xmlns:p14="http://schemas.microsoft.com/office/powerpoint/2010/main" val="2231393521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Implementing an Interface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00151"/>
            <a:ext cx="7707862" cy="339447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To implement a method, a class must</a:t>
            </a:r>
          </a:p>
          <a:p>
            <a:pPr lvl="1" eaLnBrk="1" hangingPunct="1"/>
            <a:r>
              <a:rPr lang="en-US" dirty="0">
                <a:cs typeface="Arial"/>
              </a:rPr>
              <a:t>Include the phrase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  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implements </a:t>
            </a:r>
            <a:r>
              <a:rPr lang="en-US" b="1" i="1" dirty="0" err="1">
                <a:solidFill>
                  <a:srgbClr val="0033CC"/>
                </a:solidFill>
                <a:cs typeface="Arial"/>
              </a:rPr>
              <a:t>Interface_name</a:t>
            </a:r>
            <a:endParaRPr lang="en-US" b="1" i="1" dirty="0">
              <a:solidFill>
                <a:srgbClr val="0033CC"/>
              </a:solidFill>
              <a:cs typeface="Arial"/>
            </a:endParaRPr>
          </a:p>
          <a:p>
            <a:pPr lvl="1" eaLnBrk="1" hangingPunct="1"/>
            <a:r>
              <a:rPr lang="en-US" dirty="0">
                <a:cs typeface="Arial"/>
              </a:rPr>
              <a:t>Define each specified method</a:t>
            </a:r>
          </a:p>
          <a:p>
            <a:pPr lvl="1"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63" r="24973" b="5081"/>
          <a:stretch/>
        </p:blipFill>
        <p:spPr bwMode="auto">
          <a:xfrm>
            <a:off x="4642635" y="1625600"/>
            <a:ext cx="4196883" cy="329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0146590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Implementing an Interface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12" r="10275" b="3497"/>
          <a:stretch/>
        </p:blipFill>
        <p:spPr bwMode="auto">
          <a:xfrm>
            <a:off x="2011679" y="1057097"/>
            <a:ext cx="5334001" cy="367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9275478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An Inheritance as a Type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Possible to write a method that has a parameter as an interface type</a:t>
            </a:r>
          </a:p>
          <a:p>
            <a:pPr lvl="1" eaLnBrk="1" hangingPunct="1"/>
            <a:r>
              <a:rPr lang="en-US" dirty="0">
                <a:cs typeface="Arial"/>
              </a:rPr>
              <a:t>An interface is a reference type</a:t>
            </a:r>
          </a:p>
          <a:p>
            <a:pPr eaLnBrk="1" hangingPunct="1"/>
            <a:r>
              <a:rPr lang="en-US" dirty="0">
                <a:cs typeface="Arial"/>
              </a:rPr>
              <a:t>Program invokes the method passing it an object of any class which implements that interface</a:t>
            </a:r>
          </a:p>
          <a:p>
            <a:pPr eaLnBrk="1" hangingPunct="1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358957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Extending an Interface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Possible to define a new interface which builds on an existing interface</a:t>
            </a:r>
          </a:p>
          <a:p>
            <a:pPr lvl="1" eaLnBrk="1" hangingPunct="1"/>
            <a:r>
              <a:rPr lang="en-US" dirty="0">
                <a:cs typeface="Arial"/>
              </a:rPr>
              <a:t>It is said to extend the existing interface</a:t>
            </a:r>
          </a:p>
          <a:p>
            <a:pPr eaLnBrk="1" hangingPunct="1"/>
            <a:r>
              <a:rPr lang="en-US" dirty="0">
                <a:cs typeface="Arial"/>
              </a:rPr>
              <a:t>A class that implements the new interface must implement all the methods of both interfaces</a:t>
            </a:r>
          </a:p>
        </p:txBody>
      </p:sp>
    </p:spTree>
    <p:extLst>
      <p:ext uri="{BB962C8B-B14F-4D97-AF65-F5344CB8AC3E}">
        <p14:creationId xmlns:p14="http://schemas.microsoft.com/office/powerpoint/2010/main" val="2669295166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Case Study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" t="25466" r="32780" b="4989"/>
          <a:stretch/>
        </p:blipFill>
        <p:spPr bwMode="auto">
          <a:xfrm>
            <a:off x="948776" y="1059129"/>
            <a:ext cx="4007259" cy="3707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96" t="12704" r="17565" b="6833"/>
          <a:stretch/>
        </p:blipFill>
        <p:spPr bwMode="auto">
          <a:xfrm>
            <a:off x="5128264" y="1950720"/>
            <a:ext cx="3528374" cy="281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2865937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Case Study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13619"/>
            <a:ext cx="7566574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cs typeface="Arial"/>
              </a:rPr>
              <a:t>If we wish to create classes that draw rectangles and triangles</a:t>
            </a:r>
          </a:p>
          <a:p>
            <a:pPr lvl="1" eaLnBrk="1" hangingPunct="1"/>
            <a:r>
              <a:rPr lang="en-US" dirty="0">
                <a:cs typeface="Arial"/>
              </a:rPr>
              <a:t>We could create interfaces that extend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ShapeInterface</a:t>
            </a:r>
            <a:endParaRPr lang="en-US" b="1" dirty="0">
              <a:solidFill>
                <a:srgbClr val="0033CC"/>
              </a:solidFill>
              <a:cs typeface="Arial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31" r="12724" b="5700"/>
          <a:stretch/>
        </p:blipFill>
        <p:spPr bwMode="auto">
          <a:xfrm>
            <a:off x="2428240" y="1821564"/>
            <a:ext cx="4658360" cy="3140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1401384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Case Study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4294967295"/>
          </p:nvPr>
        </p:nvSpPr>
        <p:spPr>
          <a:xfrm>
            <a:off x="948776" y="985520"/>
            <a:ext cx="7707862" cy="314348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1600" b="1" dirty="0">
                <a:solidFill>
                  <a:srgbClr val="0033CC"/>
                </a:solidFill>
                <a:cs typeface="Arial"/>
              </a:rPr>
              <a:t>class</a:t>
            </a:r>
            <a:r>
              <a:rPr lang="en-US" sz="1600" dirty="0">
                <a:cs typeface="Arial"/>
              </a:rPr>
              <a:t> </a:t>
            </a:r>
            <a:r>
              <a:rPr lang="en-US" sz="1600" b="1" dirty="0" err="1">
                <a:solidFill>
                  <a:srgbClr val="0033CC"/>
                </a:solidFill>
                <a:cs typeface="Arial"/>
              </a:rPr>
              <a:t>ShapeBasics</a:t>
            </a:r>
            <a:endParaRPr lang="en-US" sz="1600" b="1" dirty="0">
              <a:solidFill>
                <a:srgbClr val="0033CC"/>
              </a:solidFill>
              <a:cs typeface="Arial"/>
            </a:endParaRPr>
          </a:p>
          <a:p>
            <a:pPr eaLnBrk="1" hangingPunct="1"/>
            <a:r>
              <a:rPr lang="en-US" sz="1600" dirty="0">
                <a:cs typeface="Arial"/>
              </a:rPr>
              <a:t>Note</a:t>
            </a:r>
          </a:p>
          <a:p>
            <a:pPr lvl="1" eaLnBrk="1" hangingPunct="1"/>
            <a:r>
              <a:rPr lang="en-US" sz="1600" dirty="0">
                <a:cs typeface="Arial"/>
              </a:rPr>
              <a:t>Method </a:t>
            </a:r>
            <a:r>
              <a:rPr lang="en-US" sz="1600" b="1" dirty="0" err="1">
                <a:solidFill>
                  <a:srgbClr val="0033CC"/>
                </a:solidFill>
                <a:cs typeface="Arial"/>
              </a:rPr>
              <a:t>drawAt</a:t>
            </a:r>
            <a:r>
              <a:rPr lang="en-US" sz="1600" dirty="0">
                <a:cs typeface="Arial"/>
              </a:rPr>
              <a:t> calls </a:t>
            </a:r>
            <a:r>
              <a:rPr lang="en-US" sz="1600" b="1" dirty="0" err="1">
                <a:solidFill>
                  <a:srgbClr val="0033CC"/>
                </a:solidFill>
                <a:cs typeface="Arial"/>
              </a:rPr>
              <a:t>drawHere</a:t>
            </a:r>
            <a:endParaRPr lang="en-US" sz="1600" b="1" dirty="0">
              <a:solidFill>
                <a:srgbClr val="0033CC"/>
              </a:solidFill>
              <a:cs typeface="Arial"/>
            </a:endParaRPr>
          </a:p>
          <a:p>
            <a:pPr lvl="1" eaLnBrk="1" hangingPunct="1"/>
            <a:r>
              <a:rPr lang="en-US" sz="1600" dirty="0">
                <a:cs typeface="Arial"/>
              </a:rPr>
              <a:t>Derived classes must override </a:t>
            </a:r>
            <a:r>
              <a:rPr lang="en-US" sz="1600" b="1" dirty="0" err="1">
                <a:solidFill>
                  <a:srgbClr val="0033CC"/>
                </a:solidFill>
                <a:cs typeface="Arial"/>
              </a:rPr>
              <a:t>drawHere</a:t>
            </a:r>
            <a:endParaRPr lang="en-US" sz="1600" b="1" dirty="0">
              <a:solidFill>
                <a:srgbClr val="0033CC"/>
              </a:solidFill>
              <a:cs typeface="Arial"/>
            </a:endParaRPr>
          </a:p>
          <a:p>
            <a:pPr lvl="1" eaLnBrk="1" hangingPunct="1"/>
            <a:r>
              <a:rPr lang="en-US" sz="1600" dirty="0">
                <a:cs typeface="Arial"/>
              </a:rPr>
              <a:t>Modifier </a:t>
            </a:r>
            <a:r>
              <a:rPr lang="en-US" sz="1600" b="1" dirty="0">
                <a:solidFill>
                  <a:srgbClr val="0033CC"/>
                </a:solidFill>
                <a:cs typeface="Arial"/>
              </a:rPr>
              <a:t>extends</a:t>
            </a:r>
            <a:r>
              <a:rPr lang="en-US" sz="1600" dirty="0">
                <a:cs typeface="Arial"/>
              </a:rPr>
              <a:t> comes before </a:t>
            </a:r>
            <a:r>
              <a:rPr lang="en-US" sz="1600" b="1" dirty="0">
                <a:solidFill>
                  <a:srgbClr val="0033CC"/>
                </a:solidFill>
                <a:cs typeface="Arial"/>
              </a:rPr>
              <a:t>implements</a:t>
            </a:r>
            <a:r>
              <a:rPr lang="en-US" sz="1600" dirty="0"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3170682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Case Study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80" r="22727"/>
          <a:stretch/>
        </p:blipFill>
        <p:spPr bwMode="auto">
          <a:xfrm>
            <a:off x="948776" y="827245"/>
            <a:ext cx="3368039" cy="212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9"/>
          <a:stretch/>
        </p:blipFill>
        <p:spPr bwMode="auto">
          <a:xfrm>
            <a:off x="979256" y="2916201"/>
            <a:ext cx="3470275" cy="2227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33" r="20098"/>
          <a:stretch/>
        </p:blipFill>
        <p:spPr bwMode="auto">
          <a:xfrm>
            <a:off x="5223687" y="239326"/>
            <a:ext cx="3310713" cy="2507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548"/>
          <a:stretch/>
        </p:blipFill>
        <p:spPr bwMode="auto">
          <a:xfrm>
            <a:off x="5223687" y="2747016"/>
            <a:ext cx="3607853" cy="2390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4802707" y="308741"/>
            <a:ext cx="2973" cy="4777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308980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Case Study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802707" y="308741"/>
            <a:ext cx="2973" cy="4777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220"/>
          <a:stretch/>
        </p:blipFill>
        <p:spPr bwMode="auto">
          <a:xfrm>
            <a:off x="721360" y="847564"/>
            <a:ext cx="3332479" cy="2359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" t="37954" r="25152"/>
          <a:stretch/>
        </p:blipFill>
        <p:spPr bwMode="auto">
          <a:xfrm>
            <a:off x="756919" y="3280982"/>
            <a:ext cx="2910841" cy="1835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14" y="178327"/>
            <a:ext cx="2539046" cy="289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" b="24323"/>
          <a:stretch/>
        </p:blipFill>
        <p:spPr bwMode="auto">
          <a:xfrm>
            <a:off x="5462941" y="2966720"/>
            <a:ext cx="3397852" cy="2176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4468326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Case Study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802707" y="308741"/>
            <a:ext cx="2973" cy="4777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01" r="16512" b="1382"/>
          <a:stretch/>
        </p:blipFill>
        <p:spPr bwMode="auto">
          <a:xfrm>
            <a:off x="608216" y="1412240"/>
            <a:ext cx="4133531" cy="971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49"/>
          <a:stretch/>
        </p:blipFill>
        <p:spPr bwMode="auto">
          <a:xfrm>
            <a:off x="608216" y="2906888"/>
            <a:ext cx="4100202" cy="1559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416" y="1850248"/>
            <a:ext cx="4005119" cy="2718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1685261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Case Study</a:t>
            </a:r>
          </a:p>
        </p:txBody>
      </p:sp>
      <p:pic>
        <p:nvPicPr>
          <p:cNvPr id="440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3" y="1088232"/>
            <a:ext cx="3105150" cy="355044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Text Box 7"/>
          <p:cNvSpPr txBox="1">
            <a:spLocks noChangeArrowheads="1"/>
          </p:cNvSpPr>
          <p:nvPr/>
        </p:nvSpPr>
        <p:spPr bwMode="auto">
          <a:xfrm>
            <a:off x="5537200" y="1726407"/>
            <a:ext cx="1524000" cy="1015663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/>
              <a:t>Sample </a:t>
            </a:r>
            <a:br>
              <a:rPr lang="en-US" sz="2000"/>
            </a:br>
            <a:r>
              <a:rPr lang="en-US" sz="2000"/>
              <a:t>screen output</a:t>
            </a:r>
          </a:p>
        </p:txBody>
      </p:sp>
    </p:spTree>
    <p:extLst>
      <p:ext uri="{BB962C8B-B14F-4D97-AF65-F5344CB8AC3E}">
        <p14:creationId xmlns:p14="http://schemas.microsoft.com/office/powerpoint/2010/main" val="1754888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sz="2000" dirty="0">
                <a:latin typeface="Calibri Light" charset="0"/>
              </a:rPr>
            </a:br>
            <a:r>
              <a:rPr lang="en-US" sz="2000" dirty="0">
                <a:latin typeface="Calibri Light" charset="0"/>
              </a:rPr>
              <a:t>The </a:t>
            </a:r>
            <a:r>
              <a:rPr lang="en-US" sz="2000" b="1" dirty="0">
                <a:solidFill>
                  <a:srgbClr val="0070C0"/>
                </a:solidFill>
                <a:latin typeface="Courier New" charset="0"/>
                <a:cs typeface="Courier New" charset="0"/>
              </a:rPr>
              <a:t>Comparable</a:t>
            </a:r>
            <a:r>
              <a:rPr lang="en-US" sz="2000" dirty="0">
                <a:solidFill>
                  <a:srgbClr val="0070C0"/>
                </a:solidFill>
                <a:latin typeface="Calibri Light" charset="0"/>
              </a:rPr>
              <a:t> </a:t>
            </a:r>
            <a:r>
              <a:rPr lang="en-US" sz="2000" dirty="0">
                <a:latin typeface="Calibri Light" charset="0"/>
              </a:rPr>
              <a:t>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dirty="0">
                <a:ea typeface="+mn-ea"/>
                <a:cs typeface="Arial"/>
              </a:rPr>
              <a:t>Java has many predefined interfaces</a:t>
            </a:r>
          </a:p>
          <a:p>
            <a:pPr eaLnBrk="1" fontAlgn="auto" hangingPunct="1"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dirty="0">
                <a:ea typeface="+mn-ea"/>
                <a:cs typeface="Arial"/>
              </a:rPr>
              <a:t>One of them, the </a:t>
            </a:r>
            <a:r>
              <a:rPr lang="en-US" b="1" dirty="0">
                <a:solidFill>
                  <a:srgbClr val="0070C0"/>
                </a:solidFill>
                <a:ea typeface="+mn-ea"/>
                <a:cs typeface="Arial"/>
              </a:rPr>
              <a:t>Comparable</a:t>
            </a:r>
            <a:r>
              <a:rPr lang="en-US" dirty="0">
                <a:solidFill>
                  <a:srgbClr val="0070C0"/>
                </a:solidFill>
                <a:ea typeface="+mn-ea"/>
                <a:cs typeface="Arial"/>
              </a:rPr>
              <a:t> </a:t>
            </a:r>
            <a:r>
              <a:rPr lang="en-US" dirty="0">
                <a:ea typeface="+mn-ea"/>
                <a:cs typeface="Arial"/>
              </a:rPr>
              <a:t>interface, is used to impose an ordering upon the objects that implement it</a:t>
            </a:r>
          </a:p>
          <a:p>
            <a:pPr eaLnBrk="1" fontAlgn="auto" hangingPunct="1"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dirty="0">
                <a:ea typeface="+mn-ea"/>
                <a:cs typeface="Arial"/>
              </a:rPr>
              <a:t>Requires that the method </a:t>
            </a:r>
            <a:r>
              <a:rPr lang="en-US" b="1" dirty="0" err="1">
                <a:solidFill>
                  <a:srgbClr val="0070C0"/>
                </a:solidFill>
                <a:ea typeface="+mn-ea"/>
                <a:cs typeface="Arial"/>
              </a:rPr>
              <a:t>compareTo</a:t>
            </a:r>
            <a:r>
              <a:rPr lang="en-US" dirty="0">
                <a:solidFill>
                  <a:srgbClr val="0070C0"/>
                </a:solidFill>
                <a:ea typeface="+mn-ea"/>
                <a:cs typeface="Arial"/>
              </a:rPr>
              <a:t> </a:t>
            </a:r>
            <a:r>
              <a:rPr lang="en-US" dirty="0">
                <a:ea typeface="+mn-ea"/>
                <a:cs typeface="Arial"/>
              </a:rPr>
              <a:t>be written</a:t>
            </a:r>
          </a:p>
          <a:p>
            <a:pPr marL="285750" indent="-285750" eaLnBrk="1" fontAlgn="auto" hangingPunct="1">
              <a:spcAft>
                <a:spcPts val="0"/>
              </a:spcAft>
              <a:buFont typeface="Wingdings" charset="2"/>
              <a:buChar char="§"/>
              <a:defRPr/>
            </a:pPr>
            <a:r>
              <a:rPr lang="en-US" dirty="0">
                <a:ea typeface="+mn-ea"/>
                <a:cs typeface="Arial"/>
              </a:rPr>
              <a:t>	</a:t>
            </a:r>
            <a:r>
              <a:rPr lang="en-US" b="1" dirty="0">
                <a:solidFill>
                  <a:srgbClr val="0070C0"/>
                </a:solidFill>
                <a:ea typeface="+mn-ea"/>
                <a:cs typeface="Arial"/>
              </a:rPr>
              <a:t>public </a:t>
            </a:r>
            <a:r>
              <a:rPr lang="en-US" b="1" dirty="0" err="1">
                <a:solidFill>
                  <a:srgbClr val="0070C0"/>
                </a:solidFill>
                <a:ea typeface="+mn-ea"/>
                <a:cs typeface="Arial"/>
              </a:rPr>
              <a:t>int</a:t>
            </a:r>
            <a:r>
              <a:rPr lang="en-US" b="1" dirty="0">
                <a:solidFill>
                  <a:srgbClr val="0070C0"/>
                </a:solidFill>
                <a:ea typeface="+mn-ea"/>
                <a:cs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ea typeface="+mn-ea"/>
                <a:cs typeface="Arial"/>
              </a:rPr>
              <a:t>compareTo</a:t>
            </a:r>
            <a:r>
              <a:rPr lang="en-US" b="1" dirty="0">
                <a:solidFill>
                  <a:srgbClr val="0070C0"/>
                </a:solidFill>
                <a:ea typeface="+mn-ea"/>
                <a:cs typeface="Arial"/>
              </a:rPr>
              <a:t>(Object other);</a:t>
            </a:r>
          </a:p>
        </p:txBody>
      </p:sp>
    </p:spTree>
    <p:extLst>
      <p:ext uri="{BB962C8B-B14F-4D97-AF65-F5344CB8AC3E}">
        <p14:creationId xmlns:p14="http://schemas.microsoft.com/office/powerpoint/2010/main" val="2386768440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Sorting an Array of Fruit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48776" y="972979"/>
            <a:ext cx="7566574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cs typeface="Arial"/>
              </a:rPr>
              <a:t>Initial (non-working) attempt to sort an array of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Fruit</a:t>
            </a:r>
            <a:r>
              <a:rPr lang="en-US" dirty="0">
                <a:cs typeface="Arial"/>
              </a:rPr>
              <a:t> objects</a:t>
            </a:r>
          </a:p>
          <a:p>
            <a:pPr eaLnBrk="1" hangingPunct="1"/>
            <a:r>
              <a:rPr lang="en-US" dirty="0">
                <a:cs typeface="Arial"/>
              </a:rPr>
              <a:t>Result: Exception in thread </a:t>
            </a:r>
            <a:r>
              <a:rPr lang="ja-JP" altLang="en-US" dirty="0">
                <a:cs typeface="Arial"/>
              </a:rPr>
              <a:t>“</a:t>
            </a:r>
            <a:r>
              <a:rPr lang="en-US" dirty="0">
                <a:cs typeface="Arial"/>
              </a:rPr>
              <a:t>main</a:t>
            </a:r>
            <a:r>
              <a:rPr lang="ja-JP" altLang="en-US" dirty="0">
                <a:cs typeface="Arial"/>
              </a:rPr>
              <a:t>”</a:t>
            </a:r>
            <a:endParaRPr lang="en-US" dirty="0">
              <a:cs typeface="Arial"/>
            </a:endParaRPr>
          </a:p>
          <a:p>
            <a:pPr lvl="1" eaLnBrk="1" hangingPunct="1"/>
            <a:r>
              <a:rPr lang="en-US" dirty="0">
                <a:cs typeface="Arial"/>
              </a:rPr>
              <a:t>Sort tries to invoke </a:t>
            </a:r>
            <a:r>
              <a:rPr lang="en-US" b="1" dirty="0" err="1">
                <a:solidFill>
                  <a:srgbClr val="0070C0"/>
                </a:solidFill>
                <a:cs typeface="Arial"/>
              </a:rPr>
              <a:t>compareTo</a:t>
            </a:r>
            <a:r>
              <a:rPr lang="en-US" dirty="0">
                <a:cs typeface="Arial"/>
              </a:rPr>
              <a:t> method but it </a:t>
            </a:r>
            <a:r>
              <a:rPr lang="en-US" dirty="0" err="1">
                <a:cs typeface="Arial"/>
              </a:rPr>
              <a:t>doesn</a:t>
            </a:r>
            <a:r>
              <a:rPr lang="ja-JP" altLang="en-US" dirty="0">
                <a:cs typeface="Arial"/>
              </a:rPr>
              <a:t>’</a:t>
            </a:r>
            <a:r>
              <a:rPr lang="en-US" dirty="0">
                <a:cs typeface="Arial"/>
              </a:rPr>
              <a:t>t exist</a:t>
            </a:r>
          </a:p>
          <a:p>
            <a:pPr eaLnBrk="1" hangingPunct="1">
              <a:buFontTx/>
              <a:buNone/>
            </a:pPr>
            <a:endParaRPr lang="en-US" dirty="0">
              <a:cs typeface="Arial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81" r="32773" b="5496"/>
          <a:stretch/>
        </p:blipFill>
        <p:spPr bwMode="auto">
          <a:xfrm>
            <a:off x="948776" y="2062480"/>
            <a:ext cx="2723131" cy="3081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6" r="33594" b="6710"/>
          <a:stretch/>
        </p:blipFill>
        <p:spPr bwMode="auto">
          <a:xfrm>
            <a:off x="4513518" y="2062480"/>
            <a:ext cx="3502722" cy="2931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526918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>
                <a:solidFill>
                  <a:srgbClr val="0070C0"/>
                </a:solidFill>
                <a:latin typeface="Courier New" charset="0"/>
                <a:cs typeface="Courier New" charset="0"/>
              </a:rPr>
              <a:t>compareTo</a:t>
            </a:r>
            <a:r>
              <a:rPr lang="en-US" dirty="0">
                <a:solidFill>
                  <a:srgbClr val="0070C0"/>
                </a:solidFill>
                <a:latin typeface="Calibri Light" charset="0"/>
              </a:rPr>
              <a:t> </a:t>
            </a:r>
            <a:r>
              <a:rPr lang="en-US" dirty="0">
                <a:latin typeface="Calibri Light" charset="0"/>
              </a:rPr>
              <a:t>Method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775" y="1412966"/>
            <a:ext cx="5400000" cy="2447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9205396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093" y="1144550"/>
            <a:ext cx="5400000" cy="3287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</p:spPr>
        <p:txBody>
          <a:bodyPr/>
          <a:lstStyle/>
          <a:p>
            <a:pPr eaLnBrk="1" hangingPunct="1"/>
            <a:r>
              <a:rPr lang="en-US" b="1" dirty="0" err="1">
                <a:solidFill>
                  <a:srgbClr val="0070C0"/>
                </a:solidFill>
                <a:latin typeface="Courier New" charset="0"/>
                <a:cs typeface="Courier New" charset="0"/>
              </a:rPr>
              <a:t>compareTo</a:t>
            </a:r>
            <a:r>
              <a:rPr lang="en-US" dirty="0">
                <a:solidFill>
                  <a:srgbClr val="0070C0"/>
                </a:solidFill>
                <a:latin typeface="Calibri Light" charset="0"/>
              </a:rPr>
              <a:t> </a:t>
            </a:r>
            <a:r>
              <a:rPr lang="en-US" dirty="0">
                <a:latin typeface="Calibri Light" charset="0"/>
              </a:rPr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1553010106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Abstract Classes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Class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ShapeBasics</a:t>
            </a:r>
            <a:r>
              <a:rPr lang="en-US" dirty="0">
                <a:cs typeface="Arial"/>
              </a:rPr>
              <a:t> is designed to be a base class for other classes</a:t>
            </a:r>
          </a:p>
          <a:p>
            <a:pPr lvl="1" eaLnBrk="1" hangingPunct="1"/>
            <a:r>
              <a:rPr lang="en-US" dirty="0">
                <a:cs typeface="Arial"/>
              </a:rPr>
              <a:t>Method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drawHere</a:t>
            </a:r>
            <a:r>
              <a:rPr lang="en-US" dirty="0">
                <a:cs typeface="Arial"/>
              </a:rPr>
              <a:t> will be redefined for each subclass</a:t>
            </a:r>
          </a:p>
          <a:p>
            <a:pPr lvl="1" eaLnBrk="1" hangingPunct="1"/>
            <a:r>
              <a:rPr lang="en-US" dirty="0">
                <a:cs typeface="Arial"/>
              </a:rPr>
              <a:t>It should be declared </a:t>
            </a:r>
            <a:r>
              <a:rPr lang="en-US" i="1" dirty="0">
                <a:cs typeface="Arial"/>
              </a:rPr>
              <a:t>abstract</a:t>
            </a:r>
            <a:r>
              <a:rPr lang="en-US" dirty="0">
                <a:cs typeface="Arial"/>
              </a:rPr>
              <a:t> – a method that has no body</a:t>
            </a:r>
          </a:p>
          <a:p>
            <a:pPr eaLnBrk="1" hangingPunct="1"/>
            <a:r>
              <a:rPr lang="en-US" dirty="0">
                <a:cs typeface="Arial"/>
              </a:rPr>
              <a:t>This makes the </a:t>
            </a:r>
            <a:r>
              <a:rPr lang="en-US" u="sng" dirty="0">
                <a:cs typeface="Arial"/>
              </a:rPr>
              <a:t>class</a:t>
            </a:r>
            <a:r>
              <a:rPr lang="en-US" dirty="0">
                <a:cs typeface="Arial"/>
              </a:rPr>
              <a:t> abstract</a:t>
            </a:r>
          </a:p>
          <a:p>
            <a:pPr eaLnBrk="1" hangingPunct="1"/>
            <a:r>
              <a:rPr lang="en-US" dirty="0">
                <a:cs typeface="Arial"/>
              </a:rPr>
              <a:t>You cannot create an object of an abstract class – thus its role as base class</a:t>
            </a:r>
          </a:p>
        </p:txBody>
      </p:sp>
    </p:spTree>
    <p:extLst>
      <p:ext uri="{BB962C8B-B14F-4D97-AF65-F5344CB8AC3E}">
        <p14:creationId xmlns:p14="http://schemas.microsoft.com/office/powerpoint/2010/main" val="2957551626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Abstract Classes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Not all methods of an abstract class are abstract methods</a:t>
            </a:r>
          </a:p>
          <a:p>
            <a:pPr eaLnBrk="1" hangingPunct="1"/>
            <a:r>
              <a:rPr lang="en-US" dirty="0">
                <a:cs typeface="Arial"/>
              </a:rPr>
              <a:t>Abstract class makes it easier to define a base class</a:t>
            </a:r>
          </a:p>
          <a:p>
            <a:pPr lvl="1" eaLnBrk="1" hangingPunct="1"/>
            <a:r>
              <a:rPr lang="en-US" dirty="0">
                <a:cs typeface="Arial"/>
              </a:rPr>
              <a:t>Specifies the obligation of designer to override the abstract methods for each subclass</a:t>
            </a:r>
          </a:p>
        </p:txBody>
      </p:sp>
    </p:spTree>
    <p:extLst>
      <p:ext uri="{BB962C8B-B14F-4D97-AF65-F5344CB8AC3E}">
        <p14:creationId xmlns:p14="http://schemas.microsoft.com/office/powerpoint/2010/main" val="3591367603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Abstract Classes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15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Cannot have an instance of an abstract class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But OK to have a parameter of that type</a:t>
            </a:r>
            <a:br>
              <a:rPr lang="en-US" dirty="0">
                <a:latin typeface="Calibri" charset="0"/>
              </a:rPr>
            </a:b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abstract class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ShapeBase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37" b="5207"/>
          <a:stretch/>
        </p:blipFill>
        <p:spPr bwMode="auto">
          <a:xfrm>
            <a:off x="948776" y="2097911"/>
            <a:ext cx="4937761" cy="270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1454089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TotalTime>18590</TotalTime>
  <Words>680</Words>
  <Application>Microsoft Office PowerPoint</Application>
  <PresentationFormat>화면 슬라이드 쇼(16:9)</PresentationFormat>
  <Paragraphs>111</Paragraphs>
  <Slides>28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28</vt:i4>
      </vt:variant>
    </vt:vector>
  </HeadingPairs>
  <TitlesOfParts>
    <vt:vector size="30" baseType="lpstr">
      <vt:lpstr>Jobtalk_UF</vt:lpstr>
      <vt:lpstr>SU_Template_TopBar</vt:lpstr>
      <vt:lpstr>Polymorphism</vt:lpstr>
      <vt:lpstr>Polymorphism</vt:lpstr>
      <vt:lpstr>Polymorphism</vt:lpstr>
      <vt:lpstr>An Inheritance as a Type</vt:lpstr>
      <vt:lpstr>Dynamic Binding and Inheritance</vt:lpstr>
      <vt:lpstr>Polymorphism Example</vt:lpstr>
      <vt:lpstr>Class Interfaces</vt:lpstr>
      <vt:lpstr>Class Interfaces</vt:lpstr>
      <vt:lpstr>Java Interfaces</vt:lpstr>
      <vt:lpstr>Java Interfaces</vt:lpstr>
      <vt:lpstr>Implementing an Interface</vt:lpstr>
      <vt:lpstr>Implementing an Interface</vt:lpstr>
      <vt:lpstr>An Inheritance as a Type</vt:lpstr>
      <vt:lpstr>Extending an Interface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 The Comparable Interface</vt:lpstr>
      <vt:lpstr>Sorting an Array of Fruit Objects</vt:lpstr>
      <vt:lpstr>compareTo Method</vt:lpstr>
      <vt:lpstr>compareTo Method</vt:lpstr>
      <vt:lpstr>Abstract Classes</vt:lpstr>
      <vt:lpstr>Abstract Classes</vt:lpstr>
      <vt:lpstr>Abstract Classes</vt:lpstr>
    </vt:vector>
  </TitlesOfParts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lastModifiedBy>Jin Kyu Gahm</cp:lastModifiedBy>
  <cp:revision>1724</cp:revision>
  <cp:lastPrinted>2016-01-15T22:14:07Z</cp:lastPrinted>
  <dcterms:created xsi:type="dcterms:W3CDTF">2016-01-04T21:30:26Z</dcterms:created>
  <dcterms:modified xsi:type="dcterms:W3CDTF">2019-11-06T06:16:06Z</dcterms:modified>
</cp:coreProperties>
</file>