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99" r:id="rId2"/>
  </p:sldMasterIdLst>
  <p:notesMasterIdLst>
    <p:notesMasterId r:id="rId53"/>
  </p:notesMasterIdLst>
  <p:handoutMasterIdLst>
    <p:handoutMasterId r:id="rId54"/>
  </p:handout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307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30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6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Source Sans Pro" charset="0"/>
        <a:ea typeface="ＭＳ Ｐゴシック" pitchFamily="-102" charset="-128"/>
        <a:cs typeface="ＭＳ Ｐゴシック" pitchFamily="-102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4A44"/>
    <a:srgbClr val="D0A760"/>
    <a:srgbClr val="8C1515"/>
    <a:srgbClr val="D6DDD3"/>
    <a:srgbClr val="EDE8DD"/>
    <a:srgbClr val="C2B7A1"/>
    <a:srgbClr val="918873"/>
    <a:srgbClr val="3C3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70" autoAdjust="0"/>
    <p:restoredTop sz="98627" autoAdjust="0"/>
  </p:normalViewPr>
  <p:slideViewPr>
    <p:cSldViewPr snapToGrid="0" snapToObjects="1">
      <p:cViewPr varScale="1">
        <p:scale>
          <a:sx n="146" d="100"/>
          <a:sy n="146" d="100"/>
        </p:scale>
        <p:origin x="336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E057C042-89AF-7C4F-814C-314EFA3A3EE1}" type="datetimeFigureOut">
              <a:rPr lang="en-US"/>
              <a:pPr/>
              <a:t>11/12/2019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F4901583-69B2-544D-B088-2FDC2234E5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533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50284C57-E8CD-D545-98D2-D98BB465D38A}" type="datetimeFigureOut">
              <a:rPr lang="en-US"/>
              <a:pPr/>
              <a:t>11/12/2019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02" charset="0"/>
              </a:defRPr>
            </a:lvl1pPr>
          </a:lstStyle>
          <a:p>
            <a:fld id="{DCF55573-23BE-7541-92D3-8BDD66C16B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1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440319" y="1071091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3"/>
          <p:cNvSpPr>
            <a:spLocks noGrp="1"/>
          </p:cNvSpPr>
          <p:nvPr userDrawn="1">
            <p:ph type="body" sz="quarter" idx="18"/>
          </p:nvPr>
        </p:nvSpPr>
        <p:spPr>
          <a:xfrm>
            <a:off x="1586494" y="2877596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 userDrawn="1">
            <p:ph type="subTitle" idx="1"/>
          </p:nvPr>
        </p:nvSpPr>
        <p:spPr>
          <a:xfrm>
            <a:off x="440319" y="1689564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514" name="Picture 5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6986" y="3477453"/>
            <a:ext cx="1158660" cy="1158660"/>
          </a:xfrm>
          <a:prstGeom prst="rect">
            <a:avLst/>
          </a:prstGeom>
        </p:spPr>
      </p:pic>
      <p:pic>
        <p:nvPicPr>
          <p:cNvPr id="515" name="Picture 5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67806" y="3505379"/>
            <a:ext cx="1158660" cy="11586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buNone/>
              <a:defRPr sz="1200"/>
            </a:lvl1pPr>
          </a:lstStyle>
          <a:p>
            <a:pPr lvl="0"/>
            <a:r>
              <a:rPr lang="en-US" noProof="0" smtClean="0"/>
              <a:t>Drag picture to placeholder or click icon to add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2pPr marL="0" indent="0">
              <a:buFont typeface="Arial"/>
              <a:buNone/>
              <a:defRPr baseline="0"/>
            </a:lvl2pPr>
            <a:lvl3pPr marL="344488" indent="0">
              <a:buNone/>
              <a:defRPr/>
            </a:lvl3pPr>
            <a:lvl4pPr marL="687387" indent="0">
              <a:buNone/>
              <a:defRPr/>
            </a:lvl4pPr>
            <a:lvl5pPr marL="1031875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D308AB99-1C09-3141-9A6B-ED1B38F7FDA2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7855BD3-6D86-C24B-B9AC-2B3DDD13F721}" type="datetimeFigureOut">
              <a:rPr lang="en-US"/>
              <a:pPr/>
              <a:t>11/12/2019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61CA64-9D08-1B4A-9FB2-504A730A9FB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0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9" descr="SUSig_White.ep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0350" y="4811713"/>
            <a:ext cx="2046288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00555"/>
            <a:ext cx="8229600" cy="618473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Text Placeholder 33"/>
          <p:cNvSpPr>
            <a:spLocks noGrp="1"/>
          </p:cNvSpPr>
          <p:nvPr>
            <p:ph type="body" sz="quarter" idx="18"/>
          </p:nvPr>
        </p:nvSpPr>
        <p:spPr>
          <a:xfrm>
            <a:off x="1603375" y="3599022"/>
            <a:ext cx="6059488" cy="205740"/>
          </a:xfrm>
          <a:prstGeom prst="rect">
            <a:avLst/>
          </a:prstGeom>
        </p:spPr>
        <p:txBody>
          <a:bodyPr wrap="none" anchor="ctr" anchorCtr="1">
            <a:noAutofit/>
          </a:bodyPr>
          <a:lstStyle>
            <a:lvl1pPr algn="ctr">
              <a:buNone/>
              <a:defRPr sz="18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457200" y="2419028"/>
            <a:ext cx="8229600" cy="4618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100" cap="small" spc="300">
                <a:solidFill>
                  <a:srgbClr val="A4001D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806950"/>
            <a:ext cx="9155113" cy="342900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7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4883150"/>
            <a:ext cx="15462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603377" y="1538765"/>
            <a:ext cx="2954337" cy="92583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3377" y="2571750"/>
            <a:ext cx="2954337" cy="93297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4665662" y="1535112"/>
            <a:ext cx="1951038" cy="1951038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none"/>
        </p:style>
        <p:txBody>
          <a:bodyPr/>
          <a:lstStyle>
            <a:lvl1pPr>
              <a:defRPr lang="en-US" sz="1200" dirty="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955677" y="908685"/>
            <a:ext cx="7700963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8" name="Slide Number Placeholder 22"/>
          <p:cNvSpPr txBox="1">
            <a:spLocks/>
          </p:cNvSpPr>
          <p:nvPr/>
        </p:nvSpPr>
        <p:spPr>
          <a:xfrm>
            <a:off x="60325" y="7938"/>
            <a:ext cx="457200" cy="457200"/>
          </a:xfrm>
          <a:prstGeom prst="rect">
            <a:avLst/>
          </a:prstGeom>
        </p:spPr>
        <p:txBody>
          <a:bodyPr wrap="none" lIns="45720" tIns="0" rIns="45720" bIns="0" anchor="ctr" anchorCtr="1">
            <a:prstTxWarp prst="textNoShape">
              <a:avLst/>
            </a:prstTxWarp>
          </a:bodyPr>
          <a:lstStyle/>
          <a:p>
            <a:pPr algn="ctr"/>
            <a:fld id="{6011AB87-0029-AF46-BA7B-14EC2941E070}" type="slidenum">
              <a:rPr lang="en-US" sz="1000">
                <a:solidFill>
                  <a:srgbClr val="7F7F7F"/>
                </a:solidFill>
                <a:latin typeface="Arial" pitchFamily="-102" charset="0"/>
              </a:rPr>
              <a:pPr algn="ctr"/>
              <a:t>‹#›</a:t>
            </a:fld>
            <a:endParaRPr lang="en-US" sz="1000">
              <a:solidFill>
                <a:srgbClr val="7F7F7F"/>
              </a:solidFill>
              <a:latin typeface="Arial" pitchFamily="-10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/>
          </p:nvPr>
        </p:nvSpPr>
        <p:spPr>
          <a:xfrm>
            <a:off x="4876800" y="908685"/>
            <a:ext cx="3779838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/>
          </p:nvPr>
        </p:nvSpPr>
        <p:spPr>
          <a:xfrm>
            <a:off x="948777" y="908685"/>
            <a:ext cx="7707862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1"/>
          </p:nvPr>
        </p:nvSpPr>
        <p:spPr>
          <a:xfrm>
            <a:off x="949327" y="2841313"/>
            <a:ext cx="7707313" cy="181660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949327" y="908685"/>
            <a:ext cx="3787775" cy="3759042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2"/>
          </p:nvPr>
        </p:nvSpPr>
        <p:spPr>
          <a:xfrm>
            <a:off x="4876800" y="2837497"/>
            <a:ext cx="3779838" cy="183023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48776" y="359541"/>
            <a:ext cx="7707862" cy="48802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949327" y="908686"/>
            <a:ext cx="3787775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/>
          </p:nvPr>
        </p:nvSpPr>
        <p:spPr>
          <a:xfrm>
            <a:off x="955677" y="2840613"/>
            <a:ext cx="3781425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2"/>
          </p:nvPr>
        </p:nvSpPr>
        <p:spPr>
          <a:xfrm>
            <a:off x="4876800" y="908686"/>
            <a:ext cx="3779838" cy="182308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4876800" y="2840613"/>
            <a:ext cx="3779838" cy="1827114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7E9329A1-051D-4748-88E9-0F62A5F8FD3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457200" cy="5149850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4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9" r:id="rId9"/>
  </p:sldLayoutIdLst>
  <p:transition spd="slow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b="1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defRPr kern="1200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2"/>
          <p:cNvSpPr>
            <a:spLocks noGrp="1"/>
          </p:cNvSpPr>
          <p:nvPr>
            <p:ph type="title"/>
          </p:nvPr>
        </p:nvSpPr>
        <p:spPr bwMode="auto">
          <a:xfrm>
            <a:off x="949325" y="358775"/>
            <a:ext cx="7707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49325" y="903288"/>
            <a:ext cx="7707313" cy="37639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538" y="4811713"/>
            <a:ext cx="846137" cy="2714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898989"/>
                </a:solidFill>
                <a:latin typeface="Arial" pitchFamily="-102" charset="0"/>
              </a:defRPr>
            </a:lvl1pPr>
          </a:lstStyle>
          <a:p>
            <a:fld id="{49034457-845F-754F-BC5C-07288356842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11113" y="0"/>
            <a:ext cx="9155113" cy="342900"/>
          </a:xfrm>
          <a:prstGeom prst="rect">
            <a:avLst/>
          </a:prstGeom>
          <a:solidFill>
            <a:schemeClr val="bg2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8C1515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</p:sldLayoutIdLst>
  <p:transition spd="slow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 kern="1200">
          <a:solidFill>
            <a:schemeClr val="bg2"/>
          </a:solidFill>
          <a:latin typeface="Arial"/>
          <a:ea typeface="ＭＳ Ｐゴシック" charset="0"/>
          <a:cs typeface="ＭＳ Ｐゴシック" charset="0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6pPr>
      <a:lvl7pPr marL="9144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7pPr>
      <a:lvl8pPr marL="13716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8pPr>
      <a:lvl9pPr marL="1828800" algn="l" defTabSz="457200" rtl="0" fontAlgn="base">
        <a:lnSpc>
          <a:spcPct val="85000"/>
        </a:lnSpc>
        <a:spcBef>
          <a:spcPct val="0"/>
        </a:spcBef>
        <a:spcAft>
          <a:spcPct val="0"/>
        </a:spcAft>
        <a:defRPr sz="2400">
          <a:solidFill>
            <a:schemeClr val="bg2"/>
          </a:solidFill>
          <a:latin typeface="Source Sans Pro Semibold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02" charset="0"/>
        <a:defRPr sz="1600" kern="1200" cap="small" spc="20">
          <a:solidFill>
            <a:schemeClr val="tx1"/>
          </a:solidFill>
          <a:latin typeface="Arial"/>
          <a:ea typeface="ＭＳ Ｐゴシック" charset="0"/>
          <a:cs typeface="ＭＳ Ｐゴシック" charset="0"/>
        </a:defRPr>
      </a:lvl1pPr>
      <a:lvl2pPr marL="288925" indent="-2889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-102" charset="2"/>
        <a:buChar char="§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2pPr>
      <a:lvl3pPr marL="569913" indent="-225425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02000"/>
        <a:buFont typeface="Source Sans Pro" charset="0"/>
        <a:buChar char="›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3pPr>
      <a:lvl4pPr marL="914400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Arial" pitchFamily="-102" charset="0"/>
        <a:buChar char="•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4pPr>
      <a:lvl5pPr marL="1258888" indent="-227013" algn="l" defTabSz="457200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Source Sans Pro" charset="0"/>
        <a:buChar char="–"/>
        <a:defRPr kern="1200">
          <a:solidFill>
            <a:srgbClr val="595959"/>
          </a:solidFill>
          <a:latin typeface="Arial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CodeSamples5.htm#Listing 10.5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The Concept of a Stream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Use of files</a:t>
            </a:r>
          </a:p>
          <a:p>
            <a:pPr lvl="1" eaLnBrk="1" hangingPunct="1"/>
            <a:r>
              <a:rPr lang="en-US" dirty="0">
                <a:cs typeface="Arial"/>
              </a:rPr>
              <a:t>Store Java classes, programs</a:t>
            </a:r>
          </a:p>
          <a:p>
            <a:pPr lvl="1" eaLnBrk="1" hangingPunct="1"/>
            <a:r>
              <a:rPr lang="en-US" dirty="0">
                <a:cs typeface="Arial"/>
              </a:rPr>
              <a:t>Store pictures, music, videos</a:t>
            </a:r>
          </a:p>
          <a:p>
            <a:pPr lvl="1" eaLnBrk="1" hangingPunct="1"/>
            <a:r>
              <a:rPr lang="en-US" dirty="0">
                <a:cs typeface="Arial"/>
              </a:rPr>
              <a:t>Can also use files to store program I/O</a:t>
            </a:r>
          </a:p>
          <a:p>
            <a:pPr eaLnBrk="1" hangingPunct="1"/>
            <a:r>
              <a:rPr lang="en-US" dirty="0">
                <a:cs typeface="Arial"/>
              </a:rPr>
              <a:t>A </a:t>
            </a:r>
            <a:r>
              <a:rPr lang="en-US" i="1" dirty="0">
                <a:cs typeface="Arial"/>
              </a:rPr>
              <a:t>stream</a:t>
            </a:r>
            <a:r>
              <a:rPr lang="en-US" dirty="0">
                <a:cs typeface="Arial"/>
              </a:rPr>
              <a:t> is a flow of input or output data</a:t>
            </a:r>
          </a:p>
          <a:p>
            <a:pPr lvl="1" eaLnBrk="1" hangingPunct="1"/>
            <a:r>
              <a:rPr lang="en-US" dirty="0">
                <a:cs typeface="Arial"/>
              </a:rPr>
              <a:t>Characters</a:t>
            </a:r>
          </a:p>
          <a:p>
            <a:pPr lvl="1" eaLnBrk="1" hangingPunct="1"/>
            <a:r>
              <a:rPr lang="en-US" dirty="0">
                <a:cs typeface="Arial"/>
              </a:rPr>
              <a:t>Numbers</a:t>
            </a:r>
          </a:p>
          <a:p>
            <a:pPr lvl="1" eaLnBrk="1" hangingPunct="1"/>
            <a:r>
              <a:rPr lang="en-US" dirty="0">
                <a:cs typeface="Arial"/>
              </a:rPr>
              <a:t>Bytes</a:t>
            </a:r>
          </a:p>
        </p:txBody>
      </p:sp>
    </p:spTree>
    <p:extLst>
      <p:ext uri="{BB962C8B-B14F-4D97-AF65-F5344CB8AC3E}">
        <p14:creationId xmlns:p14="http://schemas.microsoft.com/office/powerpoint/2010/main" val="17091740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The Concept of a Stream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94185"/>
            <a:ext cx="7738024" cy="350043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000" dirty="0">
                <a:cs typeface="Arial"/>
              </a:rPr>
              <a:t>Streams are implemented as objects of special stream classes</a:t>
            </a:r>
          </a:p>
          <a:p>
            <a:pPr lvl="1" eaLnBrk="1" hangingPunct="1"/>
            <a:r>
              <a:rPr lang="en-US" sz="2000" dirty="0">
                <a:cs typeface="Arial"/>
              </a:rPr>
              <a:t>Class </a:t>
            </a:r>
            <a:r>
              <a:rPr lang="en-US" sz="2000" b="1" dirty="0">
                <a:solidFill>
                  <a:srgbClr val="0033CC"/>
                </a:solidFill>
                <a:cs typeface="Arial"/>
              </a:rPr>
              <a:t>Scanner</a:t>
            </a:r>
          </a:p>
          <a:p>
            <a:pPr lvl="1" eaLnBrk="1" hangingPunct="1"/>
            <a:r>
              <a:rPr lang="en-US" sz="2000" dirty="0">
                <a:cs typeface="Arial"/>
              </a:rPr>
              <a:t>Object </a:t>
            </a:r>
            <a:r>
              <a:rPr lang="en-US" sz="2000" b="1" dirty="0" err="1">
                <a:solidFill>
                  <a:srgbClr val="0033CC"/>
                </a:solidFill>
                <a:cs typeface="Arial"/>
              </a:rPr>
              <a:t>System.out</a:t>
            </a:r>
            <a:endParaRPr lang="en-US" sz="2000" b="1" dirty="0">
              <a:solidFill>
                <a:srgbClr val="0033CC"/>
              </a:solidFill>
              <a:cs typeface="Arial"/>
            </a:endParaRPr>
          </a:p>
          <a:p>
            <a:pPr eaLnBrk="1" hangingPunct="1"/>
            <a:endParaRPr lang="en-US" sz="2000" dirty="0" smtClean="0">
              <a:cs typeface="Arial"/>
            </a:endParaRPr>
          </a:p>
          <a:p>
            <a:pPr eaLnBrk="1" hangingPunct="1"/>
            <a:r>
              <a:rPr lang="en-US" sz="2000" dirty="0">
                <a:cs typeface="Arial"/>
              </a:rPr>
              <a:t/>
            </a:r>
            <a:br>
              <a:rPr lang="en-US" sz="2000" dirty="0">
                <a:cs typeface="Arial"/>
              </a:rPr>
            </a:br>
            <a:r>
              <a:rPr lang="en-US" sz="2000" dirty="0">
                <a:cs typeface="Arial"/>
              </a:rPr>
              <a:t>I/O Streams</a:t>
            </a:r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1163" y="2867025"/>
            <a:ext cx="5735637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1">
                <a:lumMod val="50000"/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54369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Why Use Files for I/O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Keyboard input, screen output deal with temporary data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When program ends, data is gone</a:t>
            </a:r>
          </a:p>
          <a:p>
            <a:pPr eaLnBrk="1" hangingPunct="1"/>
            <a:r>
              <a:rPr lang="en-US" dirty="0">
                <a:latin typeface="Calibri" charset="0"/>
              </a:rPr>
              <a:t>Data in a file remains after program ends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Can be used next time program runs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Can be used by another program</a:t>
            </a:r>
          </a:p>
        </p:txBody>
      </p:sp>
    </p:spTree>
    <p:extLst>
      <p:ext uri="{BB962C8B-B14F-4D97-AF65-F5344CB8AC3E}">
        <p14:creationId xmlns:p14="http://schemas.microsoft.com/office/powerpoint/2010/main" val="116766750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Text Files and Binary Files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079897"/>
            <a:ext cx="7738024" cy="35147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All data in files stored as binary digits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Long series of zeros and ones</a:t>
            </a:r>
          </a:p>
          <a:p>
            <a:pPr eaLnBrk="1" hangingPunct="1"/>
            <a:r>
              <a:rPr lang="en-US" dirty="0">
                <a:latin typeface="Calibri" charset="0"/>
              </a:rPr>
              <a:t>Files treated as sequence of characters called </a:t>
            </a:r>
            <a:r>
              <a:rPr lang="en-US" i="1" dirty="0">
                <a:latin typeface="Calibri" charset="0"/>
              </a:rPr>
              <a:t>text files</a:t>
            </a:r>
            <a:endParaRPr lang="en-US" dirty="0">
              <a:latin typeface="Calibri" charset="0"/>
            </a:endParaRPr>
          </a:p>
          <a:p>
            <a:pPr lvl="1" eaLnBrk="1" hangingPunct="1"/>
            <a:r>
              <a:rPr lang="en-US" dirty="0">
                <a:latin typeface="Calibri" charset="0"/>
              </a:rPr>
              <a:t>Java program source code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Can be viewed, edited with text editor</a:t>
            </a:r>
          </a:p>
          <a:p>
            <a:pPr eaLnBrk="1" hangingPunct="1"/>
            <a:r>
              <a:rPr lang="en-US" dirty="0">
                <a:latin typeface="Calibri" charset="0"/>
              </a:rPr>
              <a:t>All other files are called </a:t>
            </a:r>
            <a:r>
              <a:rPr lang="en-US" i="1" dirty="0">
                <a:latin typeface="Calibri" charset="0"/>
              </a:rPr>
              <a:t>binary files</a:t>
            </a:r>
            <a:r>
              <a:rPr lang="en-US" dirty="0">
                <a:latin typeface="Calibri" charset="0"/>
              </a:rPr>
              <a:t> 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Movie, music files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Access requires specialized program</a:t>
            </a:r>
          </a:p>
        </p:txBody>
      </p:sp>
    </p:spTree>
    <p:extLst>
      <p:ext uri="{BB962C8B-B14F-4D97-AF65-F5344CB8AC3E}">
        <p14:creationId xmlns:p14="http://schemas.microsoft.com/office/powerpoint/2010/main" val="14173327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Text Files and Binary Files</a:t>
            </a:r>
          </a:p>
        </p:txBody>
      </p:sp>
      <p:sp>
        <p:nvSpPr>
          <p:cNvPr id="10243" name="Content Placeholder 3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A </a:t>
            </a:r>
            <a:r>
              <a:rPr lang="en-US" dirty="0">
                <a:latin typeface="Calibri" charset="0"/>
              </a:rPr>
              <a:t>text file and a binary file containing the same values</a:t>
            </a:r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2413397"/>
            <a:ext cx="7259638" cy="166092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144667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Creating a Text File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000" dirty="0">
                <a:latin typeface="Calibri" charset="0"/>
              </a:rPr>
              <a:t>Class </a:t>
            </a:r>
            <a:r>
              <a:rPr lang="en-US" sz="2000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PrintWriter</a:t>
            </a:r>
            <a:r>
              <a:rPr lang="en-US" sz="2000" dirty="0">
                <a:latin typeface="Calibri" charset="0"/>
              </a:rPr>
              <a:t> defines methods needed to create and write to a text file</a:t>
            </a:r>
          </a:p>
          <a:p>
            <a:pPr lvl="1" eaLnBrk="1" hangingPunct="1"/>
            <a:r>
              <a:rPr lang="en-US" sz="2000" dirty="0">
                <a:latin typeface="Calibri" charset="0"/>
              </a:rPr>
              <a:t>Must import package </a:t>
            </a:r>
            <a:r>
              <a:rPr lang="en-US" sz="2000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java.io</a:t>
            </a:r>
            <a:endParaRPr lang="en-US" sz="2000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sz="2000" dirty="0">
                <a:latin typeface="Calibri" charset="0"/>
              </a:rPr>
              <a:t>To open the file </a:t>
            </a:r>
          </a:p>
          <a:p>
            <a:pPr lvl="1" eaLnBrk="1" hangingPunct="1"/>
            <a:r>
              <a:rPr lang="en-US" sz="2000" dirty="0">
                <a:latin typeface="Calibri" charset="0"/>
              </a:rPr>
              <a:t>Declare </a:t>
            </a:r>
            <a:r>
              <a:rPr lang="en-US" sz="2000" i="1" dirty="0">
                <a:latin typeface="Calibri" charset="0"/>
              </a:rPr>
              <a:t>stream variable </a:t>
            </a:r>
            <a:r>
              <a:rPr lang="en-US" sz="2000" dirty="0">
                <a:latin typeface="Calibri" charset="0"/>
              </a:rPr>
              <a:t>for referencing the stream</a:t>
            </a:r>
          </a:p>
          <a:p>
            <a:pPr lvl="1" eaLnBrk="1" hangingPunct="1"/>
            <a:r>
              <a:rPr lang="en-US" sz="2000" dirty="0">
                <a:latin typeface="Calibri" charset="0"/>
              </a:rPr>
              <a:t>Invoke </a:t>
            </a:r>
            <a:r>
              <a:rPr lang="en-US" sz="2000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PrintWriter</a:t>
            </a:r>
            <a:r>
              <a:rPr lang="en-US" sz="2000" dirty="0">
                <a:latin typeface="Calibri" charset="0"/>
              </a:rPr>
              <a:t> constructor, pass file name as argument</a:t>
            </a:r>
          </a:p>
          <a:p>
            <a:pPr lvl="1" eaLnBrk="1" hangingPunct="1"/>
            <a:r>
              <a:rPr lang="en-US" sz="2000" dirty="0">
                <a:latin typeface="Calibri" charset="0"/>
              </a:rPr>
              <a:t>Requires </a:t>
            </a:r>
            <a:r>
              <a:rPr lang="en-US" sz="20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try</a:t>
            </a:r>
            <a:r>
              <a:rPr lang="en-US" sz="2000" dirty="0">
                <a:latin typeface="Calibri" charset="0"/>
              </a:rPr>
              <a:t> and </a:t>
            </a:r>
            <a:r>
              <a:rPr lang="en-US" sz="2000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catch</a:t>
            </a:r>
            <a:r>
              <a:rPr lang="en-US" sz="2000" dirty="0">
                <a:latin typeface="Calibri" charset="0"/>
              </a:rPr>
              <a:t> blocks</a:t>
            </a:r>
          </a:p>
        </p:txBody>
      </p:sp>
    </p:spTree>
    <p:extLst>
      <p:ext uri="{BB962C8B-B14F-4D97-AF65-F5344CB8AC3E}">
        <p14:creationId xmlns:p14="http://schemas.microsoft.com/office/powerpoint/2010/main" val="87771119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Creating a Text File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401367"/>
            <a:ext cx="7738025" cy="3193256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File is empty initially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May now be written to with method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println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Data goes initially to memory buffer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When buffer full, goes to file</a:t>
            </a:r>
          </a:p>
          <a:p>
            <a:pPr eaLnBrk="1" hangingPunct="1"/>
            <a:r>
              <a:rPr lang="en-US" dirty="0">
                <a:latin typeface="Calibri" charset="0"/>
              </a:rPr>
              <a:t>Closing file empties buffer, disconnects from stream</a:t>
            </a:r>
          </a:p>
        </p:txBody>
      </p:sp>
    </p:spTree>
    <p:extLst>
      <p:ext uri="{BB962C8B-B14F-4D97-AF65-F5344CB8AC3E}">
        <p14:creationId xmlns:p14="http://schemas.microsoft.com/office/powerpoint/2010/main" val="240973936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48776" y="196981"/>
            <a:ext cx="7707862" cy="488024"/>
          </a:xfrm>
        </p:spPr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Creating a Text File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7"/>
          <a:stretch/>
        </p:blipFill>
        <p:spPr bwMode="auto">
          <a:xfrm>
            <a:off x="680719" y="933556"/>
            <a:ext cx="3899183" cy="2585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131"/>
          <a:stretch/>
        </p:blipFill>
        <p:spPr bwMode="auto">
          <a:xfrm>
            <a:off x="526061" y="3519314"/>
            <a:ext cx="4277361" cy="1624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880" y="1011473"/>
            <a:ext cx="4814571" cy="78060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903549" y="795385"/>
            <a:ext cx="1074381" cy="830997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  <a:ea typeface="+mn-ea"/>
              </a:rPr>
              <a:t>Sample </a:t>
            </a:r>
            <a:br>
              <a:rPr lang="en-US" sz="1600" dirty="0">
                <a:latin typeface="+mn-lt"/>
                <a:ea typeface="+mn-ea"/>
              </a:rPr>
            </a:br>
            <a:r>
              <a:rPr lang="en-US" sz="1600" dirty="0">
                <a:latin typeface="+mn-lt"/>
                <a:ea typeface="+mn-ea"/>
              </a:rPr>
              <a:t>screen output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023" y="1981835"/>
            <a:ext cx="4282976" cy="66645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369372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Creating a Text File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When creating a file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Inform the user of ongoing I/O events, program should not be "silent"</a:t>
            </a:r>
          </a:p>
          <a:p>
            <a:pPr eaLnBrk="1" hangingPunct="1"/>
            <a:r>
              <a:rPr lang="en-US" dirty="0">
                <a:latin typeface="Calibri" charset="0"/>
              </a:rPr>
              <a:t>A file has two names in the program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File name used by the operating system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The stream name variable</a:t>
            </a:r>
          </a:p>
          <a:p>
            <a:pPr eaLnBrk="1" hangingPunct="1"/>
            <a:r>
              <a:rPr lang="en-US" dirty="0">
                <a:latin typeface="Calibri" charset="0"/>
              </a:rPr>
              <a:t>Opening, writing to file overwrites pre-existing file in directory</a:t>
            </a:r>
          </a:p>
        </p:txBody>
      </p:sp>
    </p:spTree>
    <p:extLst>
      <p:ext uri="{BB962C8B-B14F-4D97-AF65-F5344CB8AC3E}">
        <p14:creationId xmlns:p14="http://schemas.microsoft.com/office/powerpoint/2010/main" val="131283463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Appending to a Text File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200151"/>
            <a:ext cx="7707862" cy="339447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Opening a file new begins with an empty file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If already exists, will be overwritten</a:t>
            </a:r>
          </a:p>
          <a:p>
            <a:pPr eaLnBrk="1" hangingPunct="1"/>
            <a:r>
              <a:rPr lang="en-US" dirty="0">
                <a:latin typeface="Calibri" charset="0"/>
              </a:rPr>
              <a:t>Some situations require appending data to existing file</a:t>
            </a:r>
          </a:p>
          <a:p>
            <a:pPr eaLnBrk="1" hangingPunct="1"/>
            <a:r>
              <a:rPr lang="en-US" dirty="0">
                <a:latin typeface="Calibri" charset="0"/>
              </a:rPr>
              <a:t>Command could be</a:t>
            </a:r>
            <a:br>
              <a:rPr lang="en-US" dirty="0">
                <a:latin typeface="Calibri" charset="0"/>
              </a:rPr>
            </a:b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outputStream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 = </a:t>
            </a:r>
            <a:b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</a:b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   new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PrintWriter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(</a:t>
            </a:r>
            <a:b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</a:b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   new </a:t>
            </a:r>
            <a:r>
              <a:rPr lang="en-US" b="1" dirty="0" err="1" smtClean="0">
                <a:solidFill>
                  <a:srgbClr val="0033CC"/>
                </a:solidFill>
                <a:latin typeface="Courier New" charset="0"/>
                <a:cs typeface="Courier New" charset="0"/>
              </a:rPr>
              <a:t>FileOutputStream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(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fileName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, true));</a:t>
            </a:r>
          </a:p>
          <a:p>
            <a:pPr eaLnBrk="1" hangingPunct="1"/>
            <a:r>
              <a:rPr lang="en-US" dirty="0">
                <a:latin typeface="Calibri" charset="0"/>
              </a:rPr>
              <a:t>Method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println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 </a:t>
            </a:r>
            <a:r>
              <a:rPr lang="en-US" dirty="0">
                <a:latin typeface="Calibri" charset="0"/>
              </a:rPr>
              <a:t>would append data at end</a:t>
            </a:r>
          </a:p>
        </p:txBody>
      </p:sp>
    </p:spTree>
    <p:extLst>
      <p:ext uri="{BB962C8B-B14F-4D97-AF65-F5344CB8AC3E}">
        <p14:creationId xmlns:p14="http://schemas.microsoft.com/office/powerpoint/2010/main" val="144385819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Reading from a Text File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4294967295"/>
          </p:nvPr>
        </p:nvSpPr>
        <p:spPr>
          <a:xfrm>
            <a:off x="5099368" y="908524"/>
            <a:ext cx="3557270" cy="238760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Reads </a:t>
            </a:r>
            <a:r>
              <a:rPr lang="en-US" dirty="0">
                <a:latin typeface="Calibri" charset="0"/>
              </a:rPr>
              <a:t>text from file, displays on screen</a:t>
            </a:r>
          </a:p>
          <a:p>
            <a:pPr lvl="1" eaLnBrk="1" hangingPunct="1"/>
            <a:r>
              <a:rPr lang="en-US" dirty="0" smtClean="0">
                <a:latin typeface="Calibri" charset="0"/>
              </a:rPr>
              <a:t>Statement </a:t>
            </a:r>
            <a:r>
              <a:rPr lang="en-US" dirty="0">
                <a:latin typeface="Calibri" charset="0"/>
              </a:rPr>
              <a:t>which opens the file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Use of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Scanner</a:t>
            </a:r>
            <a:r>
              <a:rPr lang="en-US" dirty="0">
                <a:latin typeface="Calibri" charset="0"/>
              </a:rPr>
              <a:t> object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Boolean statement which reads the file and terminates reading loop 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3"/>
          <a:stretch/>
        </p:blipFill>
        <p:spPr bwMode="auto">
          <a:xfrm>
            <a:off x="670561" y="908524"/>
            <a:ext cx="4348479" cy="4160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004" y="3764836"/>
            <a:ext cx="3772467" cy="11133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7904479" y="3552943"/>
            <a:ext cx="970143" cy="830997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1600" dirty="0">
                <a:latin typeface="+mn-lt"/>
                <a:ea typeface="+mn-ea"/>
              </a:rPr>
              <a:t>Sample </a:t>
            </a:r>
            <a:br>
              <a:rPr lang="en-US" sz="1600" dirty="0">
                <a:latin typeface="+mn-lt"/>
                <a:ea typeface="+mn-ea"/>
              </a:rPr>
            </a:br>
            <a:r>
              <a:rPr lang="en-US" sz="1600" dirty="0">
                <a:latin typeface="+mn-lt"/>
                <a:ea typeface="+mn-ea"/>
              </a:rPr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75954203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Reading from a Text File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38238"/>
            <a:ext cx="7738024" cy="345638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Additional </a:t>
            </a:r>
            <a:r>
              <a:rPr lang="en-US" dirty="0">
                <a:latin typeface="Calibri" charset="0"/>
              </a:rPr>
              <a:t>methods in class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Scanner</a:t>
            </a:r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8203" y="1930004"/>
            <a:ext cx="5275262" cy="270629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36465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Techniques for Any File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4294967295"/>
          </p:nvPr>
        </p:nvSpPr>
        <p:spPr>
          <a:xfrm>
            <a:off x="874714" y="1200151"/>
            <a:ext cx="7812087" cy="339447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The Class </a:t>
            </a:r>
            <a:r>
              <a:rPr lang="en-US" b="1">
                <a:solidFill>
                  <a:srgbClr val="0033CC"/>
                </a:solidFill>
                <a:latin typeface="Courier New" charset="0"/>
                <a:cs typeface="Courier New" charset="0"/>
              </a:rPr>
              <a:t>File</a:t>
            </a:r>
          </a:p>
          <a:p>
            <a:pPr eaLnBrk="1" hangingPunct="1"/>
            <a:r>
              <a:rPr lang="en-US">
                <a:latin typeface="Calibri" charset="0"/>
              </a:rPr>
              <a:t>Programming Example: Reading a File Name from the Keyboard</a:t>
            </a:r>
          </a:p>
          <a:p>
            <a:pPr eaLnBrk="1" hangingPunct="1"/>
            <a:r>
              <a:rPr lang="en-US">
                <a:latin typeface="Calibri" charset="0"/>
              </a:rPr>
              <a:t>Using Path Names</a:t>
            </a:r>
          </a:p>
          <a:p>
            <a:pPr eaLnBrk="1" hangingPunct="1"/>
            <a:r>
              <a:rPr lang="en-US">
                <a:latin typeface="Calibri" charset="0"/>
              </a:rPr>
              <a:t>Methods of the Class </a:t>
            </a:r>
            <a:r>
              <a:rPr lang="en-US" b="1">
                <a:solidFill>
                  <a:srgbClr val="0033CC"/>
                </a:solidFill>
                <a:latin typeface="Courier New" charset="0"/>
                <a:cs typeface="Courier New" charset="0"/>
              </a:rPr>
              <a:t>File</a:t>
            </a:r>
          </a:p>
          <a:p>
            <a:pPr eaLnBrk="1" hangingPunct="1"/>
            <a:r>
              <a:rPr lang="en-US">
                <a:latin typeface="Calibri" charset="0"/>
              </a:rPr>
              <a:t>Defining a Method to Open a Stream</a:t>
            </a:r>
          </a:p>
        </p:txBody>
      </p:sp>
    </p:spTree>
    <p:extLst>
      <p:ext uri="{BB962C8B-B14F-4D97-AF65-F5344CB8AC3E}">
        <p14:creationId xmlns:p14="http://schemas.microsoft.com/office/powerpoint/2010/main" val="1744683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The Class </a:t>
            </a:r>
            <a:r>
              <a:rPr lang="en-US" b="1">
                <a:solidFill>
                  <a:srgbClr val="0033CC"/>
                </a:solidFill>
                <a:latin typeface="Courier New" charset="0"/>
                <a:cs typeface="Courier New" charset="0"/>
              </a:rPr>
              <a:t>File</a:t>
            </a:r>
            <a:endParaRPr lang="en-US">
              <a:latin typeface="Calibri Light" charset="0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>
                <a:latin typeface="Calibri" charset="0"/>
              </a:rPr>
              <a:t>Class provides a way to represent file names in a general way</a:t>
            </a:r>
          </a:p>
          <a:p>
            <a:pPr lvl="1" eaLnBrk="1" hangingPunct="1"/>
            <a:r>
              <a:rPr lang="en-US">
                <a:latin typeface="Calibri" charset="0"/>
              </a:rPr>
              <a:t>A </a:t>
            </a:r>
            <a:r>
              <a:rPr lang="en-US" b="1">
                <a:solidFill>
                  <a:srgbClr val="0033CC"/>
                </a:solidFill>
                <a:latin typeface="Courier New" charset="0"/>
                <a:cs typeface="Courier New" charset="0"/>
              </a:rPr>
              <a:t>File</a:t>
            </a:r>
            <a:r>
              <a:rPr lang="en-US">
                <a:latin typeface="Calibri" charset="0"/>
              </a:rPr>
              <a:t> object represents the name of a file</a:t>
            </a:r>
          </a:p>
          <a:p>
            <a:pPr eaLnBrk="1" hangingPunct="1"/>
            <a:r>
              <a:rPr lang="en-US">
                <a:latin typeface="Calibri" charset="0"/>
              </a:rPr>
              <a:t>The object</a:t>
            </a:r>
            <a:br>
              <a:rPr lang="en-US">
                <a:latin typeface="Calibri" charset="0"/>
              </a:rPr>
            </a:br>
            <a:r>
              <a:rPr lang="en-US">
                <a:latin typeface="Calibri" charset="0"/>
              </a:rPr>
              <a:t>    </a:t>
            </a:r>
            <a:r>
              <a:rPr lang="en-US" b="1">
                <a:solidFill>
                  <a:srgbClr val="0033CC"/>
                </a:solidFill>
                <a:latin typeface="Courier New" charset="0"/>
                <a:cs typeface="Courier New" charset="0"/>
              </a:rPr>
              <a:t>new File ("treasure.txt")</a:t>
            </a:r>
            <a:r>
              <a:rPr lang="en-US">
                <a:latin typeface="Calibri" charset="0"/>
              </a:rPr>
              <a:t/>
            </a:r>
            <a:br>
              <a:rPr lang="en-US">
                <a:latin typeface="Calibri" charset="0"/>
              </a:rPr>
            </a:br>
            <a:r>
              <a:rPr lang="en-US">
                <a:latin typeface="Calibri" charset="0"/>
              </a:rPr>
              <a:t>is not simply a string</a:t>
            </a:r>
          </a:p>
          <a:p>
            <a:pPr lvl="1" eaLnBrk="1" hangingPunct="1"/>
            <a:r>
              <a:rPr lang="en-US">
                <a:latin typeface="Calibri" charset="0"/>
              </a:rPr>
              <a:t>It is an object that </a:t>
            </a:r>
            <a:r>
              <a:rPr lang="en-US" i="1">
                <a:latin typeface="Calibri" charset="0"/>
              </a:rPr>
              <a:t>knows</a:t>
            </a:r>
            <a:r>
              <a:rPr lang="en-US">
                <a:latin typeface="Calibri" charset="0"/>
              </a:rPr>
              <a:t> it is supposed to name a file</a:t>
            </a:r>
            <a:br>
              <a:rPr lang="en-US">
                <a:latin typeface="Calibri" charset="0"/>
              </a:rPr>
            </a:br>
            <a:endParaRPr lang="en-US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8676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Programming Example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518" y="2373842"/>
            <a:ext cx="3500120" cy="111718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7782878" y="1771121"/>
            <a:ext cx="1093470" cy="923330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ea typeface="+mn-ea"/>
              </a:rPr>
              <a:t>Sample </a:t>
            </a:r>
            <a:br>
              <a:rPr lang="en-US" dirty="0">
                <a:latin typeface="+mn-lt"/>
                <a:ea typeface="+mn-ea"/>
              </a:rPr>
            </a:br>
            <a:r>
              <a:rPr lang="en-US" dirty="0">
                <a:latin typeface="+mn-lt"/>
                <a:ea typeface="+mn-ea"/>
              </a:rPr>
              <a:t>screen output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9"/>
          <a:stretch/>
        </p:blipFill>
        <p:spPr bwMode="auto">
          <a:xfrm>
            <a:off x="948776" y="871220"/>
            <a:ext cx="3914518" cy="425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99635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Using Path Names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Files opened in our examples assumed to be in same folder as where program run</a:t>
            </a:r>
          </a:p>
          <a:p>
            <a:pPr eaLnBrk="1" hangingPunct="1"/>
            <a:r>
              <a:rPr lang="en-US" dirty="0">
                <a:latin typeface="Calibri" charset="0"/>
              </a:rPr>
              <a:t>Possible to specify path names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Full path name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Relative path name</a:t>
            </a:r>
          </a:p>
          <a:p>
            <a:pPr eaLnBrk="1" hangingPunct="1"/>
            <a:r>
              <a:rPr lang="en-US" dirty="0">
                <a:latin typeface="Calibri" charset="0"/>
              </a:rPr>
              <a:t>Be aware of differences of pathname styles in different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328073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Methods of the Class File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Recall that a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File</a:t>
            </a:r>
            <a:r>
              <a:rPr lang="en-US" dirty="0">
                <a:latin typeface="Calibri" charset="0"/>
              </a:rPr>
              <a:t> object is a system-independent abstraction of file's path name</a:t>
            </a:r>
          </a:p>
          <a:p>
            <a:pPr eaLnBrk="1" hangingPunct="1"/>
            <a:r>
              <a:rPr lang="en-US" dirty="0">
                <a:latin typeface="Calibri" charset="0"/>
              </a:rPr>
              <a:t>Class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File</a:t>
            </a:r>
            <a:r>
              <a:rPr lang="en-US" dirty="0">
                <a:latin typeface="Calibri" charset="0"/>
              </a:rPr>
              <a:t> has methods to access information about a path and the files in it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Whether the file exists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Whether it is specified as readable or not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02662623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Methods of the Class File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4294967295"/>
          </p:nvPr>
        </p:nvSpPr>
        <p:spPr>
          <a:xfrm>
            <a:off x="1573848" y="1196499"/>
            <a:ext cx="708279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Some </a:t>
            </a:r>
            <a:r>
              <a:rPr lang="en-US" dirty="0">
                <a:latin typeface="Calibri" charset="0"/>
              </a:rPr>
              <a:t>methods in class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File</a:t>
            </a:r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7583" y="1550115"/>
            <a:ext cx="6200775" cy="3007519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092101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Defining a Method to Open a Stream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Method will have a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String</a:t>
            </a:r>
            <a:r>
              <a:rPr lang="en-US" dirty="0">
                <a:latin typeface="Calibri" charset="0"/>
              </a:rPr>
              <a:t> parameter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The file name</a:t>
            </a:r>
          </a:p>
          <a:p>
            <a:pPr eaLnBrk="1" hangingPunct="1"/>
            <a:r>
              <a:rPr lang="en-US" dirty="0">
                <a:latin typeface="Calibri" charset="0"/>
              </a:rPr>
              <a:t>Method will return the stream object</a:t>
            </a:r>
          </a:p>
          <a:p>
            <a:pPr eaLnBrk="1" hangingPunct="1"/>
            <a:r>
              <a:rPr lang="en-US" dirty="0">
                <a:latin typeface="Calibri" charset="0"/>
              </a:rPr>
              <a:t>Will throw exceptions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If file not found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If some other I/O problem arises</a:t>
            </a:r>
          </a:p>
          <a:p>
            <a:pPr eaLnBrk="1" hangingPunct="1"/>
            <a:r>
              <a:rPr lang="en-US" dirty="0">
                <a:latin typeface="Calibri" charset="0"/>
              </a:rPr>
              <a:t>Should be invoked inside a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try</a:t>
            </a:r>
            <a:r>
              <a:rPr lang="en-US" dirty="0">
                <a:latin typeface="Calibri" charset="0"/>
              </a:rPr>
              <a:t> block and have appropriate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catch</a:t>
            </a:r>
            <a:r>
              <a:rPr lang="en-US" dirty="0">
                <a:latin typeface="Calibri" charset="0"/>
              </a:rPr>
              <a:t> block</a:t>
            </a:r>
          </a:p>
        </p:txBody>
      </p:sp>
    </p:spTree>
    <p:extLst>
      <p:ext uri="{BB962C8B-B14F-4D97-AF65-F5344CB8AC3E}">
        <p14:creationId xmlns:p14="http://schemas.microsoft.com/office/powerpoint/2010/main" val="155175258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Defining a Method to Open a Stream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Example code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Example call</a:t>
            </a:r>
          </a:p>
        </p:txBody>
      </p:sp>
      <p:pic>
        <p:nvPicPr>
          <p:cNvPr id="2765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4" y="1721644"/>
            <a:ext cx="6296025" cy="10001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13" y="3340974"/>
            <a:ext cx="5124450" cy="1028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3705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924560" y="392906"/>
            <a:ext cx="7743190" cy="8572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 smtClean="0">
                <a:ea typeface="+mj-ea"/>
              </a:rPr>
              <a:t>Case Study</a:t>
            </a:r>
            <a:br>
              <a:rPr lang="en-US" altLang="en-US" dirty="0" smtClean="0">
                <a:ea typeface="+mj-ea"/>
              </a:rPr>
            </a:br>
            <a:r>
              <a:rPr lang="en-US" altLang="en-US" dirty="0" smtClean="0">
                <a:ea typeface="+mj-ea"/>
              </a:rPr>
              <a:t>Processing a Comma-Separated Values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24560" y="1482329"/>
            <a:ext cx="7762240" cy="2987278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Calibri" charset="0"/>
              </a:rPr>
              <a:t>A comma-separated values or CSV file is a simple text format used to store a list of records</a:t>
            </a:r>
          </a:p>
          <a:p>
            <a:pPr eaLnBrk="1" hangingPunct="1"/>
            <a:r>
              <a:rPr lang="en-US" dirty="0">
                <a:latin typeface="Calibri" charset="0"/>
              </a:rPr>
              <a:t>Example from log of a cash register</a:t>
            </a:r>
            <a:r>
              <a:rPr lang="ja-JP" altLang="en-US" dirty="0">
                <a:latin typeface="Calibri" charset="0"/>
              </a:rPr>
              <a:t>’</a:t>
            </a:r>
            <a:r>
              <a:rPr lang="en-US" dirty="0">
                <a:latin typeface="Calibri" charset="0"/>
              </a:rPr>
              <a:t>s transactions for the day: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Courier New" charset="0"/>
                <a:cs typeface="Courier New" charset="0"/>
              </a:rPr>
              <a:t>	</a:t>
            </a:r>
            <a:r>
              <a:rPr lang="en-US" sz="2000" dirty="0" err="1">
                <a:latin typeface="Courier New" charset="0"/>
                <a:cs typeface="Courier New" charset="0"/>
              </a:rPr>
              <a:t>SKU,Quantity,Price,Description</a:t>
            </a:r>
            <a:endParaRPr lang="en-US" sz="2000" dirty="0">
              <a:latin typeface="Courier New" charset="0"/>
              <a:cs typeface="Courier New" charset="0"/>
            </a:endParaRPr>
          </a:p>
          <a:p>
            <a:pPr eaLnBrk="1" hangingPunct="1">
              <a:buFontTx/>
              <a:buNone/>
            </a:pPr>
            <a:r>
              <a:rPr lang="en-US" sz="2000" dirty="0">
                <a:latin typeface="Courier New" charset="0"/>
                <a:cs typeface="Courier New" charset="0"/>
              </a:rPr>
              <a:t>	4039,50,0.99,SODA</a:t>
            </a:r>
            <a:br>
              <a:rPr lang="en-US" sz="2000" dirty="0">
                <a:latin typeface="Courier New" charset="0"/>
                <a:cs typeface="Courier New" charset="0"/>
              </a:rPr>
            </a:br>
            <a:r>
              <a:rPr lang="en-US" sz="2000" dirty="0" smtClean="0">
                <a:latin typeface="Courier New" charset="0"/>
                <a:cs typeface="Courier New" charset="0"/>
              </a:rPr>
              <a:t>9100,5,9.50</a:t>
            </a:r>
            <a:r>
              <a:rPr lang="en-US" sz="2000" dirty="0">
                <a:latin typeface="Courier New" charset="0"/>
                <a:cs typeface="Courier New" charset="0"/>
              </a:rPr>
              <a:t>,T-SHIRT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Courier New" charset="0"/>
                <a:cs typeface="Courier New" charset="0"/>
              </a:rPr>
              <a:t>	1949,30,110.00,JAVA PROGRAMMING TEXTBOOK</a:t>
            </a:r>
          </a:p>
          <a:p>
            <a:pPr eaLnBrk="1" hangingPunct="1">
              <a:buFontTx/>
              <a:buNone/>
            </a:pPr>
            <a:r>
              <a:rPr lang="en-US" sz="2000" dirty="0">
                <a:latin typeface="Courier New" charset="0"/>
                <a:cs typeface="Courier New" charset="0"/>
              </a:rPr>
              <a:t>	5199,25,1.50,COOKIE</a:t>
            </a:r>
            <a:endParaRPr lang="en-US" dirty="0">
              <a:latin typeface="Courier New" charset="0"/>
              <a:cs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19310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Example Processing a CSV File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4" r="10765"/>
          <a:stretch/>
        </p:blipFill>
        <p:spPr bwMode="auto">
          <a:xfrm>
            <a:off x="494971" y="1270316"/>
            <a:ext cx="4239045" cy="3189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016" y="847565"/>
            <a:ext cx="4332514" cy="4043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4734016" y="944880"/>
            <a:ext cx="0" cy="39463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65291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Example Processing a CSV File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4294967295"/>
          </p:nvPr>
        </p:nvSpPr>
        <p:spPr>
          <a:xfrm>
            <a:off x="873760" y="1369219"/>
            <a:ext cx="764159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0033CC"/>
                </a:solidFill>
                <a:latin typeface="Courier New" charset="0"/>
                <a:cs typeface="Courier New" charset="0"/>
              </a:rPr>
              <a:t>class</a:t>
            </a:r>
            <a:r>
              <a:rPr lang="en-US" dirty="0" smtClean="0">
                <a:latin typeface="Calibri" charset="0"/>
              </a:rPr>
              <a:t>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TransactionReader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Uses the split method which puts strings separated by a delimiter into an array</a:t>
            </a:r>
          </a:p>
        </p:txBody>
      </p:sp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1" y="2978944"/>
            <a:ext cx="7254875" cy="13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95969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Basic Binary-File I/O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Creating a Binary File</a:t>
            </a:r>
          </a:p>
          <a:p>
            <a:pPr eaLnBrk="1" hangingPunct="1"/>
            <a:r>
              <a:rPr lang="en-US" dirty="0">
                <a:latin typeface="Calibri" charset="0"/>
              </a:rPr>
              <a:t>Writing Primitive Values to a Binary File</a:t>
            </a:r>
          </a:p>
          <a:p>
            <a:pPr eaLnBrk="1" hangingPunct="1"/>
            <a:r>
              <a:rPr lang="en-US" dirty="0">
                <a:latin typeface="Calibri" charset="0"/>
              </a:rPr>
              <a:t>Writing Strings to a Binary File</a:t>
            </a:r>
          </a:p>
          <a:p>
            <a:pPr eaLnBrk="1" hangingPunct="1"/>
            <a:r>
              <a:rPr lang="en-US" dirty="0">
                <a:latin typeface="Calibri" charset="0"/>
              </a:rPr>
              <a:t>The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EOFException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Programming Example: Processing a File of Binary Data</a:t>
            </a:r>
          </a:p>
        </p:txBody>
      </p:sp>
    </p:spTree>
    <p:extLst>
      <p:ext uri="{BB962C8B-B14F-4D97-AF65-F5344CB8AC3E}">
        <p14:creationId xmlns:p14="http://schemas.microsoft.com/office/powerpoint/2010/main" val="151996711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Creating a Binary File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4294967295"/>
          </p:nvPr>
        </p:nvSpPr>
        <p:spPr>
          <a:xfrm>
            <a:off x="948776" y="865505"/>
            <a:ext cx="7707862" cy="1043146"/>
          </a:xfrm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pPr eaLnBrk="1" hangingPunct="1"/>
            <a:r>
              <a:rPr lang="en-US" dirty="0">
                <a:latin typeface="Calibri" charset="0"/>
              </a:rPr>
              <a:t>Stream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ObjectOutputStream</a:t>
            </a:r>
            <a:r>
              <a:rPr lang="en-US" dirty="0">
                <a:latin typeface="Calibri" charset="0"/>
              </a:rPr>
              <a:t> allows files which can store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Values of primitive types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Strings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Other objects</a:t>
            </a:r>
          </a:p>
          <a:p>
            <a:pPr eaLnBrk="1" hangingPunct="1"/>
            <a:r>
              <a:rPr lang="en-US" dirty="0">
                <a:latin typeface="Calibri" charset="0"/>
              </a:rPr>
              <a:t>View </a:t>
            </a:r>
            <a:r>
              <a:rPr lang="en-US" dirty="0">
                <a:latin typeface="Calibri" charset="0"/>
                <a:hlinkClick r:id="rId2" action="ppaction://hlinkfile"/>
              </a:rPr>
              <a:t>program which writes </a:t>
            </a:r>
            <a:r>
              <a:rPr lang="en-US" dirty="0" smtClean="0">
                <a:latin typeface="Calibri" charset="0"/>
                <a:hlinkClick r:id="rId2" action="ppaction://hlinkfile"/>
              </a:rPr>
              <a:t>integers</a:t>
            </a:r>
            <a:r>
              <a:rPr lang="en-US" dirty="0" smtClean="0">
                <a:latin typeface="Calibri" charset="0"/>
              </a:rPr>
              <a:t> </a:t>
            </a:r>
            <a:r>
              <a:rPr lang="en-US" dirty="0">
                <a:latin typeface="Calibri" charset="0"/>
              </a:rPr>
              <a:t/>
            </a:r>
            <a:br>
              <a:rPr lang="en-US" dirty="0">
                <a:latin typeface="Calibri" charset="0"/>
              </a:rPr>
            </a:b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1" t="11944" r="3527"/>
          <a:stretch/>
        </p:blipFill>
        <p:spPr bwMode="auto">
          <a:xfrm>
            <a:off x="562895" y="1939130"/>
            <a:ext cx="4211138" cy="2985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320" y="1868010"/>
            <a:ext cx="4200354" cy="321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/>
          <p:nvPr/>
        </p:nvCxnSpPr>
        <p:spPr>
          <a:xfrm flipH="1">
            <a:off x="4814673" y="1908651"/>
            <a:ext cx="28674" cy="31002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68898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Creating a Binary File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Note the line to open the file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Constructor for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ObjectOutputStream</a:t>
            </a:r>
            <a:r>
              <a:rPr lang="en-US" dirty="0">
                <a:latin typeface="Calibri" charset="0"/>
              </a:rPr>
              <a:t> cannot take a 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String</a:t>
            </a:r>
            <a:r>
              <a:rPr lang="en-US" dirty="0">
                <a:latin typeface="Calibri" charset="0"/>
              </a:rPr>
              <a:t> parameter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Constructor for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FileOutputSream</a:t>
            </a:r>
            <a:r>
              <a:rPr lang="en-US" dirty="0">
                <a:latin typeface="Calibri" charset="0"/>
              </a:rPr>
              <a:t> can</a:t>
            </a:r>
          </a:p>
        </p:txBody>
      </p:sp>
      <p:pic>
        <p:nvPicPr>
          <p:cNvPr id="3277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64" y="1140619"/>
            <a:ext cx="6486525" cy="131445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719888" y="977504"/>
            <a:ext cx="1524000" cy="1015663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  <a:ea typeface="+mn-ea"/>
              </a:rPr>
              <a:t>Sample </a:t>
            </a:r>
            <a:br>
              <a:rPr lang="en-US" sz="2000" dirty="0">
                <a:latin typeface="+mn-lt"/>
                <a:ea typeface="+mn-ea"/>
              </a:rPr>
            </a:br>
            <a:r>
              <a:rPr lang="en-US" sz="2000" dirty="0">
                <a:latin typeface="+mn-lt"/>
                <a:ea typeface="+mn-ea"/>
              </a:rPr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416831253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914400" y="205979"/>
            <a:ext cx="8229600" cy="857250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Writing Primitive Values to a Binary File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4294967295"/>
          </p:nvPr>
        </p:nvSpPr>
        <p:spPr>
          <a:xfrm>
            <a:off x="914400" y="1369219"/>
            <a:ext cx="7600950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Method </a:t>
            </a:r>
            <a:r>
              <a:rPr lang="en-US" dirty="0" err="1">
                <a:latin typeface="Calibri" charset="0"/>
              </a:rPr>
              <a:t>println</a:t>
            </a:r>
            <a:r>
              <a:rPr lang="en-US" dirty="0">
                <a:latin typeface="Calibri" charset="0"/>
              </a:rPr>
              <a:t> not available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Instead use </a:t>
            </a:r>
            <a:r>
              <a:rPr lang="en-US" dirty="0" err="1">
                <a:latin typeface="Calibri" charset="0"/>
              </a:rPr>
              <a:t>writeInt</a:t>
            </a:r>
            <a:r>
              <a:rPr lang="en-US" dirty="0">
                <a:latin typeface="Calibri" charset="0"/>
              </a:rPr>
              <a:t> method</a:t>
            </a:r>
          </a:p>
          <a:p>
            <a:pPr eaLnBrk="1" hangingPunct="1"/>
            <a:endParaRPr lang="en-US" dirty="0" smtClean="0">
              <a:latin typeface="Calibri" charset="0"/>
            </a:endParaRPr>
          </a:p>
          <a:p>
            <a:pPr eaLnBrk="1" hangingPunct="1"/>
            <a:r>
              <a:rPr lang="en-US" dirty="0" smtClean="0">
                <a:latin typeface="Calibri" charset="0"/>
              </a:rPr>
              <a:t>Binary </a:t>
            </a:r>
            <a:r>
              <a:rPr lang="en-US" dirty="0">
                <a:latin typeface="Calibri" charset="0"/>
              </a:rPr>
              <a:t>file stores numbers in binary form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A sequence of bytes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One </a:t>
            </a:r>
            <a:br>
              <a:rPr lang="en-US" dirty="0">
                <a:latin typeface="Calibri" charset="0"/>
              </a:rPr>
            </a:br>
            <a:r>
              <a:rPr lang="en-US" dirty="0">
                <a:latin typeface="Calibri" charset="0"/>
              </a:rPr>
              <a:t>immediately </a:t>
            </a:r>
            <a:br>
              <a:rPr lang="en-US" dirty="0">
                <a:latin typeface="Calibri" charset="0"/>
              </a:rPr>
            </a:br>
            <a:r>
              <a:rPr lang="en-US" dirty="0">
                <a:latin typeface="Calibri" charset="0"/>
              </a:rPr>
              <a:t>after another</a:t>
            </a:r>
          </a:p>
        </p:txBody>
      </p:sp>
      <p:pic>
        <p:nvPicPr>
          <p:cNvPr id="337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110" y="3286125"/>
            <a:ext cx="5500688" cy="13894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20227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1056639" y="367544"/>
            <a:ext cx="7863523" cy="463789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Writing Primitive Values to a Binary File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4294967295"/>
          </p:nvPr>
        </p:nvSpPr>
        <p:spPr>
          <a:xfrm>
            <a:off x="1056638" y="1369219"/>
            <a:ext cx="7458711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Some </a:t>
            </a:r>
            <a:r>
              <a:rPr lang="en-US" dirty="0">
                <a:latin typeface="Calibri" charset="0"/>
              </a:rPr>
              <a:t>methods in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ObjectOutputStream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</p:txBody>
      </p:sp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3739" y="1945799"/>
            <a:ext cx="5667375" cy="2772966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98155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975359" y="205979"/>
            <a:ext cx="7944803" cy="566181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Writing Primitive Values to a Binary File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4294967295"/>
          </p:nvPr>
        </p:nvSpPr>
        <p:spPr>
          <a:xfrm>
            <a:off x="975358" y="1369219"/>
            <a:ext cx="7539991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Some </a:t>
            </a:r>
            <a:r>
              <a:rPr lang="en-US" dirty="0">
                <a:latin typeface="Calibri" charset="0"/>
              </a:rPr>
              <a:t>methods in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ObjectOutputStream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</p:txBody>
      </p:sp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9588" y="1955006"/>
            <a:ext cx="6051550" cy="284321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76996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1026159" y="205979"/>
            <a:ext cx="7894003" cy="616981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Writing Primitive Values to a Binary File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4294967295"/>
          </p:nvPr>
        </p:nvSpPr>
        <p:spPr>
          <a:xfrm>
            <a:off x="1026158" y="1369219"/>
            <a:ext cx="7489191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Some </a:t>
            </a:r>
            <a:r>
              <a:rPr lang="en-US" dirty="0">
                <a:latin typeface="Calibri" charset="0"/>
              </a:rPr>
              <a:t>methods in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ObjectOutputStream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</p:txBody>
      </p:sp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0780" y="2336006"/>
            <a:ext cx="7162800" cy="1768079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66218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Writing Strings to a Binary File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4294967295"/>
          </p:nvPr>
        </p:nvSpPr>
        <p:spPr>
          <a:xfrm>
            <a:off x="948775" y="1200151"/>
            <a:ext cx="7707863" cy="339447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Use method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writeUTF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Example </a:t>
            </a:r>
            <a:br>
              <a:rPr lang="en-US" dirty="0">
                <a:latin typeface="Calibri" charset="0"/>
              </a:rPr>
            </a:br>
            <a:r>
              <a:rPr lang="en-US" dirty="0">
                <a:latin typeface="Calibri" charset="0"/>
              </a:rPr>
              <a:t>  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outputStream.writeUTF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("Hi Mom");</a:t>
            </a:r>
          </a:p>
          <a:p>
            <a:pPr eaLnBrk="1" hangingPunct="1"/>
            <a:r>
              <a:rPr lang="en-US" dirty="0">
                <a:latin typeface="Calibri" charset="0"/>
              </a:rPr>
              <a:t>UTF stands for </a:t>
            </a:r>
            <a:r>
              <a:rPr lang="en-US" i="1" dirty="0">
                <a:latin typeface="Calibri" charset="0"/>
              </a:rPr>
              <a:t>Unicode Text Format</a:t>
            </a:r>
            <a:endParaRPr lang="en-US" dirty="0">
              <a:latin typeface="Calibri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Uses a varying number of bytes to store different strings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Depends on length of string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Contrast to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writeInt</a:t>
            </a:r>
            <a:r>
              <a:rPr lang="en-US" dirty="0">
                <a:latin typeface="Calibri" charset="0"/>
              </a:rPr>
              <a:t> which uses same for each</a:t>
            </a:r>
          </a:p>
        </p:txBody>
      </p:sp>
    </p:spTree>
    <p:extLst>
      <p:ext uri="{BB962C8B-B14F-4D97-AF65-F5344CB8AC3E}">
        <p14:creationId xmlns:p14="http://schemas.microsoft.com/office/powerpoint/2010/main" val="13944691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Reading from a Binary File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File must be opened as an</a:t>
            </a:r>
            <a:br>
              <a:rPr lang="en-US" dirty="0">
                <a:latin typeface="Calibri" charset="0"/>
              </a:rPr>
            </a:b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ObjectInputStream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Read from binary file using methods which correspond to write methods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Integer written with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writeInt</a:t>
            </a:r>
            <a:r>
              <a:rPr lang="en-US" dirty="0">
                <a:latin typeface="Calibri" charset="0"/>
              </a:rPr>
              <a:t> will be read with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readInt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Be careful to read same type as was written</a:t>
            </a:r>
          </a:p>
        </p:txBody>
      </p:sp>
    </p:spTree>
    <p:extLst>
      <p:ext uri="{BB962C8B-B14F-4D97-AF65-F5344CB8AC3E}">
        <p14:creationId xmlns:p14="http://schemas.microsoft.com/office/powerpoint/2010/main" val="151781370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Reading from a Binary File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Some </a:t>
            </a:r>
            <a:r>
              <a:rPr lang="en-US" dirty="0">
                <a:latin typeface="Calibri" charset="0"/>
              </a:rPr>
              <a:t>methods of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ObjectInputStream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</p:txBody>
      </p:sp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6414" y="2006203"/>
            <a:ext cx="5978525" cy="2756297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69134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Reading from a Binary File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Some </a:t>
            </a:r>
            <a:r>
              <a:rPr lang="en-US" dirty="0">
                <a:latin typeface="Calibri" charset="0"/>
              </a:rPr>
              <a:t>methods of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ObjectInputStream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7463" y="2027635"/>
            <a:ext cx="6978650" cy="2578894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19707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Reading from a Binary File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Some </a:t>
            </a:r>
            <a:r>
              <a:rPr lang="en-US" dirty="0">
                <a:latin typeface="Calibri" charset="0"/>
              </a:rPr>
              <a:t>methods of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ObjectInputStream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1060" y="2131219"/>
            <a:ext cx="7962900" cy="229076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268200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Reading from a Binary File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Some </a:t>
            </a:r>
            <a:r>
              <a:rPr lang="en-US" dirty="0">
                <a:latin typeface="Calibri" charset="0"/>
              </a:rPr>
              <a:t>methods of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ObjectInputStream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6651" y="2168128"/>
            <a:ext cx="7394575" cy="2213372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454183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Reading from a Binary File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104901"/>
            <a:ext cx="7738024" cy="348972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smtClean="0">
                <a:latin typeface="Calibri" charset="0"/>
              </a:rPr>
              <a:t>Some </a:t>
            </a:r>
            <a:r>
              <a:rPr lang="en-US" dirty="0">
                <a:latin typeface="Calibri" charset="0"/>
              </a:rPr>
              <a:t>methods of class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ObjectInputStream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1814" y="1960960"/>
            <a:ext cx="6059487" cy="2787253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091597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</a:rPr>
              <a:t>The Class </a:t>
            </a:r>
            <a:r>
              <a:rPr lang="en-US" b="1" dirty="0" err="1" smtClean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EOFException</a:t>
            </a:r>
            <a:endParaRPr lang="en-US" sz="3200" b="1" dirty="0" smtClean="0">
              <a:solidFill>
                <a:srgbClr val="0033CC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46083" name="Content Placeholder 2"/>
          <p:cNvSpPr>
            <a:spLocks noGrp="1"/>
          </p:cNvSpPr>
          <p:nvPr>
            <p:ph idx="4294967295"/>
          </p:nvPr>
        </p:nvSpPr>
        <p:spPr>
          <a:xfrm>
            <a:off x="948776" y="885824"/>
            <a:ext cx="7566574" cy="109966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Many methods that read from a binary file will throw an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EOFException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lvl="1" eaLnBrk="1" hangingPunct="1"/>
            <a:r>
              <a:rPr lang="en-US" dirty="0">
                <a:latin typeface="Calibri" charset="0"/>
              </a:rPr>
              <a:t>Can be used to test for end of file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Thus can end a reading </a:t>
            </a:r>
            <a:r>
              <a:rPr lang="en-US" dirty="0" smtClean="0">
                <a:latin typeface="Calibri" charset="0"/>
              </a:rPr>
              <a:t>loop</a:t>
            </a:r>
            <a:endParaRPr lang="en-US" dirty="0">
              <a:latin typeface="Calibri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20" y="2225040"/>
            <a:ext cx="3614684" cy="25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8" b="10830"/>
          <a:stretch/>
        </p:blipFill>
        <p:spPr bwMode="auto">
          <a:xfrm>
            <a:off x="4892031" y="2651760"/>
            <a:ext cx="3764607" cy="2006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4632960" y="2225040"/>
            <a:ext cx="0" cy="2621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9035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</a:rPr>
              <a:t>The Class </a:t>
            </a:r>
            <a:r>
              <a:rPr lang="en-US" b="1" dirty="0" err="1" smtClean="0">
                <a:solidFill>
                  <a:srgbClr val="0033CC"/>
                </a:solidFill>
                <a:latin typeface="Courier New" pitchFamily="49" charset="0"/>
                <a:ea typeface="+mn-ea"/>
                <a:cs typeface="Courier New" pitchFamily="49" charset="0"/>
              </a:rPr>
              <a:t>EOFException</a:t>
            </a:r>
            <a:endParaRPr lang="en-US" b="1" dirty="0" smtClean="0">
              <a:solidFill>
                <a:srgbClr val="0033CC"/>
              </a:solidFill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47107" name="Content Placeholder 5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Note the  -1  formerly needed as a sentinel value is now also read</a:t>
            </a: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 smtClean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/>
            <a:endParaRPr lang="en-US" dirty="0" smtClean="0">
              <a:latin typeface="Calibri" charset="0"/>
            </a:endParaRPr>
          </a:p>
          <a:p>
            <a:pPr eaLnBrk="1" hangingPunct="1"/>
            <a:r>
              <a:rPr lang="en-US" dirty="0" smtClean="0">
                <a:latin typeface="Calibri" charset="0"/>
              </a:rPr>
              <a:t>Always </a:t>
            </a:r>
            <a:r>
              <a:rPr lang="en-US" dirty="0">
                <a:latin typeface="Calibri" charset="0"/>
              </a:rPr>
              <a:t>a good idea to check for end of file even if you have a sentinel value</a:t>
            </a:r>
          </a:p>
        </p:txBody>
      </p:sp>
      <p:pic>
        <p:nvPicPr>
          <p:cNvPr id="4710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151" y="2009776"/>
            <a:ext cx="3876675" cy="1735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319713" y="2290763"/>
            <a:ext cx="1524000" cy="1015663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  <a:ea typeface="+mn-ea"/>
              </a:rPr>
              <a:t>Sample </a:t>
            </a:r>
            <a:br>
              <a:rPr lang="en-US" sz="2000" dirty="0">
                <a:latin typeface="+mn-lt"/>
                <a:ea typeface="+mn-ea"/>
              </a:rPr>
            </a:br>
            <a:r>
              <a:rPr lang="en-US" sz="2000" dirty="0">
                <a:latin typeface="+mn-lt"/>
                <a:ea typeface="+mn-ea"/>
              </a:rPr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423704871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955040" y="579119"/>
            <a:ext cx="7802880" cy="484109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Binary-File I/O, Objects &amp; Arrays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4294967295"/>
          </p:nvPr>
        </p:nvSpPr>
        <p:spPr>
          <a:xfrm>
            <a:off x="955040" y="1447644"/>
            <a:ext cx="7480300" cy="316468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sz="2000" dirty="0">
                <a:cs typeface="Arial"/>
              </a:rPr>
              <a:t>Binary-File I/O with Objects of a Class</a:t>
            </a:r>
          </a:p>
          <a:p>
            <a:pPr eaLnBrk="1" hangingPunct="1"/>
            <a:r>
              <a:rPr lang="en-US" sz="2000" dirty="0">
                <a:cs typeface="Arial"/>
              </a:rPr>
              <a:t>Some Details of Serialization</a:t>
            </a:r>
          </a:p>
          <a:p>
            <a:pPr eaLnBrk="1" hangingPunct="1"/>
            <a:r>
              <a:rPr lang="en-US" sz="2000" dirty="0">
                <a:cs typeface="Arial"/>
              </a:rPr>
              <a:t>Array Objects in Binary Files</a:t>
            </a:r>
          </a:p>
        </p:txBody>
      </p:sp>
    </p:spTree>
    <p:extLst>
      <p:ext uri="{BB962C8B-B14F-4D97-AF65-F5344CB8AC3E}">
        <p14:creationId xmlns:p14="http://schemas.microsoft.com/office/powerpoint/2010/main" val="248178637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985520" y="497839"/>
            <a:ext cx="7741920" cy="432039"/>
          </a:xfrm>
        </p:spPr>
        <p:txBody>
          <a:bodyPr/>
          <a:lstStyle/>
          <a:p>
            <a:pPr eaLnBrk="1" hangingPunct="1"/>
            <a:r>
              <a:rPr lang="en-US">
                <a:cs typeface="Arial"/>
              </a:rPr>
              <a:t>Binary-File I/O with Class Objects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4294967295"/>
          </p:nvPr>
        </p:nvSpPr>
        <p:spPr>
          <a:xfrm>
            <a:off x="985520" y="1148080"/>
            <a:ext cx="7925118" cy="3227468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Consider the need to write/read objects other than </a:t>
            </a:r>
            <a:r>
              <a:rPr lang="en-US" b="1" dirty="0">
                <a:solidFill>
                  <a:srgbClr val="0033CC"/>
                </a:solidFill>
                <a:cs typeface="Arial"/>
              </a:rPr>
              <a:t>Strings</a:t>
            </a:r>
          </a:p>
          <a:p>
            <a:pPr lvl="1" eaLnBrk="1" hangingPunct="1"/>
            <a:r>
              <a:rPr lang="en-US" dirty="0">
                <a:cs typeface="Arial"/>
              </a:rPr>
              <a:t>Possible to write the individual instance variable values</a:t>
            </a:r>
          </a:p>
          <a:p>
            <a:pPr lvl="1" eaLnBrk="1" hangingPunct="1"/>
            <a:r>
              <a:rPr lang="en-US" dirty="0">
                <a:cs typeface="Arial"/>
              </a:rPr>
              <a:t>Then reconstruct the object when file is read</a:t>
            </a:r>
          </a:p>
          <a:p>
            <a:pPr eaLnBrk="1" hangingPunct="1"/>
            <a:r>
              <a:rPr lang="en-US" dirty="0">
                <a:cs typeface="Arial"/>
              </a:rPr>
              <a:t>A better way is provided by Java</a:t>
            </a:r>
          </a:p>
          <a:p>
            <a:pPr lvl="1" eaLnBrk="1" hangingPunct="1"/>
            <a:r>
              <a:rPr lang="en-US" i="1" dirty="0">
                <a:cs typeface="Arial"/>
              </a:rPr>
              <a:t>Object serialization </a:t>
            </a:r>
            <a:r>
              <a:rPr lang="en-US" dirty="0">
                <a:cs typeface="Arial"/>
              </a:rPr>
              <a:t>– represent an object as a sequence of bytes to be written/read</a:t>
            </a:r>
          </a:p>
          <a:p>
            <a:pPr lvl="1" eaLnBrk="1" hangingPunct="1"/>
            <a:r>
              <a:rPr lang="en-US" dirty="0">
                <a:cs typeface="Arial"/>
              </a:rPr>
              <a:t>Possible for any class implementing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Serializable</a:t>
            </a:r>
            <a:endParaRPr lang="en-US" b="1" dirty="0">
              <a:solidFill>
                <a:srgbClr val="0033CC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88886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Binary-File I/O with Class Objects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cs typeface="Arial"/>
              </a:rPr>
              <a:t>Interface </a:t>
            </a:r>
            <a:r>
              <a:rPr lang="en-US" b="1" dirty="0" err="1">
                <a:solidFill>
                  <a:srgbClr val="0033CC"/>
                </a:solidFill>
                <a:cs typeface="Arial"/>
              </a:rPr>
              <a:t>Serializable</a:t>
            </a:r>
            <a:r>
              <a:rPr lang="en-US" dirty="0">
                <a:cs typeface="Arial"/>
              </a:rPr>
              <a:t> is an empty interface</a:t>
            </a:r>
          </a:p>
          <a:p>
            <a:pPr lvl="1" eaLnBrk="1" hangingPunct="1"/>
            <a:r>
              <a:rPr lang="en-US" dirty="0">
                <a:cs typeface="Arial"/>
              </a:rPr>
              <a:t>No need to implement additional methods</a:t>
            </a:r>
          </a:p>
          <a:p>
            <a:pPr lvl="1" eaLnBrk="1" hangingPunct="1"/>
            <a:r>
              <a:rPr lang="en-US" dirty="0">
                <a:cs typeface="Arial"/>
              </a:rPr>
              <a:t>Tells Java to make the class </a:t>
            </a:r>
            <a:r>
              <a:rPr lang="en-US" dirty="0" err="1">
                <a:cs typeface="Arial"/>
              </a:rPr>
              <a:t>serializable</a:t>
            </a:r>
            <a:r>
              <a:rPr lang="en-US" dirty="0">
                <a:cs typeface="Arial"/>
              </a:rPr>
              <a:t> (class objects convertible to sequence of bytes</a:t>
            </a:r>
            <a:r>
              <a:rPr lang="en-US" dirty="0" smtClean="0">
                <a:cs typeface="Arial"/>
              </a:rPr>
              <a:t>)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910266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Binary-File I/O with Class Objects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07" r="4125"/>
          <a:stretch/>
        </p:blipFill>
        <p:spPr bwMode="auto">
          <a:xfrm>
            <a:off x="511896" y="847565"/>
            <a:ext cx="4131224" cy="2547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31" b="3555"/>
          <a:stretch/>
        </p:blipFill>
        <p:spPr bwMode="auto">
          <a:xfrm>
            <a:off x="4719138" y="1737359"/>
            <a:ext cx="4313101" cy="3251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76336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Binary-File I/O with Class Objects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Once we have a class that is specified as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Serializable</a:t>
            </a:r>
            <a:r>
              <a:rPr lang="en-US" dirty="0">
                <a:latin typeface="Calibri" charset="0"/>
              </a:rPr>
              <a:t> we can write objects to a binary file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Use method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writeObject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Read objects with method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readObject</a:t>
            </a:r>
            <a:r>
              <a:rPr lang="en-US" b="1" dirty="0">
                <a:solidFill>
                  <a:srgbClr val="0033CC"/>
                </a:solidFill>
                <a:latin typeface="Courier New" charset="0"/>
                <a:cs typeface="Courier New" charset="0"/>
              </a:rPr>
              <a:t>();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Also required to use typecast of the </a:t>
            </a:r>
            <a:r>
              <a:rPr lang="en-US" dirty="0" smtClean="0">
                <a:latin typeface="Calibri" charset="0"/>
              </a:rPr>
              <a:t>object</a:t>
            </a:r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79503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Binary-File I/O with Class Objects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9" r="8912"/>
          <a:stretch/>
        </p:blipFill>
        <p:spPr bwMode="auto">
          <a:xfrm>
            <a:off x="948776" y="847565"/>
            <a:ext cx="4250683" cy="3988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034" y="847565"/>
            <a:ext cx="3189604" cy="2527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615" y="3322160"/>
            <a:ext cx="3457462" cy="1725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202006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Binary-File I/O with Class Objects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36" y="1123150"/>
            <a:ext cx="4292600" cy="3131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280" y="1123150"/>
            <a:ext cx="3916288" cy="1378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407" y="2502036"/>
            <a:ext cx="3889681" cy="745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316838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Some Details of Serialization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Requirements for a class to be </a:t>
            </a:r>
            <a:r>
              <a:rPr lang="en-US" dirty="0" err="1">
                <a:latin typeface="Calibri" charset="0"/>
              </a:rPr>
              <a:t>serializable</a:t>
            </a:r>
            <a:endParaRPr lang="en-US" dirty="0">
              <a:latin typeface="Calibri" charset="0"/>
            </a:endParaRPr>
          </a:p>
          <a:p>
            <a:pPr lvl="1" eaLnBrk="1" hangingPunct="1"/>
            <a:r>
              <a:rPr lang="en-US" dirty="0" err="1">
                <a:latin typeface="Calibri" charset="0"/>
              </a:rPr>
              <a:t>Implments</a:t>
            </a:r>
            <a:r>
              <a:rPr lang="en-US" dirty="0">
                <a:latin typeface="Calibri" charset="0"/>
              </a:rPr>
              <a:t> interface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Serializable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lvl="1" eaLnBrk="1" hangingPunct="1"/>
            <a:r>
              <a:rPr lang="en-US" dirty="0">
                <a:latin typeface="Calibri" charset="0"/>
              </a:rPr>
              <a:t>Any instance variables of a class type are also objects of a </a:t>
            </a:r>
            <a:r>
              <a:rPr lang="en-US" dirty="0" err="1">
                <a:latin typeface="Calibri" charset="0"/>
              </a:rPr>
              <a:t>serializable</a:t>
            </a:r>
            <a:r>
              <a:rPr lang="en-US" dirty="0">
                <a:latin typeface="Calibri" charset="0"/>
              </a:rPr>
              <a:t> class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Class's direct superclass (if any) is either </a:t>
            </a:r>
            <a:r>
              <a:rPr lang="en-US" dirty="0" err="1">
                <a:latin typeface="Calibri" charset="0"/>
              </a:rPr>
              <a:t>serializable</a:t>
            </a:r>
            <a:r>
              <a:rPr lang="en-US" dirty="0">
                <a:latin typeface="Calibri" charset="0"/>
              </a:rPr>
              <a:t> or defines a default constructor</a:t>
            </a:r>
          </a:p>
        </p:txBody>
      </p:sp>
    </p:spTree>
    <p:extLst>
      <p:ext uri="{BB962C8B-B14F-4D97-AF65-F5344CB8AC3E}">
        <p14:creationId xmlns:p14="http://schemas.microsoft.com/office/powerpoint/2010/main" val="362828166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Some Details of Serialization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4294967295"/>
          </p:nvPr>
        </p:nvSpPr>
        <p:spPr>
          <a:xfrm>
            <a:off x="948776" y="1369219"/>
            <a:ext cx="7566574" cy="326350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Effects of making a class </a:t>
            </a:r>
            <a:r>
              <a:rPr lang="en-US" dirty="0" err="1">
                <a:latin typeface="Calibri" charset="0"/>
              </a:rPr>
              <a:t>serializable</a:t>
            </a:r>
            <a:endParaRPr lang="en-US" dirty="0">
              <a:latin typeface="Calibri" charset="0"/>
            </a:endParaRPr>
          </a:p>
          <a:p>
            <a:pPr lvl="1" eaLnBrk="1" hangingPunct="1"/>
            <a:r>
              <a:rPr lang="en-US" dirty="0">
                <a:latin typeface="Calibri" charset="0"/>
              </a:rPr>
              <a:t>Affects how Java performs I/O with class objects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Java assigns a </a:t>
            </a:r>
            <a:r>
              <a:rPr lang="en-US" i="1" dirty="0">
                <a:latin typeface="Calibri" charset="0"/>
              </a:rPr>
              <a:t>serial number</a:t>
            </a:r>
            <a:r>
              <a:rPr lang="en-US" dirty="0">
                <a:latin typeface="Calibri" charset="0"/>
              </a:rPr>
              <a:t> to each object of the class it writes to the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ObjectOutputStream</a:t>
            </a:r>
            <a:endParaRPr lang="en-US" b="1" dirty="0">
              <a:solidFill>
                <a:srgbClr val="0033CC"/>
              </a:solidFill>
              <a:latin typeface="Courier New" charset="0"/>
              <a:cs typeface="Courier New" charset="0"/>
            </a:endParaRPr>
          </a:p>
          <a:p>
            <a:pPr lvl="1" eaLnBrk="1" hangingPunct="1"/>
            <a:r>
              <a:rPr lang="en-US" dirty="0">
                <a:latin typeface="Calibri" charset="0"/>
              </a:rPr>
              <a:t>If same object written to stream multiple times, only the serial number written after first time</a:t>
            </a:r>
          </a:p>
        </p:txBody>
      </p:sp>
    </p:spTree>
    <p:extLst>
      <p:ext uri="{BB962C8B-B14F-4D97-AF65-F5344CB8AC3E}">
        <p14:creationId xmlns:p14="http://schemas.microsoft.com/office/powerpoint/2010/main" val="13920133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948776" y="115529"/>
            <a:ext cx="7707862" cy="488024"/>
          </a:xfrm>
        </p:spPr>
        <p:txBody>
          <a:bodyPr/>
          <a:lstStyle/>
          <a:p>
            <a:pPr eaLnBrk="1" hangingPunct="1"/>
            <a:r>
              <a:rPr lang="en-US" dirty="0">
                <a:latin typeface="Calibri Light" charset="0"/>
              </a:rPr>
              <a:t>Array Objects in Binary Files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4294967295"/>
          </p:nvPr>
        </p:nvSpPr>
        <p:spPr>
          <a:xfrm>
            <a:off x="948776" y="739127"/>
            <a:ext cx="7566574" cy="71358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>
                <a:latin typeface="Calibri" charset="0"/>
              </a:rPr>
              <a:t>Since an array is an object, possible to use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writeObject</a:t>
            </a:r>
            <a:r>
              <a:rPr lang="en-US" dirty="0">
                <a:latin typeface="Calibri" charset="0"/>
              </a:rPr>
              <a:t> with entire array</a:t>
            </a:r>
          </a:p>
          <a:p>
            <a:pPr lvl="1" eaLnBrk="1" hangingPunct="1"/>
            <a:r>
              <a:rPr lang="en-US" dirty="0">
                <a:latin typeface="Calibri" charset="0"/>
              </a:rPr>
              <a:t>Similarly use </a:t>
            </a:r>
            <a:r>
              <a:rPr lang="en-US" b="1" dirty="0" err="1">
                <a:solidFill>
                  <a:srgbClr val="0033CC"/>
                </a:solidFill>
                <a:latin typeface="Courier New" charset="0"/>
                <a:cs typeface="Courier New" charset="0"/>
              </a:rPr>
              <a:t>readObject</a:t>
            </a:r>
            <a:r>
              <a:rPr lang="en-US" dirty="0">
                <a:latin typeface="Calibri" charset="0"/>
              </a:rPr>
              <a:t> to read entire array</a:t>
            </a:r>
          </a:p>
          <a:p>
            <a:pPr eaLnBrk="1" hangingPunct="1"/>
            <a:endParaRPr lang="en-US" dirty="0">
              <a:latin typeface="Calibri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0" r="8985"/>
          <a:stretch/>
        </p:blipFill>
        <p:spPr bwMode="auto">
          <a:xfrm>
            <a:off x="948776" y="1433357"/>
            <a:ext cx="3423920" cy="3679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807" y="1452708"/>
            <a:ext cx="4571596" cy="3314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6629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 Light" charset="0"/>
              </a:rPr>
              <a:t>Array Objects in Binary Files</a:t>
            </a:r>
          </a:p>
        </p:txBody>
      </p:sp>
      <p:pic>
        <p:nvPicPr>
          <p:cNvPr id="5734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9" y="1518126"/>
            <a:ext cx="6524625" cy="275748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837363" y="2951639"/>
            <a:ext cx="1524000" cy="1015663"/>
          </a:xfrm>
          <a:prstGeom prst="rect">
            <a:avLst/>
          </a:prstGeom>
          <a:solidFill>
            <a:schemeClr val="accent1"/>
          </a:solidFill>
          <a:ln w="12700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000" dirty="0">
                <a:latin typeface="+mn-lt"/>
                <a:ea typeface="+mn-ea"/>
              </a:rPr>
              <a:t>Sample </a:t>
            </a:r>
            <a:br>
              <a:rPr lang="en-US" sz="2000" dirty="0">
                <a:latin typeface="+mn-lt"/>
                <a:ea typeface="+mn-ea"/>
              </a:rPr>
            </a:br>
            <a:r>
              <a:rPr lang="en-US" sz="2000" dirty="0">
                <a:latin typeface="+mn-lt"/>
                <a:ea typeface="+mn-ea"/>
              </a:rPr>
              <a:t>screen output</a:t>
            </a:r>
          </a:p>
        </p:txBody>
      </p:sp>
    </p:spTree>
    <p:extLst>
      <p:ext uri="{BB962C8B-B14F-4D97-AF65-F5344CB8AC3E}">
        <p14:creationId xmlns:p14="http://schemas.microsoft.com/office/powerpoint/2010/main" val="120929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obtalk_UF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U_Template_TopBar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Stanford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Jobtalk_UF.pot</Template>
  <TotalTime>16469</TotalTime>
  <Words>1234</Words>
  <Application>Microsoft Office PowerPoint</Application>
  <PresentationFormat>화면 슬라이드 쇼(16:9)</PresentationFormat>
  <Paragraphs>231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50</vt:i4>
      </vt:variant>
    </vt:vector>
  </HeadingPairs>
  <TitlesOfParts>
    <vt:vector size="60" baseType="lpstr">
      <vt:lpstr>MS PGothic</vt:lpstr>
      <vt:lpstr>Source Sans Pro</vt:lpstr>
      <vt:lpstr>Source Sans Pro Semibold</vt:lpstr>
      <vt:lpstr>Arial</vt:lpstr>
      <vt:lpstr>Calibri</vt:lpstr>
      <vt:lpstr>Calibri Light</vt:lpstr>
      <vt:lpstr>Courier New</vt:lpstr>
      <vt:lpstr>Wingdings</vt:lpstr>
      <vt:lpstr>Jobtalk_UF</vt:lpstr>
      <vt:lpstr>SU_Template_TopBar</vt:lpstr>
      <vt:lpstr>The Concept of a Stream</vt:lpstr>
      <vt:lpstr>The Concept of a Stream</vt:lpstr>
      <vt:lpstr>Why Use Files for I/O</vt:lpstr>
      <vt:lpstr>Text Files and Binary Files</vt:lpstr>
      <vt:lpstr>Text Files and Binary Files</vt:lpstr>
      <vt:lpstr>Creating a Text File</vt:lpstr>
      <vt:lpstr>Creating a Text File</vt:lpstr>
      <vt:lpstr>Creating a Text File</vt:lpstr>
      <vt:lpstr>Creating a Text File</vt:lpstr>
      <vt:lpstr>Appending to a Text File</vt:lpstr>
      <vt:lpstr>Reading from a Text File</vt:lpstr>
      <vt:lpstr>Reading from a Text File</vt:lpstr>
      <vt:lpstr>Techniques for Any File</vt:lpstr>
      <vt:lpstr>The Class File</vt:lpstr>
      <vt:lpstr>Programming Example</vt:lpstr>
      <vt:lpstr>Using Path Names</vt:lpstr>
      <vt:lpstr>Methods of the Class File</vt:lpstr>
      <vt:lpstr>Methods of the Class File</vt:lpstr>
      <vt:lpstr>Defining a Method to Open a Stream</vt:lpstr>
      <vt:lpstr>Defining a Method to Open a Stream</vt:lpstr>
      <vt:lpstr>Case Study Processing a Comma-Separated Values File</vt:lpstr>
      <vt:lpstr>Example Processing a CSV File</vt:lpstr>
      <vt:lpstr>Example Processing a CSV File</vt:lpstr>
      <vt:lpstr>Basic Binary-File I/O</vt:lpstr>
      <vt:lpstr>Creating a Binary File</vt:lpstr>
      <vt:lpstr>Creating a Binary File</vt:lpstr>
      <vt:lpstr>Writing Primitive Values to a Binary File</vt:lpstr>
      <vt:lpstr>Writing Primitive Values to a Binary File</vt:lpstr>
      <vt:lpstr>Writing Primitive Values to a Binary File</vt:lpstr>
      <vt:lpstr>Writing Primitive Values to a Binary File</vt:lpstr>
      <vt:lpstr>Writing Strings to a Binary File</vt:lpstr>
      <vt:lpstr>Reading from a Binary File</vt:lpstr>
      <vt:lpstr>Reading from a Binary File</vt:lpstr>
      <vt:lpstr>Reading from a Binary File</vt:lpstr>
      <vt:lpstr>Reading from a Binary File</vt:lpstr>
      <vt:lpstr>Reading from a Binary File</vt:lpstr>
      <vt:lpstr>Reading from a Binary File</vt:lpstr>
      <vt:lpstr>The Class EOFException</vt:lpstr>
      <vt:lpstr>The Class EOFException</vt:lpstr>
      <vt:lpstr>Binary-File I/O, Objects &amp; Arrays</vt:lpstr>
      <vt:lpstr>Binary-File I/O with Class Objects</vt:lpstr>
      <vt:lpstr>Binary-File I/O with Class Objects</vt:lpstr>
      <vt:lpstr>Binary-File I/O with Class Objects</vt:lpstr>
      <vt:lpstr>Binary-File I/O with Class Objects</vt:lpstr>
      <vt:lpstr>Binary-File I/O with Class Objects</vt:lpstr>
      <vt:lpstr>Binary-File I/O with Class Objects</vt:lpstr>
      <vt:lpstr>Some Details of Serialization</vt:lpstr>
      <vt:lpstr>Some Details of Serialization</vt:lpstr>
      <vt:lpstr>Array Objects in Binary Files</vt:lpstr>
      <vt:lpstr>Array Objects in Binary Files</vt:lpstr>
    </vt:vector>
  </TitlesOfParts>
  <Company>Stanford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Guidelines</dc:title>
  <dc:creator>Giltae Song</dc:creator>
  <dc:description>2012 PowerPoint template redesign</dc:description>
  <cp:lastModifiedBy>Jin Kyu Gahm</cp:lastModifiedBy>
  <cp:revision>1814</cp:revision>
  <cp:lastPrinted>2016-01-15T22:14:07Z</cp:lastPrinted>
  <dcterms:created xsi:type="dcterms:W3CDTF">2016-01-04T21:30:26Z</dcterms:created>
  <dcterms:modified xsi:type="dcterms:W3CDTF">2019-11-12T06:47:39Z</dcterms:modified>
</cp:coreProperties>
</file>